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12192000"/>
  <p:notesSz cx="6858000" cy="9144000"/>
  <p:embeddedFontLst>
    <p:embeddedFont>
      <p:font typeface="Century Schoolbook"/>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5" roundtripDataSignature="AMtx7mjcTdQ9p+BGBHGtVj5g6P+0LEIx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CFAC225-C9C3-44DA-99C5-AF71EAF29444}">
  <a:tblStyle styleId="{BCFAC225-C9C3-44DA-99C5-AF71EAF29444}"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enturySchoolbook-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CenturySchoolbook-italic.fntdata"/><Relationship Id="rId10" Type="http://schemas.openxmlformats.org/officeDocument/2006/relationships/slide" Target="slides/slide4.xml"/><Relationship Id="rId32" Type="http://schemas.openxmlformats.org/officeDocument/2006/relationships/font" Target="fonts/CenturySchoolbook-bold.fntdata"/><Relationship Id="rId13" Type="http://schemas.openxmlformats.org/officeDocument/2006/relationships/slide" Target="slides/slide7.xml"/><Relationship Id="rId35" Type="http://customschemas.google.com/relationships/presentationmetadata" Target="metadata"/><Relationship Id="rId12" Type="http://schemas.openxmlformats.org/officeDocument/2006/relationships/slide" Target="slides/slide6.xml"/><Relationship Id="rId34" Type="http://schemas.openxmlformats.org/officeDocument/2006/relationships/font" Target="fonts/CenturySchoolbook-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 name="Google Shape;8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 name="Google Shape;19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 name="Google Shape;24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image" Target="../media/image2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21" name="Google Shape;21;p26"/>
          <p:cNvPicPr preferRelativeResize="0"/>
          <p:nvPr/>
        </p:nvPicPr>
        <p:blipFill rotWithShape="1">
          <a:blip r:embed="rId2">
            <a:alphaModFix/>
          </a:blip>
          <a:srcRect b="0" l="0" r="0" t="0"/>
          <a:stretch/>
        </p:blipFill>
        <p:spPr>
          <a:xfrm>
            <a:off x="10987088" y="5545534"/>
            <a:ext cx="1204912" cy="1204912"/>
          </a:xfrm>
          <a:prstGeom prst="rect">
            <a:avLst/>
          </a:prstGeom>
          <a:noFill/>
          <a:ln>
            <a:noFill/>
          </a:ln>
        </p:spPr>
      </p:pic>
      <p:pic>
        <p:nvPicPr>
          <p:cNvPr id="22" name="Google Shape;22;p26"/>
          <p:cNvPicPr preferRelativeResize="0"/>
          <p:nvPr/>
        </p:nvPicPr>
        <p:blipFill rotWithShape="1">
          <a:blip r:embed="rId3">
            <a:alphaModFix/>
          </a:blip>
          <a:srcRect b="0" l="0" r="0" t="0"/>
          <a:stretch/>
        </p:blipFill>
        <p:spPr>
          <a:xfrm>
            <a:off x="9700133" y="139700"/>
            <a:ext cx="2168017" cy="760808"/>
          </a:xfrm>
          <a:prstGeom prst="rect">
            <a:avLst/>
          </a:prstGeom>
          <a:noFill/>
          <a:ln>
            <a:noFill/>
          </a:ln>
        </p:spPr>
      </p:pic>
      <p:pic>
        <p:nvPicPr>
          <p:cNvPr id="23" name="Google Shape;23;p26"/>
          <p:cNvPicPr preferRelativeResize="0"/>
          <p:nvPr/>
        </p:nvPicPr>
        <p:blipFill rotWithShape="1">
          <a:blip r:embed="rId4">
            <a:alphaModFix/>
          </a:blip>
          <a:srcRect b="0" l="0" r="0" t="0"/>
          <a:stretch/>
        </p:blipFill>
        <p:spPr>
          <a:xfrm>
            <a:off x="47625" y="104378"/>
            <a:ext cx="2631466" cy="68024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2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7" name="Google Shape;27;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7" name="Shape 37"/>
        <p:cNvGrpSpPr/>
        <p:nvPr/>
      </p:nvGrpSpPr>
      <p:grpSpPr>
        <a:xfrm>
          <a:off x="0" y="0"/>
          <a:ext cx="0" cy="0"/>
          <a:chOff x="0" y="0"/>
          <a:chExt cx="0" cy="0"/>
        </a:xfrm>
      </p:grpSpPr>
      <p:sp>
        <p:nvSpPr>
          <p:cNvPr id="38" name="Google Shape;38;p3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0" name="Google Shape;40;p3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2" name="Google Shape;42;p3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 name="Shape 46"/>
        <p:cNvGrpSpPr/>
        <p:nvPr/>
      </p:nvGrpSpPr>
      <p:grpSpPr>
        <a:xfrm>
          <a:off x="0" y="0"/>
          <a:ext cx="0" cy="0"/>
          <a:chOff x="0" y="0"/>
          <a:chExt cx="0" cy="0"/>
        </a:xfrm>
      </p:grpSpPr>
      <p:sp>
        <p:nvSpPr>
          <p:cNvPr id="47" name="Google Shape;47;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8" name="Google Shape;58;p3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4"/>
          <p:cNvSpPr/>
          <p:nvPr>
            <p:ph idx="2" type="pic"/>
          </p:nvPr>
        </p:nvSpPr>
        <p:spPr>
          <a:xfrm>
            <a:off x="5183188" y="987425"/>
            <a:ext cx="6172200" cy="4873625"/>
          </a:xfrm>
          <a:prstGeom prst="rect">
            <a:avLst/>
          </a:prstGeom>
          <a:noFill/>
          <a:ln>
            <a:noFill/>
          </a:ln>
        </p:spPr>
      </p:sp>
      <p:sp>
        <p:nvSpPr>
          <p:cNvPr id="65" name="Google Shape;65;p3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3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nvSpPr>
        <p:spPr>
          <a:xfrm>
            <a:off x="1741659" y="1023241"/>
            <a:ext cx="8708681" cy="193895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132C4A"/>
                </a:solidFill>
                <a:latin typeface="Century Schoolbook"/>
                <a:ea typeface="Century Schoolbook"/>
                <a:cs typeface="Century Schoolbook"/>
                <a:sym typeface="Century Schoolbook"/>
              </a:rPr>
              <a:t>Introductory To Programming </a:t>
            </a:r>
            <a:endParaRPr/>
          </a:p>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132C4A"/>
                </a:solidFill>
                <a:latin typeface="Century Schoolbook"/>
                <a:ea typeface="Century Schoolbook"/>
                <a:cs typeface="Century Schoolbook"/>
                <a:sym typeface="Century Schoolbook"/>
              </a:rPr>
              <a:t>and </a:t>
            </a:r>
            <a:endParaRPr/>
          </a:p>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132C4A"/>
                </a:solidFill>
                <a:latin typeface="Century Schoolbook"/>
                <a:ea typeface="Century Schoolbook"/>
                <a:cs typeface="Century Schoolbook"/>
                <a:sym typeface="Century Schoolbook"/>
              </a:rPr>
              <a:t>Problem-Solving Skills</a:t>
            </a:r>
            <a:endParaRPr b="0" i="0" sz="4000" u="none" cap="none" strike="noStrike">
              <a:solidFill>
                <a:schemeClr val="dk1"/>
              </a:solidFill>
              <a:latin typeface="Century Schoolbook"/>
              <a:ea typeface="Century Schoolbook"/>
              <a:cs typeface="Century Schoolbook"/>
              <a:sym typeface="Century Schoolbook"/>
            </a:endParaRPr>
          </a:p>
        </p:txBody>
      </p:sp>
      <p:sp>
        <p:nvSpPr>
          <p:cNvPr id="87" name="Google Shape;87;p1"/>
          <p:cNvSpPr txBox="1"/>
          <p:nvPr/>
        </p:nvSpPr>
        <p:spPr>
          <a:xfrm>
            <a:off x="4367950" y="5227874"/>
            <a:ext cx="38379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132C4A"/>
                </a:solidFill>
                <a:latin typeface="Century Schoolbook"/>
                <a:ea typeface="Century Schoolbook"/>
                <a:cs typeface="Century Schoolbook"/>
                <a:sym typeface="Century Schoolbook"/>
              </a:rPr>
              <a:t>Tutorial Week - 3 </a:t>
            </a:r>
            <a:endParaRPr b="1" i="0" sz="2800" u="none" cap="none" strike="noStrike">
              <a:solidFill>
                <a:srgbClr val="132C4A"/>
              </a:solidFill>
              <a:latin typeface="Century Schoolbook"/>
              <a:ea typeface="Century Schoolbook"/>
              <a:cs typeface="Century Schoolbook"/>
              <a:sym typeface="Century Schoolbook"/>
            </a:endParaRPr>
          </a:p>
        </p:txBody>
      </p:sp>
      <p:sp>
        <p:nvSpPr>
          <p:cNvPr id="88" name="Google Shape;88;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9" name="Google Shape;89;p1"/>
          <p:cNvSpPr txBox="1"/>
          <p:nvPr/>
        </p:nvSpPr>
        <p:spPr>
          <a:xfrm>
            <a:off x="4396775" y="5956275"/>
            <a:ext cx="3507900" cy="400200"/>
          </a:xfrm>
          <a:prstGeom prst="rect">
            <a:avLst/>
          </a:prstGeom>
          <a:noFill/>
          <a:ln>
            <a:noFill/>
          </a:ln>
        </p:spPr>
        <p:txBody>
          <a:bodyPr anchorCtr="0" anchor="t" bIns="45700" lIns="91425" spcFirstLastPara="1" rIns="91425" wrap="square" tIns="45700">
            <a:spAutoFit/>
          </a:bodyPr>
          <a:lstStyle/>
          <a:p>
            <a:pPr indent="457200" lvl="0" marL="0" marR="0" rtl="0" algn="l">
              <a:lnSpc>
                <a:spcPct val="100000"/>
              </a:lnSpc>
              <a:spcBef>
                <a:spcPts val="0"/>
              </a:spcBef>
              <a:spcAft>
                <a:spcPts val="0"/>
              </a:spcAft>
              <a:buNone/>
            </a:pPr>
            <a:r>
              <a:rPr b="1" lang="en-US" sz="2000">
                <a:solidFill>
                  <a:schemeClr val="dk1"/>
                </a:solidFill>
                <a:latin typeface="Century Schoolbook"/>
                <a:ea typeface="Century Schoolbook"/>
                <a:cs typeface="Century Schoolbook"/>
                <a:sym typeface="Century Schoolbook"/>
              </a:rPr>
              <a:t>Bhisma Raj Koirala</a:t>
            </a:r>
            <a:endParaRPr/>
          </a:p>
        </p:txBody>
      </p:sp>
      <p:sp>
        <p:nvSpPr>
          <p:cNvPr id="90" name="Google Shape;90;p1"/>
          <p:cNvSpPr txBox="1"/>
          <p:nvPr/>
        </p:nvSpPr>
        <p:spPr>
          <a:xfrm>
            <a:off x="3700800" y="3802666"/>
            <a:ext cx="4909800" cy="58473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B050"/>
                </a:solidFill>
                <a:latin typeface="Century Schoolbook"/>
                <a:ea typeface="Century Schoolbook"/>
                <a:cs typeface="Century Schoolbook"/>
                <a:sym typeface="Century Schoolbook"/>
              </a:rPr>
              <a:t>Control Structures</a:t>
            </a:r>
            <a:endParaRPr b="1" i="0" sz="3200" u="none" cap="none" strike="noStrike">
              <a:solidFill>
                <a:srgbClr val="00B050"/>
              </a:solidFill>
              <a:latin typeface="Century Schoolbook"/>
              <a:ea typeface="Century Schoolbook"/>
              <a:cs typeface="Century Schoolbook"/>
              <a:sym typeface="Century Schoolboo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6" name="Google Shape;96;p2"/>
          <p:cNvSpPr txBox="1"/>
          <p:nvPr>
            <p:ph type="ctrTitle"/>
          </p:nvPr>
        </p:nvSpPr>
        <p:spPr>
          <a:xfrm>
            <a:off x="669036"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b="1" lang="en-US" sz="4000">
                <a:solidFill>
                  <a:schemeClr val="dk1"/>
                </a:solidFill>
                <a:latin typeface="Century Schoolbook"/>
                <a:ea typeface="Century Schoolbook"/>
                <a:cs typeface="Century Schoolbook"/>
                <a:sym typeface="Century Schoolbook"/>
              </a:rPr>
              <a:t>Agenda</a:t>
            </a:r>
            <a:endParaRPr sz="4000">
              <a:latin typeface="Century Schoolbook"/>
              <a:ea typeface="Century Schoolbook"/>
              <a:cs typeface="Century Schoolbook"/>
              <a:sym typeface="Century Schoolbook"/>
            </a:endParaRPr>
          </a:p>
        </p:txBody>
      </p:sp>
      <p:sp>
        <p:nvSpPr>
          <p:cNvPr id="97" name="Google Shape;97;p2"/>
          <p:cNvSpPr/>
          <p:nvPr/>
        </p:nvSpPr>
        <p:spPr>
          <a:xfrm>
            <a:off x="667512" y="957707"/>
            <a:ext cx="10853928" cy="18288"/>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8" name="Google Shape;98;p2"/>
          <p:cNvSpPr txBox="1"/>
          <p:nvPr>
            <p:ph idx="1" type="subTitle"/>
          </p:nvPr>
        </p:nvSpPr>
        <p:spPr>
          <a:xfrm>
            <a:off x="669036" y="1303020"/>
            <a:ext cx="10515600" cy="4755642"/>
          </a:xfrm>
          <a:prstGeom prst="rect">
            <a:avLst/>
          </a:prstGeom>
          <a:noFill/>
          <a:ln>
            <a:noFill/>
          </a:ln>
        </p:spPr>
        <p:txBody>
          <a:bodyPr anchorCtr="0" anchor="t" bIns="45700" lIns="91425" spcFirstLastPara="1" rIns="91425" wrap="square" tIns="45700">
            <a:noAutofit/>
          </a:bodyPr>
          <a:lstStyle/>
          <a:p>
            <a:pPr indent="-342900" lvl="0" marL="457200" rtl="0" algn="l">
              <a:lnSpc>
                <a:spcPct val="150000"/>
              </a:lnSpc>
              <a:spcBef>
                <a:spcPts val="0"/>
              </a:spcBef>
              <a:spcAft>
                <a:spcPts val="0"/>
              </a:spcAft>
              <a:buClr>
                <a:schemeClr val="dk1"/>
              </a:buClr>
              <a:buSzPts val="3600"/>
              <a:buFont typeface="Noto Sans Symbols"/>
              <a:buChar char="▪"/>
            </a:pPr>
            <a:r>
              <a:rPr b="1" lang="en-US">
                <a:latin typeface="Century Schoolbook"/>
                <a:ea typeface="Century Schoolbook"/>
                <a:cs typeface="Century Schoolbook"/>
                <a:sym typeface="Century Schoolbook"/>
              </a:rPr>
              <a:t>Sequential Flow</a:t>
            </a:r>
            <a:endParaRPr b="1">
              <a:latin typeface="Century Schoolbook"/>
              <a:ea typeface="Century Schoolbook"/>
              <a:cs typeface="Century Schoolbook"/>
              <a:sym typeface="Century Schoolbook"/>
            </a:endParaRPr>
          </a:p>
          <a:p>
            <a:pPr indent="-342900" lvl="0" marL="457200" rtl="0" algn="l">
              <a:lnSpc>
                <a:spcPct val="150000"/>
              </a:lnSpc>
              <a:spcBef>
                <a:spcPts val="1000"/>
              </a:spcBef>
              <a:spcAft>
                <a:spcPts val="0"/>
              </a:spcAft>
              <a:buClr>
                <a:schemeClr val="dk1"/>
              </a:buClr>
              <a:buSzPts val="3600"/>
              <a:buFont typeface="Noto Sans Symbols"/>
              <a:buChar char="▪"/>
            </a:pPr>
            <a:r>
              <a:rPr b="1" lang="en-US">
                <a:latin typeface="Century Schoolbook"/>
                <a:ea typeface="Century Schoolbook"/>
                <a:cs typeface="Century Schoolbook"/>
                <a:sym typeface="Century Schoolbook"/>
              </a:rPr>
              <a:t>Selection control</a:t>
            </a:r>
            <a:endParaRPr b="1">
              <a:latin typeface="Century Schoolbook"/>
              <a:ea typeface="Century Schoolbook"/>
              <a:cs typeface="Century Schoolbook"/>
              <a:sym typeface="Century Schoolbook"/>
            </a:endParaRPr>
          </a:p>
          <a:p>
            <a:pPr indent="-342900" lvl="1" marL="914400" rtl="0" algn="l">
              <a:lnSpc>
                <a:spcPct val="150000"/>
              </a:lnSpc>
              <a:spcBef>
                <a:spcPts val="500"/>
              </a:spcBef>
              <a:spcAft>
                <a:spcPts val="0"/>
              </a:spcAft>
              <a:buClr>
                <a:schemeClr val="dk1"/>
              </a:buClr>
              <a:buSzPts val="3600"/>
              <a:buFont typeface="Noto Sans Symbols"/>
              <a:buChar char="▪"/>
            </a:pPr>
            <a:r>
              <a:rPr b="1" lang="en-US" sz="2400">
                <a:latin typeface="Century Schoolbook"/>
                <a:ea typeface="Century Schoolbook"/>
                <a:cs typeface="Century Schoolbook"/>
                <a:sym typeface="Century Schoolbook"/>
              </a:rPr>
              <a:t>if statement</a:t>
            </a:r>
            <a:endParaRPr b="1" sz="2400">
              <a:latin typeface="Century Schoolbook"/>
              <a:ea typeface="Century Schoolbook"/>
              <a:cs typeface="Century Schoolbook"/>
              <a:sym typeface="Century Schoolbook"/>
            </a:endParaRPr>
          </a:p>
          <a:p>
            <a:pPr indent="-342900" lvl="1" marL="914400" rtl="0" algn="l">
              <a:lnSpc>
                <a:spcPct val="150000"/>
              </a:lnSpc>
              <a:spcBef>
                <a:spcPts val="500"/>
              </a:spcBef>
              <a:spcAft>
                <a:spcPts val="0"/>
              </a:spcAft>
              <a:buClr>
                <a:schemeClr val="dk1"/>
              </a:buClr>
              <a:buSzPts val="3600"/>
              <a:buFont typeface="Noto Sans Symbols"/>
              <a:buChar char="▪"/>
            </a:pPr>
            <a:r>
              <a:rPr b="1" lang="en-US" sz="2400">
                <a:latin typeface="Century Schoolbook"/>
                <a:ea typeface="Century Schoolbook"/>
                <a:cs typeface="Century Schoolbook"/>
                <a:sym typeface="Century Schoolbook"/>
              </a:rPr>
              <a:t>else statement</a:t>
            </a:r>
            <a:endParaRPr b="1" sz="2400">
              <a:latin typeface="Century Schoolbook"/>
              <a:ea typeface="Century Schoolbook"/>
              <a:cs typeface="Century Schoolbook"/>
              <a:sym typeface="Century Schoolbook"/>
            </a:endParaRPr>
          </a:p>
          <a:p>
            <a:pPr indent="-342900" lvl="1" marL="914400" rtl="0" algn="l">
              <a:lnSpc>
                <a:spcPct val="150000"/>
              </a:lnSpc>
              <a:spcBef>
                <a:spcPts val="500"/>
              </a:spcBef>
              <a:spcAft>
                <a:spcPts val="0"/>
              </a:spcAft>
              <a:buClr>
                <a:schemeClr val="dk1"/>
              </a:buClr>
              <a:buSzPts val="3600"/>
              <a:buFont typeface="Noto Sans Symbols"/>
              <a:buChar char="▪"/>
            </a:pPr>
            <a:r>
              <a:rPr b="1" lang="en-US" sz="2400">
                <a:latin typeface="Century Schoolbook"/>
                <a:ea typeface="Century Schoolbook"/>
                <a:cs typeface="Century Schoolbook"/>
                <a:sym typeface="Century Schoolbook"/>
              </a:rPr>
              <a:t>elif statement</a:t>
            </a:r>
            <a:endParaRPr b="1" sz="2400">
              <a:latin typeface="Century Schoolbook"/>
              <a:ea typeface="Century Schoolbook"/>
              <a:cs typeface="Century Schoolbook"/>
              <a:sym typeface="Century Schoolbook"/>
            </a:endParaRPr>
          </a:p>
          <a:p>
            <a:pPr indent="-342900" lvl="1" marL="914400" rtl="0" algn="l">
              <a:lnSpc>
                <a:spcPct val="150000"/>
              </a:lnSpc>
              <a:spcBef>
                <a:spcPts val="500"/>
              </a:spcBef>
              <a:spcAft>
                <a:spcPts val="0"/>
              </a:spcAft>
              <a:buClr>
                <a:schemeClr val="dk1"/>
              </a:buClr>
              <a:buSzPts val="3600"/>
              <a:buFont typeface="Noto Sans Symbols"/>
              <a:buChar char="▪"/>
            </a:pPr>
            <a:r>
              <a:rPr b="1" lang="en-US" sz="2400">
                <a:latin typeface="Century Schoolbook"/>
                <a:ea typeface="Century Schoolbook"/>
                <a:cs typeface="Century Schoolbook"/>
                <a:sym typeface="Century Schoolbook"/>
              </a:rPr>
              <a:t>Nested Condition</a:t>
            </a:r>
            <a:endParaRPr b="1" sz="2400">
              <a:latin typeface="Century Schoolbook"/>
              <a:ea typeface="Century Schoolbook"/>
              <a:cs typeface="Century Schoolbook"/>
              <a:sym typeface="Century Schoolbook"/>
            </a:endParaRPr>
          </a:p>
          <a:p>
            <a:pPr indent="-342900" lvl="0" marL="457200" rtl="0" algn="l">
              <a:lnSpc>
                <a:spcPct val="150000"/>
              </a:lnSpc>
              <a:spcBef>
                <a:spcPts val="1000"/>
              </a:spcBef>
              <a:spcAft>
                <a:spcPts val="0"/>
              </a:spcAft>
              <a:buClr>
                <a:schemeClr val="dk1"/>
              </a:buClr>
              <a:buSzPts val="3600"/>
              <a:buFont typeface="Noto Sans Symbols"/>
              <a:buChar char="▪"/>
            </a:pPr>
            <a:r>
              <a:rPr b="1" lang="en-US">
                <a:latin typeface="Century Schoolbook"/>
                <a:ea typeface="Century Schoolbook"/>
                <a:cs typeface="Century Schoolbook"/>
                <a:sym typeface="Century Schoolbook"/>
              </a:rPr>
              <a:t>Exercises</a:t>
            </a:r>
            <a:endParaRPr b="1">
              <a:latin typeface="Century Schoolbook"/>
              <a:ea typeface="Century Schoolbook"/>
              <a:cs typeface="Century Schoolbook"/>
              <a:sym typeface="Century Schoolbook"/>
            </a:endParaRPr>
          </a:p>
        </p:txBody>
      </p:sp>
      <p:sp>
        <p:nvSpPr>
          <p:cNvPr id="99" name="Google Shape;99;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ph type="ctrTitle"/>
          </p:nvPr>
        </p:nvSpPr>
        <p:spPr>
          <a:xfrm>
            <a:off x="162618" y="259829"/>
            <a:ext cx="10515600"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sz="4000" u="sng">
                <a:solidFill>
                  <a:srgbClr val="00B050"/>
                </a:solidFill>
                <a:latin typeface="Century Schoolbook"/>
                <a:ea typeface="Century Schoolbook"/>
                <a:cs typeface="Century Schoolbook"/>
                <a:sym typeface="Century Schoolbook"/>
              </a:rPr>
              <a:t>Let’s Think Conditionally!!</a:t>
            </a:r>
            <a:endParaRPr b="1" sz="4000" u="sng">
              <a:solidFill>
                <a:srgbClr val="00B050"/>
              </a:solidFill>
              <a:latin typeface="Century Schoolbook"/>
              <a:ea typeface="Century Schoolbook"/>
              <a:cs typeface="Century Schoolbook"/>
              <a:sym typeface="Century Schoolbook"/>
            </a:endParaRPr>
          </a:p>
        </p:txBody>
      </p:sp>
      <p:sp>
        <p:nvSpPr>
          <p:cNvPr id="105" name="Google Shape;105;p3"/>
          <p:cNvSpPr txBox="1"/>
          <p:nvPr/>
        </p:nvSpPr>
        <p:spPr>
          <a:xfrm>
            <a:off x="329737" y="1115114"/>
            <a:ext cx="11024063" cy="3521394"/>
          </a:xfrm>
          <a:prstGeom prst="rect">
            <a:avLst/>
          </a:prstGeom>
          <a:noFill/>
          <a:ln>
            <a:noFill/>
          </a:ln>
        </p:spPr>
        <p:txBody>
          <a:bodyPr anchorCtr="0" anchor="t" bIns="45700" lIns="91425" spcFirstLastPara="1" rIns="91425" wrap="square" tIns="45700">
            <a:noAutofit/>
          </a:bodyPr>
          <a:lstStyle/>
          <a:p>
            <a:pPr indent="0" lvl="0" marL="114300" marR="0" rtl="0" algn="l">
              <a:lnSpc>
                <a:spcPct val="150000"/>
              </a:lnSpc>
              <a:spcBef>
                <a:spcPts val="0"/>
              </a:spcBef>
              <a:spcAft>
                <a:spcPts val="0"/>
              </a:spcAft>
              <a:buClr>
                <a:schemeClr val="dk1"/>
              </a:buClr>
              <a:buSzPts val="2400"/>
              <a:buFont typeface="Arial"/>
              <a:buNone/>
            </a:pPr>
            <a:r>
              <a:rPr b="1" i="0" lang="en-US" sz="2400" u="none" cap="none" strike="noStrike">
                <a:solidFill>
                  <a:schemeClr val="dk1"/>
                </a:solidFill>
                <a:latin typeface="Century Schoolbook"/>
                <a:ea typeface="Century Schoolbook"/>
                <a:cs typeface="Century Schoolbook"/>
                <a:sym typeface="Century Schoolbook"/>
              </a:rPr>
              <a:t>Let’s stay a bit differently in today’s class!! </a:t>
            </a:r>
            <a:endParaRPr b="0" i="0" sz="1400" u="none" cap="none" strike="noStrike">
              <a:solidFill>
                <a:srgbClr val="000000"/>
              </a:solidFill>
              <a:latin typeface="Century Schoolbook"/>
              <a:ea typeface="Century Schoolbook"/>
              <a:cs typeface="Century Schoolbook"/>
              <a:sym typeface="Century Schoolbook"/>
            </a:endParaRPr>
          </a:p>
          <a:p>
            <a:pPr indent="0" lvl="0" marL="114300" marR="0" rtl="0" algn="l">
              <a:lnSpc>
                <a:spcPct val="150000"/>
              </a:lnSpc>
              <a:spcBef>
                <a:spcPts val="0"/>
              </a:spcBef>
              <a:spcAft>
                <a:spcPts val="0"/>
              </a:spcAft>
              <a:buClr>
                <a:schemeClr val="dk1"/>
              </a:buClr>
              <a:buSzPts val="2400"/>
              <a:buFont typeface="Arial"/>
              <a:buNone/>
            </a:pPr>
            <a:r>
              <a:rPr b="0" i="0" lang="en-US" sz="2400" u="none" cap="none" strike="noStrike">
                <a:solidFill>
                  <a:schemeClr val="dk1"/>
                </a:solidFill>
                <a:latin typeface="Century Schoolbook"/>
                <a:ea typeface="Century Schoolbook"/>
                <a:cs typeface="Century Schoolbook"/>
                <a:sym typeface="Century Schoolbook"/>
              </a:rPr>
              <a:t>Let’s make two groups, Team_if and Team_else</a:t>
            </a:r>
            <a:endParaRPr b="0" i="0" sz="2400" u="none" cap="none" strike="noStrike">
              <a:solidFill>
                <a:schemeClr val="dk1"/>
              </a:solidFill>
              <a:latin typeface="Century Schoolbook"/>
              <a:ea typeface="Century Schoolbook"/>
              <a:cs typeface="Century Schoolbook"/>
              <a:sym typeface="Century Schoolbook"/>
            </a:endParaRPr>
          </a:p>
          <a:p>
            <a:pPr indent="0" lvl="0" marL="114300" marR="0" rtl="0" algn="l">
              <a:lnSpc>
                <a:spcPct val="150000"/>
              </a:lnSpc>
              <a:spcBef>
                <a:spcPts val="0"/>
              </a:spcBef>
              <a:spcAft>
                <a:spcPts val="0"/>
              </a:spcAft>
              <a:buClr>
                <a:schemeClr val="dk1"/>
              </a:buClr>
              <a:buSzPts val="2400"/>
              <a:buFont typeface="Arial"/>
              <a:buNone/>
            </a:pPr>
            <a:r>
              <a:rPr b="0" i="0" lang="en-US" sz="2400" u="none" cap="none" strike="noStrike">
                <a:solidFill>
                  <a:schemeClr val="dk1"/>
                </a:solidFill>
                <a:latin typeface="Century Schoolbook"/>
                <a:ea typeface="Century Schoolbook"/>
                <a:cs typeface="Century Schoolbook"/>
                <a:sym typeface="Century Schoolbook"/>
              </a:rPr>
              <a:t>Team_if = students from alphabet A-L</a:t>
            </a:r>
            <a:endParaRPr b="0" i="0" sz="1400" u="none" cap="none" strike="noStrike">
              <a:solidFill>
                <a:srgbClr val="000000"/>
              </a:solidFill>
              <a:latin typeface="Century Schoolbook"/>
              <a:ea typeface="Century Schoolbook"/>
              <a:cs typeface="Century Schoolbook"/>
              <a:sym typeface="Century Schoolbook"/>
            </a:endParaRPr>
          </a:p>
          <a:p>
            <a:pPr indent="0" lvl="0" marL="114300" marR="0" rtl="0" algn="l">
              <a:lnSpc>
                <a:spcPct val="150000"/>
              </a:lnSpc>
              <a:spcBef>
                <a:spcPts val="0"/>
              </a:spcBef>
              <a:spcAft>
                <a:spcPts val="0"/>
              </a:spcAft>
              <a:buClr>
                <a:schemeClr val="dk1"/>
              </a:buClr>
              <a:buSzPts val="2400"/>
              <a:buFont typeface="Arial"/>
              <a:buNone/>
            </a:pPr>
            <a:r>
              <a:rPr b="0" i="0" lang="en-US" sz="2400" u="none" cap="none" strike="noStrike">
                <a:solidFill>
                  <a:schemeClr val="dk1"/>
                </a:solidFill>
                <a:latin typeface="Century Schoolbook"/>
                <a:ea typeface="Century Schoolbook"/>
                <a:cs typeface="Century Schoolbook"/>
                <a:sym typeface="Century Schoolbook"/>
              </a:rPr>
              <a:t>Team_else = students from alphabet M-Z</a:t>
            </a:r>
            <a:endParaRPr b="0" i="0" sz="1400" u="none" cap="none" strike="noStrike">
              <a:solidFill>
                <a:srgbClr val="000000"/>
              </a:solidFill>
              <a:latin typeface="Century Schoolbook"/>
              <a:ea typeface="Century Schoolbook"/>
              <a:cs typeface="Century Schoolbook"/>
              <a:sym typeface="Century Schoolbook"/>
            </a:endParaRPr>
          </a:p>
          <a:p>
            <a:pPr indent="0" lvl="0" marL="114300" marR="0" rtl="0" algn="l">
              <a:lnSpc>
                <a:spcPct val="150000"/>
              </a:lnSpc>
              <a:spcBef>
                <a:spcPts val="0"/>
              </a:spcBef>
              <a:spcAft>
                <a:spcPts val="0"/>
              </a:spcAft>
              <a:buClr>
                <a:schemeClr val="dk1"/>
              </a:buClr>
              <a:buSzPts val="2400"/>
              <a:buFont typeface="Arial"/>
              <a:buNone/>
            </a:pPr>
            <a:r>
              <a:rPr b="0" i="0" lang="en-US" sz="2400" u="none" cap="none" strike="noStrike">
                <a:solidFill>
                  <a:schemeClr val="dk1"/>
                </a:solidFill>
                <a:latin typeface="Century Schoolbook"/>
                <a:ea typeface="Century Schoolbook"/>
                <a:cs typeface="Century Schoolbook"/>
                <a:sym typeface="Century Schoolbook"/>
              </a:rPr>
              <a:t>Students from Team_if will sit at Left_Row and Team_else will sit at Right_Row!!</a:t>
            </a:r>
            <a:endParaRPr b="0" i="0" sz="1400" u="none" cap="none" strike="noStrike">
              <a:solidFill>
                <a:srgbClr val="000000"/>
              </a:solidFill>
              <a:latin typeface="Century Schoolbook"/>
              <a:ea typeface="Century Schoolbook"/>
              <a:cs typeface="Century Schoolbook"/>
              <a:sym typeface="Century Schoolbook"/>
            </a:endParaRPr>
          </a:p>
        </p:txBody>
      </p:sp>
      <p:sp>
        <p:nvSpPr>
          <p:cNvPr id="106" name="Google Shape;106;p3"/>
          <p:cNvSpPr txBox="1"/>
          <p:nvPr/>
        </p:nvSpPr>
        <p:spPr>
          <a:xfrm>
            <a:off x="232519" y="4533447"/>
            <a:ext cx="10845056" cy="2221492"/>
          </a:xfrm>
          <a:prstGeom prst="rect">
            <a:avLst/>
          </a:prstGeom>
          <a:noFill/>
          <a:ln>
            <a:noFill/>
          </a:ln>
        </p:spPr>
        <p:txBody>
          <a:bodyPr anchorCtr="0" anchor="t" bIns="45700" lIns="91425" spcFirstLastPara="1" rIns="91425" wrap="square" tIns="45700">
            <a:noAutofit/>
          </a:bodyPr>
          <a:lstStyle/>
          <a:p>
            <a:pPr indent="0" lvl="0" marL="114300" marR="0" rtl="0" algn="just">
              <a:lnSpc>
                <a:spcPct val="150000"/>
              </a:lnSpc>
              <a:spcBef>
                <a:spcPts val="0"/>
              </a:spcBef>
              <a:spcAft>
                <a:spcPts val="0"/>
              </a:spcAft>
              <a:buClr>
                <a:srgbClr val="FF0000"/>
              </a:buClr>
              <a:buSzPts val="2400"/>
              <a:buFont typeface="Arial"/>
              <a:buNone/>
            </a:pPr>
            <a:r>
              <a:rPr b="1" i="0" lang="en-US" sz="2400" u="none" cap="none" strike="noStrike">
                <a:solidFill>
                  <a:srgbClr val="FF0000"/>
                </a:solidFill>
                <a:latin typeface="Century Schoolbook"/>
                <a:ea typeface="Century Schoolbook"/>
                <a:cs typeface="Century Schoolbook"/>
                <a:sym typeface="Century Schoolbook"/>
              </a:rPr>
              <a:t>Now, think about it while making the decision first think your required was condition and second thing your required was action!! Exactly in programming conditional statements work on the same way!!</a:t>
            </a:r>
            <a:endParaRPr b="0" i="0" sz="1400" u="none" cap="none" strike="noStrike">
              <a:solidFill>
                <a:srgbClr val="000000"/>
              </a:solidFill>
              <a:latin typeface="Century Schoolbook"/>
              <a:ea typeface="Century Schoolbook"/>
              <a:cs typeface="Century Schoolbook"/>
              <a:sym typeface="Century Schoolbook"/>
            </a:endParaRPr>
          </a:p>
        </p:txBody>
      </p:sp>
      <p:sp>
        <p:nvSpPr>
          <p:cNvPr id="107" name="Google Shape;107;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4"/>
          <p:cNvSpPr txBox="1"/>
          <p:nvPr>
            <p:ph type="ctrTitle"/>
          </p:nvPr>
        </p:nvSpPr>
        <p:spPr>
          <a:xfrm>
            <a:off x="88854" y="501650"/>
            <a:ext cx="10561800" cy="1056300"/>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sz="4000" u="sng">
                <a:solidFill>
                  <a:srgbClr val="00B050"/>
                </a:solidFill>
                <a:latin typeface="Century Schoolbook"/>
                <a:ea typeface="Century Schoolbook"/>
                <a:cs typeface="Century Schoolbook"/>
                <a:sym typeface="Century Schoolbook"/>
              </a:rPr>
              <a:t>Control Flow Statements</a:t>
            </a:r>
            <a:endParaRPr b="1" sz="4000" u="sng">
              <a:solidFill>
                <a:srgbClr val="00B050"/>
              </a:solidFill>
              <a:latin typeface="Century Schoolbook"/>
              <a:ea typeface="Century Schoolbook"/>
              <a:cs typeface="Century Schoolbook"/>
              <a:sym typeface="Century Schoolbook"/>
            </a:endParaRPr>
          </a:p>
        </p:txBody>
      </p:sp>
      <p:sp>
        <p:nvSpPr>
          <p:cNvPr id="113" name="Google Shape;113;p4"/>
          <p:cNvSpPr txBox="1"/>
          <p:nvPr>
            <p:ph idx="1" type="subTitle"/>
          </p:nvPr>
        </p:nvSpPr>
        <p:spPr>
          <a:xfrm>
            <a:off x="352425" y="1329975"/>
            <a:ext cx="10515600" cy="3636000"/>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0"/>
              </a:spcBef>
              <a:spcAft>
                <a:spcPts val="0"/>
              </a:spcAft>
              <a:buClr>
                <a:srgbClr val="00B0F0"/>
              </a:buClr>
              <a:buSzPts val="4400"/>
              <a:buNone/>
            </a:pPr>
            <a:r>
              <a:rPr lang="en-US">
                <a:solidFill>
                  <a:srgbClr val="00B0F0"/>
                </a:solidFill>
                <a:latin typeface="Century Schoolbook"/>
                <a:ea typeface="Century Schoolbook"/>
                <a:cs typeface="Century Schoolbook"/>
                <a:sym typeface="Century Schoolbook"/>
              </a:rPr>
              <a:t>What is sequential Flow?</a:t>
            </a:r>
            <a:endParaRPr>
              <a:latin typeface="Century Schoolbook"/>
              <a:ea typeface="Century Schoolbook"/>
              <a:cs typeface="Century Schoolbook"/>
              <a:sym typeface="Century Schoolbook"/>
            </a:endParaRPr>
          </a:p>
          <a:p>
            <a:pPr indent="0" lvl="0" marL="0" rtl="0" algn="l">
              <a:lnSpc>
                <a:spcPct val="90000"/>
              </a:lnSpc>
              <a:spcBef>
                <a:spcPts val="1000"/>
              </a:spcBef>
              <a:spcAft>
                <a:spcPts val="0"/>
              </a:spcAft>
              <a:buSzPts val="2400"/>
              <a:buNone/>
            </a:pPr>
            <a:r>
              <a:rPr lang="en-US">
                <a:latin typeface="Century Schoolbook"/>
                <a:ea typeface="Century Schoolbook"/>
                <a:cs typeface="Century Schoolbook"/>
                <a:sym typeface="Century Schoolbook"/>
              </a:rPr>
              <a:t>Sequential statements are set of statement whose </a:t>
            </a:r>
            <a:r>
              <a:rPr b="1" lang="en-US">
                <a:solidFill>
                  <a:srgbClr val="00B050"/>
                </a:solidFill>
                <a:latin typeface="Century Schoolbook"/>
                <a:ea typeface="Century Schoolbook"/>
                <a:cs typeface="Century Schoolbook"/>
                <a:sym typeface="Century Schoolbook"/>
              </a:rPr>
              <a:t>execution process happens in a sequence</a:t>
            </a:r>
            <a:r>
              <a:rPr lang="en-US">
                <a:latin typeface="Century Schoolbook"/>
                <a:ea typeface="Century Schoolbook"/>
                <a:cs typeface="Century Schoolbook"/>
                <a:sym typeface="Century Schoolbook"/>
              </a:rPr>
              <a:t>.</a:t>
            </a:r>
            <a:endParaRPr/>
          </a:p>
          <a:p>
            <a:pPr indent="0" lvl="0" marL="0" rtl="0" algn="l">
              <a:lnSpc>
                <a:spcPct val="90000"/>
              </a:lnSpc>
              <a:spcBef>
                <a:spcPts val="1000"/>
              </a:spcBef>
              <a:spcAft>
                <a:spcPts val="0"/>
              </a:spcAft>
              <a:buSzPts val="2400"/>
              <a:buNone/>
            </a:pPr>
            <a:r>
              <a:t/>
            </a:r>
            <a:endParaRPr>
              <a:latin typeface="Century Schoolbook"/>
              <a:ea typeface="Century Schoolbook"/>
              <a:cs typeface="Century Schoolbook"/>
              <a:sym typeface="Century Schoolbook"/>
            </a:endParaRPr>
          </a:p>
        </p:txBody>
      </p:sp>
      <p:sp>
        <p:nvSpPr>
          <p:cNvPr id="114" name="Google Shape;11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15" name="Google Shape;115;p4"/>
          <p:cNvPicPr preferRelativeResize="0"/>
          <p:nvPr/>
        </p:nvPicPr>
        <p:blipFill rotWithShape="1">
          <a:blip r:embed="rId3">
            <a:alphaModFix/>
          </a:blip>
          <a:srcRect b="0" l="0" r="0" t="0"/>
          <a:stretch/>
        </p:blipFill>
        <p:spPr>
          <a:xfrm>
            <a:off x="2009775" y="2864164"/>
            <a:ext cx="8172450" cy="38573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5"/>
          <p:cNvSpPr/>
          <p:nvPr/>
        </p:nvSpPr>
        <p:spPr>
          <a:xfrm>
            <a:off x="623009" y="2202506"/>
            <a:ext cx="9317038" cy="1938952"/>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80808"/>
                </a:solidFill>
                <a:latin typeface="Century Schoolbook"/>
                <a:ea typeface="Century Schoolbook"/>
                <a:cs typeface="Century Schoolbook"/>
                <a:sym typeface="Century Schoolbook"/>
              </a:rPr>
              <a:t>costPrice = </a:t>
            </a:r>
            <a:r>
              <a:rPr b="0" i="0" lang="en-US" sz="2400" u="none" cap="none" strike="noStrike">
                <a:solidFill>
                  <a:srgbClr val="000080"/>
                </a:solidFill>
                <a:latin typeface="Century Schoolbook"/>
                <a:ea typeface="Century Schoolbook"/>
                <a:cs typeface="Century Schoolbook"/>
                <a:sym typeface="Century Schoolbook"/>
              </a:rPr>
              <a:t>float</a:t>
            </a:r>
            <a:r>
              <a:rPr b="0" i="0" lang="en-US" sz="2400" u="none" cap="none" strike="noStrike">
                <a:solidFill>
                  <a:srgbClr val="080808"/>
                </a:solidFill>
                <a:latin typeface="Century Schoolbook"/>
                <a:ea typeface="Century Schoolbook"/>
                <a:cs typeface="Century Schoolbook"/>
                <a:sym typeface="Century Schoolbook"/>
              </a:rPr>
              <a:t>(</a:t>
            </a:r>
            <a:r>
              <a:rPr b="0" i="0" lang="en-US" sz="2400" u="none" cap="none" strike="noStrike">
                <a:solidFill>
                  <a:srgbClr val="000080"/>
                </a:solidFill>
                <a:latin typeface="Century Schoolbook"/>
                <a:ea typeface="Century Schoolbook"/>
                <a:cs typeface="Century Schoolbook"/>
                <a:sym typeface="Century Schoolbook"/>
              </a:rPr>
              <a:t>input</a:t>
            </a:r>
            <a:r>
              <a:rPr b="0" i="0" lang="en-US" sz="2400" u="none" cap="none" strike="noStrike">
                <a:solidFill>
                  <a:srgbClr val="080808"/>
                </a:solidFill>
                <a:latin typeface="Century Schoolbook"/>
                <a:ea typeface="Century Schoolbook"/>
                <a:cs typeface="Century Schoolbook"/>
                <a:sym typeface="Century Schoolbook"/>
              </a:rPr>
              <a:t>(</a:t>
            </a:r>
            <a:r>
              <a:rPr b="0" i="0" lang="en-US" sz="2400" u="none" cap="none" strike="noStrike">
                <a:solidFill>
                  <a:srgbClr val="067D17"/>
                </a:solidFill>
                <a:latin typeface="Century Schoolbook"/>
                <a:ea typeface="Century Schoolbook"/>
                <a:cs typeface="Century Schoolbook"/>
                <a:sym typeface="Century Schoolbook"/>
              </a:rPr>
              <a:t>"Enter The Cost Price of The Product:"</a:t>
            </a:r>
            <a:r>
              <a:rPr b="0" i="0" lang="en-US" sz="2400" u="none" cap="none" strike="noStrike">
                <a:solidFill>
                  <a:srgbClr val="080808"/>
                </a:solidFill>
                <a:latin typeface="Century Schoolbook"/>
                <a:ea typeface="Century Schoolbook"/>
                <a:cs typeface="Century Schoolbook"/>
                <a:sym typeface="Century Schoolbook"/>
              </a:rPr>
              <a:t>))</a:t>
            </a:r>
            <a:br>
              <a:rPr b="0" i="0" lang="en-US" sz="2400" u="none" cap="none" strike="noStrike">
                <a:solidFill>
                  <a:srgbClr val="080808"/>
                </a:solidFill>
                <a:latin typeface="Century Schoolbook"/>
                <a:ea typeface="Century Schoolbook"/>
                <a:cs typeface="Century Schoolbook"/>
                <a:sym typeface="Century Schoolbook"/>
              </a:rPr>
            </a:br>
            <a:r>
              <a:rPr b="0" i="0" lang="en-US" sz="2400" u="none" cap="none" strike="noStrike">
                <a:solidFill>
                  <a:srgbClr val="080808"/>
                </a:solidFill>
                <a:latin typeface="Century Schoolbook"/>
                <a:ea typeface="Century Schoolbook"/>
                <a:cs typeface="Century Schoolbook"/>
                <a:sym typeface="Century Schoolbook"/>
              </a:rPr>
              <a:t>sellingPrice = </a:t>
            </a:r>
            <a:r>
              <a:rPr b="0" i="0" lang="en-US" sz="2400" u="none" cap="none" strike="noStrike">
                <a:solidFill>
                  <a:srgbClr val="000080"/>
                </a:solidFill>
                <a:latin typeface="Century Schoolbook"/>
                <a:ea typeface="Century Schoolbook"/>
                <a:cs typeface="Century Schoolbook"/>
                <a:sym typeface="Century Schoolbook"/>
              </a:rPr>
              <a:t>float</a:t>
            </a:r>
            <a:r>
              <a:rPr b="0" i="0" lang="en-US" sz="2400" u="none" cap="none" strike="noStrike">
                <a:solidFill>
                  <a:srgbClr val="080808"/>
                </a:solidFill>
                <a:latin typeface="Century Schoolbook"/>
                <a:ea typeface="Century Schoolbook"/>
                <a:cs typeface="Century Schoolbook"/>
                <a:sym typeface="Century Schoolbook"/>
              </a:rPr>
              <a:t>(</a:t>
            </a:r>
            <a:r>
              <a:rPr b="0" i="0" lang="en-US" sz="2400" u="none" cap="none" strike="noStrike">
                <a:solidFill>
                  <a:srgbClr val="000080"/>
                </a:solidFill>
                <a:latin typeface="Century Schoolbook"/>
                <a:ea typeface="Century Schoolbook"/>
                <a:cs typeface="Century Schoolbook"/>
                <a:sym typeface="Century Schoolbook"/>
              </a:rPr>
              <a:t>input</a:t>
            </a:r>
            <a:r>
              <a:rPr b="0" i="0" lang="en-US" sz="2400" u="none" cap="none" strike="noStrike">
                <a:solidFill>
                  <a:srgbClr val="080808"/>
                </a:solidFill>
                <a:latin typeface="Century Schoolbook"/>
                <a:ea typeface="Century Schoolbook"/>
                <a:cs typeface="Century Schoolbook"/>
                <a:sym typeface="Century Schoolbook"/>
              </a:rPr>
              <a:t>(</a:t>
            </a:r>
            <a:r>
              <a:rPr b="0" i="0" lang="en-US" sz="2400" u="none" cap="none" strike="noStrike">
                <a:solidFill>
                  <a:srgbClr val="067D17"/>
                </a:solidFill>
                <a:latin typeface="Century Schoolbook"/>
                <a:ea typeface="Century Schoolbook"/>
                <a:cs typeface="Century Schoolbook"/>
                <a:sym typeface="Century Schoolbook"/>
              </a:rPr>
              <a:t>"Enter The Selling Price of The Product:"</a:t>
            </a:r>
            <a:r>
              <a:rPr b="0" i="0" lang="en-US" sz="2400" u="none" cap="none" strike="noStrike">
                <a:solidFill>
                  <a:srgbClr val="080808"/>
                </a:solidFill>
                <a:latin typeface="Century Schoolbook"/>
                <a:ea typeface="Century Schoolbook"/>
                <a:cs typeface="Century Schoolbook"/>
                <a:sym typeface="Century Schoolbook"/>
              </a:rPr>
              <a:t>))</a:t>
            </a:r>
            <a:br>
              <a:rPr b="0" i="0" lang="en-US" sz="2400" u="none" cap="none" strike="noStrike">
                <a:solidFill>
                  <a:srgbClr val="080808"/>
                </a:solidFill>
                <a:latin typeface="Century Schoolbook"/>
                <a:ea typeface="Century Schoolbook"/>
                <a:cs typeface="Century Schoolbook"/>
                <a:sym typeface="Century Schoolbook"/>
              </a:rPr>
            </a:br>
            <a:r>
              <a:rPr b="0" i="0" lang="en-US" sz="2400" u="none" cap="none" strike="noStrike">
                <a:solidFill>
                  <a:srgbClr val="080808"/>
                </a:solidFill>
                <a:latin typeface="Century Schoolbook"/>
                <a:ea typeface="Century Schoolbook"/>
                <a:cs typeface="Century Schoolbook"/>
                <a:sym typeface="Century Schoolbook"/>
              </a:rPr>
              <a:t>profit = sellingPrice - costPrice</a:t>
            </a:r>
            <a:br>
              <a:rPr b="0" i="0" lang="en-US" sz="2400" u="none" cap="none" strike="noStrike">
                <a:solidFill>
                  <a:srgbClr val="080808"/>
                </a:solidFill>
                <a:latin typeface="Century Schoolbook"/>
                <a:ea typeface="Century Schoolbook"/>
                <a:cs typeface="Century Schoolbook"/>
                <a:sym typeface="Century Schoolbook"/>
              </a:rPr>
            </a:br>
            <a:r>
              <a:rPr b="0" i="0" lang="en-US" sz="2400" u="none" cap="none" strike="noStrike">
                <a:solidFill>
                  <a:srgbClr val="000080"/>
                </a:solidFill>
                <a:latin typeface="Century Schoolbook"/>
                <a:ea typeface="Century Schoolbook"/>
                <a:cs typeface="Century Schoolbook"/>
                <a:sym typeface="Century Schoolbook"/>
              </a:rPr>
              <a:t>print</a:t>
            </a:r>
            <a:r>
              <a:rPr b="0" i="0" lang="en-US" sz="2400" u="none" cap="none" strike="noStrike">
                <a:solidFill>
                  <a:srgbClr val="080808"/>
                </a:solidFill>
                <a:latin typeface="Century Schoolbook"/>
                <a:ea typeface="Century Schoolbook"/>
                <a:cs typeface="Century Schoolbook"/>
                <a:sym typeface="Century Schoolbook"/>
              </a:rPr>
              <a:t>(</a:t>
            </a:r>
            <a:r>
              <a:rPr b="0" i="0" lang="en-US" sz="2400" u="none" cap="none" strike="noStrike">
                <a:solidFill>
                  <a:srgbClr val="067D17"/>
                </a:solidFill>
                <a:latin typeface="Century Schoolbook"/>
                <a:ea typeface="Century Schoolbook"/>
                <a:cs typeface="Century Schoolbook"/>
                <a:sym typeface="Century Schoolbook"/>
              </a:rPr>
              <a:t>"The Profit of the Product is:"</a:t>
            </a:r>
            <a:r>
              <a:rPr b="0" i="0" lang="en-US" sz="2400" u="none" cap="none" strike="noStrike">
                <a:solidFill>
                  <a:srgbClr val="080808"/>
                </a:solidFill>
                <a:latin typeface="Century Schoolbook"/>
                <a:ea typeface="Century Schoolbook"/>
                <a:cs typeface="Century Schoolbook"/>
                <a:sym typeface="Century Schoolbook"/>
              </a:rPr>
              <a:t>, profit)</a:t>
            </a:r>
            <a:endParaRPr b="0" i="0" sz="4800" u="none" cap="none" strike="noStrike">
              <a:solidFill>
                <a:schemeClr val="dk1"/>
              </a:solidFill>
              <a:latin typeface="Century Schoolbook"/>
              <a:ea typeface="Century Schoolbook"/>
              <a:cs typeface="Century Schoolbook"/>
              <a:sym typeface="Century Schoolbook"/>
            </a:endParaRPr>
          </a:p>
        </p:txBody>
      </p:sp>
      <p:pic>
        <p:nvPicPr>
          <p:cNvPr id="121" name="Google Shape;121;p5"/>
          <p:cNvPicPr preferRelativeResize="0"/>
          <p:nvPr/>
        </p:nvPicPr>
        <p:blipFill rotWithShape="1">
          <a:blip r:embed="rId3">
            <a:alphaModFix/>
          </a:blip>
          <a:srcRect b="0" l="0" r="0" t="0"/>
          <a:stretch/>
        </p:blipFill>
        <p:spPr>
          <a:xfrm>
            <a:off x="623009" y="4859269"/>
            <a:ext cx="6147087" cy="1862206"/>
          </a:xfrm>
          <a:prstGeom prst="rect">
            <a:avLst/>
          </a:prstGeom>
          <a:noFill/>
          <a:ln>
            <a:noFill/>
          </a:ln>
        </p:spPr>
      </p:pic>
      <p:sp>
        <p:nvSpPr>
          <p:cNvPr id="122" name="Google Shape;122;p5"/>
          <p:cNvSpPr/>
          <p:nvPr/>
        </p:nvSpPr>
        <p:spPr>
          <a:xfrm>
            <a:off x="9460577" y="2333955"/>
            <a:ext cx="2236123" cy="1263783"/>
          </a:xfrm>
          <a:prstGeom prst="down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Top to Bottom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Approach</a:t>
            </a:r>
            <a:endParaRPr b="0" i="0" sz="1800" u="none" cap="none" strike="noStrike">
              <a:solidFill>
                <a:schemeClr val="lt1"/>
              </a:solidFill>
              <a:latin typeface="Calibri"/>
              <a:ea typeface="Calibri"/>
              <a:cs typeface="Calibri"/>
              <a:sym typeface="Calibri"/>
            </a:endParaRPr>
          </a:p>
        </p:txBody>
      </p:sp>
      <p:sp>
        <p:nvSpPr>
          <p:cNvPr id="123" name="Google Shape;123;p5"/>
          <p:cNvSpPr txBox="1"/>
          <p:nvPr>
            <p:ph type="ctrTitle"/>
          </p:nvPr>
        </p:nvSpPr>
        <p:spPr>
          <a:xfrm>
            <a:off x="441325" y="575189"/>
            <a:ext cx="4235450" cy="845608"/>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chemeClr val="dk1"/>
              </a:buClr>
              <a:buSzPts val="5400"/>
              <a:buFont typeface="Calibri"/>
              <a:buNone/>
            </a:pPr>
            <a:r>
              <a:rPr b="1" lang="en-US" sz="4000" u="sng">
                <a:solidFill>
                  <a:srgbClr val="00B050"/>
                </a:solidFill>
                <a:latin typeface="Century Schoolbook"/>
                <a:ea typeface="Century Schoolbook"/>
                <a:cs typeface="Century Schoolbook"/>
                <a:sym typeface="Century Schoolbook"/>
              </a:rPr>
              <a:t>Example 1</a:t>
            </a:r>
            <a:endParaRPr sz="4000">
              <a:solidFill>
                <a:srgbClr val="00B050"/>
              </a:solidFill>
              <a:latin typeface="Century Schoolbook"/>
              <a:ea typeface="Century Schoolbook"/>
              <a:cs typeface="Century Schoolbook"/>
              <a:sym typeface="Century Schoolbook"/>
            </a:endParaRPr>
          </a:p>
        </p:txBody>
      </p:sp>
      <p:sp>
        <p:nvSpPr>
          <p:cNvPr id="124" name="Google Shape;124;p5"/>
          <p:cNvSpPr txBox="1"/>
          <p:nvPr/>
        </p:nvSpPr>
        <p:spPr>
          <a:xfrm>
            <a:off x="508000" y="1474530"/>
            <a:ext cx="9283200" cy="718500"/>
          </a:xfrm>
          <a:prstGeom prst="rect">
            <a:avLst/>
          </a:prstGeom>
          <a:noFill/>
          <a:ln>
            <a:noFill/>
          </a:ln>
        </p:spPr>
        <p:txBody>
          <a:bodyPr anchorCtr="0" anchor="t" bIns="45700" lIns="91425" spcFirstLastPara="1" rIns="91425" wrap="square" tIns="45700">
            <a:normAutofit fontScale="77500" lnSpcReduction="20000"/>
          </a:bodyPr>
          <a:lstStyle/>
          <a:p>
            <a:pPr indent="0" lvl="0" marL="114300" marR="0" rtl="0" algn="l">
              <a:lnSpc>
                <a:spcPct val="90000"/>
              </a:lnSpc>
              <a:spcBef>
                <a:spcPts val="0"/>
              </a:spcBef>
              <a:spcAft>
                <a:spcPts val="0"/>
              </a:spcAft>
              <a:buClr>
                <a:schemeClr val="dk1"/>
              </a:buClr>
              <a:buSzPct val="129032"/>
              <a:buFont typeface="Arial"/>
              <a:buNone/>
            </a:pPr>
            <a:r>
              <a:rPr b="1" i="0" lang="en-US" sz="4000" u="none" cap="none" strike="noStrike">
                <a:solidFill>
                  <a:schemeClr val="dk1"/>
                </a:solidFill>
                <a:latin typeface="Century Schoolbook"/>
                <a:ea typeface="Century Schoolbook"/>
                <a:cs typeface="Century Schoolbook"/>
                <a:sym typeface="Century Schoolbook"/>
              </a:rPr>
              <a:t>Program to calculate profit of the product</a:t>
            </a:r>
            <a:r>
              <a:rPr b="1" i="0" lang="en-US" sz="4000" u="none" cap="none" strike="noStrike">
                <a:solidFill>
                  <a:schemeClr val="dk1"/>
                </a:solidFill>
                <a:latin typeface="Calibri"/>
                <a:ea typeface="Calibri"/>
                <a:cs typeface="Calibri"/>
                <a:sym typeface="Calibri"/>
              </a:rPr>
              <a:t>.</a:t>
            </a:r>
            <a:endParaRPr b="1" i="0" sz="4000" u="none" cap="none" strike="noStrike">
              <a:solidFill>
                <a:schemeClr val="dk1"/>
              </a:solidFill>
              <a:latin typeface="Calibri"/>
              <a:ea typeface="Calibri"/>
              <a:cs typeface="Calibri"/>
              <a:sym typeface="Calibri"/>
            </a:endParaRPr>
          </a:p>
        </p:txBody>
      </p:sp>
      <p:sp>
        <p:nvSpPr>
          <p:cNvPr id="125" name="Google Shape;12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ctrTitle"/>
          </p:nvPr>
        </p:nvSpPr>
        <p:spPr>
          <a:xfrm>
            <a:off x="334587" y="593032"/>
            <a:ext cx="6860251" cy="94049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chemeClr val="dk1"/>
              </a:buClr>
              <a:buSzPts val="5400"/>
              <a:buFont typeface="Calibri"/>
              <a:buNone/>
            </a:pPr>
            <a:r>
              <a:rPr b="1" lang="en-US" sz="4000" u="sng">
                <a:solidFill>
                  <a:srgbClr val="00B050"/>
                </a:solidFill>
                <a:latin typeface="Century Schoolbook"/>
                <a:ea typeface="Century Schoolbook"/>
                <a:cs typeface="Century Schoolbook"/>
                <a:sym typeface="Century Schoolbook"/>
              </a:rPr>
              <a:t>For You</a:t>
            </a:r>
            <a:endParaRPr b="1" sz="4000" u="sng">
              <a:solidFill>
                <a:srgbClr val="00B050"/>
              </a:solidFill>
              <a:latin typeface="Century Schoolbook"/>
              <a:ea typeface="Century Schoolbook"/>
              <a:cs typeface="Century Schoolbook"/>
              <a:sym typeface="Century Schoolbook"/>
            </a:endParaRPr>
          </a:p>
        </p:txBody>
      </p:sp>
      <p:sp>
        <p:nvSpPr>
          <p:cNvPr id="131" name="Google Shape;131;p6"/>
          <p:cNvSpPr txBox="1"/>
          <p:nvPr/>
        </p:nvSpPr>
        <p:spPr>
          <a:xfrm>
            <a:off x="334587" y="1438275"/>
            <a:ext cx="11522826" cy="2789873"/>
          </a:xfrm>
          <a:prstGeom prst="rect">
            <a:avLst/>
          </a:prstGeom>
          <a:noFill/>
          <a:ln>
            <a:noFill/>
          </a:ln>
        </p:spPr>
        <p:txBody>
          <a:bodyPr anchorCtr="0" anchor="ctr" bIns="45700" lIns="91425" spcFirstLastPara="1" rIns="91425" wrap="square" tIns="45700">
            <a:noAutofit/>
          </a:bodyPr>
          <a:lstStyle/>
          <a:p>
            <a:pPr indent="-457200" lvl="0" marL="571500" marR="0" rtl="0" algn="just">
              <a:lnSpc>
                <a:spcPct val="150000"/>
              </a:lnSpc>
              <a:spcBef>
                <a:spcPts val="0"/>
              </a:spcBef>
              <a:spcAft>
                <a:spcPts val="0"/>
              </a:spcAft>
              <a:buClr>
                <a:schemeClr val="dk1"/>
              </a:buClr>
              <a:buSzPts val="2800"/>
              <a:buFont typeface="Calibri"/>
              <a:buAutoNum type="arabicPeriod"/>
            </a:pPr>
            <a:r>
              <a:rPr b="0" i="0" lang="en-US" sz="2800" u="none" cap="none" strike="noStrike">
                <a:solidFill>
                  <a:schemeClr val="dk1"/>
                </a:solidFill>
                <a:latin typeface="Century Schoolbook"/>
                <a:ea typeface="Century Schoolbook"/>
                <a:cs typeface="Century Schoolbook"/>
                <a:sym typeface="Century Schoolbook"/>
              </a:rPr>
              <a:t>Develop a program which prompts user to ask the temperature in Celsius and convert that into Fahrenheit with a display message. And Explain how the flow of code is sequential. (Hint: (Celsius * 9/5) + 32)</a:t>
            </a:r>
            <a:endParaRPr b="0" i="0" sz="2800" u="none" cap="none" strike="noStrike">
              <a:solidFill>
                <a:schemeClr val="dk1"/>
              </a:solidFill>
              <a:latin typeface="Century Schoolbook"/>
              <a:ea typeface="Century Schoolbook"/>
              <a:cs typeface="Century Schoolbook"/>
              <a:sym typeface="Century Schoolbook"/>
            </a:endParaRPr>
          </a:p>
        </p:txBody>
      </p:sp>
      <p:sp>
        <p:nvSpPr>
          <p:cNvPr id="132" name="Google Shape;132;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7"/>
          <p:cNvSpPr txBox="1"/>
          <p:nvPr>
            <p:ph type="ctrTitle"/>
          </p:nvPr>
        </p:nvSpPr>
        <p:spPr>
          <a:xfrm>
            <a:off x="196044" y="521472"/>
            <a:ext cx="5180213" cy="1121939"/>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sz="4000" u="sng">
                <a:solidFill>
                  <a:srgbClr val="00B050"/>
                </a:solidFill>
                <a:latin typeface="Century Schoolbook"/>
                <a:ea typeface="Century Schoolbook"/>
                <a:cs typeface="Century Schoolbook"/>
                <a:sym typeface="Century Schoolbook"/>
              </a:rPr>
              <a:t>Selection Control</a:t>
            </a:r>
            <a:endParaRPr b="1" sz="4000" u="sng">
              <a:solidFill>
                <a:srgbClr val="00B050"/>
              </a:solidFill>
              <a:latin typeface="Century Schoolbook"/>
              <a:ea typeface="Century Schoolbook"/>
              <a:cs typeface="Century Schoolbook"/>
              <a:sym typeface="Century Schoolbook"/>
            </a:endParaRPr>
          </a:p>
        </p:txBody>
      </p:sp>
      <p:sp>
        <p:nvSpPr>
          <p:cNvPr id="138" name="Google Shape;138;p7"/>
          <p:cNvSpPr txBox="1"/>
          <p:nvPr>
            <p:ph idx="1" type="subTitle"/>
          </p:nvPr>
        </p:nvSpPr>
        <p:spPr>
          <a:xfrm>
            <a:off x="342900" y="1473323"/>
            <a:ext cx="10515600" cy="3636147"/>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0"/>
              </a:spcBef>
              <a:spcAft>
                <a:spcPts val="0"/>
              </a:spcAft>
              <a:buClr>
                <a:srgbClr val="00B0F0"/>
              </a:buClr>
              <a:buSzPts val="4400"/>
              <a:buNone/>
            </a:pPr>
            <a:r>
              <a:rPr lang="en-US">
                <a:solidFill>
                  <a:srgbClr val="00B0F0"/>
                </a:solidFill>
                <a:latin typeface="Century Schoolbook"/>
                <a:ea typeface="Century Schoolbook"/>
                <a:cs typeface="Century Schoolbook"/>
                <a:sym typeface="Century Schoolbook"/>
              </a:rPr>
              <a:t>What is selection control?</a:t>
            </a:r>
            <a:endParaRPr>
              <a:latin typeface="Century Schoolbook"/>
              <a:ea typeface="Century Schoolbook"/>
              <a:cs typeface="Century Schoolbook"/>
              <a:sym typeface="Century Schoolbook"/>
            </a:endParaRPr>
          </a:p>
          <a:p>
            <a:pPr indent="0" lvl="0" marL="114300" rtl="0" algn="l">
              <a:lnSpc>
                <a:spcPct val="150000"/>
              </a:lnSpc>
              <a:spcBef>
                <a:spcPts val="0"/>
              </a:spcBef>
              <a:spcAft>
                <a:spcPts val="0"/>
              </a:spcAft>
              <a:buClr>
                <a:srgbClr val="00B0F0"/>
              </a:buClr>
              <a:buSzPts val="4400"/>
              <a:buNone/>
            </a:pPr>
            <a:r>
              <a:rPr lang="en-US">
                <a:latin typeface="Century Schoolbook"/>
                <a:ea typeface="Century Schoolbook"/>
                <a:cs typeface="Century Schoolbook"/>
                <a:sym typeface="Century Schoolbook"/>
              </a:rPr>
              <a:t>A selection control statement is a control statement providing </a:t>
            </a:r>
            <a:r>
              <a:rPr b="1" lang="en-US">
                <a:solidFill>
                  <a:srgbClr val="00B050"/>
                </a:solidFill>
                <a:latin typeface="Century Schoolbook"/>
                <a:ea typeface="Century Schoolbook"/>
                <a:cs typeface="Century Schoolbook"/>
                <a:sym typeface="Century Schoolbook"/>
              </a:rPr>
              <a:t>selective execution of instructions</a:t>
            </a:r>
            <a:r>
              <a:rPr lang="en-US">
                <a:latin typeface="Century Schoolbook"/>
                <a:ea typeface="Century Schoolbook"/>
                <a:cs typeface="Century Schoolbook"/>
                <a:sym typeface="Century Schoolbook"/>
              </a:rPr>
              <a:t>. There are various statements which follows selection control.</a:t>
            </a:r>
            <a:endParaRPr/>
          </a:p>
          <a:p>
            <a:pPr indent="0" lvl="0" marL="114300" rtl="0" algn="l">
              <a:lnSpc>
                <a:spcPct val="150000"/>
              </a:lnSpc>
              <a:spcBef>
                <a:spcPts val="0"/>
              </a:spcBef>
              <a:spcAft>
                <a:spcPts val="0"/>
              </a:spcAft>
              <a:buClr>
                <a:srgbClr val="00B0F0"/>
              </a:buClr>
              <a:buSzPts val="4400"/>
              <a:buNone/>
            </a:pPr>
            <a:r>
              <a:t/>
            </a:r>
            <a:endParaRPr>
              <a:latin typeface="Century Schoolbook"/>
              <a:ea typeface="Century Schoolbook"/>
              <a:cs typeface="Century Schoolbook"/>
              <a:sym typeface="Century Schoolbook"/>
            </a:endParaRPr>
          </a:p>
        </p:txBody>
      </p:sp>
      <p:sp>
        <p:nvSpPr>
          <p:cNvPr id="139" name="Google Shape;13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40" name="Google Shape;140;p7"/>
          <p:cNvPicPr preferRelativeResize="0"/>
          <p:nvPr/>
        </p:nvPicPr>
        <p:blipFill rotWithShape="1">
          <a:blip r:embed="rId3">
            <a:alphaModFix/>
          </a:blip>
          <a:srcRect b="0" l="0" r="0" t="0"/>
          <a:stretch/>
        </p:blipFill>
        <p:spPr>
          <a:xfrm>
            <a:off x="4553481" y="3291397"/>
            <a:ext cx="3840716" cy="324751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ph type="ctrTitle"/>
          </p:nvPr>
        </p:nvSpPr>
        <p:spPr>
          <a:xfrm>
            <a:off x="264622" y="342900"/>
            <a:ext cx="7848599"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sz="4000" u="sng">
                <a:solidFill>
                  <a:srgbClr val="00B050"/>
                </a:solidFill>
                <a:latin typeface="Century Schoolbook"/>
                <a:ea typeface="Century Schoolbook"/>
                <a:cs typeface="Century Schoolbook"/>
                <a:sym typeface="Century Schoolbook"/>
              </a:rPr>
              <a:t>The if statement</a:t>
            </a:r>
            <a:endParaRPr b="1" sz="4000" u="sng">
              <a:solidFill>
                <a:srgbClr val="00B050"/>
              </a:solidFill>
              <a:latin typeface="Century Schoolbook"/>
              <a:ea typeface="Century Schoolbook"/>
              <a:cs typeface="Century Schoolbook"/>
              <a:sym typeface="Century Schoolbook"/>
            </a:endParaRPr>
          </a:p>
        </p:txBody>
      </p:sp>
      <p:sp>
        <p:nvSpPr>
          <p:cNvPr id="146" name="Google Shape;146;p8"/>
          <p:cNvSpPr txBox="1"/>
          <p:nvPr/>
        </p:nvSpPr>
        <p:spPr>
          <a:xfrm>
            <a:off x="264622" y="1325563"/>
            <a:ext cx="11089178" cy="3231654"/>
          </a:xfrm>
          <a:prstGeom prst="rect">
            <a:avLst/>
          </a:prstGeom>
          <a:noFill/>
          <a:ln>
            <a:noFill/>
          </a:ln>
        </p:spPr>
        <p:txBody>
          <a:bodyPr anchorCtr="0" anchor="t" bIns="0" lIns="0" spcFirstLastPara="1" rIns="0" wrap="square" tIns="0">
            <a:spAutoFit/>
          </a:bodyPr>
          <a:lstStyle/>
          <a:p>
            <a:pPr indent="-457200" lvl="1" marL="845819" marR="0" rtl="0" algn="just">
              <a:lnSpc>
                <a:spcPct val="150000"/>
              </a:lnSpc>
              <a:spcBef>
                <a:spcPts val="0"/>
              </a:spcBef>
              <a:spcAft>
                <a:spcPts val="0"/>
              </a:spcAft>
              <a:buClr>
                <a:srgbClr val="000000"/>
              </a:buClr>
              <a:buSzPts val="280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The if statement is a conditional statement in python, that used to determine whether a block of code will be executed or not. Meaning if the program finds the </a:t>
            </a:r>
            <a:r>
              <a:rPr b="1" i="0" lang="en-US" sz="2800" u="none" cap="none" strike="noStrike">
                <a:solidFill>
                  <a:srgbClr val="00B050"/>
                </a:solidFill>
                <a:latin typeface="Century Schoolbook"/>
                <a:ea typeface="Century Schoolbook"/>
                <a:cs typeface="Century Schoolbook"/>
                <a:sym typeface="Century Schoolbook"/>
              </a:rPr>
              <a:t>condition defined in the statement to be true</a:t>
            </a:r>
            <a:r>
              <a:rPr b="0" i="0" lang="en-US" sz="2800" u="none" cap="none" strike="noStrike">
                <a:solidFill>
                  <a:srgbClr val="000000"/>
                </a:solidFill>
                <a:latin typeface="Century Schoolbook"/>
                <a:ea typeface="Century Schoolbook"/>
                <a:cs typeface="Century Schoolbook"/>
                <a:sym typeface="Century Schoolbook"/>
              </a:rPr>
              <a:t>, it will go ahead and execute the code block inside the if statement. </a:t>
            </a:r>
            <a:endParaRPr b="0" i="0" sz="2800" u="none" cap="none" strike="noStrike">
              <a:solidFill>
                <a:srgbClr val="000000"/>
              </a:solidFill>
              <a:latin typeface="Century Schoolbook"/>
              <a:ea typeface="Century Schoolbook"/>
              <a:cs typeface="Century Schoolbook"/>
              <a:sym typeface="Century Schoolbook"/>
            </a:endParaRPr>
          </a:p>
        </p:txBody>
      </p:sp>
      <p:sp>
        <p:nvSpPr>
          <p:cNvPr id="147" name="Google Shape;147;p8"/>
          <p:cNvSpPr/>
          <p:nvPr/>
        </p:nvSpPr>
        <p:spPr>
          <a:xfrm>
            <a:off x="1415934" y="4658100"/>
            <a:ext cx="9360131" cy="2078707"/>
          </a:xfrm>
          <a:custGeom>
            <a:rect b="b" l="l" r="r" t="t"/>
            <a:pathLst>
              <a:path extrusionOk="0" h="2615827" w="12749868">
                <a:moveTo>
                  <a:pt x="0" y="0"/>
                </a:moveTo>
                <a:lnTo>
                  <a:pt x="12749868" y="0"/>
                </a:lnTo>
                <a:lnTo>
                  <a:pt x="12749868" y="2615826"/>
                </a:lnTo>
                <a:lnTo>
                  <a:pt x="0" y="2615826"/>
                </a:lnTo>
                <a:lnTo>
                  <a:pt x="0" y="0"/>
                </a:lnTo>
                <a:close/>
              </a:path>
            </a:pathLst>
          </a:custGeom>
          <a:blipFill rotWithShape="1">
            <a:blip r:embed="rId3">
              <a:alphaModFix/>
            </a:blip>
            <a:stretch>
              <a:fillRect b="0" l="0" r="0" t="0"/>
            </a:stretch>
          </a:blipFill>
          <a:ln>
            <a:noFill/>
          </a:ln>
        </p:spPr>
      </p:sp>
      <p:sp>
        <p:nvSpPr>
          <p:cNvPr id="148" name="Google Shape;148;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9"/>
          <p:cNvSpPr txBox="1"/>
          <p:nvPr>
            <p:ph type="ctrTitle"/>
          </p:nvPr>
        </p:nvSpPr>
        <p:spPr>
          <a:xfrm>
            <a:off x="188597" y="352395"/>
            <a:ext cx="7848599"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sz="4000" u="sng">
                <a:solidFill>
                  <a:srgbClr val="00B050"/>
                </a:solidFill>
                <a:latin typeface="Century Schoolbook"/>
                <a:ea typeface="Century Schoolbook"/>
                <a:cs typeface="Century Schoolbook"/>
                <a:sym typeface="Century Schoolbook"/>
              </a:rPr>
              <a:t>Flowchart</a:t>
            </a:r>
            <a:endParaRPr b="1" sz="4000" u="sng">
              <a:solidFill>
                <a:srgbClr val="00B050"/>
              </a:solidFill>
              <a:latin typeface="Century Schoolbook"/>
              <a:ea typeface="Century Schoolbook"/>
              <a:cs typeface="Century Schoolbook"/>
              <a:sym typeface="Century Schoolbook"/>
            </a:endParaRPr>
          </a:p>
        </p:txBody>
      </p:sp>
      <p:pic>
        <p:nvPicPr>
          <p:cNvPr descr="https://lh6.googleusercontent.com/Sls0_bw0OPJ0zBLRO1BXkgNFNb-vQYZgSfZFgbAx6iOqKYQdym8GsoMsM0vSC5VKV9v991lZ0lQ4OvT6jE5FMMLyZW-KDTPZwAybkedi8-dVU-gUTnfjEFEbdAi94lGNnjhbKDBNMoqRDTJnYjffLnIjUWb3zcizruyCvkBlRk8svaO4ISlddhNwktqCVVYeIFztWDA" id="154" name="Google Shape;154;p9"/>
          <p:cNvPicPr preferRelativeResize="0"/>
          <p:nvPr/>
        </p:nvPicPr>
        <p:blipFill rotWithShape="1">
          <a:blip r:embed="rId3">
            <a:alphaModFix/>
          </a:blip>
          <a:srcRect b="0" l="0" r="0" t="0"/>
          <a:stretch/>
        </p:blipFill>
        <p:spPr>
          <a:xfrm>
            <a:off x="799038" y="2170649"/>
            <a:ext cx="5448630" cy="3799968"/>
          </a:xfrm>
          <a:prstGeom prst="rect">
            <a:avLst/>
          </a:prstGeom>
          <a:noFill/>
          <a:ln>
            <a:noFill/>
          </a:ln>
        </p:spPr>
      </p:pic>
      <p:sp>
        <p:nvSpPr>
          <p:cNvPr id="155" name="Google Shape;155;p9"/>
          <p:cNvSpPr/>
          <p:nvPr/>
        </p:nvSpPr>
        <p:spPr>
          <a:xfrm>
            <a:off x="7215447" y="2901143"/>
            <a:ext cx="3765665" cy="1938992"/>
          </a:xfrm>
          <a:prstGeom prst="rect">
            <a:avLst/>
          </a:prstGeom>
          <a:solidFill>
            <a:srgbClr val="FEE599"/>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actualFloor = floor;</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if (floor &gt; 13):</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   actualFloor = actualFloor – 1</a:t>
            </a:r>
            <a:endParaRPr b="0" i="0" sz="1400" u="none" cap="none" strike="noStrike">
              <a:solidFill>
                <a:srgbClr val="000000"/>
              </a:solidFill>
              <a:latin typeface="Arial"/>
              <a:ea typeface="Arial"/>
              <a:cs typeface="Arial"/>
              <a:sym typeface="Arial"/>
            </a:endParaRPr>
          </a:p>
        </p:txBody>
      </p:sp>
      <p:sp>
        <p:nvSpPr>
          <p:cNvPr id="156" name="Google Shape;156;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0"/>
          <p:cNvSpPr txBox="1"/>
          <p:nvPr>
            <p:ph type="ctrTitle"/>
          </p:nvPr>
        </p:nvSpPr>
        <p:spPr>
          <a:xfrm>
            <a:off x="529771" y="544260"/>
            <a:ext cx="5654675" cy="845608"/>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chemeClr val="dk1"/>
              </a:buClr>
              <a:buSzPts val="5400"/>
              <a:buFont typeface="Calibri"/>
              <a:buNone/>
            </a:pPr>
            <a:r>
              <a:rPr b="1" lang="en-US" sz="4000" u="sng">
                <a:solidFill>
                  <a:srgbClr val="00B050"/>
                </a:solidFill>
                <a:latin typeface="Century Schoolbook"/>
                <a:ea typeface="Century Schoolbook"/>
                <a:cs typeface="Century Schoolbook"/>
                <a:sym typeface="Century Schoolbook"/>
              </a:rPr>
              <a:t>Example 2</a:t>
            </a:r>
            <a:endParaRPr b="1" sz="4000" u="sng">
              <a:solidFill>
                <a:srgbClr val="00B050"/>
              </a:solidFill>
              <a:latin typeface="Century Schoolbook"/>
              <a:ea typeface="Century Schoolbook"/>
              <a:cs typeface="Century Schoolbook"/>
              <a:sym typeface="Century Schoolbook"/>
            </a:endParaRPr>
          </a:p>
        </p:txBody>
      </p:sp>
      <p:sp>
        <p:nvSpPr>
          <p:cNvPr id="162" name="Google Shape;162;p10"/>
          <p:cNvSpPr txBox="1"/>
          <p:nvPr/>
        </p:nvSpPr>
        <p:spPr>
          <a:xfrm>
            <a:off x="581445" y="1323515"/>
            <a:ext cx="11206002" cy="1248235"/>
          </a:xfrm>
          <a:prstGeom prst="rect">
            <a:avLst/>
          </a:prstGeom>
          <a:noFill/>
          <a:ln>
            <a:noFill/>
          </a:ln>
        </p:spPr>
        <p:txBody>
          <a:bodyPr anchorCtr="0" anchor="t" bIns="45700" lIns="91425" spcFirstLastPara="1" rIns="91425" wrap="square" tIns="45700">
            <a:noAutofit/>
          </a:bodyPr>
          <a:lstStyle/>
          <a:p>
            <a:pPr indent="0" lvl="0" marL="114300" marR="0" rtl="0" algn="just">
              <a:lnSpc>
                <a:spcPct val="150000"/>
              </a:lnSpc>
              <a:spcBef>
                <a:spcPts val="0"/>
              </a:spcBef>
              <a:spcAft>
                <a:spcPts val="0"/>
              </a:spcAft>
              <a:buClr>
                <a:schemeClr val="dk1"/>
              </a:buClr>
              <a:buSzPts val="3200"/>
              <a:buFont typeface="Arial"/>
              <a:buNone/>
            </a:pPr>
            <a:r>
              <a:rPr b="0" i="0" lang="en-US" sz="2400" u="none" cap="none" strike="noStrike">
                <a:solidFill>
                  <a:schemeClr val="dk1"/>
                </a:solidFill>
                <a:latin typeface="Century Schoolbook"/>
                <a:ea typeface="Century Schoolbook"/>
                <a:cs typeface="Century Schoolbook"/>
                <a:sym typeface="Century Schoolbook"/>
              </a:rPr>
              <a:t>Write a python program to calculate the sum of three given numbers. If the values are equal then print three time their sum. </a:t>
            </a:r>
            <a:endParaRPr b="0" i="0" sz="2400" u="none" cap="none" strike="noStrike">
              <a:solidFill>
                <a:schemeClr val="dk1"/>
              </a:solidFill>
              <a:latin typeface="Century Schoolbook"/>
              <a:ea typeface="Century Schoolbook"/>
              <a:cs typeface="Century Schoolbook"/>
              <a:sym typeface="Century Schoolbook"/>
            </a:endParaRPr>
          </a:p>
        </p:txBody>
      </p:sp>
      <p:sp>
        <p:nvSpPr>
          <p:cNvPr id="163" name="Google Shape;163;p10"/>
          <p:cNvSpPr/>
          <p:nvPr/>
        </p:nvSpPr>
        <p:spPr>
          <a:xfrm>
            <a:off x="7046713" y="2821001"/>
            <a:ext cx="4266909" cy="2394209"/>
          </a:xfrm>
          <a:custGeom>
            <a:rect b="b" l="l" r="r" t="t"/>
            <a:pathLst>
              <a:path extrusionOk="0" h="3800308" w="6309069">
                <a:moveTo>
                  <a:pt x="0" y="0"/>
                </a:moveTo>
                <a:lnTo>
                  <a:pt x="6309069" y="0"/>
                </a:lnTo>
                <a:lnTo>
                  <a:pt x="6309069" y="3800308"/>
                </a:lnTo>
                <a:lnTo>
                  <a:pt x="0" y="3800308"/>
                </a:lnTo>
                <a:lnTo>
                  <a:pt x="0" y="0"/>
                </a:lnTo>
                <a:close/>
              </a:path>
            </a:pathLst>
          </a:custGeom>
          <a:blipFill rotWithShape="1">
            <a:blip r:embed="rId3">
              <a:alphaModFix/>
            </a:blip>
            <a:stretch>
              <a:fillRect b="0" l="0" r="0" t="0"/>
            </a:stretch>
          </a:blipFill>
          <a:ln>
            <a:noFill/>
          </a:ln>
        </p:spPr>
      </p:sp>
      <p:sp>
        <p:nvSpPr>
          <p:cNvPr id="164" name="Google Shape;164;p10"/>
          <p:cNvSpPr txBox="1"/>
          <p:nvPr/>
        </p:nvSpPr>
        <p:spPr>
          <a:xfrm>
            <a:off x="581445" y="5806526"/>
            <a:ext cx="11206002" cy="924934"/>
          </a:xfrm>
          <a:prstGeom prst="rect">
            <a:avLst/>
          </a:prstGeom>
          <a:noFill/>
          <a:ln>
            <a:noFill/>
          </a:ln>
        </p:spPr>
        <p:txBody>
          <a:bodyPr anchorCtr="0" anchor="t" bIns="45700" lIns="91425" spcFirstLastPara="1" rIns="91425" wrap="square" tIns="45700">
            <a:noAutofit/>
          </a:bodyPr>
          <a:lstStyle/>
          <a:p>
            <a:pPr indent="0" lvl="0" marL="114300" marR="0" rtl="0" algn="just">
              <a:lnSpc>
                <a:spcPct val="90000"/>
              </a:lnSpc>
              <a:spcBef>
                <a:spcPts val="0"/>
              </a:spcBef>
              <a:spcAft>
                <a:spcPts val="0"/>
              </a:spcAft>
              <a:buClr>
                <a:srgbClr val="FF0000"/>
              </a:buClr>
              <a:buSzPts val="3200"/>
              <a:buFont typeface="Arial"/>
              <a:buNone/>
            </a:pPr>
            <a:r>
              <a:rPr b="1" i="0" lang="en-US" sz="2400" u="none" cap="none" strike="noStrike">
                <a:solidFill>
                  <a:srgbClr val="FF0000"/>
                </a:solidFill>
                <a:latin typeface="Century Schoolbook"/>
                <a:ea typeface="Century Schoolbook"/>
                <a:cs typeface="Century Schoolbook"/>
                <a:sym typeface="Century Schoolbook"/>
              </a:rPr>
              <a:t>You might get the output but there is a problem with this program!!! We will look into it later on.</a:t>
            </a:r>
            <a:endParaRPr b="1" i="0" sz="2400" u="none" cap="none" strike="noStrike">
              <a:solidFill>
                <a:srgbClr val="FF0000"/>
              </a:solidFill>
              <a:latin typeface="Century Schoolbook"/>
              <a:ea typeface="Century Schoolbook"/>
              <a:cs typeface="Century Schoolbook"/>
              <a:sym typeface="Century Schoolbook"/>
            </a:endParaRPr>
          </a:p>
        </p:txBody>
      </p:sp>
      <p:pic>
        <p:nvPicPr>
          <p:cNvPr id="165" name="Google Shape;165;p10"/>
          <p:cNvPicPr preferRelativeResize="0"/>
          <p:nvPr/>
        </p:nvPicPr>
        <p:blipFill rotWithShape="1">
          <a:blip r:embed="rId4">
            <a:alphaModFix/>
          </a:blip>
          <a:srcRect b="0" l="0" r="0" t="0"/>
          <a:stretch/>
        </p:blipFill>
        <p:spPr>
          <a:xfrm>
            <a:off x="878378" y="3284652"/>
            <a:ext cx="5627408" cy="2373003"/>
          </a:xfrm>
          <a:prstGeom prst="rect">
            <a:avLst/>
          </a:prstGeom>
          <a:noFill/>
          <a:ln>
            <a:noFill/>
          </a:ln>
        </p:spPr>
      </p:pic>
      <p:sp>
        <p:nvSpPr>
          <p:cNvPr id="166" name="Google Shape;16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1"/>
          <p:cNvSpPr txBox="1"/>
          <p:nvPr>
            <p:ph type="ctrTitle"/>
          </p:nvPr>
        </p:nvSpPr>
        <p:spPr>
          <a:xfrm>
            <a:off x="412750" y="484134"/>
            <a:ext cx="3268133" cy="845608"/>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chemeClr val="dk1"/>
              </a:buClr>
              <a:buSzPts val="5400"/>
              <a:buFont typeface="Calibri"/>
              <a:buNone/>
            </a:pPr>
            <a:r>
              <a:rPr b="1" lang="en-US" sz="4000" u="sng">
                <a:solidFill>
                  <a:srgbClr val="00B050"/>
                </a:solidFill>
                <a:latin typeface="Century Schoolbook"/>
                <a:ea typeface="Century Schoolbook"/>
                <a:cs typeface="Century Schoolbook"/>
                <a:sym typeface="Century Schoolbook"/>
              </a:rPr>
              <a:t>Output</a:t>
            </a:r>
            <a:endParaRPr b="1" sz="4000" u="sng">
              <a:solidFill>
                <a:srgbClr val="00B050"/>
              </a:solidFill>
              <a:latin typeface="Century Schoolbook"/>
              <a:ea typeface="Century Schoolbook"/>
              <a:cs typeface="Century Schoolbook"/>
              <a:sym typeface="Century Schoolbook"/>
            </a:endParaRPr>
          </a:p>
        </p:txBody>
      </p:sp>
      <p:sp>
        <p:nvSpPr>
          <p:cNvPr id="172" name="Google Shape;172;p11"/>
          <p:cNvSpPr txBox="1"/>
          <p:nvPr/>
        </p:nvSpPr>
        <p:spPr>
          <a:xfrm>
            <a:off x="323751" y="1380185"/>
            <a:ext cx="11030049" cy="1779289"/>
          </a:xfrm>
          <a:prstGeom prst="rect">
            <a:avLst/>
          </a:prstGeom>
          <a:noFill/>
          <a:ln>
            <a:noFill/>
          </a:ln>
        </p:spPr>
        <p:txBody>
          <a:bodyPr anchorCtr="0" anchor="t" bIns="45700" lIns="91425" spcFirstLastPara="1" rIns="91425" wrap="square" tIns="45700">
            <a:noAutofit/>
          </a:bodyPr>
          <a:lstStyle/>
          <a:p>
            <a:pPr indent="0" lvl="0" marL="114300" marR="0" rtl="0" algn="just">
              <a:lnSpc>
                <a:spcPct val="150000"/>
              </a:lnSpc>
              <a:spcBef>
                <a:spcPts val="0"/>
              </a:spcBef>
              <a:spcAft>
                <a:spcPts val="0"/>
              </a:spcAft>
              <a:buClr>
                <a:schemeClr val="dk1"/>
              </a:buClr>
              <a:buSzPts val="2800"/>
              <a:buFont typeface="Arial"/>
              <a:buNone/>
            </a:pPr>
            <a:r>
              <a:rPr b="1" i="0" lang="en-US" sz="2400" u="none" cap="none" strike="noStrike">
                <a:solidFill>
                  <a:schemeClr val="dk1"/>
                </a:solidFill>
                <a:latin typeface="Century Schoolbook"/>
                <a:ea typeface="Century Schoolbook"/>
                <a:cs typeface="Century Schoolbook"/>
                <a:sym typeface="Century Schoolbook"/>
              </a:rPr>
              <a:t>When the numbers are different, the output appears correct. However, when the numbers are equal, the output might not be as expected. </a:t>
            </a:r>
            <a:endParaRPr b="1" i="0" sz="2400" u="none" cap="none" strike="noStrike">
              <a:solidFill>
                <a:schemeClr val="dk1"/>
              </a:solidFill>
              <a:latin typeface="Century Schoolbook"/>
              <a:ea typeface="Century Schoolbook"/>
              <a:cs typeface="Century Schoolbook"/>
              <a:sym typeface="Century Schoolbook"/>
            </a:endParaRPr>
          </a:p>
        </p:txBody>
      </p:sp>
      <p:cxnSp>
        <p:nvCxnSpPr>
          <p:cNvPr id="173" name="Google Shape;173;p11"/>
          <p:cNvCxnSpPr>
            <a:stCxn id="174" idx="3"/>
            <a:endCxn id="175" idx="1"/>
          </p:cNvCxnSpPr>
          <p:nvPr/>
        </p:nvCxnSpPr>
        <p:spPr>
          <a:xfrm flipH="1" rot="10800000">
            <a:off x="5739409" y="3562834"/>
            <a:ext cx="1969800" cy="888300"/>
          </a:xfrm>
          <a:prstGeom prst="bentConnector3">
            <a:avLst>
              <a:gd fmla="val 50003" name="adj1"/>
            </a:avLst>
          </a:prstGeom>
          <a:noFill/>
          <a:ln cap="flat" cmpd="sng" w="19050">
            <a:solidFill>
              <a:schemeClr val="accent2"/>
            </a:solidFill>
            <a:prstDash val="solid"/>
            <a:miter lim="800000"/>
            <a:headEnd len="sm" w="sm" type="none"/>
            <a:tailEnd len="med" w="med" type="triangle"/>
          </a:ln>
        </p:spPr>
      </p:cxnSp>
      <p:cxnSp>
        <p:nvCxnSpPr>
          <p:cNvPr id="176" name="Google Shape;176;p11"/>
          <p:cNvCxnSpPr>
            <a:stCxn id="174" idx="3"/>
            <a:endCxn id="177" idx="1"/>
          </p:cNvCxnSpPr>
          <p:nvPr/>
        </p:nvCxnSpPr>
        <p:spPr>
          <a:xfrm>
            <a:off x="5739409" y="4451134"/>
            <a:ext cx="2046000" cy="1026600"/>
          </a:xfrm>
          <a:prstGeom prst="bentConnector3">
            <a:avLst>
              <a:gd fmla="val 50003" name="adj1"/>
            </a:avLst>
          </a:prstGeom>
          <a:noFill/>
          <a:ln cap="flat" cmpd="sng" w="19050">
            <a:solidFill>
              <a:schemeClr val="accent2"/>
            </a:solidFill>
            <a:prstDash val="solid"/>
            <a:miter lim="800000"/>
            <a:headEnd len="sm" w="sm" type="none"/>
            <a:tailEnd len="med" w="med" type="triangle"/>
          </a:ln>
        </p:spPr>
      </p:cxnSp>
      <p:sp>
        <p:nvSpPr>
          <p:cNvPr id="178" name="Google Shape;178;p11"/>
          <p:cNvSpPr txBox="1"/>
          <p:nvPr/>
        </p:nvSpPr>
        <p:spPr>
          <a:xfrm>
            <a:off x="508000" y="6126420"/>
            <a:ext cx="4929893" cy="459859"/>
          </a:xfrm>
          <a:prstGeom prst="rect">
            <a:avLst/>
          </a:prstGeom>
          <a:noFill/>
          <a:ln>
            <a:noFill/>
          </a:ln>
        </p:spPr>
        <p:txBody>
          <a:bodyPr anchorCtr="0" anchor="t" bIns="45700" lIns="91425" spcFirstLastPara="1" rIns="91425" wrap="square" tIns="45700">
            <a:noAutofit/>
          </a:bodyPr>
          <a:lstStyle/>
          <a:p>
            <a:pPr indent="0" lvl="0" marL="114300" marR="0" rtl="0" algn="just">
              <a:lnSpc>
                <a:spcPct val="90000"/>
              </a:lnSpc>
              <a:spcBef>
                <a:spcPts val="0"/>
              </a:spcBef>
              <a:spcAft>
                <a:spcPts val="0"/>
              </a:spcAft>
              <a:buClr>
                <a:srgbClr val="FF0000"/>
              </a:buClr>
              <a:buSzPts val="3200"/>
              <a:buFont typeface="Arial"/>
              <a:buNone/>
            </a:pPr>
            <a:r>
              <a:rPr b="1" i="0" lang="en-US" sz="2400" u="none" cap="none" strike="noStrike">
                <a:solidFill>
                  <a:srgbClr val="FF0000"/>
                </a:solidFill>
                <a:latin typeface="Century Schoolbook"/>
                <a:ea typeface="Century Schoolbook"/>
                <a:cs typeface="Century Schoolbook"/>
                <a:sym typeface="Century Schoolbook"/>
              </a:rPr>
              <a:t>THINK HOW TO FIX THIS??</a:t>
            </a:r>
            <a:endParaRPr b="0" i="0" sz="2400" u="none" cap="none" strike="noStrike">
              <a:solidFill>
                <a:srgbClr val="000000"/>
              </a:solidFill>
              <a:latin typeface="Century Schoolbook"/>
              <a:ea typeface="Century Schoolbook"/>
              <a:cs typeface="Century Schoolbook"/>
              <a:sym typeface="Century Schoolbook"/>
            </a:endParaRPr>
          </a:p>
        </p:txBody>
      </p:sp>
      <p:pic>
        <p:nvPicPr>
          <p:cNvPr id="174" name="Google Shape;174;p11"/>
          <p:cNvPicPr preferRelativeResize="0"/>
          <p:nvPr/>
        </p:nvPicPr>
        <p:blipFill rotWithShape="1">
          <a:blip r:embed="rId3">
            <a:alphaModFix/>
          </a:blip>
          <a:srcRect b="0" l="0" r="0" t="0"/>
          <a:stretch/>
        </p:blipFill>
        <p:spPr>
          <a:xfrm>
            <a:off x="630761" y="3374009"/>
            <a:ext cx="5108648" cy="2154249"/>
          </a:xfrm>
          <a:prstGeom prst="rect">
            <a:avLst/>
          </a:prstGeom>
          <a:noFill/>
          <a:ln>
            <a:noFill/>
          </a:ln>
        </p:spPr>
      </p:pic>
      <p:pic>
        <p:nvPicPr>
          <p:cNvPr id="175" name="Google Shape;175;p11"/>
          <p:cNvPicPr preferRelativeResize="0"/>
          <p:nvPr/>
        </p:nvPicPr>
        <p:blipFill rotWithShape="1">
          <a:blip r:embed="rId4">
            <a:alphaModFix/>
          </a:blip>
          <a:srcRect b="0" l="0" r="0" t="0"/>
          <a:stretch/>
        </p:blipFill>
        <p:spPr>
          <a:xfrm>
            <a:off x="7709328" y="2962571"/>
            <a:ext cx="2867425" cy="1200318"/>
          </a:xfrm>
          <a:prstGeom prst="rect">
            <a:avLst/>
          </a:prstGeom>
          <a:noFill/>
          <a:ln>
            <a:noFill/>
          </a:ln>
        </p:spPr>
      </p:pic>
      <p:pic>
        <p:nvPicPr>
          <p:cNvPr id="177" name="Google Shape;177;p11"/>
          <p:cNvPicPr preferRelativeResize="0"/>
          <p:nvPr/>
        </p:nvPicPr>
        <p:blipFill rotWithShape="1">
          <a:blip r:embed="rId5">
            <a:alphaModFix/>
          </a:blip>
          <a:srcRect b="0" l="0" r="0" t="0"/>
          <a:stretch/>
        </p:blipFill>
        <p:spPr>
          <a:xfrm>
            <a:off x="7785528" y="4806209"/>
            <a:ext cx="3000794" cy="1343212"/>
          </a:xfrm>
          <a:prstGeom prst="rect">
            <a:avLst/>
          </a:prstGeom>
          <a:noFill/>
          <a:ln>
            <a:noFill/>
          </a:ln>
        </p:spPr>
      </p:pic>
      <p:sp>
        <p:nvSpPr>
          <p:cNvPr id="179" name="Google Shape;17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2"/>
          <p:cNvSpPr txBox="1"/>
          <p:nvPr>
            <p:ph type="ctrTitle"/>
          </p:nvPr>
        </p:nvSpPr>
        <p:spPr>
          <a:xfrm>
            <a:off x="198122" y="307561"/>
            <a:ext cx="7848599"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sz="4000" u="sng">
                <a:solidFill>
                  <a:srgbClr val="00B050"/>
                </a:solidFill>
                <a:latin typeface="Century Schoolbook"/>
                <a:ea typeface="Century Schoolbook"/>
                <a:cs typeface="Century Schoolbook"/>
                <a:sym typeface="Century Schoolbook"/>
              </a:rPr>
              <a:t>The if - else statement</a:t>
            </a:r>
            <a:endParaRPr b="1" sz="4000" u="sng">
              <a:solidFill>
                <a:srgbClr val="00B050"/>
              </a:solidFill>
              <a:latin typeface="Century Schoolbook"/>
              <a:ea typeface="Century Schoolbook"/>
              <a:cs typeface="Century Schoolbook"/>
              <a:sym typeface="Century Schoolbook"/>
            </a:endParaRPr>
          </a:p>
        </p:txBody>
      </p:sp>
      <p:sp>
        <p:nvSpPr>
          <p:cNvPr id="185" name="Google Shape;185;p12"/>
          <p:cNvSpPr txBox="1"/>
          <p:nvPr/>
        </p:nvSpPr>
        <p:spPr>
          <a:xfrm>
            <a:off x="349134" y="1426446"/>
            <a:ext cx="11089178" cy="1938992"/>
          </a:xfrm>
          <a:prstGeom prst="rect">
            <a:avLst/>
          </a:prstGeom>
          <a:noFill/>
          <a:ln>
            <a:noFill/>
          </a:ln>
        </p:spPr>
        <p:txBody>
          <a:bodyPr anchorCtr="0" anchor="t" bIns="0" lIns="0" spcFirstLastPara="1" rIns="0" wrap="square" tIns="0">
            <a:spAutoFit/>
          </a:bodyPr>
          <a:lstStyle/>
          <a:p>
            <a:pPr indent="-388619" lvl="1" marL="777238" marR="0" rtl="0" algn="just">
              <a:lnSpc>
                <a:spcPct val="150000"/>
              </a:lnSpc>
              <a:spcBef>
                <a:spcPts val="0"/>
              </a:spcBef>
              <a:spcAft>
                <a:spcPts val="0"/>
              </a:spcAft>
              <a:buClr>
                <a:srgbClr val="000000"/>
              </a:buClr>
              <a:buSzPts val="2800"/>
              <a:buFont typeface="Arial"/>
              <a:buChar char="•"/>
            </a:pPr>
            <a:r>
              <a:rPr b="0" i="0" lang="en-US" sz="2800" u="none" cap="none" strike="noStrike">
                <a:solidFill>
                  <a:srgbClr val="000000"/>
                </a:solidFill>
                <a:latin typeface="Century Schoolbook"/>
                <a:ea typeface="Century Schoolbook"/>
                <a:cs typeface="Century Schoolbook"/>
                <a:sym typeface="Century Schoolbook"/>
              </a:rPr>
              <a:t>When the </a:t>
            </a:r>
            <a:r>
              <a:rPr b="1" i="0" lang="en-US" sz="2800" u="none" cap="none" strike="noStrike">
                <a:solidFill>
                  <a:srgbClr val="00B050"/>
                </a:solidFill>
                <a:latin typeface="Century Schoolbook"/>
                <a:ea typeface="Century Schoolbook"/>
                <a:cs typeface="Century Schoolbook"/>
                <a:sym typeface="Century Schoolbook"/>
              </a:rPr>
              <a:t>if statement is not true the else statement is executed</a:t>
            </a:r>
            <a:r>
              <a:rPr b="0" i="0" lang="en-US" sz="2800" u="none" cap="none" strike="noStrike">
                <a:solidFill>
                  <a:srgbClr val="000000"/>
                </a:solidFill>
                <a:latin typeface="Century Schoolbook"/>
                <a:ea typeface="Century Schoolbook"/>
                <a:cs typeface="Century Schoolbook"/>
                <a:sym typeface="Century Schoolbook"/>
              </a:rPr>
              <a:t>. Meaning, when the if statement is false then the block  of code at else is executed.</a:t>
            </a:r>
            <a:endParaRPr b="0" i="0" sz="2800" u="none" cap="none" strike="noStrike">
              <a:solidFill>
                <a:srgbClr val="000000"/>
              </a:solidFill>
              <a:latin typeface="Century Schoolbook"/>
              <a:ea typeface="Century Schoolbook"/>
              <a:cs typeface="Century Schoolbook"/>
              <a:sym typeface="Century Schoolbook"/>
            </a:endParaRPr>
          </a:p>
        </p:txBody>
      </p:sp>
      <p:sp>
        <p:nvSpPr>
          <p:cNvPr id="186" name="Google Shape;186;p12"/>
          <p:cNvSpPr/>
          <p:nvPr/>
        </p:nvSpPr>
        <p:spPr>
          <a:xfrm>
            <a:off x="1213657" y="3821540"/>
            <a:ext cx="9360131" cy="2078707"/>
          </a:xfrm>
          <a:custGeom>
            <a:rect b="b" l="l" r="r" t="t"/>
            <a:pathLst>
              <a:path extrusionOk="0" h="2615827" w="12749868">
                <a:moveTo>
                  <a:pt x="0" y="0"/>
                </a:moveTo>
                <a:lnTo>
                  <a:pt x="12749868" y="0"/>
                </a:lnTo>
                <a:lnTo>
                  <a:pt x="12749868" y="2615826"/>
                </a:lnTo>
                <a:lnTo>
                  <a:pt x="0" y="2615826"/>
                </a:lnTo>
                <a:lnTo>
                  <a:pt x="0" y="0"/>
                </a:lnTo>
                <a:close/>
              </a:path>
            </a:pathLst>
          </a:custGeom>
          <a:blipFill rotWithShape="1">
            <a:blip r:embed="rId3">
              <a:alphaModFix/>
            </a:blip>
            <a:stretch>
              <a:fillRect b="0" l="0" r="0" t="0"/>
            </a:stretch>
          </a:blipFill>
          <a:ln>
            <a:noFill/>
          </a:ln>
        </p:spPr>
      </p:sp>
      <p:sp>
        <p:nvSpPr>
          <p:cNvPr id="187" name="Google Shape;187;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3"/>
          <p:cNvSpPr txBox="1"/>
          <p:nvPr>
            <p:ph type="ctrTitle"/>
          </p:nvPr>
        </p:nvSpPr>
        <p:spPr>
          <a:xfrm>
            <a:off x="245747" y="452907"/>
            <a:ext cx="7848599"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sz="4000" u="sng">
                <a:solidFill>
                  <a:srgbClr val="00B050"/>
                </a:solidFill>
                <a:latin typeface="Century Schoolbook"/>
                <a:ea typeface="Century Schoolbook"/>
                <a:cs typeface="Century Schoolbook"/>
                <a:sym typeface="Century Schoolbook"/>
              </a:rPr>
              <a:t>Flowchart</a:t>
            </a:r>
            <a:endParaRPr b="1" sz="4000" u="sng">
              <a:solidFill>
                <a:srgbClr val="00B050"/>
              </a:solidFill>
              <a:latin typeface="Century Schoolbook"/>
              <a:ea typeface="Century Schoolbook"/>
              <a:cs typeface="Century Schoolbook"/>
              <a:sym typeface="Century Schoolbook"/>
            </a:endParaRPr>
          </a:p>
        </p:txBody>
      </p:sp>
      <p:pic>
        <p:nvPicPr>
          <p:cNvPr descr="https://lh5.googleusercontent.com/1933_xBXa0GEZyns6ekNKVAL23NyondlHkoaTwUgDh8FmgOeO10Ct-27AxQN0rd2s-ItBHtkzhIv_usGiqI047MPd8CIjSpOLXxRcyzmD6FMLylVkG6x4iG_IlOwIFcCCEt_LFEzRihntcNssSqFSVOUsmc8Q-wQcvBTUIDJNo9tMZkVBqGJ2qRbnqMP3-TNsHXlsjw" id="193" name="Google Shape;193;p13"/>
          <p:cNvPicPr preferRelativeResize="0"/>
          <p:nvPr/>
        </p:nvPicPr>
        <p:blipFill rotWithShape="1">
          <a:blip r:embed="rId3">
            <a:alphaModFix/>
          </a:blip>
          <a:srcRect b="0" l="0" r="0" t="0"/>
          <a:stretch/>
        </p:blipFill>
        <p:spPr>
          <a:xfrm>
            <a:off x="925278" y="2022462"/>
            <a:ext cx="5219274" cy="3850621"/>
          </a:xfrm>
          <a:prstGeom prst="rect">
            <a:avLst/>
          </a:prstGeom>
          <a:noFill/>
          <a:ln>
            <a:noFill/>
          </a:ln>
        </p:spPr>
      </p:pic>
      <p:sp>
        <p:nvSpPr>
          <p:cNvPr id="194" name="Google Shape;194;p13"/>
          <p:cNvSpPr/>
          <p:nvPr/>
        </p:nvSpPr>
        <p:spPr>
          <a:xfrm>
            <a:off x="7412417" y="2478511"/>
            <a:ext cx="3884580" cy="2308284"/>
          </a:xfrm>
          <a:prstGeom prst="rect">
            <a:avLst/>
          </a:prstGeom>
          <a:solidFill>
            <a:srgbClr val="FEE599"/>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chemeClr val="dk1"/>
                </a:solidFill>
                <a:latin typeface="Century Schoolbook"/>
                <a:ea typeface="Century Schoolbook"/>
                <a:cs typeface="Century Schoolbook"/>
                <a:sym typeface="Century Schoolbook"/>
              </a:rPr>
              <a:t>actualFloor = floor;</a:t>
            </a:r>
            <a:endParaRPr b="0" i="0" sz="1600" u="none" cap="none" strike="noStrike">
              <a:solidFill>
                <a:srgbClr val="000000"/>
              </a:solidFill>
              <a:latin typeface="Century Schoolbook"/>
              <a:ea typeface="Century Schoolbook"/>
              <a:cs typeface="Century Schoolbook"/>
              <a:sym typeface="Century Schoolbook"/>
            </a:endParaRPr>
          </a:p>
          <a:p>
            <a:pPr indent="0" lvl="0" marL="0" marR="0" rtl="0" algn="l">
              <a:lnSpc>
                <a:spcPct val="150000"/>
              </a:lnSpc>
              <a:spcBef>
                <a:spcPts val="0"/>
              </a:spcBef>
              <a:spcAft>
                <a:spcPts val="0"/>
              </a:spcAft>
              <a:buClr>
                <a:srgbClr val="000000"/>
              </a:buClr>
              <a:buSzPts val="1600"/>
              <a:buFont typeface="Arial"/>
              <a:buNone/>
            </a:pPr>
            <a:br>
              <a:rPr b="0" i="0" lang="en-US" sz="1600" u="none" cap="none" strike="noStrike">
                <a:solidFill>
                  <a:schemeClr val="dk1"/>
                </a:solidFill>
                <a:latin typeface="Century Schoolbook"/>
                <a:ea typeface="Century Schoolbook"/>
                <a:cs typeface="Century Schoolbook"/>
                <a:sym typeface="Century Schoolbook"/>
              </a:rPr>
            </a:br>
            <a:r>
              <a:rPr b="0" i="0" lang="en-US" sz="1600" u="none" cap="none" strike="noStrike">
                <a:solidFill>
                  <a:schemeClr val="dk1"/>
                </a:solidFill>
                <a:latin typeface="Century Schoolbook"/>
                <a:ea typeface="Century Schoolbook"/>
                <a:cs typeface="Century Schoolbook"/>
                <a:sym typeface="Century Schoolbook"/>
              </a:rPr>
              <a:t>if (floor &gt; 13):</a:t>
            </a:r>
            <a:endParaRPr b="0" i="0" sz="1600" u="none" cap="none" strike="noStrike">
              <a:solidFill>
                <a:srgbClr val="000000"/>
              </a:solidFill>
              <a:latin typeface="Century Schoolbook"/>
              <a:ea typeface="Century Schoolbook"/>
              <a:cs typeface="Century Schoolbook"/>
              <a:sym typeface="Century Schoolbook"/>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chemeClr val="dk1"/>
                </a:solidFill>
                <a:latin typeface="Century Schoolbook"/>
                <a:ea typeface="Century Schoolbook"/>
                <a:cs typeface="Century Schoolbook"/>
                <a:sym typeface="Century Schoolbook"/>
              </a:rPr>
              <a:t>   actualFloor = actualFloor – 1</a:t>
            </a:r>
            <a:endParaRPr b="0" i="0" sz="1600" u="none" cap="none" strike="noStrike">
              <a:solidFill>
                <a:srgbClr val="000000"/>
              </a:solidFill>
              <a:latin typeface="Century Schoolbook"/>
              <a:ea typeface="Century Schoolbook"/>
              <a:cs typeface="Century Schoolbook"/>
              <a:sym typeface="Century Schoolbook"/>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chemeClr val="dk1"/>
                </a:solidFill>
                <a:latin typeface="Century Schoolbook"/>
                <a:ea typeface="Century Schoolbook"/>
                <a:cs typeface="Century Schoolbook"/>
                <a:sym typeface="Century Schoolbook"/>
              </a:rPr>
              <a:t>else:</a:t>
            </a:r>
            <a:endParaRPr b="0" i="0" sz="1600" u="none" cap="none" strike="noStrike">
              <a:solidFill>
                <a:srgbClr val="000000"/>
              </a:solidFill>
              <a:latin typeface="Century Schoolbook"/>
              <a:ea typeface="Century Schoolbook"/>
              <a:cs typeface="Century Schoolbook"/>
              <a:sym typeface="Century Schoolbook"/>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chemeClr val="dk1"/>
                </a:solidFill>
                <a:latin typeface="Century Schoolbook"/>
                <a:ea typeface="Century Schoolbook"/>
                <a:cs typeface="Century Schoolbook"/>
                <a:sym typeface="Century Schoolbook"/>
              </a:rPr>
              <a:t>  actualFloor = Floor </a:t>
            </a:r>
            <a:endParaRPr b="0" i="0" sz="1600" u="none" cap="none" strike="noStrike">
              <a:solidFill>
                <a:schemeClr val="dk1"/>
              </a:solidFill>
              <a:latin typeface="Century Schoolbook"/>
              <a:ea typeface="Century Schoolbook"/>
              <a:cs typeface="Century Schoolbook"/>
              <a:sym typeface="Century Schoolbook"/>
            </a:endParaRPr>
          </a:p>
        </p:txBody>
      </p:sp>
      <p:sp>
        <p:nvSpPr>
          <p:cNvPr id="195" name="Google Shape;195;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14"/>
          <p:cNvPicPr preferRelativeResize="0"/>
          <p:nvPr/>
        </p:nvPicPr>
        <p:blipFill rotWithShape="1">
          <a:blip r:embed="rId3">
            <a:alphaModFix/>
          </a:blip>
          <a:srcRect b="0" l="0" r="0" t="0"/>
          <a:stretch/>
        </p:blipFill>
        <p:spPr>
          <a:xfrm>
            <a:off x="620723" y="2795051"/>
            <a:ext cx="5166312" cy="2430608"/>
          </a:xfrm>
          <a:prstGeom prst="rect">
            <a:avLst/>
          </a:prstGeom>
          <a:noFill/>
          <a:ln>
            <a:noFill/>
          </a:ln>
        </p:spPr>
      </p:pic>
      <p:sp>
        <p:nvSpPr>
          <p:cNvPr id="201" name="Google Shape;201;p14"/>
          <p:cNvSpPr txBox="1"/>
          <p:nvPr>
            <p:ph type="ctrTitle"/>
          </p:nvPr>
        </p:nvSpPr>
        <p:spPr>
          <a:xfrm>
            <a:off x="508000" y="457077"/>
            <a:ext cx="4216400" cy="845608"/>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chemeClr val="dk1"/>
              </a:buClr>
              <a:buSzPts val="5400"/>
              <a:buFont typeface="Calibri"/>
              <a:buNone/>
            </a:pPr>
            <a:r>
              <a:rPr b="1" lang="en-US" sz="4000" u="sng">
                <a:solidFill>
                  <a:srgbClr val="00B050"/>
                </a:solidFill>
                <a:latin typeface="Century Schoolbook"/>
                <a:ea typeface="Century Schoolbook"/>
                <a:cs typeface="Century Schoolbook"/>
                <a:sym typeface="Century Schoolbook"/>
              </a:rPr>
              <a:t>Example 3</a:t>
            </a:r>
            <a:endParaRPr sz="4000">
              <a:solidFill>
                <a:srgbClr val="00B050"/>
              </a:solidFill>
              <a:latin typeface="Century Schoolbook"/>
              <a:ea typeface="Century Schoolbook"/>
              <a:cs typeface="Century Schoolbook"/>
              <a:sym typeface="Century Schoolbook"/>
            </a:endParaRPr>
          </a:p>
        </p:txBody>
      </p:sp>
      <p:sp>
        <p:nvSpPr>
          <p:cNvPr id="202" name="Google Shape;202;p14"/>
          <p:cNvSpPr txBox="1"/>
          <p:nvPr/>
        </p:nvSpPr>
        <p:spPr>
          <a:xfrm>
            <a:off x="508000" y="1037377"/>
            <a:ext cx="11206002" cy="987423"/>
          </a:xfrm>
          <a:prstGeom prst="rect">
            <a:avLst/>
          </a:prstGeom>
          <a:noFill/>
          <a:ln>
            <a:noFill/>
          </a:ln>
        </p:spPr>
        <p:txBody>
          <a:bodyPr anchorCtr="0" anchor="t" bIns="45700" lIns="91425" spcFirstLastPara="1" rIns="91425" wrap="square" tIns="45700">
            <a:noAutofit/>
          </a:bodyPr>
          <a:lstStyle/>
          <a:p>
            <a:pPr indent="0" lvl="0" marL="114300" marR="0" rtl="0" algn="just">
              <a:lnSpc>
                <a:spcPct val="150000"/>
              </a:lnSpc>
              <a:spcBef>
                <a:spcPts val="0"/>
              </a:spcBef>
              <a:spcAft>
                <a:spcPts val="0"/>
              </a:spcAft>
              <a:buClr>
                <a:schemeClr val="dk1"/>
              </a:buClr>
              <a:buSzPts val="3200"/>
              <a:buFont typeface="Arial"/>
              <a:buNone/>
            </a:pPr>
            <a:r>
              <a:rPr b="0" i="0" lang="en-US" sz="2400" u="none" cap="none" strike="noStrike">
                <a:solidFill>
                  <a:schemeClr val="dk1"/>
                </a:solidFill>
                <a:latin typeface="Century Schoolbook"/>
                <a:ea typeface="Century Schoolbook"/>
                <a:cs typeface="Century Schoolbook"/>
                <a:sym typeface="Century Schoolbook"/>
              </a:rPr>
              <a:t>Write a python program to calculate the sum of three given numbers. If the values are equal then print three time their sum. </a:t>
            </a:r>
            <a:endParaRPr b="0" i="0" sz="2400" u="none" cap="none" strike="noStrike">
              <a:solidFill>
                <a:schemeClr val="dk1"/>
              </a:solidFill>
              <a:latin typeface="Century Schoolbook"/>
              <a:ea typeface="Century Schoolbook"/>
              <a:cs typeface="Century Schoolbook"/>
              <a:sym typeface="Century Schoolbook"/>
            </a:endParaRPr>
          </a:p>
        </p:txBody>
      </p:sp>
      <p:pic>
        <p:nvPicPr>
          <p:cNvPr id="203" name="Google Shape;203;p14"/>
          <p:cNvPicPr preferRelativeResize="0"/>
          <p:nvPr/>
        </p:nvPicPr>
        <p:blipFill rotWithShape="1">
          <a:blip r:embed="rId4">
            <a:alphaModFix/>
          </a:blip>
          <a:srcRect b="0" l="0" r="0" t="0"/>
          <a:stretch/>
        </p:blipFill>
        <p:spPr>
          <a:xfrm>
            <a:off x="7742580" y="2506568"/>
            <a:ext cx="3203663" cy="1383642"/>
          </a:xfrm>
          <a:prstGeom prst="rect">
            <a:avLst/>
          </a:prstGeom>
          <a:noFill/>
          <a:ln>
            <a:noFill/>
          </a:ln>
        </p:spPr>
      </p:pic>
      <p:cxnSp>
        <p:nvCxnSpPr>
          <p:cNvPr id="204" name="Google Shape;204;p14"/>
          <p:cNvCxnSpPr>
            <a:stCxn id="200" idx="3"/>
            <a:endCxn id="203" idx="1"/>
          </p:cNvCxnSpPr>
          <p:nvPr/>
        </p:nvCxnSpPr>
        <p:spPr>
          <a:xfrm flipH="1" rot="10800000">
            <a:off x="5787035" y="3198255"/>
            <a:ext cx="1955400" cy="812100"/>
          </a:xfrm>
          <a:prstGeom prst="bentConnector3">
            <a:avLst>
              <a:gd fmla="val 50000" name="adj1"/>
            </a:avLst>
          </a:prstGeom>
          <a:noFill/>
          <a:ln cap="flat" cmpd="sng" w="19050">
            <a:solidFill>
              <a:schemeClr val="accent2"/>
            </a:solidFill>
            <a:prstDash val="solid"/>
            <a:miter lim="800000"/>
            <a:headEnd len="sm" w="sm" type="none"/>
            <a:tailEnd len="med" w="med" type="triangle"/>
          </a:ln>
        </p:spPr>
      </p:cxnSp>
      <p:cxnSp>
        <p:nvCxnSpPr>
          <p:cNvPr id="205" name="Google Shape;205;p14"/>
          <p:cNvCxnSpPr>
            <a:stCxn id="200" idx="3"/>
            <a:endCxn id="206" idx="1"/>
          </p:cNvCxnSpPr>
          <p:nvPr/>
        </p:nvCxnSpPr>
        <p:spPr>
          <a:xfrm>
            <a:off x="5787035" y="4010355"/>
            <a:ext cx="1955400" cy="1372800"/>
          </a:xfrm>
          <a:prstGeom prst="bentConnector3">
            <a:avLst>
              <a:gd fmla="val 50000" name="adj1"/>
            </a:avLst>
          </a:prstGeom>
          <a:noFill/>
          <a:ln cap="flat" cmpd="sng" w="19050">
            <a:solidFill>
              <a:schemeClr val="accent2"/>
            </a:solidFill>
            <a:prstDash val="solid"/>
            <a:miter lim="800000"/>
            <a:headEnd len="sm" w="sm" type="none"/>
            <a:tailEnd len="med" w="med" type="triangle"/>
          </a:ln>
        </p:spPr>
      </p:cxnSp>
      <p:sp>
        <p:nvSpPr>
          <p:cNvPr id="207" name="Google Shape;207;p14"/>
          <p:cNvSpPr/>
          <p:nvPr/>
        </p:nvSpPr>
        <p:spPr>
          <a:xfrm>
            <a:off x="653803" y="4705579"/>
            <a:ext cx="1845767" cy="490451"/>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8" name="Google Shape;208;p14"/>
          <p:cNvSpPr txBox="1"/>
          <p:nvPr/>
        </p:nvSpPr>
        <p:spPr>
          <a:xfrm>
            <a:off x="805993" y="5656851"/>
            <a:ext cx="4981042" cy="1026582"/>
          </a:xfrm>
          <a:prstGeom prst="rect">
            <a:avLst/>
          </a:prstGeom>
          <a:noFill/>
          <a:ln>
            <a:noFill/>
          </a:ln>
        </p:spPr>
        <p:txBody>
          <a:bodyPr anchorCtr="0" anchor="t" bIns="45700" lIns="91425" spcFirstLastPara="1" rIns="91425" wrap="square" tIns="45700">
            <a:noAutofit/>
          </a:bodyPr>
          <a:lstStyle/>
          <a:p>
            <a:pPr indent="0" lvl="0" marL="114300" marR="0" rtl="0" algn="just">
              <a:lnSpc>
                <a:spcPct val="90000"/>
              </a:lnSpc>
              <a:spcBef>
                <a:spcPts val="0"/>
              </a:spcBef>
              <a:spcAft>
                <a:spcPts val="0"/>
              </a:spcAft>
              <a:buClr>
                <a:srgbClr val="FF0000"/>
              </a:buClr>
              <a:buSzPts val="3200"/>
              <a:buFont typeface="Arial"/>
              <a:buNone/>
            </a:pPr>
            <a:r>
              <a:rPr b="1" i="0" lang="en-US" sz="2400" u="none" cap="none" strike="noStrike">
                <a:solidFill>
                  <a:srgbClr val="FF0000"/>
                </a:solidFill>
                <a:latin typeface="Century Schoolbook"/>
                <a:ea typeface="Century Schoolbook"/>
                <a:cs typeface="Century Schoolbook"/>
                <a:sym typeface="Century Schoolbook"/>
              </a:rPr>
              <a:t>When the if condition is false then else is executed.</a:t>
            </a:r>
            <a:endParaRPr b="0" i="0" sz="2400" u="none" cap="none" strike="noStrike">
              <a:solidFill>
                <a:srgbClr val="000000"/>
              </a:solidFill>
              <a:latin typeface="Century Schoolbook"/>
              <a:ea typeface="Century Schoolbook"/>
              <a:cs typeface="Century Schoolbook"/>
              <a:sym typeface="Century Schoolbook"/>
            </a:endParaRPr>
          </a:p>
        </p:txBody>
      </p:sp>
      <p:pic>
        <p:nvPicPr>
          <p:cNvPr id="206" name="Google Shape;206;p14"/>
          <p:cNvPicPr preferRelativeResize="0"/>
          <p:nvPr/>
        </p:nvPicPr>
        <p:blipFill rotWithShape="1">
          <a:blip r:embed="rId5">
            <a:alphaModFix/>
          </a:blip>
          <a:srcRect b="0" l="0" r="0" t="0"/>
          <a:stretch/>
        </p:blipFill>
        <p:spPr>
          <a:xfrm>
            <a:off x="7742580" y="4711735"/>
            <a:ext cx="3199459" cy="1343118"/>
          </a:xfrm>
          <a:prstGeom prst="rect">
            <a:avLst/>
          </a:prstGeom>
          <a:noFill/>
          <a:ln>
            <a:noFill/>
          </a:ln>
        </p:spPr>
      </p:pic>
      <p:sp>
        <p:nvSpPr>
          <p:cNvPr id="209" name="Google Shape;20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5"/>
          <p:cNvSpPr txBox="1"/>
          <p:nvPr>
            <p:ph type="ctrTitle"/>
          </p:nvPr>
        </p:nvSpPr>
        <p:spPr>
          <a:xfrm>
            <a:off x="331124" y="364432"/>
            <a:ext cx="2553393"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chemeClr val="dk1"/>
              </a:buClr>
              <a:buSzPts val="5400"/>
              <a:buFont typeface="Calibri"/>
              <a:buNone/>
            </a:pPr>
            <a:r>
              <a:rPr b="1" lang="en-US" sz="4000" u="sng">
                <a:solidFill>
                  <a:srgbClr val="00B050"/>
                </a:solidFill>
                <a:latin typeface="Century Schoolbook"/>
                <a:ea typeface="Century Schoolbook"/>
                <a:cs typeface="Century Schoolbook"/>
                <a:sym typeface="Century Schoolbook"/>
              </a:rPr>
              <a:t>For You</a:t>
            </a:r>
            <a:endParaRPr b="1" sz="4000" u="sng">
              <a:solidFill>
                <a:srgbClr val="00B050"/>
              </a:solidFill>
              <a:latin typeface="Century Schoolbook"/>
              <a:ea typeface="Century Schoolbook"/>
              <a:cs typeface="Century Schoolbook"/>
              <a:sym typeface="Century Schoolbook"/>
            </a:endParaRPr>
          </a:p>
        </p:txBody>
      </p:sp>
      <p:sp>
        <p:nvSpPr>
          <p:cNvPr id="215" name="Google Shape;215;p15"/>
          <p:cNvSpPr txBox="1"/>
          <p:nvPr/>
        </p:nvSpPr>
        <p:spPr>
          <a:xfrm>
            <a:off x="455814" y="1497416"/>
            <a:ext cx="11522700" cy="2790000"/>
          </a:xfrm>
          <a:prstGeom prst="rect">
            <a:avLst/>
          </a:prstGeom>
          <a:noFill/>
          <a:ln>
            <a:noFill/>
          </a:ln>
        </p:spPr>
        <p:txBody>
          <a:bodyPr anchorCtr="0" anchor="t" bIns="45700" lIns="91425" spcFirstLastPara="1" rIns="91425" wrap="square" tIns="45700">
            <a:noAutofit/>
          </a:bodyPr>
          <a:lstStyle/>
          <a:p>
            <a:pPr indent="0" lvl="0" marL="114300" marR="0" rtl="0" algn="just">
              <a:lnSpc>
                <a:spcPct val="150000"/>
              </a:lnSpc>
              <a:spcBef>
                <a:spcPts val="0"/>
              </a:spcBef>
              <a:spcAft>
                <a:spcPts val="0"/>
              </a:spcAft>
              <a:buClr>
                <a:schemeClr val="dk1"/>
              </a:buClr>
              <a:buSzPts val="2800"/>
              <a:buFont typeface="Arial"/>
              <a:buNone/>
            </a:pPr>
            <a:r>
              <a:rPr b="0" i="0" lang="en-US" sz="2400" u="none" cap="none" strike="noStrike">
                <a:solidFill>
                  <a:schemeClr val="dk1"/>
                </a:solidFill>
                <a:latin typeface="Century Schoolbook"/>
                <a:ea typeface="Century Schoolbook"/>
                <a:cs typeface="Century Schoolbook"/>
                <a:sym typeface="Century Schoolbook"/>
              </a:rPr>
              <a:t>2. Write a python program that asks user’s input and sum three numbers. However, if two values are equal, the sum will be zero. </a:t>
            </a:r>
            <a:endParaRPr/>
          </a:p>
          <a:p>
            <a:pPr indent="0" lvl="0" marL="114300" marR="0" rtl="0" algn="just">
              <a:lnSpc>
                <a:spcPct val="150000"/>
              </a:lnSpc>
              <a:spcBef>
                <a:spcPts val="0"/>
              </a:spcBef>
              <a:spcAft>
                <a:spcPts val="0"/>
              </a:spcAft>
              <a:buClr>
                <a:schemeClr val="dk1"/>
              </a:buClr>
              <a:buSzPts val="2800"/>
              <a:buFont typeface="Arial"/>
              <a:buNone/>
            </a:pPr>
            <a:r>
              <a:rPr b="1" i="0" lang="en-US" sz="2400" u="none" cap="none" strike="noStrike">
                <a:solidFill>
                  <a:schemeClr val="dk1"/>
                </a:solidFill>
                <a:latin typeface="Century Schoolbook"/>
                <a:ea typeface="Century Schoolbook"/>
                <a:cs typeface="Century Schoolbook"/>
                <a:sym typeface="Century Schoolbook"/>
              </a:rPr>
              <a:t>Hint: You might want to use logical operator.</a:t>
            </a:r>
            <a:endParaRPr b="1" i="0" sz="2400" u="none" cap="none" strike="noStrike">
              <a:solidFill>
                <a:schemeClr val="dk1"/>
              </a:solidFill>
              <a:latin typeface="Century Schoolbook"/>
              <a:ea typeface="Century Schoolbook"/>
              <a:cs typeface="Century Schoolbook"/>
              <a:sym typeface="Century Schoolbook"/>
            </a:endParaRPr>
          </a:p>
        </p:txBody>
      </p:sp>
      <p:sp>
        <p:nvSpPr>
          <p:cNvPr id="216" name="Google Shape;21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6"/>
          <p:cNvSpPr txBox="1"/>
          <p:nvPr>
            <p:ph type="ctrTitle"/>
          </p:nvPr>
        </p:nvSpPr>
        <p:spPr>
          <a:xfrm>
            <a:off x="226697" y="285750"/>
            <a:ext cx="7848599"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sz="4000" u="sng">
                <a:solidFill>
                  <a:srgbClr val="00B050"/>
                </a:solidFill>
                <a:latin typeface="Century Schoolbook"/>
                <a:ea typeface="Century Schoolbook"/>
                <a:cs typeface="Century Schoolbook"/>
                <a:sym typeface="Century Schoolbook"/>
              </a:rPr>
              <a:t>The elif statement</a:t>
            </a:r>
            <a:endParaRPr b="1" sz="4000" u="sng">
              <a:solidFill>
                <a:srgbClr val="00B050"/>
              </a:solidFill>
              <a:latin typeface="Century Schoolbook"/>
              <a:ea typeface="Century Schoolbook"/>
              <a:cs typeface="Century Schoolbook"/>
              <a:sym typeface="Century Schoolbook"/>
            </a:endParaRPr>
          </a:p>
        </p:txBody>
      </p:sp>
      <p:sp>
        <p:nvSpPr>
          <p:cNvPr id="222" name="Google Shape;222;p16"/>
          <p:cNvSpPr txBox="1"/>
          <p:nvPr/>
        </p:nvSpPr>
        <p:spPr>
          <a:xfrm>
            <a:off x="349134" y="1426446"/>
            <a:ext cx="11089178" cy="1661993"/>
          </a:xfrm>
          <a:prstGeom prst="rect">
            <a:avLst/>
          </a:prstGeom>
          <a:noFill/>
          <a:ln>
            <a:noFill/>
          </a:ln>
        </p:spPr>
        <p:txBody>
          <a:bodyPr anchorCtr="0" anchor="t" bIns="0" lIns="0" spcFirstLastPara="1" rIns="0" wrap="square" tIns="0">
            <a:spAutoFit/>
          </a:bodyPr>
          <a:lstStyle/>
          <a:p>
            <a:pPr indent="-388619" lvl="1" marL="777238" marR="0" rtl="0" algn="just">
              <a:lnSpc>
                <a:spcPct val="150000"/>
              </a:lnSpc>
              <a:spcBef>
                <a:spcPts val="0"/>
              </a:spcBef>
              <a:spcAft>
                <a:spcPts val="0"/>
              </a:spcAft>
              <a:buClr>
                <a:srgbClr val="000000"/>
              </a:buClr>
              <a:buSzPts val="2800"/>
              <a:buFont typeface="Arial"/>
              <a:buChar char="•"/>
            </a:pPr>
            <a:r>
              <a:rPr b="0" i="0" lang="en-US" sz="2400" u="none" cap="none" strike="noStrike">
                <a:solidFill>
                  <a:srgbClr val="000000"/>
                </a:solidFill>
                <a:latin typeface="Century Schoolbook"/>
                <a:ea typeface="Century Schoolbook"/>
                <a:cs typeface="Century Schoolbook"/>
                <a:sym typeface="Century Schoolbook"/>
              </a:rPr>
              <a:t>Whenever, there is </a:t>
            </a:r>
            <a:r>
              <a:rPr b="1" i="0" lang="en-US" sz="2400" u="none" cap="none" strike="noStrike">
                <a:solidFill>
                  <a:srgbClr val="00B050"/>
                </a:solidFill>
                <a:latin typeface="Century Schoolbook"/>
                <a:ea typeface="Century Schoolbook"/>
                <a:cs typeface="Century Schoolbook"/>
                <a:sym typeface="Century Schoolbook"/>
              </a:rPr>
              <a:t>multiple condition </a:t>
            </a:r>
            <a:r>
              <a:rPr b="0" i="0" lang="en-US" sz="2400" u="none" cap="none" strike="noStrike">
                <a:solidFill>
                  <a:srgbClr val="000000"/>
                </a:solidFill>
                <a:latin typeface="Century Schoolbook"/>
                <a:ea typeface="Century Schoolbook"/>
                <a:cs typeface="Century Schoolbook"/>
                <a:sym typeface="Century Schoolbook"/>
              </a:rPr>
              <a:t>then elif statement is used. Meaning, when the if statement is false then elif statement is executed and when elif statement is false then else statement is executed at last. </a:t>
            </a:r>
            <a:endParaRPr b="0" i="0" sz="2400" u="none" cap="none" strike="noStrike">
              <a:solidFill>
                <a:srgbClr val="000000"/>
              </a:solidFill>
              <a:latin typeface="Century Schoolbook"/>
              <a:ea typeface="Century Schoolbook"/>
              <a:cs typeface="Century Schoolbook"/>
              <a:sym typeface="Century Schoolbook"/>
            </a:endParaRPr>
          </a:p>
        </p:txBody>
      </p:sp>
      <p:pic>
        <p:nvPicPr>
          <p:cNvPr id="223" name="Google Shape;223;p16"/>
          <p:cNvPicPr preferRelativeResize="0"/>
          <p:nvPr/>
        </p:nvPicPr>
        <p:blipFill rotWithShape="1">
          <a:blip r:embed="rId3">
            <a:alphaModFix/>
          </a:blip>
          <a:srcRect b="0" l="0" r="0" t="0"/>
          <a:stretch/>
        </p:blipFill>
        <p:spPr>
          <a:xfrm>
            <a:off x="4267997" y="3373749"/>
            <a:ext cx="3656006" cy="2982601"/>
          </a:xfrm>
          <a:prstGeom prst="rect">
            <a:avLst/>
          </a:prstGeom>
          <a:noFill/>
          <a:ln>
            <a:noFill/>
          </a:ln>
        </p:spPr>
      </p:pic>
      <p:sp>
        <p:nvSpPr>
          <p:cNvPr id="224" name="Google Shape;22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8"/>
          <p:cNvSpPr txBox="1"/>
          <p:nvPr>
            <p:ph type="ctrTitle"/>
          </p:nvPr>
        </p:nvSpPr>
        <p:spPr>
          <a:xfrm>
            <a:off x="217172" y="329346"/>
            <a:ext cx="7848600" cy="1325700"/>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rgbClr val="00B050"/>
              </a:buClr>
              <a:buSzPts val="5400"/>
              <a:buFont typeface="Calibri"/>
              <a:buNone/>
            </a:pPr>
            <a:r>
              <a:rPr b="1" lang="en-US" sz="4000" u="sng">
                <a:solidFill>
                  <a:srgbClr val="00B050"/>
                </a:solidFill>
                <a:latin typeface="Century Schoolbook"/>
                <a:ea typeface="Century Schoolbook"/>
                <a:cs typeface="Century Schoolbook"/>
                <a:sym typeface="Century Schoolbook"/>
              </a:rPr>
              <a:t>Nested condition</a:t>
            </a:r>
            <a:endParaRPr b="1" sz="4000" u="sng">
              <a:solidFill>
                <a:srgbClr val="00B050"/>
              </a:solidFill>
              <a:latin typeface="Century Schoolbook"/>
              <a:ea typeface="Century Schoolbook"/>
              <a:cs typeface="Century Schoolbook"/>
              <a:sym typeface="Century Schoolbook"/>
            </a:endParaRPr>
          </a:p>
        </p:txBody>
      </p:sp>
      <p:sp>
        <p:nvSpPr>
          <p:cNvPr id="230" name="Google Shape;230;p18"/>
          <p:cNvSpPr txBox="1"/>
          <p:nvPr/>
        </p:nvSpPr>
        <p:spPr>
          <a:xfrm>
            <a:off x="339609" y="1462914"/>
            <a:ext cx="11089178" cy="1661993"/>
          </a:xfrm>
          <a:prstGeom prst="rect">
            <a:avLst/>
          </a:prstGeom>
          <a:noFill/>
          <a:ln>
            <a:noFill/>
          </a:ln>
        </p:spPr>
        <p:txBody>
          <a:bodyPr anchorCtr="0" anchor="t" bIns="0" lIns="0" spcFirstLastPara="1" rIns="0" wrap="square" tIns="0">
            <a:spAutoFit/>
          </a:bodyPr>
          <a:lstStyle/>
          <a:p>
            <a:pPr indent="-388619" lvl="1" marL="777238" marR="0" rtl="0" algn="just">
              <a:lnSpc>
                <a:spcPct val="150000"/>
              </a:lnSpc>
              <a:spcBef>
                <a:spcPts val="0"/>
              </a:spcBef>
              <a:spcAft>
                <a:spcPts val="0"/>
              </a:spcAft>
              <a:buClr>
                <a:srgbClr val="000000"/>
              </a:buClr>
              <a:buSzPts val="2800"/>
              <a:buFont typeface="Arial"/>
              <a:buChar char="•"/>
            </a:pPr>
            <a:r>
              <a:rPr b="0" i="0" lang="en-US" sz="2400" u="none" cap="none" strike="noStrike">
                <a:solidFill>
                  <a:srgbClr val="000000"/>
                </a:solidFill>
                <a:latin typeface="Century Schoolbook"/>
                <a:ea typeface="Century Schoolbook"/>
                <a:cs typeface="Century Schoolbook"/>
                <a:sym typeface="Century Schoolbook"/>
              </a:rPr>
              <a:t>Nested condition refers to a situation in programming where one or more conditional statements are place </a:t>
            </a:r>
            <a:r>
              <a:rPr b="1" i="0" lang="en-US" sz="2400" u="none" cap="none" strike="noStrike">
                <a:solidFill>
                  <a:srgbClr val="00B050"/>
                </a:solidFill>
                <a:latin typeface="Century Schoolbook"/>
                <a:ea typeface="Century Schoolbook"/>
                <a:cs typeface="Century Schoolbook"/>
                <a:sym typeface="Century Schoolbook"/>
              </a:rPr>
              <a:t>inside another conditional statement. </a:t>
            </a:r>
            <a:endParaRPr b="1" i="0" sz="2400" u="none" cap="none" strike="noStrike">
              <a:solidFill>
                <a:srgbClr val="00B050"/>
              </a:solidFill>
              <a:latin typeface="Century Schoolbook"/>
              <a:ea typeface="Century Schoolbook"/>
              <a:cs typeface="Century Schoolbook"/>
              <a:sym typeface="Century Schoolbook"/>
            </a:endParaRPr>
          </a:p>
        </p:txBody>
      </p:sp>
      <p:pic>
        <p:nvPicPr>
          <p:cNvPr id="231" name="Google Shape;231;p18"/>
          <p:cNvPicPr preferRelativeResize="0"/>
          <p:nvPr/>
        </p:nvPicPr>
        <p:blipFill rotWithShape="1">
          <a:blip r:embed="rId3">
            <a:alphaModFix/>
          </a:blip>
          <a:srcRect b="0" l="0" r="0" t="0"/>
          <a:stretch/>
        </p:blipFill>
        <p:spPr>
          <a:xfrm>
            <a:off x="3300271" y="2917661"/>
            <a:ext cx="6681929" cy="3438689"/>
          </a:xfrm>
          <a:prstGeom prst="rect">
            <a:avLst/>
          </a:prstGeom>
          <a:noFill/>
          <a:ln>
            <a:noFill/>
          </a:ln>
        </p:spPr>
      </p:pic>
      <p:sp>
        <p:nvSpPr>
          <p:cNvPr id="232" name="Google Shape;23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7"/>
          <p:cNvSpPr txBox="1"/>
          <p:nvPr>
            <p:ph type="ctrTitle"/>
          </p:nvPr>
        </p:nvSpPr>
        <p:spPr>
          <a:xfrm>
            <a:off x="338050" y="408122"/>
            <a:ext cx="3183601" cy="95395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chemeClr val="dk1"/>
              </a:buClr>
              <a:buSzPts val="5400"/>
              <a:buFont typeface="Calibri"/>
              <a:buNone/>
            </a:pPr>
            <a:r>
              <a:rPr b="1" lang="en-US" sz="4000" u="sng">
                <a:solidFill>
                  <a:srgbClr val="00B050"/>
                </a:solidFill>
                <a:latin typeface="Century Schoolbook"/>
                <a:ea typeface="Century Schoolbook"/>
                <a:cs typeface="Century Schoolbook"/>
                <a:sym typeface="Century Schoolbook"/>
              </a:rPr>
              <a:t>For You</a:t>
            </a:r>
            <a:endParaRPr b="1" sz="4000" u="sng">
              <a:solidFill>
                <a:srgbClr val="00B050"/>
              </a:solidFill>
              <a:latin typeface="Century Schoolbook"/>
              <a:ea typeface="Century Schoolbook"/>
              <a:cs typeface="Century Schoolbook"/>
              <a:sym typeface="Century Schoolbook"/>
            </a:endParaRPr>
          </a:p>
        </p:txBody>
      </p:sp>
      <p:sp>
        <p:nvSpPr>
          <p:cNvPr id="238" name="Google Shape;238;p17"/>
          <p:cNvSpPr txBox="1"/>
          <p:nvPr/>
        </p:nvSpPr>
        <p:spPr>
          <a:xfrm>
            <a:off x="331124" y="1362075"/>
            <a:ext cx="11522826" cy="1385022"/>
          </a:xfrm>
          <a:prstGeom prst="rect">
            <a:avLst/>
          </a:prstGeom>
          <a:noFill/>
          <a:ln>
            <a:noFill/>
          </a:ln>
        </p:spPr>
        <p:txBody>
          <a:bodyPr anchorCtr="0" anchor="t" bIns="45700" lIns="91425" spcFirstLastPara="1" rIns="91425" wrap="square" tIns="45700">
            <a:noAutofit/>
          </a:bodyPr>
          <a:lstStyle/>
          <a:p>
            <a:pPr indent="0" lvl="0" marL="114300" marR="0" rtl="0" algn="just">
              <a:lnSpc>
                <a:spcPct val="150000"/>
              </a:lnSpc>
              <a:spcBef>
                <a:spcPts val="0"/>
              </a:spcBef>
              <a:spcAft>
                <a:spcPts val="0"/>
              </a:spcAft>
              <a:buClr>
                <a:schemeClr val="dk1"/>
              </a:buClr>
              <a:buSzPts val="2800"/>
              <a:buFont typeface="Arial"/>
              <a:buNone/>
            </a:pPr>
            <a:r>
              <a:rPr b="0" i="0" lang="en-US" sz="2800" u="none" cap="none" strike="noStrike">
                <a:solidFill>
                  <a:schemeClr val="dk1"/>
                </a:solidFill>
                <a:latin typeface="Century Schoolbook"/>
                <a:ea typeface="Century Schoolbook"/>
                <a:cs typeface="Century Schoolbook"/>
                <a:sym typeface="Century Schoolbook"/>
              </a:rPr>
              <a:t>3. Accept any city from the user and display tourist attraction of that city.</a:t>
            </a:r>
            <a:endParaRPr b="0" i="0" sz="2800" u="none" cap="none" strike="noStrike">
              <a:solidFill>
                <a:schemeClr val="dk1"/>
              </a:solidFill>
              <a:latin typeface="Century Schoolbook"/>
              <a:ea typeface="Century Schoolbook"/>
              <a:cs typeface="Century Schoolbook"/>
              <a:sym typeface="Century Schoolbook"/>
            </a:endParaRPr>
          </a:p>
        </p:txBody>
      </p:sp>
      <p:graphicFrame>
        <p:nvGraphicFramePr>
          <p:cNvPr id="239" name="Google Shape;239;p17"/>
          <p:cNvGraphicFramePr/>
          <p:nvPr/>
        </p:nvGraphicFramePr>
        <p:xfrm>
          <a:off x="1701220" y="3398020"/>
          <a:ext cx="3000000" cy="3000000"/>
        </p:xfrm>
        <a:graphic>
          <a:graphicData uri="http://schemas.openxmlformats.org/drawingml/2006/table">
            <a:tbl>
              <a:tblPr bandRow="1" firstRow="1">
                <a:noFill/>
                <a:tableStyleId>{BCFAC225-C9C3-44DA-99C5-AF71EAF29444}</a:tableStyleId>
              </a:tblPr>
              <a:tblGrid>
                <a:gridCol w="4550075"/>
                <a:gridCol w="4550075"/>
              </a:tblGrid>
              <a:tr h="59167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latin typeface="Century Schoolbook"/>
                          <a:ea typeface="Century Schoolbook"/>
                          <a:cs typeface="Century Schoolbook"/>
                          <a:sym typeface="Century Schoolbook"/>
                        </a:rPr>
                        <a:t>City</a:t>
                      </a:r>
                      <a:endParaRPr sz="2400" u="none" cap="none" strike="noStrike">
                        <a:latin typeface="Century Schoolbook"/>
                        <a:ea typeface="Century Schoolbook"/>
                        <a:cs typeface="Century Schoolbook"/>
                        <a:sym typeface="Century Schoolbook"/>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latin typeface="Century Schoolbook"/>
                          <a:ea typeface="Century Schoolbook"/>
                          <a:cs typeface="Century Schoolbook"/>
                          <a:sym typeface="Century Schoolbook"/>
                        </a:rPr>
                        <a:t>Monuments</a:t>
                      </a:r>
                      <a:endParaRPr sz="2400" u="none" cap="none" strike="noStrike">
                        <a:latin typeface="Century Schoolbook"/>
                        <a:ea typeface="Century Schoolbook"/>
                        <a:cs typeface="Century Schoolbook"/>
                        <a:sym typeface="Century Schoolbook"/>
                      </a:endParaRPr>
                    </a:p>
                  </a:txBody>
                  <a:tcPr marT="45725" marB="45725" marR="91450" marL="91450"/>
                </a:tc>
              </a:tr>
              <a:tr h="59167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latin typeface="Century Schoolbook"/>
                          <a:ea typeface="Century Schoolbook"/>
                          <a:cs typeface="Century Schoolbook"/>
                          <a:sym typeface="Century Schoolbook"/>
                        </a:rPr>
                        <a:t>Kathmandu</a:t>
                      </a:r>
                      <a:endParaRPr sz="2400" u="none" cap="none" strike="noStrike">
                        <a:latin typeface="Century Schoolbook"/>
                        <a:ea typeface="Century Schoolbook"/>
                        <a:cs typeface="Century Schoolbook"/>
                        <a:sym typeface="Century Schoolbook"/>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latin typeface="Century Schoolbook"/>
                          <a:ea typeface="Century Schoolbook"/>
                          <a:cs typeface="Century Schoolbook"/>
                          <a:sym typeface="Century Schoolbook"/>
                        </a:rPr>
                        <a:t>Pashupatinath Temple</a:t>
                      </a:r>
                      <a:endParaRPr sz="2400" u="none" cap="none" strike="noStrike">
                        <a:latin typeface="Century Schoolbook"/>
                        <a:ea typeface="Century Schoolbook"/>
                        <a:cs typeface="Century Schoolbook"/>
                        <a:sym typeface="Century Schoolbook"/>
                      </a:endParaRPr>
                    </a:p>
                  </a:txBody>
                  <a:tcPr marT="45725" marB="45725" marR="91450" marL="91450"/>
                </a:tc>
              </a:tr>
              <a:tr h="59167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latin typeface="Century Schoolbook"/>
                          <a:ea typeface="Century Schoolbook"/>
                          <a:cs typeface="Century Schoolbook"/>
                          <a:sym typeface="Century Schoolbook"/>
                        </a:rPr>
                        <a:t>Pokhara</a:t>
                      </a:r>
                      <a:endParaRPr sz="2400" u="none" cap="none" strike="noStrike">
                        <a:latin typeface="Century Schoolbook"/>
                        <a:ea typeface="Century Schoolbook"/>
                        <a:cs typeface="Century Schoolbook"/>
                        <a:sym typeface="Century Schoolbook"/>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latin typeface="Century Schoolbook"/>
                          <a:ea typeface="Century Schoolbook"/>
                          <a:cs typeface="Century Schoolbook"/>
                          <a:sym typeface="Century Schoolbook"/>
                        </a:rPr>
                        <a:t>Fewa Lake</a:t>
                      </a:r>
                      <a:endParaRPr sz="2400" u="none" cap="none" strike="noStrike">
                        <a:latin typeface="Century Schoolbook"/>
                        <a:ea typeface="Century Schoolbook"/>
                        <a:cs typeface="Century Schoolbook"/>
                        <a:sym typeface="Century Schoolbook"/>
                      </a:endParaRPr>
                    </a:p>
                  </a:txBody>
                  <a:tcPr marT="45725" marB="45725" marR="91450" marL="91450"/>
                </a:tc>
              </a:tr>
              <a:tr h="59167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latin typeface="Century Schoolbook"/>
                          <a:ea typeface="Century Schoolbook"/>
                          <a:cs typeface="Century Schoolbook"/>
                          <a:sym typeface="Century Schoolbook"/>
                        </a:rPr>
                        <a:t>Nepalgunj</a:t>
                      </a:r>
                      <a:endParaRPr sz="2400" u="none" cap="none" strike="noStrike">
                        <a:latin typeface="Century Schoolbook"/>
                        <a:ea typeface="Century Schoolbook"/>
                        <a:cs typeface="Century Schoolbook"/>
                        <a:sym typeface="Century Schoolbook"/>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latin typeface="Century Schoolbook"/>
                          <a:ea typeface="Century Schoolbook"/>
                          <a:cs typeface="Century Schoolbook"/>
                          <a:sym typeface="Century Schoolbook"/>
                        </a:rPr>
                        <a:t>Bageshwori Temple</a:t>
                      </a:r>
                      <a:endParaRPr sz="2400" u="none" cap="none" strike="noStrike">
                        <a:latin typeface="Century Schoolbook"/>
                        <a:ea typeface="Century Schoolbook"/>
                        <a:cs typeface="Century Schoolbook"/>
                        <a:sym typeface="Century Schoolbook"/>
                      </a:endParaRPr>
                    </a:p>
                  </a:txBody>
                  <a:tcPr marT="45725" marB="45725" marR="91450" marL="91450"/>
                </a:tc>
              </a:tr>
              <a:tr h="59167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latin typeface="Century Schoolbook"/>
                          <a:ea typeface="Century Schoolbook"/>
                          <a:cs typeface="Century Schoolbook"/>
                          <a:sym typeface="Century Schoolbook"/>
                        </a:rPr>
                        <a:t>Birgunj</a:t>
                      </a:r>
                      <a:endParaRPr sz="2400" u="none" cap="none" strike="noStrike">
                        <a:latin typeface="Century Schoolbook"/>
                        <a:ea typeface="Century Schoolbook"/>
                        <a:cs typeface="Century Schoolbook"/>
                        <a:sym typeface="Century Schoolbook"/>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latin typeface="Century Schoolbook"/>
                          <a:ea typeface="Century Schoolbook"/>
                          <a:cs typeface="Century Schoolbook"/>
                          <a:sym typeface="Century Schoolbook"/>
                        </a:rPr>
                        <a:t>Birgunj Ghanta Ghar</a:t>
                      </a:r>
                      <a:endParaRPr sz="2400" u="none" cap="none" strike="noStrike">
                        <a:latin typeface="Century Schoolbook"/>
                        <a:ea typeface="Century Schoolbook"/>
                        <a:cs typeface="Century Schoolbook"/>
                        <a:sym typeface="Century Schoolbook"/>
                      </a:endParaRPr>
                    </a:p>
                  </a:txBody>
                  <a:tcPr marT="45725" marB="45725" marR="91450" marL="91450"/>
                </a:tc>
              </a:tr>
            </a:tbl>
          </a:graphicData>
        </a:graphic>
      </p:graphicFrame>
      <p:sp>
        <p:nvSpPr>
          <p:cNvPr id="240" name="Google Shape;24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9"/>
          <p:cNvSpPr txBox="1"/>
          <p:nvPr>
            <p:ph type="ctrTitle"/>
          </p:nvPr>
        </p:nvSpPr>
        <p:spPr>
          <a:xfrm>
            <a:off x="331124" y="173932"/>
            <a:ext cx="2553393" cy="132556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chemeClr val="dk1"/>
              </a:buClr>
              <a:buSzPts val="5400"/>
              <a:buFont typeface="Calibri"/>
              <a:buNone/>
            </a:pPr>
            <a:r>
              <a:rPr b="1" lang="en-US" sz="4000" u="sng">
                <a:solidFill>
                  <a:srgbClr val="00B050"/>
                </a:solidFill>
                <a:latin typeface="Century Schoolbook"/>
                <a:ea typeface="Century Schoolbook"/>
                <a:cs typeface="Century Schoolbook"/>
                <a:sym typeface="Century Schoolbook"/>
              </a:rPr>
              <a:t>For You</a:t>
            </a:r>
            <a:endParaRPr b="1" sz="4000" u="sng">
              <a:solidFill>
                <a:srgbClr val="00B050"/>
              </a:solidFill>
              <a:latin typeface="Century Schoolbook"/>
              <a:ea typeface="Century Schoolbook"/>
              <a:cs typeface="Century Schoolbook"/>
              <a:sym typeface="Century Schoolbook"/>
            </a:endParaRPr>
          </a:p>
        </p:txBody>
      </p:sp>
      <p:sp>
        <p:nvSpPr>
          <p:cNvPr id="246" name="Google Shape;246;p19"/>
          <p:cNvSpPr txBox="1"/>
          <p:nvPr/>
        </p:nvSpPr>
        <p:spPr>
          <a:xfrm>
            <a:off x="455814" y="1383116"/>
            <a:ext cx="11522826" cy="3986906"/>
          </a:xfrm>
          <a:prstGeom prst="rect">
            <a:avLst/>
          </a:prstGeom>
          <a:noFill/>
          <a:ln>
            <a:noFill/>
          </a:ln>
        </p:spPr>
        <p:txBody>
          <a:bodyPr anchorCtr="0" anchor="t" bIns="45700" lIns="91425" spcFirstLastPara="1" rIns="91425" wrap="square" tIns="45700">
            <a:noAutofit/>
          </a:bodyPr>
          <a:lstStyle/>
          <a:p>
            <a:pPr indent="0" lvl="0" marL="114300" marR="0" rtl="0" algn="just">
              <a:lnSpc>
                <a:spcPct val="150000"/>
              </a:lnSpc>
              <a:spcBef>
                <a:spcPts val="0"/>
              </a:spcBef>
              <a:spcAft>
                <a:spcPts val="0"/>
              </a:spcAft>
              <a:buClr>
                <a:schemeClr val="dk1"/>
              </a:buClr>
              <a:buSzPts val="2800"/>
              <a:buFont typeface="Arial"/>
              <a:buNone/>
            </a:pPr>
            <a:r>
              <a:rPr b="0" i="0" lang="en-US" sz="2400" u="none" cap="none" strike="noStrike">
                <a:solidFill>
                  <a:schemeClr val="dk1"/>
                </a:solidFill>
                <a:latin typeface="Century Schoolbook"/>
                <a:ea typeface="Century Schoolbook"/>
                <a:cs typeface="Century Schoolbook"/>
                <a:sym typeface="Century Schoolbook"/>
              </a:rPr>
              <a:t>4. Write a python program that asks user’s bar order. If the order contains alcohol, the program should check the customer’s ID. If the ID states that the customer is 18 years or older, the program should display the legal drinking age law and end. If the customer is under, the program should serve non alcoholic drink and exit.</a:t>
            </a:r>
            <a:endParaRPr b="0" i="0" sz="2400" u="none" cap="none" strike="noStrike">
              <a:solidFill>
                <a:schemeClr val="dk1"/>
              </a:solidFill>
              <a:latin typeface="Century Schoolbook"/>
              <a:ea typeface="Century Schoolbook"/>
              <a:cs typeface="Century Schoolbook"/>
              <a:sym typeface="Century Schoolbook"/>
            </a:endParaRPr>
          </a:p>
        </p:txBody>
      </p:sp>
      <p:sp>
        <p:nvSpPr>
          <p:cNvPr id="247" name="Google Shape;24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descr="ProfessionsProfessions. a doctor a pilot a dentist. - ppt download" id="252" name="Google Shape;252;p20"/>
          <p:cNvPicPr preferRelativeResize="0"/>
          <p:nvPr/>
        </p:nvPicPr>
        <p:blipFill rotWithShape="1">
          <a:blip r:embed="rId3">
            <a:alphaModFix/>
          </a:blip>
          <a:srcRect b="0" l="0" r="0" t="0"/>
          <a:stretch/>
        </p:blipFill>
        <p:spPr>
          <a:xfrm>
            <a:off x="2779834" y="660522"/>
            <a:ext cx="6632331" cy="4974248"/>
          </a:xfrm>
          <a:prstGeom prst="rect">
            <a:avLst/>
          </a:prstGeom>
          <a:noFill/>
          <a:ln>
            <a:noFill/>
          </a:ln>
        </p:spPr>
      </p:pic>
      <p:sp>
        <p:nvSpPr>
          <p:cNvPr id="253" name="Google Shape;25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1"/>
          <p:cNvSpPr txBox="1"/>
          <p:nvPr>
            <p:ph type="ctrTitle"/>
          </p:nvPr>
        </p:nvSpPr>
        <p:spPr>
          <a:xfrm>
            <a:off x="2835212" y="117475"/>
            <a:ext cx="7838902" cy="93997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chemeClr val="dk1"/>
              </a:buClr>
              <a:buSzPts val="4000"/>
              <a:buFont typeface="Calibri"/>
              <a:buNone/>
            </a:pPr>
            <a:r>
              <a:rPr b="1" lang="en-US" sz="4000" u="sng">
                <a:solidFill>
                  <a:srgbClr val="00B050"/>
                </a:solidFill>
                <a:latin typeface="Century Schoolbook"/>
                <a:ea typeface="Century Schoolbook"/>
                <a:cs typeface="Century Schoolbook"/>
                <a:sym typeface="Century Schoolbook"/>
              </a:rPr>
              <a:t>For You – Exercise</a:t>
            </a:r>
            <a:endParaRPr b="1" sz="4000" u="sng">
              <a:solidFill>
                <a:srgbClr val="00B050"/>
              </a:solidFill>
              <a:latin typeface="Century Schoolbook"/>
              <a:ea typeface="Century Schoolbook"/>
              <a:cs typeface="Century Schoolbook"/>
              <a:sym typeface="Century Schoolbook"/>
            </a:endParaRPr>
          </a:p>
        </p:txBody>
      </p:sp>
      <p:sp>
        <p:nvSpPr>
          <p:cNvPr id="259" name="Google Shape;259;p21"/>
          <p:cNvSpPr/>
          <p:nvPr/>
        </p:nvSpPr>
        <p:spPr>
          <a:xfrm>
            <a:off x="153604" y="812205"/>
            <a:ext cx="11884792" cy="5909270"/>
          </a:xfrm>
          <a:prstGeom prst="rect">
            <a:avLst/>
          </a:prstGeom>
          <a:noFill/>
          <a:ln>
            <a:noFill/>
          </a:ln>
        </p:spPr>
        <p:txBody>
          <a:bodyPr anchorCtr="0" anchor="t" bIns="45700" lIns="91425" spcFirstLastPara="1" rIns="91425" wrap="square" tIns="45700">
            <a:spAutoFit/>
          </a:bodyPr>
          <a:lstStyle/>
          <a:p>
            <a:pPr indent="-742950" lvl="0" marL="857250" marR="0" rtl="0" algn="just">
              <a:lnSpc>
                <a:spcPct val="150000"/>
              </a:lnSpc>
              <a:spcBef>
                <a:spcPts val="0"/>
              </a:spcBef>
              <a:spcAft>
                <a:spcPts val="0"/>
              </a:spcAft>
              <a:buClr>
                <a:schemeClr val="dk1"/>
              </a:buClr>
              <a:buSzPts val="2800"/>
              <a:buFont typeface="Calibri"/>
              <a:buAutoNum type="arabicPeriod"/>
            </a:pPr>
            <a:r>
              <a:rPr b="0" i="0" lang="en-US" sz="2800" u="none" cap="none" strike="noStrike">
                <a:solidFill>
                  <a:schemeClr val="dk1"/>
                </a:solidFill>
                <a:latin typeface="Century Schoolbook"/>
                <a:ea typeface="Century Schoolbook"/>
                <a:cs typeface="Century Schoolbook"/>
                <a:sym typeface="Century Schoolbook"/>
              </a:rPr>
              <a:t>Program to print the positive difference of two numbers.</a:t>
            </a:r>
            <a:endParaRPr b="0" i="0" sz="1400" u="none" cap="none" strike="noStrike">
              <a:solidFill>
                <a:srgbClr val="000000"/>
              </a:solidFill>
              <a:latin typeface="Century Schoolbook"/>
              <a:ea typeface="Century Schoolbook"/>
              <a:cs typeface="Century Schoolbook"/>
              <a:sym typeface="Century Schoolbook"/>
            </a:endParaRPr>
          </a:p>
          <a:p>
            <a:pPr indent="-742950" lvl="0" marL="857250" marR="0" rtl="0" algn="just">
              <a:lnSpc>
                <a:spcPct val="150000"/>
              </a:lnSpc>
              <a:spcBef>
                <a:spcPts val="0"/>
              </a:spcBef>
              <a:spcAft>
                <a:spcPts val="0"/>
              </a:spcAft>
              <a:buClr>
                <a:schemeClr val="dk1"/>
              </a:buClr>
              <a:buSzPts val="2800"/>
              <a:buFont typeface="Calibri"/>
              <a:buAutoNum type="arabicPeriod"/>
            </a:pPr>
            <a:r>
              <a:rPr b="0" i="0" lang="en-US" sz="2800" u="none" cap="none" strike="noStrike">
                <a:solidFill>
                  <a:schemeClr val="dk1"/>
                </a:solidFill>
                <a:latin typeface="Century Schoolbook"/>
                <a:ea typeface="Century Schoolbook"/>
                <a:cs typeface="Century Schoolbook"/>
                <a:sym typeface="Century Schoolbook"/>
              </a:rPr>
              <a:t>Write a program that accepts percentage form the user and display the grade according to the following. [Percentage and GPA should be of BIC college]</a:t>
            </a:r>
            <a:endParaRPr b="0" i="0" sz="1400" u="none" cap="none" strike="noStrike">
              <a:solidFill>
                <a:srgbClr val="000000"/>
              </a:solidFill>
              <a:latin typeface="Century Schoolbook"/>
              <a:ea typeface="Century Schoolbook"/>
              <a:cs typeface="Century Schoolbook"/>
              <a:sym typeface="Century Schoolbook"/>
            </a:endParaRPr>
          </a:p>
          <a:p>
            <a:pPr indent="-742950" lvl="0" marL="857250" marR="0" rtl="0" algn="just">
              <a:lnSpc>
                <a:spcPct val="150000"/>
              </a:lnSpc>
              <a:spcBef>
                <a:spcPts val="0"/>
              </a:spcBef>
              <a:spcAft>
                <a:spcPts val="0"/>
              </a:spcAft>
              <a:buClr>
                <a:schemeClr val="dk1"/>
              </a:buClr>
              <a:buSzPts val="2800"/>
              <a:buFont typeface="Calibri"/>
              <a:buAutoNum type="arabicPeriod"/>
            </a:pPr>
            <a:r>
              <a:rPr b="0" i="0" lang="en-US" sz="2800" u="none" cap="none" strike="noStrike">
                <a:solidFill>
                  <a:schemeClr val="dk1"/>
                </a:solidFill>
                <a:latin typeface="Century Schoolbook"/>
                <a:ea typeface="Century Schoolbook"/>
                <a:cs typeface="Century Schoolbook"/>
                <a:sym typeface="Century Schoolbook"/>
              </a:rPr>
              <a:t>Write a program to whether a number (accepted from user) is divisible by 2 and 3 both. </a:t>
            </a:r>
            <a:endParaRPr b="0" i="0" sz="1400" u="none" cap="none" strike="noStrike">
              <a:solidFill>
                <a:srgbClr val="000000"/>
              </a:solidFill>
              <a:latin typeface="Century Schoolbook"/>
              <a:ea typeface="Century Schoolbook"/>
              <a:cs typeface="Century Schoolbook"/>
              <a:sym typeface="Century Schoolbook"/>
            </a:endParaRPr>
          </a:p>
          <a:p>
            <a:pPr indent="-742950" lvl="0" marL="857250" marR="0" rtl="0" algn="just">
              <a:lnSpc>
                <a:spcPct val="150000"/>
              </a:lnSpc>
              <a:spcBef>
                <a:spcPts val="0"/>
              </a:spcBef>
              <a:spcAft>
                <a:spcPts val="0"/>
              </a:spcAft>
              <a:buClr>
                <a:schemeClr val="dk1"/>
              </a:buClr>
              <a:buSzPts val="2800"/>
              <a:buFont typeface="Calibri"/>
              <a:buAutoNum type="arabicPeriod"/>
            </a:pPr>
            <a:r>
              <a:rPr b="0" i="0" lang="en-US" sz="2800" u="none" cap="none" strike="noStrike">
                <a:solidFill>
                  <a:schemeClr val="dk1"/>
                </a:solidFill>
                <a:latin typeface="Century Schoolbook"/>
                <a:ea typeface="Century Schoolbook"/>
                <a:cs typeface="Century Schoolbook"/>
                <a:sym typeface="Century Schoolbook"/>
              </a:rPr>
              <a:t>Write a program that takes in two numbers and displays the product of the two numbers if both numbers are positive, otherwise it returns "Numbers must be positive".</a:t>
            </a:r>
            <a:endParaRPr b="0" i="0" sz="1400" u="none" cap="none" strike="noStrike">
              <a:solidFill>
                <a:srgbClr val="000000"/>
              </a:solidFill>
              <a:latin typeface="Century Schoolbook"/>
              <a:ea typeface="Century Schoolbook"/>
              <a:cs typeface="Century Schoolbook"/>
              <a:sym typeface="Century Schoolbook"/>
            </a:endParaRPr>
          </a:p>
        </p:txBody>
      </p:sp>
      <p:sp>
        <p:nvSpPr>
          <p:cNvPr id="260" name="Google Shape;26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2"/>
          <p:cNvSpPr txBox="1"/>
          <p:nvPr>
            <p:ph type="ctrTitle"/>
          </p:nvPr>
        </p:nvSpPr>
        <p:spPr>
          <a:xfrm>
            <a:off x="1977321" y="101600"/>
            <a:ext cx="10749600" cy="939900"/>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chemeClr val="dk1"/>
              </a:buClr>
              <a:buSzPts val="5400"/>
              <a:buFont typeface="Calibri"/>
              <a:buNone/>
            </a:pPr>
            <a:r>
              <a:rPr b="1" lang="en-US" sz="4000" u="sng">
                <a:solidFill>
                  <a:srgbClr val="00B050"/>
                </a:solidFill>
                <a:latin typeface="Century Schoolbook"/>
                <a:ea typeface="Century Schoolbook"/>
                <a:cs typeface="Century Schoolbook"/>
                <a:sym typeface="Century Schoolbook"/>
              </a:rPr>
              <a:t>For You – Additional Questions</a:t>
            </a:r>
            <a:endParaRPr b="1" sz="4000" u="sng">
              <a:solidFill>
                <a:srgbClr val="00B050"/>
              </a:solidFill>
              <a:latin typeface="Century Schoolbook"/>
              <a:ea typeface="Century Schoolbook"/>
              <a:cs typeface="Century Schoolbook"/>
              <a:sym typeface="Century Schoolbook"/>
            </a:endParaRPr>
          </a:p>
        </p:txBody>
      </p:sp>
      <p:sp>
        <p:nvSpPr>
          <p:cNvPr id="266" name="Google Shape;266;p22"/>
          <p:cNvSpPr/>
          <p:nvPr/>
        </p:nvSpPr>
        <p:spPr>
          <a:xfrm>
            <a:off x="234887" y="677904"/>
            <a:ext cx="11884792" cy="3416279"/>
          </a:xfrm>
          <a:prstGeom prst="rect">
            <a:avLst/>
          </a:prstGeom>
          <a:noFill/>
          <a:ln>
            <a:noFill/>
          </a:ln>
        </p:spPr>
        <p:txBody>
          <a:bodyPr anchorCtr="0" anchor="t" bIns="45700" lIns="91425" spcFirstLastPara="1" rIns="91425" wrap="square" tIns="45700">
            <a:spAutoFit/>
          </a:bodyPr>
          <a:lstStyle/>
          <a:p>
            <a:pPr indent="-342900" lvl="0" marL="393700" marR="0" rtl="0" algn="just">
              <a:lnSpc>
                <a:spcPct val="150000"/>
              </a:lnSpc>
              <a:spcBef>
                <a:spcPts val="0"/>
              </a:spcBef>
              <a:spcAft>
                <a:spcPts val="0"/>
              </a:spcAft>
              <a:buClr>
                <a:schemeClr val="dk1"/>
              </a:buClr>
              <a:buSzPts val="2800"/>
              <a:buFont typeface="Noto Sans Symbols"/>
              <a:buChar char="▪"/>
            </a:pPr>
            <a:r>
              <a:rPr b="0" i="0" lang="en-US" sz="2400" u="none" cap="none" strike="noStrike">
                <a:solidFill>
                  <a:schemeClr val="dk1"/>
                </a:solidFill>
                <a:latin typeface="Century Schoolbook"/>
                <a:ea typeface="Century Schoolbook"/>
                <a:cs typeface="Century Schoolbook"/>
                <a:sym typeface="Century Schoolbook"/>
              </a:rPr>
              <a:t>Accept the following from the user and calculate the percentage of class attended: </a:t>
            </a:r>
            <a:endParaRPr b="0" i="0" sz="2400" u="none" cap="none" strike="noStrike">
              <a:solidFill>
                <a:schemeClr val="dk1"/>
              </a:solidFill>
              <a:latin typeface="Century Schoolbook"/>
              <a:ea typeface="Century Schoolbook"/>
              <a:cs typeface="Century Schoolbook"/>
              <a:sym typeface="Century Schoolbook"/>
            </a:endParaRPr>
          </a:p>
          <a:p>
            <a:pPr indent="-342900" lvl="2" marL="1371600" marR="0" rtl="0" algn="just">
              <a:lnSpc>
                <a:spcPct val="150000"/>
              </a:lnSpc>
              <a:spcBef>
                <a:spcPts val="0"/>
              </a:spcBef>
              <a:spcAft>
                <a:spcPts val="0"/>
              </a:spcAft>
              <a:buClr>
                <a:schemeClr val="dk1"/>
              </a:buClr>
              <a:buSzPts val="2800"/>
              <a:buFont typeface="Noto Sans Symbols"/>
              <a:buChar char="▪"/>
            </a:pPr>
            <a:r>
              <a:rPr b="0" i="0" lang="en-US" sz="2400" u="none" cap="none" strike="noStrike">
                <a:solidFill>
                  <a:schemeClr val="dk1"/>
                </a:solidFill>
                <a:latin typeface="Century Schoolbook"/>
                <a:ea typeface="Century Schoolbook"/>
                <a:cs typeface="Century Schoolbook"/>
                <a:sym typeface="Century Schoolbook"/>
              </a:rPr>
              <a:t>Total number of working days</a:t>
            </a:r>
            <a:endParaRPr b="0" i="0" sz="2400" u="none" cap="none" strike="noStrike">
              <a:solidFill>
                <a:srgbClr val="000000"/>
              </a:solidFill>
              <a:latin typeface="Century Schoolbook"/>
              <a:ea typeface="Century Schoolbook"/>
              <a:cs typeface="Century Schoolbook"/>
              <a:sym typeface="Century Schoolbook"/>
            </a:endParaRPr>
          </a:p>
          <a:p>
            <a:pPr indent="-342900" lvl="2" marL="1371600" marR="0" rtl="0" algn="just">
              <a:lnSpc>
                <a:spcPct val="150000"/>
              </a:lnSpc>
              <a:spcBef>
                <a:spcPts val="0"/>
              </a:spcBef>
              <a:spcAft>
                <a:spcPts val="0"/>
              </a:spcAft>
              <a:buClr>
                <a:schemeClr val="dk1"/>
              </a:buClr>
              <a:buSzPts val="2800"/>
              <a:buFont typeface="Noto Sans Symbols"/>
              <a:buChar char="▪"/>
            </a:pPr>
            <a:r>
              <a:rPr b="0" i="0" lang="en-US" sz="2400" u="none" cap="none" strike="noStrike">
                <a:solidFill>
                  <a:schemeClr val="dk1"/>
                </a:solidFill>
                <a:latin typeface="Century Schoolbook"/>
                <a:ea typeface="Century Schoolbook"/>
                <a:cs typeface="Century Schoolbook"/>
                <a:sym typeface="Century Schoolbook"/>
              </a:rPr>
              <a:t>Total number of absent days</a:t>
            </a:r>
            <a:endParaRPr b="0" i="0" sz="2400" u="none" cap="none" strike="noStrike">
              <a:solidFill>
                <a:srgbClr val="000000"/>
              </a:solidFill>
              <a:latin typeface="Century Schoolbook"/>
              <a:ea typeface="Century Schoolbook"/>
              <a:cs typeface="Century Schoolbook"/>
              <a:sym typeface="Century Schoolbook"/>
            </a:endParaRPr>
          </a:p>
          <a:p>
            <a:pPr indent="0" lvl="1" marL="571500" marR="0" rtl="0" algn="just">
              <a:lnSpc>
                <a:spcPct val="150000"/>
              </a:lnSpc>
              <a:spcBef>
                <a:spcPts val="0"/>
              </a:spcBef>
              <a:spcAft>
                <a:spcPts val="0"/>
              </a:spcAft>
              <a:buNone/>
            </a:pPr>
            <a:r>
              <a:rPr b="0" i="0" lang="en-US" sz="2400" u="none" cap="none" strike="noStrike">
                <a:solidFill>
                  <a:schemeClr val="dk1"/>
                </a:solidFill>
                <a:latin typeface="Century Schoolbook"/>
                <a:ea typeface="Century Schoolbook"/>
                <a:cs typeface="Century Schoolbook"/>
                <a:sym typeface="Century Schoolbook"/>
              </a:rPr>
              <a:t>After calculating the percentage, if the percentage is less than 80, then students will not be able to sit the exam.</a:t>
            </a:r>
            <a:endParaRPr b="0" i="0" sz="2400" u="none" cap="none" strike="noStrike">
              <a:solidFill>
                <a:schemeClr val="dk1"/>
              </a:solidFill>
              <a:latin typeface="Century Schoolbook"/>
              <a:ea typeface="Century Schoolbook"/>
              <a:cs typeface="Century Schoolbook"/>
              <a:sym typeface="Century Schoolbook"/>
            </a:endParaRPr>
          </a:p>
        </p:txBody>
      </p:sp>
      <p:sp>
        <p:nvSpPr>
          <p:cNvPr id="267" name="Google Shape;26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68" name="Google Shape;268;p22"/>
          <p:cNvSpPr/>
          <p:nvPr/>
        </p:nvSpPr>
        <p:spPr>
          <a:xfrm>
            <a:off x="314379" y="4094183"/>
            <a:ext cx="11805300" cy="2862282"/>
          </a:xfrm>
          <a:prstGeom prst="rect">
            <a:avLst/>
          </a:prstGeom>
          <a:noFill/>
          <a:ln>
            <a:noFill/>
          </a:ln>
        </p:spPr>
        <p:txBody>
          <a:bodyPr anchorCtr="0" anchor="t" bIns="45700" lIns="91425" spcFirstLastPara="1" rIns="91425" wrap="square" tIns="45700">
            <a:spAutoFit/>
          </a:bodyPr>
          <a:lstStyle/>
          <a:p>
            <a:pPr indent="-342900" lvl="0" marL="393700" marR="0" rtl="0" algn="l">
              <a:lnSpc>
                <a:spcPct val="150000"/>
              </a:lnSpc>
              <a:spcBef>
                <a:spcPts val="0"/>
              </a:spcBef>
              <a:spcAft>
                <a:spcPts val="0"/>
              </a:spcAft>
              <a:buClr>
                <a:schemeClr val="dk1"/>
              </a:buClr>
              <a:buSzPts val="2800"/>
              <a:buFont typeface="Noto Sans Symbols"/>
              <a:buChar char="▪"/>
            </a:pPr>
            <a:r>
              <a:rPr b="0" i="0" lang="en-US" sz="2400" u="none" cap="none" strike="noStrike">
                <a:solidFill>
                  <a:schemeClr val="dk1"/>
                </a:solidFill>
                <a:latin typeface="Century Schoolbook"/>
                <a:ea typeface="Century Schoolbook"/>
                <a:cs typeface="Century Schoolbook"/>
                <a:sym typeface="Century Schoolbook"/>
              </a:rPr>
              <a:t>Develop a game where there is a zombie who is walking straight in the road. While moving ahead, there is a pothole where zombie might fall and die. In right hand side there is a jungle where zombie will get lost and die out of hunger or gets shot by hunter. The only way to win the game is to make zombie move left where zombie will find human.</a:t>
            </a:r>
            <a:endParaRPr b="0" i="0" sz="2400" u="none" cap="none" strike="noStrike">
              <a:solidFill>
                <a:srgbClr val="000000"/>
              </a:solidFill>
              <a:latin typeface="Century Schoolbook"/>
              <a:ea typeface="Century Schoolbook"/>
              <a:cs typeface="Century Schoolbook"/>
              <a:sym typeface="Century Schoolbook"/>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3"/>
          <p:cNvSpPr txBox="1"/>
          <p:nvPr>
            <p:ph type="ctrTitle"/>
          </p:nvPr>
        </p:nvSpPr>
        <p:spPr>
          <a:xfrm>
            <a:off x="314497" y="548697"/>
            <a:ext cx="8106295" cy="939973"/>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0"/>
              </a:spcBef>
              <a:spcAft>
                <a:spcPts val="0"/>
              </a:spcAft>
              <a:buClr>
                <a:schemeClr val="dk1"/>
              </a:buClr>
              <a:buSzPts val="5400"/>
              <a:buFont typeface="Calibri"/>
              <a:buNone/>
            </a:pPr>
            <a:r>
              <a:rPr b="1" lang="en-US" sz="4000" u="sng">
                <a:solidFill>
                  <a:srgbClr val="00B050"/>
                </a:solidFill>
                <a:latin typeface="Century Schoolbook"/>
                <a:ea typeface="Century Schoolbook"/>
                <a:cs typeface="Century Schoolbook"/>
                <a:sym typeface="Century Schoolbook"/>
              </a:rPr>
              <a:t>For You – Home Task</a:t>
            </a:r>
            <a:endParaRPr b="1" sz="4000" u="sng">
              <a:solidFill>
                <a:srgbClr val="00B050"/>
              </a:solidFill>
              <a:latin typeface="Century Schoolbook"/>
              <a:ea typeface="Century Schoolbook"/>
              <a:cs typeface="Century Schoolbook"/>
              <a:sym typeface="Century Schoolbook"/>
            </a:endParaRPr>
          </a:p>
        </p:txBody>
      </p:sp>
      <p:sp>
        <p:nvSpPr>
          <p:cNvPr id="274" name="Google Shape;274;p23"/>
          <p:cNvSpPr/>
          <p:nvPr/>
        </p:nvSpPr>
        <p:spPr>
          <a:xfrm>
            <a:off x="314497" y="1761973"/>
            <a:ext cx="11597641" cy="397027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3200"/>
              <a:buFont typeface="Noto Sans Symbols"/>
              <a:buChar char="▪"/>
            </a:pPr>
            <a:r>
              <a:rPr b="0" i="0" lang="en-US" sz="2400" u="none" cap="none" strike="noStrike">
                <a:solidFill>
                  <a:schemeClr val="dk1"/>
                </a:solidFill>
                <a:latin typeface="Century Schoolbook"/>
                <a:ea typeface="Century Schoolbook"/>
                <a:cs typeface="Century Schoolbook"/>
                <a:sym typeface="Century Schoolbook"/>
              </a:rPr>
              <a:t>You are working for a theme park. As part of the park's safety regulations, certain rides have height restrictions. Write a Python program that asks the visitor for their height. If the visitor meets the height requirement (minimum height is 120 cm), allow them to enter the ride. If the visitor is too short, inform them that they cannot enter the ride and suggest an alternative ride suitable for their height. If the visitor's input is not a valid number, display an error message and exit the program.</a:t>
            </a:r>
            <a:endParaRPr b="0" i="0" sz="2400" u="none" cap="none" strike="noStrike">
              <a:solidFill>
                <a:schemeClr val="dk1"/>
              </a:solidFill>
              <a:latin typeface="Century Schoolbook"/>
              <a:ea typeface="Century Schoolbook"/>
              <a:cs typeface="Century Schoolbook"/>
              <a:sym typeface="Century Schoolbook"/>
            </a:endParaRPr>
          </a:p>
        </p:txBody>
      </p:sp>
      <p:sp>
        <p:nvSpPr>
          <p:cNvPr id="275" name="Google Shape;275;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descr="Premium Vector | Comic speech bubbles with text thank you. vintage cartoon  illustration. symbol, sticker tag, special offer label, advertising badge.  vector stock illustration." id="280" name="Google Shape;280;p24"/>
          <p:cNvPicPr preferRelativeResize="0"/>
          <p:nvPr/>
        </p:nvPicPr>
        <p:blipFill rotWithShape="1">
          <a:blip r:embed="rId3">
            <a:alphaModFix/>
          </a:blip>
          <a:srcRect b="0" l="0" r="0" t="0"/>
          <a:stretch/>
        </p:blipFill>
        <p:spPr>
          <a:xfrm>
            <a:off x="3272936" y="605936"/>
            <a:ext cx="5646127" cy="5646127"/>
          </a:xfrm>
          <a:prstGeom prst="rect">
            <a:avLst/>
          </a:prstGeom>
          <a:noFill/>
          <a:ln>
            <a:noFill/>
          </a:ln>
        </p:spPr>
      </p:pic>
      <p:sp>
        <p:nvSpPr>
          <p:cNvPr id="281" name="Google Shape;28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2023-02-20T11:26:39Z</dcterms:created>
  <dc:creator>Sujan Aryal</dc:creator>
</cp:coreProperties>
</file>