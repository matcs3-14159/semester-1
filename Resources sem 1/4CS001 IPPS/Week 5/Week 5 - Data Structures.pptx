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y="6858000" cx="12192000"/>
  <p:notesSz cx="6858000" cy="9144000"/>
  <p:embeddedFontLst>
    <p:embeddedFont>
      <p:font typeface="Arimo"/>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73" roundtripDataSignature="AMtx7mj9nLWY+S28TZjfb1LgNPtQJ+sx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E5DFC55-6CDA-4FDE-B55B-BA9B7D4DFA6F}">
  <a:tblStyle styleId="{FE5DFC55-6CDA-4FDE-B55B-BA9B7D4DFA6F}" styleName="Table_0">
    <a:wholeTbl>
      <a:tcTxStyle b="off" i="off">
        <a:font>
          <a:latin typeface="Calibri"/>
          <a:ea typeface="Calibri"/>
          <a:cs typeface="Calibri"/>
        </a:font>
        <a:schemeClr val="dk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chemeClr val="accent3"/>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3">
              <a:alpha val="40000"/>
            </a:schemeClr>
          </a:solidFill>
        </a:fill>
      </a:tcStyle>
    </a:band1H>
    <a:band2H>
      <a:tcTxStyle b="off" i="off"/>
    </a:band2H>
    <a:band1V>
      <a:tcTxStyle b="off" i="off"/>
      <a:tcStyle>
        <a:tcBdr>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tcBdr>
        <a:fill>
          <a:solidFill>
            <a:schemeClr val="accent3">
              <a:alpha val="40000"/>
            </a:schemeClr>
          </a:solidFill>
        </a:fill>
      </a:tcStyle>
    </a:band1V>
    <a:band2V>
      <a:tcTxStyle b="off" i="off"/>
    </a:band2V>
    <a:la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b="off" i="off"/>
    </a:seCell>
    <a:swCell>
      <a:tcTxStyle b="off" i="off"/>
    </a:swCell>
    <a:firstRow>
      <a:tcTxStyle b="on" i="off">
        <a:font>
          <a:latin typeface="Calibri"/>
          <a:ea typeface="Calibri"/>
          <a:cs typeface="Calibri"/>
        </a:font>
        <a:schemeClr val="lt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3"/>
          </a:solidFill>
        </a:fill>
      </a:tcStyle>
    </a:firstRow>
    <a:neCell>
      <a:tcTxStyle b="off" i="off"/>
    </a:neCell>
    <a:nwCell>
      <a:tcTxStyle b="off" i="off"/>
    </a:nwCell>
  </a:tblStyle>
  <a:tblStyle styleId="{1F3B3BFD-44AB-4170-A380-628C88566B88}"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6664844-2B1D-4FCE-927B-3923A23EA554}" styleName="Table_2">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customschemas.google.com/relationships/presentationmetadata" Target="metadata"/><Relationship Id="rId72" Type="http://schemas.openxmlformats.org/officeDocument/2006/relationships/font" Target="fonts/Arimo-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Arimo-italic.fntdata"/><Relationship Id="rId70" Type="http://schemas.openxmlformats.org/officeDocument/2006/relationships/font" Target="fonts/Arimo-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Arimo-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 name="Google Shape;9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3" name="Google Shape;33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 name="Google Shape;35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0" name="Google Shape;37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4" name="Google Shape;39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4" name="Google Shape;41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2" name="Google Shape;44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8" name="Google Shape;44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9" name="Google Shape;47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0" name="Google Shape;49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7" name="Google Shape;50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7" name="Google Shape;51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8" name="Google Shape;52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2" name="Google Shape;54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4" name="Google Shape;55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5" name="Google Shape;56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7" name="Google Shape;577;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8" name="Google Shape;58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3" name="Google Shape;59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4" name="Google Shape;60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9" name="Google Shape;60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3" name="Google Shape;633;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7" name="Google Shape;647;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2" name="Google Shape;652;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3" name="Google Shape;663;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4" name="Google Shape;674;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8" name="Google Shape;688;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7" name="Google Shape;697;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2" name="Google Shape;702;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2" name="Google Shape;712;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4" name="Google Shape;724;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6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6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 name="Google Shape;21;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6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6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6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6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6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6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6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7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7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7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7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71"/>
          <p:cNvSpPr/>
          <p:nvPr>
            <p:ph idx="2" type="pic"/>
          </p:nvPr>
        </p:nvSpPr>
        <p:spPr>
          <a:xfrm>
            <a:off x="5183188" y="987425"/>
            <a:ext cx="6172200" cy="4873625"/>
          </a:xfrm>
          <a:prstGeom prst="rect">
            <a:avLst/>
          </a:prstGeom>
          <a:noFill/>
          <a:ln>
            <a:noFill/>
          </a:ln>
        </p:spPr>
      </p:sp>
      <p:sp>
        <p:nvSpPr>
          <p:cNvPr id="71" name="Google Shape;71;p7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7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7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7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7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7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7.png"/><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theme" Target="../theme/theme2.xml"/><Relationship Id="rId14" Type="http://schemas.openxmlformats.org/officeDocument/2006/relationships/slideLayout" Target="../slideLayouts/slideLayout1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62"/>
          <p:cNvPicPr preferRelativeResize="0"/>
          <p:nvPr/>
        </p:nvPicPr>
        <p:blipFill rotWithShape="1">
          <a:blip r:embed="rId1">
            <a:alphaModFix amt="50000"/>
          </a:blip>
          <a:srcRect b="0" l="0" r="0" t="0"/>
          <a:stretch/>
        </p:blipFill>
        <p:spPr>
          <a:xfrm>
            <a:off x="10884023" y="5413498"/>
            <a:ext cx="1307977" cy="1307977"/>
          </a:xfrm>
          <a:prstGeom prst="rect">
            <a:avLst/>
          </a:prstGeom>
          <a:noFill/>
          <a:ln>
            <a:noFill/>
          </a:ln>
        </p:spPr>
      </p:pic>
      <p:pic>
        <p:nvPicPr>
          <p:cNvPr id="16" name="Google Shape;16;p62"/>
          <p:cNvPicPr preferRelativeResize="0"/>
          <p:nvPr/>
        </p:nvPicPr>
        <p:blipFill rotWithShape="1">
          <a:blip r:embed="rId2">
            <a:alphaModFix/>
          </a:blip>
          <a:srcRect b="0" l="0" r="0" t="0"/>
          <a:stretch/>
        </p:blipFill>
        <p:spPr>
          <a:xfrm>
            <a:off x="10004634" y="131007"/>
            <a:ext cx="2072463" cy="727276"/>
          </a:xfrm>
          <a:prstGeom prst="rect">
            <a:avLst/>
          </a:prstGeom>
          <a:noFill/>
          <a:ln>
            <a:noFill/>
          </a:ln>
        </p:spPr>
      </p:pic>
      <p:pic>
        <p:nvPicPr>
          <p:cNvPr id="17" name="Google Shape;17;p62"/>
          <p:cNvPicPr preferRelativeResize="0"/>
          <p:nvPr/>
        </p:nvPicPr>
        <p:blipFill rotWithShape="1">
          <a:blip r:embed="rId3">
            <a:alphaModFix/>
          </a:blip>
          <a:srcRect b="0" l="0" r="0" t="0"/>
          <a:stretch/>
        </p:blipFill>
        <p:spPr>
          <a:xfrm>
            <a:off x="114903" y="185738"/>
            <a:ext cx="2094897" cy="541538"/>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6.png"/><Relationship Id="rId4" Type="http://schemas.openxmlformats.org/officeDocument/2006/relationships/hyperlink" Target="https://docs.python.org/3/tutorial/datastructures.html" TargetMode="External"/><Relationship Id="rId5" Type="http://schemas.openxmlformats.org/officeDocument/2006/relationships/image" Target="../media/image21.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8.png"/><Relationship Id="rId4" Type="http://schemas.openxmlformats.org/officeDocument/2006/relationships/image" Target="../media/image25.png"/><Relationship Id="rId5"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2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28.png"/><Relationship Id="rId4" Type="http://schemas.openxmlformats.org/officeDocument/2006/relationships/image" Target="../media/image1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hyperlink" Target="https://docs.python.org/3/tutorial/datastructures.html" TargetMode="External"/><Relationship Id="rId4" Type="http://schemas.openxmlformats.org/officeDocument/2006/relationships/image" Target="../media/image21.gi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20.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nvSpPr>
        <p:spPr>
          <a:xfrm>
            <a:off x="1996925" y="1852802"/>
            <a:ext cx="8650627" cy="144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32C4A"/>
                </a:solidFill>
                <a:latin typeface="Arial"/>
                <a:ea typeface="Arial"/>
                <a:cs typeface="Arial"/>
                <a:sym typeface="Arial"/>
              </a:rPr>
              <a:t>Introductory Programming and Problem-Solving Skills</a:t>
            </a:r>
            <a:endParaRPr b="0" i="0" sz="4400" u="none" cap="none" strike="noStrike">
              <a:solidFill>
                <a:schemeClr val="dk1"/>
              </a:solidFill>
              <a:latin typeface="Arial"/>
              <a:ea typeface="Arial"/>
              <a:cs typeface="Arial"/>
              <a:sym typeface="Arial"/>
            </a:endParaRPr>
          </a:p>
        </p:txBody>
      </p:sp>
      <p:sp>
        <p:nvSpPr>
          <p:cNvPr id="93" name="Google Shape;93;p1"/>
          <p:cNvSpPr txBox="1"/>
          <p:nvPr/>
        </p:nvSpPr>
        <p:spPr>
          <a:xfrm>
            <a:off x="5217408" y="4964730"/>
            <a:ext cx="1908000" cy="4308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132C4A"/>
                </a:solidFill>
                <a:latin typeface="Arial"/>
                <a:ea typeface="Arial"/>
                <a:cs typeface="Arial"/>
                <a:sym typeface="Arial"/>
              </a:rPr>
              <a:t>Week - 5</a:t>
            </a:r>
            <a:endParaRPr b="0" i="0" sz="2200" u="none" cap="none" strike="noStrike">
              <a:solidFill>
                <a:srgbClr val="000000"/>
              </a:solidFill>
              <a:latin typeface="Arial"/>
              <a:ea typeface="Arial"/>
              <a:cs typeface="Arial"/>
              <a:sym typeface="Arial"/>
            </a:endParaRPr>
          </a:p>
        </p:txBody>
      </p:sp>
      <p:sp>
        <p:nvSpPr>
          <p:cNvPr id="94" name="Google Shape;94;p1"/>
          <p:cNvSpPr txBox="1"/>
          <p:nvPr/>
        </p:nvSpPr>
        <p:spPr>
          <a:xfrm>
            <a:off x="3940367" y="6080572"/>
            <a:ext cx="431126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132C4A"/>
                </a:solidFill>
                <a:latin typeface="Arial"/>
                <a:ea typeface="Arial"/>
                <a:cs typeface="Arial"/>
                <a:sym typeface="Arial"/>
              </a:rPr>
              <a:t>Basanta Singh</a:t>
            </a:r>
            <a:endParaRPr b="0" i="0" sz="1400" u="none" cap="none" strike="noStrike">
              <a:solidFill>
                <a:srgbClr val="000000"/>
              </a:solidFill>
              <a:latin typeface="Arial"/>
              <a:ea typeface="Arial"/>
              <a:cs typeface="Arial"/>
              <a:sym typeface="Arial"/>
            </a:endParaRPr>
          </a:p>
        </p:txBody>
      </p:sp>
      <p:sp>
        <p:nvSpPr>
          <p:cNvPr id="95" name="Google Shape;95;p1"/>
          <p:cNvSpPr txBox="1"/>
          <p:nvPr/>
        </p:nvSpPr>
        <p:spPr>
          <a:xfrm>
            <a:off x="4015776" y="3695000"/>
            <a:ext cx="4311265" cy="58473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B050"/>
                </a:solidFill>
                <a:latin typeface="Arial"/>
                <a:ea typeface="Arial"/>
                <a:cs typeface="Arial"/>
                <a:sym typeface="Arial"/>
              </a:rPr>
              <a:t>Data Structures</a:t>
            </a:r>
            <a:endParaRPr b="0" i="0" sz="3200" u="none" cap="none" strike="noStrike">
              <a:solidFill>
                <a:srgbClr val="00B05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txBox="1"/>
          <p:nvPr>
            <p:ph idx="1" type="subTitle"/>
          </p:nvPr>
        </p:nvSpPr>
        <p:spPr>
          <a:xfrm>
            <a:off x="3884229" y="308259"/>
            <a:ext cx="6688187"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191919"/>
              </a:buClr>
              <a:buSzPts val="4800"/>
              <a:buNone/>
            </a:pPr>
            <a:r>
              <a:rPr b="0" i="0" lang="en-US" sz="4800">
                <a:solidFill>
                  <a:srgbClr val="191919"/>
                </a:solidFill>
                <a:latin typeface="Arial"/>
                <a:ea typeface="Arial"/>
                <a:cs typeface="Arial"/>
                <a:sym typeface="Arial"/>
              </a:rPr>
              <a:t>Let’s Recap</a:t>
            </a:r>
            <a:endParaRPr/>
          </a:p>
        </p:txBody>
      </p:sp>
      <p:graphicFrame>
        <p:nvGraphicFramePr>
          <p:cNvPr id="102" name="Google Shape;102;p2"/>
          <p:cNvGraphicFramePr/>
          <p:nvPr/>
        </p:nvGraphicFramePr>
        <p:xfrm>
          <a:off x="-8792" y="8792"/>
          <a:ext cx="3000000" cy="3000000"/>
        </p:xfrm>
        <a:graphic>
          <a:graphicData uri="http://schemas.openxmlformats.org/drawingml/2006/table">
            <a:tbl>
              <a:tblPr>
                <a:gradFill>
                  <a:gsLst>
                    <a:gs pos="0">
                      <a:srgbClr val="D1D1D1"/>
                    </a:gs>
                    <a:gs pos="50000">
                      <a:srgbClr val="C7C7C7"/>
                    </a:gs>
                    <a:gs pos="100000">
                      <a:srgbClr val="C0C0C0"/>
                    </a:gs>
                  </a:gsLst>
                  <a:lin ang="5400000" scaled="0"/>
                </a:grad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US" sz="1600" u="sng" cap="none" strike="noStrike">
                          <a:solidFill>
                            <a:srgbClr val="00B050"/>
                          </a:solidFill>
                          <a:latin typeface="Arial"/>
                          <a:ea typeface="Arial"/>
                          <a:cs typeface="Arial"/>
                          <a:sym typeface="Arial"/>
                        </a:rPr>
                        <a:t>Let’s Recap</a:t>
                      </a:r>
                      <a:endParaRPr sz="1400" u="none" cap="none" strike="noStrike"/>
                    </a:p>
                  </a:txBody>
                  <a:tcPr marT="45725" marB="45725" marR="91450" marL="91450"/>
                </a:tc>
              </a:tr>
            </a:tbl>
          </a:graphicData>
        </a:graphic>
      </p:graphicFrame>
      <p:sp>
        <p:nvSpPr>
          <p:cNvPr id="103" name="Google Shape;103;p2"/>
          <p:cNvSpPr/>
          <p:nvPr/>
        </p:nvSpPr>
        <p:spPr>
          <a:xfrm>
            <a:off x="2765537" y="1525961"/>
            <a:ext cx="8925569" cy="4524315"/>
          </a:xfrm>
          <a:prstGeom prst="rect">
            <a:avLst/>
          </a:prstGeom>
          <a:noFill/>
          <a:ln>
            <a:noFill/>
          </a:ln>
        </p:spPr>
        <p:txBody>
          <a:bodyPr anchorCtr="0" anchor="t" bIns="45700" lIns="91425" spcFirstLastPara="1" rIns="91425" wrap="square" tIns="45700">
            <a:spAutoFit/>
          </a:bodyPr>
          <a:lstStyle/>
          <a:p>
            <a:pPr indent="-381000" lvl="0" marL="4572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Membership Operator</a:t>
            </a:r>
            <a:endParaRPr b="0" i="0" sz="1400" u="none" cap="none" strike="noStrike">
              <a:solidFill>
                <a:srgbClr val="000000"/>
              </a:solidFill>
              <a:latin typeface="Arial"/>
              <a:ea typeface="Arial"/>
              <a:cs typeface="Arial"/>
              <a:sym typeface="Arial"/>
            </a:endParaRPr>
          </a:p>
          <a:p>
            <a:pPr indent="-381000" lvl="0" marL="4572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Iterative Control </a:t>
            </a:r>
            <a:endParaRPr b="0" i="0" sz="1400" u="none" cap="none" strike="noStrike">
              <a:solidFill>
                <a:srgbClr val="000000"/>
              </a:solidFill>
              <a:latin typeface="Arial"/>
              <a:ea typeface="Arial"/>
              <a:cs typeface="Arial"/>
              <a:sym typeface="Arial"/>
            </a:endParaRPr>
          </a:p>
          <a:p>
            <a:pPr indent="-381000" lvl="0" marL="4572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Definite and Indefinite Loops</a:t>
            </a:r>
            <a:endParaRPr b="0" i="0" sz="1400" u="none" cap="none" strike="noStrike">
              <a:solidFill>
                <a:srgbClr val="000000"/>
              </a:solidFill>
              <a:latin typeface="Arial"/>
              <a:ea typeface="Arial"/>
              <a:cs typeface="Arial"/>
              <a:sym typeface="Arial"/>
            </a:endParaRPr>
          </a:p>
          <a:p>
            <a:pPr indent="-381000" lvl="0" marL="4572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While Loop</a:t>
            </a:r>
            <a:endParaRPr b="0" i="0" sz="1400" u="none" cap="none" strike="noStrike">
              <a:solidFill>
                <a:srgbClr val="000000"/>
              </a:solidFill>
              <a:latin typeface="Arial"/>
              <a:ea typeface="Arial"/>
              <a:cs typeface="Arial"/>
              <a:sym typeface="Arial"/>
            </a:endParaRPr>
          </a:p>
          <a:p>
            <a:pPr indent="-381000" lvl="0" marL="4572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For Loop</a:t>
            </a:r>
            <a:endParaRPr b="0" i="0" sz="1400" u="none" cap="none" strike="noStrike">
              <a:solidFill>
                <a:srgbClr val="000000"/>
              </a:solidFill>
              <a:latin typeface="Arial"/>
              <a:ea typeface="Arial"/>
              <a:cs typeface="Arial"/>
              <a:sym typeface="Arial"/>
            </a:endParaRPr>
          </a:p>
          <a:p>
            <a:pPr indent="-381000" lvl="0" marL="4572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Break and Continue</a:t>
            </a:r>
            <a:endParaRPr b="0" i="0" sz="1400" u="none" cap="none" strike="noStrike">
              <a:solidFill>
                <a:srgbClr val="000000"/>
              </a:solidFill>
              <a:latin typeface="Arial"/>
              <a:ea typeface="Arial"/>
              <a:cs typeface="Arial"/>
              <a:sym typeface="Arial"/>
            </a:endParaRPr>
          </a:p>
          <a:p>
            <a:pPr indent="-381000" lvl="0" marL="4572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Range Function </a:t>
            </a:r>
            <a:endParaRPr b="0" i="0" sz="1400" u="none" cap="none" strike="noStrike">
              <a:solidFill>
                <a:srgbClr val="000000"/>
              </a:solidFill>
              <a:latin typeface="Arial"/>
              <a:ea typeface="Arial"/>
              <a:cs typeface="Arial"/>
              <a:sym typeface="Arial"/>
            </a:endParaRPr>
          </a:p>
        </p:txBody>
      </p:sp>
      <p:cxnSp>
        <p:nvCxnSpPr>
          <p:cNvPr id="104" name="Google Shape;104;p2"/>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ph idx="1" type="subTitle"/>
          </p:nvPr>
        </p:nvSpPr>
        <p:spPr>
          <a:xfrm>
            <a:off x="3724103" y="308259"/>
            <a:ext cx="6848314"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None/>
            </a:pPr>
            <a:r>
              <a:rPr lang="en-US" sz="6000"/>
              <a:t>Something From Past</a:t>
            </a:r>
            <a:endParaRPr sz="4800">
              <a:solidFill>
                <a:srgbClr val="191919"/>
              </a:solidFill>
              <a:latin typeface="Arial"/>
              <a:ea typeface="Arial"/>
              <a:cs typeface="Arial"/>
              <a:sym typeface="Arial"/>
            </a:endParaRPr>
          </a:p>
        </p:txBody>
      </p:sp>
      <p:graphicFrame>
        <p:nvGraphicFramePr>
          <p:cNvPr id="110" name="Google Shape;110;p3"/>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chemeClr val="accent6"/>
                          </a:solidFill>
                          <a:latin typeface="Arial"/>
                          <a:ea typeface="Arial"/>
                          <a:cs typeface="Arial"/>
                          <a:sym typeface="Arial"/>
                        </a:rPr>
                        <a:t>Multiple Values</a:t>
                      </a:r>
                      <a:endParaRPr b="1" sz="1600" u="none" cap="none" strike="noStrike">
                        <a:solidFill>
                          <a:schemeClr val="accent6"/>
                        </a:solidFill>
                        <a:latin typeface="Arial"/>
                        <a:ea typeface="Arial"/>
                        <a:cs typeface="Arial"/>
                        <a:sym typeface="Arial"/>
                      </a:endParaRPr>
                    </a:p>
                  </a:txBody>
                  <a:tcPr marT="45725" marB="45725" marR="91450" marL="91450"/>
                </a:tc>
              </a:tr>
            </a:tbl>
          </a:graphicData>
        </a:graphic>
      </p:graphicFrame>
      <p:sp>
        <p:nvSpPr>
          <p:cNvPr id="111" name="Google Shape;111;p3"/>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112" name="Google Shape;112;p3"/>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113" name="Google Shape;113;p3"/>
          <p:cNvSpPr/>
          <p:nvPr/>
        </p:nvSpPr>
        <p:spPr>
          <a:xfrm>
            <a:off x="2656709" y="1341858"/>
            <a:ext cx="3622915" cy="584775"/>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Arial"/>
                <a:ea typeface="Arial"/>
                <a:cs typeface="Arial"/>
                <a:sym typeface="Arial"/>
              </a:rPr>
              <a:t>Python Variables:</a:t>
            </a:r>
            <a:endParaRPr b="1" i="0" sz="6000" u="none" cap="none" strike="noStrike">
              <a:solidFill>
                <a:schemeClr val="dk1"/>
              </a:solidFill>
              <a:latin typeface="Arial"/>
              <a:ea typeface="Arial"/>
              <a:cs typeface="Arial"/>
              <a:sym typeface="Arial"/>
            </a:endParaRPr>
          </a:p>
        </p:txBody>
      </p:sp>
      <p:sp>
        <p:nvSpPr>
          <p:cNvPr id="114" name="Google Shape;114;p3"/>
          <p:cNvSpPr/>
          <p:nvPr/>
        </p:nvSpPr>
        <p:spPr>
          <a:xfrm>
            <a:off x="2656709" y="2015596"/>
            <a:ext cx="9329350" cy="830997"/>
          </a:xfrm>
          <a:prstGeom prst="rect">
            <a:avLst/>
          </a:prstGeom>
          <a:noFill/>
          <a:ln>
            <a:noFill/>
          </a:ln>
        </p:spPr>
        <p:txBody>
          <a:bodyPr anchorCtr="0" anchor="ctr"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Most of the computer program </a:t>
            </a:r>
            <a:r>
              <a:rPr b="0" i="0" lang="en-US" sz="2400" u="none" cap="none" strike="noStrike">
                <a:solidFill>
                  <a:srgbClr val="D4650A"/>
                </a:solidFill>
                <a:latin typeface="Arial"/>
                <a:ea typeface="Arial"/>
                <a:cs typeface="Arial"/>
                <a:sym typeface="Arial"/>
              </a:rPr>
              <a:t>holds temporary </a:t>
            </a:r>
            <a:r>
              <a:rPr b="0" i="0" lang="en-US" sz="2400" u="none" cap="none" strike="noStrike">
                <a:solidFill>
                  <a:schemeClr val="dk1"/>
                </a:solidFill>
                <a:latin typeface="Arial"/>
                <a:ea typeface="Arial"/>
                <a:cs typeface="Arial"/>
                <a:sym typeface="Arial"/>
              </a:rPr>
              <a:t>values in named storage locations</a:t>
            </a:r>
            <a:endParaRPr b="0" i="0" sz="4800" u="none" cap="none" strike="noStrike">
              <a:solidFill>
                <a:schemeClr val="dk1"/>
              </a:solidFill>
              <a:latin typeface="Arial"/>
              <a:ea typeface="Arial"/>
              <a:cs typeface="Arial"/>
              <a:sym typeface="Arial"/>
            </a:endParaRPr>
          </a:p>
        </p:txBody>
      </p:sp>
      <p:sp>
        <p:nvSpPr>
          <p:cNvPr id="115" name="Google Shape;115;p3"/>
          <p:cNvSpPr/>
          <p:nvPr/>
        </p:nvSpPr>
        <p:spPr>
          <a:xfrm>
            <a:off x="2656709" y="3006553"/>
            <a:ext cx="9329350" cy="461665"/>
          </a:xfrm>
          <a:prstGeom prst="rect">
            <a:avLst/>
          </a:prstGeom>
          <a:noFill/>
          <a:ln>
            <a:noFill/>
          </a:ln>
        </p:spPr>
        <p:txBody>
          <a:bodyPr anchorCtr="0" anchor="ctr"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Programmers name them for easy access and reusability</a:t>
            </a:r>
            <a:endParaRPr b="0" i="0" sz="4800" u="none" cap="none" strike="noStrike">
              <a:solidFill>
                <a:schemeClr val="dk1"/>
              </a:solidFill>
              <a:latin typeface="Arial"/>
              <a:ea typeface="Arial"/>
              <a:cs typeface="Arial"/>
              <a:sym typeface="Arial"/>
            </a:endParaRPr>
          </a:p>
        </p:txBody>
      </p:sp>
      <p:sp>
        <p:nvSpPr>
          <p:cNvPr id="116" name="Google Shape;116;p3"/>
          <p:cNvSpPr/>
          <p:nvPr/>
        </p:nvSpPr>
        <p:spPr>
          <a:xfrm>
            <a:off x="2771934" y="3676131"/>
            <a:ext cx="9214125" cy="584775"/>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1" i="0" lang="en-US" sz="3200" u="none" cap="none" strike="noStrike">
                <a:solidFill>
                  <a:srgbClr val="FF0000"/>
                </a:solidFill>
                <a:latin typeface="Arial"/>
                <a:ea typeface="Arial"/>
                <a:cs typeface="Arial"/>
                <a:sym typeface="Arial"/>
              </a:rPr>
              <a:t>But What if We Want To Store Multiple values?</a:t>
            </a:r>
            <a:endParaRPr b="1" i="0" sz="6000" u="none" cap="none" strike="noStrike">
              <a:solidFill>
                <a:srgbClr val="FF0000"/>
              </a:solidFill>
              <a:latin typeface="Arial"/>
              <a:ea typeface="Arial"/>
              <a:cs typeface="Arial"/>
              <a:sym typeface="Arial"/>
            </a:endParaRPr>
          </a:p>
        </p:txBody>
      </p:sp>
      <p:sp>
        <p:nvSpPr>
          <p:cNvPr id="117" name="Google Shape;117;p3"/>
          <p:cNvSpPr/>
          <p:nvPr/>
        </p:nvSpPr>
        <p:spPr>
          <a:xfrm>
            <a:off x="2771934" y="4477132"/>
            <a:ext cx="9329350" cy="1569660"/>
          </a:xfrm>
          <a:prstGeom prst="rect">
            <a:avLst/>
          </a:prstGeom>
          <a:noFill/>
          <a:ln>
            <a:noFill/>
          </a:ln>
        </p:spPr>
        <p:txBody>
          <a:bodyPr anchorCtr="0" anchor="ctr"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 order to store multiple items in a single variable there are </a:t>
            </a:r>
            <a:r>
              <a:rPr b="1" i="0" lang="en-US" sz="2400" u="none" cap="none" strike="noStrike">
                <a:solidFill>
                  <a:srgbClr val="D4650A"/>
                </a:solidFill>
                <a:latin typeface="Arial"/>
                <a:ea typeface="Arial"/>
                <a:cs typeface="Arial"/>
                <a:sym typeface="Arial"/>
              </a:rPr>
              <a:t>4 built-in data types </a:t>
            </a:r>
            <a:r>
              <a:rPr b="0" i="0" lang="en-US" sz="2400" u="none" cap="none" strike="noStrike">
                <a:solidFill>
                  <a:schemeClr val="dk1"/>
                </a:solidFill>
                <a:latin typeface="Arial"/>
                <a:ea typeface="Arial"/>
                <a:cs typeface="Arial"/>
                <a:sym typeface="Arial"/>
              </a:rPr>
              <a:t>in python. </a:t>
            </a:r>
            <a:r>
              <a:rPr b="1" i="0" lang="en-US" sz="2400" u="none" cap="none" strike="noStrike">
                <a:solidFill>
                  <a:srgbClr val="00B050"/>
                </a:solidFill>
                <a:latin typeface="Arial"/>
                <a:ea typeface="Arial"/>
                <a:cs typeface="Arial"/>
                <a:sym typeface="Arial"/>
              </a:rPr>
              <a:t>Lists, Tuple, Dictionary and Set</a:t>
            </a:r>
            <a:r>
              <a:rPr b="0" i="0" lang="en-US" sz="2400" u="none" cap="none" strike="noStrike">
                <a:solidFill>
                  <a:schemeClr val="dk1"/>
                </a:solidFill>
                <a:latin typeface="Arial"/>
                <a:ea typeface="Arial"/>
                <a:cs typeface="Arial"/>
                <a:sym typeface="Arial"/>
              </a:rPr>
              <a:t>. All of the data-types do have their own usage and different quality.</a:t>
            </a:r>
            <a:endParaRPr b="0" i="0" sz="4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idx="1" type="subTitle"/>
          </p:nvPr>
        </p:nvSpPr>
        <p:spPr>
          <a:xfrm>
            <a:off x="3724103" y="308259"/>
            <a:ext cx="6848314"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None/>
            </a:pPr>
            <a:r>
              <a:rPr lang="en-US" sz="6000"/>
              <a:t>Learning Objectives</a:t>
            </a:r>
            <a:endParaRPr sz="4800">
              <a:solidFill>
                <a:srgbClr val="191919"/>
              </a:solidFill>
              <a:latin typeface="Arial"/>
              <a:ea typeface="Arial"/>
              <a:cs typeface="Arial"/>
              <a:sym typeface="Arial"/>
            </a:endParaRPr>
          </a:p>
        </p:txBody>
      </p:sp>
      <p:graphicFrame>
        <p:nvGraphicFramePr>
          <p:cNvPr id="123" name="Google Shape;123;p4"/>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chemeClr val="accent6"/>
                          </a:solidFill>
                          <a:latin typeface="Arial"/>
                          <a:ea typeface="Arial"/>
                          <a:cs typeface="Arial"/>
                          <a:sym typeface="Arial"/>
                        </a:rPr>
                        <a:t>Learning Outcomes</a:t>
                      </a:r>
                      <a:endParaRPr b="1" sz="1600" u="none" cap="none" strike="noStrike">
                        <a:solidFill>
                          <a:schemeClr val="accent6"/>
                        </a:solidFill>
                        <a:latin typeface="Arial"/>
                        <a:ea typeface="Arial"/>
                        <a:cs typeface="Arial"/>
                        <a:sym typeface="Arial"/>
                      </a:endParaRPr>
                    </a:p>
                  </a:txBody>
                  <a:tcPr marT="45725" marB="45725" marR="91450" marL="91450"/>
                </a:tc>
              </a:tr>
            </a:tbl>
          </a:graphicData>
        </a:graphic>
      </p:graphicFrame>
      <p:sp>
        <p:nvSpPr>
          <p:cNvPr id="124" name="Google Shape;124;p4"/>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125" name="Google Shape;125;p4"/>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126" name="Google Shape;126;p4"/>
          <p:cNvSpPr/>
          <p:nvPr/>
        </p:nvSpPr>
        <p:spPr>
          <a:xfrm>
            <a:off x="2826328" y="1351394"/>
            <a:ext cx="9064168" cy="5078313"/>
          </a:xfrm>
          <a:prstGeom prst="rect">
            <a:avLst/>
          </a:prstGeom>
          <a:noFill/>
          <a:ln>
            <a:noFill/>
          </a:ln>
        </p:spPr>
        <p:txBody>
          <a:bodyPr anchorCtr="0" anchor="ctr"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To understand the </a:t>
            </a:r>
            <a:r>
              <a:rPr b="1" i="1" lang="en-US" sz="2400" u="none" cap="none" strike="noStrike">
                <a:solidFill>
                  <a:srgbClr val="D4650A"/>
                </a:solidFill>
                <a:latin typeface="Arial"/>
                <a:ea typeface="Arial"/>
                <a:cs typeface="Arial"/>
                <a:sym typeface="Arial"/>
              </a:rPr>
              <a:t>concept of lists </a:t>
            </a:r>
            <a:r>
              <a:rPr b="0" i="0" lang="en-US" sz="2400" u="none" cap="none" strike="noStrike">
                <a:solidFill>
                  <a:schemeClr val="dk1"/>
                </a:solidFill>
                <a:latin typeface="Arial"/>
                <a:ea typeface="Arial"/>
                <a:cs typeface="Arial"/>
                <a:sym typeface="Arial"/>
              </a:rPr>
              <a:t>and </a:t>
            </a:r>
            <a:r>
              <a:rPr b="1" i="1" lang="en-US" sz="2400" u="none" cap="none" strike="noStrike">
                <a:solidFill>
                  <a:srgbClr val="D4650A"/>
                </a:solidFill>
                <a:latin typeface="Arial"/>
                <a:ea typeface="Arial"/>
                <a:cs typeface="Arial"/>
                <a:sym typeface="Arial"/>
              </a:rPr>
              <a:t>their application </a:t>
            </a:r>
            <a:r>
              <a:rPr b="0" i="0" lang="en-US" sz="2400" u="none" cap="none" strike="noStrike">
                <a:solidFill>
                  <a:schemeClr val="dk1"/>
                </a:solidFill>
                <a:latin typeface="Arial"/>
                <a:ea typeface="Arial"/>
                <a:cs typeface="Arial"/>
                <a:sym typeface="Arial"/>
              </a:rPr>
              <a:t>in Python. </a:t>
            </a:r>
            <a:endParaRPr b="0" i="0" sz="2400" u="none" cap="none" strike="noStrike">
              <a:solidFill>
                <a:schemeClr val="dk1"/>
              </a:solidFill>
              <a:latin typeface="Arial"/>
              <a:ea typeface="Arial"/>
              <a:cs typeface="Arial"/>
              <a:sym typeface="Arial"/>
            </a:endParaRPr>
          </a:p>
          <a:p>
            <a:pPr indent="-342900" lvl="0" marL="3429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To understand how </a:t>
            </a:r>
            <a:r>
              <a:rPr b="1" i="1" lang="en-US" sz="2400" u="none" cap="none" strike="noStrike">
                <a:solidFill>
                  <a:srgbClr val="D4650A"/>
                </a:solidFill>
                <a:latin typeface="Arial"/>
                <a:ea typeface="Arial"/>
                <a:cs typeface="Arial"/>
                <a:sym typeface="Arial"/>
              </a:rPr>
              <a:t>for and while loops </a:t>
            </a:r>
            <a:r>
              <a:rPr b="0" i="0" lang="en-US" sz="2400" u="none" cap="none" strike="noStrike">
                <a:solidFill>
                  <a:schemeClr val="dk1"/>
                </a:solidFill>
                <a:latin typeface="Arial"/>
                <a:ea typeface="Arial"/>
                <a:cs typeface="Arial"/>
                <a:sym typeface="Arial"/>
              </a:rPr>
              <a:t>can be used for processing lists</a:t>
            </a:r>
            <a:endParaRPr b="0" i="0" sz="2400" u="none" cap="none" strike="noStrike">
              <a:solidFill>
                <a:schemeClr val="dk1"/>
              </a:solidFill>
              <a:latin typeface="Arial"/>
              <a:ea typeface="Arial"/>
              <a:cs typeface="Arial"/>
              <a:sym typeface="Arial"/>
            </a:endParaRPr>
          </a:p>
          <a:p>
            <a:pPr indent="-342900" lvl="0" marL="3429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To understand some of the ways in which lists can be </a:t>
            </a:r>
            <a:r>
              <a:rPr b="1" i="1" lang="en-US" sz="2400" u="none" cap="none" strike="noStrike">
                <a:solidFill>
                  <a:srgbClr val="D4650A"/>
                </a:solidFill>
                <a:latin typeface="Arial"/>
                <a:ea typeface="Arial"/>
                <a:cs typeface="Arial"/>
                <a:sym typeface="Arial"/>
              </a:rPr>
              <a:t>manipulated</a:t>
            </a:r>
            <a:r>
              <a:rPr b="0" i="0" lang="en-US" sz="2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342900" lvl="0" marL="3429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To understand the concept of an </a:t>
            </a:r>
            <a:r>
              <a:rPr b="1" i="1" lang="en-US" sz="2400" u="none" cap="none" strike="noStrike">
                <a:solidFill>
                  <a:srgbClr val="D4650A"/>
                </a:solidFill>
                <a:latin typeface="Arial"/>
                <a:ea typeface="Arial"/>
                <a:cs typeface="Arial"/>
                <a:sym typeface="Arial"/>
              </a:rPr>
              <a:t>associative data structure</a:t>
            </a:r>
            <a:endParaRPr b="0" i="0" sz="1400" u="none" cap="none" strike="noStrike">
              <a:solidFill>
                <a:srgbClr val="000000"/>
              </a:solidFill>
              <a:latin typeface="Arial"/>
              <a:ea typeface="Arial"/>
              <a:cs typeface="Arial"/>
              <a:sym typeface="Arial"/>
            </a:endParaRPr>
          </a:p>
          <a:p>
            <a:pPr indent="-342900" lvl="0" marL="3429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Be able to </a:t>
            </a:r>
            <a:r>
              <a:rPr b="1" i="1" lang="en-US" sz="2400" u="none" cap="none" strike="noStrike">
                <a:solidFill>
                  <a:srgbClr val="D4650A"/>
                </a:solidFill>
                <a:latin typeface="Arial"/>
                <a:ea typeface="Arial"/>
                <a:cs typeface="Arial"/>
                <a:sym typeface="Arial"/>
              </a:rPr>
              <a:t>define</a:t>
            </a:r>
            <a:r>
              <a:rPr b="0" i="0" lang="en-US" sz="2400" u="none" cap="none" strike="noStrike">
                <a:solidFill>
                  <a:srgbClr val="D4650A"/>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and use </a:t>
            </a:r>
            <a:r>
              <a:rPr b="1" i="1" lang="en-US" sz="2400" u="none" cap="none" strike="noStrike">
                <a:solidFill>
                  <a:srgbClr val="D4650A"/>
                </a:solidFill>
                <a:latin typeface="Arial"/>
                <a:ea typeface="Arial"/>
                <a:cs typeface="Arial"/>
                <a:sym typeface="Arial"/>
              </a:rPr>
              <a:t>dictionaries </a:t>
            </a:r>
            <a:r>
              <a:rPr b="0" i="0" lang="en-US" sz="2400" u="none" cap="none" strike="noStrike">
                <a:solidFill>
                  <a:schemeClr val="dk1"/>
                </a:solidFill>
                <a:latin typeface="Arial"/>
                <a:ea typeface="Arial"/>
                <a:cs typeface="Arial"/>
                <a:sym typeface="Arial"/>
              </a:rPr>
              <a:t>in Python</a:t>
            </a:r>
            <a:endParaRPr b="0" i="0" sz="2400" u="none" cap="none" strike="noStrike">
              <a:solidFill>
                <a:schemeClr val="dk1"/>
              </a:solidFill>
              <a:latin typeface="Arial"/>
              <a:ea typeface="Arial"/>
              <a:cs typeface="Arial"/>
              <a:sym typeface="Arial"/>
            </a:endParaRPr>
          </a:p>
          <a:p>
            <a:pPr indent="-342900" lvl="0" marL="3429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Be able to </a:t>
            </a:r>
            <a:r>
              <a:rPr b="1" i="1" lang="en-US" sz="2400" u="none" cap="none" strike="noStrike">
                <a:solidFill>
                  <a:srgbClr val="D4650A"/>
                </a:solidFill>
                <a:latin typeface="Arial"/>
                <a:ea typeface="Arial"/>
                <a:cs typeface="Arial"/>
                <a:sym typeface="Arial"/>
              </a:rPr>
              <a:t>write</a:t>
            </a:r>
            <a:r>
              <a:rPr b="0" i="0" lang="en-US" sz="2400" u="none" cap="none" strike="noStrike">
                <a:solidFill>
                  <a:schemeClr val="dk1"/>
                </a:solidFill>
                <a:latin typeface="Arial"/>
                <a:ea typeface="Arial"/>
                <a:cs typeface="Arial"/>
                <a:sym typeface="Arial"/>
              </a:rPr>
              <a:t> Python programs using </a:t>
            </a:r>
            <a:r>
              <a:rPr b="1" i="1" lang="en-US" sz="2400" u="none" cap="none" strike="noStrike">
                <a:solidFill>
                  <a:srgbClr val="D4650A"/>
                </a:solidFill>
                <a:latin typeface="Arial"/>
                <a:ea typeface="Arial"/>
                <a:cs typeface="Arial"/>
                <a:sym typeface="Arial"/>
              </a:rPr>
              <a:t>dictionaries</a:t>
            </a:r>
            <a:endParaRPr b="1" i="1" sz="2400" u="none" cap="none" strike="noStrike">
              <a:solidFill>
                <a:srgbClr val="D4650A"/>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txBox="1"/>
          <p:nvPr/>
        </p:nvSpPr>
        <p:spPr>
          <a:xfrm>
            <a:off x="1814047" y="2726417"/>
            <a:ext cx="8650627"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32C4A"/>
                </a:solidFill>
                <a:latin typeface="Arial"/>
                <a:ea typeface="Arial"/>
                <a:cs typeface="Arial"/>
                <a:sym typeface="Arial"/>
              </a:rPr>
              <a:t>Linear Data Structures</a:t>
            </a:r>
            <a:endParaRPr b="0" i="0" sz="4400" u="none" cap="none" strike="noStrike">
              <a:solidFill>
                <a:schemeClr val="dk1"/>
              </a:solidFill>
              <a:latin typeface="Arial"/>
              <a:ea typeface="Arial"/>
              <a:cs typeface="Arial"/>
              <a:sym typeface="Arial"/>
            </a:endParaRPr>
          </a:p>
        </p:txBody>
      </p:sp>
      <p:pic>
        <p:nvPicPr>
          <p:cNvPr descr="Most Affordable UK University Degree in Nepal | UK Degree in Kathmandu" id="132" name="Google Shape;132;p5"/>
          <p:cNvPicPr preferRelativeResize="0"/>
          <p:nvPr/>
        </p:nvPicPr>
        <p:blipFill rotWithShape="1">
          <a:blip r:embed="rId3">
            <a:alphaModFix amt="10000"/>
          </a:blip>
          <a:srcRect b="0" l="0" r="0" t="0"/>
          <a:stretch/>
        </p:blipFill>
        <p:spPr>
          <a:xfrm>
            <a:off x="10647554" y="142004"/>
            <a:ext cx="1428750" cy="800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txBox="1"/>
          <p:nvPr>
            <p:ph idx="1" type="subTitle"/>
          </p:nvPr>
        </p:nvSpPr>
        <p:spPr>
          <a:xfrm>
            <a:off x="3884229" y="308259"/>
            <a:ext cx="6688187"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None/>
            </a:pPr>
            <a:r>
              <a:rPr lang="en-US" sz="6000"/>
              <a:t>Introduction</a:t>
            </a:r>
            <a:endParaRPr sz="4800">
              <a:solidFill>
                <a:srgbClr val="191919"/>
              </a:solidFill>
              <a:latin typeface="Arial"/>
              <a:ea typeface="Arial"/>
              <a:cs typeface="Arial"/>
              <a:sym typeface="Arial"/>
            </a:endParaRPr>
          </a:p>
        </p:txBody>
      </p:sp>
      <p:graphicFrame>
        <p:nvGraphicFramePr>
          <p:cNvPr id="138" name="Google Shape;138;p7"/>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US" sz="1600" u="none" cap="none" strike="noStrike">
                          <a:solidFill>
                            <a:srgbClr val="00B050"/>
                          </a:solidFill>
                          <a:latin typeface="Arial"/>
                          <a:ea typeface="Arial"/>
                          <a:cs typeface="Arial"/>
                          <a:sym typeface="Arial"/>
                        </a:rPr>
                        <a:t>Introduction</a:t>
                      </a:r>
                      <a:endParaRPr sz="1400" u="none" cap="none" strike="noStrike"/>
                    </a:p>
                  </a:txBody>
                  <a:tcPr marT="45725" marB="45725" marR="91450" marL="91450"/>
                </a:tc>
              </a:tr>
            </a:tbl>
          </a:graphicData>
        </a:graphic>
      </p:graphicFrame>
      <p:sp>
        <p:nvSpPr>
          <p:cNvPr id="139" name="Google Shape;139;p7"/>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140" name="Google Shape;140;p7"/>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141" name="Google Shape;141;p7"/>
          <p:cNvSpPr/>
          <p:nvPr/>
        </p:nvSpPr>
        <p:spPr>
          <a:xfrm>
            <a:off x="2715762" y="1452451"/>
            <a:ext cx="9025120" cy="193899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 way that </a:t>
            </a:r>
            <a:r>
              <a:rPr b="1" i="0" lang="en-US" sz="2400" u="none" cap="none" strike="noStrike">
                <a:solidFill>
                  <a:srgbClr val="D4650A"/>
                </a:solidFill>
                <a:latin typeface="Arial"/>
                <a:ea typeface="Arial"/>
                <a:cs typeface="Arial"/>
                <a:sym typeface="Arial"/>
              </a:rPr>
              <a:t>data is organized </a:t>
            </a:r>
            <a:r>
              <a:rPr b="0" i="0" lang="en-US" sz="2400" u="none" cap="none" strike="noStrike">
                <a:solidFill>
                  <a:schemeClr val="dk1"/>
                </a:solidFill>
                <a:latin typeface="Arial"/>
                <a:ea typeface="Arial"/>
                <a:cs typeface="Arial"/>
                <a:sym typeface="Arial"/>
              </a:rPr>
              <a:t>has a </a:t>
            </a:r>
            <a:r>
              <a:rPr b="0" i="0" lang="en-US" sz="2400" u="none" cap="none" strike="noStrike">
                <a:solidFill>
                  <a:srgbClr val="D4650A"/>
                </a:solidFill>
                <a:latin typeface="Arial"/>
                <a:ea typeface="Arial"/>
                <a:cs typeface="Arial"/>
                <a:sym typeface="Arial"/>
              </a:rPr>
              <a:t>significant impact </a:t>
            </a:r>
            <a:r>
              <a:rPr b="0" i="0" lang="en-US" sz="2400" u="none" cap="none" strike="noStrike">
                <a:solidFill>
                  <a:schemeClr val="dk1"/>
                </a:solidFill>
                <a:latin typeface="Arial"/>
                <a:ea typeface="Arial"/>
                <a:cs typeface="Arial"/>
                <a:sym typeface="Arial"/>
              </a:rPr>
              <a:t>on how </a:t>
            </a:r>
            <a:r>
              <a:rPr b="1" i="0" lang="en-US" sz="2400" u="none" cap="none" strike="noStrike">
                <a:solidFill>
                  <a:srgbClr val="D4650A"/>
                </a:solidFill>
                <a:latin typeface="Arial"/>
                <a:ea typeface="Arial"/>
                <a:cs typeface="Arial"/>
                <a:sym typeface="Arial"/>
              </a:rPr>
              <a:t>effectively</a:t>
            </a:r>
            <a:r>
              <a:rPr b="0" i="0" lang="en-US" sz="2400" u="none" cap="none" strike="noStrike">
                <a:solidFill>
                  <a:schemeClr val="dk1"/>
                </a:solidFill>
                <a:latin typeface="Arial"/>
                <a:ea typeface="Arial"/>
                <a:cs typeface="Arial"/>
                <a:sym typeface="Arial"/>
              </a:rPr>
              <a:t> it can be used. One of the most obvious and useful ways to organize data is as list. </a:t>
            </a:r>
            <a:r>
              <a:rPr b="1" i="0" lang="en-US" sz="2400" u="none" cap="none" strike="noStrike">
                <a:solidFill>
                  <a:srgbClr val="00B0F0"/>
                </a:solidFill>
                <a:latin typeface="Arial"/>
                <a:ea typeface="Arial"/>
                <a:cs typeface="Arial"/>
                <a:sym typeface="Arial"/>
              </a:rPr>
              <a:t>We use list in our everyday lives – we make shopping lists, to-do lists, and mental checklists.</a:t>
            </a:r>
            <a:endParaRPr b="1" i="0" sz="2400" u="none" cap="none" strike="noStrike">
              <a:solidFill>
                <a:srgbClr val="00B0F0"/>
              </a:solidFill>
              <a:latin typeface="Arial"/>
              <a:ea typeface="Arial"/>
              <a:cs typeface="Arial"/>
              <a:sym typeface="Arial"/>
            </a:endParaRPr>
          </a:p>
        </p:txBody>
      </p:sp>
      <p:sp>
        <p:nvSpPr>
          <p:cNvPr id="142" name="Google Shape;142;p7"/>
          <p:cNvSpPr/>
          <p:nvPr/>
        </p:nvSpPr>
        <p:spPr>
          <a:xfrm>
            <a:off x="2715762" y="3494507"/>
            <a:ext cx="9025120" cy="156966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00B050"/>
              </a:buClr>
              <a:buSzPts val="2400"/>
              <a:buFont typeface="Arial"/>
              <a:buChar char="•"/>
            </a:pPr>
            <a:r>
              <a:rPr b="1" i="0" lang="en-US" sz="2400" u="none" cap="none" strike="noStrike">
                <a:solidFill>
                  <a:srgbClr val="00B050"/>
                </a:solidFill>
                <a:latin typeface="Arial"/>
                <a:ea typeface="Arial"/>
                <a:cs typeface="Arial"/>
                <a:sym typeface="Arial"/>
              </a:rPr>
              <a:t>Various forms of lists </a:t>
            </a:r>
            <a:r>
              <a:rPr b="0" i="0" lang="en-US" sz="2400" u="none" cap="none" strike="noStrike">
                <a:solidFill>
                  <a:schemeClr val="dk1"/>
                </a:solidFill>
                <a:latin typeface="Arial"/>
                <a:ea typeface="Arial"/>
                <a:cs typeface="Arial"/>
                <a:sym typeface="Arial"/>
              </a:rPr>
              <a:t>are provided by programming languages, different in the elements they can store (</a:t>
            </a:r>
            <a:r>
              <a:rPr b="0" i="0" lang="en-US" sz="2400" u="none" cap="none" strike="noStrike">
                <a:solidFill>
                  <a:srgbClr val="D4650A"/>
                </a:solidFill>
                <a:latin typeface="Arial"/>
                <a:ea typeface="Arial"/>
                <a:cs typeface="Arial"/>
                <a:sym typeface="Arial"/>
              </a:rPr>
              <a:t>mixed type?), </a:t>
            </a:r>
            <a:r>
              <a:rPr b="0" i="0" lang="en-US" sz="2400" u="none" cap="none" strike="noStrike">
                <a:solidFill>
                  <a:schemeClr val="dk1"/>
                </a:solidFill>
                <a:latin typeface="Arial"/>
                <a:ea typeface="Arial"/>
                <a:cs typeface="Arial"/>
                <a:sym typeface="Arial"/>
              </a:rPr>
              <a:t>their size (</a:t>
            </a:r>
            <a:r>
              <a:rPr b="0" i="0" lang="en-US" sz="2400" u="none" cap="none" strike="noStrike">
                <a:solidFill>
                  <a:srgbClr val="D4650A"/>
                </a:solidFill>
                <a:latin typeface="Arial"/>
                <a:ea typeface="Arial"/>
                <a:cs typeface="Arial"/>
                <a:sym typeface="Arial"/>
              </a:rPr>
              <a:t>variable size?</a:t>
            </a:r>
            <a:r>
              <a:rPr b="0" i="0" lang="en-US" sz="2400" u="none" cap="none" strike="noStrike">
                <a:solidFill>
                  <a:schemeClr val="dk1"/>
                </a:solidFill>
                <a:latin typeface="Arial"/>
                <a:ea typeface="Arial"/>
                <a:cs typeface="Arial"/>
                <a:sym typeface="Arial"/>
              </a:rPr>
              <a:t>), weather they can be altered (</a:t>
            </a:r>
            <a:r>
              <a:rPr b="0" i="0" lang="en-US" sz="2400" u="none" cap="none" strike="noStrike">
                <a:solidFill>
                  <a:srgbClr val="D4650A"/>
                </a:solidFill>
                <a:latin typeface="Arial"/>
                <a:ea typeface="Arial"/>
                <a:cs typeface="Arial"/>
                <a:sym typeface="Arial"/>
              </a:rPr>
              <a:t>mutable?</a:t>
            </a:r>
            <a:r>
              <a:rPr b="0" i="0" lang="en-US" sz="2400" u="none" cap="none" strike="noStrike">
                <a:solidFill>
                  <a:schemeClr val="dk1"/>
                </a:solidFill>
                <a:latin typeface="Arial"/>
                <a:ea typeface="Arial"/>
                <a:cs typeface="Arial"/>
                <a:sym typeface="Arial"/>
              </a:rPr>
              <a:t>), and the operation that can be performed.</a:t>
            </a:r>
            <a:endParaRPr b="0" i="0" sz="2400" u="none" cap="none" strike="noStrike">
              <a:solidFill>
                <a:schemeClr val="dk1"/>
              </a:solidFill>
              <a:latin typeface="Arial"/>
              <a:ea typeface="Arial"/>
              <a:cs typeface="Arial"/>
              <a:sym typeface="Arial"/>
            </a:endParaRPr>
          </a:p>
        </p:txBody>
      </p:sp>
      <p:sp>
        <p:nvSpPr>
          <p:cNvPr id="143" name="Google Shape;143;p7"/>
          <p:cNvSpPr/>
          <p:nvPr/>
        </p:nvSpPr>
        <p:spPr>
          <a:xfrm>
            <a:off x="2715762" y="5364211"/>
            <a:ext cx="9025120"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FF0000"/>
                </a:solidFill>
                <a:latin typeface="Arial"/>
                <a:ea typeface="Arial"/>
                <a:cs typeface="Arial"/>
                <a:sym typeface="Arial"/>
              </a:rPr>
              <a:t>In this lecture, we will look at the use of list and other sequences in Python.</a:t>
            </a:r>
            <a:endParaRPr b="0" i="0" sz="2400" u="none" cap="none" strike="noStrike">
              <a:solidFill>
                <a:srgbClr val="FF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7" name="Shape 147"/>
        <p:cNvGrpSpPr/>
        <p:nvPr/>
      </p:nvGrpSpPr>
      <p:grpSpPr>
        <a:xfrm>
          <a:off x="0" y="0"/>
          <a:ext cx="0" cy="0"/>
          <a:chOff x="0" y="0"/>
          <a:chExt cx="0" cy="0"/>
        </a:xfrm>
      </p:grpSpPr>
      <p:sp>
        <p:nvSpPr>
          <p:cNvPr id="148" name="Google Shape;148;p6"/>
          <p:cNvSpPr txBox="1"/>
          <p:nvPr/>
        </p:nvSpPr>
        <p:spPr>
          <a:xfrm>
            <a:off x="1814047" y="2726417"/>
            <a:ext cx="8650627"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32C4A"/>
                </a:solidFill>
                <a:latin typeface="Arial"/>
                <a:ea typeface="Arial"/>
                <a:cs typeface="Arial"/>
                <a:sym typeface="Arial"/>
              </a:rPr>
              <a:t>List</a:t>
            </a:r>
            <a:endParaRPr b="0" i="0" sz="4400" u="none" cap="none" strike="noStrike">
              <a:solidFill>
                <a:schemeClr val="dk1"/>
              </a:solidFill>
              <a:latin typeface="Arial"/>
              <a:ea typeface="Arial"/>
              <a:cs typeface="Arial"/>
              <a:sym typeface="Arial"/>
            </a:endParaRPr>
          </a:p>
        </p:txBody>
      </p:sp>
      <p:pic>
        <p:nvPicPr>
          <p:cNvPr descr="Most Affordable UK University Degree in Nepal | UK Degree in Kathmandu" id="149" name="Google Shape;149;p6"/>
          <p:cNvPicPr preferRelativeResize="0"/>
          <p:nvPr/>
        </p:nvPicPr>
        <p:blipFill rotWithShape="1">
          <a:blip r:embed="rId3">
            <a:alphaModFix amt="10000"/>
          </a:blip>
          <a:srcRect b="0" l="0" r="0" t="0"/>
          <a:stretch/>
        </p:blipFill>
        <p:spPr>
          <a:xfrm>
            <a:off x="10647554" y="142004"/>
            <a:ext cx="1428750" cy="800100"/>
          </a:xfrm>
          <a:prstGeom prst="rect">
            <a:avLst/>
          </a:prstGeom>
          <a:noFill/>
          <a:ln>
            <a:noFill/>
          </a:ln>
        </p:spPr>
      </p:pic>
      <p:grpSp>
        <p:nvGrpSpPr>
          <p:cNvPr id="150" name="Google Shape;150;p6"/>
          <p:cNvGrpSpPr/>
          <p:nvPr/>
        </p:nvGrpSpPr>
        <p:grpSpPr>
          <a:xfrm>
            <a:off x="222250" y="942104"/>
            <a:ext cx="11747500" cy="4525962"/>
            <a:chOff x="0" y="0"/>
            <a:chExt cx="11747500" cy="4525962"/>
          </a:xfrm>
        </p:grpSpPr>
        <p:sp>
          <p:nvSpPr>
            <p:cNvPr id="151" name="Google Shape;151;p6"/>
            <p:cNvSpPr/>
            <p:nvPr/>
          </p:nvSpPr>
          <p:spPr>
            <a:xfrm>
              <a:off x="0" y="0"/>
              <a:ext cx="11747500" cy="4525962"/>
            </a:xfrm>
            <a:prstGeom prst="rect">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txBox="1"/>
            <p:nvPr/>
          </p:nvSpPr>
          <p:spPr>
            <a:xfrm>
              <a:off x="0" y="0"/>
              <a:ext cx="11747500" cy="2444019"/>
            </a:xfrm>
            <a:prstGeom prst="rect">
              <a:avLst/>
            </a:prstGeom>
            <a:solidFill>
              <a:srgbClr val="A8D08C"/>
            </a:solidFill>
            <a:ln>
              <a:noFill/>
            </a:ln>
          </p:spPr>
          <p:txBody>
            <a:bodyPr anchorCtr="0" anchor="ctr" bIns="462275" lIns="462275" spcFirstLastPara="1" rIns="462275" wrap="square" tIns="462275">
              <a:noAutofit/>
            </a:bodyPr>
            <a:lstStyle/>
            <a:p>
              <a:pPr indent="0" lvl="0" marL="0" marR="0" rtl="0" algn="ctr">
                <a:lnSpc>
                  <a:spcPct val="90000"/>
                </a:lnSpc>
                <a:spcBef>
                  <a:spcPts val="0"/>
                </a:spcBef>
                <a:spcAft>
                  <a:spcPts val="0"/>
                </a:spcAft>
                <a:buClr>
                  <a:srgbClr val="000000"/>
                </a:buClr>
                <a:buSzPts val="6500"/>
                <a:buFont typeface="Arial"/>
                <a:buNone/>
              </a:pPr>
              <a:r>
                <a:rPr b="0" i="0" lang="en-US" sz="6500" u="none" cap="none" strike="noStrike">
                  <a:solidFill>
                    <a:schemeClr val="lt1"/>
                  </a:solidFill>
                  <a:latin typeface="Arial"/>
                  <a:ea typeface="Arial"/>
                  <a:cs typeface="Arial"/>
                  <a:sym typeface="Arial"/>
                </a:rPr>
                <a:t>Lists</a:t>
              </a:r>
              <a:endParaRPr b="0" i="0" sz="6500" u="none" cap="none" strike="noStrike">
                <a:solidFill>
                  <a:schemeClr val="lt1"/>
                </a:solidFill>
                <a:latin typeface="Arial"/>
                <a:ea typeface="Arial"/>
                <a:cs typeface="Arial"/>
                <a:sym typeface="Arial"/>
              </a:endParaRPr>
            </a:p>
          </p:txBody>
        </p:sp>
      </p:grpSp>
      <p:grpSp>
        <p:nvGrpSpPr>
          <p:cNvPr id="153" name="Google Shape;153;p6"/>
          <p:cNvGrpSpPr/>
          <p:nvPr/>
        </p:nvGrpSpPr>
        <p:grpSpPr>
          <a:xfrm>
            <a:off x="223684" y="3295604"/>
            <a:ext cx="2348926" cy="2081942"/>
            <a:chOff x="1434" y="2353500"/>
            <a:chExt cx="2348926" cy="2081942"/>
          </a:xfrm>
        </p:grpSpPr>
        <p:sp>
          <p:nvSpPr>
            <p:cNvPr id="154" name="Google Shape;154;p6"/>
            <p:cNvSpPr/>
            <p:nvPr/>
          </p:nvSpPr>
          <p:spPr>
            <a:xfrm>
              <a:off x="1434" y="2353500"/>
              <a:ext cx="2348926" cy="2081942"/>
            </a:xfrm>
            <a:prstGeom prst="rect">
              <a:avLst/>
            </a:prstGeom>
            <a:solidFill>
              <a:srgbClr val="CFDEEF">
                <a:alpha val="89803"/>
              </a:srgbClr>
            </a:solidFill>
            <a:ln cap="flat" cmpd="sng" w="25400">
              <a:solidFill>
                <a:srgbClr val="CFDEEF">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txBox="1"/>
            <p:nvPr/>
          </p:nvSpPr>
          <p:spPr>
            <a:xfrm>
              <a:off x="1434" y="2353500"/>
              <a:ext cx="2348926" cy="2081942"/>
            </a:xfrm>
            <a:prstGeom prst="rect">
              <a:avLst/>
            </a:prstGeom>
            <a:solidFill>
              <a:schemeClr val="lt1"/>
            </a:solidFill>
            <a:ln>
              <a:noFill/>
            </a:ln>
          </p:spPr>
          <p:txBody>
            <a:bodyPr anchorCtr="0" anchor="ctr" bIns="40625" lIns="227575" spcFirstLastPara="1" rIns="227575" wrap="square" tIns="40625">
              <a:no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Creating an empty list or new list</a:t>
              </a:r>
              <a:endParaRPr/>
            </a:p>
          </p:txBody>
        </p:sp>
      </p:grpSp>
      <p:grpSp>
        <p:nvGrpSpPr>
          <p:cNvPr id="156" name="Google Shape;156;p6"/>
          <p:cNvGrpSpPr/>
          <p:nvPr/>
        </p:nvGrpSpPr>
        <p:grpSpPr>
          <a:xfrm>
            <a:off x="2572610" y="3295604"/>
            <a:ext cx="2348926" cy="2081942"/>
            <a:chOff x="2350360" y="2353500"/>
            <a:chExt cx="2348926" cy="2081942"/>
          </a:xfrm>
        </p:grpSpPr>
        <p:sp>
          <p:nvSpPr>
            <p:cNvPr id="157" name="Google Shape;157;p6"/>
            <p:cNvSpPr/>
            <p:nvPr/>
          </p:nvSpPr>
          <p:spPr>
            <a:xfrm>
              <a:off x="2350360" y="2353500"/>
              <a:ext cx="2348926" cy="2081942"/>
            </a:xfrm>
            <a:prstGeom prst="rect">
              <a:avLst/>
            </a:prstGeom>
            <a:solidFill>
              <a:schemeClr val="lt1"/>
            </a:solidFill>
            <a:ln cap="flat" cmpd="sng" w="25400">
              <a:solidFill>
                <a:srgbClr val="CFDEEF">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txBox="1"/>
            <p:nvPr/>
          </p:nvSpPr>
          <p:spPr>
            <a:xfrm>
              <a:off x="2350360" y="2353500"/>
              <a:ext cx="2348926" cy="2081942"/>
            </a:xfrm>
            <a:prstGeom prst="rect">
              <a:avLst/>
            </a:prstGeom>
            <a:solidFill>
              <a:schemeClr val="lt1"/>
            </a:solidFill>
            <a:ln>
              <a:noFill/>
            </a:ln>
          </p:spPr>
          <p:txBody>
            <a:bodyPr anchorCtr="0" anchor="ctr" bIns="40625" lIns="227575" spcFirstLastPara="1" rIns="227575" wrap="square" tIns="40625">
              <a:no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Adding an element to list</a:t>
              </a:r>
              <a:endParaRPr/>
            </a:p>
          </p:txBody>
        </p:sp>
      </p:grpSp>
      <p:grpSp>
        <p:nvGrpSpPr>
          <p:cNvPr id="159" name="Google Shape;159;p6"/>
          <p:cNvGrpSpPr/>
          <p:nvPr/>
        </p:nvGrpSpPr>
        <p:grpSpPr>
          <a:xfrm>
            <a:off x="4921536" y="3295604"/>
            <a:ext cx="2348926" cy="2081942"/>
            <a:chOff x="4699286" y="2353500"/>
            <a:chExt cx="2348926" cy="2081942"/>
          </a:xfrm>
        </p:grpSpPr>
        <p:sp>
          <p:nvSpPr>
            <p:cNvPr id="160" name="Google Shape;160;p6"/>
            <p:cNvSpPr/>
            <p:nvPr/>
          </p:nvSpPr>
          <p:spPr>
            <a:xfrm>
              <a:off x="4699286" y="2353500"/>
              <a:ext cx="2348926" cy="2081942"/>
            </a:xfrm>
            <a:prstGeom prst="rect">
              <a:avLst/>
            </a:prstGeom>
            <a:solidFill>
              <a:srgbClr val="D5D1D5">
                <a:alpha val="89803"/>
              </a:srgbClr>
            </a:solidFill>
            <a:ln cap="flat" cmpd="sng" w="25400">
              <a:solidFill>
                <a:srgbClr val="CFDEEF">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6"/>
            <p:cNvSpPr txBox="1"/>
            <p:nvPr/>
          </p:nvSpPr>
          <p:spPr>
            <a:xfrm>
              <a:off x="4699286" y="2353500"/>
              <a:ext cx="2348926" cy="2081942"/>
            </a:xfrm>
            <a:prstGeom prst="rect">
              <a:avLst/>
            </a:prstGeom>
            <a:solidFill>
              <a:schemeClr val="lt1"/>
            </a:solidFill>
            <a:ln>
              <a:noFill/>
            </a:ln>
          </p:spPr>
          <p:txBody>
            <a:bodyPr anchorCtr="0" anchor="ctr" bIns="40625" lIns="227575" spcFirstLastPara="1" rIns="227575" wrap="square" tIns="40625">
              <a:no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Listing the element of a list</a:t>
              </a:r>
              <a:endParaRPr/>
            </a:p>
          </p:txBody>
        </p:sp>
      </p:grpSp>
      <p:grpSp>
        <p:nvGrpSpPr>
          <p:cNvPr id="162" name="Google Shape;162;p6"/>
          <p:cNvGrpSpPr/>
          <p:nvPr/>
        </p:nvGrpSpPr>
        <p:grpSpPr>
          <a:xfrm>
            <a:off x="7270463" y="3295604"/>
            <a:ext cx="2348926" cy="2081942"/>
            <a:chOff x="7048213" y="2353500"/>
            <a:chExt cx="2348926" cy="2081942"/>
          </a:xfrm>
        </p:grpSpPr>
        <p:sp>
          <p:nvSpPr>
            <p:cNvPr id="163" name="Google Shape;163;p6"/>
            <p:cNvSpPr/>
            <p:nvPr/>
          </p:nvSpPr>
          <p:spPr>
            <a:xfrm>
              <a:off x="7048213" y="2353500"/>
              <a:ext cx="2348926" cy="2081942"/>
            </a:xfrm>
            <a:prstGeom prst="rect">
              <a:avLst/>
            </a:prstGeom>
            <a:solidFill>
              <a:srgbClr val="C5D5D2">
                <a:alpha val="89803"/>
              </a:srgbClr>
            </a:solidFill>
            <a:ln cap="flat" cmpd="sng" w="25400">
              <a:solidFill>
                <a:srgbClr val="CFDEEF">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txBox="1"/>
            <p:nvPr/>
          </p:nvSpPr>
          <p:spPr>
            <a:xfrm>
              <a:off x="7048213" y="2353500"/>
              <a:ext cx="2348926" cy="2081942"/>
            </a:xfrm>
            <a:prstGeom prst="rect">
              <a:avLst/>
            </a:prstGeom>
            <a:solidFill>
              <a:schemeClr val="lt1"/>
            </a:solidFill>
            <a:ln>
              <a:noFill/>
            </a:ln>
          </p:spPr>
          <p:txBody>
            <a:bodyPr anchorCtr="0" anchor="ctr" bIns="40625" lIns="227575" spcFirstLastPara="1" rIns="227575" wrap="square" tIns="40625">
              <a:no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List processing</a:t>
              </a:r>
              <a:endParaRPr/>
            </a:p>
          </p:txBody>
        </p:sp>
      </p:grpSp>
      <p:grpSp>
        <p:nvGrpSpPr>
          <p:cNvPr id="165" name="Google Shape;165;p6"/>
          <p:cNvGrpSpPr/>
          <p:nvPr/>
        </p:nvGrpSpPr>
        <p:grpSpPr>
          <a:xfrm>
            <a:off x="9619388" y="3295604"/>
            <a:ext cx="2456915" cy="2081942"/>
            <a:chOff x="9397139" y="2353500"/>
            <a:chExt cx="2348926" cy="2081942"/>
          </a:xfrm>
        </p:grpSpPr>
        <p:sp>
          <p:nvSpPr>
            <p:cNvPr id="166" name="Google Shape;166;p6"/>
            <p:cNvSpPr/>
            <p:nvPr/>
          </p:nvSpPr>
          <p:spPr>
            <a:xfrm>
              <a:off x="9397139" y="2353500"/>
              <a:ext cx="2348926" cy="2081942"/>
            </a:xfrm>
            <a:prstGeom prst="rect">
              <a:avLst/>
            </a:prstGeom>
            <a:solidFill>
              <a:schemeClr val="lt1"/>
            </a:solidFill>
            <a:ln cap="flat" cmpd="sng" w="25400">
              <a:solidFill>
                <a:srgbClr val="CFDEEF">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txBox="1"/>
            <p:nvPr/>
          </p:nvSpPr>
          <p:spPr>
            <a:xfrm>
              <a:off x="9397139" y="2353500"/>
              <a:ext cx="2348926" cy="2081942"/>
            </a:xfrm>
            <a:prstGeom prst="rect">
              <a:avLst/>
            </a:prstGeom>
            <a:solidFill>
              <a:schemeClr val="lt1"/>
            </a:solidFill>
            <a:ln>
              <a:noFill/>
            </a:ln>
          </p:spPr>
          <p:txBody>
            <a:bodyPr anchorCtr="0" anchor="ctr" bIns="40625" lIns="227575" spcFirstLastPara="1" rIns="227575" wrap="square" tIns="40625">
              <a:no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Methods used with lists</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1" name="Shape 171"/>
        <p:cNvGrpSpPr/>
        <p:nvPr/>
      </p:nvGrpSpPr>
      <p:grpSpPr>
        <a:xfrm>
          <a:off x="0" y="0"/>
          <a:ext cx="0" cy="0"/>
          <a:chOff x="0" y="0"/>
          <a:chExt cx="0" cy="0"/>
        </a:xfrm>
      </p:grpSpPr>
      <p:sp>
        <p:nvSpPr>
          <p:cNvPr id="172" name="Google Shape;172;p7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173" name="Google Shape;173;p74"/>
          <p:cNvGrpSpPr/>
          <p:nvPr/>
        </p:nvGrpSpPr>
        <p:grpSpPr>
          <a:xfrm>
            <a:off x="254000" y="1697590"/>
            <a:ext cx="11747500" cy="4524857"/>
            <a:chOff x="0" y="552"/>
            <a:chExt cx="11747500" cy="4524857"/>
          </a:xfrm>
        </p:grpSpPr>
        <p:cxnSp>
          <p:nvCxnSpPr>
            <p:cNvPr id="174" name="Google Shape;174;p74"/>
            <p:cNvCxnSpPr/>
            <p:nvPr/>
          </p:nvCxnSpPr>
          <p:spPr>
            <a:xfrm>
              <a:off x="0" y="552"/>
              <a:ext cx="11747500" cy="0"/>
            </a:xfrm>
            <a:prstGeom prst="straightConnector1">
              <a:avLst/>
            </a:prstGeom>
            <a:gradFill>
              <a:gsLst>
                <a:gs pos="0">
                  <a:srgbClr val="FF7714"/>
                </a:gs>
                <a:gs pos="100000">
                  <a:srgbClr val="FFA773"/>
                </a:gs>
              </a:gsLst>
              <a:lin ang="16200000" scaled="0"/>
            </a:gradFill>
            <a:ln cap="flat" cmpd="sng" w="9525">
              <a:solidFill>
                <a:schemeClr val="accent2"/>
              </a:solidFill>
              <a:prstDash val="solid"/>
              <a:round/>
              <a:headEnd len="sm" w="sm" type="none"/>
              <a:tailEnd len="sm" w="sm" type="none"/>
            </a:ln>
            <a:effectLst>
              <a:outerShdw blurRad="40000" rotWithShape="0" dir="5400000" dist="23000">
                <a:srgbClr val="000000">
                  <a:alpha val="34901"/>
                </a:srgbClr>
              </a:outerShdw>
            </a:effectLst>
          </p:spPr>
        </p:cxnSp>
        <p:sp>
          <p:nvSpPr>
            <p:cNvPr id="175" name="Google Shape;175;p74"/>
            <p:cNvSpPr/>
            <p:nvPr/>
          </p:nvSpPr>
          <p:spPr>
            <a:xfrm>
              <a:off x="0" y="552"/>
              <a:ext cx="11747500" cy="64640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4"/>
            <p:cNvSpPr txBox="1"/>
            <p:nvPr/>
          </p:nvSpPr>
          <p:spPr>
            <a:xfrm>
              <a:off x="0" y="552"/>
              <a:ext cx="11747500" cy="646408"/>
            </a:xfrm>
            <a:prstGeom prst="rect">
              <a:avLst/>
            </a:prstGeom>
            <a:noFill/>
            <a:ln>
              <a:noFill/>
            </a:ln>
          </p:spPr>
          <p:txBody>
            <a:bodyPr anchorCtr="0" anchor="t"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Like a String, list also is sequence data type. It is a data structure</a:t>
              </a:r>
              <a:endParaRPr/>
            </a:p>
          </p:txBody>
        </p:sp>
        <p:cxnSp>
          <p:nvCxnSpPr>
            <p:cNvPr id="177" name="Google Shape;177;p74"/>
            <p:cNvCxnSpPr/>
            <p:nvPr/>
          </p:nvCxnSpPr>
          <p:spPr>
            <a:xfrm>
              <a:off x="0" y="646960"/>
              <a:ext cx="11747500" cy="0"/>
            </a:xfrm>
            <a:prstGeom prst="straightConnector1">
              <a:avLst/>
            </a:prstGeom>
            <a:gradFill>
              <a:gsLst>
                <a:gs pos="0">
                  <a:srgbClr val="FF7714"/>
                </a:gs>
                <a:gs pos="100000">
                  <a:srgbClr val="FFA773"/>
                </a:gs>
              </a:gsLst>
              <a:lin ang="16200000" scaled="0"/>
            </a:gradFill>
            <a:ln cap="flat" cmpd="sng" w="9525">
              <a:solidFill>
                <a:schemeClr val="accent2"/>
              </a:solidFill>
              <a:prstDash val="solid"/>
              <a:round/>
              <a:headEnd len="sm" w="sm" type="none"/>
              <a:tailEnd len="sm" w="sm" type="none"/>
            </a:ln>
            <a:effectLst>
              <a:outerShdw blurRad="40000" rotWithShape="0" dir="5400000" dist="23000">
                <a:srgbClr val="000000">
                  <a:alpha val="34901"/>
                </a:srgbClr>
              </a:outerShdw>
            </a:effectLst>
          </p:spPr>
        </p:cxnSp>
        <p:sp>
          <p:nvSpPr>
            <p:cNvPr id="178" name="Google Shape;178;p74"/>
            <p:cNvSpPr/>
            <p:nvPr/>
          </p:nvSpPr>
          <p:spPr>
            <a:xfrm>
              <a:off x="0" y="646960"/>
              <a:ext cx="11747500" cy="64640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4"/>
            <p:cNvSpPr txBox="1"/>
            <p:nvPr/>
          </p:nvSpPr>
          <p:spPr>
            <a:xfrm>
              <a:off x="0" y="646960"/>
              <a:ext cx="11747500" cy="646408"/>
            </a:xfrm>
            <a:prstGeom prst="rect">
              <a:avLst/>
            </a:prstGeom>
            <a:noFill/>
            <a:ln>
              <a:noFill/>
            </a:ln>
          </p:spPr>
          <p:txBody>
            <a:bodyPr anchorCtr="0" anchor="t"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It is an ordered set of values enclosed in square brackets [ ]. </a:t>
              </a:r>
              <a:endParaRPr/>
            </a:p>
          </p:txBody>
        </p:sp>
        <p:cxnSp>
          <p:nvCxnSpPr>
            <p:cNvPr id="180" name="Google Shape;180;p74"/>
            <p:cNvCxnSpPr/>
            <p:nvPr/>
          </p:nvCxnSpPr>
          <p:spPr>
            <a:xfrm>
              <a:off x="0" y="1293368"/>
              <a:ext cx="11747500" cy="0"/>
            </a:xfrm>
            <a:prstGeom prst="straightConnector1">
              <a:avLst/>
            </a:prstGeom>
            <a:gradFill>
              <a:gsLst>
                <a:gs pos="0">
                  <a:srgbClr val="FF7714"/>
                </a:gs>
                <a:gs pos="100000">
                  <a:srgbClr val="FFA773"/>
                </a:gs>
              </a:gsLst>
              <a:lin ang="16200000" scaled="0"/>
            </a:gradFill>
            <a:ln cap="flat" cmpd="sng" w="9525">
              <a:solidFill>
                <a:schemeClr val="accent2"/>
              </a:solidFill>
              <a:prstDash val="solid"/>
              <a:round/>
              <a:headEnd len="sm" w="sm" type="none"/>
              <a:tailEnd len="sm" w="sm" type="none"/>
            </a:ln>
            <a:effectLst>
              <a:outerShdw blurRad="40000" rotWithShape="0" dir="5400000" dist="23000">
                <a:srgbClr val="000000">
                  <a:alpha val="34901"/>
                </a:srgbClr>
              </a:outerShdw>
            </a:effectLst>
          </p:spPr>
        </p:cxnSp>
        <p:sp>
          <p:nvSpPr>
            <p:cNvPr id="181" name="Google Shape;181;p74"/>
            <p:cNvSpPr/>
            <p:nvPr/>
          </p:nvSpPr>
          <p:spPr>
            <a:xfrm>
              <a:off x="0" y="1293368"/>
              <a:ext cx="11747500" cy="64640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4"/>
            <p:cNvSpPr txBox="1"/>
            <p:nvPr/>
          </p:nvSpPr>
          <p:spPr>
            <a:xfrm>
              <a:off x="0" y="1293368"/>
              <a:ext cx="11747500" cy="646408"/>
            </a:xfrm>
            <a:prstGeom prst="rect">
              <a:avLst/>
            </a:prstGeom>
            <a:noFill/>
            <a:ln>
              <a:noFill/>
            </a:ln>
          </p:spPr>
          <p:txBody>
            <a:bodyPr anchorCtr="0" anchor="t"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Values in the list can be modified –mutable.</a:t>
              </a:r>
              <a:endParaRPr/>
            </a:p>
          </p:txBody>
        </p:sp>
        <p:cxnSp>
          <p:nvCxnSpPr>
            <p:cNvPr id="183" name="Google Shape;183;p74"/>
            <p:cNvCxnSpPr/>
            <p:nvPr/>
          </p:nvCxnSpPr>
          <p:spPr>
            <a:xfrm>
              <a:off x="0" y="1939776"/>
              <a:ext cx="11747500" cy="0"/>
            </a:xfrm>
            <a:prstGeom prst="straightConnector1">
              <a:avLst/>
            </a:prstGeom>
            <a:gradFill>
              <a:gsLst>
                <a:gs pos="0">
                  <a:srgbClr val="FF7714"/>
                </a:gs>
                <a:gs pos="100000">
                  <a:srgbClr val="FFA773"/>
                </a:gs>
              </a:gsLst>
              <a:lin ang="16200000" scaled="0"/>
            </a:gradFill>
            <a:ln cap="flat" cmpd="sng" w="9525">
              <a:solidFill>
                <a:schemeClr val="accent2"/>
              </a:solidFill>
              <a:prstDash val="solid"/>
              <a:round/>
              <a:headEnd len="sm" w="sm" type="none"/>
              <a:tailEnd len="sm" w="sm" type="none"/>
            </a:ln>
            <a:effectLst>
              <a:outerShdw blurRad="40000" rotWithShape="0" dir="5400000" dist="23000">
                <a:srgbClr val="000000">
                  <a:alpha val="34901"/>
                </a:srgbClr>
              </a:outerShdw>
            </a:effectLst>
          </p:spPr>
        </p:cxnSp>
        <p:sp>
          <p:nvSpPr>
            <p:cNvPr id="184" name="Google Shape;184;p74"/>
            <p:cNvSpPr/>
            <p:nvPr/>
          </p:nvSpPr>
          <p:spPr>
            <a:xfrm>
              <a:off x="0" y="1939776"/>
              <a:ext cx="11747500" cy="64640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4"/>
            <p:cNvSpPr txBox="1"/>
            <p:nvPr/>
          </p:nvSpPr>
          <p:spPr>
            <a:xfrm>
              <a:off x="0" y="1939776"/>
              <a:ext cx="11747500" cy="646408"/>
            </a:xfrm>
            <a:prstGeom prst="rect">
              <a:avLst/>
            </a:prstGeom>
            <a:noFill/>
            <a:ln>
              <a:noFill/>
            </a:ln>
          </p:spPr>
          <p:txBody>
            <a:bodyPr anchorCtr="0" anchor="t"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As it is set of values, we can use index in square brackets [ ] to identify a value belonging to it. </a:t>
              </a:r>
              <a:endParaRPr/>
            </a:p>
          </p:txBody>
        </p:sp>
        <p:cxnSp>
          <p:nvCxnSpPr>
            <p:cNvPr id="186" name="Google Shape;186;p74"/>
            <p:cNvCxnSpPr/>
            <p:nvPr/>
          </p:nvCxnSpPr>
          <p:spPr>
            <a:xfrm>
              <a:off x="0" y="2586185"/>
              <a:ext cx="11747500" cy="0"/>
            </a:xfrm>
            <a:prstGeom prst="straightConnector1">
              <a:avLst/>
            </a:prstGeom>
            <a:gradFill>
              <a:gsLst>
                <a:gs pos="0">
                  <a:srgbClr val="FF7714"/>
                </a:gs>
                <a:gs pos="100000">
                  <a:srgbClr val="FFA773"/>
                </a:gs>
              </a:gsLst>
              <a:lin ang="16200000" scaled="0"/>
            </a:gradFill>
            <a:ln cap="flat" cmpd="sng" w="9525">
              <a:solidFill>
                <a:schemeClr val="accent2"/>
              </a:solidFill>
              <a:prstDash val="solid"/>
              <a:round/>
              <a:headEnd len="sm" w="sm" type="none"/>
              <a:tailEnd len="sm" w="sm" type="none"/>
            </a:ln>
            <a:effectLst>
              <a:outerShdw blurRad="40000" rotWithShape="0" dir="5400000" dist="23000">
                <a:srgbClr val="000000">
                  <a:alpha val="34901"/>
                </a:srgbClr>
              </a:outerShdw>
            </a:effectLst>
          </p:spPr>
        </p:cxnSp>
        <p:sp>
          <p:nvSpPr>
            <p:cNvPr id="187" name="Google Shape;187;p74"/>
            <p:cNvSpPr/>
            <p:nvPr/>
          </p:nvSpPr>
          <p:spPr>
            <a:xfrm>
              <a:off x="0" y="2586185"/>
              <a:ext cx="11747500" cy="64640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4"/>
            <p:cNvSpPr txBox="1"/>
            <p:nvPr/>
          </p:nvSpPr>
          <p:spPr>
            <a:xfrm>
              <a:off x="0" y="2586185"/>
              <a:ext cx="11747500" cy="646408"/>
            </a:xfrm>
            <a:prstGeom prst="rect">
              <a:avLst/>
            </a:prstGeom>
            <a:noFill/>
            <a:ln>
              <a:noFill/>
            </a:ln>
          </p:spPr>
          <p:txBody>
            <a:bodyPr anchorCtr="0" anchor="t"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The values that make up a list are called its elements, and they can be of any type.</a:t>
              </a:r>
              <a:endParaRPr/>
            </a:p>
          </p:txBody>
        </p:sp>
        <p:cxnSp>
          <p:nvCxnSpPr>
            <p:cNvPr id="189" name="Google Shape;189;p74"/>
            <p:cNvCxnSpPr/>
            <p:nvPr/>
          </p:nvCxnSpPr>
          <p:spPr>
            <a:xfrm>
              <a:off x="0" y="3232593"/>
              <a:ext cx="11747500" cy="0"/>
            </a:xfrm>
            <a:prstGeom prst="straightConnector1">
              <a:avLst/>
            </a:prstGeom>
            <a:gradFill>
              <a:gsLst>
                <a:gs pos="0">
                  <a:srgbClr val="FF7714"/>
                </a:gs>
                <a:gs pos="100000">
                  <a:srgbClr val="FFA773"/>
                </a:gs>
              </a:gsLst>
              <a:lin ang="16200000" scaled="0"/>
            </a:gradFill>
            <a:ln cap="flat" cmpd="sng" w="9525">
              <a:solidFill>
                <a:schemeClr val="accent2"/>
              </a:solidFill>
              <a:prstDash val="solid"/>
              <a:round/>
              <a:headEnd len="sm" w="sm" type="none"/>
              <a:tailEnd len="sm" w="sm" type="none"/>
            </a:ln>
            <a:effectLst>
              <a:outerShdw blurRad="40000" rotWithShape="0" dir="5400000" dist="23000">
                <a:srgbClr val="000000">
                  <a:alpha val="34901"/>
                </a:srgbClr>
              </a:outerShdw>
            </a:effectLst>
          </p:spPr>
        </p:cxnSp>
        <p:sp>
          <p:nvSpPr>
            <p:cNvPr id="190" name="Google Shape;190;p74"/>
            <p:cNvSpPr/>
            <p:nvPr/>
          </p:nvSpPr>
          <p:spPr>
            <a:xfrm>
              <a:off x="0" y="3232593"/>
              <a:ext cx="11747500" cy="64640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4"/>
            <p:cNvSpPr txBox="1"/>
            <p:nvPr/>
          </p:nvSpPr>
          <p:spPr>
            <a:xfrm>
              <a:off x="0" y="3232593"/>
              <a:ext cx="11747500" cy="646408"/>
            </a:xfrm>
            <a:prstGeom prst="rect">
              <a:avLst/>
            </a:prstGeom>
            <a:noFill/>
            <a:ln>
              <a:noFill/>
            </a:ln>
          </p:spPr>
          <p:txBody>
            <a:bodyPr anchorCtr="0" anchor="t"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Each value has a location (an index)</a:t>
              </a:r>
              <a:endParaRPr b="0" i="0" sz="1900" u="none" cap="none" strike="noStrike">
                <a:solidFill>
                  <a:srgbClr val="000000"/>
                </a:solidFill>
                <a:latin typeface="Arial"/>
                <a:ea typeface="Arial"/>
                <a:cs typeface="Arial"/>
                <a:sym typeface="Arial"/>
              </a:endParaRPr>
            </a:p>
          </p:txBody>
        </p:sp>
        <p:cxnSp>
          <p:nvCxnSpPr>
            <p:cNvPr id="192" name="Google Shape;192;p74"/>
            <p:cNvCxnSpPr/>
            <p:nvPr/>
          </p:nvCxnSpPr>
          <p:spPr>
            <a:xfrm>
              <a:off x="0" y="3879001"/>
              <a:ext cx="11747500" cy="0"/>
            </a:xfrm>
            <a:prstGeom prst="straightConnector1">
              <a:avLst/>
            </a:prstGeom>
            <a:gradFill>
              <a:gsLst>
                <a:gs pos="0">
                  <a:srgbClr val="FF7714"/>
                </a:gs>
                <a:gs pos="100000">
                  <a:srgbClr val="FFA773"/>
                </a:gs>
              </a:gsLst>
              <a:lin ang="16200000" scaled="0"/>
            </a:gradFill>
            <a:ln cap="flat" cmpd="sng" w="9525">
              <a:solidFill>
                <a:schemeClr val="accent2"/>
              </a:solidFill>
              <a:prstDash val="solid"/>
              <a:round/>
              <a:headEnd len="sm" w="sm" type="none"/>
              <a:tailEnd len="sm" w="sm" type="none"/>
            </a:ln>
            <a:effectLst>
              <a:outerShdw blurRad="40000" rotWithShape="0" dir="5400000" dist="23000">
                <a:srgbClr val="000000">
                  <a:alpha val="34901"/>
                </a:srgbClr>
              </a:outerShdw>
            </a:effectLst>
          </p:spPr>
        </p:cxnSp>
        <p:sp>
          <p:nvSpPr>
            <p:cNvPr id="193" name="Google Shape;193;p74"/>
            <p:cNvSpPr/>
            <p:nvPr/>
          </p:nvSpPr>
          <p:spPr>
            <a:xfrm>
              <a:off x="0" y="3879001"/>
              <a:ext cx="11747500" cy="64640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4"/>
            <p:cNvSpPr txBox="1"/>
            <p:nvPr/>
          </p:nvSpPr>
          <p:spPr>
            <a:xfrm>
              <a:off x="0" y="3879001"/>
              <a:ext cx="11747500" cy="646408"/>
            </a:xfrm>
            <a:prstGeom prst="rect">
              <a:avLst/>
            </a:prstGeom>
            <a:noFill/>
            <a:ln>
              <a:noFill/>
            </a:ln>
          </p:spPr>
          <p:txBody>
            <a:bodyPr anchorCtr="0" anchor="t"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Lists are heterogeneous - values can be of any type (strings are homogeneous because their elements are characters)</a:t>
              </a:r>
              <a:endParaRPr b="0" i="0" sz="1900" u="none" cap="none" strike="noStrike">
                <a:solidFill>
                  <a:srgbClr val="000000"/>
                </a:solidFill>
                <a:latin typeface="Arial"/>
                <a:ea typeface="Arial"/>
                <a:cs typeface="Arial"/>
                <a:sym typeface="Arial"/>
              </a:endParaRPr>
            </a:p>
          </p:txBody>
        </p:sp>
      </p:grpSp>
      <p:sp>
        <p:nvSpPr>
          <p:cNvPr id="195" name="Google Shape;195;p74"/>
          <p:cNvSpPr txBox="1"/>
          <p:nvPr>
            <p:ph type="title"/>
          </p:nvPr>
        </p:nvSpPr>
        <p:spPr>
          <a:xfrm>
            <a:off x="295352" y="274638"/>
            <a:ext cx="10457373"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000"/>
              <a:t>INTRODUCTION</a:t>
            </a:r>
            <a:endParaRPr/>
          </a:p>
        </p:txBody>
      </p:sp>
      <p:sp>
        <p:nvSpPr>
          <p:cNvPr id="196" name="Google Shape;196;p74"/>
          <p:cNvSpPr txBox="1"/>
          <p:nvPr/>
        </p:nvSpPr>
        <p:spPr>
          <a:xfrm>
            <a:off x="9296400" y="6623050"/>
            <a:ext cx="2895600" cy="234950"/>
          </a:xfrm>
          <a:prstGeom prst="rect">
            <a:avLst/>
          </a:prstGeom>
          <a:noFill/>
          <a:ln>
            <a:noFill/>
          </a:ln>
        </p:spPr>
        <p:txBody>
          <a:bodyPr anchorCtr="0" anchor="t" bIns="45700" lIns="91425" spcFirstLastPara="1" rIns="91425" wrap="square" tIns="45700">
            <a:normAutofit fontScale="62500" lnSpcReduction="20000"/>
          </a:bodyPr>
          <a:lstStyle/>
          <a:p>
            <a:pPr indent="0" lvl="0" marL="0" marR="0" rtl="0" algn="r">
              <a:lnSpc>
                <a:spcPct val="90000"/>
              </a:lnSpc>
              <a:spcBef>
                <a:spcPts val="0"/>
              </a:spcBef>
              <a:spcAft>
                <a:spcPts val="600"/>
              </a:spcAft>
              <a:buClr>
                <a:srgbClr val="000000"/>
              </a:buClr>
              <a:buSzPct val="224000"/>
              <a:buFont typeface="Arial"/>
              <a:buNone/>
            </a:pPr>
            <a:r>
              <a:rPr b="0" i="0" lang="en-US" sz="1000" u="none" cap="none" strike="noStrike">
                <a:solidFill>
                  <a:schemeClr val="dk1"/>
                </a:solidFill>
                <a:latin typeface="Arial"/>
                <a:ea typeface="Arial"/>
                <a:cs typeface="Arial"/>
                <a:sym typeface="Arial"/>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8"/>
          <p:cNvSpPr txBox="1"/>
          <p:nvPr>
            <p:ph idx="1" type="subTitle"/>
          </p:nvPr>
        </p:nvSpPr>
        <p:spPr>
          <a:xfrm>
            <a:off x="3884229" y="308259"/>
            <a:ext cx="6688187"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None/>
            </a:pPr>
            <a:r>
              <a:rPr lang="en-US" sz="6000"/>
              <a:t>List Structure</a:t>
            </a:r>
            <a:endParaRPr sz="4800">
              <a:solidFill>
                <a:srgbClr val="191919"/>
              </a:solidFill>
              <a:latin typeface="Arial"/>
              <a:ea typeface="Arial"/>
              <a:cs typeface="Arial"/>
              <a:sym typeface="Arial"/>
            </a:endParaRPr>
          </a:p>
        </p:txBody>
      </p:sp>
      <p:graphicFrame>
        <p:nvGraphicFramePr>
          <p:cNvPr id="202" name="Google Shape;202;p8"/>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00B050"/>
                        </a:buClr>
                        <a:buSzPts val="1600"/>
                        <a:buFont typeface="Calibri"/>
                        <a:buAutoNum type="arabicPeriod"/>
                      </a:pPr>
                      <a:r>
                        <a:rPr b="1" lang="en-US" sz="1600" u="none" cap="none" strike="noStrike">
                          <a:solidFill>
                            <a:srgbClr val="00B050"/>
                          </a:solidFill>
                          <a:latin typeface="Arial"/>
                          <a:ea typeface="Arial"/>
                          <a:cs typeface="Arial"/>
                          <a:sym typeface="Arial"/>
                        </a:rPr>
                        <a:t>List Structure</a:t>
                      </a:r>
                      <a:endParaRPr sz="1400" u="none" cap="none" strike="noStrike"/>
                    </a:p>
                  </a:txBody>
                  <a:tcPr marT="45725" marB="45725" marR="91450" marL="91450"/>
                </a:tc>
              </a:tr>
            </a:tbl>
          </a:graphicData>
        </a:graphic>
      </p:graphicFrame>
      <p:sp>
        <p:nvSpPr>
          <p:cNvPr id="203" name="Google Shape;203;p8"/>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204" name="Google Shape;204;p8"/>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205" name="Google Shape;205;p8"/>
          <p:cNvSpPr/>
          <p:nvPr/>
        </p:nvSpPr>
        <p:spPr>
          <a:xfrm>
            <a:off x="2715762" y="1452451"/>
            <a:ext cx="9025120"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The </a:t>
            </a:r>
            <a:r>
              <a:rPr b="0" i="0" lang="en-US" sz="2400" u="none" cap="none" strike="noStrike">
                <a:solidFill>
                  <a:srgbClr val="D4650A"/>
                </a:solidFill>
                <a:latin typeface="Arial"/>
                <a:ea typeface="Arial"/>
                <a:cs typeface="Arial"/>
                <a:sym typeface="Arial"/>
              </a:rPr>
              <a:t>concept</a:t>
            </a:r>
            <a:r>
              <a:rPr b="0" i="0" lang="en-US" sz="2400" u="none" cap="none" strike="noStrike">
                <a:solidFill>
                  <a:schemeClr val="dk1"/>
                </a:solidFill>
                <a:latin typeface="Arial"/>
                <a:ea typeface="Arial"/>
                <a:cs typeface="Arial"/>
                <a:sym typeface="Arial"/>
              </a:rPr>
              <a:t> of a list is similar to our </a:t>
            </a:r>
            <a:r>
              <a:rPr b="0" i="0" lang="en-US" sz="2400" u="none" cap="none" strike="noStrike">
                <a:solidFill>
                  <a:srgbClr val="D4650A"/>
                </a:solidFill>
                <a:latin typeface="Arial"/>
                <a:ea typeface="Arial"/>
                <a:cs typeface="Arial"/>
                <a:sym typeface="Arial"/>
              </a:rPr>
              <a:t>everyday notion of list</a:t>
            </a:r>
            <a:r>
              <a:rPr b="0" i="0" lang="en-US" sz="2400" u="none" cap="none" strike="noStrike">
                <a:solidFill>
                  <a:schemeClr val="dk1"/>
                </a:solidFill>
                <a:latin typeface="Arial"/>
                <a:ea typeface="Arial"/>
                <a:cs typeface="Arial"/>
                <a:sym typeface="Arial"/>
              </a:rPr>
              <a:t>. We read off (</a:t>
            </a:r>
            <a:r>
              <a:rPr b="1" i="0" lang="en-US" sz="2400" u="none" cap="none" strike="noStrike">
                <a:solidFill>
                  <a:srgbClr val="D4650A"/>
                </a:solidFill>
                <a:latin typeface="Arial"/>
                <a:ea typeface="Arial"/>
                <a:cs typeface="Arial"/>
                <a:sym typeface="Arial"/>
              </a:rPr>
              <a:t>access</a:t>
            </a:r>
            <a:r>
              <a:rPr b="0" i="0" lang="en-US" sz="2400" u="none" cap="none" strike="noStrike">
                <a:solidFill>
                  <a:schemeClr val="dk1"/>
                </a:solidFill>
                <a:latin typeface="Arial"/>
                <a:ea typeface="Arial"/>
                <a:cs typeface="Arial"/>
                <a:sym typeface="Arial"/>
              </a:rPr>
              <a:t>) items on our to-do lists, </a:t>
            </a:r>
            <a:r>
              <a:rPr b="0" i="0" lang="en-US" sz="2400" u="none" cap="none" strike="noStrike">
                <a:solidFill>
                  <a:srgbClr val="00B0F0"/>
                </a:solidFill>
                <a:latin typeface="Arial"/>
                <a:ea typeface="Arial"/>
                <a:cs typeface="Arial"/>
                <a:sym typeface="Arial"/>
              </a:rPr>
              <a:t>add items</a:t>
            </a:r>
            <a:r>
              <a:rPr b="0" i="0" lang="en-US" sz="2400" u="none" cap="none" strike="noStrike">
                <a:solidFill>
                  <a:schemeClr val="dk1"/>
                </a:solidFill>
                <a:latin typeface="Arial"/>
                <a:ea typeface="Arial"/>
                <a:cs typeface="Arial"/>
                <a:sym typeface="Arial"/>
              </a:rPr>
              <a:t>, </a:t>
            </a:r>
            <a:r>
              <a:rPr b="0" i="0" lang="en-US" sz="2400" u="none" cap="none" strike="noStrike">
                <a:solidFill>
                  <a:srgbClr val="00B0F0"/>
                </a:solidFill>
                <a:latin typeface="Arial"/>
                <a:ea typeface="Arial"/>
                <a:cs typeface="Arial"/>
                <a:sym typeface="Arial"/>
              </a:rPr>
              <a:t>cross off (delete) items</a:t>
            </a:r>
            <a:r>
              <a:rPr b="0" i="0" lang="en-US" sz="2400" u="none" cap="none" strike="noStrike">
                <a:solidFill>
                  <a:schemeClr val="dk1"/>
                </a:solidFill>
                <a:latin typeface="Arial"/>
                <a:ea typeface="Arial"/>
                <a:cs typeface="Arial"/>
                <a:sym typeface="Arial"/>
              </a:rPr>
              <a:t> and so forth. </a:t>
            </a:r>
            <a:endParaRPr b="0" i="0" sz="2400" u="none" cap="none" strike="noStrike">
              <a:solidFill>
                <a:schemeClr val="dk1"/>
              </a:solidFill>
              <a:latin typeface="Arial"/>
              <a:ea typeface="Arial"/>
              <a:cs typeface="Arial"/>
              <a:sym typeface="Arial"/>
            </a:endParaRPr>
          </a:p>
        </p:txBody>
      </p:sp>
      <p:sp>
        <p:nvSpPr>
          <p:cNvPr id="206" name="Google Shape;206;p8"/>
          <p:cNvSpPr/>
          <p:nvPr/>
        </p:nvSpPr>
        <p:spPr>
          <a:xfrm>
            <a:off x="2715762" y="2825132"/>
            <a:ext cx="9025120"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List</a:t>
            </a:r>
            <a:r>
              <a:rPr b="0" i="0" lang="en-US" sz="2400" u="none" cap="none" strike="noStrike">
                <a:solidFill>
                  <a:schemeClr val="dk1"/>
                </a:solidFill>
                <a:latin typeface="Arial"/>
                <a:ea typeface="Arial"/>
                <a:cs typeface="Arial"/>
                <a:sym typeface="Arial"/>
              </a:rPr>
              <a:t> [</a:t>
            </a:r>
            <a:r>
              <a:rPr b="1" i="0" lang="en-US" sz="2400" u="none" cap="none" strike="noStrike">
                <a:solidFill>
                  <a:srgbClr val="D4650A"/>
                </a:solidFill>
                <a:latin typeface="Arial"/>
                <a:ea typeface="Arial"/>
                <a:cs typeface="Arial"/>
                <a:sym typeface="Arial"/>
              </a:rPr>
              <a:t>Definition</a:t>
            </a:r>
            <a:r>
              <a:rPr b="0" i="0" lang="en-US" sz="2400" u="none" cap="none" strike="noStrike">
                <a:solidFill>
                  <a:schemeClr val="dk1"/>
                </a:solidFill>
                <a:latin typeface="Arial"/>
                <a:ea typeface="Arial"/>
                <a:cs typeface="Arial"/>
                <a:sym typeface="Arial"/>
              </a:rPr>
              <a:t>]: A list is </a:t>
            </a:r>
            <a:r>
              <a:rPr b="0" i="0" lang="en-US" sz="2400" u="none" cap="none" strike="noStrike">
                <a:solidFill>
                  <a:srgbClr val="D4650A"/>
                </a:solidFill>
                <a:latin typeface="Arial"/>
                <a:ea typeface="Arial"/>
                <a:cs typeface="Arial"/>
                <a:sym typeface="Arial"/>
              </a:rPr>
              <a:t>linear data structure</a:t>
            </a:r>
            <a:r>
              <a:rPr b="0" i="0" lang="en-US" sz="2400" u="none" cap="none" strike="noStrike">
                <a:solidFill>
                  <a:schemeClr val="dk1"/>
                </a:solidFill>
                <a:latin typeface="Arial"/>
                <a:ea typeface="Arial"/>
                <a:cs typeface="Arial"/>
                <a:sym typeface="Arial"/>
              </a:rPr>
              <a:t>, meaning that its element have a linear ordering.</a:t>
            </a:r>
            <a:endParaRPr b="0" i="0" sz="2400" u="none" cap="none" strike="noStrike">
              <a:solidFill>
                <a:schemeClr val="dk1"/>
              </a:solidFill>
              <a:latin typeface="Arial"/>
              <a:ea typeface="Arial"/>
              <a:cs typeface="Arial"/>
              <a:sym typeface="Arial"/>
            </a:endParaRPr>
          </a:p>
        </p:txBody>
      </p:sp>
      <p:sp>
        <p:nvSpPr>
          <p:cNvPr id="207" name="Google Shape;207;p8"/>
          <p:cNvSpPr/>
          <p:nvPr/>
        </p:nvSpPr>
        <p:spPr>
          <a:xfrm>
            <a:off x="2798889" y="5382282"/>
            <a:ext cx="9025120"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FF0000"/>
                </a:solidFill>
                <a:latin typeface="Arial"/>
                <a:ea typeface="Arial"/>
                <a:cs typeface="Arial"/>
                <a:sym typeface="Arial"/>
              </a:rPr>
              <a:t>An example of a list is a sequence of daily temperature is given for a week.</a:t>
            </a:r>
            <a:endParaRPr b="0" i="0" sz="2400" u="none" cap="none" strike="noStrike">
              <a:solidFill>
                <a:srgbClr val="FF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9"/>
          <p:cNvSpPr txBox="1"/>
          <p:nvPr>
            <p:ph idx="1" type="subTitle"/>
          </p:nvPr>
        </p:nvSpPr>
        <p:spPr>
          <a:xfrm>
            <a:off x="3884229" y="308259"/>
            <a:ext cx="6688187"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None/>
            </a:pPr>
            <a:r>
              <a:rPr lang="en-US" sz="6000"/>
              <a:t>Let’s Visualize</a:t>
            </a:r>
            <a:endParaRPr sz="4800">
              <a:solidFill>
                <a:srgbClr val="191919"/>
              </a:solidFill>
              <a:latin typeface="Arial"/>
              <a:ea typeface="Arial"/>
              <a:cs typeface="Arial"/>
              <a:sym typeface="Arial"/>
            </a:endParaRPr>
          </a:p>
        </p:txBody>
      </p:sp>
      <p:graphicFrame>
        <p:nvGraphicFramePr>
          <p:cNvPr id="213" name="Google Shape;213;p9"/>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 Structure</a:t>
                      </a:r>
                      <a:endParaRPr sz="1400" u="none" cap="none" strike="noStrike"/>
                    </a:p>
                    <a:p>
                      <a:pPr indent="0" lvl="0" marL="0" marR="0" rtl="0" algn="ctr">
                        <a:lnSpc>
                          <a:spcPct val="150000"/>
                        </a:lnSpc>
                        <a:spcBef>
                          <a:spcPts val="0"/>
                        </a:spcBef>
                        <a:spcAft>
                          <a:spcPts val="0"/>
                        </a:spcAft>
                        <a:buClr>
                          <a:srgbClr val="00B050"/>
                        </a:buClr>
                        <a:buSzPts val="1600"/>
                        <a:buFont typeface="Calibri"/>
                        <a:buNone/>
                      </a:pPr>
                      <a:r>
                        <a:rPr b="1" lang="en-US" sz="1600" u="none" cap="none" strike="noStrike">
                          <a:solidFill>
                            <a:srgbClr val="00B050"/>
                          </a:solidFill>
                          <a:latin typeface="Arial"/>
                          <a:ea typeface="Arial"/>
                          <a:cs typeface="Arial"/>
                          <a:sym typeface="Arial"/>
                        </a:rPr>
                        <a:t>List Visualization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txBody>
                  <a:tcPr marT="45725" marB="45725" marR="91450" marL="91450"/>
                </a:tc>
              </a:tr>
            </a:tbl>
          </a:graphicData>
        </a:graphic>
      </p:graphicFrame>
      <p:sp>
        <p:nvSpPr>
          <p:cNvPr id="214" name="Google Shape;214;p9"/>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215" name="Google Shape;215;p9"/>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216" name="Google Shape;216;p9"/>
          <p:cNvSpPr/>
          <p:nvPr/>
        </p:nvSpPr>
        <p:spPr>
          <a:xfrm>
            <a:off x="6230402" y="1624803"/>
            <a:ext cx="5467612" cy="156966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t>
            </a:r>
            <a:r>
              <a:rPr b="1" i="0" lang="en-US" sz="2400" u="none" cap="none" strike="noStrike">
                <a:solidFill>
                  <a:srgbClr val="D4650A"/>
                </a:solidFill>
                <a:latin typeface="Arial"/>
                <a:ea typeface="Arial"/>
                <a:cs typeface="Arial"/>
                <a:sym typeface="Arial"/>
              </a:rPr>
              <a:t>Example</a:t>
            </a:r>
            <a:r>
              <a:rPr b="0" i="0" lang="en-US" sz="2400" u="none" cap="none" strike="noStrike">
                <a:solidFill>
                  <a:schemeClr val="dk1"/>
                </a:solidFill>
                <a:latin typeface="Arial"/>
                <a:ea typeface="Arial"/>
                <a:cs typeface="Arial"/>
                <a:sym typeface="Arial"/>
              </a:rPr>
              <a:t>]: The location at </a:t>
            </a:r>
            <a:r>
              <a:rPr b="1" i="0" lang="en-US" sz="2400" u="none" cap="none" strike="noStrike">
                <a:solidFill>
                  <a:srgbClr val="00B050"/>
                </a:solidFill>
                <a:latin typeface="Arial"/>
                <a:ea typeface="Arial"/>
                <a:cs typeface="Arial"/>
                <a:sym typeface="Arial"/>
              </a:rPr>
              <a:t>0 index </a:t>
            </a:r>
            <a:r>
              <a:rPr b="0" i="0" lang="en-US" sz="2400" u="none" cap="none" strike="noStrike">
                <a:solidFill>
                  <a:schemeClr val="dk1"/>
                </a:solidFill>
                <a:latin typeface="Arial"/>
                <a:ea typeface="Arial"/>
                <a:cs typeface="Arial"/>
                <a:sym typeface="Arial"/>
              </a:rPr>
              <a:t>stores the temperature for </a:t>
            </a:r>
            <a:r>
              <a:rPr b="1" i="0" lang="en-US" sz="2400" u="none" cap="none" strike="noStrike">
                <a:solidFill>
                  <a:srgbClr val="00B050"/>
                </a:solidFill>
                <a:latin typeface="Arial"/>
                <a:ea typeface="Arial"/>
                <a:cs typeface="Arial"/>
                <a:sym typeface="Arial"/>
              </a:rPr>
              <a:t>Sunday</a:t>
            </a:r>
            <a:r>
              <a:rPr b="0" i="0" lang="en-US" sz="2400" u="none" cap="none" strike="noStrike">
                <a:solidFill>
                  <a:schemeClr val="dk1"/>
                </a:solidFill>
                <a:latin typeface="Arial"/>
                <a:ea typeface="Arial"/>
                <a:cs typeface="Arial"/>
                <a:sym typeface="Arial"/>
              </a:rPr>
              <a:t>, the location at </a:t>
            </a:r>
            <a:r>
              <a:rPr b="1" i="0" lang="en-US" sz="2400" u="none" cap="none" strike="noStrike">
                <a:solidFill>
                  <a:srgbClr val="00B050"/>
                </a:solidFill>
                <a:latin typeface="Arial"/>
                <a:ea typeface="Arial"/>
                <a:cs typeface="Arial"/>
                <a:sym typeface="Arial"/>
              </a:rPr>
              <a:t>1 index </a:t>
            </a:r>
            <a:r>
              <a:rPr b="0" i="0" lang="en-US" sz="2400" u="none" cap="none" strike="noStrike">
                <a:solidFill>
                  <a:schemeClr val="dk1"/>
                </a:solidFill>
                <a:latin typeface="Arial"/>
                <a:ea typeface="Arial"/>
                <a:cs typeface="Arial"/>
                <a:sym typeface="Arial"/>
              </a:rPr>
              <a:t>stores the temperature for </a:t>
            </a:r>
            <a:r>
              <a:rPr b="1" i="0" lang="en-US" sz="2400" u="none" cap="none" strike="noStrike">
                <a:solidFill>
                  <a:srgbClr val="00B050"/>
                </a:solidFill>
                <a:latin typeface="Arial"/>
                <a:ea typeface="Arial"/>
                <a:cs typeface="Arial"/>
                <a:sym typeface="Arial"/>
              </a:rPr>
              <a:t>Monday</a:t>
            </a:r>
            <a:r>
              <a:rPr b="0" i="0" lang="en-US" sz="2400" u="none" cap="none" strike="noStrike">
                <a:solidFill>
                  <a:schemeClr val="dk1"/>
                </a:solidFill>
                <a:latin typeface="Arial"/>
                <a:ea typeface="Arial"/>
                <a:cs typeface="Arial"/>
                <a:sym typeface="Arial"/>
              </a:rPr>
              <a:t> an so on.</a:t>
            </a:r>
            <a:endParaRPr b="0" i="0" sz="2400" u="none" cap="none" strike="noStrike">
              <a:solidFill>
                <a:schemeClr val="dk1"/>
              </a:solidFill>
              <a:latin typeface="Arial"/>
              <a:ea typeface="Arial"/>
              <a:cs typeface="Arial"/>
              <a:sym typeface="Arial"/>
            </a:endParaRPr>
          </a:p>
        </p:txBody>
      </p:sp>
      <p:pic>
        <p:nvPicPr>
          <p:cNvPr descr="https://lh4.googleusercontent.com/lPEus42Poe2IjZ9pFUPf8PmbsjlAyU2ileB01N1fy5kItBvbl44pW_90zjH9RDObsFgrL1LTsJX24zobfv50I2fyuuIVAbKgldKlEM-9xXO5OqrCCJZNCB8m8QG13kIe17sUkwfuc7jnuSmTLMWvFqLWTY8Ebksg=s2048" id="217" name="Google Shape;217;p9"/>
          <p:cNvPicPr preferRelativeResize="0"/>
          <p:nvPr/>
        </p:nvPicPr>
        <p:blipFill rotWithShape="1">
          <a:blip r:embed="rId3">
            <a:alphaModFix/>
          </a:blip>
          <a:srcRect b="0" l="0" r="0" t="0"/>
          <a:stretch/>
        </p:blipFill>
        <p:spPr>
          <a:xfrm>
            <a:off x="2955388" y="1441923"/>
            <a:ext cx="2829697" cy="4766805"/>
          </a:xfrm>
          <a:prstGeom prst="rect">
            <a:avLst/>
          </a:prstGeom>
          <a:noFill/>
          <a:ln>
            <a:noFill/>
          </a:ln>
        </p:spPr>
      </p:pic>
      <p:sp>
        <p:nvSpPr>
          <p:cNvPr id="218" name="Google Shape;218;p9"/>
          <p:cNvSpPr/>
          <p:nvPr/>
        </p:nvSpPr>
        <p:spPr>
          <a:xfrm>
            <a:off x="6230402" y="3223375"/>
            <a:ext cx="5467612" cy="156966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It is the customary in programming languages to begin numbering sequences of items with an </a:t>
            </a:r>
            <a:r>
              <a:rPr b="1" i="0" lang="en-US" sz="2400" u="none" cap="none" strike="noStrike">
                <a:solidFill>
                  <a:srgbClr val="D4650A"/>
                </a:solidFill>
                <a:latin typeface="Arial"/>
                <a:ea typeface="Arial"/>
                <a:cs typeface="Arial"/>
                <a:sym typeface="Arial"/>
              </a:rPr>
              <a:t>index value of 0 rather than 1</a:t>
            </a:r>
            <a:endParaRPr b="1" i="0" sz="2400" u="none" cap="none" strike="noStrike">
              <a:solidFill>
                <a:srgbClr val="D4650A"/>
              </a:solidFill>
              <a:latin typeface="Arial"/>
              <a:ea typeface="Arial"/>
              <a:cs typeface="Arial"/>
              <a:sym typeface="Arial"/>
            </a:endParaRPr>
          </a:p>
        </p:txBody>
      </p:sp>
      <p:sp>
        <p:nvSpPr>
          <p:cNvPr id="219" name="Google Shape;219;p9"/>
          <p:cNvSpPr/>
          <p:nvPr/>
        </p:nvSpPr>
        <p:spPr>
          <a:xfrm>
            <a:off x="6230402" y="4977625"/>
            <a:ext cx="5467612"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This is referred to as zero-based indexing.</a:t>
            </a:r>
            <a:endParaRPr b="1" i="0" sz="2400" u="none" cap="none" strike="noStrike">
              <a:solidFill>
                <a:srgbClr val="FF0000"/>
              </a:solidFill>
              <a:latin typeface="Arial"/>
              <a:ea typeface="Arial"/>
              <a:cs typeface="Arial"/>
              <a:sym typeface="Arial"/>
            </a:endParaRPr>
          </a:p>
        </p:txBody>
      </p:sp>
      <p:pic>
        <p:nvPicPr>
          <p:cNvPr descr="https://lh4.googleusercontent.com/lPEus42Poe2IjZ9pFUPf8PmbsjlAyU2ileB01N1fy5kItBvbl44pW_90zjH9RDObsFgrL1LTsJX24zobfv50I2fyuuIVAbKgldKlEM-9xXO5OqrCCJZNCB8m8QG13kIe17sUkwfuc7jnuSmTLMWvFqLWTY8Ebksg=s2048" id="220" name="Google Shape;220;p9"/>
          <p:cNvPicPr preferRelativeResize="0"/>
          <p:nvPr/>
        </p:nvPicPr>
        <p:blipFill rotWithShape="1">
          <a:blip r:embed="rId3">
            <a:alphaModFix/>
          </a:blip>
          <a:srcRect b="0" l="0" r="0" t="0"/>
          <a:stretch/>
        </p:blipFill>
        <p:spPr>
          <a:xfrm>
            <a:off x="2955388" y="1441923"/>
            <a:ext cx="2829697" cy="476680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0"/>
          <p:cNvSpPr txBox="1"/>
          <p:nvPr>
            <p:ph idx="1" type="subTitle"/>
          </p:nvPr>
        </p:nvSpPr>
        <p:spPr>
          <a:xfrm>
            <a:off x="3499945" y="308259"/>
            <a:ext cx="7072471"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191919"/>
              </a:buClr>
              <a:buSzPts val="4800"/>
              <a:buNone/>
            </a:pPr>
            <a:r>
              <a:rPr lang="en-US" sz="4800">
                <a:solidFill>
                  <a:srgbClr val="191919"/>
                </a:solidFill>
                <a:latin typeface="Arial"/>
                <a:ea typeface="Arial"/>
                <a:cs typeface="Arial"/>
                <a:sym typeface="Arial"/>
              </a:rPr>
              <a:t>Common List Operations</a:t>
            </a:r>
            <a:endParaRPr sz="4800">
              <a:solidFill>
                <a:srgbClr val="191919"/>
              </a:solidFill>
              <a:latin typeface="Arial"/>
              <a:ea typeface="Arial"/>
              <a:cs typeface="Arial"/>
              <a:sym typeface="Arial"/>
            </a:endParaRPr>
          </a:p>
        </p:txBody>
      </p:sp>
      <p:graphicFrame>
        <p:nvGraphicFramePr>
          <p:cNvPr id="226" name="Google Shape;226;p10"/>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 Structure</a:t>
                      </a:r>
                      <a:endParaRPr sz="1400" u="none" cap="none" strike="noStrike"/>
                    </a:p>
                    <a:p>
                      <a:pPr indent="0" lvl="0" marL="0" marR="0" rtl="0" algn="ctr">
                        <a:lnSpc>
                          <a:spcPct val="150000"/>
                        </a:lnSpc>
                        <a:spcBef>
                          <a:spcPts val="0"/>
                        </a:spcBef>
                        <a:spcAft>
                          <a:spcPts val="0"/>
                        </a:spcAft>
                        <a:buClr>
                          <a:srgbClr val="00B050"/>
                        </a:buClr>
                        <a:buSzPts val="1600"/>
                        <a:buFont typeface="Calibri"/>
                        <a:buNone/>
                      </a:pPr>
                      <a:r>
                        <a:rPr b="1" lang="en-US" sz="1600" u="none" cap="none" strike="noStrike">
                          <a:solidFill>
                            <a:srgbClr val="00B050"/>
                          </a:solidFill>
                          <a:latin typeface="Arial"/>
                          <a:ea typeface="Arial"/>
                          <a:cs typeface="Arial"/>
                          <a:sym typeface="Arial"/>
                        </a:rPr>
                        <a:t>2.1. Common List Operations</a:t>
                      </a:r>
                      <a:endParaRPr sz="1400" u="none" cap="none" strike="noStrike"/>
                    </a:p>
                  </a:txBody>
                  <a:tcPr marT="45725" marB="45725" marR="91450" marL="91450"/>
                </a:tc>
              </a:tr>
            </a:tbl>
          </a:graphicData>
        </a:graphic>
      </p:graphicFrame>
      <p:cxnSp>
        <p:nvCxnSpPr>
          <p:cNvPr id="227" name="Google Shape;227;p10"/>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228" name="Google Shape;228;p10"/>
          <p:cNvSpPr/>
          <p:nvPr/>
        </p:nvSpPr>
        <p:spPr>
          <a:xfrm>
            <a:off x="2869324" y="2528510"/>
            <a:ext cx="8671035" cy="46166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What is the temperature in Thursday?</a:t>
            </a:r>
            <a:endParaRPr b="0" i="0" sz="2400" u="none" cap="none" strike="noStrike">
              <a:solidFill>
                <a:schemeClr val="dk1"/>
              </a:solidFill>
              <a:latin typeface="Arial"/>
              <a:ea typeface="Arial"/>
              <a:cs typeface="Arial"/>
              <a:sym typeface="Arial"/>
            </a:endParaRPr>
          </a:p>
        </p:txBody>
      </p:sp>
      <p:sp>
        <p:nvSpPr>
          <p:cNvPr id="229" name="Google Shape;229;p10"/>
          <p:cNvSpPr/>
          <p:nvPr/>
        </p:nvSpPr>
        <p:spPr>
          <a:xfrm>
            <a:off x="2869324" y="1479360"/>
            <a:ext cx="8828689"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While maintaining a list of temperature throughout the week, can we perform such operations?</a:t>
            </a:r>
            <a:endParaRPr b="1" i="0" sz="2400" u="none" cap="none" strike="noStrike">
              <a:solidFill>
                <a:srgbClr val="FF0000"/>
              </a:solidFill>
              <a:latin typeface="Arial"/>
              <a:ea typeface="Arial"/>
              <a:cs typeface="Arial"/>
              <a:sym typeface="Arial"/>
            </a:endParaRPr>
          </a:p>
        </p:txBody>
      </p:sp>
      <p:sp>
        <p:nvSpPr>
          <p:cNvPr id="230" name="Google Shape;230;p10"/>
          <p:cNvSpPr/>
          <p:nvPr/>
        </p:nvSpPr>
        <p:spPr>
          <a:xfrm>
            <a:off x="2869324" y="3208328"/>
            <a:ext cx="8671035" cy="46166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Can we update the temperature?</a:t>
            </a:r>
            <a:endParaRPr b="0" i="0" sz="2400" u="none" cap="none" strike="noStrike">
              <a:solidFill>
                <a:schemeClr val="dk1"/>
              </a:solidFill>
              <a:latin typeface="Arial"/>
              <a:ea typeface="Arial"/>
              <a:cs typeface="Arial"/>
              <a:sym typeface="Arial"/>
            </a:endParaRPr>
          </a:p>
        </p:txBody>
      </p:sp>
      <p:sp>
        <p:nvSpPr>
          <p:cNvPr id="231" name="Google Shape;231;p10"/>
          <p:cNvSpPr/>
          <p:nvPr/>
        </p:nvSpPr>
        <p:spPr>
          <a:xfrm>
            <a:off x="2869323" y="3888146"/>
            <a:ext cx="8671035" cy="46166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Can we append more data in list?</a:t>
            </a:r>
            <a:endParaRPr b="0" i="0" sz="2400" u="none" cap="none" strike="noStrike">
              <a:solidFill>
                <a:schemeClr val="dk1"/>
              </a:solidFill>
              <a:latin typeface="Arial"/>
              <a:ea typeface="Arial"/>
              <a:cs typeface="Arial"/>
              <a:sym typeface="Arial"/>
            </a:endParaRPr>
          </a:p>
        </p:txBody>
      </p:sp>
      <p:sp>
        <p:nvSpPr>
          <p:cNvPr id="232" name="Google Shape;232;p10"/>
          <p:cNvSpPr/>
          <p:nvPr/>
        </p:nvSpPr>
        <p:spPr>
          <a:xfrm>
            <a:off x="2869323" y="4622947"/>
            <a:ext cx="8671035" cy="46166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Can we remove any data from the list?</a:t>
            </a:r>
            <a:endParaRPr b="0" i="0" sz="2400" u="none" cap="none" strike="noStrike">
              <a:solidFill>
                <a:schemeClr val="dk1"/>
              </a:solidFill>
              <a:latin typeface="Arial"/>
              <a:ea typeface="Arial"/>
              <a:cs typeface="Arial"/>
              <a:sym typeface="Arial"/>
            </a:endParaRPr>
          </a:p>
        </p:txBody>
      </p:sp>
      <p:sp>
        <p:nvSpPr>
          <p:cNvPr id="233" name="Google Shape;233;p10"/>
          <p:cNvSpPr/>
          <p:nvPr/>
        </p:nvSpPr>
        <p:spPr>
          <a:xfrm>
            <a:off x="2869323" y="5473490"/>
            <a:ext cx="8828690"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002FC4"/>
                </a:solidFill>
                <a:latin typeface="Arial"/>
                <a:ea typeface="Arial"/>
                <a:cs typeface="Arial"/>
                <a:sym typeface="Arial"/>
              </a:rPr>
              <a:t>Some of the commonly performed operations on lists include access(retrieve), update, append, insert, delete and so on.</a:t>
            </a:r>
            <a:endParaRPr b="0" i="0" sz="2400" u="none" cap="none" strike="noStrike">
              <a:solidFill>
                <a:srgbClr val="002FC4"/>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1"/>
          <p:cNvSpPr txBox="1"/>
          <p:nvPr>
            <p:ph idx="1" type="subTitle"/>
          </p:nvPr>
        </p:nvSpPr>
        <p:spPr>
          <a:xfrm>
            <a:off x="3499945" y="308259"/>
            <a:ext cx="7072471"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191919"/>
              </a:buClr>
              <a:buSzPts val="4800"/>
              <a:buNone/>
            </a:pPr>
            <a:r>
              <a:rPr lang="en-US" sz="4800">
                <a:solidFill>
                  <a:srgbClr val="191919"/>
                </a:solidFill>
                <a:latin typeface="Arial"/>
                <a:ea typeface="Arial"/>
                <a:cs typeface="Arial"/>
                <a:sym typeface="Arial"/>
              </a:rPr>
              <a:t>Accessing and Updating</a:t>
            </a:r>
            <a:endParaRPr sz="4800">
              <a:solidFill>
                <a:srgbClr val="191919"/>
              </a:solidFill>
              <a:latin typeface="Arial"/>
              <a:ea typeface="Arial"/>
              <a:cs typeface="Arial"/>
              <a:sym typeface="Arial"/>
            </a:endParaRPr>
          </a:p>
        </p:txBody>
      </p:sp>
      <p:graphicFrame>
        <p:nvGraphicFramePr>
          <p:cNvPr id="239" name="Google Shape;239;p11"/>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 Structure</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2.1. Common List Operations</a:t>
                      </a:r>
                      <a:endParaRPr sz="1400" u="none" cap="none" strike="noStrike"/>
                    </a:p>
                    <a:p>
                      <a:pPr indent="0" lvl="0" marL="0" marR="0" rtl="0" algn="ctr">
                        <a:lnSpc>
                          <a:spcPct val="150000"/>
                        </a:lnSpc>
                        <a:spcBef>
                          <a:spcPts val="0"/>
                        </a:spcBef>
                        <a:spcAft>
                          <a:spcPts val="0"/>
                        </a:spcAft>
                        <a:buClr>
                          <a:srgbClr val="00B050"/>
                        </a:buClr>
                        <a:buSzPts val="1600"/>
                        <a:buFont typeface="Calibri"/>
                        <a:buNone/>
                      </a:pPr>
                      <a:r>
                        <a:rPr b="1" lang="en-US" sz="1600" u="none" cap="none" strike="noStrike">
                          <a:solidFill>
                            <a:srgbClr val="00B050"/>
                          </a:solidFill>
                          <a:latin typeface="Arial"/>
                          <a:ea typeface="Arial"/>
                          <a:cs typeface="Arial"/>
                          <a:sym typeface="Arial"/>
                        </a:rPr>
                        <a:t>2.2. List Access and Update</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txBody>
                  <a:tcPr marT="45725" marB="45725" marR="91450" marL="91450"/>
                </a:tc>
              </a:tr>
            </a:tbl>
          </a:graphicData>
        </a:graphic>
      </p:graphicFrame>
      <p:cxnSp>
        <p:nvCxnSpPr>
          <p:cNvPr id="240" name="Google Shape;240;p11"/>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pic>
        <p:nvPicPr>
          <p:cNvPr id="241" name="Google Shape;241;p11"/>
          <p:cNvPicPr preferRelativeResize="0"/>
          <p:nvPr/>
        </p:nvPicPr>
        <p:blipFill rotWithShape="1">
          <a:blip r:embed="rId3">
            <a:alphaModFix/>
          </a:blip>
          <a:srcRect b="0" l="0" r="0" t="0"/>
          <a:stretch/>
        </p:blipFill>
        <p:spPr>
          <a:xfrm>
            <a:off x="3714356" y="2140372"/>
            <a:ext cx="3343275" cy="3571875"/>
          </a:xfrm>
          <a:prstGeom prst="rect">
            <a:avLst/>
          </a:prstGeom>
          <a:noFill/>
          <a:ln>
            <a:noFill/>
          </a:ln>
        </p:spPr>
      </p:pic>
      <p:pic>
        <p:nvPicPr>
          <p:cNvPr id="242" name="Google Shape;242;p11"/>
          <p:cNvPicPr preferRelativeResize="0"/>
          <p:nvPr/>
        </p:nvPicPr>
        <p:blipFill rotWithShape="1">
          <a:blip r:embed="rId4">
            <a:alphaModFix/>
          </a:blip>
          <a:srcRect b="0" l="0" r="0" t="0"/>
          <a:stretch/>
        </p:blipFill>
        <p:spPr>
          <a:xfrm>
            <a:off x="7539348" y="2159424"/>
            <a:ext cx="3505200" cy="3533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2"/>
          <p:cNvSpPr txBox="1"/>
          <p:nvPr>
            <p:ph idx="1" type="subTitle"/>
          </p:nvPr>
        </p:nvSpPr>
        <p:spPr>
          <a:xfrm>
            <a:off x="3499945" y="308259"/>
            <a:ext cx="7072471"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191919"/>
              </a:buClr>
              <a:buSzPts val="4800"/>
              <a:buNone/>
            </a:pPr>
            <a:r>
              <a:rPr lang="en-US" sz="4800">
                <a:solidFill>
                  <a:srgbClr val="191919"/>
                </a:solidFill>
                <a:latin typeface="Arial"/>
                <a:ea typeface="Arial"/>
                <a:cs typeface="Arial"/>
                <a:sym typeface="Arial"/>
              </a:rPr>
              <a:t>Appending and Inserting</a:t>
            </a:r>
            <a:endParaRPr sz="4800">
              <a:solidFill>
                <a:srgbClr val="191919"/>
              </a:solidFill>
              <a:latin typeface="Arial"/>
              <a:ea typeface="Arial"/>
              <a:cs typeface="Arial"/>
              <a:sym typeface="Arial"/>
            </a:endParaRPr>
          </a:p>
        </p:txBody>
      </p:sp>
      <p:graphicFrame>
        <p:nvGraphicFramePr>
          <p:cNvPr id="248" name="Google Shape;248;p12"/>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 Structure</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2.1. Common List Operations</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2.2. List Access and Update</a:t>
                      </a:r>
                      <a:endParaRPr sz="1400" u="none" cap="none" strike="noStrike"/>
                    </a:p>
                    <a:p>
                      <a:pPr indent="0" lvl="0" marL="0" marR="0" rtl="0" algn="ctr">
                        <a:lnSpc>
                          <a:spcPct val="150000"/>
                        </a:lnSpc>
                        <a:spcBef>
                          <a:spcPts val="0"/>
                        </a:spcBef>
                        <a:spcAft>
                          <a:spcPts val="0"/>
                        </a:spcAft>
                        <a:buClr>
                          <a:srgbClr val="00B050"/>
                        </a:buClr>
                        <a:buSzPts val="1600"/>
                        <a:buFont typeface="Calibri"/>
                        <a:buNone/>
                      </a:pPr>
                      <a:r>
                        <a:rPr b="1" lang="en-US" sz="1600" u="none" cap="none" strike="noStrike">
                          <a:solidFill>
                            <a:srgbClr val="00B050"/>
                          </a:solidFill>
                          <a:latin typeface="Arial"/>
                          <a:ea typeface="Arial"/>
                          <a:cs typeface="Arial"/>
                          <a:sym typeface="Arial"/>
                        </a:rPr>
                        <a:t>2.3. Appending and Inserting</a:t>
                      </a:r>
                      <a:endParaRPr sz="1400" u="none" cap="none" strike="noStrike"/>
                    </a:p>
                  </a:txBody>
                  <a:tcPr marT="45725" marB="45725" marR="91450" marL="91450"/>
                </a:tc>
              </a:tr>
            </a:tbl>
          </a:graphicData>
        </a:graphic>
      </p:graphicFrame>
      <p:cxnSp>
        <p:nvCxnSpPr>
          <p:cNvPr id="249" name="Google Shape;249;p12"/>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pic>
        <p:nvPicPr>
          <p:cNvPr id="250" name="Google Shape;250;p12"/>
          <p:cNvPicPr preferRelativeResize="0"/>
          <p:nvPr/>
        </p:nvPicPr>
        <p:blipFill rotWithShape="1">
          <a:blip r:embed="rId3">
            <a:alphaModFix/>
          </a:blip>
          <a:srcRect b="0" l="0" r="0" t="0"/>
          <a:stretch/>
        </p:blipFill>
        <p:spPr>
          <a:xfrm>
            <a:off x="3745887" y="1845734"/>
            <a:ext cx="3448050" cy="4038600"/>
          </a:xfrm>
          <a:prstGeom prst="rect">
            <a:avLst/>
          </a:prstGeom>
          <a:noFill/>
          <a:ln>
            <a:noFill/>
          </a:ln>
        </p:spPr>
      </p:pic>
      <p:pic>
        <p:nvPicPr>
          <p:cNvPr id="251" name="Google Shape;251;p12"/>
          <p:cNvPicPr preferRelativeResize="0"/>
          <p:nvPr/>
        </p:nvPicPr>
        <p:blipFill rotWithShape="1">
          <a:blip r:embed="rId4">
            <a:alphaModFix/>
          </a:blip>
          <a:srcRect b="0" l="0" r="0" t="0"/>
          <a:stretch/>
        </p:blipFill>
        <p:spPr>
          <a:xfrm>
            <a:off x="7651314" y="1880837"/>
            <a:ext cx="3381375" cy="3990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3"/>
          <p:cNvSpPr txBox="1"/>
          <p:nvPr>
            <p:ph idx="1" type="subTitle"/>
          </p:nvPr>
        </p:nvSpPr>
        <p:spPr>
          <a:xfrm>
            <a:off x="3499945" y="308259"/>
            <a:ext cx="7072471"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191919"/>
              </a:buClr>
              <a:buSzPts val="4800"/>
              <a:buNone/>
            </a:pPr>
            <a:r>
              <a:rPr lang="en-US" sz="4800">
                <a:solidFill>
                  <a:srgbClr val="191919"/>
                </a:solidFill>
                <a:latin typeface="Arial"/>
                <a:ea typeface="Arial"/>
                <a:cs typeface="Arial"/>
                <a:sym typeface="Arial"/>
              </a:rPr>
              <a:t>Removing</a:t>
            </a:r>
            <a:endParaRPr sz="4800">
              <a:solidFill>
                <a:srgbClr val="191919"/>
              </a:solidFill>
              <a:latin typeface="Arial"/>
              <a:ea typeface="Arial"/>
              <a:cs typeface="Arial"/>
              <a:sym typeface="Arial"/>
            </a:endParaRPr>
          </a:p>
        </p:txBody>
      </p:sp>
      <p:graphicFrame>
        <p:nvGraphicFramePr>
          <p:cNvPr id="257" name="Google Shape;257;p13"/>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 Structure</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2.1. Common List Operations</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2.2. List Access and Update</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2.3. Appending and Inserting</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2.4. Removing from List</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txBody>
                  <a:tcPr marT="45725" marB="45725" marR="91450" marL="91450"/>
                </a:tc>
              </a:tr>
            </a:tbl>
          </a:graphicData>
        </a:graphic>
      </p:graphicFrame>
      <p:cxnSp>
        <p:nvCxnSpPr>
          <p:cNvPr id="258" name="Google Shape;258;p13"/>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pic>
        <p:nvPicPr>
          <p:cNvPr id="259" name="Google Shape;259;p13"/>
          <p:cNvPicPr preferRelativeResize="0"/>
          <p:nvPr/>
        </p:nvPicPr>
        <p:blipFill rotWithShape="1">
          <a:blip r:embed="rId3">
            <a:alphaModFix/>
          </a:blip>
          <a:srcRect b="0" l="0" r="0" t="0"/>
          <a:stretch/>
        </p:blipFill>
        <p:spPr>
          <a:xfrm>
            <a:off x="5637749" y="1877264"/>
            <a:ext cx="3581400" cy="4038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4"/>
          <p:cNvSpPr txBox="1"/>
          <p:nvPr>
            <p:ph idx="1" type="subTitle"/>
          </p:nvPr>
        </p:nvSpPr>
        <p:spPr>
          <a:xfrm>
            <a:off x="3499945" y="308259"/>
            <a:ext cx="7072471"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191919"/>
              </a:buClr>
              <a:buSzPts val="4800"/>
              <a:buNone/>
            </a:pPr>
            <a:r>
              <a:rPr lang="en-US" sz="4800">
                <a:solidFill>
                  <a:srgbClr val="191919"/>
                </a:solidFill>
                <a:latin typeface="Arial"/>
                <a:ea typeface="Arial"/>
                <a:cs typeface="Arial"/>
                <a:sym typeface="Arial"/>
              </a:rPr>
              <a:t>Sneak Peek!!</a:t>
            </a:r>
            <a:endParaRPr sz="4800">
              <a:solidFill>
                <a:srgbClr val="191919"/>
              </a:solidFill>
              <a:latin typeface="Arial"/>
              <a:ea typeface="Arial"/>
              <a:cs typeface="Arial"/>
              <a:sym typeface="Arial"/>
            </a:endParaRPr>
          </a:p>
        </p:txBody>
      </p:sp>
      <p:graphicFrame>
        <p:nvGraphicFramePr>
          <p:cNvPr id="265" name="Google Shape;265;p14"/>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 Structure</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2.1. Common List Operations</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2.2. List Access and Update</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2.3. Appending and Inserting</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2.4. Removing from List</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Sneak Peek !!</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txBody>
                  <a:tcPr marT="45725" marB="45725" marR="91450" marL="91450"/>
                </a:tc>
              </a:tr>
            </a:tbl>
          </a:graphicData>
        </a:graphic>
      </p:graphicFrame>
      <p:cxnSp>
        <p:nvCxnSpPr>
          <p:cNvPr id="266" name="Google Shape;266;p14"/>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267" name="Google Shape;267;p14"/>
          <p:cNvSpPr/>
          <p:nvPr/>
        </p:nvSpPr>
        <p:spPr>
          <a:xfrm>
            <a:off x="3020172" y="1401234"/>
            <a:ext cx="6610849" cy="3416320"/>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80"/>
                </a:solidFill>
                <a:latin typeface="Arial"/>
                <a:ea typeface="Arial"/>
                <a:cs typeface="Arial"/>
                <a:sym typeface="Arial"/>
              </a:rPr>
              <a:t>print</a:t>
            </a:r>
            <a:r>
              <a:rPr b="0" i="0" lang="en-US" sz="1800" u="none" cap="none" strike="noStrike">
                <a:solidFill>
                  <a:srgbClr val="080808"/>
                </a:solidFill>
                <a:latin typeface="Arial"/>
                <a:ea typeface="Arial"/>
                <a:cs typeface="Arial"/>
                <a:sym typeface="Arial"/>
              </a:rPr>
              <a:t>(</a:t>
            </a:r>
            <a:r>
              <a:rPr b="0" i="0" lang="en-US" sz="1800" u="none" cap="none" strike="noStrike">
                <a:solidFill>
                  <a:srgbClr val="067D17"/>
                </a:solidFill>
                <a:latin typeface="Arial"/>
                <a:ea typeface="Arial"/>
                <a:cs typeface="Arial"/>
                <a:sym typeface="Arial"/>
              </a:rPr>
              <a:t>"Temperature List of The Week"</a:t>
            </a:r>
            <a:r>
              <a:rPr b="0" i="0" lang="en-US" sz="1800" u="none" cap="none" strike="noStrike">
                <a:solidFill>
                  <a:srgbClr val="080808"/>
                </a:solidFill>
                <a:latin typeface="Arial"/>
                <a:ea typeface="Arial"/>
                <a:cs typeface="Arial"/>
                <a:sym typeface="Arial"/>
              </a:rPr>
              <a:t>)</a:t>
            </a:r>
            <a:br>
              <a:rPr b="0" i="0" lang="en-US" sz="1800" u="none" cap="none" strike="noStrike">
                <a:solidFill>
                  <a:srgbClr val="080808"/>
                </a:solidFill>
                <a:latin typeface="Arial"/>
                <a:ea typeface="Arial"/>
                <a:cs typeface="Arial"/>
                <a:sym typeface="Arial"/>
              </a:rPr>
            </a:br>
            <a:r>
              <a:rPr b="0" i="0" lang="en-US" sz="1800" u="none" cap="none" strike="noStrike">
                <a:solidFill>
                  <a:srgbClr val="080808"/>
                </a:solidFill>
                <a:latin typeface="Arial"/>
                <a:ea typeface="Arial"/>
                <a:cs typeface="Arial"/>
                <a:sym typeface="Arial"/>
              </a:rPr>
              <a:t>week_temp = [</a:t>
            </a:r>
            <a:r>
              <a:rPr b="0" i="0" lang="en-US" sz="1800" u="none" cap="none" strike="noStrike">
                <a:solidFill>
                  <a:srgbClr val="1750EB"/>
                </a:solidFill>
                <a:latin typeface="Arial"/>
                <a:ea typeface="Arial"/>
                <a:cs typeface="Arial"/>
                <a:sym typeface="Arial"/>
              </a:rPr>
              <a:t>68.8</a:t>
            </a:r>
            <a:r>
              <a:rPr b="0" i="0" lang="en-US" sz="1800" u="none" cap="none" strike="noStrike">
                <a:solidFill>
                  <a:srgbClr val="080808"/>
                </a:solidFill>
                <a:latin typeface="Arial"/>
                <a:ea typeface="Arial"/>
                <a:cs typeface="Arial"/>
                <a:sym typeface="Arial"/>
              </a:rPr>
              <a:t>, </a:t>
            </a:r>
            <a:r>
              <a:rPr b="0" i="0" lang="en-US" sz="1800" u="none" cap="none" strike="noStrike">
                <a:solidFill>
                  <a:srgbClr val="1750EB"/>
                </a:solidFill>
                <a:latin typeface="Arial"/>
                <a:ea typeface="Arial"/>
                <a:cs typeface="Arial"/>
                <a:sym typeface="Arial"/>
              </a:rPr>
              <a:t>70.2</a:t>
            </a:r>
            <a:r>
              <a:rPr b="0" i="0" lang="en-US" sz="1800" u="none" cap="none" strike="noStrike">
                <a:solidFill>
                  <a:srgbClr val="080808"/>
                </a:solidFill>
                <a:latin typeface="Arial"/>
                <a:ea typeface="Arial"/>
                <a:cs typeface="Arial"/>
                <a:sym typeface="Arial"/>
              </a:rPr>
              <a:t>, </a:t>
            </a:r>
            <a:r>
              <a:rPr b="0" i="0" lang="en-US" sz="1800" u="none" cap="none" strike="noStrike">
                <a:solidFill>
                  <a:srgbClr val="1750EB"/>
                </a:solidFill>
                <a:latin typeface="Arial"/>
                <a:ea typeface="Arial"/>
                <a:cs typeface="Arial"/>
                <a:sym typeface="Arial"/>
              </a:rPr>
              <a:t>67.2</a:t>
            </a:r>
            <a:r>
              <a:rPr b="0" i="0" lang="en-US" sz="1800" u="none" cap="none" strike="noStrike">
                <a:solidFill>
                  <a:srgbClr val="080808"/>
                </a:solidFill>
                <a:latin typeface="Arial"/>
                <a:ea typeface="Arial"/>
                <a:cs typeface="Arial"/>
                <a:sym typeface="Arial"/>
              </a:rPr>
              <a:t>, </a:t>
            </a:r>
            <a:r>
              <a:rPr b="0" i="0" lang="en-US" sz="1800" u="none" cap="none" strike="noStrike">
                <a:solidFill>
                  <a:srgbClr val="1750EB"/>
                </a:solidFill>
                <a:latin typeface="Arial"/>
                <a:ea typeface="Arial"/>
                <a:cs typeface="Arial"/>
                <a:sym typeface="Arial"/>
              </a:rPr>
              <a:t>71.8</a:t>
            </a:r>
            <a:r>
              <a:rPr b="0" i="0" lang="en-US" sz="1800" u="none" cap="none" strike="noStrike">
                <a:solidFill>
                  <a:srgbClr val="080808"/>
                </a:solidFill>
                <a:latin typeface="Arial"/>
                <a:ea typeface="Arial"/>
                <a:cs typeface="Arial"/>
                <a:sym typeface="Arial"/>
              </a:rPr>
              <a:t>, </a:t>
            </a:r>
            <a:r>
              <a:rPr b="0" i="0" lang="en-US" sz="1800" u="none" cap="none" strike="noStrike">
                <a:solidFill>
                  <a:srgbClr val="1750EB"/>
                </a:solidFill>
                <a:latin typeface="Arial"/>
                <a:ea typeface="Arial"/>
                <a:cs typeface="Arial"/>
                <a:sym typeface="Arial"/>
              </a:rPr>
              <a:t>73.2</a:t>
            </a:r>
            <a:r>
              <a:rPr b="0" i="0" lang="en-US" sz="1800" u="none" cap="none" strike="noStrike">
                <a:solidFill>
                  <a:srgbClr val="080808"/>
                </a:solidFill>
                <a:latin typeface="Arial"/>
                <a:ea typeface="Arial"/>
                <a:cs typeface="Arial"/>
                <a:sym typeface="Arial"/>
              </a:rPr>
              <a:t>, </a:t>
            </a:r>
            <a:r>
              <a:rPr b="0" i="0" lang="en-US" sz="1800" u="none" cap="none" strike="noStrike">
                <a:solidFill>
                  <a:srgbClr val="1750EB"/>
                </a:solidFill>
                <a:latin typeface="Arial"/>
                <a:ea typeface="Arial"/>
                <a:cs typeface="Arial"/>
                <a:sym typeface="Arial"/>
              </a:rPr>
              <a:t>75.6</a:t>
            </a:r>
            <a:r>
              <a:rPr b="0" i="0" lang="en-US" sz="1800" u="none" cap="none" strike="noStrike">
                <a:solidFill>
                  <a:srgbClr val="080808"/>
                </a:solidFill>
                <a:latin typeface="Arial"/>
                <a:ea typeface="Arial"/>
                <a:cs typeface="Arial"/>
                <a:sym typeface="Arial"/>
              </a:rPr>
              <a:t>, </a:t>
            </a:r>
            <a:r>
              <a:rPr b="0" i="0" lang="en-US" sz="1800" u="none" cap="none" strike="noStrike">
                <a:solidFill>
                  <a:srgbClr val="1750EB"/>
                </a:solidFill>
                <a:latin typeface="Arial"/>
                <a:ea typeface="Arial"/>
                <a:cs typeface="Arial"/>
                <a:sym typeface="Arial"/>
              </a:rPr>
              <a:t>74.0</a:t>
            </a:r>
            <a:r>
              <a:rPr b="0" i="0" lang="en-US" sz="1800" u="none" cap="none" strike="noStrike">
                <a:solidFill>
                  <a:srgbClr val="080808"/>
                </a:solidFill>
                <a:latin typeface="Arial"/>
                <a:ea typeface="Arial"/>
                <a:cs typeface="Arial"/>
                <a:sym typeface="Arial"/>
              </a:rPr>
              <a:t>]</a:t>
            </a:r>
            <a:br>
              <a:rPr b="0" i="0" lang="en-US" sz="1800" u="none" cap="none" strike="noStrike">
                <a:solidFill>
                  <a:srgbClr val="080808"/>
                </a:solidFill>
                <a:latin typeface="Arial"/>
                <a:ea typeface="Arial"/>
                <a:cs typeface="Arial"/>
                <a:sym typeface="Arial"/>
              </a:rPr>
            </a:br>
            <a:r>
              <a:rPr b="0" i="0" lang="en-US" sz="1800" u="none" cap="none" strike="noStrike">
                <a:solidFill>
                  <a:srgbClr val="000080"/>
                </a:solidFill>
                <a:latin typeface="Arial"/>
                <a:ea typeface="Arial"/>
                <a:cs typeface="Arial"/>
                <a:sym typeface="Arial"/>
              </a:rPr>
              <a:t>print</a:t>
            </a:r>
            <a:r>
              <a:rPr b="0" i="0" lang="en-US" sz="1800" u="none" cap="none" strike="noStrike">
                <a:solidFill>
                  <a:srgbClr val="080808"/>
                </a:solidFill>
                <a:latin typeface="Arial"/>
                <a:ea typeface="Arial"/>
                <a:cs typeface="Arial"/>
                <a:sym typeface="Arial"/>
              </a:rPr>
              <a:t>(week_temp)</a:t>
            </a:r>
            <a:br>
              <a:rPr b="0" i="0" lang="en-US" sz="1800" u="none" cap="none" strike="noStrike">
                <a:solidFill>
                  <a:srgbClr val="080808"/>
                </a:solidFill>
                <a:latin typeface="Arial"/>
                <a:ea typeface="Arial"/>
                <a:cs typeface="Arial"/>
                <a:sym typeface="Arial"/>
              </a:rPr>
            </a:br>
            <a:r>
              <a:rPr b="0" i="0" lang="en-US" sz="1800" u="none" cap="none" strike="noStrike">
                <a:solidFill>
                  <a:srgbClr val="000080"/>
                </a:solidFill>
                <a:latin typeface="Arial"/>
                <a:ea typeface="Arial"/>
                <a:cs typeface="Arial"/>
                <a:sym typeface="Arial"/>
              </a:rPr>
              <a:t>print</a:t>
            </a:r>
            <a:r>
              <a:rPr b="0" i="0" lang="en-US" sz="1800" u="none" cap="none" strike="noStrike">
                <a:solidFill>
                  <a:srgbClr val="080808"/>
                </a:solidFill>
                <a:latin typeface="Arial"/>
                <a:ea typeface="Arial"/>
                <a:cs typeface="Arial"/>
                <a:sym typeface="Arial"/>
              </a:rPr>
              <a:t>(</a:t>
            </a:r>
            <a:r>
              <a:rPr b="0" i="0" lang="en-US" sz="1800" u="none" cap="none" strike="noStrike">
                <a:solidFill>
                  <a:srgbClr val="067D17"/>
                </a:solidFill>
                <a:latin typeface="Arial"/>
                <a:ea typeface="Arial"/>
                <a:cs typeface="Arial"/>
                <a:sym typeface="Arial"/>
              </a:rPr>
              <a:t>"Temperature of Thursday: "</a:t>
            </a:r>
            <a:r>
              <a:rPr b="0" i="0" lang="en-US" sz="1800" u="none" cap="none" strike="noStrike">
                <a:solidFill>
                  <a:srgbClr val="080808"/>
                </a:solidFill>
                <a:latin typeface="Arial"/>
                <a:ea typeface="Arial"/>
                <a:cs typeface="Arial"/>
                <a:sym typeface="Arial"/>
              </a:rPr>
              <a:t>, week_temp[</a:t>
            </a:r>
            <a:r>
              <a:rPr b="0" i="0" lang="en-US" sz="1800" u="none" cap="none" strike="noStrike">
                <a:solidFill>
                  <a:srgbClr val="1750EB"/>
                </a:solidFill>
                <a:latin typeface="Arial"/>
                <a:ea typeface="Arial"/>
                <a:cs typeface="Arial"/>
                <a:sym typeface="Arial"/>
              </a:rPr>
              <a:t>4</a:t>
            </a:r>
            <a:r>
              <a:rPr b="0" i="0" lang="en-US" sz="1800" u="none" cap="none" strike="noStrike">
                <a:solidFill>
                  <a:srgbClr val="080808"/>
                </a:solidFill>
                <a:latin typeface="Arial"/>
                <a:ea typeface="Arial"/>
                <a:cs typeface="Arial"/>
                <a:sym typeface="Arial"/>
              </a:rPr>
              <a:t>])</a:t>
            </a:r>
            <a:br>
              <a:rPr b="0" i="0" lang="en-US" sz="1800" u="none" cap="none" strike="noStrike">
                <a:solidFill>
                  <a:srgbClr val="080808"/>
                </a:solidFill>
                <a:latin typeface="Arial"/>
                <a:ea typeface="Arial"/>
                <a:cs typeface="Arial"/>
                <a:sym typeface="Arial"/>
              </a:rPr>
            </a:br>
            <a:r>
              <a:rPr b="0" i="0" lang="en-US" sz="1800" u="none" cap="none" strike="noStrike">
                <a:solidFill>
                  <a:srgbClr val="080808"/>
                </a:solidFill>
                <a:latin typeface="Arial"/>
                <a:ea typeface="Arial"/>
                <a:cs typeface="Arial"/>
                <a:sym typeface="Arial"/>
              </a:rPr>
              <a:t>week_temp[</a:t>
            </a:r>
            <a:r>
              <a:rPr b="0" i="0" lang="en-US" sz="1800" u="none" cap="none" strike="noStrike">
                <a:solidFill>
                  <a:srgbClr val="1750EB"/>
                </a:solidFill>
                <a:latin typeface="Arial"/>
                <a:ea typeface="Arial"/>
                <a:cs typeface="Arial"/>
                <a:sym typeface="Arial"/>
              </a:rPr>
              <a:t>4</a:t>
            </a:r>
            <a:r>
              <a:rPr b="0" i="0" lang="en-US" sz="1800" u="none" cap="none" strike="noStrike">
                <a:solidFill>
                  <a:srgbClr val="080808"/>
                </a:solidFill>
                <a:latin typeface="Arial"/>
                <a:ea typeface="Arial"/>
                <a:cs typeface="Arial"/>
                <a:sym typeface="Arial"/>
              </a:rPr>
              <a:t>] = </a:t>
            </a:r>
            <a:r>
              <a:rPr b="0" i="0" lang="en-US" sz="1800" u="none" cap="none" strike="noStrike">
                <a:solidFill>
                  <a:srgbClr val="1750EB"/>
                </a:solidFill>
                <a:latin typeface="Arial"/>
                <a:ea typeface="Arial"/>
                <a:cs typeface="Arial"/>
                <a:sym typeface="Arial"/>
              </a:rPr>
              <a:t>50</a:t>
            </a:r>
            <a:br>
              <a:rPr b="0" i="0" lang="en-US" sz="1800" u="none" cap="none" strike="noStrike">
                <a:solidFill>
                  <a:srgbClr val="1750EB"/>
                </a:solidFill>
                <a:latin typeface="Arial"/>
                <a:ea typeface="Arial"/>
                <a:cs typeface="Arial"/>
                <a:sym typeface="Arial"/>
              </a:rPr>
            </a:br>
            <a:r>
              <a:rPr b="0" i="0" lang="en-US" sz="1800" u="none" cap="none" strike="noStrike">
                <a:solidFill>
                  <a:srgbClr val="000080"/>
                </a:solidFill>
                <a:latin typeface="Arial"/>
                <a:ea typeface="Arial"/>
                <a:cs typeface="Arial"/>
                <a:sym typeface="Arial"/>
              </a:rPr>
              <a:t>print</a:t>
            </a:r>
            <a:r>
              <a:rPr b="0" i="0" lang="en-US" sz="1800" u="none" cap="none" strike="noStrike">
                <a:solidFill>
                  <a:srgbClr val="080808"/>
                </a:solidFill>
                <a:latin typeface="Arial"/>
                <a:ea typeface="Arial"/>
                <a:cs typeface="Arial"/>
                <a:sym typeface="Arial"/>
              </a:rPr>
              <a:t>(</a:t>
            </a:r>
            <a:r>
              <a:rPr b="0" i="0" lang="en-US" sz="1800" u="none" cap="none" strike="noStrike">
                <a:solidFill>
                  <a:srgbClr val="067D17"/>
                </a:solidFill>
                <a:latin typeface="Arial"/>
                <a:ea typeface="Arial"/>
                <a:cs typeface="Arial"/>
                <a:sym typeface="Arial"/>
              </a:rPr>
              <a:t>"The Updated Temperature of Thursday: "</a:t>
            </a:r>
            <a:r>
              <a:rPr b="0" i="0" lang="en-US" sz="1800" u="none" cap="none" strike="noStrike">
                <a:solidFill>
                  <a:srgbClr val="080808"/>
                </a:solidFill>
                <a:latin typeface="Arial"/>
                <a:ea typeface="Arial"/>
                <a:cs typeface="Arial"/>
                <a:sym typeface="Arial"/>
              </a:rPr>
              <a:t>, week_temp[</a:t>
            </a:r>
            <a:r>
              <a:rPr b="0" i="0" lang="en-US" sz="1800" u="none" cap="none" strike="noStrike">
                <a:solidFill>
                  <a:srgbClr val="1750EB"/>
                </a:solidFill>
                <a:latin typeface="Arial"/>
                <a:ea typeface="Arial"/>
                <a:cs typeface="Arial"/>
                <a:sym typeface="Arial"/>
              </a:rPr>
              <a:t>4</a:t>
            </a:r>
            <a:r>
              <a:rPr b="0" i="0" lang="en-US" sz="1800" u="none" cap="none" strike="noStrike">
                <a:solidFill>
                  <a:srgbClr val="080808"/>
                </a:solidFill>
                <a:latin typeface="Arial"/>
                <a:ea typeface="Arial"/>
                <a:cs typeface="Arial"/>
                <a:sym typeface="Arial"/>
              </a:rPr>
              <a:t>])</a:t>
            </a:r>
            <a:br>
              <a:rPr b="0" i="0" lang="en-US" sz="1800" u="none" cap="none" strike="noStrike">
                <a:solidFill>
                  <a:srgbClr val="080808"/>
                </a:solidFill>
                <a:latin typeface="Arial"/>
                <a:ea typeface="Arial"/>
                <a:cs typeface="Arial"/>
                <a:sym typeface="Arial"/>
              </a:rPr>
            </a:br>
            <a:r>
              <a:rPr b="0" i="0" lang="en-US" sz="1800" u="none" cap="none" strike="noStrike">
                <a:solidFill>
                  <a:srgbClr val="080808"/>
                </a:solidFill>
                <a:latin typeface="Arial"/>
                <a:ea typeface="Arial"/>
                <a:cs typeface="Arial"/>
                <a:sym typeface="Arial"/>
              </a:rPr>
              <a:t>week_temp.append(</a:t>
            </a:r>
            <a:r>
              <a:rPr b="0" i="0" lang="en-US" sz="1800" u="none" cap="none" strike="noStrike">
                <a:solidFill>
                  <a:srgbClr val="1750EB"/>
                </a:solidFill>
                <a:latin typeface="Arial"/>
                <a:ea typeface="Arial"/>
                <a:cs typeface="Arial"/>
                <a:sym typeface="Arial"/>
              </a:rPr>
              <a:t>80</a:t>
            </a:r>
            <a:r>
              <a:rPr b="0" i="0" lang="en-US" sz="1800" u="none" cap="none" strike="noStrike">
                <a:solidFill>
                  <a:srgbClr val="080808"/>
                </a:solidFill>
                <a:latin typeface="Arial"/>
                <a:ea typeface="Arial"/>
                <a:cs typeface="Arial"/>
                <a:sym typeface="Arial"/>
              </a:rPr>
              <a:t>)</a:t>
            </a:r>
            <a:br>
              <a:rPr b="0" i="0" lang="en-US" sz="1800" u="none" cap="none" strike="noStrike">
                <a:solidFill>
                  <a:srgbClr val="080808"/>
                </a:solidFill>
                <a:latin typeface="Arial"/>
                <a:ea typeface="Arial"/>
                <a:cs typeface="Arial"/>
                <a:sym typeface="Arial"/>
              </a:rPr>
            </a:br>
            <a:r>
              <a:rPr b="0" i="0" lang="en-US" sz="1800" u="none" cap="none" strike="noStrike">
                <a:solidFill>
                  <a:srgbClr val="000080"/>
                </a:solidFill>
                <a:latin typeface="Arial"/>
                <a:ea typeface="Arial"/>
                <a:cs typeface="Arial"/>
                <a:sym typeface="Arial"/>
              </a:rPr>
              <a:t>print</a:t>
            </a:r>
            <a:r>
              <a:rPr b="0" i="0" lang="en-US" sz="1800" u="none" cap="none" strike="noStrike">
                <a:solidFill>
                  <a:srgbClr val="080808"/>
                </a:solidFill>
                <a:latin typeface="Arial"/>
                <a:ea typeface="Arial"/>
                <a:cs typeface="Arial"/>
                <a:sym typeface="Arial"/>
              </a:rPr>
              <a:t>(</a:t>
            </a:r>
            <a:r>
              <a:rPr b="0" i="0" lang="en-US" sz="1800" u="none" cap="none" strike="noStrike">
                <a:solidFill>
                  <a:srgbClr val="067D17"/>
                </a:solidFill>
                <a:latin typeface="Arial"/>
                <a:ea typeface="Arial"/>
                <a:cs typeface="Arial"/>
                <a:sym typeface="Arial"/>
              </a:rPr>
              <a:t>"List after appending data"</a:t>
            </a:r>
            <a:r>
              <a:rPr b="0" i="0" lang="en-US" sz="1800" u="none" cap="none" strike="noStrike">
                <a:solidFill>
                  <a:srgbClr val="080808"/>
                </a:solidFill>
                <a:latin typeface="Arial"/>
                <a:ea typeface="Arial"/>
                <a:cs typeface="Arial"/>
                <a:sym typeface="Arial"/>
              </a:rPr>
              <a:t>, week_temp)</a:t>
            </a:r>
            <a:br>
              <a:rPr b="0" i="0" lang="en-US" sz="1800" u="none" cap="none" strike="noStrike">
                <a:solidFill>
                  <a:srgbClr val="080808"/>
                </a:solidFill>
                <a:latin typeface="Arial"/>
                <a:ea typeface="Arial"/>
                <a:cs typeface="Arial"/>
                <a:sym typeface="Arial"/>
              </a:rPr>
            </a:br>
            <a:r>
              <a:rPr b="0" i="0" lang="en-US" sz="1800" u="none" cap="none" strike="noStrike">
                <a:solidFill>
                  <a:srgbClr val="080808"/>
                </a:solidFill>
                <a:latin typeface="Arial"/>
                <a:ea typeface="Arial"/>
                <a:cs typeface="Arial"/>
                <a:sym typeface="Arial"/>
              </a:rPr>
              <a:t>week_temp.insert(</a:t>
            </a:r>
            <a:r>
              <a:rPr b="0" i="0" lang="en-US" sz="1800" u="none" cap="none" strike="noStrike">
                <a:solidFill>
                  <a:srgbClr val="1750EB"/>
                </a:solidFill>
                <a:latin typeface="Arial"/>
                <a:ea typeface="Arial"/>
                <a:cs typeface="Arial"/>
                <a:sym typeface="Arial"/>
              </a:rPr>
              <a:t>2</a:t>
            </a:r>
            <a:r>
              <a:rPr b="0" i="0" lang="en-US" sz="1800" u="none" cap="none" strike="noStrike">
                <a:solidFill>
                  <a:srgbClr val="080808"/>
                </a:solidFill>
                <a:latin typeface="Arial"/>
                <a:ea typeface="Arial"/>
                <a:cs typeface="Arial"/>
                <a:sym typeface="Arial"/>
              </a:rPr>
              <a:t>,</a:t>
            </a:r>
            <a:r>
              <a:rPr b="0" i="0" lang="en-US" sz="1800" u="none" cap="none" strike="noStrike">
                <a:solidFill>
                  <a:srgbClr val="1750EB"/>
                </a:solidFill>
                <a:latin typeface="Arial"/>
                <a:ea typeface="Arial"/>
                <a:cs typeface="Arial"/>
                <a:sym typeface="Arial"/>
              </a:rPr>
              <a:t>25</a:t>
            </a:r>
            <a:r>
              <a:rPr b="0" i="0" lang="en-US" sz="1800" u="none" cap="none" strike="noStrike">
                <a:solidFill>
                  <a:srgbClr val="080808"/>
                </a:solidFill>
                <a:latin typeface="Arial"/>
                <a:ea typeface="Arial"/>
                <a:cs typeface="Arial"/>
                <a:sym typeface="Arial"/>
              </a:rPr>
              <a:t>)</a:t>
            </a:r>
            <a:br>
              <a:rPr b="0" i="0" lang="en-US" sz="1800" u="none" cap="none" strike="noStrike">
                <a:solidFill>
                  <a:srgbClr val="080808"/>
                </a:solidFill>
                <a:latin typeface="Arial"/>
                <a:ea typeface="Arial"/>
                <a:cs typeface="Arial"/>
                <a:sym typeface="Arial"/>
              </a:rPr>
            </a:br>
            <a:r>
              <a:rPr b="0" i="0" lang="en-US" sz="1800" u="none" cap="none" strike="noStrike">
                <a:solidFill>
                  <a:srgbClr val="000080"/>
                </a:solidFill>
                <a:latin typeface="Arial"/>
                <a:ea typeface="Arial"/>
                <a:cs typeface="Arial"/>
                <a:sym typeface="Arial"/>
              </a:rPr>
              <a:t>print</a:t>
            </a:r>
            <a:r>
              <a:rPr b="0" i="0" lang="en-US" sz="1800" u="none" cap="none" strike="noStrike">
                <a:solidFill>
                  <a:srgbClr val="080808"/>
                </a:solidFill>
                <a:latin typeface="Arial"/>
                <a:ea typeface="Arial"/>
                <a:cs typeface="Arial"/>
                <a:sym typeface="Arial"/>
              </a:rPr>
              <a:t>(</a:t>
            </a:r>
            <a:r>
              <a:rPr b="0" i="0" lang="en-US" sz="1800" u="none" cap="none" strike="noStrike">
                <a:solidFill>
                  <a:srgbClr val="067D17"/>
                </a:solidFill>
                <a:latin typeface="Arial"/>
                <a:ea typeface="Arial"/>
                <a:cs typeface="Arial"/>
                <a:sym typeface="Arial"/>
              </a:rPr>
              <a:t>"List after appending data"</a:t>
            </a:r>
            <a:r>
              <a:rPr b="0" i="0" lang="en-US" sz="1800" u="none" cap="none" strike="noStrike">
                <a:solidFill>
                  <a:srgbClr val="080808"/>
                </a:solidFill>
                <a:latin typeface="Arial"/>
                <a:ea typeface="Arial"/>
                <a:cs typeface="Arial"/>
                <a:sym typeface="Arial"/>
              </a:rPr>
              <a:t>, week_temp)</a:t>
            </a:r>
            <a:br>
              <a:rPr b="0" i="0" lang="en-US" sz="1800" u="none" cap="none" strike="noStrike">
                <a:solidFill>
                  <a:srgbClr val="080808"/>
                </a:solidFill>
                <a:latin typeface="Arial"/>
                <a:ea typeface="Arial"/>
                <a:cs typeface="Arial"/>
                <a:sym typeface="Arial"/>
              </a:rPr>
            </a:br>
            <a:r>
              <a:rPr b="0" i="0" lang="en-US" sz="1800" u="none" cap="none" strike="noStrike">
                <a:solidFill>
                  <a:srgbClr val="080808"/>
                </a:solidFill>
                <a:latin typeface="Arial"/>
                <a:ea typeface="Arial"/>
                <a:cs typeface="Arial"/>
                <a:sym typeface="Arial"/>
              </a:rPr>
              <a:t>week_temp.remove(</a:t>
            </a:r>
            <a:r>
              <a:rPr b="0" i="0" lang="en-US" sz="1800" u="none" cap="none" strike="noStrike">
                <a:solidFill>
                  <a:srgbClr val="1750EB"/>
                </a:solidFill>
                <a:latin typeface="Arial"/>
                <a:ea typeface="Arial"/>
                <a:cs typeface="Arial"/>
                <a:sym typeface="Arial"/>
              </a:rPr>
              <a:t>25</a:t>
            </a:r>
            <a:r>
              <a:rPr b="0" i="0" lang="en-US" sz="1800" u="none" cap="none" strike="noStrike">
                <a:solidFill>
                  <a:srgbClr val="080808"/>
                </a:solidFill>
                <a:latin typeface="Arial"/>
                <a:ea typeface="Arial"/>
                <a:cs typeface="Arial"/>
                <a:sym typeface="Arial"/>
              </a:rPr>
              <a:t>)</a:t>
            </a:r>
            <a:br>
              <a:rPr b="0" i="0" lang="en-US" sz="1800" u="none" cap="none" strike="noStrike">
                <a:solidFill>
                  <a:srgbClr val="080808"/>
                </a:solidFill>
                <a:latin typeface="Arial"/>
                <a:ea typeface="Arial"/>
                <a:cs typeface="Arial"/>
                <a:sym typeface="Arial"/>
              </a:rPr>
            </a:br>
            <a:r>
              <a:rPr b="0" i="0" lang="en-US" sz="1800" u="none" cap="none" strike="noStrike">
                <a:solidFill>
                  <a:srgbClr val="000080"/>
                </a:solidFill>
                <a:latin typeface="Arial"/>
                <a:ea typeface="Arial"/>
                <a:cs typeface="Arial"/>
                <a:sym typeface="Arial"/>
              </a:rPr>
              <a:t>print</a:t>
            </a:r>
            <a:r>
              <a:rPr b="0" i="0" lang="en-US" sz="1800" u="none" cap="none" strike="noStrike">
                <a:solidFill>
                  <a:srgbClr val="080808"/>
                </a:solidFill>
                <a:latin typeface="Arial"/>
                <a:ea typeface="Arial"/>
                <a:cs typeface="Arial"/>
                <a:sym typeface="Arial"/>
              </a:rPr>
              <a:t>(</a:t>
            </a:r>
            <a:r>
              <a:rPr b="0" i="0" lang="en-US" sz="1800" u="none" cap="none" strike="noStrike">
                <a:solidFill>
                  <a:srgbClr val="067D17"/>
                </a:solidFill>
                <a:latin typeface="Arial"/>
                <a:ea typeface="Arial"/>
                <a:cs typeface="Arial"/>
                <a:sym typeface="Arial"/>
              </a:rPr>
              <a:t>"List after appending data"</a:t>
            </a:r>
            <a:r>
              <a:rPr b="0" i="0" lang="en-US" sz="1800" u="none" cap="none" strike="noStrike">
                <a:solidFill>
                  <a:srgbClr val="080808"/>
                </a:solidFill>
                <a:latin typeface="Arial"/>
                <a:ea typeface="Arial"/>
                <a:cs typeface="Arial"/>
                <a:sym typeface="Arial"/>
              </a:rPr>
              <a:t>, week_temp)</a:t>
            </a:r>
            <a:endParaRPr b="0" i="0" sz="4000" u="none" cap="none" strike="noStrike">
              <a:solidFill>
                <a:schemeClr val="dk1"/>
              </a:solidFill>
              <a:latin typeface="Arial"/>
              <a:ea typeface="Arial"/>
              <a:cs typeface="Arial"/>
              <a:sym typeface="Arial"/>
            </a:endParaRPr>
          </a:p>
        </p:txBody>
      </p:sp>
      <p:pic>
        <p:nvPicPr>
          <p:cNvPr id="268" name="Google Shape;268;p14"/>
          <p:cNvPicPr preferRelativeResize="0"/>
          <p:nvPr/>
        </p:nvPicPr>
        <p:blipFill rotWithShape="1">
          <a:blip r:embed="rId3">
            <a:alphaModFix/>
          </a:blip>
          <a:srcRect b="0" l="0" r="0" t="0"/>
          <a:stretch/>
        </p:blipFill>
        <p:spPr>
          <a:xfrm>
            <a:off x="5750455" y="4908784"/>
            <a:ext cx="5906325" cy="1600423"/>
          </a:xfrm>
          <a:prstGeom prst="rect">
            <a:avLst/>
          </a:prstGeom>
          <a:noFill/>
          <a:ln>
            <a:noFill/>
          </a:ln>
        </p:spPr>
      </p:pic>
      <p:pic>
        <p:nvPicPr>
          <p:cNvPr descr="Face with Peeking Eye Emoji 🫣" id="269" name="Google Shape;269;p14"/>
          <p:cNvPicPr preferRelativeResize="0"/>
          <p:nvPr/>
        </p:nvPicPr>
        <p:blipFill rotWithShape="1">
          <a:blip r:embed="rId4">
            <a:alphaModFix/>
          </a:blip>
          <a:srcRect b="0" l="0" r="0" t="0"/>
          <a:stretch/>
        </p:blipFill>
        <p:spPr>
          <a:xfrm>
            <a:off x="9693680" y="1401234"/>
            <a:ext cx="2073275" cy="2073276"/>
          </a:xfrm>
          <a:prstGeom prst="rect">
            <a:avLst/>
          </a:prstGeom>
          <a:noFill/>
          <a:ln>
            <a:noFill/>
          </a:ln>
        </p:spPr>
      </p:pic>
      <p:sp>
        <p:nvSpPr>
          <p:cNvPr id="270" name="Google Shape;270;p14"/>
          <p:cNvSpPr/>
          <p:nvPr/>
        </p:nvSpPr>
        <p:spPr>
          <a:xfrm>
            <a:off x="3790604" y="5294929"/>
            <a:ext cx="1546760" cy="748424"/>
          </a:xfrm>
          <a:prstGeom prst="rightArrow">
            <a:avLst>
              <a:gd fmla="val 50000" name="adj1"/>
              <a:gd fmla="val 50000" name="adj2"/>
            </a:avLst>
          </a:prstGeom>
          <a:solidFill>
            <a:srgbClr val="FFFF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Output</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5"/>
          <p:cNvSpPr txBox="1"/>
          <p:nvPr/>
        </p:nvSpPr>
        <p:spPr>
          <a:xfrm>
            <a:off x="1770687" y="2288156"/>
            <a:ext cx="8650500" cy="2801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32C4A"/>
                </a:solidFill>
                <a:latin typeface="Arial"/>
                <a:ea typeface="Arial"/>
                <a:cs typeface="Arial"/>
                <a:sym typeface="Arial"/>
              </a:rPr>
              <a:t>To Perform Such Various Operations We Should Be Able To Access Element One By One.</a:t>
            </a:r>
            <a:endParaRPr b="0" i="0" sz="4400" u="none" cap="none" strike="noStrike">
              <a:solidFill>
                <a:schemeClr val="dk1"/>
              </a:solidFill>
              <a:latin typeface="Arial"/>
              <a:ea typeface="Arial"/>
              <a:cs typeface="Arial"/>
              <a:sym typeface="Arial"/>
            </a:endParaRPr>
          </a:p>
        </p:txBody>
      </p:sp>
      <p:pic>
        <p:nvPicPr>
          <p:cNvPr descr="Most Affordable UK University Degree in Nepal | UK Degree in Kathmandu" id="276" name="Google Shape;276;p15"/>
          <p:cNvPicPr preferRelativeResize="0"/>
          <p:nvPr/>
        </p:nvPicPr>
        <p:blipFill rotWithShape="1">
          <a:blip r:embed="rId3">
            <a:alphaModFix amt="10000"/>
          </a:blip>
          <a:srcRect b="0" l="0" r="0" t="0"/>
          <a:stretch/>
        </p:blipFill>
        <p:spPr>
          <a:xfrm>
            <a:off x="10647554" y="142004"/>
            <a:ext cx="1428750" cy="800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6"/>
          <p:cNvSpPr txBox="1"/>
          <p:nvPr>
            <p:ph idx="1" type="subTitle"/>
          </p:nvPr>
        </p:nvSpPr>
        <p:spPr>
          <a:xfrm>
            <a:off x="3680189" y="308259"/>
            <a:ext cx="7245892"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None/>
            </a:pPr>
            <a:r>
              <a:rPr lang="en-US" sz="6000"/>
              <a:t>List Traversal</a:t>
            </a:r>
            <a:endParaRPr sz="4800">
              <a:solidFill>
                <a:srgbClr val="191919"/>
              </a:solidFill>
              <a:latin typeface="Arial"/>
              <a:ea typeface="Arial"/>
              <a:cs typeface="Arial"/>
              <a:sym typeface="Arial"/>
            </a:endParaRPr>
          </a:p>
        </p:txBody>
      </p:sp>
      <p:graphicFrame>
        <p:nvGraphicFramePr>
          <p:cNvPr id="282" name="Google Shape;282;p16"/>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 Structure</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2.1. Common List Operations</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2.2. List Access and Update</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2.3. Appending and Inserting</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2.4. Removing from List</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2.5. List Traversal</a:t>
                      </a:r>
                      <a:endParaRPr b="1" sz="1600" u="sng" cap="none" strike="noStrike">
                        <a:solidFill>
                          <a:srgbClr val="00B050"/>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txBody>
                  <a:tcPr marT="45725" marB="45725" marR="91450" marL="91450"/>
                </a:tc>
              </a:tr>
            </a:tbl>
          </a:graphicData>
        </a:graphic>
      </p:graphicFrame>
      <p:sp>
        <p:nvSpPr>
          <p:cNvPr id="283" name="Google Shape;283;p16"/>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284" name="Google Shape;284;p16"/>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285" name="Google Shape;285;p16"/>
          <p:cNvSpPr/>
          <p:nvPr/>
        </p:nvSpPr>
        <p:spPr>
          <a:xfrm>
            <a:off x="2797638" y="1385022"/>
            <a:ext cx="9010997"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List Traversal </a:t>
            </a:r>
            <a:r>
              <a:rPr b="0" i="0" lang="en-US" sz="2400" u="none" cap="none" strike="noStrike">
                <a:solidFill>
                  <a:schemeClr val="dk1"/>
                </a:solidFill>
                <a:latin typeface="Arial"/>
                <a:ea typeface="Arial"/>
                <a:cs typeface="Arial"/>
                <a:sym typeface="Arial"/>
              </a:rPr>
              <a:t>[</a:t>
            </a:r>
            <a:r>
              <a:rPr b="1" i="0" lang="en-US" sz="2400" u="none" cap="none" strike="noStrike">
                <a:solidFill>
                  <a:srgbClr val="D4650A"/>
                </a:solidFill>
                <a:latin typeface="Arial"/>
                <a:ea typeface="Arial"/>
                <a:cs typeface="Arial"/>
                <a:sym typeface="Arial"/>
              </a:rPr>
              <a:t>Definition</a:t>
            </a:r>
            <a:r>
              <a:rPr b="0" i="0" lang="en-US" sz="2400" u="none" cap="none" strike="noStrike">
                <a:solidFill>
                  <a:schemeClr val="dk1"/>
                </a:solidFill>
                <a:latin typeface="Arial"/>
                <a:ea typeface="Arial"/>
                <a:cs typeface="Arial"/>
                <a:sym typeface="Arial"/>
              </a:rPr>
              <a:t>]: A list traversal is a means of </a:t>
            </a:r>
            <a:r>
              <a:rPr b="0" i="0" lang="en-US" sz="2400" u="none" cap="none" strike="noStrike">
                <a:solidFill>
                  <a:srgbClr val="D4650A"/>
                </a:solidFill>
                <a:latin typeface="Arial"/>
                <a:ea typeface="Arial"/>
                <a:cs typeface="Arial"/>
                <a:sym typeface="Arial"/>
              </a:rPr>
              <a:t>accessing</a:t>
            </a:r>
            <a:r>
              <a:rPr b="0" i="0" lang="en-US" sz="2400" u="none" cap="none" strike="noStrike">
                <a:solidFill>
                  <a:schemeClr val="dk1"/>
                </a:solidFill>
                <a:latin typeface="Arial"/>
                <a:ea typeface="Arial"/>
                <a:cs typeface="Arial"/>
                <a:sym typeface="Arial"/>
              </a:rPr>
              <a:t>, </a:t>
            </a:r>
            <a:r>
              <a:rPr b="0" i="0" lang="en-US" sz="2400" u="none" cap="none" strike="noStrike">
                <a:solidFill>
                  <a:srgbClr val="D4650A"/>
                </a:solidFill>
                <a:latin typeface="Arial"/>
                <a:ea typeface="Arial"/>
                <a:cs typeface="Arial"/>
                <a:sym typeface="Arial"/>
              </a:rPr>
              <a:t>one by one</a:t>
            </a:r>
            <a:r>
              <a:rPr b="0" i="0" lang="en-US" sz="2400" u="none" cap="none" strike="noStrike">
                <a:solidFill>
                  <a:schemeClr val="dk1"/>
                </a:solidFill>
                <a:latin typeface="Arial"/>
                <a:ea typeface="Arial"/>
                <a:cs typeface="Arial"/>
                <a:sym typeface="Arial"/>
              </a:rPr>
              <a:t>, each element of a list.</a:t>
            </a:r>
            <a:endParaRPr b="0" i="0" sz="2400" u="none" cap="none" strike="noStrike">
              <a:solidFill>
                <a:srgbClr val="1CADE4"/>
              </a:solidFill>
              <a:latin typeface="Arial"/>
              <a:ea typeface="Arial"/>
              <a:cs typeface="Arial"/>
              <a:sym typeface="Arial"/>
            </a:endParaRPr>
          </a:p>
        </p:txBody>
      </p:sp>
      <p:sp>
        <p:nvSpPr>
          <p:cNvPr id="286" name="Google Shape;286;p16"/>
          <p:cNvSpPr/>
          <p:nvPr/>
        </p:nvSpPr>
        <p:spPr>
          <a:xfrm>
            <a:off x="2797638" y="2455800"/>
            <a:ext cx="9010997" cy="46166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List Traversal may be used, for example to:</a:t>
            </a:r>
            <a:endParaRPr b="0" i="0" sz="2400" u="none" cap="none" strike="noStrike">
              <a:solidFill>
                <a:srgbClr val="1CADE4"/>
              </a:solidFill>
              <a:latin typeface="Arial"/>
              <a:ea typeface="Arial"/>
              <a:cs typeface="Arial"/>
              <a:sym typeface="Arial"/>
            </a:endParaRPr>
          </a:p>
        </p:txBody>
      </p:sp>
      <p:sp>
        <p:nvSpPr>
          <p:cNvPr id="287" name="Google Shape;287;p16"/>
          <p:cNvSpPr/>
          <p:nvPr/>
        </p:nvSpPr>
        <p:spPr>
          <a:xfrm>
            <a:off x="2797638" y="3159910"/>
            <a:ext cx="9010997" cy="1569660"/>
          </a:xfrm>
          <a:prstGeom prst="rect">
            <a:avLst/>
          </a:prstGeom>
          <a:noFill/>
          <a:ln>
            <a:noFill/>
          </a:ln>
        </p:spPr>
        <p:txBody>
          <a:bodyPr anchorCtr="0" anchor="t" bIns="45700" lIns="91425" spcFirstLastPara="1" rIns="91425" wrap="square" tIns="45700">
            <a:spAutoFit/>
          </a:bodyPr>
          <a:lstStyle/>
          <a:p>
            <a:pPr indent="-381000" lvl="0" marL="457200" marR="0" rtl="0" algn="just">
              <a:lnSpc>
                <a:spcPct val="100000"/>
              </a:lnSpc>
              <a:spcBef>
                <a:spcPts val="0"/>
              </a:spcBef>
              <a:spcAft>
                <a:spcPts val="0"/>
              </a:spcAft>
              <a:buClr>
                <a:srgbClr val="000000"/>
              </a:buClr>
              <a:buSzPts val="2400"/>
              <a:buFont typeface="Arial"/>
              <a:buChar char="●"/>
            </a:pPr>
            <a:r>
              <a:rPr b="1" i="0" lang="en-US" sz="2400" u="none" cap="none" strike="noStrike">
                <a:solidFill>
                  <a:srgbClr val="D4650A"/>
                </a:solidFill>
                <a:latin typeface="Arial"/>
                <a:ea typeface="Arial"/>
                <a:cs typeface="Arial"/>
                <a:sym typeface="Arial"/>
              </a:rPr>
              <a:t>Search</a:t>
            </a:r>
            <a:r>
              <a:rPr b="1" i="0" lang="en-US" sz="2400" u="none" cap="none" strike="noStrike">
                <a:solidFill>
                  <a:schemeClr val="dk1"/>
                </a:solidFill>
                <a:latin typeface="Arial"/>
                <a:ea typeface="Arial"/>
                <a:cs typeface="Arial"/>
                <a:sym typeface="Arial"/>
              </a:rPr>
              <a:t> for a particular item in a list </a:t>
            </a:r>
            <a:endParaRPr b="0" i="0" sz="1400" u="none" cap="none" strike="noStrike">
              <a:solidFill>
                <a:srgbClr val="000000"/>
              </a:solidFill>
              <a:latin typeface="Arial"/>
              <a:ea typeface="Arial"/>
              <a:cs typeface="Arial"/>
              <a:sym typeface="Arial"/>
            </a:endParaRPr>
          </a:p>
          <a:p>
            <a:pPr indent="-381000" lvl="0" marL="457200" marR="0" rtl="0" algn="just">
              <a:lnSpc>
                <a:spcPct val="100000"/>
              </a:lnSpc>
              <a:spcBef>
                <a:spcPts val="0"/>
              </a:spcBef>
              <a:spcAft>
                <a:spcPts val="0"/>
              </a:spcAft>
              <a:buClr>
                <a:srgbClr val="000000"/>
              </a:buClr>
              <a:buSzPts val="2400"/>
              <a:buFont typeface="Arial"/>
              <a:buChar char="●"/>
            </a:pPr>
            <a:r>
              <a:rPr b="1" i="0" lang="en-US" sz="2400" u="none" cap="none" strike="noStrike">
                <a:solidFill>
                  <a:schemeClr val="dk1"/>
                </a:solidFill>
                <a:latin typeface="Arial"/>
                <a:ea typeface="Arial"/>
                <a:cs typeface="Arial"/>
                <a:sym typeface="Arial"/>
              </a:rPr>
              <a:t>Add up all the elements of a list to </a:t>
            </a:r>
            <a:r>
              <a:rPr b="1" i="0" lang="en-US" sz="2400" u="none" cap="none" strike="noStrike">
                <a:solidFill>
                  <a:srgbClr val="D4650A"/>
                </a:solidFill>
                <a:latin typeface="Arial"/>
                <a:ea typeface="Arial"/>
                <a:cs typeface="Arial"/>
                <a:sym typeface="Arial"/>
              </a:rPr>
              <a:t>calculate a total </a:t>
            </a:r>
            <a:endParaRPr b="0" i="0" sz="1400" u="none" cap="none" strike="noStrike">
              <a:solidFill>
                <a:srgbClr val="000000"/>
              </a:solidFill>
              <a:latin typeface="Arial"/>
              <a:ea typeface="Arial"/>
              <a:cs typeface="Arial"/>
              <a:sym typeface="Arial"/>
            </a:endParaRPr>
          </a:p>
          <a:p>
            <a:pPr indent="-381000" lvl="0" marL="457200" marR="0" rtl="0" algn="just">
              <a:lnSpc>
                <a:spcPct val="100000"/>
              </a:lnSpc>
              <a:spcBef>
                <a:spcPts val="0"/>
              </a:spcBef>
              <a:spcAft>
                <a:spcPts val="0"/>
              </a:spcAft>
              <a:buClr>
                <a:srgbClr val="000000"/>
              </a:buClr>
              <a:buSzPts val="2400"/>
              <a:buFont typeface="Arial"/>
              <a:buChar char="●"/>
            </a:pPr>
            <a:r>
              <a:rPr b="1" i="0" lang="en-US" sz="2400" u="none" cap="none" strike="noStrike">
                <a:solidFill>
                  <a:schemeClr val="dk1"/>
                </a:solidFill>
                <a:latin typeface="Arial"/>
                <a:ea typeface="Arial"/>
                <a:cs typeface="Arial"/>
                <a:sym typeface="Arial"/>
              </a:rPr>
              <a:t>Perform an </a:t>
            </a:r>
            <a:r>
              <a:rPr b="1" i="0" lang="en-US" sz="2400" u="none" cap="none" strike="noStrike">
                <a:solidFill>
                  <a:srgbClr val="D4650A"/>
                </a:solidFill>
                <a:latin typeface="Arial"/>
                <a:ea typeface="Arial"/>
                <a:cs typeface="Arial"/>
                <a:sym typeface="Arial"/>
              </a:rPr>
              <a:t>operation</a:t>
            </a:r>
            <a:r>
              <a:rPr b="1" i="0" lang="en-US" sz="2400" u="none" cap="none" strike="noStrike">
                <a:solidFill>
                  <a:schemeClr val="dk1"/>
                </a:solidFill>
                <a:latin typeface="Arial"/>
                <a:ea typeface="Arial"/>
                <a:cs typeface="Arial"/>
                <a:sym typeface="Arial"/>
              </a:rPr>
              <a:t> on all of the element in a list (e.g. X*X)</a:t>
            </a:r>
            <a:endParaRPr b="1" i="0" sz="2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7"/>
          <p:cNvSpPr txBox="1"/>
          <p:nvPr>
            <p:ph idx="1" type="subTitle"/>
          </p:nvPr>
        </p:nvSpPr>
        <p:spPr>
          <a:xfrm>
            <a:off x="3680189" y="308259"/>
            <a:ext cx="7245892"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None/>
            </a:pPr>
            <a:r>
              <a:rPr lang="en-US" sz="6000"/>
              <a:t>Use of </a:t>
            </a:r>
            <a:r>
              <a:rPr lang="en-US" sz="6000">
                <a:solidFill>
                  <a:srgbClr val="00B050"/>
                </a:solidFill>
              </a:rPr>
              <a:t>List Traversal </a:t>
            </a:r>
            <a:endParaRPr sz="4800">
              <a:solidFill>
                <a:srgbClr val="00B050"/>
              </a:solidFill>
              <a:latin typeface="Arial"/>
              <a:ea typeface="Arial"/>
              <a:cs typeface="Arial"/>
              <a:sym typeface="Arial"/>
            </a:endParaRPr>
          </a:p>
        </p:txBody>
      </p:sp>
      <p:graphicFrame>
        <p:nvGraphicFramePr>
          <p:cNvPr id="293" name="Google Shape;293;p17"/>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 Structure</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2.1. Common List Operations</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2.2. List Access and Update</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2.3. Appending and Inserting</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2.4. Removing from List</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2.5. List Traversal</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2.6. Use of List Traversal</a:t>
                      </a:r>
                      <a:endParaRPr sz="1400" u="none" cap="none" strike="noStrike"/>
                    </a:p>
                  </a:txBody>
                  <a:tcPr marT="45725" marB="45725" marR="91450" marL="91450"/>
                </a:tc>
              </a:tr>
            </a:tbl>
          </a:graphicData>
        </a:graphic>
      </p:graphicFrame>
      <p:sp>
        <p:nvSpPr>
          <p:cNvPr id="294" name="Google Shape;294;p17"/>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295" name="Google Shape;295;p17"/>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pic>
        <p:nvPicPr>
          <p:cNvPr id="296" name="Google Shape;296;p17"/>
          <p:cNvPicPr preferRelativeResize="0"/>
          <p:nvPr/>
        </p:nvPicPr>
        <p:blipFill rotWithShape="1">
          <a:blip r:embed="rId3">
            <a:alphaModFix/>
          </a:blip>
          <a:srcRect b="0" l="0" r="0" t="0"/>
          <a:stretch/>
        </p:blipFill>
        <p:spPr>
          <a:xfrm>
            <a:off x="3248381" y="1861480"/>
            <a:ext cx="7724748" cy="428167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8"/>
          <p:cNvSpPr txBox="1"/>
          <p:nvPr>
            <p:ph idx="1" type="subTitle"/>
          </p:nvPr>
        </p:nvSpPr>
        <p:spPr>
          <a:xfrm>
            <a:off x="3680189" y="308259"/>
            <a:ext cx="7245892"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None/>
            </a:pPr>
            <a:r>
              <a:rPr lang="en-US" sz="6000"/>
              <a:t>List in Python</a:t>
            </a:r>
            <a:endParaRPr sz="4800">
              <a:solidFill>
                <a:srgbClr val="191919"/>
              </a:solidFill>
              <a:latin typeface="Arial"/>
              <a:ea typeface="Arial"/>
              <a:cs typeface="Arial"/>
              <a:sym typeface="Arial"/>
            </a:endParaRPr>
          </a:p>
        </p:txBody>
      </p:sp>
      <p:graphicFrame>
        <p:nvGraphicFramePr>
          <p:cNvPr id="302" name="Google Shape;302;p18"/>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 List Structure</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2.1. Common List Operations</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2.2. List Access and Update</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2.3. Appending and Inserting</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2.4. Removing from List</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2.5. List Traversal</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2.6. Use of List Traversal</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2.7. List in Python</a:t>
                      </a:r>
                      <a:endParaRPr sz="1400" u="none" cap="none" strike="noStrike"/>
                    </a:p>
                  </a:txBody>
                  <a:tcPr marT="45725" marB="45725" marR="91450" marL="91450"/>
                </a:tc>
              </a:tr>
            </a:tbl>
          </a:graphicData>
        </a:graphic>
      </p:graphicFrame>
      <p:sp>
        <p:nvSpPr>
          <p:cNvPr id="303" name="Google Shape;303;p18"/>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304" name="Google Shape;304;p18"/>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305" name="Google Shape;305;p18"/>
          <p:cNvSpPr/>
          <p:nvPr/>
        </p:nvSpPr>
        <p:spPr>
          <a:xfrm>
            <a:off x="2797638" y="1385022"/>
            <a:ext cx="9010997" cy="156966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3200"/>
              <a:buFont typeface="Arial"/>
              <a:buChar char="•"/>
            </a:pPr>
            <a:r>
              <a:rPr b="1" i="0" lang="en-US" sz="3200" u="none" cap="none" strike="noStrike">
                <a:solidFill>
                  <a:schemeClr val="dk1"/>
                </a:solidFill>
                <a:latin typeface="Arial"/>
                <a:ea typeface="Arial"/>
                <a:cs typeface="Arial"/>
                <a:sym typeface="Arial"/>
              </a:rPr>
              <a:t>List</a:t>
            </a:r>
            <a:r>
              <a:rPr b="0" i="0" lang="en-US" sz="3200" u="none" cap="none" strike="noStrike">
                <a:solidFill>
                  <a:schemeClr val="dk1"/>
                </a:solidFill>
                <a:latin typeface="Arial"/>
                <a:ea typeface="Arial"/>
                <a:cs typeface="Arial"/>
                <a:sym typeface="Arial"/>
              </a:rPr>
              <a:t> [</a:t>
            </a:r>
            <a:r>
              <a:rPr b="1" i="0" lang="en-US" sz="3200" u="none" cap="none" strike="noStrike">
                <a:solidFill>
                  <a:srgbClr val="D4650A"/>
                </a:solidFill>
                <a:latin typeface="Arial"/>
                <a:ea typeface="Arial"/>
                <a:cs typeface="Arial"/>
                <a:sym typeface="Arial"/>
              </a:rPr>
              <a:t>Definition</a:t>
            </a:r>
            <a:r>
              <a:rPr b="0" i="0" lang="en-US" sz="3200" u="none" cap="none" strike="noStrike">
                <a:solidFill>
                  <a:schemeClr val="dk1"/>
                </a:solidFill>
                <a:latin typeface="Arial"/>
                <a:ea typeface="Arial"/>
                <a:cs typeface="Arial"/>
                <a:sym typeface="Arial"/>
              </a:rPr>
              <a:t>]: A </a:t>
            </a:r>
            <a:r>
              <a:rPr b="0" i="0" lang="en-US" sz="3200" u="none" cap="none" strike="noStrike">
                <a:solidFill>
                  <a:srgbClr val="00B050"/>
                </a:solidFill>
                <a:latin typeface="Arial"/>
                <a:ea typeface="Arial"/>
                <a:cs typeface="Arial"/>
                <a:sym typeface="Arial"/>
              </a:rPr>
              <a:t>list</a:t>
            </a:r>
            <a:r>
              <a:rPr b="0" i="0" lang="en-US" sz="3200" u="none" cap="none" strike="noStrike">
                <a:solidFill>
                  <a:schemeClr val="dk1"/>
                </a:solidFill>
                <a:latin typeface="Arial"/>
                <a:ea typeface="Arial"/>
                <a:cs typeface="Arial"/>
                <a:sym typeface="Arial"/>
              </a:rPr>
              <a:t> in Python is a </a:t>
            </a:r>
            <a:r>
              <a:rPr b="0" i="0" lang="en-US" sz="3200" u="none" cap="none" strike="noStrike">
                <a:solidFill>
                  <a:srgbClr val="D4650A"/>
                </a:solidFill>
                <a:latin typeface="Arial"/>
                <a:ea typeface="Arial"/>
                <a:cs typeface="Arial"/>
                <a:sym typeface="Arial"/>
              </a:rPr>
              <a:t>mutable</a:t>
            </a:r>
            <a:r>
              <a:rPr b="0" i="0" lang="en-US" sz="3200" u="none" cap="none" strike="noStrike">
                <a:solidFill>
                  <a:schemeClr val="dk1"/>
                </a:solidFill>
                <a:latin typeface="Arial"/>
                <a:ea typeface="Arial"/>
                <a:cs typeface="Arial"/>
                <a:sym typeface="Arial"/>
              </a:rPr>
              <a:t>, linear data structure of variable length, which can store </a:t>
            </a:r>
            <a:r>
              <a:rPr b="0" i="0" lang="en-US" sz="3200" u="none" cap="none" strike="noStrike">
                <a:solidFill>
                  <a:srgbClr val="D4650A"/>
                </a:solidFill>
                <a:latin typeface="Arial"/>
                <a:ea typeface="Arial"/>
                <a:cs typeface="Arial"/>
                <a:sym typeface="Arial"/>
              </a:rPr>
              <a:t>mixed-type elements</a:t>
            </a:r>
            <a:r>
              <a:rPr b="0" i="0" lang="en-US" sz="3200" u="none" cap="none" strike="noStrike">
                <a:solidFill>
                  <a:schemeClr val="dk1"/>
                </a:solidFill>
                <a:latin typeface="Arial"/>
                <a:ea typeface="Arial"/>
                <a:cs typeface="Arial"/>
                <a:sym typeface="Arial"/>
              </a:rPr>
              <a:t>.</a:t>
            </a:r>
            <a:endParaRPr b="0" i="0" sz="3200" u="none" cap="none" strike="noStrike">
              <a:solidFill>
                <a:srgbClr val="1CADE4"/>
              </a:solidFill>
              <a:latin typeface="Arial"/>
              <a:ea typeface="Arial"/>
              <a:cs typeface="Arial"/>
              <a:sym typeface="Arial"/>
            </a:endParaRPr>
          </a:p>
        </p:txBody>
      </p:sp>
      <p:sp>
        <p:nvSpPr>
          <p:cNvPr id="306" name="Google Shape;306;p18"/>
          <p:cNvSpPr/>
          <p:nvPr/>
        </p:nvSpPr>
        <p:spPr>
          <a:xfrm>
            <a:off x="2797636" y="3194463"/>
            <a:ext cx="9010997" cy="1077218"/>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3200"/>
              <a:buFont typeface="Arial"/>
              <a:buChar char="•"/>
            </a:pPr>
            <a:r>
              <a:rPr b="1" i="0" lang="en-US" sz="3200" u="none" cap="none" strike="noStrike">
                <a:solidFill>
                  <a:schemeClr val="dk1"/>
                </a:solidFill>
                <a:latin typeface="Arial"/>
                <a:ea typeface="Arial"/>
                <a:cs typeface="Arial"/>
                <a:sym typeface="Arial"/>
              </a:rPr>
              <a:t>Mutable</a:t>
            </a:r>
            <a:r>
              <a:rPr b="0" i="0" lang="en-US" sz="3200" u="none" cap="none" strike="noStrike">
                <a:solidFill>
                  <a:schemeClr val="dk1"/>
                </a:solidFill>
                <a:latin typeface="Arial"/>
                <a:ea typeface="Arial"/>
                <a:cs typeface="Arial"/>
                <a:sym typeface="Arial"/>
              </a:rPr>
              <a:t> [</a:t>
            </a:r>
            <a:r>
              <a:rPr b="1" i="0" lang="en-US" sz="3200" u="none" cap="none" strike="noStrike">
                <a:solidFill>
                  <a:srgbClr val="D4650A"/>
                </a:solidFill>
                <a:latin typeface="Arial"/>
                <a:ea typeface="Arial"/>
                <a:cs typeface="Arial"/>
                <a:sym typeface="Arial"/>
              </a:rPr>
              <a:t>Definition</a:t>
            </a:r>
            <a:r>
              <a:rPr b="0" i="0" lang="en-US" sz="3200" u="none" cap="none" strike="noStrike">
                <a:solidFill>
                  <a:schemeClr val="dk1"/>
                </a:solidFill>
                <a:latin typeface="Arial"/>
                <a:ea typeface="Arial"/>
                <a:cs typeface="Arial"/>
                <a:sym typeface="Arial"/>
              </a:rPr>
              <a:t>]: </a:t>
            </a:r>
            <a:r>
              <a:rPr b="0" i="0" lang="en-US" sz="3200" u="none" cap="none" strike="noStrike">
                <a:solidFill>
                  <a:srgbClr val="00B050"/>
                </a:solidFill>
                <a:latin typeface="Arial"/>
                <a:ea typeface="Arial"/>
                <a:cs typeface="Arial"/>
                <a:sym typeface="Arial"/>
              </a:rPr>
              <a:t>Mutable</a:t>
            </a:r>
            <a:r>
              <a:rPr b="0" i="0" lang="en-US" sz="3200" u="none" cap="none" strike="noStrike">
                <a:solidFill>
                  <a:schemeClr val="dk1"/>
                </a:solidFill>
                <a:latin typeface="Arial"/>
                <a:ea typeface="Arial"/>
                <a:cs typeface="Arial"/>
                <a:sym typeface="Arial"/>
              </a:rPr>
              <a:t> means that the contents of the</a:t>
            </a:r>
            <a:r>
              <a:rPr b="0" i="0" lang="en-US" sz="3200" u="none" cap="none" strike="noStrike">
                <a:solidFill>
                  <a:srgbClr val="D4650A"/>
                </a:solidFill>
                <a:latin typeface="Arial"/>
                <a:ea typeface="Arial"/>
                <a:cs typeface="Arial"/>
                <a:sym typeface="Arial"/>
              </a:rPr>
              <a:t> list </a:t>
            </a:r>
            <a:r>
              <a:rPr b="0" i="0" lang="en-US" sz="3200" u="none" cap="none" strike="noStrike">
                <a:solidFill>
                  <a:schemeClr val="dk1"/>
                </a:solidFill>
                <a:latin typeface="Arial"/>
                <a:ea typeface="Arial"/>
                <a:cs typeface="Arial"/>
                <a:sym typeface="Arial"/>
              </a:rPr>
              <a:t>may be </a:t>
            </a:r>
            <a:r>
              <a:rPr b="0" i="0" lang="en-US" sz="3200" u="none" cap="none" strike="noStrike">
                <a:solidFill>
                  <a:srgbClr val="D4650A"/>
                </a:solidFill>
                <a:latin typeface="Arial"/>
                <a:ea typeface="Arial"/>
                <a:cs typeface="Arial"/>
                <a:sym typeface="Arial"/>
              </a:rPr>
              <a:t>altered</a:t>
            </a:r>
            <a:r>
              <a:rPr b="0" i="0" lang="en-US" sz="32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07" name="Google Shape;307;p18"/>
          <p:cNvSpPr/>
          <p:nvPr/>
        </p:nvSpPr>
        <p:spPr>
          <a:xfrm>
            <a:off x="2714509" y="4511462"/>
            <a:ext cx="9010997" cy="156966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Arial"/>
                <a:ea typeface="Arial"/>
                <a:cs typeface="Arial"/>
                <a:sym typeface="Arial"/>
              </a:rPr>
              <a:t>Lists in Python use </a:t>
            </a:r>
            <a:r>
              <a:rPr b="0" i="0" lang="en-US" sz="3200" u="none" cap="none" strike="noStrike">
                <a:solidFill>
                  <a:srgbClr val="D4650A"/>
                </a:solidFill>
                <a:latin typeface="Arial"/>
                <a:ea typeface="Arial"/>
                <a:cs typeface="Arial"/>
                <a:sym typeface="Arial"/>
              </a:rPr>
              <a:t>zero-based indexing</a:t>
            </a:r>
            <a:r>
              <a:rPr b="0" i="0" lang="en-US" sz="3200" u="none" cap="none" strike="noStrike">
                <a:solidFill>
                  <a:schemeClr val="dk1"/>
                </a:solidFill>
                <a:latin typeface="Arial"/>
                <a:ea typeface="Arial"/>
                <a:cs typeface="Arial"/>
                <a:sym typeface="Arial"/>
              </a:rPr>
              <a:t>. Thus, all lists have index values 0..n-1, where n is the number of elements in the lists. </a:t>
            </a:r>
            <a:endParaRPr b="1" i="0" sz="2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9"/>
          <p:cNvSpPr txBox="1"/>
          <p:nvPr>
            <p:ph idx="1" type="subTitle"/>
          </p:nvPr>
        </p:nvSpPr>
        <p:spPr>
          <a:xfrm>
            <a:off x="3680189" y="308259"/>
            <a:ext cx="7245892"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None/>
            </a:pPr>
            <a:r>
              <a:rPr lang="en-US" sz="6000"/>
              <a:t>List Recipe</a:t>
            </a:r>
            <a:endParaRPr sz="4800">
              <a:solidFill>
                <a:srgbClr val="191919"/>
              </a:solidFill>
              <a:latin typeface="Arial"/>
              <a:ea typeface="Arial"/>
              <a:cs typeface="Arial"/>
              <a:sym typeface="Arial"/>
            </a:endParaRPr>
          </a:p>
        </p:txBody>
      </p:sp>
      <p:graphicFrame>
        <p:nvGraphicFramePr>
          <p:cNvPr id="313" name="Google Shape;313;p19"/>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 List Structure</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2.1. Common List Operations</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2.2. List Access and Update</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2.3. Appending and Inserting</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2.4. Removing from List</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2.5. List Traversal</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2.6. Use of List Traversal</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2.7. List in Python</a:t>
                      </a:r>
                      <a:endParaRPr sz="1400" u="none" cap="none" strike="noStrike"/>
                    </a:p>
                    <a:p>
                      <a:pPr indent="0" lvl="0" marL="0" marR="0" rtl="0" algn="ctr">
                        <a:lnSpc>
                          <a:spcPct val="150000"/>
                        </a:lnSpc>
                        <a:spcBef>
                          <a:spcPts val="0"/>
                        </a:spcBef>
                        <a:spcAft>
                          <a:spcPts val="0"/>
                        </a:spcAft>
                        <a:buClr>
                          <a:srgbClr val="00B050"/>
                        </a:buClr>
                        <a:buSzPts val="1600"/>
                        <a:buFont typeface="Calibri"/>
                        <a:buNone/>
                      </a:pPr>
                      <a:r>
                        <a:rPr b="1" lang="en-US" sz="1600" u="none" cap="none" strike="noStrike">
                          <a:solidFill>
                            <a:srgbClr val="00B050"/>
                          </a:solidFill>
                          <a:latin typeface="Arial"/>
                          <a:ea typeface="Arial"/>
                          <a:cs typeface="Arial"/>
                          <a:sym typeface="Arial"/>
                        </a:rPr>
                        <a:t>2.8. List Recipe</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314" name="Google Shape;314;p19"/>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315" name="Google Shape;315;p19"/>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316" name="Google Shape;316;p19"/>
          <p:cNvSpPr/>
          <p:nvPr/>
        </p:nvSpPr>
        <p:spPr>
          <a:xfrm>
            <a:off x="2797638" y="1385022"/>
            <a:ext cx="9010997"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List are denoted by a comma-separated list of elements within </a:t>
            </a:r>
            <a:r>
              <a:rPr b="1" i="0" lang="en-US" sz="2400" u="none" cap="none" strike="noStrike">
                <a:solidFill>
                  <a:srgbClr val="00B050"/>
                </a:solidFill>
                <a:latin typeface="Arial"/>
                <a:ea typeface="Arial"/>
                <a:cs typeface="Arial"/>
                <a:sym typeface="Arial"/>
              </a:rPr>
              <a:t>square brackets i.e. [ ],</a:t>
            </a:r>
            <a:endParaRPr b="1" i="0" sz="2400" u="none" cap="none" strike="noStrike">
              <a:solidFill>
                <a:srgbClr val="00B050"/>
              </a:solidFill>
              <a:latin typeface="Arial"/>
              <a:ea typeface="Arial"/>
              <a:cs typeface="Arial"/>
              <a:sym typeface="Arial"/>
            </a:endParaRPr>
          </a:p>
        </p:txBody>
      </p:sp>
      <p:sp>
        <p:nvSpPr>
          <p:cNvPr id="317" name="Google Shape;317;p19"/>
          <p:cNvSpPr/>
          <p:nvPr/>
        </p:nvSpPr>
        <p:spPr>
          <a:xfrm>
            <a:off x="2797636" y="2510559"/>
            <a:ext cx="9010997" cy="5232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[1, 2, 3]	[‘one’, ‘two’, ‘three’]	[‘apples’, 50, True]</a:t>
            </a:r>
            <a:endParaRPr b="1" i="0" sz="2800" u="none" cap="none" strike="noStrike">
              <a:solidFill>
                <a:schemeClr val="dk1"/>
              </a:solidFill>
              <a:latin typeface="Arial"/>
              <a:ea typeface="Arial"/>
              <a:cs typeface="Arial"/>
              <a:sym typeface="Arial"/>
            </a:endParaRPr>
          </a:p>
        </p:txBody>
      </p:sp>
      <p:sp>
        <p:nvSpPr>
          <p:cNvPr id="318" name="Google Shape;318;p19"/>
          <p:cNvSpPr/>
          <p:nvPr/>
        </p:nvSpPr>
        <p:spPr>
          <a:xfrm>
            <a:off x="2797636" y="3274429"/>
            <a:ext cx="9010997"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Empty List </a:t>
            </a:r>
            <a:r>
              <a:rPr b="0" i="0" lang="en-US" sz="2400" u="none" cap="none" strike="noStrike">
                <a:solidFill>
                  <a:schemeClr val="dk1"/>
                </a:solidFill>
                <a:latin typeface="Arial"/>
                <a:ea typeface="Arial"/>
                <a:cs typeface="Arial"/>
                <a:sym typeface="Arial"/>
              </a:rPr>
              <a:t>[</a:t>
            </a:r>
            <a:r>
              <a:rPr b="1" i="0" lang="en-US" sz="2400" u="none" cap="none" strike="noStrike">
                <a:solidFill>
                  <a:srgbClr val="D4650A"/>
                </a:solidFill>
                <a:latin typeface="Arial"/>
                <a:ea typeface="Arial"/>
                <a:cs typeface="Arial"/>
                <a:sym typeface="Arial"/>
              </a:rPr>
              <a:t>Notion</a:t>
            </a:r>
            <a:r>
              <a:rPr b="0" i="0" lang="en-US" sz="2400" u="none" cap="none" strike="noStrike">
                <a:solidFill>
                  <a:schemeClr val="dk1"/>
                </a:solidFill>
                <a:latin typeface="Arial"/>
                <a:ea typeface="Arial"/>
                <a:cs typeface="Arial"/>
                <a:sym typeface="Arial"/>
              </a:rPr>
              <a:t>]: An </a:t>
            </a:r>
            <a:r>
              <a:rPr b="0" i="0" lang="en-US" sz="2400" u="none" cap="none" strike="noStrike">
                <a:solidFill>
                  <a:srgbClr val="D4650A"/>
                </a:solidFill>
                <a:latin typeface="Arial"/>
                <a:ea typeface="Arial"/>
                <a:cs typeface="Arial"/>
                <a:sym typeface="Arial"/>
              </a:rPr>
              <a:t>empty list </a:t>
            </a:r>
            <a:r>
              <a:rPr b="0" i="0" lang="en-US" sz="2400" u="none" cap="none" strike="noStrike">
                <a:solidFill>
                  <a:schemeClr val="dk1"/>
                </a:solidFill>
                <a:latin typeface="Arial"/>
                <a:ea typeface="Arial"/>
                <a:cs typeface="Arial"/>
                <a:sym typeface="Arial"/>
              </a:rPr>
              <a:t>is denoted by an </a:t>
            </a:r>
            <a:r>
              <a:rPr b="0" i="0" lang="en-US" sz="2400" u="none" cap="none" strike="noStrike">
                <a:solidFill>
                  <a:srgbClr val="D4650A"/>
                </a:solidFill>
                <a:latin typeface="Arial"/>
                <a:ea typeface="Arial"/>
                <a:cs typeface="Arial"/>
                <a:sym typeface="Arial"/>
              </a:rPr>
              <a:t>empty pair of square brackets, []. </a:t>
            </a:r>
            <a:r>
              <a:rPr b="1" i="0" lang="en-US" sz="2400" u="none" cap="none" strike="noStrike">
                <a:solidFill>
                  <a:srgbClr val="00B050"/>
                </a:solidFill>
                <a:latin typeface="Arial"/>
                <a:ea typeface="Arial"/>
                <a:cs typeface="Arial"/>
                <a:sym typeface="Arial"/>
              </a:rPr>
              <a:t>Elements of list are accessed by use of an index value with in the square brackets.</a:t>
            </a:r>
            <a:endParaRPr b="1" i="0" sz="2400" u="none" cap="none" strike="noStrike">
              <a:solidFill>
                <a:srgbClr val="00B050"/>
              </a:solidFill>
              <a:latin typeface="Arial"/>
              <a:ea typeface="Arial"/>
              <a:cs typeface="Arial"/>
              <a:sym typeface="Arial"/>
            </a:endParaRPr>
          </a:p>
        </p:txBody>
      </p:sp>
      <p:sp>
        <p:nvSpPr>
          <p:cNvPr id="319" name="Google Shape;319;p19"/>
          <p:cNvSpPr/>
          <p:nvPr/>
        </p:nvSpPr>
        <p:spPr>
          <a:xfrm>
            <a:off x="2797635" y="4715408"/>
            <a:ext cx="9010997" cy="156966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1CADE4"/>
                </a:solidFill>
                <a:latin typeface="Arial"/>
                <a:ea typeface="Arial"/>
                <a:cs typeface="Arial"/>
                <a:sym typeface="Arial"/>
              </a:rPr>
              <a:t>lst = [1, 2, 3]</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1CADE4"/>
                </a:solidFill>
                <a:latin typeface="Arial"/>
                <a:ea typeface="Arial"/>
                <a:cs typeface="Arial"/>
                <a:sym typeface="Arial"/>
              </a:rPr>
              <a:t>lst[0] = 1 🡪 1 Access of first element</a:t>
            </a:r>
            <a:endParaRPr b="1" i="0" sz="2400" u="none" cap="none" strike="noStrike">
              <a:solidFill>
                <a:srgbClr val="1CADE4"/>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1CADE4"/>
                </a:solidFill>
                <a:latin typeface="Arial"/>
                <a:ea typeface="Arial"/>
                <a:cs typeface="Arial"/>
                <a:sym typeface="Arial"/>
              </a:rPr>
              <a:t>lst[1] = 2 🡪 Access of second element</a:t>
            </a:r>
            <a:endParaRPr b="1" i="0" sz="2400" u="none" cap="none" strike="noStrike">
              <a:solidFill>
                <a:srgbClr val="1CADE4"/>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1CADE4"/>
                </a:solidFill>
                <a:latin typeface="Arial"/>
                <a:ea typeface="Arial"/>
                <a:cs typeface="Arial"/>
                <a:sym typeface="Arial"/>
              </a:rPr>
              <a:t>lst[2] = 3 🡪 Access of third element</a:t>
            </a:r>
            <a:endParaRPr b="1" i="0" sz="2400" u="none" cap="none" strike="noStrike">
              <a:solidFill>
                <a:srgbClr val="1CADE4"/>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0"/>
          <p:cNvSpPr txBox="1"/>
          <p:nvPr>
            <p:ph idx="1" type="subTitle"/>
          </p:nvPr>
        </p:nvSpPr>
        <p:spPr>
          <a:xfrm>
            <a:off x="3680190" y="338117"/>
            <a:ext cx="7245892"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4800"/>
              <a:buNone/>
            </a:pPr>
            <a:r>
              <a:rPr lang="en-US" sz="4800"/>
              <a:t>Some Common Operation</a:t>
            </a:r>
            <a:endParaRPr sz="4000">
              <a:solidFill>
                <a:srgbClr val="191919"/>
              </a:solidFill>
              <a:latin typeface="Arial"/>
              <a:ea typeface="Arial"/>
              <a:cs typeface="Arial"/>
              <a:sym typeface="Arial"/>
            </a:endParaRPr>
          </a:p>
        </p:txBody>
      </p:sp>
      <p:graphicFrame>
        <p:nvGraphicFramePr>
          <p:cNvPr id="325" name="Google Shape;325;p20"/>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b="1" sz="1600" u="none"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 List Structure</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2.1. Common List Operations</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2.2. List Access and Update</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2.3. Appending and Inserting</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2.4. Removing from List</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2.5. List Traversal</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2.6. Use of List Traversal</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2.7. List in Python</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2.8. List Recipe</a:t>
                      </a:r>
                      <a:endParaRPr sz="1400" u="none" cap="none" strike="noStrike"/>
                    </a:p>
                    <a:p>
                      <a:pPr indent="0" lvl="0" marL="0" marR="0" rtl="0" algn="ctr">
                        <a:lnSpc>
                          <a:spcPct val="150000"/>
                        </a:lnSpc>
                        <a:spcBef>
                          <a:spcPts val="0"/>
                        </a:spcBef>
                        <a:spcAft>
                          <a:spcPts val="0"/>
                        </a:spcAft>
                        <a:buClr>
                          <a:srgbClr val="00B050"/>
                        </a:buClr>
                        <a:buSzPts val="1600"/>
                        <a:buFont typeface="Calibri"/>
                        <a:buNone/>
                      </a:pPr>
                      <a:r>
                        <a:rPr b="1" lang="en-US" sz="1600" u="none" cap="none" strike="noStrike">
                          <a:solidFill>
                            <a:srgbClr val="00B050"/>
                          </a:solidFill>
                          <a:latin typeface="Arial"/>
                          <a:ea typeface="Arial"/>
                          <a:cs typeface="Arial"/>
                          <a:sym typeface="Arial"/>
                        </a:rPr>
                        <a:t>Some Common Operation</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cxnSp>
        <p:nvCxnSpPr>
          <p:cNvPr id="326" name="Google Shape;326;p20"/>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327" name="Google Shape;327;p20"/>
          <p:cNvSpPr/>
          <p:nvPr/>
        </p:nvSpPr>
        <p:spPr>
          <a:xfrm>
            <a:off x="2797638" y="1385022"/>
            <a:ext cx="9010997" cy="46166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For example, the following prints the first element of list lst, </a:t>
            </a:r>
            <a:endParaRPr b="0" i="0" sz="2400" u="none" cap="none" strike="noStrike">
              <a:solidFill>
                <a:srgbClr val="1CADE4"/>
              </a:solidFill>
              <a:latin typeface="Arial"/>
              <a:ea typeface="Arial"/>
              <a:cs typeface="Arial"/>
              <a:sym typeface="Arial"/>
            </a:endParaRPr>
          </a:p>
        </p:txBody>
      </p:sp>
      <p:sp>
        <p:nvSpPr>
          <p:cNvPr id="328" name="Google Shape;328;p20"/>
          <p:cNvSpPr/>
          <p:nvPr/>
        </p:nvSpPr>
        <p:spPr>
          <a:xfrm>
            <a:off x="3176965" y="1995004"/>
            <a:ext cx="2231564" cy="5232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print(lst[0])</a:t>
            </a:r>
            <a:endParaRPr b="1" i="0" sz="2800" u="none" cap="none" strike="noStrike">
              <a:solidFill>
                <a:schemeClr val="dk1"/>
              </a:solidFill>
              <a:latin typeface="Arial"/>
              <a:ea typeface="Arial"/>
              <a:cs typeface="Arial"/>
              <a:sym typeface="Arial"/>
            </a:endParaRPr>
          </a:p>
        </p:txBody>
      </p:sp>
      <p:sp>
        <p:nvSpPr>
          <p:cNvPr id="329" name="Google Shape;329;p20"/>
          <p:cNvSpPr/>
          <p:nvPr/>
        </p:nvSpPr>
        <p:spPr>
          <a:xfrm>
            <a:off x="2537866" y="3558517"/>
            <a:ext cx="9010997" cy="46166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The elements of lst can be summed as follows,</a:t>
            </a:r>
            <a:endParaRPr b="1" i="0" sz="2400" u="none" cap="none" strike="noStrike">
              <a:solidFill>
                <a:srgbClr val="1CADE4"/>
              </a:solidFill>
              <a:latin typeface="Arial"/>
              <a:ea typeface="Arial"/>
              <a:cs typeface="Arial"/>
              <a:sym typeface="Arial"/>
            </a:endParaRPr>
          </a:p>
        </p:txBody>
      </p:sp>
      <p:graphicFrame>
        <p:nvGraphicFramePr>
          <p:cNvPr id="330" name="Google Shape;330;p20"/>
          <p:cNvGraphicFramePr/>
          <p:nvPr/>
        </p:nvGraphicFramePr>
        <p:xfrm>
          <a:off x="2611700" y="4205547"/>
          <a:ext cx="3000000" cy="3000000"/>
        </p:xfrm>
        <a:graphic>
          <a:graphicData uri="http://schemas.openxmlformats.org/drawingml/2006/table">
            <a:tbl>
              <a:tblPr bandRow="1">
                <a:noFill/>
                <a:tableStyleId>{1F3B3BFD-44AB-4170-A380-628C88566B88}</a:tableStyleId>
              </a:tblPr>
              <a:tblGrid>
                <a:gridCol w="3122325"/>
                <a:gridCol w="2380325"/>
                <a:gridCol w="3864325"/>
              </a:tblGrid>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rgbClr val="002FC4"/>
                          </a:solidFill>
                          <a:latin typeface="Courier New"/>
                          <a:ea typeface="Courier New"/>
                          <a:cs typeface="Courier New"/>
                          <a:sym typeface="Courier New"/>
                        </a:rPr>
                        <a:t>Update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lst[2] = 4</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Calibri"/>
                          <a:ea typeface="Calibri"/>
                          <a:cs typeface="Calibri"/>
                          <a:sym typeface="Calibri"/>
                        </a:rPr>
                        <a:t>Replacement of 3 with 4 at index 2</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rgbClr val="002FC4"/>
                          </a:solidFill>
                          <a:latin typeface="Courier New"/>
                          <a:ea typeface="Courier New"/>
                          <a:cs typeface="Courier New"/>
                          <a:sym typeface="Courier New"/>
                        </a:rPr>
                        <a:t>Delete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del lst[2]</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Calibri"/>
                          <a:ea typeface="Calibri"/>
                          <a:cs typeface="Calibri"/>
                          <a:sym typeface="Calibri"/>
                        </a:rPr>
                        <a:t>Removal of 4 at index 2</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rgbClr val="002FC4"/>
                          </a:solidFill>
                          <a:latin typeface="Courier New"/>
                          <a:ea typeface="Courier New"/>
                          <a:cs typeface="Courier New"/>
                          <a:sym typeface="Courier New"/>
                        </a:rPr>
                        <a:t>Insert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lst.insert(1, 3)</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Calibri"/>
                          <a:ea typeface="Calibri"/>
                          <a:cs typeface="Calibri"/>
                          <a:sym typeface="Calibri"/>
                        </a:rPr>
                        <a:t>Insertion of 3 at index 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rgbClr val="002FC4"/>
                          </a:solidFill>
                          <a:latin typeface="Courier New"/>
                          <a:ea typeface="Courier New"/>
                          <a:cs typeface="Courier New"/>
                          <a:sym typeface="Courier New"/>
                        </a:rPr>
                        <a:t>Append</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lst.append(4)</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Calibri"/>
                          <a:ea typeface="Calibri"/>
                          <a:cs typeface="Calibri"/>
                          <a:sym typeface="Calibri"/>
                        </a:rPr>
                        <a:t>Appends 4 to end of list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1"/>
          <p:cNvSpPr txBox="1"/>
          <p:nvPr>
            <p:ph idx="1" type="subTitle"/>
          </p:nvPr>
        </p:nvSpPr>
        <p:spPr>
          <a:xfrm>
            <a:off x="3680189" y="308259"/>
            <a:ext cx="7245892"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None/>
            </a:pPr>
            <a:r>
              <a:rPr lang="en-US" sz="6000"/>
              <a:t>Python List Operation</a:t>
            </a:r>
            <a:endParaRPr sz="4800">
              <a:solidFill>
                <a:srgbClr val="191919"/>
              </a:solidFill>
              <a:latin typeface="Arial"/>
              <a:ea typeface="Arial"/>
              <a:cs typeface="Arial"/>
              <a:sym typeface="Arial"/>
            </a:endParaRPr>
          </a:p>
        </p:txBody>
      </p:sp>
      <p:graphicFrame>
        <p:nvGraphicFramePr>
          <p:cNvPr id="336" name="Google Shape;336;p21"/>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b="1" sz="1600" u="none"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 2.4. Removing from List</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2.5. List Traversal</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2.6. Use of List Traversal</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2.7. List in Python</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2.8. List Recipe</a:t>
                      </a:r>
                      <a:endParaRPr sz="1400" u="none" cap="none" strike="noStrike"/>
                    </a:p>
                    <a:p>
                      <a:pPr indent="0" lvl="0" marL="0" marR="0" rtl="0" algn="ctr">
                        <a:lnSpc>
                          <a:spcPct val="150000"/>
                        </a:lnSpc>
                        <a:spcBef>
                          <a:spcPts val="0"/>
                        </a:spcBef>
                        <a:spcAft>
                          <a:spcPts val="0"/>
                        </a:spcAft>
                        <a:buClr>
                          <a:srgbClr val="00B050"/>
                        </a:buClr>
                        <a:buSzPts val="1600"/>
                        <a:buFont typeface="Calibri"/>
                        <a:buNone/>
                      </a:pPr>
                      <a:r>
                        <a:rPr b="1" lang="en-US" sz="1600" u="none" cap="none" strike="noStrike">
                          <a:solidFill>
                            <a:srgbClr val="00B050"/>
                          </a:solidFill>
                          <a:latin typeface="Arial"/>
                          <a:ea typeface="Arial"/>
                          <a:cs typeface="Arial"/>
                          <a:sym typeface="Arial"/>
                        </a:rPr>
                        <a:t>2.9. Python List Operation</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337" name="Google Shape;337;p21"/>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338" name="Google Shape;338;p21"/>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pic>
        <p:nvPicPr>
          <p:cNvPr id="339" name="Google Shape;339;p21"/>
          <p:cNvPicPr preferRelativeResize="0"/>
          <p:nvPr/>
        </p:nvPicPr>
        <p:blipFill rotWithShape="1">
          <a:blip r:embed="rId3">
            <a:alphaModFix/>
          </a:blip>
          <a:srcRect b="0" l="0" r="0" t="0"/>
          <a:stretch/>
        </p:blipFill>
        <p:spPr>
          <a:xfrm>
            <a:off x="3283585" y="1565451"/>
            <a:ext cx="8039100" cy="3971925"/>
          </a:xfrm>
          <a:prstGeom prst="rect">
            <a:avLst/>
          </a:prstGeom>
          <a:noFill/>
          <a:ln>
            <a:noFill/>
          </a:ln>
        </p:spPr>
      </p:pic>
      <p:sp>
        <p:nvSpPr>
          <p:cNvPr id="340" name="Google Shape;340;p21"/>
          <p:cNvSpPr/>
          <p:nvPr/>
        </p:nvSpPr>
        <p:spPr>
          <a:xfrm>
            <a:off x="4618906" y="5940132"/>
            <a:ext cx="536845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dk1"/>
                </a:solidFill>
                <a:latin typeface="Calibri"/>
                <a:ea typeface="Calibri"/>
                <a:cs typeface="Calibri"/>
                <a:sym typeface="Calibri"/>
                <a:hlinkClick r:id="rId4">
                  <a:extLst>
                    <a:ext uri="{A12FA001-AC4F-418D-AE19-62706E023703}">
                      <ahyp:hlinkClr val="tx"/>
                    </a:ext>
                  </a:extLst>
                </a:hlinkClick>
              </a:rPr>
              <a:t>https://docs.python.org/3/tutorial/datastructures.html</a:t>
            </a:r>
            <a:endParaRPr b="0" i="0" sz="1800" u="none" cap="none" strike="noStrike">
              <a:solidFill>
                <a:schemeClr val="dk1"/>
              </a:solidFill>
              <a:latin typeface="Calibri"/>
              <a:ea typeface="Calibri"/>
              <a:cs typeface="Calibri"/>
              <a:sym typeface="Calibri"/>
            </a:endParaRPr>
          </a:p>
        </p:txBody>
      </p:sp>
      <p:pic>
        <p:nvPicPr>
          <p:cNvPr descr="▷ Click Here Signs &amp; Buttons: Animated Images, Gifs, Pictures &amp; Animations  - 100% FREE!" id="341" name="Google Shape;341;p21"/>
          <p:cNvPicPr preferRelativeResize="0"/>
          <p:nvPr/>
        </p:nvPicPr>
        <p:blipFill rotWithShape="1">
          <a:blip r:embed="rId5">
            <a:alphaModFix/>
          </a:blip>
          <a:srcRect b="0" l="0" r="0" t="0"/>
          <a:stretch/>
        </p:blipFill>
        <p:spPr>
          <a:xfrm rot="1928108">
            <a:off x="3416213" y="5308394"/>
            <a:ext cx="1263477" cy="126347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2"/>
          <p:cNvSpPr txBox="1"/>
          <p:nvPr/>
        </p:nvSpPr>
        <p:spPr>
          <a:xfrm>
            <a:off x="2207874" y="2719902"/>
            <a:ext cx="8650627"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32C4A"/>
                </a:solidFill>
                <a:latin typeface="Arial"/>
                <a:ea typeface="Arial"/>
                <a:cs typeface="Arial"/>
                <a:sym typeface="Arial"/>
              </a:rPr>
              <a:t>Sam’s Car Collection!!</a:t>
            </a:r>
            <a:endParaRPr b="0" i="0" sz="4400" u="none" cap="none" strike="noStrike">
              <a:solidFill>
                <a:schemeClr val="dk1"/>
              </a:solidFill>
              <a:latin typeface="Arial"/>
              <a:ea typeface="Arial"/>
              <a:cs typeface="Arial"/>
              <a:sym typeface="Arial"/>
            </a:endParaRPr>
          </a:p>
        </p:txBody>
      </p:sp>
      <p:pic>
        <p:nvPicPr>
          <p:cNvPr descr="Most Affordable UK University Degree in Nepal | UK Degree in Kathmandu" id="347" name="Google Shape;347;p22"/>
          <p:cNvPicPr preferRelativeResize="0"/>
          <p:nvPr/>
        </p:nvPicPr>
        <p:blipFill rotWithShape="1">
          <a:blip r:embed="rId3">
            <a:alphaModFix amt="10000"/>
          </a:blip>
          <a:srcRect b="0" l="0" r="0" t="0"/>
          <a:stretch/>
        </p:blipFill>
        <p:spPr>
          <a:xfrm>
            <a:off x="10647554" y="142004"/>
            <a:ext cx="1428750" cy="8001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3"/>
          <p:cNvSpPr txBox="1"/>
          <p:nvPr>
            <p:ph idx="1" type="subTitle"/>
          </p:nvPr>
        </p:nvSpPr>
        <p:spPr>
          <a:xfrm>
            <a:off x="3091205" y="407911"/>
            <a:ext cx="8502759"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4000"/>
              <a:buNone/>
            </a:pPr>
            <a:r>
              <a:rPr lang="en-US" sz="4000">
                <a:latin typeface="Arial"/>
                <a:ea typeface="Arial"/>
                <a:cs typeface="Arial"/>
                <a:sym typeface="Arial"/>
              </a:rPr>
              <a:t>Let’s Understand Through Example</a:t>
            </a:r>
            <a:endParaRPr sz="3200">
              <a:solidFill>
                <a:srgbClr val="191919"/>
              </a:solidFill>
              <a:latin typeface="Arial"/>
              <a:ea typeface="Arial"/>
              <a:cs typeface="Arial"/>
              <a:sym typeface="Arial"/>
            </a:endParaRPr>
          </a:p>
        </p:txBody>
      </p:sp>
      <p:graphicFrame>
        <p:nvGraphicFramePr>
          <p:cNvPr id="353" name="Google Shape;353;p23"/>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b="1" sz="1600" u="none"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 2.4. Removing from List</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2.5. List Traversal</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2.6. Use of List Traversal</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2.7. List in Python</a:t>
                      </a:r>
                      <a:endParaRPr sz="1400" u="none" cap="none" strike="noStrike"/>
                    </a:p>
                    <a:p>
                      <a:pPr indent="0" lvl="0" marL="0" marR="0" rtl="0" algn="ctr">
                        <a:lnSpc>
                          <a:spcPct val="150000"/>
                        </a:lnSpc>
                        <a:spcBef>
                          <a:spcPts val="0"/>
                        </a:spcBef>
                        <a:spcAft>
                          <a:spcPts val="0"/>
                        </a:spcAft>
                        <a:buClr>
                          <a:srgbClr val="222A35"/>
                        </a:buClr>
                        <a:buSzPts val="1600"/>
                        <a:buFont typeface="Calibri"/>
                        <a:buNone/>
                      </a:pPr>
                      <a:r>
                        <a:rPr b="1" lang="en-US" sz="1600" u="none" cap="none" strike="noStrike">
                          <a:solidFill>
                            <a:srgbClr val="222A35"/>
                          </a:solidFill>
                          <a:latin typeface="Arial"/>
                          <a:ea typeface="Arial"/>
                          <a:cs typeface="Arial"/>
                          <a:sym typeface="Arial"/>
                        </a:rPr>
                        <a:t>2.8. List Recipe</a:t>
                      </a:r>
                      <a:endParaRPr sz="1400" u="none" cap="none" strike="noStrike"/>
                    </a:p>
                    <a:p>
                      <a:pPr indent="0" lvl="0" marL="0" marR="0" rtl="0" algn="ctr">
                        <a:lnSpc>
                          <a:spcPct val="150000"/>
                        </a:lnSpc>
                        <a:spcBef>
                          <a:spcPts val="0"/>
                        </a:spcBef>
                        <a:spcAft>
                          <a:spcPts val="0"/>
                        </a:spcAft>
                        <a:buClr>
                          <a:srgbClr val="00B050"/>
                        </a:buClr>
                        <a:buSzPts val="1600"/>
                        <a:buFont typeface="Calibri"/>
                        <a:buNone/>
                      </a:pPr>
                      <a:r>
                        <a:rPr b="1" lang="en-US" sz="1600" u="none" cap="none" strike="noStrike">
                          <a:solidFill>
                            <a:srgbClr val="00B050"/>
                          </a:solidFill>
                          <a:latin typeface="Arial"/>
                          <a:ea typeface="Arial"/>
                          <a:cs typeface="Arial"/>
                          <a:sym typeface="Arial"/>
                        </a:rPr>
                        <a:t>2.9. Python List Operation</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354" name="Google Shape;354;p23"/>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355" name="Google Shape;355;p23"/>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356" name="Google Shape;356;p23"/>
          <p:cNvSpPr/>
          <p:nvPr/>
        </p:nvSpPr>
        <p:spPr>
          <a:xfrm>
            <a:off x="2900856" y="1347728"/>
            <a:ext cx="4695516" cy="2862322"/>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80"/>
                </a:solidFill>
                <a:latin typeface="Arial"/>
                <a:ea typeface="Arial"/>
                <a:cs typeface="Arial"/>
                <a:sym typeface="Arial"/>
              </a:rPr>
              <a:t>print</a:t>
            </a:r>
            <a:r>
              <a:rPr b="0" i="0" lang="en-US" sz="1800" u="none" cap="none" strike="noStrike">
                <a:solidFill>
                  <a:srgbClr val="080808"/>
                </a:solidFill>
                <a:latin typeface="Arial"/>
                <a:ea typeface="Arial"/>
                <a:cs typeface="Arial"/>
                <a:sym typeface="Arial"/>
              </a:rPr>
              <a:t>(</a:t>
            </a:r>
            <a:r>
              <a:rPr b="0" i="0" lang="en-US" sz="1800" u="none" cap="none" strike="noStrike">
                <a:solidFill>
                  <a:srgbClr val="067D17"/>
                </a:solidFill>
                <a:latin typeface="Arial"/>
                <a:ea typeface="Arial"/>
                <a:cs typeface="Arial"/>
                <a:sym typeface="Arial"/>
              </a:rPr>
              <a:t>f"Sam's Car Collection"</a:t>
            </a:r>
            <a:r>
              <a:rPr b="0" i="0" lang="en-US" sz="1800" u="none" cap="none" strike="noStrike">
                <a:solidFill>
                  <a:srgbClr val="080808"/>
                </a:solidFill>
                <a:latin typeface="Arial"/>
                <a:ea typeface="Arial"/>
                <a:cs typeface="Arial"/>
                <a:sym typeface="Arial"/>
              </a:rPr>
              <a:t>.center(</a:t>
            </a:r>
            <a:r>
              <a:rPr b="0" i="0" lang="en-US" sz="1800" u="none" cap="none" strike="noStrike">
                <a:solidFill>
                  <a:srgbClr val="1750EB"/>
                </a:solidFill>
                <a:latin typeface="Arial"/>
                <a:ea typeface="Arial"/>
                <a:cs typeface="Arial"/>
                <a:sym typeface="Arial"/>
              </a:rPr>
              <a:t>50</a:t>
            </a:r>
            <a:r>
              <a:rPr b="0" i="0" lang="en-US" sz="1800" u="none" cap="none" strike="noStrike">
                <a:solidFill>
                  <a:srgbClr val="080808"/>
                </a:solidFill>
                <a:latin typeface="Arial"/>
                <a:ea typeface="Arial"/>
                <a:cs typeface="Arial"/>
                <a:sym typeface="Arial"/>
              </a:rPr>
              <a:t>))</a:t>
            </a:r>
            <a:br>
              <a:rPr b="0" i="0" lang="en-US" sz="1800" u="none" cap="none" strike="noStrike">
                <a:solidFill>
                  <a:srgbClr val="080808"/>
                </a:solidFill>
                <a:latin typeface="Arial"/>
                <a:ea typeface="Arial"/>
                <a:cs typeface="Arial"/>
                <a:sym typeface="Arial"/>
              </a:rPr>
            </a:br>
            <a:r>
              <a:rPr b="0" i="0" lang="en-US" sz="1800" u="none" cap="none" strike="noStrike">
                <a:solidFill>
                  <a:srgbClr val="080808"/>
                </a:solidFill>
                <a:latin typeface="Arial"/>
                <a:ea typeface="Arial"/>
                <a:cs typeface="Arial"/>
                <a:sym typeface="Arial"/>
              </a:rPr>
              <a:t>car = [</a:t>
            </a:r>
            <a:r>
              <a:rPr b="0" i="0" lang="en-US" sz="1800" u="none" cap="none" strike="noStrike">
                <a:solidFill>
                  <a:srgbClr val="067D17"/>
                </a:solidFill>
                <a:latin typeface="Arial"/>
                <a:ea typeface="Arial"/>
                <a:cs typeface="Arial"/>
                <a:sym typeface="Arial"/>
              </a:rPr>
              <a:t>"Rolls Royce"</a:t>
            </a:r>
            <a:r>
              <a:rPr b="0" i="0" lang="en-US" sz="1800" u="none" cap="none" strike="noStrike">
                <a:solidFill>
                  <a:srgbClr val="080808"/>
                </a:solidFill>
                <a:latin typeface="Arial"/>
                <a:ea typeface="Arial"/>
                <a:cs typeface="Arial"/>
                <a:sym typeface="Arial"/>
              </a:rPr>
              <a:t>,  </a:t>
            </a:r>
            <a:r>
              <a:rPr b="0" i="0" lang="en-US" sz="1800" u="none" cap="none" strike="noStrike">
                <a:solidFill>
                  <a:srgbClr val="067D17"/>
                </a:solidFill>
                <a:latin typeface="Arial"/>
                <a:ea typeface="Arial"/>
                <a:cs typeface="Arial"/>
                <a:sym typeface="Arial"/>
              </a:rPr>
              <a:t>"Range Rover"</a:t>
            </a:r>
            <a:r>
              <a:rPr b="0" i="0" lang="en-US" sz="1800" u="none" cap="none" strike="noStrike">
                <a:solidFill>
                  <a:srgbClr val="080808"/>
                </a:solidFill>
                <a:latin typeface="Arial"/>
                <a:ea typeface="Arial"/>
                <a:cs typeface="Arial"/>
                <a:sym typeface="Arial"/>
              </a:rPr>
              <a:t>]</a:t>
            </a:r>
            <a:br>
              <a:rPr b="0" i="0" lang="en-US" sz="1800" u="none" cap="none" strike="noStrike">
                <a:solidFill>
                  <a:srgbClr val="080808"/>
                </a:solidFill>
                <a:latin typeface="Arial"/>
                <a:ea typeface="Arial"/>
                <a:cs typeface="Arial"/>
                <a:sym typeface="Arial"/>
              </a:rPr>
            </a:br>
            <a:r>
              <a:rPr b="0" i="0" lang="en-US" sz="1800" u="none" cap="none" strike="noStrike">
                <a:solidFill>
                  <a:srgbClr val="000080"/>
                </a:solidFill>
                <a:latin typeface="Arial"/>
                <a:ea typeface="Arial"/>
                <a:cs typeface="Arial"/>
                <a:sym typeface="Arial"/>
              </a:rPr>
              <a:t>print</a:t>
            </a:r>
            <a:r>
              <a:rPr b="0" i="0" lang="en-US" sz="1800" u="none" cap="none" strike="noStrike">
                <a:solidFill>
                  <a:srgbClr val="080808"/>
                </a:solidFill>
                <a:latin typeface="Arial"/>
                <a:ea typeface="Arial"/>
                <a:cs typeface="Arial"/>
                <a:sym typeface="Arial"/>
              </a:rPr>
              <a:t>(</a:t>
            </a:r>
            <a:r>
              <a:rPr b="0" i="0" lang="en-US" sz="1800" u="none" cap="none" strike="noStrike">
                <a:solidFill>
                  <a:srgbClr val="067D17"/>
                </a:solidFill>
                <a:latin typeface="Arial"/>
                <a:ea typeface="Arial"/>
                <a:cs typeface="Arial"/>
                <a:sym typeface="Arial"/>
              </a:rPr>
              <a:t>"The List of The Car:"</a:t>
            </a:r>
            <a:r>
              <a:rPr b="0" i="0" lang="en-US" sz="1800" u="none" cap="none" strike="noStrike">
                <a:solidFill>
                  <a:srgbClr val="080808"/>
                </a:solidFill>
                <a:latin typeface="Arial"/>
                <a:ea typeface="Arial"/>
                <a:cs typeface="Arial"/>
                <a:sym typeface="Arial"/>
              </a:rPr>
              <a:t>, car)</a:t>
            </a:r>
            <a:br>
              <a:rPr b="0" i="0" lang="en-US" sz="1800" u="none" cap="none" strike="noStrike">
                <a:solidFill>
                  <a:srgbClr val="080808"/>
                </a:solidFill>
                <a:latin typeface="Arial"/>
                <a:ea typeface="Arial"/>
                <a:cs typeface="Arial"/>
                <a:sym typeface="Arial"/>
              </a:rPr>
            </a:br>
            <a:r>
              <a:rPr b="0" i="0" lang="en-US" sz="1800" u="none" cap="none" strike="noStrike">
                <a:solidFill>
                  <a:srgbClr val="080808"/>
                </a:solidFill>
                <a:latin typeface="Arial"/>
                <a:ea typeface="Arial"/>
                <a:cs typeface="Arial"/>
                <a:sym typeface="Arial"/>
              </a:rPr>
              <a:t>car.append(</a:t>
            </a:r>
            <a:r>
              <a:rPr b="0" i="0" lang="en-US" sz="1800" u="none" cap="none" strike="noStrike">
                <a:solidFill>
                  <a:srgbClr val="067D17"/>
                </a:solidFill>
                <a:latin typeface="Arial"/>
                <a:ea typeface="Arial"/>
                <a:cs typeface="Arial"/>
                <a:sym typeface="Arial"/>
              </a:rPr>
              <a:t>"Ford"</a:t>
            </a:r>
            <a:r>
              <a:rPr b="0" i="0" lang="en-US" sz="1800" u="none" cap="none" strike="noStrike">
                <a:solidFill>
                  <a:srgbClr val="080808"/>
                </a:solidFill>
                <a:latin typeface="Arial"/>
                <a:ea typeface="Arial"/>
                <a:cs typeface="Arial"/>
                <a:sym typeface="Arial"/>
              </a:rPr>
              <a:t>)</a:t>
            </a:r>
            <a:br>
              <a:rPr b="0" i="0" lang="en-US" sz="1800" u="none" cap="none" strike="noStrike">
                <a:solidFill>
                  <a:srgbClr val="080808"/>
                </a:solidFill>
                <a:latin typeface="Arial"/>
                <a:ea typeface="Arial"/>
                <a:cs typeface="Arial"/>
                <a:sym typeface="Arial"/>
              </a:rPr>
            </a:br>
            <a:r>
              <a:rPr b="0" i="0" lang="en-US" sz="1800" u="none" cap="none" strike="noStrike">
                <a:solidFill>
                  <a:srgbClr val="080808"/>
                </a:solidFill>
                <a:latin typeface="Arial"/>
                <a:ea typeface="Arial"/>
                <a:cs typeface="Arial"/>
                <a:sym typeface="Arial"/>
              </a:rPr>
              <a:t>car.append(</a:t>
            </a:r>
            <a:r>
              <a:rPr b="0" i="0" lang="en-US" sz="1800" u="none" cap="none" strike="noStrike">
                <a:solidFill>
                  <a:srgbClr val="067D17"/>
                </a:solidFill>
                <a:latin typeface="Arial"/>
                <a:ea typeface="Arial"/>
                <a:cs typeface="Arial"/>
                <a:sym typeface="Arial"/>
              </a:rPr>
              <a:t>"Land Rover"</a:t>
            </a:r>
            <a:r>
              <a:rPr b="0" i="0" lang="en-US" sz="1800" u="none" cap="none" strike="noStrike">
                <a:solidFill>
                  <a:srgbClr val="080808"/>
                </a:solidFill>
                <a:latin typeface="Arial"/>
                <a:ea typeface="Arial"/>
                <a:cs typeface="Arial"/>
                <a:sym typeface="Arial"/>
              </a:rPr>
              <a:t>)</a:t>
            </a:r>
            <a:br>
              <a:rPr b="0" i="0" lang="en-US" sz="1800" u="none" cap="none" strike="noStrike">
                <a:solidFill>
                  <a:srgbClr val="080808"/>
                </a:solidFill>
                <a:latin typeface="Arial"/>
                <a:ea typeface="Arial"/>
                <a:cs typeface="Arial"/>
                <a:sym typeface="Arial"/>
              </a:rPr>
            </a:br>
            <a:r>
              <a:rPr b="0" i="0" lang="en-US" sz="1800" u="none" cap="none" strike="noStrike">
                <a:solidFill>
                  <a:srgbClr val="000080"/>
                </a:solidFill>
                <a:latin typeface="Arial"/>
                <a:ea typeface="Arial"/>
                <a:cs typeface="Arial"/>
                <a:sym typeface="Arial"/>
              </a:rPr>
              <a:t>print</a:t>
            </a:r>
            <a:r>
              <a:rPr b="0" i="0" lang="en-US" sz="1800" u="none" cap="none" strike="noStrike">
                <a:solidFill>
                  <a:srgbClr val="080808"/>
                </a:solidFill>
                <a:latin typeface="Arial"/>
                <a:ea typeface="Arial"/>
                <a:cs typeface="Arial"/>
                <a:sym typeface="Arial"/>
              </a:rPr>
              <a:t>(</a:t>
            </a:r>
            <a:r>
              <a:rPr b="0" i="0" lang="en-US" sz="1800" u="none" cap="none" strike="noStrike">
                <a:solidFill>
                  <a:srgbClr val="067D17"/>
                </a:solidFill>
                <a:latin typeface="Arial"/>
                <a:ea typeface="Arial"/>
                <a:cs typeface="Arial"/>
                <a:sym typeface="Arial"/>
              </a:rPr>
              <a:t>"The List After He Buys Two Car:"</a:t>
            </a:r>
            <a:r>
              <a:rPr b="0" i="0" lang="en-US" sz="1800" u="none" cap="none" strike="noStrike">
                <a:solidFill>
                  <a:srgbClr val="080808"/>
                </a:solidFill>
                <a:latin typeface="Arial"/>
                <a:ea typeface="Arial"/>
                <a:cs typeface="Arial"/>
                <a:sym typeface="Arial"/>
              </a:rPr>
              <a:t>,car)</a:t>
            </a:r>
            <a:br>
              <a:rPr b="0" i="0" lang="en-US" sz="1800" u="none" cap="none" strike="noStrike">
                <a:solidFill>
                  <a:srgbClr val="080808"/>
                </a:solidFill>
                <a:latin typeface="Arial"/>
                <a:ea typeface="Arial"/>
                <a:cs typeface="Arial"/>
                <a:sym typeface="Arial"/>
              </a:rPr>
            </a:br>
            <a:r>
              <a:rPr b="0" i="0" lang="en-US" sz="1800" u="none" cap="none" strike="noStrike">
                <a:solidFill>
                  <a:srgbClr val="080808"/>
                </a:solidFill>
                <a:latin typeface="Arial"/>
                <a:ea typeface="Arial"/>
                <a:cs typeface="Arial"/>
                <a:sym typeface="Arial"/>
              </a:rPr>
              <a:t>car.remove(</a:t>
            </a:r>
            <a:r>
              <a:rPr b="0" i="0" lang="en-US" sz="1800" u="none" cap="none" strike="noStrike">
                <a:solidFill>
                  <a:srgbClr val="067D17"/>
                </a:solidFill>
                <a:latin typeface="Arial"/>
                <a:ea typeface="Arial"/>
                <a:cs typeface="Arial"/>
                <a:sym typeface="Arial"/>
              </a:rPr>
              <a:t>"Range Rover"</a:t>
            </a:r>
            <a:r>
              <a:rPr b="0" i="0" lang="en-US" sz="1800" u="none" cap="none" strike="noStrike">
                <a:solidFill>
                  <a:srgbClr val="080808"/>
                </a:solidFill>
                <a:latin typeface="Arial"/>
                <a:ea typeface="Arial"/>
                <a:cs typeface="Arial"/>
                <a:sym typeface="Arial"/>
              </a:rPr>
              <a:t>)</a:t>
            </a:r>
            <a:br>
              <a:rPr b="0" i="0" lang="en-US" sz="1800" u="none" cap="none" strike="noStrike">
                <a:solidFill>
                  <a:srgbClr val="080808"/>
                </a:solidFill>
                <a:latin typeface="Arial"/>
                <a:ea typeface="Arial"/>
                <a:cs typeface="Arial"/>
                <a:sym typeface="Arial"/>
              </a:rPr>
            </a:br>
            <a:r>
              <a:rPr b="0" i="0" lang="en-US" sz="1800" u="none" cap="none" strike="noStrike">
                <a:solidFill>
                  <a:srgbClr val="000080"/>
                </a:solidFill>
                <a:latin typeface="Arial"/>
                <a:ea typeface="Arial"/>
                <a:cs typeface="Arial"/>
                <a:sym typeface="Arial"/>
              </a:rPr>
              <a:t>print</a:t>
            </a:r>
            <a:r>
              <a:rPr b="0" i="0" lang="en-US" sz="1800" u="none" cap="none" strike="noStrike">
                <a:solidFill>
                  <a:srgbClr val="080808"/>
                </a:solidFill>
                <a:latin typeface="Arial"/>
                <a:ea typeface="Arial"/>
                <a:cs typeface="Arial"/>
                <a:sym typeface="Arial"/>
              </a:rPr>
              <a:t>(</a:t>
            </a:r>
            <a:r>
              <a:rPr b="0" i="0" lang="en-US" sz="1800" u="none" cap="none" strike="noStrike">
                <a:solidFill>
                  <a:srgbClr val="067D17"/>
                </a:solidFill>
                <a:latin typeface="Arial"/>
                <a:ea typeface="Arial"/>
                <a:cs typeface="Arial"/>
                <a:sym typeface="Arial"/>
              </a:rPr>
              <a:t>"The List After He Sells One Car:"</a:t>
            </a:r>
            <a:r>
              <a:rPr b="0" i="0" lang="en-US" sz="1800" u="none" cap="none" strike="noStrike">
                <a:solidFill>
                  <a:srgbClr val="080808"/>
                </a:solidFill>
                <a:latin typeface="Arial"/>
                <a:ea typeface="Arial"/>
                <a:cs typeface="Arial"/>
                <a:sym typeface="Arial"/>
              </a:rPr>
              <a:t>, car)</a:t>
            </a:r>
            <a:br>
              <a:rPr b="0" i="0" lang="en-US" sz="1800" u="none" cap="none" strike="noStrike">
                <a:solidFill>
                  <a:srgbClr val="080808"/>
                </a:solidFill>
                <a:latin typeface="Arial"/>
                <a:ea typeface="Arial"/>
                <a:cs typeface="Arial"/>
                <a:sym typeface="Arial"/>
              </a:rPr>
            </a:br>
            <a:r>
              <a:rPr b="0" i="0" lang="en-US" sz="1800" u="none" cap="none" strike="noStrike">
                <a:solidFill>
                  <a:srgbClr val="080808"/>
                </a:solidFill>
                <a:latin typeface="Arial"/>
                <a:ea typeface="Arial"/>
                <a:cs typeface="Arial"/>
                <a:sym typeface="Arial"/>
              </a:rPr>
              <a:t>car.sort()</a:t>
            </a:r>
            <a:br>
              <a:rPr b="0" i="0" lang="en-US" sz="1800" u="none" cap="none" strike="noStrike">
                <a:solidFill>
                  <a:srgbClr val="080808"/>
                </a:solidFill>
                <a:latin typeface="Arial"/>
                <a:ea typeface="Arial"/>
                <a:cs typeface="Arial"/>
                <a:sym typeface="Arial"/>
              </a:rPr>
            </a:br>
            <a:r>
              <a:rPr b="0" i="0" lang="en-US" sz="1800" u="none" cap="none" strike="noStrike">
                <a:solidFill>
                  <a:srgbClr val="000080"/>
                </a:solidFill>
                <a:latin typeface="Arial"/>
                <a:ea typeface="Arial"/>
                <a:cs typeface="Arial"/>
                <a:sym typeface="Arial"/>
              </a:rPr>
              <a:t>print</a:t>
            </a:r>
            <a:r>
              <a:rPr b="0" i="0" lang="en-US" sz="1800" u="none" cap="none" strike="noStrike">
                <a:solidFill>
                  <a:srgbClr val="080808"/>
                </a:solidFill>
                <a:latin typeface="Arial"/>
                <a:ea typeface="Arial"/>
                <a:cs typeface="Arial"/>
                <a:sym typeface="Arial"/>
              </a:rPr>
              <a:t>(</a:t>
            </a:r>
            <a:r>
              <a:rPr b="0" i="0" lang="en-US" sz="1800" u="none" cap="none" strike="noStrike">
                <a:solidFill>
                  <a:srgbClr val="067D17"/>
                </a:solidFill>
                <a:latin typeface="Arial"/>
                <a:ea typeface="Arial"/>
                <a:cs typeface="Arial"/>
                <a:sym typeface="Arial"/>
              </a:rPr>
              <a:t>"Sorted List:"</a:t>
            </a:r>
            <a:r>
              <a:rPr b="0" i="0" lang="en-US" sz="1800" u="none" cap="none" strike="noStrike">
                <a:solidFill>
                  <a:srgbClr val="080808"/>
                </a:solidFill>
                <a:latin typeface="Arial"/>
                <a:ea typeface="Arial"/>
                <a:cs typeface="Arial"/>
                <a:sym typeface="Arial"/>
              </a:rPr>
              <a:t>, car)</a:t>
            </a:r>
            <a:endParaRPr b="0" i="0" sz="4000" u="none" cap="none" strike="noStrike">
              <a:solidFill>
                <a:schemeClr val="dk1"/>
              </a:solidFill>
              <a:latin typeface="Arial"/>
              <a:ea typeface="Arial"/>
              <a:cs typeface="Arial"/>
              <a:sym typeface="Arial"/>
            </a:endParaRPr>
          </a:p>
        </p:txBody>
      </p:sp>
      <p:pic>
        <p:nvPicPr>
          <p:cNvPr id="357" name="Google Shape;357;p23"/>
          <p:cNvPicPr preferRelativeResize="0"/>
          <p:nvPr/>
        </p:nvPicPr>
        <p:blipFill rotWithShape="1">
          <a:blip r:embed="rId3">
            <a:alphaModFix/>
          </a:blip>
          <a:srcRect b="0" l="0" r="0" t="0"/>
          <a:stretch/>
        </p:blipFill>
        <p:spPr>
          <a:xfrm>
            <a:off x="4807564" y="4836613"/>
            <a:ext cx="6916115" cy="1171739"/>
          </a:xfrm>
          <a:prstGeom prst="rect">
            <a:avLst/>
          </a:prstGeom>
          <a:noFill/>
          <a:ln>
            <a:noFill/>
          </a:ln>
        </p:spPr>
      </p:pic>
      <p:sp>
        <p:nvSpPr>
          <p:cNvPr id="358" name="Google Shape;358;p23"/>
          <p:cNvSpPr/>
          <p:nvPr/>
        </p:nvSpPr>
        <p:spPr>
          <a:xfrm>
            <a:off x="2703139" y="1227034"/>
            <a:ext cx="4893233" cy="3211962"/>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59" name="Google Shape;359;p23"/>
          <p:cNvCxnSpPr>
            <a:stCxn id="358" idx="3"/>
            <a:endCxn id="360" idx="1"/>
          </p:cNvCxnSpPr>
          <p:nvPr/>
        </p:nvCxnSpPr>
        <p:spPr>
          <a:xfrm flipH="1" rot="10800000">
            <a:off x="7596372" y="2402515"/>
            <a:ext cx="323100" cy="430500"/>
          </a:xfrm>
          <a:prstGeom prst="straightConnector1">
            <a:avLst/>
          </a:prstGeom>
          <a:noFill/>
          <a:ln cap="flat" cmpd="sng" w="19050">
            <a:solidFill>
              <a:srgbClr val="FF0000"/>
            </a:solidFill>
            <a:prstDash val="solid"/>
            <a:miter lim="800000"/>
            <a:headEnd len="sm" w="sm" type="none"/>
            <a:tailEnd len="sm" w="sm" type="none"/>
          </a:ln>
        </p:spPr>
      </p:cxnSp>
      <p:sp>
        <p:nvSpPr>
          <p:cNvPr id="360" name="Google Shape;360;p23"/>
          <p:cNvSpPr/>
          <p:nvPr/>
        </p:nvSpPr>
        <p:spPr>
          <a:xfrm>
            <a:off x="7919508" y="1322101"/>
            <a:ext cx="3934442" cy="2160931"/>
          </a:xfrm>
          <a:prstGeom prst="rect">
            <a:avLst/>
          </a:prstGeom>
          <a:gradFill>
            <a:gsLst>
              <a:gs pos="0">
                <a:srgbClr val="FFDC9B"/>
              </a:gs>
              <a:gs pos="50000">
                <a:srgbClr val="FFD68D"/>
              </a:gs>
              <a:gs pos="100000">
                <a:srgbClr val="FFD478"/>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Here, we can see that different cars are kept in a list and various operations such as appending, removing and sorting are performed in that list.</a:t>
            </a:r>
            <a:endParaRPr b="0" i="0" sz="1800" u="none" cap="none" strike="noStrike">
              <a:solidFill>
                <a:schemeClr val="dk1"/>
              </a:solidFill>
              <a:latin typeface="Calibri"/>
              <a:ea typeface="Calibri"/>
              <a:cs typeface="Calibri"/>
              <a:sym typeface="Calibri"/>
            </a:endParaRPr>
          </a:p>
        </p:txBody>
      </p:sp>
      <p:sp>
        <p:nvSpPr>
          <p:cNvPr id="361" name="Google Shape;361;p23"/>
          <p:cNvSpPr/>
          <p:nvPr/>
        </p:nvSpPr>
        <p:spPr>
          <a:xfrm>
            <a:off x="2938058" y="5159813"/>
            <a:ext cx="1546760" cy="748424"/>
          </a:xfrm>
          <a:prstGeom prst="rightArrow">
            <a:avLst>
              <a:gd fmla="val 50000" name="adj1"/>
              <a:gd fmla="val 50000" name="adj2"/>
            </a:avLst>
          </a:prstGeom>
          <a:solidFill>
            <a:srgbClr val="FFFF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Output</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4"/>
          <p:cNvSpPr txBox="1"/>
          <p:nvPr/>
        </p:nvSpPr>
        <p:spPr>
          <a:xfrm>
            <a:off x="1996927" y="2753075"/>
            <a:ext cx="8650627"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32C4A"/>
                </a:solidFill>
                <a:latin typeface="Arial"/>
                <a:ea typeface="Arial"/>
                <a:cs typeface="Arial"/>
                <a:sym typeface="Arial"/>
              </a:rPr>
              <a:t>Tuples</a:t>
            </a:r>
            <a:endParaRPr b="0" i="0" sz="4400" u="none" cap="none" strike="noStrike">
              <a:solidFill>
                <a:schemeClr val="dk1"/>
              </a:solidFill>
              <a:latin typeface="Arial"/>
              <a:ea typeface="Arial"/>
              <a:cs typeface="Arial"/>
              <a:sym typeface="Arial"/>
            </a:endParaRPr>
          </a:p>
        </p:txBody>
      </p:sp>
      <p:pic>
        <p:nvPicPr>
          <p:cNvPr descr="Most Affordable UK University Degree in Nepal | UK Degree in Kathmandu" id="367" name="Google Shape;367;p24"/>
          <p:cNvPicPr preferRelativeResize="0"/>
          <p:nvPr/>
        </p:nvPicPr>
        <p:blipFill rotWithShape="1">
          <a:blip r:embed="rId3">
            <a:alphaModFix amt="10000"/>
          </a:blip>
          <a:srcRect b="0" l="0" r="0" t="0"/>
          <a:stretch/>
        </p:blipFill>
        <p:spPr>
          <a:xfrm>
            <a:off x="10647554" y="142004"/>
            <a:ext cx="1428750" cy="8001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5"/>
          <p:cNvSpPr txBox="1"/>
          <p:nvPr>
            <p:ph idx="1" type="subTitle"/>
          </p:nvPr>
        </p:nvSpPr>
        <p:spPr>
          <a:xfrm>
            <a:off x="3884229" y="308259"/>
            <a:ext cx="6688187"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None/>
            </a:pPr>
            <a:r>
              <a:rPr lang="en-US" sz="6000"/>
              <a:t>Tuples</a:t>
            </a:r>
            <a:endParaRPr sz="4800">
              <a:solidFill>
                <a:srgbClr val="191919"/>
              </a:solidFill>
              <a:latin typeface="Arial"/>
              <a:ea typeface="Arial"/>
              <a:cs typeface="Arial"/>
              <a:sym typeface="Arial"/>
            </a:endParaRPr>
          </a:p>
        </p:txBody>
      </p:sp>
      <p:graphicFrame>
        <p:nvGraphicFramePr>
          <p:cNvPr id="373" name="Google Shape;373;p25"/>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sz="1400" u="none" cap="none" strike="noStrike"/>
                    </a:p>
                    <a:p>
                      <a:pPr indent="-342900" lvl="0" marL="342900" marR="0" rtl="0" algn="ctr">
                        <a:lnSpc>
                          <a:spcPct val="150000"/>
                        </a:lnSpc>
                        <a:spcBef>
                          <a:spcPts val="0"/>
                        </a:spcBef>
                        <a:spcAft>
                          <a:spcPts val="0"/>
                        </a:spcAft>
                        <a:buClr>
                          <a:srgbClr val="00B050"/>
                        </a:buClr>
                        <a:buSzPts val="1600"/>
                        <a:buFont typeface="Calibri"/>
                        <a:buAutoNum type="arabicPeriod"/>
                      </a:pPr>
                      <a:r>
                        <a:rPr b="1" lang="en-US" sz="1600" u="none" cap="none" strike="noStrike">
                          <a:solidFill>
                            <a:srgbClr val="00B050"/>
                          </a:solidFill>
                          <a:latin typeface="Arial"/>
                          <a:ea typeface="Arial"/>
                          <a:cs typeface="Arial"/>
                          <a:sym typeface="Arial"/>
                        </a:rPr>
                        <a:t>Tuples</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374" name="Google Shape;374;p25"/>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375" name="Google Shape;375;p25"/>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376" name="Google Shape;376;p25"/>
          <p:cNvSpPr/>
          <p:nvPr/>
        </p:nvSpPr>
        <p:spPr>
          <a:xfrm>
            <a:off x="2797638" y="1385022"/>
            <a:ext cx="9010997"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Tuple</a:t>
            </a:r>
            <a:r>
              <a:rPr b="0" i="0" lang="en-US" sz="2400" u="none" cap="none" strike="noStrike">
                <a:solidFill>
                  <a:schemeClr val="dk1"/>
                </a:solidFill>
                <a:latin typeface="Calibri"/>
                <a:ea typeface="Calibri"/>
                <a:cs typeface="Calibri"/>
                <a:sym typeface="Calibri"/>
              </a:rPr>
              <a:t> [</a:t>
            </a:r>
            <a:r>
              <a:rPr b="1" i="0" lang="en-US" sz="2400" u="none" cap="none" strike="noStrike">
                <a:solidFill>
                  <a:srgbClr val="D4650A"/>
                </a:solidFill>
                <a:latin typeface="Calibri"/>
                <a:ea typeface="Calibri"/>
                <a:cs typeface="Calibri"/>
                <a:sym typeface="Calibri"/>
              </a:rPr>
              <a:t>Definition</a:t>
            </a:r>
            <a:r>
              <a:rPr b="0" i="0" lang="en-US" sz="2400" u="none" cap="none" strike="noStrike">
                <a:solidFill>
                  <a:schemeClr val="dk1"/>
                </a:solidFill>
                <a:latin typeface="Calibri"/>
                <a:ea typeface="Calibri"/>
                <a:cs typeface="Calibri"/>
                <a:sym typeface="Calibri"/>
              </a:rPr>
              <a:t>]: A tuple is an </a:t>
            </a:r>
            <a:r>
              <a:rPr b="0" i="0" lang="en-US" sz="2400" u="none" cap="none" strike="noStrike">
                <a:solidFill>
                  <a:srgbClr val="D4650A"/>
                </a:solidFill>
                <a:latin typeface="Calibri"/>
                <a:ea typeface="Calibri"/>
                <a:cs typeface="Calibri"/>
                <a:sym typeface="Calibri"/>
              </a:rPr>
              <a:t>immutable</a:t>
            </a:r>
            <a:r>
              <a:rPr b="0" i="0" lang="en-US" sz="2400" u="none" cap="none" strike="noStrike">
                <a:solidFill>
                  <a:schemeClr val="dk1"/>
                </a:solidFill>
                <a:latin typeface="Calibri"/>
                <a:ea typeface="Calibri"/>
                <a:cs typeface="Calibri"/>
                <a:sym typeface="Calibri"/>
              </a:rPr>
              <a:t> linear data structure. Thus, in contrast to lists, once a tuple is </a:t>
            </a:r>
            <a:r>
              <a:rPr b="1" i="0" lang="en-US" sz="2400" u="none" cap="none" strike="noStrike">
                <a:solidFill>
                  <a:srgbClr val="00B0F0"/>
                </a:solidFill>
                <a:latin typeface="Calibri"/>
                <a:ea typeface="Calibri"/>
                <a:cs typeface="Calibri"/>
                <a:sym typeface="Calibri"/>
              </a:rPr>
              <a:t>defined it cannot be altered</a:t>
            </a:r>
            <a:r>
              <a:rPr b="0" i="0" lang="en-US" sz="2400" u="none" cap="none" strike="noStrike">
                <a:solidFill>
                  <a:schemeClr val="dk1"/>
                </a:solidFill>
                <a:latin typeface="Calibri"/>
                <a:ea typeface="Calibri"/>
                <a:cs typeface="Calibri"/>
                <a:sym typeface="Calibri"/>
              </a:rPr>
              <a:t>. Otherwise, tuples and lists are essentially the same.</a:t>
            </a:r>
            <a:endParaRPr b="0" i="0" sz="2400" u="none" cap="none" strike="noStrike">
              <a:solidFill>
                <a:srgbClr val="1CADE4"/>
              </a:solidFill>
              <a:latin typeface="Calibri"/>
              <a:ea typeface="Calibri"/>
              <a:cs typeface="Calibri"/>
              <a:sym typeface="Calibri"/>
            </a:endParaRPr>
          </a:p>
        </p:txBody>
      </p:sp>
      <p:sp>
        <p:nvSpPr>
          <p:cNvPr id="377" name="Google Shape;377;p25"/>
          <p:cNvSpPr/>
          <p:nvPr/>
        </p:nvSpPr>
        <p:spPr>
          <a:xfrm>
            <a:off x="3113475" y="2737012"/>
            <a:ext cx="879035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Calibri"/>
                <a:ea typeface="Calibri"/>
                <a:cs typeface="Calibri"/>
                <a:sym typeface="Calibri"/>
              </a:rPr>
              <a:t>To distinguish tuples from lists, tuples are denoted by parenthesis instead of square brackets:</a:t>
            </a:r>
            <a:endParaRPr b="1" i="0" sz="2400" u="none" cap="none" strike="noStrike">
              <a:solidFill>
                <a:srgbClr val="FF0000"/>
              </a:solidFill>
              <a:latin typeface="Calibri"/>
              <a:ea typeface="Calibri"/>
              <a:cs typeface="Calibri"/>
              <a:sym typeface="Calibri"/>
            </a:endParaRPr>
          </a:p>
        </p:txBody>
      </p:sp>
      <p:sp>
        <p:nvSpPr>
          <p:cNvPr id="378" name="Google Shape;378;p25"/>
          <p:cNvSpPr/>
          <p:nvPr/>
        </p:nvSpPr>
        <p:spPr>
          <a:xfrm>
            <a:off x="3113475" y="3719670"/>
            <a:ext cx="9010997"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nums = (10, 20, 30)</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student = (‘John Smith’, 48, ‘Computer Science’, 3.42)</a:t>
            </a:r>
            <a:endParaRPr b="1" i="0" sz="2400" u="none" cap="none" strike="noStrike">
              <a:solidFill>
                <a:schemeClr val="dk1"/>
              </a:solidFill>
              <a:latin typeface="Arial"/>
              <a:ea typeface="Arial"/>
              <a:cs typeface="Arial"/>
              <a:sym typeface="Arial"/>
            </a:endParaRPr>
          </a:p>
        </p:txBody>
      </p:sp>
      <p:sp>
        <p:nvSpPr>
          <p:cNvPr id="379" name="Google Shape;379;p25"/>
          <p:cNvSpPr/>
          <p:nvPr/>
        </p:nvSpPr>
        <p:spPr>
          <a:xfrm>
            <a:off x="2797637" y="4749195"/>
            <a:ext cx="9010997" cy="156966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Another difference of tuples and list is that tuples of one element must include a comma and following the element. Otherwise the parenthesized will not be made into a tuple: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1CADE4"/>
                </a:solidFill>
                <a:latin typeface="Arial"/>
                <a:ea typeface="Arial"/>
                <a:cs typeface="Arial"/>
                <a:sym typeface="Arial"/>
              </a:rPr>
              <a:t>	num = (10,)</a:t>
            </a:r>
            <a:endParaRPr b="0" i="0" sz="2400" u="none" cap="none" strike="noStrike">
              <a:solidFill>
                <a:srgbClr val="1CADE4"/>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6"/>
          <p:cNvSpPr txBox="1"/>
          <p:nvPr>
            <p:ph idx="1" type="subTitle"/>
          </p:nvPr>
        </p:nvSpPr>
        <p:spPr>
          <a:xfrm>
            <a:off x="3176965" y="331578"/>
            <a:ext cx="8050579"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None/>
            </a:pPr>
            <a:r>
              <a:rPr lang="en-US" sz="6000"/>
              <a:t>How To Access Tuple?</a:t>
            </a:r>
            <a:endParaRPr sz="4800">
              <a:solidFill>
                <a:srgbClr val="191919"/>
              </a:solidFill>
              <a:latin typeface="Arial"/>
              <a:ea typeface="Arial"/>
              <a:cs typeface="Arial"/>
              <a:sym typeface="Arial"/>
            </a:endParaRPr>
          </a:p>
        </p:txBody>
      </p:sp>
      <p:graphicFrame>
        <p:nvGraphicFramePr>
          <p:cNvPr id="385" name="Google Shape;385;p26"/>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3.1. Access Tuple</a:t>
                      </a:r>
                      <a:endParaRPr sz="1400" u="none" cap="none" strike="noStrike"/>
                    </a:p>
                  </a:txBody>
                  <a:tcPr marT="45725" marB="45725" marR="91450" marL="91450"/>
                </a:tc>
              </a:tr>
            </a:tbl>
          </a:graphicData>
        </a:graphic>
      </p:graphicFrame>
      <p:cxnSp>
        <p:nvCxnSpPr>
          <p:cNvPr id="386" name="Google Shape;386;p26"/>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387" name="Google Shape;387;p26"/>
          <p:cNvSpPr/>
          <p:nvPr/>
        </p:nvSpPr>
        <p:spPr>
          <a:xfrm>
            <a:off x="2797638" y="1385022"/>
            <a:ext cx="9010997"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Tuple [</a:t>
            </a:r>
            <a:r>
              <a:rPr b="1" i="0" lang="en-US" sz="2400" u="none" cap="none" strike="noStrike">
                <a:solidFill>
                  <a:srgbClr val="D4650A"/>
                </a:solidFill>
                <a:latin typeface="Arial"/>
                <a:ea typeface="Arial"/>
                <a:cs typeface="Arial"/>
                <a:sym typeface="Arial"/>
              </a:rPr>
              <a:t>Notion</a:t>
            </a:r>
            <a:r>
              <a:rPr b="0" i="0" lang="en-US" sz="2400" u="none" cap="none" strike="noStrike">
                <a:solidFill>
                  <a:schemeClr val="dk1"/>
                </a:solidFill>
                <a:latin typeface="Arial"/>
                <a:ea typeface="Arial"/>
                <a:cs typeface="Arial"/>
                <a:sym typeface="Arial"/>
              </a:rPr>
              <a:t>]: An empty tuple is represented by a set of </a:t>
            </a:r>
            <a:r>
              <a:rPr b="0" i="0" lang="en-US" sz="2400" u="none" cap="none" strike="noStrike">
                <a:solidFill>
                  <a:srgbClr val="D4650A"/>
                </a:solidFill>
                <a:latin typeface="Arial"/>
                <a:ea typeface="Arial"/>
                <a:cs typeface="Arial"/>
                <a:sym typeface="Arial"/>
              </a:rPr>
              <a:t>empty parenthesis, ().</a:t>
            </a:r>
            <a:endParaRPr b="0" i="0" sz="2400" u="none" cap="none" strike="noStrike">
              <a:solidFill>
                <a:srgbClr val="D4650A"/>
              </a:solidFill>
              <a:latin typeface="Arial"/>
              <a:ea typeface="Arial"/>
              <a:cs typeface="Arial"/>
              <a:sym typeface="Arial"/>
            </a:endParaRPr>
          </a:p>
        </p:txBody>
      </p:sp>
      <p:sp>
        <p:nvSpPr>
          <p:cNvPr id="388" name="Google Shape;388;p26"/>
          <p:cNvSpPr/>
          <p:nvPr/>
        </p:nvSpPr>
        <p:spPr>
          <a:xfrm>
            <a:off x="3197629" y="3073991"/>
            <a:ext cx="9010997"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nums = (10, 20, 30)</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student = (‘John Smith’, 48, ‘Computer Science’, 3.42)</a:t>
            </a:r>
            <a:endParaRPr b="1" i="0" sz="2400" u="none" cap="none" strike="noStrike">
              <a:solidFill>
                <a:schemeClr val="dk1"/>
              </a:solidFill>
              <a:latin typeface="Arial"/>
              <a:ea typeface="Arial"/>
              <a:cs typeface="Arial"/>
              <a:sym typeface="Arial"/>
            </a:endParaRPr>
          </a:p>
        </p:txBody>
      </p:sp>
      <p:sp>
        <p:nvSpPr>
          <p:cNvPr id="389" name="Google Shape;389;p26"/>
          <p:cNvSpPr/>
          <p:nvPr/>
        </p:nvSpPr>
        <p:spPr>
          <a:xfrm>
            <a:off x="2797636" y="4210050"/>
            <a:ext cx="9010997"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&gt;&gt;&gt; num [0]						&gt;&gt;&gt;students [0]</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1CADE4"/>
                </a:solidFill>
                <a:latin typeface="Arial"/>
                <a:ea typeface="Arial"/>
                <a:cs typeface="Arial"/>
                <a:sym typeface="Arial"/>
              </a:rPr>
              <a:t>10							‘John Smith’</a:t>
            </a:r>
            <a:endParaRPr b="0" i="0" sz="2400" u="none" cap="none" strike="noStrike">
              <a:solidFill>
                <a:srgbClr val="1CADE4"/>
              </a:solidFill>
              <a:latin typeface="Arial"/>
              <a:ea typeface="Arial"/>
              <a:cs typeface="Arial"/>
              <a:sym typeface="Arial"/>
            </a:endParaRPr>
          </a:p>
        </p:txBody>
      </p:sp>
      <p:sp>
        <p:nvSpPr>
          <p:cNvPr id="390" name="Google Shape;390;p26"/>
          <p:cNvSpPr/>
          <p:nvPr/>
        </p:nvSpPr>
        <p:spPr>
          <a:xfrm>
            <a:off x="2797635" y="2229506"/>
            <a:ext cx="9010997"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elements of tuples are accessed the same as  lists, with square brackets.</a:t>
            </a:r>
            <a:endParaRPr b="0" i="0" sz="2400" u="none" cap="none" strike="noStrike">
              <a:solidFill>
                <a:srgbClr val="1CADE4"/>
              </a:solidFill>
              <a:latin typeface="Calibri"/>
              <a:ea typeface="Calibri"/>
              <a:cs typeface="Calibri"/>
              <a:sym typeface="Calibri"/>
            </a:endParaRPr>
          </a:p>
        </p:txBody>
      </p:sp>
      <p:sp>
        <p:nvSpPr>
          <p:cNvPr id="391" name="Google Shape;391;p26"/>
          <p:cNvSpPr/>
          <p:nvPr/>
        </p:nvSpPr>
        <p:spPr>
          <a:xfrm>
            <a:off x="2880269" y="5534025"/>
            <a:ext cx="9010997"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Calibri"/>
                <a:ea typeface="Calibri"/>
                <a:cs typeface="Calibri"/>
                <a:sym typeface="Calibri"/>
              </a:rPr>
              <a:t>Any attempt to alter a tuple is invalid. Thus, delete, update, insert and append operations are not defined on tuples</a:t>
            </a:r>
            <a:endParaRPr b="1" i="0" sz="2400" u="none" cap="none" strike="noStrike">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7"/>
          <p:cNvSpPr txBox="1"/>
          <p:nvPr>
            <p:ph idx="1" type="subTitle"/>
          </p:nvPr>
        </p:nvSpPr>
        <p:spPr>
          <a:xfrm>
            <a:off x="3884229" y="308259"/>
            <a:ext cx="6688187"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None/>
            </a:pPr>
            <a:r>
              <a:rPr lang="en-US" sz="6000"/>
              <a:t>Sequences in python</a:t>
            </a:r>
            <a:endParaRPr sz="4800">
              <a:solidFill>
                <a:srgbClr val="191919"/>
              </a:solidFill>
              <a:latin typeface="Arial"/>
              <a:ea typeface="Arial"/>
              <a:cs typeface="Arial"/>
              <a:sym typeface="Arial"/>
            </a:endParaRPr>
          </a:p>
        </p:txBody>
      </p:sp>
      <p:graphicFrame>
        <p:nvGraphicFramePr>
          <p:cNvPr id="397" name="Google Shape;397;p27"/>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3.1. Access Tuple</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3.2. </a:t>
                      </a:r>
                      <a:r>
                        <a:rPr b="1" lang="en-US" sz="1600" u="none" cap="none" strike="noStrike">
                          <a:solidFill>
                            <a:srgbClr val="00B050"/>
                          </a:solidFill>
                          <a:latin typeface="Arial"/>
                          <a:ea typeface="Arial"/>
                          <a:cs typeface="Arial"/>
                          <a:sym typeface="Arial"/>
                        </a:rPr>
                        <a:t>Sequences in python</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398" name="Google Shape;398;p27"/>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399" name="Google Shape;399;p27"/>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400" name="Google Shape;400;p27"/>
          <p:cNvSpPr/>
          <p:nvPr/>
        </p:nvSpPr>
        <p:spPr>
          <a:xfrm>
            <a:off x="2814262" y="2208744"/>
            <a:ext cx="9010997" cy="1077218"/>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D4650A"/>
              </a:buClr>
              <a:buSzPts val="3200"/>
              <a:buFont typeface="Arial"/>
              <a:buChar char="•"/>
            </a:pPr>
            <a:r>
              <a:rPr b="1" i="0" lang="en-US" sz="3200" u="none" cap="none" strike="noStrike">
                <a:solidFill>
                  <a:srgbClr val="D4650A"/>
                </a:solidFill>
                <a:latin typeface="Calibri"/>
                <a:ea typeface="Calibri"/>
                <a:cs typeface="Calibri"/>
                <a:sym typeface="Calibri"/>
              </a:rPr>
              <a:t>Sequences: </a:t>
            </a:r>
            <a:r>
              <a:rPr b="0" i="0" lang="en-US" sz="3200" u="none" cap="none" strike="noStrike">
                <a:solidFill>
                  <a:schemeClr val="dk1"/>
                </a:solidFill>
                <a:latin typeface="Calibri"/>
                <a:ea typeface="Calibri"/>
                <a:cs typeface="Calibri"/>
                <a:sym typeface="Calibri"/>
              </a:rPr>
              <a:t>A sequences in Python is a linearly-ordered set of elements accessed by index number.</a:t>
            </a:r>
            <a:endParaRPr b="0" i="0" sz="3200" u="none" cap="none" strike="noStrike">
              <a:solidFill>
                <a:srgbClr val="1CADE4"/>
              </a:solidFill>
              <a:latin typeface="Calibri"/>
              <a:ea typeface="Calibri"/>
              <a:cs typeface="Calibri"/>
              <a:sym typeface="Calibri"/>
            </a:endParaRPr>
          </a:p>
        </p:txBody>
      </p:sp>
      <p:sp>
        <p:nvSpPr>
          <p:cNvPr id="401" name="Google Shape;401;p27"/>
          <p:cNvSpPr/>
          <p:nvPr/>
        </p:nvSpPr>
        <p:spPr>
          <a:xfrm>
            <a:off x="2814261" y="3455619"/>
            <a:ext cx="9010997" cy="58477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D4650A"/>
              </a:buClr>
              <a:buSzPts val="3200"/>
              <a:buFont typeface="Arial"/>
              <a:buChar char="•"/>
            </a:pPr>
            <a:r>
              <a:rPr b="0" i="0" lang="en-US" sz="3200" u="none" cap="none" strike="noStrike">
                <a:solidFill>
                  <a:srgbClr val="D4650A"/>
                </a:solidFill>
                <a:latin typeface="Calibri"/>
                <a:ea typeface="Calibri"/>
                <a:cs typeface="Calibri"/>
                <a:sym typeface="Calibri"/>
              </a:rPr>
              <a:t>List</a:t>
            </a:r>
            <a:r>
              <a:rPr b="0" i="0" lang="en-US" sz="3200" u="none" cap="none" strike="noStrike">
                <a:solidFill>
                  <a:schemeClr val="dk1"/>
                </a:solidFill>
                <a:latin typeface="Calibri"/>
                <a:ea typeface="Calibri"/>
                <a:cs typeface="Calibri"/>
                <a:sym typeface="Calibri"/>
              </a:rPr>
              <a:t>, </a:t>
            </a:r>
            <a:r>
              <a:rPr b="0" i="0" lang="en-US" sz="3200" u="none" cap="none" strike="noStrike">
                <a:solidFill>
                  <a:srgbClr val="D4650A"/>
                </a:solidFill>
                <a:latin typeface="Calibri"/>
                <a:ea typeface="Calibri"/>
                <a:cs typeface="Calibri"/>
                <a:sym typeface="Calibri"/>
              </a:rPr>
              <a:t>tuples</a:t>
            </a:r>
            <a:r>
              <a:rPr b="0" i="0" lang="en-US" sz="3200" u="none" cap="none" strike="noStrike">
                <a:solidFill>
                  <a:schemeClr val="dk1"/>
                </a:solidFill>
                <a:latin typeface="Calibri"/>
                <a:ea typeface="Calibri"/>
                <a:cs typeface="Calibri"/>
                <a:sym typeface="Calibri"/>
              </a:rPr>
              <a:t> and </a:t>
            </a:r>
            <a:r>
              <a:rPr b="0" i="0" lang="en-US" sz="3200" u="none" cap="none" strike="noStrike">
                <a:solidFill>
                  <a:srgbClr val="D4650A"/>
                </a:solidFill>
                <a:latin typeface="Calibri"/>
                <a:ea typeface="Calibri"/>
                <a:cs typeface="Calibri"/>
                <a:sym typeface="Calibri"/>
              </a:rPr>
              <a:t>string</a:t>
            </a:r>
            <a:r>
              <a:rPr b="0" i="0" lang="en-US" sz="3200" u="none" cap="none" strike="noStrike">
                <a:solidFill>
                  <a:schemeClr val="dk1"/>
                </a:solidFill>
                <a:latin typeface="Calibri"/>
                <a:ea typeface="Calibri"/>
                <a:cs typeface="Calibri"/>
                <a:sym typeface="Calibri"/>
              </a:rPr>
              <a:t> are all sequences</a:t>
            </a:r>
            <a:endParaRPr b="0" i="0" sz="3200" u="none" cap="none" strike="noStrike">
              <a:solidFill>
                <a:srgbClr val="1CADE4"/>
              </a:solidFill>
              <a:latin typeface="Calibri"/>
              <a:ea typeface="Calibri"/>
              <a:cs typeface="Calibri"/>
              <a:sym typeface="Calibri"/>
            </a:endParaRPr>
          </a:p>
        </p:txBody>
      </p:sp>
      <p:sp>
        <p:nvSpPr>
          <p:cNvPr id="402" name="Google Shape;402;p27"/>
          <p:cNvSpPr/>
          <p:nvPr/>
        </p:nvSpPr>
        <p:spPr>
          <a:xfrm>
            <a:off x="2722823" y="5624590"/>
            <a:ext cx="926413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Calibri"/>
                <a:ea typeface="Calibri"/>
                <a:cs typeface="Calibri"/>
                <a:sym typeface="Calibri"/>
              </a:rPr>
              <a:t>You might be wondering then, what happens when we ‘modify’ a String</a:t>
            </a:r>
            <a:endParaRPr b="1" i="0" sz="2400" u="none" cap="none" strike="noStrike">
              <a:solidFill>
                <a:srgbClr val="FF0000"/>
              </a:solidFill>
              <a:latin typeface="Calibri"/>
              <a:ea typeface="Calibri"/>
              <a:cs typeface="Calibri"/>
              <a:sym typeface="Calibri"/>
            </a:endParaRPr>
          </a:p>
        </p:txBody>
      </p:sp>
      <p:sp>
        <p:nvSpPr>
          <p:cNvPr id="403" name="Google Shape;403;p27"/>
          <p:cNvSpPr/>
          <p:nvPr/>
        </p:nvSpPr>
        <p:spPr>
          <a:xfrm>
            <a:off x="2814261" y="4293883"/>
            <a:ext cx="9010997" cy="1077218"/>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Strings, tuples are immutable, therefore they cannot be altered.</a:t>
            </a:r>
            <a:endParaRPr b="0" i="0" sz="3200" u="none" cap="none" strike="noStrike">
              <a:solidFill>
                <a:srgbClr val="1CADE4"/>
              </a:solidFill>
              <a:latin typeface="Calibri"/>
              <a:ea typeface="Calibri"/>
              <a:cs typeface="Calibri"/>
              <a:sym typeface="Calibri"/>
            </a:endParaRPr>
          </a:p>
        </p:txBody>
      </p:sp>
      <p:sp>
        <p:nvSpPr>
          <p:cNvPr id="404" name="Google Shape;404;p27"/>
          <p:cNvSpPr/>
          <p:nvPr/>
        </p:nvSpPr>
        <p:spPr>
          <a:xfrm>
            <a:off x="2814262" y="1473415"/>
            <a:ext cx="9010997" cy="58477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There are various </a:t>
            </a:r>
            <a:r>
              <a:rPr b="0" i="0" lang="en-US" sz="3200" u="none" cap="none" strike="noStrike">
                <a:solidFill>
                  <a:srgbClr val="D4650A"/>
                </a:solidFill>
                <a:latin typeface="Calibri"/>
                <a:ea typeface="Calibri"/>
                <a:cs typeface="Calibri"/>
                <a:sym typeface="Calibri"/>
              </a:rPr>
              <a:t>sequences</a:t>
            </a:r>
            <a:r>
              <a:rPr b="0" i="0" lang="en-US" sz="3200" u="none" cap="none" strike="noStrike">
                <a:solidFill>
                  <a:schemeClr val="dk1"/>
                </a:solidFill>
                <a:latin typeface="Calibri"/>
                <a:ea typeface="Calibri"/>
                <a:cs typeface="Calibri"/>
                <a:sym typeface="Calibri"/>
              </a:rPr>
              <a:t> in python.</a:t>
            </a:r>
            <a:endParaRPr b="0" i="0" sz="3200" u="none" cap="none" strike="noStrike">
              <a:solidFill>
                <a:srgbClr val="1CADE4"/>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pic>
        <p:nvPicPr>
          <p:cNvPr id="409" name="Google Shape;409;p28"/>
          <p:cNvPicPr preferRelativeResize="0"/>
          <p:nvPr/>
        </p:nvPicPr>
        <p:blipFill rotWithShape="1">
          <a:blip r:embed="rId3">
            <a:alphaModFix amt="10000"/>
          </a:blip>
          <a:srcRect b="0" l="0" r="0" t="0"/>
          <a:stretch/>
        </p:blipFill>
        <p:spPr>
          <a:xfrm>
            <a:off x="9560676" y="4210050"/>
            <a:ext cx="2647950" cy="2647950"/>
          </a:xfrm>
          <a:prstGeom prst="rect">
            <a:avLst/>
          </a:prstGeom>
          <a:noFill/>
          <a:ln>
            <a:noFill/>
          </a:ln>
        </p:spPr>
      </p:pic>
      <p:sp>
        <p:nvSpPr>
          <p:cNvPr id="410" name="Google Shape;410;p28"/>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graphicFrame>
        <p:nvGraphicFramePr>
          <p:cNvPr id="411" name="Google Shape;411;p28"/>
          <p:cNvGraphicFramePr/>
          <p:nvPr/>
        </p:nvGraphicFramePr>
        <p:xfrm>
          <a:off x="631225" y="582518"/>
          <a:ext cx="3000000" cy="3000000"/>
        </p:xfrm>
        <a:graphic>
          <a:graphicData uri="http://schemas.openxmlformats.org/drawingml/2006/table">
            <a:tbl>
              <a:tblPr firstCol="1" firstRow="1">
                <a:noFill/>
                <a:tableStyleId>{E6664844-2B1D-4FCE-927B-3923A23EA554}</a:tableStyleId>
              </a:tblPr>
              <a:tblGrid>
                <a:gridCol w="1837775"/>
                <a:gridCol w="1923725"/>
                <a:gridCol w="1802675"/>
                <a:gridCol w="2827825"/>
                <a:gridCol w="2735325"/>
              </a:tblGrid>
              <a:tr h="370850">
                <a:tc gridSpan="2">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solidFill>
                            <a:schemeClr val="dk2"/>
                          </a:solidFill>
                        </a:rPr>
                        <a:t>Operation</a:t>
                      </a:r>
                      <a:endParaRPr b="1" sz="1800" u="none" cap="none" strike="noStrike">
                        <a:solidFill>
                          <a:schemeClr val="dk2"/>
                        </a:solidFill>
                      </a:endParaRPr>
                    </a:p>
                  </a:txBody>
                  <a:tcPr marT="45725" marB="45725" marR="91450" marL="91450" anchor="ctr">
                    <a:solidFill>
                      <a:srgbClr val="F2F2F2"/>
                    </a:solidFill>
                  </a:tcPr>
                </a:tc>
                <a:tc hMerge="1"/>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Calibri"/>
                          <a:ea typeface="Calibri"/>
                          <a:cs typeface="Calibri"/>
                          <a:sym typeface="Calibri"/>
                        </a:rPr>
                        <a:t>String</a:t>
                      </a:r>
                      <a:br>
                        <a:rPr lang="en-US" sz="1800" u="none" cap="none" strike="noStrike"/>
                      </a:br>
                      <a:r>
                        <a:rPr lang="en-US" sz="1800" u="none" cap="none" strike="noStrike">
                          <a:solidFill>
                            <a:schemeClr val="dk1"/>
                          </a:solidFill>
                          <a:latin typeface="Courier New"/>
                          <a:ea typeface="Courier New"/>
                          <a:cs typeface="Courier New"/>
                          <a:sym typeface="Courier New"/>
                        </a:rPr>
                        <a:t>s = </a:t>
                      </a:r>
                      <a:r>
                        <a:rPr b="0" lang="en-US" sz="1800" u="none" cap="none" strike="noStrike">
                          <a:solidFill>
                            <a:schemeClr val="dk1"/>
                          </a:solidFill>
                          <a:latin typeface="Calibri"/>
                          <a:ea typeface="Calibri"/>
                          <a:cs typeface="Calibri"/>
                          <a:sym typeface="Calibri"/>
                        </a:rPr>
                        <a:t>'</a:t>
                      </a:r>
                      <a:r>
                        <a:rPr lang="en-US" sz="1800" u="none" cap="none" strike="noStrike">
                          <a:solidFill>
                            <a:schemeClr val="dk1"/>
                          </a:solidFill>
                          <a:latin typeface="Courier New"/>
                          <a:ea typeface="Courier New"/>
                          <a:cs typeface="Courier New"/>
                          <a:sym typeface="Courier New"/>
                        </a:rPr>
                        <a:t>hello</a:t>
                      </a:r>
                      <a:r>
                        <a:rPr b="0" lang="en-US" sz="1800" u="none" cap="none" strike="noStrike">
                          <a:solidFill>
                            <a:schemeClr val="dk1"/>
                          </a:solidFill>
                          <a:latin typeface="Calibri"/>
                          <a:ea typeface="Calibri"/>
                          <a:cs typeface="Calibri"/>
                          <a:sym typeface="Calibri"/>
                        </a:rPr>
                        <a:t>'</a:t>
                      </a:r>
                      <a:r>
                        <a:rPr lang="en-US" sz="1800" u="none" cap="none" strike="noStrike">
                          <a:solidFill>
                            <a:schemeClr val="dk1"/>
                          </a:solidFill>
                          <a:latin typeface="Courier New"/>
                          <a:ea typeface="Courier New"/>
                          <a:cs typeface="Courier New"/>
                          <a:sym typeface="Courier New"/>
                        </a:rPr>
                        <a:t> </a:t>
                      </a:r>
                      <a:br>
                        <a:rPr lang="en-US" sz="1800" u="none" cap="none" strike="noStrike">
                          <a:solidFill>
                            <a:schemeClr val="dk1"/>
                          </a:solidFill>
                          <a:latin typeface="Courier New"/>
                          <a:ea typeface="Courier New"/>
                          <a:cs typeface="Courier New"/>
                          <a:sym typeface="Courier New"/>
                        </a:rPr>
                      </a:br>
                      <a:r>
                        <a:rPr lang="en-US" sz="1800" u="none" cap="none" strike="noStrike">
                          <a:solidFill>
                            <a:schemeClr val="dk1"/>
                          </a:solidFill>
                          <a:latin typeface="Courier New"/>
                          <a:ea typeface="Courier New"/>
                          <a:cs typeface="Courier New"/>
                          <a:sym typeface="Courier New"/>
                        </a:rPr>
                        <a:t>w = </a:t>
                      </a:r>
                      <a:r>
                        <a:rPr b="0" lang="en-US" sz="1800" u="none" cap="none" strike="noStrike">
                          <a:solidFill>
                            <a:schemeClr val="dk1"/>
                          </a:solidFill>
                          <a:latin typeface="Calibri"/>
                          <a:ea typeface="Calibri"/>
                          <a:cs typeface="Calibri"/>
                          <a:sym typeface="Calibri"/>
                        </a:rPr>
                        <a:t>'</a:t>
                      </a:r>
                      <a:r>
                        <a:rPr lang="en-US" sz="1800" u="none" cap="none" strike="noStrike">
                          <a:solidFill>
                            <a:schemeClr val="dk1"/>
                          </a:solidFill>
                          <a:latin typeface="Courier New"/>
                          <a:ea typeface="Courier New"/>
                          <a:cs typeface="Courier New"/>
                          <a:sym typeface="Courier New"/>
                        </a:rPr>
                        <a:t>!</a:t>
                      </a:r>
                      <a:r>
                        <a:rPr b="0" lang="en-US" sz="1800" u="none" cap="none" strike="noStrike">
                          <a:solidFill>
                            <a:schemeClr val="dk1"/>
                          </a:solidFill>
                          <a:latin typeface="Calibri"/>
                          <a:ea typeface="Calibri"/>
                          <a:cs typeface="Calibri"/>
                          <a:sym typeface="Calibri"/>
                        </a:rPr>
                        <a:t>'</a:t>
                      </a:r>
                      <a:endParaRPr sz="1800" u="none" cap="none" strike="noStrike">
                        <a:solidFill>
                          <a:schemeClr val="dk1"/>
                        </a:solidFill>
                        <a:latin typeface="Courier New"/>
                        <a:ea typeface="Courier New"/>
                        <a:cs typeface="Courier New"/>
                        <a:sym typeface="Courier New"/>
                      </a:endParaRPr>
                    </a:p>
                  </a:txBody>
                  <a:tcPr marT="45725" marB="45725" marR="91450" marL="91450" anchor="ctr">
                    <a:solidFill>
                      <a:srgbClr val="F2F2F2"/>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Calibri"/>
                          <a:ea typeface="Calibri"/>
                          <a:cs typeface="Calibri"/>
                          <a:sym typeface="Calibri"/>
                        </a:rPr>
                        <a:t>Tuple</a:t>
                      </a:r>
                      <a:br>
                        <a:rPr lang="en-US" sz="1800" u="none" cap="none" strike="noStrike"/>
                      </a:br>
                      <a:r>
                        <a:rPr lang="en-US" sz="1800" u="none" cap="none" strike="noStrike">
                          <a:solidFill>
                            <a:schemeClr val="dk1"/>
                          </a:solidFill>
                          <a:latin typeface="Courier New"/>
                          <a:ea typeface="Courier New"/>
                          <a:cs typeface="Courier New"/>
                          <a:sym typeface="Courier New"/>
                        </a:rPr>
                        <a:t>s = (1, 2, 3, 4) </a:t>
                      </a:r>
                      <a:br>
                        <a:rPr lang="en-US" sz="1800" u="none" cap="none" strike="noStrike">
                          <a:solidFill>
                            <a:schemeClr val="dk1"/>
                          </a:solidFill>
                          <a:latin typeface="Courier New"/>
                          <a:ea typeface="Courier New"/>
                          <a:cs typeface="Courier New"/>
                          <a:sym typeface="Courier New"/>
                        </a:rPr>
                      </a:br>
                      <a:r>
                        <a:rPr lang="en-US" sz="1800" u="none" cap="none" strike="noStrike">
                          <a:solidFill>
                            <a:schemeClr val="dk1"/>
                          </a:solidFill>
                          <a:latin typeface="Courier New"/>
                          <a:ea typeface="Courier New"/>
                          <a:cs typeface="Courier New"/>
                          <a:sym typeface="Courier New"/>
                        </a:rPr>
                        <a:t>w = (5, 6)</a:t>
                      </a:r>
                      <a:endParaRPr sz="1400" u="none" cap="none" strike="noStrike"/>
                    </a:p>
                  </a:txBody>
                  <a:tcPr marT="45725" marB="45725" marR="91450" marL="91450" anchor="ctr">
                    <a:solidFill>
                      <a:srgbClr val="F2F2F2"/>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Calibri"/>
                          <a:ea typeface="Calibri"/>
                          <a:cs typeface="Calibri"/>
                          <a:sym typeface="Calibri"/>
                        </a:rPr>
                        <a:t>List</a:t>
                      </a:r>
                      <a:br>
                        <a:rPr lang="en-US" sz="1800" u="none" cap="none" strike="noStrike"/>
                      </a:br>
                      <a:r>
                        <a:rPr lang="en-US" sz="1800" u="none" cap="none" strike="noStrike">
                          <a:solidFill>
                            <a:schemeClr val="dk1"/>
                          </a:solidFill>
                          <a:latin typeface="Courier New"/>
                          <a:ea typeface="Courier New"/>
                          <a:cs typeface="Courier New"/>
                          <a:sym typeface="Courier New"/>
                        </a:rPr>
                        <a:t>s = [1, 2, 3, 4] </a:t>
                      </a:r>
                      <a:br>
                        <a:rPr lang="en-US" sz="1800" u="none" cap="none" strike="noStrike">
                          <a:solidFill>
                            <a:schemeClr val="dk1"/>
                          </a:solidFill>
                          <a:latin typeface="Courier New"/>
                          <a:ea typeface="Courier New"/>
                          <a:cs typeface="Courier New"/>
                          <a:sym typeface="Courier New"/>
                        </a:rPr>
                      </a:br>
                      <a:r>
                        <a:rPr lang="en-US" sz="1800" u="none" cap="none" strike="noStrike">
                          <a:solidFill>
                            <a:schemeClr val="dk1"/>
                          </a:solidFill>
                          <a:latin typeface="Courier New"/>
                          <a:ea typeface="Courier New"/>
                          <a:cs typeface="Courier New"/>
                          <a:sym typeface="Courier New"/>
                        </a:rPr>
                        <a:t>w = [5, 6]</a:t>
                      </a:r>
                      <a:endParaRPr b="1" sz="1800" u="none" cap="none" strike="noStrike">
                        <a:solidFill>
                          <a:schemeClr val="dk1"/>
                        </a:solidFill>
                        <a:latin typeface="Courier New"/>
                        <a:ea typeface="Courier New"/>
                        <a:cs typeface="Courier New"/>
                        <a:sym typeface="Courier New"/>
                      </a:endParaRPr>
                    </a:p>
                  </a:txBody>
                  <a:tcPr marT="45725" marB="45725" marR="91450" marL="91450" anchor="ctr">
                    <a:solidFill>
                      <a:srgbClr val="F2F2F2"/>
                    </a:solidFill>
                  </a:tcPr>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Calibri"/>
                          <a:ea typeface="Calibri"/>
                          <a:cs typeface="Calibri"/>
                          <a:sym typeface="Calibri"/>
                        </a:rPr>
                        <a:t>Length</a:t>
                      </a:r>
                      <a:endParaRPr sz="1400" u="none" cap="none" strike="noStrike"/>
                    </a:p>
                  </a:txBody>
                  <a:tcPr marT="45725" marB="45725" marR="91450" marL="91450" anchor="ctr">
                    <a:solidFill>
                      <a:srgbClr val="F2F2F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len(s)</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5</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4</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4</a:t>
                      </a:r>
                      <a:endParaRPr sz="1400" u="none" cap="none" strike="noStrike"/>
                    </a:p>
                  </a:txBody>
                  <a:tcPr marT="45725" marB="45725" marR="91450" marL="91450"/>
                </a:tc>
              </a:tr>
              <a:tr h="481025">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Calibri"/>
                          <a:ea typeface="Calibri"/>
                          <a:cs typeface="Calibri"/>
                          <a:sym typeface="Calibri"/>
                        </a:rPr>
                        <a:t>Select</a:t>
                      </a:r>
                      <a:endParaRPr sz="1400" u="none" cap="none" strike="noStrike"/>
                    </a:p>
                  </a:txBody>
                  <a:tcPr marT="45725" marB="45725" marR="91450" marL="91450" anchor="ctr">
                    <a:solidFill>
                      <a:srgbClr val="F2F2F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s[0]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'h'</a:t>
                      </a:r>
                      <a:endParaRPr sz="1800" u="none" cap="none" strike="noStrike">
                        <a:solidFill>
                          <a:schemeClr val="dk1"/>
                        </a:solidFill>
                        <a:latin typeface="Courier New"/>
                        <a:ea typeface="Courier New"/>
                        <a:cs typeface="Courier New"/>
                        <a:sym typeface="Courier New"/>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1</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Calibri"/>
                          <a:ea typeface="Calibri"/>
                          <a:cs typeface="Calibri"/>
                          <a:sym typeface="Calibri"/>
                        </a:rPr>
                        <a:t>Slice</a:t>
                      </a:r>
                      <a:endParaRPr sz="1400" u="none" cap="none" strike="noStrike"/>
                    </a:p>
                  </a:txBody>
                  <a:tcPr marT="45725" marB="45725" marR="91450" marL="91450" anchor="ctr">
                    <a:solidFill>
                      <a:srgbClr val="F2F2F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s[1:4]</a:t>
                      </a:r>
                      <a:br>
                        <a:rPr lang="en-US" sz="1800" u="none" cap="none" strike="noStrike">
                          <a:solidFill>
                            <a:schemeClr val="dk1"/>
                          </a:solidFill>
                          <a:latin typeface="Courier New"/>
                          <a:ea typeface="Courier New"/>
                          <a:cs typeface="Courier New"/>
                          <a:sym typeface="Courier New"/>
                        </a:rPr>
                      </a:br>
                      <a:r>
                        <a:rPr lang="en-US" sz="1800" u="none" cap="none" strike="noStrike">
                          <a:solidFill>
                            <a:schemeClr val="dk1"/>
                          </a:solidFill>
                          <a:latin typeface="Courier New"/>
                          <a:ea typeface="Courier New"/>
                          <a:cs typeface="Courier New"/>
                          <a:sym typeface="Courier New"/>
                        </a:rPr>
                        <a:t>s[1:]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'ell'</a:t>
                      </a:r>
                      <a:br>
                        <a:rPr lang="en-US" sz="1800" u="none" cap="none" strike="noStrike">
                          <a:solidFill>
                            <a:schemeClr val="dk1"/>
                          </a:solidFill>
                          <a:latin typeface="Courier New"/>
                          <a:ea typeface="Courier New"/>
                          <a:cs typeface="Courier New"/>
                          <a:sym typeface="Courier New"/>
                        </a:rPr>
                      </a:br>
                      <a:r>
                        <a:rPr lang="en-US" sz="1800" u="none" cap="none" strike="noStrike">
                          <a:solidFill>
                            <a:schemeClr val="dk1"/>
                          </a:solidFill>
                          <a:latin typeface="Courier New"/>
                          <a:ea typeface="Courier New"/>
                          <a:cs typeface="Courier New"/>
                          <a:sym typeface="Courier New"/>
                        </a:rPr>
                        <a:t>'ello'</a:t>
                      </a:r>
                      <a:endParaRPr sz="1800" u="none" cap="none" strike="noStrike">
                        <a:solidFill>
                          <a:schemeClr val="dk1"/>
                        </a:solidFill>
                        <a:latin typeface="Courier New"/>
                        <a:ea typeface="Courier New"/>
                        <a:cs typeface="Courier New"/>
                        <a:sym typeface="Courier New"/>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(2, 3, 4)</a:t>
                      </a:r>
                      <a:br>
                        <a:rPr lang="en-US" sz="1800" u="none" cap="none" strike="noStrike">
                          <a:solidFill>
                            <a:schemeClr val="dk1"/>
                          </a:solidFill>
                          <a:latin typeface="Courier New"/>
                          <a:ea typeface="Courier New"/>
                          <a:cs typeface="Courier New"/>
                          <a:sym typeface="Courier New"/>
                        </a:rPr>
                      </a:br>
                      <a:r>
                        <a:rPr lang="en-US" sz="1800" u="none" cap="none" strike="noStrike">
                          <a:solidFill>
                            <a:schemeClr val="dk1"/>
                          </a:solidFill>
                          <a:latin typeface="Courier New"/>
                          <a:ea typeface="Courier New"/>
                          <a:cs typeface="Courier New"/>
                          <a:sym typeface="Courier New"/>
                        </a:rPr>
                        <a:t>(2, 3, 4)</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[2, 3, 4]</a:t>
                      </a:r>
                      <a:br>
                        <a:rPr lang="en-US" sz="1800" u="none" cap="none" strike="noStrike">
                          <a:solidFill>
                            <a:schemeClr val="dk1"/>
                          </a:solidFill>
                          <a:latin typeface="Courier New"/>
                          <a:ea typeface="Courier New"/>
                          <a:cs typeface="Courier New"/>
                          <a:sym typeface="Courier New"/>
                        </a:rPr>
                      </a:br>
                      <a:r>
                        <a:rPr lang="en-US" sz="1800" u="none" cap="none" strike="noStrike">
                          <a:solidFill>
                            <a:schemeClr val="dk1"/>
                          </a:solidFill>
                          <a:latin typeface="Courier New"/>
                          <a:ea typeface="Courier New"/>
                          <a:cs typeface="Courier New"/>
                          <a:sym typeface="Courier New"/>
                        </a:rPr>
                        <a:t>[2, 3, 4]</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Calibri"/>
                          <a:ea typeface="Calibri"/>
                          <a:cs typeface="Calibri"/>
                          <a:sym typeface="Calibri"/>
                        </a:rPr>
                        <a:t>Count</a:t>
                      </a:r>
                      <a:endParaRPr sz="1400" u="none" cap="none" strike="noStrike"/>
                    </a:p>
                  </a:txBody>
                  <a:tcPr marT="45725" marB="45725" marR="91450" marL="91450" anchor="ctr">
                    <a:solidFill>
                      <a:srgbClr val="F2F2F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s.count('e')</a:t>
                      </a:r>
                      <a:br>
                        <a:rPr lang="en-US" sz="1800" u="none" cap="none" strike="noStrike">
                          <a:solidFill>
                            <a:schemeClr val="dk1"/>
                          </a:solidFill>
                          <a:latin typeface="Courier New"/>
                          <a:ea typeface="Courier New"/>
                          <a:cs typeface="Courier New"/>
                          <a:sym typeface="Courier New"/>
                        </a:rPr>
                      </a:br>
                      <a:r>
                        <a:rPr lang="en-US" sz="1800" u="none" cap="none" strike="noStrike">
                          <a:solidFill>
                            <a:schemeClr val="dk1"/>
                          </a:solidFill>
                          <a:latin typeface="Courier New"/>
                          <a:ea typeface="Courier New"/>
                          <a:cs typeface="Courier New"/>
                          <a:sym typeface="Courier New"/>
                        </a:rPr>
                        <a:t>s.count(4)</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1</a:t>
                      </a:r>
                      <a:br>
                        <a:rPr lang="en-US" sz="1800" u="none" cap="none" strike="noStrike">
                          <a:solidFill>
                            <a:schemeClr val="dk1"/>
                          </a:solidFill>
                          <a:latin typeface="Courier New"/>
                          <a:ea typeface="Courier New"/>
                          <a:cs typeface="Courier New"/>
                          <a:sym typeface="Courier New"/>
                        </a:rPr>
                      </a:br>
                      <a:r>
                        <a:rPr lang="en-US" sz="1800" u="none" cap="none" strike="noStrike">
                          <a:solidFill>
                            <a:schemeClr val="dk1"/>
                          </a:solidFill>
                          <a:latin typeface="Courier New"/>
                          <a:ea typeface="Courier New"/>
                          <a:cs typeface="Courier New"/>
                          <a:sym typeface="Courier New"/>
                        </a:rPr>
                        <a:t>--</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a:t>
                      </a:r>
                      <a:br>
                        <a:rPr lang="en-US" sz="1800" u="none" cap="none" strike="noStrike">
                          <a:solidFill>
                            <a:schemeClr val="dk1"/>
                          </a:solidFill>
                          <a:latin typeface="Courier New"/>
                          <a:ea typeface="Courier New"/>
                          <a:cs typeface="Courier New"/>
                          <a:sym typeface="Courier New"/>
                        </a:rPr>
                      </a:br>
                      <a:r>
                        <a:rPr lang="en-US" sz="1800" u="none" cap="none" strike="noStrike">
                          <a:solidFill>
                            <a:schemeClr val="dk1"/>
                          </a:solidFill>
                          <a:latin typeface="Courier New"/>
                          <a:ea typeface="Courier New"/>
                          <a:cs typeface="Courier New"/>
                          <a:sym typeface="Courier New"/>
                        </a:rPr>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a:t>
                      </a:r>
                      <a:br>
                        <a:rPr lang="en-US" sz="1800" u="none" cap="none" strike="noStrike">
                          <a:solidFill>
                            <a:schemeClr val="dk1"/>
                          </a:solidFill>
                          <a:latin typeface="Courier New"/>
                          <a:ea typeface="Courier New"/>
                          <a:cs typeface="Courier New"/>
                          <a:sym typeface="Courier New"/>
                        </a:rPr>
                      </a:br>
                      <a:r>
                        <a:rPr lang="en-US" sz="1800" u="none" cap="none" strike="noStrike">
                          <a:solidFill>
                            <a:schemeClr val="dk1"/>
                          </a:solidFill>
                          <a:latin typeface="Courier New"/>
                          <a:ea typeface="Courier New"/>
                          <a:cs typeface="Courier New"/>
                          <a:sym typeface="Courier New"/>
                        </a:rPr>
                        <a:t>1</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Calibri"/>
                          <a:ea typeface="Calibri"/>
                          <a:cs typeface="Calibri"/>
                          <a:sym typeface="Calibri"/>
                        </a:rPr>
                        <a:t>Index</a:t>
                      </a:r>
                      <a:endParaRPr sz="1400" u="none" cap="none" strike="noStrike"/>
                    </a:p>
                  </a:txBody>
                  <a:tcPr marT="45725" marB="45725" marR="91450" marL="91450" anchor="ctr">
                    <a:solidFill>
                      <a:srgbClr val="F2F2F2"/>
                    </a:solidFill>
                  </a:tcPr>
                </a:tc>
                <a:tc>
                  <a:txBody>
                    <a:bodyPr/>
                    <a:lstStyle/>
                    <a:p>
                      <a:pPr indent="0" lvl="0" marL="0" marR="0" rtl="0" algn="l">
                        <a:lnSpc>
                          <a:spcPct val="100000"/>
                        </a:lnSpc>
                        <a:spcBef>
                          <a:spcPts val="0"/>
                        </a:spcBef>
                        <a:spcAft>
                          <a:spcPts val="0"/>
                        </a:spcAft>
                        <a:buClr>
                          <a:schemeClr val="dk1"/>
                        </a:buClr>
                        <a:buSzPts val="1800"/>
                        <a:buFont typeface="Courier New"/>
                        <a:buNone/>
                      </a:pPr>
                      <a:r>
                        <a:rPr lang="en-US" sz="1800" u="none" cap="none" strike="noStrike">
                          <a:solidFill>
                            <a:schemeClr val="dk1"/>
                          </a:solidFill>
                          <a:latin typeface="Courier New"/>
                          <a:ea typeface="Courier New"/>
                          <a:cs typeface="Courier New"/>
                          <a:sym typeface="Courier New"/>
                        </a:rPr>
                        <a:t>s.index('e')</a:t>
                      </a:r>
                      <a:br>
                        <a:rPr lang="en-US" sz="1800" u="none" cap="none" strike="noStrike">
                          <a:solidFill>
                            <a:schemeClr val="dk1"/>
                          </a:solidFill>
                          <a:latin typeface="Courier New"/>
                          <a:ea typeface="Courier New"/>
                          <a:cs typeface="Courier New"/>
                          <a:sym typeface="Courier New"/>
                        </a:rPr>
                      </a:br>
                      <a:r>
                        <a:rPr lang="en-US" sz="1800" u="none" cap="none" strike="noStrike">
                          <a:solidFill>
                            <a:schemeClr val="dk1"/>
                          </a:solidFill>
                          <a:latin typeface="Courier New"/>
                          <a:ea typeface="Courier New"/>
                          <a:cs typeface="Courier New"/>
                          <a:sym typeface="Courier New"/>
                        </a:rPr>
                        <a:t>s.index(3)</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1</a:t>
                      </a:r>
                      <a:br>
                        <a:rPr lang="en-US" sz="1800" u="none" cap="none" strike="noStrike">
                          <a:solidFill>
                            <a:schemeClr val="dk1"/>
                          </a:solidFill>
                          <a:latin typeface="Courier New"/>
                          <a:ea typeface="Courier New"/>
                          <a:cs typeface="Courier New"/>
                          <a:sym typeface="Courier New"/>
                        </a:rPr>
                      </a:br>
                      <a:r>
                        <a:rPr lang="en-US" sz="1800" u="none" cap="none" strike="noStrike">
                          <a:solidFill>
                            <a:schemeClr val="dk1"/>
                          </a:solidFill>
                          <a:latin typeface="Courier New"/>
                          <a:ea typeface="Courier New"/>
                          <a:cs typeface="Courier New"/>
                          <a:sym typeface="Courier New"/>
                        </a:rPr>
                        <a:t>--</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a:t>
                      </a:r>
                      <a:br>
                        <a:rPr lang="en-US" sz="1800" u="none" cap="none" strike="noStrike">
                          <a:solidFill>
                            <a:schemeClr val="dk1"/>
                          </a:solidFill>
                          <a:latin typeface="Courier New"/>
                          <a:ea typeface="Courier New"/>
                          <a:cs typeface="Courier New"/>
                          <a:sym typeface="Courier New"/>
                        </a:rPr>
                      </a:br>
                      <a:r>
                        <a:rPr lang="en-US" sz="1800" u="none" cap="none" strike="noStrike">
                          <a:solidFill>
                            <a:schemeClr val="dk1"/>
                          </a:solidFill>
                          <a:latin typeface="Courier New"/>
                          <a:ea typeface="Courier New"/>
                          <a:cs typeface="Courier New"/>
                          <a:sym typeface="Courier New"/>
                        </a:rPr>
                        <a:t>2</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a:t>
                      </a:r>
                      <a:br>
                        <a:rPr lang="en-US" sz="1800" u="none" cap="none" strike="noStrike">
                          <a:solidFill>
                            <a:schemeClr val="dk1"/>
                          </a:solidFill>
                          <a:latin typeface="Courier New"/>
                          <a:ea typeface="Courier New"/>
                          <a:cs typeface="Courier New"/>
                          <a:sym typeface="Courier New"/>
                        </a:rPr>
                      </a:br>
                      <a:r>
                        <a:rPr lang="en-US" sz="1800" u="none" cap="none" strike="noStrike">
                          <a:solidFill>
                            <a:schemeClr val="dk1"/>
                          </a:solidFill>
                          <a:latin typeface="Courier New"/>
                          <a:ea typeface="Courier New"/>
                          <a:cs typeface="Courier New"/>
                          <a:sym typeface="Courier New"/>
                        </a:rPr>
                        <a:t>2</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Calibri"/>
                          <a:ea typeface="Calibri"/>
                          <a:cs typeface="Calibri"/>
                          <a:sym typeface="Calibri"/>
                        </a:rPr>
                        <a:t>Membership</a:t>
                      </a:r>
                      <a:endParaRPr sz="1400" u="none" cap="none" strike="noStrike"/>
                    </a:p>
                  </a:txBody>
                  <a:tcPr marT="45725" marB="45725" marR="91450" marL="91450" anchor="ctr">
                    <a:solidFill>
                      <a:srgbClr val="F2F2F2"/>
                    </a:solidFill>
                  </a:tcPr>
                </a:tc>
                <a:tc>
                  <a:txBody>
                    <a:bodyPr/>
                    <a:lstStyle/>
                    <a:p>
                      <a:pPr indent="0" lvl="0" marL="0" marR="0" rtl="0" algn="l">
                        <a:lnSpc>
                          <a:spcPct val="100000"/>
                        </a:lnSpc>
                        <a:spcBef>
                          <a:spcPts val="0"/>
                        </a:spcBef>
                        <a:spcAft>
                          <a:spcPts val="0"/>
                        </a:spcAft>
                        <a:buClr>
                          <a:schemeClr val="dk1"/>
                        </a:buClr>
                        <a:buSzPts val="1800"/>
                        <a:buFont typeface="Courier New"/>
                        <a:buNone/>
                      </a:pPr>
                      <a:r>
                        <a:rPr lang="en-US" sz="1800" u="none" cap="none" strike="noStrike">
                          <a:solidFill>
                            <a:schemeClr val="dk1"/>
                          </a:solidFill>
                          <a:latin typeface="Courier New"/>
                          <a:ea typeface="Courier New"/>
                          <a:cs typeface="Courier New"/>
                          <a:sym typeface="Courier New"/>
                        </a:rPr>
                        <a:t>'h' in s</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True</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False</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False</a:t>
                      </a:r>
                      <a:endParaRPr sz="1800" u="none" cap="none" strike="noStrike">
                        <a:solidFill>
                          <a:schemeClr val="dk1"/>
                        </a:solidFill>
                        <a:latin typeface="Courier New"/>
                        <a:ea typeface="Courier New"/>
                        <a:cs typeface="Courier New"/>
                        <a:sym typeface="Courier New"/>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Calibri"/>
                          <a:ea typeface="Calibri"/>
                          <a:cs typeface="Calibri"/>
                          <a:sym typeface="Calibri"/>
                        </a:rPr>
                        <a:t>Concatenation</a:t>
                      </a:r>
                      <a:endParaRPr sz="1400" u="none" cap="none" strike="noStrike"/>
                    </a:p>
                  </a:txBody>
                  <a:tcPr marT="45725" marB="45725" marR="91450" marL="91450" anchor="ctr">
                    <a:solidFill>
                      <a:srgbClr val="F2F2F2"/>
                    </a:solidFill>
                  </a:tcPr>
                </a:tc>
                <a:tc>
                  <a:txBody>
                    <a:bodyPr/>
                    <a:lstStyle/>
                    <a:p>
                      <a:pPr indent="0" lvl="0" marL="0" marR="0" rtl="0" algn="l">
                        <a:lnSpc>
                          <a:spcPct val="100000"/>
                        </a:lnSpc>
                        <a:spcBef>
                          <a:spcPts val="0"/>
                        </a:spcBef>
                        <a:spcAft>
                          <a:spcPts val="0"/>
                        </a:spcAft>
                        <a:buClr>
                          <a:schemeClr val="dk1"/>
                        </a:buClr>
                        <a:buSzPts val="1800"/>
                        <a:buFont typeface="Courier New"/>
                        <a:buNone/>
                      </a:pPr>
                      <a:r>
                        <a:rPr lang="en-US" sz="1800" u="none" cap="none" strike="noStrike">
                          <a:solidFill>
                            <a:schemeClr val="dk1"/>
                          </a:solidFill>
                          <a:latin typeface="Courier New"/>
                          <a:ea typeface="Courier New"/>
                          <a:cs typeface="Courier New"/>
                          <a:sym typeface="Courier New"/>
                        </a:rPr>
                        <a:t>s + w</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'hello!'</a:t>
                      </a:r>
                      <a:endParaRPr sz="1800" u="none" cap="none" strike="noStrike">
                        <a:solidFill>
                          <a:schemeClr val="dk1"/>
                        </a:solidFill>
                        <a:latin typeface="Courier New"/>
                        <a:ea typeface="Courier New"/>
                        <a:cs typeface="Courier New"/>
                        <a:sym typeface="Courier New"/>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(1, 2, 3, 4, 5, 6)</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[1, 2, 3, 4, 5, 6]</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Calibri"/>
                          <a:ea typeface="Calibri"/>
                          <a:cs typeface="Calibri"/>
                          <a:sym typeface="Calibri"/>
                        </a:rPr>
                        <a:t>Minimum</a:t>
                      </a:r>
                      <a:endParaRPr sz="1400" u="none" cap="none" strike="noStrike"/>
                    </a:p>
                  </a:txBody>
                  <a:tcPr marT="45725" marB="45725" marR="91450" marL="91450" anchor="ctr">
                    <a:solidFill>
                      <a:srgbClr val="F2F2F2"/>
                    </a:solidFill>
                  </a:tcPr>
                </a:tc>
                <a:tc>
                  <a:txBody>
                    <a:bodyPr/>
                    <a:lstStyle/>
                    <a:p>
                      <a:pPr indent="0" lvl="0" marL="0" marR="0" rtl="0" algn="l">
                        <a:lnSpc>
                          <a:spcPct val="100000"/>
                        </a:lnSpc>
                        <a:spcBef>
                          <a:spcPts val="0"/>
                        </a:spcBef>
                        <a:spcAft>
                          <a:spcPts val="0"/>
                        </a:spcAft>
                        <a:buClr>
                          <a:schemeClr val="dk1"/>
                        </a:buClr>
                        <a:buSzPts val="1800"/>
                        <a:buFont typeface="Courier New"/>
                        <a:buNone/>
                      </a:pPr>
                      <a:r>
                        <a:rPr lang="en-US" sz="1800" u="none" cap="none" strike="noStrike">
                          <a:solidFill>
                            <a:schemeClr val="dk1"/>
                          </a:solidFill>
                          <a:latin typeface="Courier New"/>
                          <a:ea typeface="Courier New"/>
                          <a:cs typeface="Courier New"/>
                          <a:sym typeface="Courier New"/>
                        </a:rPr>
                        <a:t>min(s)</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'e'</a:t>
                      </a:r>
                      <a:endParaRPr sz="1800" u="none" cap="none" strike="noStrike">
                        <a:solidFill>
                          <a:schemeClr val="dk1"/>
                        </a:solidFill>
                        <a:latin typeface="Courier New"/>
                        <a:ea typeface="Courier New"/>
                        <a:cs typeface="Courier New"/>
                        <a:sym typeface="Courier New"/>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1</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Calibri"/>
                          <a:ea typeface="Calibri"/>
                          <a:cs typeface="Calibri"/>
                          <a:sym typeface="Calibri"/>
                        </a:rPr>
                        <a:t>Maximum</a:t>
                      </a:r>
                      <a:endParaRPr sz="1400" u="none" cap="none" strike="noStrike"/>
                    </a:p>
                  </a:txBody>
                  <a:tcPr marT="45725" marB="45725" marR="91450" marL="91450" anchor="ctr">
                    <a:solidFill>
                      <a:srgbClr val="F2F2F2"/>
                    </a:solidFill>
                  </a:tcPr>
                </a:tc>
                <a:tc>
                  <a:txBody>
                    <a:bodyPr/>
                    <a:lstStyle/>
                    <a:p>
                      <a:pPr indent="0" lvl="0" marL="0" marR="0" rtl="0" algn="l">
                        <a:lnSpc>
                          <a:spcPct val="100000"/>
                        </a:lnSpc>
                        <a:spcBef>
                          <a:spcPts val="0"/>
                        </a:spcBef>
                        <a:spcAft>
                          <a:spcPts val="0"/>
                        </a:spcAft>
                        <a:buClr>
                          <a:schemeClr val="dk1"/>
                        </a:buClr>
                        <a:buSzPts val="1800"/>
                        <a:buFont typeface="Courier New"/>
                        <a:buNone/>
                      </a:pPr>
                      <a:r>
                        <a:rPr lang="en-US" sz="1800" u="none" cap="none" strike="noStrike">
                          <a:solidFill>
                            <a:schemeClr val="dk1"/>
                          </a:solidFill>
                          <a:latin typeface="Courier New"/>
                          <a:ea typeface="Courier New"/>
                          <a:cs typeface="Courier New"/>
                          <a:sym typeface="Courier New"/>
                        </a:rPr>
                        <a:t>max(s)</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'o'</a:t>
                      </a:r>
                      <a:endParaRPr sz="1800" u="none" cap="none" strike="noStrike">
                        <a:solidFill>
                          <a:schemeClr val="dk1"/>
                        </a:solidFill>
                        <a:latin typeface="Courier New"/>
                        <a:ea typeface="Courier New"/>
                        <a:cs typeface="Courier New"/>
                        <a:sym typeface="Courier New"/>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4</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4</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Calibri"/>
                          <a:ea typeface="Calibri"/>
                          <a:cs typeface="Calibri"/>
                          <a:sym typeface="Calibri"/>
                        </a:rPr>
                        <a:t>Sum</a:t>
                      </a:r>
                      <a:endParaRPr sz="1400" u="none" cap="none" strike="noStrike"/>
                    </a:p>
                  </a:txBody>
                  <a:tcPr marT="45725" marB="45725" marR="91450" marL="91450" anchor="ctr">
                    <a:solidFill>
                      <a:srgbClr val="F2F2F2"/>
                    </a:solidFill>
                  </a:tcPr>
                </a:tc>
                <a:tc>
                  <a:txBody>
                    <a:bodyPr/>
                    <a:lstStyle/>
                    <a:p>
                      <a:pPr indent="0" lvl="0" marL="0" marR="0" rtl="0" algn="l">
                        <a:lnSpc>
                          <a:spcPct val="100000"/>
                        </a:lnSpc>
                        <a:spcBef>
                          <a:spcPts val="0"/>
                        </a:spcBef>
                        <a:spcAft>
                          <a:spcPts val="0"/>
                        </a:spcAft>
                        <a:buClr>
                          <a:schemeClr val="dk1"/>
                        </a:buClr>
                        <a:buSzPts val="1800"/>
                        <a:buFont typeface="Courier New"/>
                        <a:buNone/>
                      </a:pPr>
                      <a:r>
                        <a:rPr lang="en-US" sz="1800" u="none" cap="none" strike="noStrike">
                          <a:solidFill>
                            <a:schemeClr val="dk1"/>
                          </a:solidFill>
                          <a:latin typeface="Courier New"/>
                          <a:ea typeface="Courier New"/>
                          <a:cs typeface="Courier New"/>
                          <a:sym typeface="Courier New"/>
                        </a:rPr>
                        <a:t>sum(s)</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n/a</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10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10</a:t>
                      </a:r>
                      <a:endParaRPr sz="1400" u="none" cap="none" strike="noStrike"/>
                    </a:p>
                  </a:txBody>
                  <a:tcPr marT="45725" marB="45725" marR="91450" marL="91450"/>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9"/>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5000"/>
              <a:buNone/>
            </a:pPr>
            <a:r>
              <a:rPr lang="en-US" sz="5000"/>
              <a:t>Nested Lists</a:t>
            </a:r>
            <a:endParaRPr sz="5000">
              <a:solidFill>
                <a:srgbClr val="191919"/>
              </a:solidFill>
              <a:latin typeface="Arial"/>
              <a:ea typeface="Arial"/>
              <a:cs typeface="Arial"/>
              <a:sym typeface="Arial"/>
            </a:endParaRPr>
          </a:p>
        </p:txBody>
      </p:sp>
      <p:graphicFrame>
        <p:nvGraphicFramePr>
          <p:cNvPr id="417" name="Google Shape;417;p29"/>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3.1. Access Tuple</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3.2. Sequences in python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3.3. Nested Lists</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418" name="Google Shape;418;p29"/>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419" name="Google Shape;419;p29"/>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420" name="Google Shape;420;p29"/>
          <p:cNvSpPr/>
          <p:nvPr/>
        </p:nvSpPr>
        <p:spPr>
          <a:xfrm>
            <a:off x="2693323" y="1359494"/>
            <a:ext cx="9177251"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D4650A"/>
              </a:buClr>
              <a:buSzPts val="2400"/>
              <a:buFont typeface="Arial"/>
              <a:buChar char="•"/>
            </a:pPr>
            <a:r>
              <a:rPr b="1" i="0" lang="en-US" sz="2400" u="none" cap="none" strike="noStrike">
                <a:solidFill>
                  <a:srgbClr val="D4650A"/>
                </a:solidFill>
                <a:latin typeface="Arial"/>
                <a:ea typeface="Arial"/>
                <a:cs typeface="Arial"/>
                <a:sym typeface="Arial"/>
              </a:rPr>
              <a:t>Lists and tuples </a:t>
            </a:r>
            <a:r>
              <a:rPr b="0" i="0" lang="en-US" sz="2400" u="none" cap="none" strike="noStrike">
                <a:solidFill>
                  <a:schemeClr val="dk1"/>
                </a:solidFill>
                <a:latin typeface="Arial"/>
                <a:ea typeface="Arial"/>
                <a:cs typeface="Arial"/>
                <a:sym typeface="Arial"/>
              </a:rPr>
              <a:t>can contain elements of any type, including other sequences.</a:t>
            </a:r>
            <a:endParaRPr b="0" i="0" sz="2400" u="none" cap="none" strike="noStrike">
              <a:solidFill>
                <a:schemeClr val="dk1"/>
              </a:solidFill>
              <a:latin typeface="Arial"/>
              <a:ea typeface="Arial"/>
              <a:cs typeface="Arial"/>
              <a:sym typeface="Arial"/>
            </a:endParaRPr>
          </a:p>
        </p:txBody>
      </p:sp>
      <p:sp>
        <p:nvSpPr>
          <p:cNvPr id="421" name="Google Shape;421;p29"/>
          <p:cNvSpPr/>
          <p:nvPr/>
        </p:nvSpPr>
        <p:spPr>
          <a:xfrm>
            <a:off x="2693322" y="2459503"/>
            <a:ext cx="9177251"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Thus, </a:t>
            </a:r>
            <a:r>
              <a:rPr b="0" i="0" lang="en-US" sz="2400" u="none" cap="none" strike="noStrike">
                <a:solidFill>
                  <a:srgbClr val="D4650A"/>
                </a:solidFill>
                <a:latin typeface="Arial"/>
                <a:ea typeface="Arial"/>
                <a:cs typeface="Arial"/>
                <a:sym typeface="Arial"/>
              </a:rPr>
              <a:t>lists</a:t>
            </a:r>
            <a:r>
              <a:rPr b="0" i="0" lang="en-US" sz="2400" u="none" cap="none" strike="noStrike">
                <a:solidFill>
                  <a:schemeClr val="dk1"/>
                </a:solidFill>
                <a:latin typeface="Arial"/>
                <a:ea typeface="Arial"/>
                <a:cs typeface="Arial"/>
                <a:sym typeface="Arial"/>
              </a:rPr>
              <a:t> and </a:t>
            </a:r>
            <a:r>
              <a:rPr b="0" i="0" lang="en-US" sz="2400" u="none" cap="none" strike="noStrike">
                <a:solidFill>
                  <a:srgbClr val="D4650A"/>
                </a:solidFill>
                <a:latin typeface="Arial"/>
                <a:ea typeface="Arial"/>
                <a:cs typeface="Arial"/>
                <a:sym typeface="Arial"/>
              </a:rPr>
              <a:t>tuples</a:t>
            </a:r>
            <a:r>
              <a:rPr b="0" i="0" lang="en-US" sz="2400" u="none" cap="none" strike="noStrike">
                <a:solidFill>
                  <a:schemeClr val="dk1"/>
                </a:solidFill>
                <a:latin typeface="Arial"/>
                <a:ea typeface="Arial"/>
                <a:cs typeface="Arial"/>
                <a:sym typeface="Arial"/>
              </a:rPr>
              <a:t> can be nested to </a:t>
            </a:r>
            <a:r>
              <a:rPr b="1" i="0" lang="en-US" sz="2400" u="none" cap="none" strike="noStrike">
                <a:solidFill>
                  <a:srgbClr val="00B0F0"/>
                </a:solidFill>
                <a:latin typeface="Arial"/>
                <a:ea typeface="Arial"/>
                <a:cs typeface="Arial"/>
                <a:sym typeface="Arial"/>
              </a:rPr>
              <a:t>create arbitrarily complex data structures</a:t>
            </a:r>
            <a:endParaRPr b="1" i="0" sz="2400" u="none" cap="none" strike="noStrike">
              <a:solidFill>
                <a:srgbClr val="00B0F0"/>
              </a:solidFill>
              <a:latin typeface="Arial"/>
              <a:ea typeface="Arial"/>
              <a:cs typeface="Arial"/>
              <a:sym typeface="Arial"/>
            </a:endParaRPr>
          </a:p>
        </p:txBody>
      </p:sp>
      <p:sp>
        <p:nvSpPr>
          <p:cNvPr id="422" name="Google Shape;422;p29"/>
          <p:cNvSpPr/>
          <p:nvPr/>
        </p:nvSpPr>
        <p:spPr>
          <a:xfrm>
            <a:off x="2693321" y="3635020"/>
            <a:ext cx="9177251"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This can be useful for representing data points identified by two or more dimensions (eg. Table of values)</a:t>
            </a:r>
            <a:endParaRPr b="0" i="0" sz="2400" u="none" cap="none" strike="noStrike">
              <a:solidFill>
                <a:schemeClr val="dk1"/>
              </a:solidFill>
              <a:latin typeface="Arial"/>
              <a:ea typeface="Arial"/>
              <a:cs typeface="Arial"/>
              <a:sym typeface="Arial"/>
            </a:endParaRPr>
          </a:p>
        </p:txBody>
      </p:sp>
      <p:pic>
        <p:nvPicPr>
          <p:cNvPr id="423" name="Google Shape;423;p29"/>
          <p:cNvPicPr preferRelativeResize="0"/>
          <p:nvPr/>
        </p:nvPicPr>
        <p:blipFill rotWithShape="1">
          <a:blip r:embed="rId3">
            <a:alphaModFix/>
          </a:blip>
          <a:srcRect b="0" l="0" r="1156" t="1321"/>
          <a:stretch/>
        </p:blipFill>
        <p:spPr>
          <a:xfrm>
            <a:off x="3133965" y="5286045"/>
            <a:ext cx="1242740" cy="375963"/>
          </a:xfrm>
          <a:prstGeom prst="rect">
            <a:avLst/>
          </a:prstGeom>
          <a:noFill/>
          <a:ln cap="flat" cmpd="sng" w="57150">
            <a:solidFill>
              <a:schemeClr val="dk1"/>
            </a:solidFill>
            <a:prstDash val="solid"/>
            <a:round/>
            <a:headEnd len="sm" w="sm" type="none"/>
            <a:tailEnd len="sm" w="sm" type="none"/>
          </a:ln>
        </p:spPr>
      </p:pic>
      <p:pic>
        <p:nvPicPr>
          <p:cNvPr id="424" name="Google Shape;424;p29"/>
          <p:cNvPicPr preferRelativeResize="0"/>
          <p:nvPr/>
        </p:nvPicPr>
        <p:blipFill rotWithShape="1">
          <a:blip r:embed="rId4">
            <a:alphaModFix/>
          </a:blip>
          <a:srcRect b="0" l="0" r="0" t="0"/>
          <a:stretch/>
        </p:blipFill>
        <p:spPr>
          <a:xfrm>
            <a:off x="6583446" y="4735029"/>
            <a:ext cx="1397000" cy="1409700"/>
          </a:xfrm>
          <a:prstGeom prst="rect">
            <a:avLst/>
          </a:prstGeom>
          <a:noFill/>
          <a:ln>
            <a:noFill/>
          </a:ln>
        </p:spPr>
      </p:pic>
      <p:pic>
        <p:nvPicPr>
          <p:cNvPr id="425" name="Google Shape;425;p29"/>
          <p:cNvPicPr preferRelativeResize="0"/>
          <p:nvPr/>
        </p:nvPicPr>
        <p:blipFill rotWithShape="1">
          <a:blip r:embed="rId5">
            <a:alphaModFix/>
          </a:blip>
          <a:srcRect b="0" l="0" r="0" t="0"/>
          <a:stretch/>
        </p:blipFill>
        <p:spPr>
          <a:xfrm>
            <a:off x="9747410" y="4622712"/>
            <a:ext cx="1496650" cy="172629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0"/>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5000"/>
              <a:buNone/>
            </a:pPr>
            <a:r>
              <a:rPr lang="en-US" sz="5000"/>
              <a:t>Nested Lists</a:t>
            </a:r>
            <a:endParaRPr sz="5000">
              <a:solidFill>
                <a:srgbClr val="191919"/>
              </a:solidFill>
              <a:latin typeface="Arial"/>
              <a:ea typeface="Arial"/>
              <a:cs typeface="Arial"/>
              <a:sym typeface="Arial"/>
            </a:endParaRPr>
          </a:p>
        </p:txBody>
      </p:sp>
      <p:graphicFrame>
        <p:nvGraphicFramePr>
          <p:cNvPr id="431" name="Google Shape;431;p30"/>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3.1. Access Tuple</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3.2. Sequences in python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3.3. Nested Lists continued</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cxnSp>
        <p:nvCxnSpPr>
          <p:cNvPr id="432" name="Google Shape;432;p30"/>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433" name="Google Shape;433;p30"/>
          <p:cNvSpPr/>
          <p:nvPr/>
        </p:nvSpPr>
        <p:spPr>
          <a:xfrm>
            <a:off x="2693323" y="1359494"/>
            <a:ext cx="9177251"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class_grades = [[85, 91, 89], [78, 81, 86], [62, 75, 77], ..]</a:t>
            </a:r>
            <a:endParaRPr b="1" i="0" sz="2400" u="none" cap="none" strike="noStrike">
              <a:solidFill>
                <a:srgbClr val="FF0000"/>
              </a:solidFill>
              <a:latin typeface="Arial"/>
              <a:ea typeface="Arial"/>
              <a:cs typeface="Arial"/>
              <a:sym typeface="Arial"/>
            </a:endParaRPr>
          </a:p>
        </p:txBody>
      </p:sp>
      <p:sp>
        <p:nvSpPr>
          <p:cNvPr id="434" name="Google Shape;434;p30"/>
          <p:cNvSpPr/>
          <p:nvPr/>
        </p:nvSpPr>
        <p:spPr>
          <a:xfrm>
            <a:off x="2693320" y="2127924"/>
            <a:ext cx="9177251" cy="46166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 list stores three exam grades for each student.</a:t>
            </a:r>
            <a:endParaRPr b="0" i="0" sz="1400" u="none" cap="none" strike="noStrike">
              <a:solidFill>
                <a:srgbClr val="000000"/>
              </a:solidFill>
              <a:latin typeface="Arial"/>
              <a:ea typeface="Arial"/>
              <a:cs typeface="Arial"/>
              <a:sym typeface="Arial"/>
            </a:endParaRPr>
          </a:p>
        </p:txBody>
      </p:sp>
      <p:sp>
        <p:nvSpPr>
          <p:cNvPr id="435" name="Google Shape;435;p30"/>
          <p:cNvSpPr/>
          <p:nvPr/>
        </p:nvSpPr>
        <p:spPr>
          <a:xfrm>
            <a:off x="4496399" y="2710943"/>
            <a:ext cx="522870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400"/>
              <a:buFont typeface="Arial"/>
              <a:buNone/>
            </a:pPr>
            <a:r>
              <a:rPr b="1" i="0" lang="en-US" sz="2400" u="none" cap="none" strike="noStrike">
                <a:solidFill>
                  <a:srgbClr val="00B050"/>
                </a:solidFill>
                <a:latin typeface="Arial"/>
                <a:ea typeface="Arial"/>
                <a:cs typeface="Arial"/>
                <a:sym typeface="Arial"/>
              </a:rPr>
              <a:t>class_grades[0] equals [85, 91, 89]</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400"/>
              <a:buFont typeface="Arial"/>
              <a:buNone/>
            </a:pPr>
            <a:r>
              <a:rPr b="1" i="0" lang="en-US" sz="2400" u="none" cap="none" strike="noStrike">
                <a:solidFill>
                  <a:srgbClr val="00B050"/>
                </a:solidFill>
                <a:latin typeface="Arial"/>
                <a:ea typeface="Arial"/>
                <a:cs typeface="Arial"/>
                <a:sym typeface="Arial"/>
              </a:rPr>
              <a:t>class_grades[1] equals [78, 81, 86]</a:t>
            </a:r>
            <a:endParaRPr b="1" i="0" sz="2400" u="none" cap="none" strike="noStrike">
              <a:solidFill>
                <a:srgbClr val="00B050"/>
              </a:solidFill>
              <a:latin typeface="Arial"/>
              <a:ea typeface="Arial"/>
              <a:cs typeface="Arial"/>
              <a:sym typeface="Arial"/>
            </a:endParaRPr>
          </a:p>
        </p:txBody>
      </p:sp>
      <p:sp>
        <p:nvSpPr>
          <p:cNvPr id="436" name="Google Shape;436;p30"/>
          <p:cNvSpPr/>
          <p:nvPr/>
        </p:nvSpPr>
        <p:spPr>
          <a:xfrm>
            <a:off x="2668380" y="4165430"/>
            <a:ext cx="9177251" cy="46166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To access the first exam grade of the first student in the list, </a:t>
            </a:r>
            <a:endParaRPr b="0" i="0" sz="2400" u="none" cap="none" strike="noStrike">
              <a:solidFill>
                <a:schemeClr val="dk1"/>
              </a:solidFill>
              <a:latin typeface="Arial"/>
              <a:ea typeface="Arial"/>
              <a:cs typeface="Arial"/>
              <a:sym typeface="Arial"/>
            </a:endParaRPr>
          </a:p>
        </p:txBody>
      </p:sp>
      <p:sp>
        <p:nvSpPr>
          <p:cNvPr id="437" name="Google Shape;437;p30"/>
          <p:cNvSpPr/>
          <p:nvPr/>
        </p:nvSpPr>
        <p:spPr>
          <a:xfrm>
            <a:off x="3366875" y="4656116"/>
            <a:ext cx="7614237"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B0F0"/>
                </a:solidFill>
                <a:latin typeface="Arial"/>
                <a:ea typeface="Arial"/>
                <a:cs typeface="Arial"/>
                <a:sym typeface="Arial"/>
              </a:rPr>
              <a:t>student1_grades = class_grades[0]  🡪 [85, 91, 89]</a:t>
            </a:r>
            <a:endParaRPr b="1" i="0" sz="2400" u="none" cap="none" strike="noStrike">
              <a:solidFill>
                <a:srgbClr val="00B0F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B0F0"/>
                </a:solidFill>
                <a:latin typeface="Arial"/>
                <a:ea typeface="Arial"/>
                <a:cs typeface="Arial"/>
                <a:sym typeface="Arial"/>
              </a:rPr>
              <a:t>student1_exam1 = student1_grades[0] 🡪 85</a:t>
            </a:r>
            <a:endParaRPr b="1" i="0" sz="2400" u="none" cap="none" strike="noStrike">
              <a:solidFill>
                <a:srgbClr val="00B0F0"/>
              </a:solidFill>
              <a:latin typeface="Arial"/>
              <a:ea typeface="Arial"/>
              <a:cs typeface="Arial"/>
              <a:sym typeface="Arial"/>
            </a:endParaRPr>
          </a:p>
        </p:txBody>
      </p:sp>
      <p:sp>
        <p:nvSpPr>
          <p:cNvPr id="438" name="Google Shape;438;p30"/>
          <p:cNvSpPr/>
          <p:nvPr/>
        </p:nvSpPr>
        <p:spPr>
          <a:xfrm>
            <a:off x="5325476" y="6070294"/>
            <a:ext cx="391293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class_grades [0][0] 🡪 85</a:t>
            </a:r>
            <a:endParaRPr b="1" i="0" sz="2400" u="none" cap="none" strike="noStrike">
              <a:solidFill>
                <a:schemeClr val="dk1"/>
              </a:solidFill>
              <a:latin typeface="Arial"/>
              <a:ea typeface="Arial"/>
              <a:cs typeface="Arial"/>
              <a:sym typeface="Arial"/>
            </a:endParaRPr>
          </a:p>
        </p:txBody>
      </p:sp>
      <p:sp>
        <p:nvSpPr>
          <p:cNvPr id="439" name="Google Shape;439;p30"/>
          <p:cNvSpPr/>
          <p:nvPr/>
        </p:nvSpPr>
        <p:spPr>
          <a:xfrm>
            <a:off x="6761930" y="5547871"/>
            <a:ext cx="66738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OR</a:t>
            </a:r>
            <a:endParaRPr b="1" i="0" sz="2400" u="none" cap="none" strike="noStrike">
              <a:solidFill>
                <a:srgbClr val="FF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3" name="Shape 443"/>
        <p:cNvGrpSpPr/>
        <p:nvPr/>
      </p:nvGrpSpPr>
      <p:grpSpPr>
        <a:xfrm>
          <a:off x="0" y="0"/>
          <a:ext cx="0" cy="0"/>
          <a:chOff x="0" y="0"/>
          <a:chExt cx="0" cy="0"/>
        </a:xfrm>
      </p:grpSpPr>
      <p:sp>
        <p:nvSpPr>
          <p:cNvPr id="444" name="Google Shape;444;p31"/>
          <p:cNvSpPr txBox="1"/>
          <p:nvPr/>
        </p:nvSpPr>
        <p:spPr>
          <a:xfrm>
            <a:off x="1116424" y="2763501"/>
            <a:ext cx="10041622"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32C4A"/>
                </a:solidFill>
                <a:latin typeface="Arial"/>
                <a:ea typeface="Arial"/>
                <a:cs typeface="Arial"/>
                <a:sym typeface="Arial"/>
              </a:rPr>
              <a:t>Average of exam 1</a:t>
            </a:r>
            <a:endParaRPr b="0" i="0" sz="4400" u="none" cap="none" strike="noStrike">
              <a:solidFill>
                <a:schemeClr val="dk1"/>
              </a:solidFill>
              <a:latin typeface="Arial"/>
              <a:ea typeface="Arial"/>
              <a:cs typeface="Arial"/>
              <a:sym typeface="Arial"/>
            </a:endParaRPr>
          </a:p>
        </p:txBody>
      </p:sp>
      <p:sp>
        <p:nvSpPr>
          <p:cNvPr id="445" name="Google Shape;445;p31"/>
          <p:cNvSpPr/>
          <p:nvPr/>
        </p:nvSpPr>
        <p:spPr>
          <a:xfrm>
            <a:off x="3207586" y="3686830"/>
            <a:ext cx="5859296"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Arial"/>
                <a:ea typeface="Arial"/>
                <a:cs typeface="Arial"/>
                <a:sym typeface="Arial"/>
              </a:rPr>
              <a:t>class_grades = [[85, 91, 89], [78, 81, 86], [62, 75, 77]]</a:t>
            </a:r>
            <a:endParaRPr b="1" i="0" sz="1800" u="none" cap="none" strike="noStrike">
              <a:solidFill>
                <a:srgbClr val="FF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9" name="Shape 449"/>
        <p:cNvGrpSpPr/>
        <p:nvPr/>
      </p:nvGrpSpPr>
      <p:grpSpPr>
        <a:xfrm>
          <a:off x="0" y="0"/>
          <a:ext cx="0" cy="0"/>
          <a:chOff x="0" y="0"/>
          <a:chExt cx="0" cy="0"/>
        </a:xfrm>
      </p:grpSpPr>
      <p:sp>
        <p:nvSpPr>
          <p:cNvPr id="450" name="Google Shape;450;p32"/>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00B050"/>
              </a:buClr>
              <a:buSzPts val="5000"/>
              <a:buNone/>
            </a:pPr>
            <a:r>
              <a:rPr lang="en-US" sz="5000">
                <a:solidFill>
                  <a:srgbClr val="00B050"/>
                </a:solidFill>
              </a:rPr>
              <a:t>Let’s Understand Through Example</a:t>
            </a:r>
            <a:endParaRPr sz="5000">
              <a:solidFill>
                <a:srgbClr val="00B050"/>
              </a:solidFill>
              <a:latin typeface="Arial"/>
              <a:ea typeface="Arial"/>
              <a:cs typeface="Arial"/>
              <a:sym typeface="Arial"/>
            </a:endParaRPr>
          </a:p>
        </p:txBody>
      </p:sp>
      <p:graphicFrame>
        <p:nvGraphicFramePr>
          <p:cNvPr id="451" name="Google Shape;451;p32"/>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3.1. Access Tuple</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3.2. Sequences in python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3.3. Nested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Example 1</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452" name="Google Shape;452;p32"/>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453" name="Google Shape;453;p32"/>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454" name="Google Shape;454;p32"/>
          <p:cNvSpPr/>
          <p:nvPr/>
        </p:nvSpPr>
        <p:spPr>
          <a:xfrm>
            <a:off x="2674788" y="4523333"/>
            <a:ext cx="9312165" cy="1569660"/>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80808"/>
                </a:solidFill>
                <a:latin typeface="Arial"/>
                <a:ea typeface="Arial"/>
                <a:cs typeface="Arial"/>
                <a:sym typeface="Arial"/>
              </a:rPr>
              <a:t>class_grades = [[</a:t>
            </a:r>
            <a:r>
              <a:rPr b="0" i="0" lang="en-US" sz="2400" u="none" cap="none" strike="noStrike">
                <a:solidFill>
                  <a:srgbClr val="1750EB"/>
                </a:solidFill>
                <a:latin typeface="Arial"/>
                <a:ea typeface="Arial"/>
                <a:cs typeface="Arial"/>
                <a:sym typeface="Arial"/>
              </a:rPr>
              <a:t>85</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91</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89</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78</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81</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86</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62</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75</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77</a:t>
            </a:r>
            <a:r>
              <a:rPr b="0" i="0" lang="en-US" sz="2400" u="none" cap="none" strike="noStrike">
                <a:solidFill>
                  <a:srgbClr val="080808"/>
                </a:solidFill>
                <a:latin typeface="Arial"/>
                <a:ea typeface="Arial"/>
                <a:cs typeface="Arial"/>
                <a:sym typeface="Arial"/>
              </a:rPr>
              <a:t>]]</a:t>
            </a:r>
            <a:br>
              <a:rPr b="0" i="0" lang="en-US" sz="2400" u="none" cap="none" strike="noStrike">
                <a:solidFill>
                  <a:srgbClr val="080808"/>
                </a:solidFill>
                <a:latin typeface="Arial"/>
                <a:ea typeface="Arial"/>
                <a:cs typeface="Arial"/>
                <a:sym typeface="Arial"/>
              </a:rPr>
            </a:br>
            <a:r>
              <a:rPr b="0" i="0" lang="en-US" sz="2400" u="none" cap="none" strike="noStrike">
                <a:solidFill>
                  <a:srgbClr val="080808"/>
                </a:solidFill>
                <a:latin typeface="Arial"/>
                <a:ea typeface="Arial"/>
                <a:cs typeface="Arial"/>
                <a:sym typeface="Arial"/>
              </a:rPr>
              <a:t>sum = class_grades[</a:t>
            </a:r>
            <a:r>
              <a:rPr b="0" i="0" lang="en-US" sz="2400" u="none" cap="none" strike="noStrike">
                <a:solidFill>
                  <a:srgbClr val="1750EB"/>
                </a:solidFill>
                <a:latin typeface="Arial"/>
                <a:ea typeface="Arial"/>
                <a:cs typeface="Arial"/>
                <a:sym typeface="Arial"/>
              </a:rPr>
              <a:t>0</a:t>
            </a:r>
            <a:r>
              <a:rPr b="0" i="0" lang="en-US" sz="2400" u="none" cap="none" strike="noStrike">
                <a:solidFill>
                  <a:srgbClr val="080808"/>
                </a:solidFill>
                <a:latin typeface="Arial"/>
                <a:ea typeface="Arial"/>
                <a:cs typeface="Arial"/>
                <a:sym typeface="Arial"/>
              </a:rPr>
              <a:t>][</a:t>
            </a:r>
            <a:r>
              <a:rPr b="0" i="0" lang="en-US" sz="2400" u="none" cap="none" strike="noStrike">
                <a:solidFill>
                  <a:srgbClr val="1750EB"/>
                </a:solidFill>
                <a:latin typeface="Arial"/>
                <a:ea typeface="Arial"/>
                <a:cs typeface="Arial"/>
                <a:sym typeface="Arial"/>
              </a:rPr>
              <a:t>0</a:t>
            </a:r>
            <a:r>
              <a:rPr b="0" i="0" lang="en-US" sz="2400" u="none" cap="none" strike="noStrike">
                <a:solidFill>
                  <a:srgbClr val="080808"/>
                </a:solidFill>
                <a:latin typeface="Arial"/>
                <a:ea typeface="Arial"/>
                <a:cs typeface="Arial"/>
                <a:sym typeface="Arial"/>
              </a:rPr>
              <a:t>] + class_grades[</a:t>
            </a:r>
            <a:r>
              <a:rPr b="0" i="0" lang="en-US" sz="2400" u="none" cap="none" strike="noStrike">
                <a:solidFill>
                  <a:srgbClr val="1750EB"/>
                </a:solidFill>
                <a:latin typeface="Arial"/>
                <a:ea typeface="Arial"/>
                <a:cs typeface="Arial"/>
                <a:sym typeface="Arial"/>
              </a:rPr>
              <a:t>1</a:t>
            </a:r>
            <a:r>
              <a:rPr b="0" i="0" lang="en-US" sz="2400" u="none" cap="none" strike="noStrike">
                <a:solidFill>
                  <a:srgbClr val="080808"/>
                </a:solidFill>
                <a:latin typeface="Arial"/>
                <a:ea typeface="Arial"/>
                <a:cs typeface="Arial"/>
                <a:sym typeface="Arial"/>
              </a:rPr>
              <a:t>][</a:t>
            </a:r>
            <a:r>
              <a:rPr b="0" i="0" lang="en-US" sz="2400" u="none" cap="none" strike="noStrike">
                <a:solidFill>
                  <a:srgbClr val="1750EB"/>
                </a:solidFill>
                <a:latin typeface="Arial"/>
                <a:ea typeface="Arial"/>
                <a:cs typeface="Arial"/>
                <a:sym typeface="Arial"/>
              </a:rPr>
              <a:t>0</a:t>
            </a:r>
            <a:r>
              <a:rPr b="0" i="0" lang="en-US" sz="2400" u="none" cap="none" strike="noStrike">
                <a:solidFill>
                  <a:srgbClr val="080808"/>
                </a:solidFill>
                <a:latin typeface="Arial"/>
                <a:ea typeface="Arial"/>
                <a:cs typeface="Arial"/>
                <a:sym typeface="Arial"/>
              </a:rPr>
              <a:t>] + class_grades[</a:t>
            </a:r>
            <a:r>
              <a:rPr b="0" i="0" lang="en-US" sz="2400" u="none" cap="none" strike="noStrike">
                <a:solidFill>
                  <a:srgbClr val="1750EB"/>
                </a:solidFill>
                <a:latin typeface="Arial"/>
                <a:ea typeface="Arial"/>
                <a:cs typeface="Arial"/>
                <a:sym typeface="Arial"/>
              </a:rPr>
              <a:t>2</a:t>
            </a:r>
            <a:r>
              <a:rPr b="0" i="0" lang="en-US" sz="2400" u="none" cap="none" strike="noStrike">
                <a:solidFill>
                  <a:srgbClr val="080808"/>
                </a:solidFill>
                <a:latin typeface="Arial"/>
                <a:ea typeface="Arial"/>
                <a:cs typeface="Arial"/>
                <a:sym typeface="Arial"/>
              </a:rPr>
              <a:t>][</a:t>
            </a:r>
            <a:r>
              <a:rPr b="0" i="0" lang="en-US" sz="2400" u="none" cap="none" strike="noStrike">
                <a:solidFill>
                  <a:srgbClr val="1750EB"/>
                </a:solidFill>
                <a:latin typeface="Arial"/>
                <a:ea typeface="Arial"/>
                <a:cs typeface="Arial"/>
                <a:sym typeface="Arial"/>
              </a:rPr>
              <a:t>0</a:t>
            </a:r>
            <a:r>
              <a:rPr b="0" i="0" lang="en-US" sz="2400" u="none" cap="none" strike="noStrike">
                <a:solidFill>
                  <a:srgbClr val="080808"/>
                </a:solidFill>
                <a:latin typeface="Arial"/>
                <a:ea typeface="Arial"/>
                <a:cs typeface="Arial"/>
                <a:sym typeface="Arial"/>
              </a:rPr>
              <a:t>]</a:t>
            </a:r>
            <a:br>
              <a:rPr b="0" i="0" lang="en-US" sz="2400" u="none" cap="none" strike="noStrike">
                <a:solidFill>
                  <a:srgbClr val="080808"/>
                </a:solidFill>
                <a:latin typeface="Arial"/>
                <a:ea typeface="Arial"/>
                <a:cs typeface="Arial"/>
                <a:sym typeface="Arial"/>
              </a:rPr>
            </a:br>
            <a:r>
              <a:rPr b="0" i="0" lang="en-US" sz="2400" u="none" cap="none" strike="noStrike">
                <a:solidFill>
                  <a:srgbClr val="080808"/>
                </a:solidFill>
                <a:latin typeface="Arial"/>
                <a:ea typeface="Arial"/>
                <a:cs typeface="Arial"/>
                <a:sym typeface="Arial"/>
              </a:rPr>
              <a:t>average = sum/</a:t>
            </a:r>
            <a:r>
              <a:rPr b="0" i="0" lang="en-US" sz="2400" u="none" cap="none" strike="noStrike">
                <a:solidFill>
                  <a:srgbClr val="1750EB"/>
                </a:solidFill>
                <a:latin typeface="Arial"/>
                <a:ea typeface="Arial"/>
                <a:cs typeface="Arial"/>
                <a:sym typeface="Arial"/>
              </a:rPr>
              <a:t>float(len(class_grades))</a:t>
            </a:r>
            <a:br>
              <a:rPr b="0" i="0" lang="en-US" sz="2400" u="none" cap="none" strike="noStrike">
                <a:solidFill>
                  <a:srgbClr val="1750EB"/>
                </a:solidFill>
                <a:latin typeface="Arial"/>
                <a:ea typeface="Arial"/>
                <a:cs typeface="Arial"/>
                <a:sym typeface="Arial"/>
              </a:rPr>
            </a:br>
            <a:r>
              <a:rPr b="0" i="0" lang="en-US" sz="2400" u="none" cap="none" strike="noStrike">
                <a:solidFill>
                  <a:srgbClr val="000080"/>
                </a:solidFill>
                <a:latin typeface="Arial"/>
                <a:ea typeface="Arial"/>
                <a:cs typeface="Arial"/>
                <a:sym typeface="Arial"/>
              </a:rPr>
              <a:t>print</a:t>
            </a:r>
            <a:r>
              <a:rPr b="0" i="0" lang="en-US" sz="2400" u="none" cap="none" strike="noStrike">
                <a:solidFill>
                  <a:srgbClr val="080808"/>
                </a:solidFill>
                <a:latin typeface="Arial"/>
                <a:ea typeface="Arial"/>
                <a:cs typeface="Arial"/>
                <a:sym typeface="Arial"/>
              </a:rPr>
              <a:t>(average)</a:t>
            </a:r>
            <a:endParaRPr b="0" i="0" sz="4800" u="none" cap="none" strike="noStrike">
              <a:solidFill>
                <a:schemeClr val="dk1"/>
              </a:solidFill>
              <a:latin typeface="Arial"/>
              <a:ea typeface="Arial"/>
              <a:cs typeface="Arial"/>
              <a:sym typeface="Arial"/>
            </a:endParaRPr>
          </a:p>
        </p:txBody>
      </p:sp>
      <p:sp>
        <p:nvSpPr>
          <p:cNvPr id="455" name="Google Shape;455;p32"/>
          <p:cNvSpPr/>
          <p:nvPr/>
        </p:nvSpPr>
        <p:spPr>
          <a:xfrm>
            <a:off x="2693323" y="1359494"/>
            <a:ext cx="9177251" cy="156966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There are two ways through which you can access to a nested lists. </a:t>
            </a:r>
            <a:endParaRPr b="0" i="0" sz="1400" u="none" cap="none" strike="noStrike">
              <a:solidFill>
                <a:srgbClr val="000000"/>
              </a:solidFill>
              <a:latin typeface="Arial"/>
              <a:ea typeface="Arial"/>
              <a:cs typeface="Arial"/>
              <a:sym typeface="Arial"/>
            </a:endParaRPr>
          </a:p>
          <a:p>
            <a:pPr indent="-514350" lvl="1" marL="971550" marR="0" rtl="0" algn="just">
              <a:lnSpc>
                <a:spcPct val="100000"/>
              </a:lnSpc>
              <a:spcBef>
                <a:spcPts val="0"/>
              </a:spcBef>
              <a:spcAft>
                <a:spcPts val="0"/>
              </a:spcAft>
              <a:buClr>
                <a:schemeClr val="dk1"/>
              </a:buClr>
              <a:buSzPts val="2400"/>
              <a:buFont typeface="Calibri"/>
              <a:buAutoNum type="romanLcPeriod"/>
            </a:pPr>
            <a:r>
              <a:rPr b="0" i="0" lang="en-US" sz="2400" u="none" cap="none" strike="noStrike">
                <a:solidFill>
                  <a:schemeClr val="dk1"/>
                </a:solidFill>
                <a:latin typeface="Arial"/>
                <a:ea typeface="Arial"/>
                <a:cs typeface="Arial"/>
                <a:sym typeface="Arial"/>
              </a:rPr>
              <a:t>Accessing without iteration.</a:t>
            </a:r>
            <a:endParaRPr b="0" i="0" sz="1400" u="none" cap="none" strike="noStrike">
              <a:solidFill>
                <a:srgbClr val="000000"/>
              </a:solidFill>
              <a:latin typeface="Arial"/>
              <a:ea typeface="Arial"/>
              <a:cs typeface="Arial"/>
              <a:sym typeface="Arial"/>
            </a:endParaRPr>
          </a:p>
          <a:p>
            <a:pPr indent="-514350" lvl="1" marL="971550" marR="0" rtl="0" algn="just">
              <a:lnSpc>
                <a:spcPct val="100000"/>
              </a:lnSpc>
              <a:spcBef>
                <a:spcPts val="0"/>
              </a:spcBef>
              <a:spcAft>
                <a:spcPts val="0"/>
              </a:spcAft>
              <a:buClr>
                <a:schemeClr val="dk1"/>
              </a:buClr>
              <a:buSzPts val="2400"/>
              <a:buFont typeface="Calibri"/>
              <a:buAutoNum type="romanLcPeriod"/>
            </a:pPr>
            <a:r>
              <a:rPr b="0" i="0" lang="en-US" sz="2400" u="none" cap="none" strike="noStrike">
                <a:solidFill>
                  <a:schemeClr val="dk1"/>
                </a:solidFill>
                <a:latin typeface="Arial"/>
                <a:ea typeface="Arial"/>
                <a:cs typeface="Arial"/>
                <a:sym typeface="Arial"/>
              </a:rPr>
              <a:t>Accessing with iteration.</a:t>
            </a:r>
            <a:endParaRPr b="0" i="0" sz="1400" u="none" cap="none" strike="noStrike">
              <a:solidFill>
                <a:srgbClr val="000000"/>
              </a:solidFill>
              <a:latin typeface="Arial"/>
              <a:ea typeface="Arial"/>
              <a:cs typeface="Arial"/>
              <a:sym typeface="Arial"/>
            </a:endParaRPr>
          </a:p>
        </p:txBody>
      </p:sp>
      <p:sp>
        <p:nvSpPr>
          <p:cNvPr id="456" name="Google Shape;456;p32"/>
          <p:cNvSpPr/>
          <p:nvPr/>
        </p:nvSpPr>
        <p:spPr>
          <a:xfrm>
            <a:off x="2760779" y="3310745"/>
            <a:ext cx="9177251"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You need to identify when to use when as per the requirement.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0" name="Shape 460"/>
        <p:cNvGrpSpPr/>
        <p:nvPr/>
      </p:nvGrpSpPr>
      <p:grpSpPr>
        <a:xfrm>
          <a:off x="0" y="0"/>
          <a:ext cx="0" cy="0"/>
          <a:chOff x="0" y="0"/>
          <a:chExt cx="0" cy="0"/>
        </a:xfrm>
      </p:grpSpPr>
      <p:sp>
        <p:nvSpPr>
          <p:cNvPr id="461" name="Google Shape;461;p33"/>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00B050"/>
              </a:buClr>
              <a:buSzPts val="5000"/>
              <a:buNone/>
            </a:pPr>
            <a:r>
              <a:rPr lang="en-US" sz="5000">
                <a:solidFill>
                  <a:srgbClr val="00B050"/>
                </a:solidFill>
              </a:rPr>
              <a:t>Let’s Understand Through Example</a:t>
            </a:r>
            <a:endParaRPr sz="5000">
              <a:solidFill>
                <a:srgbClr val="00B050"/>
              </a:solidFill>
              <a:latin typeface="Arial"/>
              <a:ea typeface="Arial"/>
              <a:cs typeface="Arial"/>
              <a:sym typeface="Arial"/>
            </a:endParaRPr>
          </a:p>
        </p:txBody>
      </p:sp>
      <p:graphicFrame>
        <p:nvGraphicFramePr>
          <p:cNvPr id="462" name="Google Shape;462;p33"/>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3.1. Access Tuple</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3.2. Sequences in python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3.3. Nested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Example 2</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463" name="Google Shape;463;p33"/>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464" name="Google Shape;464;p33"/>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465" name="Google Shape;465;p33"/>
          <p:cNvSpPr/>
          <p:nvPr/>
        </p:nvSpPr>
        <p:spPr>
          <a:xfrm>
            <a:off x="2731665" y="1466589"/>
            <a:ext cx="9100568" cy="3416320"/>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80808"/>
                </a:solidFill>
                <a:latin typeface="Arial"/>
                <a:ea typeface="Arial"/>
                <a:cs typeface="Arial"/>
                <a:sym typeface="Arial"/>
              </a:rPr>
              <a:t>k = </a:t>
            </a:r>
            <a:r>
              <a:rPr b="0" i="0" lang="en-US" sz="2400" u="none" cap="none" strike="noStrike">
                <a:solidFill>
                  <a:srgbClr val="1750EB"/>
                </a:solidFill>
                <a:latin typeface="Arial"/>
                <a:ea typeface="Arial"/>
                <a:cs typeface="Arial"/>
                <a:sym typeface="Arial"/>
              </a:rPr>
              <a:t>0</a:t>
            </a:r>
            <a:br>
              <a:rPr b="0" i="0" lang="en-US" sz="2400" u="none" cap="none" strike="noStrike">
                <a:solidFill>
                  <a:srgbClr val="1750EB"/>
                </a:solidFill>
                <a:latin typeface="Arial"/>
                <a:ea typeface="Arial"/>
                <a:cs typeface="Arial"/>
                <a:sym typeface="Arial"/>
              </a:rPr>
            </a:br>
            <a:r>
              <a:rPr b="0" i="0" lang="en-US" sz="2400" u="none" cap="none" strike="noStrike">
                <a:solidFill>
                  <a:srgbClr val="080808"/>
                </a:solidFill>
                <a:latin typeface="Arial"/>
                <a:ea typeface="Arial"/>
                <a:cs typeface="Arial"/>
                <a:sym typeface="Arial"/>
              </a:rPr>
              <a:t>sum = </a:t>
            </a:r>
            <a:r>
              <a:rPr b="0" i="0" lang="en-US" sz="2400" u="none" cap="none" strike="noStrike">
                <a:solidFill>
                  <a:srgbClr val="1750EB"/>
                </a:solidFill>
                <a:latin typeface="Arial"/>
                <a:ea typeface="Arial"/>
                <a:cs typeface="Arial"/>
                <a:sym typeface="Arial"/>
              </a:rPr>
              <a:t>0</a:t>
            </a:r>
            <a:br>
              <a:rPr b="0" i="0" lang="en-US" sz="2400" u="none" cap="none" strike="noStrike">
                <a:solidFill>
                  <a:srgbClr val="1750EB"/>
                </a:solidFill>
                <a:latin typeface="Arial"/>
                <a:ea typeface="Arial"/>
                <a:cs typeface="Arial"/>
                <a:sym typeface="Arial"/>
              </a:rPr>
            </a:br>
            <a:r>
              <a:rPr b="0" i="0" lang="en-US" sz="2400" u="none" cap="none" strike="noStrike">
                <a:solidFill>
                  <a:srgbClr val="080808"/>
                </a:solidFill>
                <a:latin typeface="Arial"/>
                <a:ea typeface="Arial"/>
                <a:cs typeface="Arial"/>
                <a:sym typeface="Arial"/>
              </a:rPr>
              <a:t>class_grades = [[</a:t>
            </a:r>
            <a:r>
              <a:rPr b="0" i="0" lang="en-US" sz="2400" u="none" cap="none" strike="noStrike">
                <a:solidFill>
                  <a:srgbClr val="1750EB"/>
                </a:solidFill>
                <a:latin typeface="Arial"/>
                <a:ea typeface="Arial"/>
                <a:cs typeface="Arial"/>
                <a:sym typeface="Arial"/>
              </a:rPr>
              <a:t>85</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91</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89</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78</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81</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86</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62</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75</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77</a:t>
            </a:r>
            <a:r>
              <a:rPr b="0" i="0" lang="en-US" sz="2400" u="none" cap="none" strike="noStrike">
                <a:solidFill>
                  <a:srgbClr val="080808"/>
                </a:solidFill>
                <a:latin typeface="Arial"/>
                <a:ea typeface="Arial"/>
                <a:cs typeface="Arial"/>
                <a:sym typeface="Arial"/>
              </a:rPr>
              <a:t>],[</a:t>
            </a:r>
            <a:r>
              <a:rPr b="0" i="0" lang="en-US" sz="2400" u="none" cap="none" strike="noStrike">
                <a:solidFill>
                  <a:srgbClr val="1750EB"/>
                </a:solidFill>
                <a:latin typeface="Arial"/>
                <a:ea typeface="Arial"/>
                <a:cs typeface="Arial"/>
                <a:sym typeface="Arial"/>
              </a:rPr>
              <a:t>62</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75</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77</a:t>
            </a:r>
            <a:r>
              <a:rPr b="0" i="0" lang="en-US" sz="2400" u="none" cap="none" strike="noStrike">
                <a:solidFill>
                  <a:srgbClr val="080808"/>
                </a:solidFill>
                <a:latin typeface="Arial"/>
                <a:ea typeface="Arial"/>
                <a:cs typeface="Arial"/>
                <a:sym typeface="Arial"/>
              </a:rPr>
              <a:t>]]</a:t>
            </a:r>
            <a:br>
              <a:rPr b="0" i="0" lang="en-US" sz="2400" u="none" cap="none" strike="noStrike">
                <a:solidFill>
                  <a:srgbClr val="080808"/>
                </a:solidFill>
                <a:latin typeface="Arial"/>
                <a:ea typeface="Arial"/>
                <a:cs typeface="Arial"/>
                <a:sym typeface="Arial"/>
              </a:rPr>
            </a:br>
            <a:r>
              <a:rPr b="0" i="0" lang="en-US" sz="2400" u="none" cap="none" strike="noStrike">
                <a:solidFill>
                  <a:srgbClr val="0033B3"/>
                </a:solidFill>
                <a:latin typeface="Arial"/>
                <a:ea typeface="Arial"/>
                <a:cs typeface="Arial"/>
                <a:sym typeface="Arial"/>
              </a:rPr>
              <a:t>while </a:t>
            </a:r>
            <a:r>
              <a:rPr b="0" i="0" lang="en-US" sz="2400" u="none" cap="none" strike="noStrike">
                <a:solidFill>
                  <a:srgbClr val="080808"/>
                </a:solidFill>
                <a:latin typeface="Arial"/>
                <a:ea typeface="Arial"/>
                <a:cs typeface="Arial"/>
                <a:sym typeface="Arial"/>
              </a:rPr>
              <a:t>k &lt; </a:t>
            </a:r>
            <a:r>
              <a:rPr b="0" i="0" lang="en-US" sz="2400" u="none" cap="none" strike="noStrike">
                <a:solidFill>
                  <a:srgbClr val="000080"/>
                </a:solidFill>
                <a:latin typeface="Arial"/>
                <a:ea typeface="Arial"/>
                <a:cs typeface="Arial"/>
                <a:sym typeface="Arial"/>
              </a:rPr>
              <a:t>len</a:t>
            </a:r>
            <a:r>
              <a:rPr b="0" i="0" lang="en-US" sz="2400" u="none" cap="none" strike="noStrike">
                <a:solidFill>
                  <a:srgbClr val="080808"/>
                </a:solidFill>
                <a:latin typeface="Arial"/>
                <a:ea typeface="Arial"/>
                <a:cs typeface="Arial"/>
                <a:sym typeface="Arial"/>
              </a:rPr>
              <a:t>(class_grades):</a:t>
            </a:r>
            <a:br>
              <a:rPr b="0" i="0" lang="en-US" sz="2400" u="none" cap="none" strike="noStrike">
                <a:solidFill>
                  <a:srgbClr val="080808"/>
                </a:solidFill>
                <a:latin typeface="Arial"/>
                <a:ea typeface="Arial"/>
                <a:cs typeface="Arial"/>
                <a:sym typeface="Arial"/>
              </a:rPr>
            </a:br>
            <a:r>
              <a:rPr b="0" i="0" lang="en-US" sz="2400" u="none" cap="none" strike="noStrike">
                <a:solidFill>
                  <a:srgbClr val="080808"/>
                </a:solidFill>
                <a:latin typeface="Arial"/>
                <a:ea typeface="Arial"/>
                <a:cs typeface="Arial"/>
                <a:sym typeface="Arial"/>
              </a:rPr>
              <a:t>    sum = sum + class_grades[k][</a:t>
            </a:r>
            <a:r>
              <a:rPr b="0" i="0" lang="en-US" sz="2400" u="none" cap="none" strike="noStrike">
                <a:solidFill>
                  <a:srgbClr val="1750EB"/>
                </a:solidFill>
                <a:latin typeface="Arial"/>
                <a:ea typeface="Arial"/>
                <a:cs typeface="Arial"/>
                <a:sym typeface="Arial"/>
              </a:rPr>
              <a:t>0</a:t>
            </a:r>
            <a:r>
              <a:rPr b="0" i="0" lang="en-US" sz="2400" u="none" cap="none" strike="noStrike">
                <a:solidFill>
                  <a:srgbClr val="080808"/>
                </a:solidFill>
                <a:latin typeface="Arial"/>
                <a:ea typeface="Arial"/>
                <a:cs typeface="Arial"/>
                <a:sym typeface="Arial"/>
              </a:rPr>
              <a:t>]</a:t>
            </a:r>
            <a:br>
              <a:rPr b="0" i="0" lang="en-US" sz="2400" u="none" cap="none" strike="noStrike">
                <a:solidFill>
                  <a:srgbClr val="080808"/>
                </a:solidFill>
                <a:latin typeface="Arial"/>
                <a:ea typeface="Arial"/>
                <a:cs typeface="Arial"/>
                <a:sym typeface="Arial"/>
              </a:rPr>
            </a:br>
            <a:r>
              <a:rPr b="0" i="0" lang="en-US" sz="2400" u="none" cap="none" strike="noStrike">
                <a:solidFill>
                  <a:srgbClr val="080808"/>
                </a:solidFill>
                <a:latin typeface="Arial"/>
                <a:ea typeface="Arial"/>
                <a:cs typeface="Arial"/>
                <a:sym typeface="Arial"/>
              </a:rPr>
              <a:t>    k +=</a:t>
            </a:r>
            <a:r>
              <a:rPr b="0" i="0" lang="en-US" sz="2400" u="none" cap="none" strike="noStrike">
                <a:solidFill>
                  <a:srgbClr val="1750EB"/>
                </a:solidFill>
                <a:latin typeface="Arial"/>
                <a:ea typeface="Arial"/>
                <a:cs typeface="Arial"/>
                <a:sym typeface="Arial"/>
              </a:rPr>
              <a:t>1</a:t>
            </a:r>
            <a:br>
              <a:rPr b="0" i="0" lang="en-US" sz="2400" u="none" cap="none" strike="noStrike">
                <a:solidFill>
                  <a:srgbClr val="1750EB"/>
                </a:solidFill>
                <a:latin typeface="Arial"/>
                <a:ea typeface="Arial"/>
                <a:cs typeface="Arial"/>
                <a:sym typeface="Arial"/>
              </a:rPr>
            </a:br>
            <a:r>
              <a:rPr b="0" i="0" lang="en-US" sz="2400" u="none" cap="none" strike="noStrike">
                <a:solidFill>
                  <a:srgbClr val="1750EB"/>
                </a:solidFill>
                <a:latin typeface="Arial"/>
                <a:ea typeface="Arial"/>
                <a:cs typeface="Arial"/>
                <a:sym typeface="Arial"/>
              </a:rPr>
              <a:t>    </a:t>
            </a:r>
            <a:r>
              <a:rPr b="0" i="0" lang="en-US" sz="2400" u="none" cap="none" strike="noStrike">
                <a:solidFill>
                  <a:srgbClr val="080808"/>
                </a:solidFill>
                <a:latin typeface="Arial"/>
                <a:ea typeface="Arial"/>
                <a:cs typeface="Arial"/>
                <a:sym typeface="Arial"/>
              </a:rPr>
              <a:t>avergae = sum/</a:t>
            </a:r>
            <a:r>
              <a:rPr b="0" i="0" lang="en-US" sz="2400" u="none" cap="none" strike="noStrike">
                <a:solidFill>
                  <a:srgbClr val="000080"/>
                </a:solidFill>
                <a:latin typeface="Arial"/>
                <a:ea typeface="Arial"/>
                <a:cs typeface="Arial"/>
                <a:sym typeface="Arial"/>
              </a:rPr>
              <a:t>float</a:t>
            </a:r>
            <a:r>
              <a:rPr b="0" i="0" lang="en-US" sz="2400" u="none" cap="none" strike="noStrike">
                <a:solidFill>
                  <a:srgbClr val="080808"/>
                </a:solidFill>
                <a:latin typeface="Arial"/>
                <a:ea typeface="Arial"/>
                <a:cs typeface="Arial"/>
                <a:sym typeface="Arial"/>
              </a:rPr>
              <a:t>(</a:t>
            </a:r>
            <a:r>
              <a:rPr b="0" i="0" lang="en-US" sz="2400" u="none" cap="none" strike="noStrike">
                <a:solidFill>
                  <a:srgbClr val="000080"/>
                </a:solidFill>
                <a:latin typeface="Arial"/>
                <a:ea typeface="Arial"/>
                <a:cs typeface="Arial"/>
                <a:sym typeface="Arial"/>
              </a:rPr>
              <a:t>len</a:t>
            </a:r>
            <a:r>
              <a:rPr b="0" i="0" lang="en-US" sz="2400" u="none" cap="none" strike="noStrike">
                <a:solidFill>
                  <a:srgbClr val="080808"/>
                </a:solidFill>
                <a:latin typeface="Arial"/>
                <a:ea typeface="Arial"/>
                <a:cs typeface="Arial"/>
                <a:sym typeface="Arial"/>
              </a:rPr>
              <a:t>(class_grades))</a:t>
            </a:r>
            <a:br>
              <a:rPr b="0" i="0" lang="en-US" sz="2400" u="none" cap="none" strike="noStrike">
                <a:solidFill>
                  <a:srgbClr val="080808"/>
                </a:solidFill>
                <a:latin typeface="Arial"/>
                <a:ea typeface="Arial"/>
                <a:cs typeface="Arial"/>
                <a:sym typeface="Arial"/>
              </a:rPr>
            </a:br>
            <a:r>
              <a:rPr b="0" i="0" lang="en-US" sz="2400" u="none" cap="none" strike="noStrike">
                <a:solidFill>
                  <a:srgbClr val="000080"/>
                </a:solidFill>
                <a:latin typeface="Arial"/>
                <a:ea typeface="Arial"/>
                <a:cs typeface="Arial"/>
                <a:sym typeface="Arial"/>
              </a:rPr>
              <a:t>print</a:t>
            </a:r>
            <a:r>
              <a:rPr b="0" i="0" lang="en-US" sz="2400" u="none" cap="none" strike="noStrike">
                <a:solidFill>
                  <a:srgbClr val="080808"/>
                </a:solidFill>
                <a:latin typeface="Arial"/>
                <a:ea typeface="Arial"/>
                <a:cs typeface="Arial"/>
                <a:sym typeface="Arial"/>
              </a:rPr>
              <a:t>(avergae)</a:t>
            </a:r>
            <a:endParaRPr b="0" i="0" sz="4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Arial"/>
              <a:ea typeface="Arial"/>
              <a:cs typeface="Arial"/>
              <a:sym typeface="Arial"/>
            </a:endParaRPr>
          </a:p>
        </p:txBody>
      </p:sp>
      <p:sp>
        <p:nvSpPr>
          <p:cNvPr id="466" name="Google Shape;466;p33"/>
          <p:cNvSpPr/>
          <p:nvPr/>
        </p:nvSpPr>
        <p:spPr>
          <a:xfrm>
            <a:off x="2632584" y="1204178"/>
            <a:ext cx="9298729" cy="3748515"/>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67" name="Google Shape;467;p33"/>
          <p:cNvCxnSpPr>
            <a:stCxn id="466" idx="2"/>
            <a:endCxn id="468" idx="1"/>
          </p:cNvCxnSpPr>
          <p:nvPr/>
        </p:nvCxnSpPr>
        <p:spPr>
          <a:xfrm>
            <a:off x="7281949" y="4952693"/>
            <a:ext cx="654300" cy="442500"/>
          </a:xfrm>
          <a:prstGeom prst="straightConnector1">
            <a:avLst/>
          </a:prstGeom>
          <a:noFill/>
          <a:ln cap="flat" cmpd="sng" w="19050">
            <a:solidFill>
              <a:srgbClr val="FF0000"/>
            </a:solidFill>
            <a:prstDash val="solid"/>
            <a:miter lim="800000"/>
            <a:headEnd len="sm" w="sm" type="none"/>
            <a:tailEnd len="sm" w="sm" type="none"/>
          </a:ln>
        </p:spPr>
      </p:cxnSp>
      <p:sp>
        <p:nvSpPr>
          <p:cNvPr id="468" name="Google Shape;468;p33"/>
          <p:cNvSpPr/>
          <p:nvPr/>
        </p:nvSpPr>
        <p:spPr>
          <a:xfrm>
            <a:off x="7936133" y="4126213"/>
            <a:ext cx="3896100" cy="2538153"/>
          </a:xfrm>
          <a:prstGeom prst="rect">
            <a:avLst/>
          </a:prstGeom>
          <a:gradFill>
            <a:gsLst>
              <a:gs pos="0">
                <a:srgbClr val="FFDC9B"/>
              </a:gs>
              <a:gs pos="50000">
                <a:srgbClr val="FFD68D"/>
              </a:gs>
              <a:gs pos="100000">
                <a:srgbClr val="FFD478"/>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Here, we can see that list is being accessed through the iteration. Since the value of k is initialised as 0, in first iteration, class_grades[0][0] will be 85 and through each iteration value of k is increased by 1</a:t>
            </a:r>
            <a:endParaRPr b="0" i="0" sz="1800" u="none" cap="none" strike="noStrike">
              <a:solidFill>
                <a:schemeClr val="dk1"/>
              </a:solidFill>
              <a:latin typeface="Calibri"/>
              <a:ea typeface="Calibri"/>
              <a:cs typeface="Calibri"/>
              <a:sym typeface="Calibri"/>
            </a:endParaRPr>
          </a:p>
        </p:txBody>
      </p:sp>
      <p:cxnSp>
        <p:nvCxnSpPr>
          <p:cNvPr id="469" name="Google Shape;469;p33"/>
          <p:cNvCxnSpPr>
            <a:stCxn id="466" idx="2"/>
            <a:endCxn id="470" idx="0"/>
          </p:cNvCxnSpPr>
          <p:nvPr/>
        </p:nvCxnSpPr>
        <p:spPr>
          <a:xfrm flipH="1">
            <a:off x="4630249" y="4952693"/>
            <a:ext cx="2651700" cy="442500"/>
          </a:xfrm>
          <a:prstGeom prst="straightConnector1">
            <a:avLst/>
          </a:prstGeom>
          <a:noFill/>
          <a:ln cap="flat" cmpd="sng" w="19050">
            <a:solidFill>
              <a:srgbClr val="FF0000"/>
            </a:solidFill>
            <a:prstDash val="solid"/>
            <a:miter lim="800000"/>
            <a:headEnd len="sm" w="sm" type="none"/>
            <a:tailEnd len="sm" w="sm" type="none"/>
          </a:ln>
        </p:spPr>
      </p:cxnSp>
      <p:sp>
        <p:nvSpPr>
          <p:cNvPr id="470" name="Google Shape;470;p33"/>
          <p:cNvSpPr/>
          <p:nvPr/>
        </p:nvSpPr>
        <p:spPr>
          <a:xfrm>
            <a:off x="3009217" y="5395289"/>
            <a:ext cx="3241916" cy="1213988"/>
          </a:xfrm>
          <a:prstGeom prst="rect">
            <a:avLst/>
          </a:prstGeom>
          <a:gradFill>
            <a:gsLst>
              <a:gs pos="0">
                <a:srgbClr val="FFDC9B"/>
              </a:gs>
              <a:gs pos="50000">
                <a:srgbClr val="FFD68D"/>
              </a:gs>
              <a:gs pos="100000">
                <a:srgbClr val="FFD478"/>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len(class_grades) will prompt to find the length of the class grade list which is 4</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4" name="Shape 474"/>
        <p:cNvGrpSpPr/>
        <p:nvPr/>
      </p:nvGrpSpPr>
      <p:grpSpPr>
        <a:xfrm>
          <a:off x="0" y="0"/>
          <a:ext cx="0" cy="0"/>
          <a:chOff x="0" y="0"/>
          <a:chExt cx="0" cy="0"/>
        </a:xfrm>
      </p:grpSpPr>
      <p:sp>
        <p:nvSpPr>
          <p:cNvPr id="475" name="Google Shape;475;p34"/>
          <p:cNvSpPr txBox="1"/>
          <p:nvPr/>
        </p:nvSpPr>
        <p:spPr>
          <a:xfrm>
            <a:off x="1182565" y="2249151"/>
            <a:ext cx="10041622" cy="212365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32C4A"/>
                </a:solidFill>
                <a:latin typeface="Arial"/>
                <a:ea typeface="Arial"/>
                <a:cs typeface="Arial"/>
                <a:sym typeface="Arial"/>
              </a:rPr>
              <a:t>Can we calculate and store the average marks of each student to a new list?</a:t>
            </a:r>
            <a:endParaRPr b="0" i="0" sz="4400" u="none" cap="none" strike="noStrike">
              <a:solidFill>
                <a:schemeClr val="dk1"/>
              </a:solidFill>
              <a:latin typeface="Arial"/>
              <a:ea typeface="Arial"/>
              <a:cs typeface="Arial"/>
              <a:sym typeface="Arial"/>
            </a:endParaRPr>
          </a:p>
        </p:txBody>
      </p:sp>
      <p:pic>
        <p:nvPicPr>
          <p:cNvPr descr="Most Affordable UK University Degree in Nepal | UK Degree in Kathmandu" id="476" name="Google Shape;476;p34"/>
          <p:cNvPicPr preferRelativeResize="0"/>
          <p:nvPr/>
        </p:nvPicPr>
        <p:blipFill rotWithShape="1">
          <a:blip r:embed="rId3">
            <a:alphaModFix amt="10000"/>
          </a:blip>
          <a:srcRect b="0" l="0" r="0" t="0"/>
          <a:stretch/>
        </p:blipFill>
        <p:spPr>
          <a:xfrm>
            <a:off x="10647554" y="142004"/>
            <a:ext cx="1428750" cy="8001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0" name="Shape 480"/>
        <p:cNvGrpSpPr/>
        <p:nvPr/>
      </p:nvGrpSpPr>
      <p:grpSpPr>
        <a:xfrm>
          <a:off x="0" y="0"/>
          <a:ext cx="0" cy="0"/>
          <a:chOff x="0" y="0"/>
          <a:chExt cx="0" cy="0"/>
        </a:xfrm>
      </p:grpSpPr>
      <p:sp>
        <p:nvSpPr>
          <p:cNvPr id="481" name="Google Shape;481;p35"/>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00B050"/>
              </a:buClr>
              <a:buSzPts val="5000"/>
              <a:buNone/>
            </a:pPr>
            <a:r>
              <a:rPr lang="en-US" sz="5000">
                <a:solidFill>
                  <a:srgbClr val="00B050"/>
                </a:solidFill>
              </a:rPr>
              <a:t>Let’s Understand Through Example</a:t>
            </a:r>
            <a:endParaRPr sz="5000">
              <a:solidFill>
                <a:srgbClr val="00B050"/>
              </a:solidFill>
              <a:latin typeface="Arial"/>
              <a:ea typeface="Arial"/>
              <a:cs typeface="Arial"/>
              <a:sym typeface="Arial"/>
            </a:endParaRPr>
          </a:p>
        </p:txBody>
      </p:sp>
      <p:graphicFrame>
        <p:nvGraphicFramePr>
          <p:cNvPr id="482" name="Google Shape;482;p35"/>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3.1. Access Tuple</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3.2. Sequences in python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3.3. Nested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Example 3</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483" name="Google Shape;483;p35"/>
          <p:cNvSpPr txBox="1"/>
          <p:nvPr/>
        </p:nvSpPr>
        <p:spPr>
          <a:xfrm>
            <a:off x="6842011" y="170126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484" name="Google Shape;484;p35"/>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485" name="Google Shape;485;p35"/>
          <p:cNvSpPr/>
          <p:nvPr/>
        </p:nvSpPr>
        <p:spPr>
          <a:xfrm>
            <a:off x="2764032" y="1447955"/>
            <a:ext cx="8793067" cy="3785652"/>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80808"/>
                </a:solidFill>
                <a:latin typeface="Arimo"/>
                <a:ea typeface="Arimo"/>
                <a:cs typeface="Arimo"/>
                <a:sym typeface="Arimo"/>
              </a:rPr>
              <a:t>k = </a:t>
            </a:r>
            <a:r>
              <a:rPr b="0" i="0" lang="en-US" sz="2400" u="none" cap="none" strike="noStrike">
                <a:solidFill>
                  <a:srgbClr val="1750EB"/>
                </a:solidFill>
                <a:latin typeface="Arimo"/>
                <a:ea typeface="Arimo"/>
                <a:cs typeface="Arimo"/>
                <a:sym typeface="Arimo"/>
              </a:rPr>
              <a:t>0</a:t>
            </a:r>
            <a:br>
              <a:rPr b="0" i="0" lang="en-US" sz="2400" u="none" cap="none" strike="noStrike">
                <a:solidFill>
                  <a:srgbClr val="1750EB"/>
                </a:solidFill>
                <a:latin typeface="Arimo"/>
                <a:ea typeface="Arimo"/>
                <a:cs typeface="Arimo"/>
                <a:sym typeface="Arimo"/>
              </a:rPr>
            </a:br>
            <a:r>
              <a:rPr b="0" i="0" lang="en-US" sz="2400" u="none" cap="none" strike="noStrike">
                <a:solidFill>
                  <a:srgbClr val="080808"/>
                </a:solidFill>
                <a:latin typeface="Arimo"/>
                <a:ea typeface="Arimo"/>
                <a:cs typeface="Arimo"/>
                <a:sym typeface="Arimo"/>
              </a:rPr>
              <a:t>exam_average = []</a:t>
            </a:r>
            <a:br>
              <a:rPr b="0" i="0" lang="en-US" sz="2400" u="none" cap="none" strike="noStrike">
                <a:solidFill>
                  <a:srgbClr val="080808"/>
                </a:solidFill>
                <a:latin typeface="Arimo"/>
                <a:ea typeface="Arimo"/>
                <a:cs typeface="Arimo"/>
                <a:sym typeface="Arimo"/>
              </a:rPr>
            </a:br>
            <a:r>
              <a:rPr b="0" i="0" lang="en-US" sz="2400" u="none" cap="none" strike="noStrike">
                <a:solidFill>
                  <a:srgbClr val="080808"/>
                </a:solidFill>
                <a:latin typeface="Arimo"/>
                <a:ea typeface="Arimo"/>
                <a:cs typeface="Arimo"/>
                <a:sym typeface="Arimo"/>
              </a:rPr>
              <a:t>class_grades = [[</a:t>
            </a:r>
            <a:r>
              <a:rPr b="0" i="0" lang="en-US" sz="2400" u="none" cap="none" strike="noStrike">
                <a:solidFill>
                  <a:srgbClr val="1750EB"/>
                </a:solidFill>
                <a:latin typeface="Arimo"/>
                <a:ea typeface="Arimo"/>
                <a:cs typeface="Arimo"/>
                <a:sym typeface="Arimo"/>
              </a:rPr>
              <a:t>85</a:t>
            </a:r>
            <a:r>
              <a:rPr b="0" i="0" lang="en-US" sz="2400" u="none" cap="none" strike="noStrike">
                <a:solidFill>
                  <a:srgbClr val="080808"/>
                </a:solidFill>
                <a:latin typeface="Arimo"/>
                <a:ea typeface="Arimo"/>
                <a:cs typeface="Arimo"/>
                <a:sym typeface="Arimo"/>
              </a:rPr>
              <a:t>, </a:t>
            </a:r>
            <a:r>
              <a:rPr b="0" i="0" lang="en-US" sz="2400" u="none" cap="none" strike="noStrike">
                <a:solidFill>
                  <a:srgbClr val="1750EB"/>
                </a:solidFill>
                <a:latin typeface="Arimo"/>
                <a:ea typeface="Arimo"/>
                <a:cs typeface="Arimo"/>
                <a:sym typeface="Arimo"/>
              </a:rPr>
              <a:t>91</a:t>
            </a:r>
            <a:r>
              <a:rPr b="0" i="0" lang="en-US" sz="2400" u="none" cap="none" strike="noStrike">
                <a:solidFill>
                  <a:srgbClr val="080808"/>
                </a:solidFill>
                <a:latin typeface="Arimo"/>
                <a:ea typeface="Arimo"/>
                <a:cs typeface="Arimo"/>
                <a:sym typeface="Arimo"/>
              </a:rPr>
              <a:t>, </a:t>
            </a:r>
            <a:r>
              <a:rPr b="0" i="0" lang="en-US" sz="2400" u="none" cap="none" strike="noStrike">
                <a:solidFill>
                  <a:srgbClr val="1750EB"/>
                </a:solidFill>
                <a:latin typeface="Arimo"/>
                <a:ea typeface="Arimo"/>
                <a:cs typeface="Arimo"/>
                <a:sym typeface="Arimo"/>
              </a:rPr>
              <a:t>89</a:t>
            </a:r>
            <a:r>
              <a:rPr b="0" i="0" lang="en-US" sz="2400" u="none" cap="none" strike="noStrike">
                <a:solidFill>
                  <a:srgbClr val="080808"/>
                </a:solidFill>
                <a:latin typeface="Arimo"/>
                <a:ea typeface="Arimo"/>
                <a:cs typeface="Arimo"/>
                <a:sym typeface="Arimo"/>
              </a:rPr>
              <a:t>], [</a:t>
            </a:r>
            <a:r>
              <a:rPr b="0" i="0" lang="en-US" sz="2400" u="none" cap="none" strike="noStrike">
                <a:solidFill>
                  <a:srgbClr val="1750EB"/>
                </a:solidFill>
                <a:latin typeface="Arimo"/>
                <a:ea typeface="Arimo"/>
                <a:cs typeface="Arimo"/>
                <a:sym typeface="Arimo"/>
              </a:rPr>
              <a:t>78</a:t>
            </a:r>
            <a:r>
              <a:rPr b="0" i="0" lang="en-US" sz="2400" u="none" cap="none" strike="noStrike">
                <a:solidFill>
                  <a:srgbClr val="080808"/>
                </a:solidFill>
                <a:latin typeface="Arimo"/>
                <a:ea typeface="Arimo"/>
                <a:cs typeface="Arimo"/>
                <a:sym typeface="Arimo"/>
              </a:rPr>
              <a:t>, </a:t>
            </a:r>
            <a:r>
              <a:rPr b="0" i="0" lang="en-US" sz="2400" u="none" cap="none" strike="noStrike">
                <a:solidFill>
                  <a:srgbClr val="1750EB"/>
                </a:solidFill>
                <a:latin typeface="Arimo"/>
                <a:ea typeface="Arimo"/>
                <a:cs typeface="Arimo"/>
                <a:sym typeface="Arimo"/>
              </a:rPr>
              <a:t>81</a:t>
            </a:r>
            <a:r>
              <a:rPr b="0" i="0" lang="en-US" sz="2400" u="none" cap="none" strike="noStrike">
                <a:solidFill>
                  <a:srgbClr val="080808"/>
                </a:solidFill>
                <a:latin typeface="Arimo"/>
                <a:ea typeface="Arimo"/>
                <a:cs typeface="Arimo"/>
                <a:sym typeface="Arimo"/>
              </a:rPr>
              <a:t>, </a:t>
            </a:r>
            <a:r>
              <a:rPr b="0" i="0" lang="en-US" sz="2400" u="none" cap="none" strike="noStrike">
                <a:solidFill>
                  <a:srgbClr val="1750EB"/>
                </a:solidFill>
                <a:latin typeface="Arimo"/>
                <a:ea typeface="Arimo"/>
                <a:cs typeface="Arimo"/>
                <a:sym typeface="Arimo"/>
              </a:rPr>
              <a:t>86</a:t>
            </a:r>
            <a:r>
              <a:rPr b="0" i="0" lang="en-US" sz="2400" u="none" cap="none" strike="noStrike">
                <a:solidFill>
                  <a:srgbClr val="080808"/>
                </a:solidFill>
                <a:latin typeface="Arimo"/>
                <a:ea typeface="Arimo"/>
                <a:cs typeface="Arimo"/>
                <a:sym typeface="Arimo"/>
              </a:rPr>
              <a:t>], [</a:t>
            </a:r>
            <a:r>
              <a:rPr b="0" i="0" lang="en-US" sz="2400" u="none" cap="none" strike="noStrike">
                <a:solidFill>
                  <a:srgbClr val="1750EB"/>
                </a:solidFill>
                <a:latin typeface="Arimo"/>
                <a:ea typeface="Arimo"/>
                <a:cs typeface="Arimo"/>
                <a:sym typeface="Arimo"/>
              </a:rPr>
              <a:t>62</a:t>
            </a:r>
            <a:r>
              <a:rPr b="0" i="0" lang="en-US" sz="2400" u="none" cap="none" strike="noStrike">
                <a:solidFill>
                  <a:srgbClr val="080808"/>
                </a:solidFill>
                <a:latin typeface="Arimo"/>
                <a:ea typeface="Arimo"/>
                <a:cs typeface="Arimo"/>
                <a:sym typeface="Arimo"/>
              </a:rPr>
              <a:t>, </a:t>
            </a:r>
            <a:r>
              <a:rPr b="0" i="0" lang="en-US" sz="2400" u="none" cap="none" strike="noStrike">
                <a:solidFill>
                  <a:srgbClr val="1750EB"/>
                </a:solidFill>
                <a:latin typeface="Arimo"/>
                <a:ea typeface="Arimo"/>
                <a:cs typeface="Arimo"/>
                <a:sym typeface="Arimo"/>
              </a:rPr>
              <a:t>75</a:t>
            </a:r>
            <a:r>
              <a:rPr b="0" i="0" lang="en-US" sz="2400" u="none" cap="none" strike="noStrike">
                <a:solidFill>
                  <a:srgbClr val="080808"/>
                </a:solidFill>
                <a:latin typeface="Arimo"/>
                <a:ea typeface="Arimo"/>
                <a:cs typeface="Arimo"/>
                <a:sym typeface="Arimo"/>
              </a:rPr>
              <a:t>, </a:t>
            </a:r>
            <a:r>
              <a:rPr b="0" i="0" lang="en-US" sz="2400" u="none" cap="none" strike="noStrike">
                <a:solidFill>
                  <a:srgbClr val="1750EB"/>
                </a:solidFill>
                <a:latin typeface="Arimo"/>
                <a:ea typeface="Arimo"/>
                <a:cs typeface="Arimo"/>
                <a:sym typeface="Arimo"/>
              </a:rPr>
              <a:t>77</a:t>
            </a:r>
            <a:r>
              <a:rPr b="0" i="0" lang="en-US" sz="2400" u="none" cap="none" strike="noStrike">
                <a:solidFill>
                  <a:srgbClr val="080808"/>
                </a:solidFill>
                <a:latin typeface="Arimo"/>
                <a:ea typeface="Arimo"/>
                <a:cs typeface="Arimo"/>
                <a:sym typeface="Arimo"/>
              </a:rPr>
              <a:t>]]</a:t>
            </a:r>
            <a:br>
              <a:rPr b="0" i="0" lang="en-US" sz="2400" u="none" cap="none" strike="noStrike">
                <a:solidFill>
                  <a:srgbClr val="080808"/>
                </a:solidFill>
                <a:latin typeface="Arimo"/>
                <a:ea typeface="Arimo"/>
                <a:cs typeface="Arimo"/>
                <a:sym typeface="Arimo"/>
              </a:rPr>
            </a:br>
            <a:r>
              <a:rPr b="0" i="0" lang="en-US" sz="2400" u="none" cap="none" strike="noStrike">
                <a:solidFill>
                  <a:srgbClr val="0033B3"/>
                </a:solidFill>
                <a:latin typeface="Arimo"/>
                <a:ea typeface="Arimo"/>
                <a:cs typeface="Arimo"/>
                <a:sym typeface="Arimo"/>
              </a:rPr>
              <a:t>while </a:t>
            </a:r>
            <a:r>
              <a:rPr b="0" i="0" lang="en-US" sz="2400" u="none" cap="none" strike="noStrike">
                <a:solidFill>
                  <a:srgbClr val="080808"/>
                </a:solidFill>
                <a:latin typeface="Arimo"/>
                <a:ea typeface="Arimo"/>
                <a:cs typeface="Arimo"/>
                <a:sym typeface="Arimo"/>
              </a:rPr>
              <a:t>k &lt; </a:t>
            </a:r>
            <a:r>
              <a:rPr b="0" i="0" lang="en-US" sz="2400" u="none" cap="none" strike="noStrike">
                <a:solidFill>
                  <a:srgbClr val="000080"/>
                </a:solidFill>
                <a:latin typeface="Arimo"/>
                <a:ea typeface="Arimo"/>
                <a:cs typeface="Arimo"/>
                <a:sym typeface="Arimo"/>
              </a:rPr>
              <a:t>len</a:t>
            </a:r>
            <a:r>
              <a:rPr b="0" i="0" lang="en-US" sz="2400" u="none" cap="none" strike="noStrike">
                <a:solidFill>
                  <a:srgbClr val="080808"/>
                </a:solidFill>
                <a:latin typeface="Arimo"/>
                <a:ea typeface="Arimo"/>
                <a:cs typeface="Arimo"/>
                <a:sym typeface="Arimo"/>
              </a:rPr>
              <a:t>(class_grades):</a:t>
            </a:r>
            <a:br>
              <a:rPr b="0" i="0" lang="en-US" sz="2400" u="none" cap="none" strike="noStrike">
                <a:solidFill>
                  <a:srgbClr val="080808"/>
                </a:solidFill>
                <a:latin typeface="Arimo"/>
                <a:ea typeface="Arimo"/>
                <a:cs typeface="Arimo"/>
                <a:sym typeface="Arimo"/>
              </a:rPr>
            </a:br>
            <a:r>
              <a:rPr b="0" i="0" lang="en-US" sz="2400" u="none" cap="none" strike="noStrike">
                <a:solidFill>
                  <a:srgbClr val="080808"/>
                </a:solidFill>
                <a:latin typeface="Arimo"/>
                <a:ea typeface="Arimo"/>
                <a:cs typeface="Arimo"/>
                <a:sym typeface="Arimo"/>
              </a:rPr>
              <a:t>    sum = class_grades[k][</a:t>
            </a:r>
            <a:r>
              <a:rPr b="0" i="0" lang="en-US" sz="2400" u="none" cap="none" strike="noStrike">
                <a:solidFill>
                  <a:srgbClr val="1750EB"/>
                </a:solidFill>
                <a:latin typeface="Arimo"/>
                <a:ea typeface="Arimo"/>
                <a:cs typeface="Arimo"/>
                <a:sym typeface="Arimo"/>
              </a:rPr>
              <a:t>0</a:t>
            </a:r>
            <a:r>
              <a:rPr b="0" i="0" lang="en-US" sz="2400" u="none" cap="none" strike="noStrike">
                <a:solidFill>
                  <a:srgbClr val="080808"/>
                </a:solidFill>
                <a:latin typeface="Arimo"/>
                <a:ea typeface="Arimo"/>
                <a:cs typeface="Arimo"/>
                <a:sym typeface="Arimo"/>
              </a:rPr>
              <a:t>] + class_grades[k][</a:t>
            </a:r>
            <a:r>
              <a:rPr b="0" i="0" lang="en-US" sz="2400" u="none" cap="none" strike="noStrike">
                <a:solidFill>
                  <a:srgbClr val="1750EB"/>
                </a:solidFill>
                <a:latin typeface="Arimo"/>
                <a:ea typeface="Arimo"/>
                <a:cs typeface="Arimo"/>
                <a:sym typeface="Arimo"/>
              </a:rPr>
              <a:t>1</a:t>
            </a:r>
            <a:r>
              <a:rPr b="0" i="0" lang="en-US" sz="2400" u="none" cap="none" strike="noStrike">
                <a:solidFill>
                  <a:srgbClr val="080808"/>
                </a:solidFill>
                <a:latin typeface="Arimo"/>
                <a:ea typeface="Arimo"/>
                <a:cs typeface="Arimo"/>
                <a:sym typeface="Arimo"/>
              </a:rPr>
              <a:t>] + class_grades[k][</a:t>
            </a:r>
            <a:r>
              <a:rPr b="0" i="0" lang="en-US" sz="2400" u="none" cap="none" strike="noStrike">
                <a:solidFill>
                  <a:srgbClr val="1750EB"/>
                </a:solidFill>
                <a:latin typeface="Arimo"/>
                <a:ea typeface="Arimo"/>
                <a:cs typeface="Arimo"/>
                <a:sym typeface="Arimo"/>
              </a:rPr>
              <a:t>2</a:t>
            </a:r>
            <a:r>
              <a:rPr b="0" i="0" lang="en-US" sz="2400" u="none" cap="none" strike="noStrike">
                <a:solidFill>
                  <a:srgbClr val="080808"/>
                </a:solidFill>
                <a:latin typeface="Arimo"/>
                <a:ea typeface="Arimo"/>
                <a:cs typeface="Arimo"/>
                <a:sym typeface="Arimo"/>
              </a:rPr>
              <a:t>]</a:t>
            </a:r>
            <a:br>
              <a:rPr b="0" i="0" lang="en-US" sz="2400" u="none" cap="none" strike="noStrike">
                <a:solidFill>
                  <a:srgbClr val="080808"/>
                </a:solidFill>
                <a:latin typeface="Arimo"/>
                <a:ea typeface="Arimo"/>
                <a:cs typeface="Arimo"/>
                <a:sym typeface="Arimo"/>
              </a:rPr>
            </a:br>
            <a:r>
              <a:rPr b="0" i="0" lang="en-US" sz="2400" u="none" cap="none" strike="noStrike">
                <a:solidFill>
                  <a:srgbClr val="080808"/>
                </a:solidFill>
                <a:latin typeface="Arimo"/>
                <a:ea typeface="Arimo"/>
                <a:cs typeface="Arimo"/>
                <a:sym typeface="Arimo"/>
              </a:rPr>
              <a:t>    k+=</a:t>
            </a:r>
            <a:r>
              <a:rPr b="0" i="0" lang="en-US" sz="2400" u="none" cap="none" strike="noStrike">
                <a:solidFill>
                  <a:srgbClr val="1750EB"/>
                </a:solidFill>
                <a:latin typeface="Arimo"/>
                <a:ea typeface="Arimo"/>
                <a:cs typeface="Arimo"/>
                <a:sym typeface="Arimo"/>
              </a:rPr>
              <a:t>1</a:t>
            </a:r>
            <a:br>
              <a:rPr b="0" i="0" lang="en-US" sz="2400" u="none" cap="none" strike="noStrike">
                <a:solidFill>
                  <a:srgbClr val="1750EB"/>
                </a:solidFill>
                <a:latin typeface="Arimo"/>
                <a:ea typeface="Arimo"/>
                <a:cs typeface="Arimo"/>
                <a:sym typeface="Arimo"/>
              </a:rPr>
            </a:br>
            <a:r>
              <a:rPr b="0" i="0" lang="en-US" sz="2400" u="none" cap="none" strike="noStrike">
                <a:solidFill>
                  <a:srgbClr val="1750EB"/>
                </a:solidFill>
                <a:latin typeface="Arimo"/>
                <a:ea typeface="Arimo"/>
                <a:cs typeface="Arimo"/>
                <a:sym typeface="Arimo"/>
              </a:rPr>
              <a:t>    </a:t>
            </a:r>
            <a:r>
              <a:rPr b="0" i="0" lang="en-US" sz="2400" u="none" cap="none" strike="noStrike">
                <a:solidFill>
                  <a:srgbClr val="080808"/>
                </a:solidFill>
                <a:latin typeface="Arimo"/>
                <a:ea typeface="Arimo"/>
                <a:cs typeface="Arimo"/>
                <a:sym typeface="Arimo"/>
              </a:rPr>
              <a:t>average = sum/</a:t>
            </a:r>
            <a:r>
              <a:rPr b="0" i="0" lang="en-US" sz="2400" u="none" cap="none" strike="noStrike">
                <a:solidFill>
                  <a:srgbClr val="1750EB"/>
                </a:solidFill>
                <a:latin typeface="Arimo"/>
                <a:ea typeface="Arimo"/>
                <a:cs typeface="Arimo"/>
                <a:sym typeface="Arimo"/>
              </a:rPr>
              <a:t>3.0</a:t>
            </a:r>
            <a:br>
              <a:rPr b="0" i="0" lang="en-US" sz="2400" u="none" cap="none" strike="noStrike">
                <a:solidFill>
                  <a:srgbClr val="1750EB"/>
                </a:solidFill>
                <a:latin typeface="Arimo"/>
                <a:ea typeface="Arimo"/>
                <a:cs typeface="Arimo"/>
                <a:sym typeface="Arimo"/>
              </a:rPr>
            </a:br>
            <a:r>
              <a:rPr b="0" i="0" lang="en-US" sz="2400" u="none" cap="none" strike="noStrike">
                <a:solidFill>
                  <a:srgbClr val="1750EB"/>
                </a:solidFill>
                <a:latin typeface="Arimo"/>
                <a:ea typeface="Arimo"/>
                <a:cs typeface="Arimo"/>
                <a:sym typeface="Arimo"/>
              </a:rPr>
              <a:t>    </a:t>
            </a:r>
            <a:r>
              <a:rPr b="0" i="0" lang="en-US" sz="2400" u="none" cap="none" strike="noStrike">
                <a:solidFill>
                  <a:srgbClr val="080808"/>
                </a:solidFill>
                <a:latin typeface="Arimo"/>
                <a:ea typeface="Arimo"/>
                <a:cs typeface="Arimo"/>
                <a:sym typeface="Arimo"/>
              </a:rPr>
              <a:t>exam_average.append(average)</a:t>
            </a:r>
            <a:br>
              <a:rPr b="0" i="0" lang="en-US" sz="2400" u="none" cap="none" strike="noStrike">
                <a:solidFill>
                  <a:srgbClr val="080808"/>
                </a:solidFill>
                <a:latin typeface="Arimo"/>
                <a:ea typeface="Arimo"/>
                <a:cs typeface="Arimo"/>
                <a:sym typeface="Arimo"/>
              </a:rPr>
            </a:br>
            <a:r>
              <a:rPr b="0" i="0" lang="en-US" sz="2400" u="none" cap="none" strike="noStrike">
                <a:solidFill>
                  <a:srgbClr val="000080"/>
                </a:solidFill>
                <a:latin typeface="Arimo"/>
                <a:ea typeface="Arimo"/>
                <a:cs typeface="Arimo"/>
                <a:sym typeface="Arimo"/>
              </a:rPr>
              <a:t>print</a:t>
            </a:r>
            <a:r>
              <a:rPr b="0" i="0" lang="en-US" sz="2400" u="none" cap="none" strike="noStrike">
                <a:solidFill>
                  <a:srgbClr val="080808"/>
                </a:solidFill>
                <a:latin typeface="Arimo"/>
                <a:ea typeface="Arimo"/>
                <a:cs typeface="Arimo"/>
                <a:sym typeface="Arimo"/>
              </a:rPr>
              <a:t>(exam_average)</a:t>
            </a:r>
            <a:endParaRPr b="0" i="0" sz="4800" u="none" cap="none" strike="noStrike">
              <a:solidFill>
                <a:schemeClr val="dk1"/>
              </a:solidFill>
              <a:latin typeface="Arial"/>
              <a:ea typeface="Arial"/>
              <a:cs typeface="Arial"/>
              <a:sym typeface="Arial"/>
            </a:endParaRPr>
          </a:p>
        </p:txBody>
      </p:sp>
      <p:sp>
        <p:nvSpPr>
          <p:cNvPr id="486" name="Google Shape;486;p35"/>
          <p:cNvSpPr/>
          <p:nvPr/>
        </p:nvSpPr>
        <p:spPr>
          <a:xfrm>
            <a:off x="2693324" y="1346221"/>
            <a:ext cx="7994700" cy="4283100"/>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7" name="Google Shape;487;p35"/>
          <p:cNvSpPr/>
          <p:nvPr/>
        </p:nvSpPr>
        <p:spPr>
          <a:xfrm>
            <a:off x="7911507" y="4210050"/>
            <a:ext cx="4075500" cy="2157900"/>
          </a:xfrm>
          <a:prstGeom prst="rect">
            <a:avLst/>
          </a:prstGeom>
          <a:gradFill>
            <a:gsLst>
              <a:gs pos="0">
                <a:srgbClr val="FFDC9B"/>
              </a:gs>
              <a:gs pos="50000">
                <a:srgbClr val="FFD68D"/>
              </a:gs>
              <a:gs pos="100000">
                <a:srgbClr val="FFD478"/>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Here, we can see that, an empty list is initialised in order to append the average marks of each students in all the modules. In future, while this is a much essential concept.</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6"/>
          <p:cNvSpPr txBox="1"/>
          <p:nvPr/>
        </p:nvSpPr>
        <p:spPr>
          <a:xfrm>
            <a:off x="1116424" y="2763501"/>
            <a:ext cx="10041622"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32C4A"/>
                </a:solidFill>
                <a:latin typeface="Arial"/>
                <a:ea typeface="Arial"/>
                <a:cs typeface="Arial"/>
                <a:sym typeface="Arial"/>
              </a:rPr>
              <a:t>Iterating Over a List.</a:t>
            </a:r>
            <a:endParaRPr b="0" i="0" sz="4400" u="none" cap="none" strike="noStrike">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37"/>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5000"/>
              <a:buNone/>
            </a:pPr>
            <a:r>
              <a:rPr lang="en-US" sz="5000"/>
              <a:t>Iterating over Lists (Sequence)</a:t>
            </a:r>
            <a:endParaRPr sz="5000">
              <a:latin typeface="Arial"/>
              <a:ea typeface="Arial"/>
              <a:cs typeface="Arial"/>
              <a:sym typeface="Arial"/>
            </a:endParaRPr>
          </a:p>
        </p:txBody>
      </p:sp>
      <p:graphicFrame>
        <p:nvGraphicFramePr>
          <p:cNvPr id="498" name="Google Shape;498;p37"/>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3.1. Access Tuple</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3.2. Sequences in python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3.3. Nested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4. Iteration over Lists</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499" name="Google Shape;499;p37"/>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500" name="Google Shape;500;p37"/>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501" name="Google Shape;501;p37"/>
          <p:cNvSpPr/>
          <p:nvPr/>
        </p:nvSpPr>
        <p:spPr>
          <a:xfrm>
            <a:off x="2693323" y="1359494"/>
            <a:ext cx="9177251"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As we discussed last week, iteration is used in various concept of programming. </a:t>
            </a:r>
            <a:endParaRPr b="0" i="0" sz="1400" u="none" cap="none" strike="noStrike">
              <a:solidFill>
                <a:srgbClr val="000000"/>
              </a:solidFill>
              <a:latin typeface="Arial"/>
              <a:ea typeface="Arial"/>
              <a:cs typeface="Arial"/>
              <a:sym typeface="Arial"/>
            </a:endParaRPr>
          </a:p>
        </p:txBody>
      </p:sp>
      <p:sp>
        <p:nvSpPr>
          <p:cNvPr id="502" name="Google Shape;502;p37"/>
          <p:cNvSpPr/>
          <p:nvPr/>
        </p:nvSpPr>
        <p:spPr>
          <a:xfrm>
            <a:off x="2809702" y="5187867"/>
            <a:ext cx="91773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For loops are used to construct definite loops.</a:t>
            </a:r>
            <a:endParaRPr b="1" i="0" sz="2400" u="none" cap="none" strike="noStrike">
              <a:solidFill>
                <a:srgbClr val="FF0000"/>
              </a:solidFill>
              <a:latin typeface="Arial"/>
              <a:ea typeface="Arial"/>
              <a:cs typeface="Arial"/>
              <a:sym typeface="Arial"/>
            </a:endParaRPr>
          </a:p>
        </p:txBody>
      </p:sp>
      <p:sp>
        <p:nvSpPr>
          <p:cNvPr id="503" name="Google Shape;503;p37"/>
          <p:cNvSpPr/>
          <p:nvPr/>
        </p:nvSpPr>
        <p:spPr>
          <a:xfrm>
            <a:off x="2693323" y="2363467"/>
            <a:ext cx="9177251"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Python </a:t>
            </a:r>
            <a:r>
              <a:rPr b="1" i="0" lang="en-US" sz="2400" u="none" cap="none" strike="noStrike">
                <a:solidFill>
                  <a:srgbClr val="D4650A"/>
                </a:solidFill>
                <a:latin typeface="Arial"/>
                <a:ea typeface="Arial"/>
                <a:cs typeface="Arial"/>
                <a:sym typeface="Arial"/>
              </a:rPr>
              <a:t>for statement </a:t>
            </a:r>
            <a:r>
              <a:rPr b="0" i="0" lang="en-US" sz="2400" u="none" cap="none" strike="noStrike">
                <a:solidFill>
                  <a:schemeClr val="dk1"/>
                </a:solidFill>
                <a:latin typeface="Arial"/>
                <a:ea typeface="Arial"/>
                <a:cs typeface="Arial"/>
                <a:sym typeface="Arial"/>
              </a:rPr>
              <a:t>provides a convenient means of iterating over lists (and other sequences).</a:t>
            </a:r>
            <a:endParaRPr b="0" i="0" sz="1400" u="none" cap="none" strike="noStrike">
              <a:solidFill>
                <a:srgbClr val="000000"/>
              </a:solidFill>
              <a:latin typeface="Arial"/>
              <a:ea typeface="Arial"/>
              <a:cs typeface="Arial"/>
              <a:sym typeface="Arial"/>
            </a:endParaRPr>
          </a:p>
        </p:txBody>
      </p:sp>
      <p:sp>
        <p:nvSpPr>
          <p:cNvPr id="504" name="Google Shape;504;p37"/>
          <p:cNvSpPr/>
          <p:nvPr/>
        </p:nvSpPr>
        <p:spPr>
          <a:xfrm>
            <a:off x="2693323" y="3350993"/>
            <a:ext cx="9177251"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for statement </a:t>
            </a:r>
            <a:r>
              <a:rPr b="0" i="0" lang="en-US" sz="2400" u="none" cap="none" strike="noStrike">
                <a:solidFill>
                  <a:schemeClr val="dk1"/>
                </a:solidFill>
                <a:latin typeface="Arial"/>
                <a:ea typeface="Arial"/>
                <a:cs typeface="Arial"/>
                <a:sym typeface="Arial"/>
              </a:rPr>
              <a:t>[</a:t>
            </a:r>
            <a:r>
              <a:rPr b="1" i="0" lang="en-US" sz="2400" u="none" cap="none" strike="noStrike">
                <a:solidFill>
                  <a:srgbClr val="D4650A"/>
                </a:solidFill>
                <a:latin typeface="Arial"/>
                <a:ea typeface="Arial"/>
                <a:cs typeface="Arial"/>
                <a:sym typeface="Arial"/>
              </a:rPr>
              <a:t>Definition</a:t>
            </a:r>
            <a:r>
              <a:rPr b="0" i="0" lang="en-US" sz="2400" u="none" cap="none" strike="noStrike">
                <a:solidFill>
                  <a:schemeClr val="dk1"/>
                </a:solidFill>
                <a:latin typeface="Arial"/>
                <a:ea typeface="Arial"/>
                <a:cs typeface="Arial"/>
                <a:sym typeface="Arial"/>
              </a:rPr>
              <a:t>]: A </a:t>
            </a:r>
            <a:r>
              <a:rPr b="0" i="0" lang="en-US" sz="2400" u="none" cap="none" strike="noStrike">
                <a:solidFill>
                  <a:srgbClr val="D4650A"/>
                </a:solidFill>
                <a:latin typeface="Arial"/>
                <a:ea typeface="Arial"/>
                <a:cs typeface="Arial"/>
                <a:sym typeface="Arial"/>
              </a:rPr>
              <a:t>for statement </a:t>
            </a:r>
            <a:r>
              <a:rPr b="0" i="0" lang="en-US" sz="2400" u="none" cap="none" strike="noStrike">
                <a:solidFill>
                  <a:schemeClr val="dk1"/>
                </a:solidFill>
                <a:latin typeface="Arial"/>
                <a:ea typeface="Arial"/>
                <a:cs typeface="Arial"/>
                <a:sym typeface="Arial"/>
              </a:rPr>
              <a:t>is an iterative control statement that iterates once for each element in a specified sequence of elements.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8"/>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5000"/>
              <a:buNone/>
            </a:pPr>
            <a:r>
              <a:rPr lang="en-US" sz="5000"/>
              <a:t>For Statements in Sequence</a:t>
            </a:r>
            <a:endParaRPr sz="5000">
              <a:latin typeface="Arial"/>
              <a:ea typeface="Arial"/>
              <a:cs typeface="Arial"/>
              <a:sym typeface="Arial"/>
            </a:endParaRPr>
          </a:p>
        </p:txBody>
      </p:sp>
      <p:graphicFrame>
        <p:nvGraphicFramePr>
          <p:cNvPr id="510" name="Google Shape;510;p38"/>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3.1. Access Tuple</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3.2. Sequences in python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3.3. Nested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For statement in Sequence</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txBody>
                  <a:tcPr marT="45725" marB="45725" marR="91450" marL="91450"/>
                </a:tc>
              </a:tr>
            </a:tbl>
          </a:graphicData>
        </a:graphic>
      </p:graphicFrame>
      <p:sp>
        <p:nvSpPr>
          <p:cNvPr id="511" name="Google Shape;511;p38"/>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512" name="Google Shape;512;p38"/>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513" name="Google Shape;513;p38"/>
          <p:cNvSpPr/>
          <p:nvPr/>
        </p:nvSpPr>
        <p:spPr>
          <a:xfrm>
            <a:off x="2585258" y="4333696"/>
            <a:ext cx="9177251"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Variable</a:t>
            </a:r>
            <a:r>
              <a:rPr b="0" i="0" lang="en-US" sz="2400" u="none" cap="none" strike="noStrike">
                <a:solidFill>
                  <a:srgbClr val="D4650A"/>
                </a:solidFill>
                <a:latin typeface="Arial"/>
                <a:ea typeface="Arial"/>
                <a:cs typeface="Arial"/>
                <a:sym typeface="Arial"/>
              </a:rPr>
              <a:t> k </a:t>
            </a:r>
            <a:r>
              <a:rPr b="0" i="0" lang="en-US" sz="2400" u="none" cap="none" strike="noStrike">
                <a:solidFill>
                  <a:schemeClr val="dk1"/>
                </a:solidFill>
                <a:latin typeface="Arial"/>
                <a:ea typeface="Arial"/>
                <a:cs typeface="Arial"/>
                <a:sym typeface="Arial"/>
              </a:rPr>
              <a:t>is referred to as a </a:t>
            </a:r>
            <a:r>
              <a:rPr b="1" i="0" lang="en-US" sz="2400" u="none" cap="none" strike="noStrike">
                <a:solidFill>
                  <a:srgbClr val="D4650A"/>
                </a:solidFill>
                <a:latin typeface="Arial"/>
                <a:ea typeface="Arial"/>
                <a:cs typeface="Arial"/>
                <a:sym typeface="Arial"/>
              </a:rPr>
              <a:t>loop variable</a:t>
            </a:r>
            <a:r>
              <a:rPr b="0" i="0" lang="en-US" sz="2400" u="none" cap="none" strike="noStrike">
                <a:solidFill>
                  <a:schemeClr val="dk1"/>
                </a:solidFill>
                <a:latin typeface="Arial"/>
                <a:ea typeface="Arial"/>
                <a:cs typeface="Arial"/>
                <a:sym typeface="Arial"/>
              </a:rPr>
              <a:t>. Since there are six elements in the provided list, the for loop iterates exactly six times.</a:t>
            </a:r>
            <a:endParaRPr b="0" i="0" sz="1400" u="none" cap="none" strike="noStrike">
              <a:solidFill>
                <a:srgbClr val="000000"/>
              </a:solidFill>
              <a:latin typeface="Arial"/>
              <a:ea typeface="Arial"/>
              <a:cs typeface="Arial"/>
              <a:sym typeface="Arial"/>
            </a:endParaRPr>
          </a:p>
        </p:txBody>
      </p:sp>
      <p:pic>
        <p:nvPicPr>
          <p:cNvPr id="514" name="Google Shape;514;p38"/>
          <p:cNvPicPr preferRelativeResize="0"/>
          <p:nvPr/>
        </p:nvPicPr>
        <p:blipFill rotWithShape="1">
          <a:blip r:embed="rId3">
            <a:alphaModFix/>
          </a:blip>
          <a:srcRect b="0" l="0" r="0" t="0"/>
          <a:stretch/>
        </p:blipFill>
        <p:spPr>
          <a:xfrm>
            <a:off x="2984268" y="1861480"/>
            <a:ext cx="8595360" cy="220798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9"/>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5000"/>
              <a:buNone/>
            </a:pPr>
            <a:r>
              <a:rPr lang="en-US" sz="5000">
                <a:latin typeface="Arial"/>
                <a:ea typeface="Arial"/>
                <a:cs typeface="Arial"/>
                <a:sym typeface="Arial"/>
              </a:rPr>
              <a:t>(</a:t>
            </a:r>
            <a:r>
              <a:rPr lang="en-US" sz="5000">
                <a:solidFill>
                  <a:srgbClr val="00B0F0"/>
                </a:solidFill>
                <a:latin typeface="Arial"/>
                <a:ea typeface="Arial"/>
                <a:cs typeface="Arial"/>
                <a:sym typeface="Arial"/>
              </a:rPr>
              <a:t>For</a:t>
            </a:r>
            <a:r>
              <a:rPr lang="en-US" sz="5000">
                <a:latin typeface="Arial"/>
                <a:ea typeface="Arial"/>
                <a:cs typeface="Arial"/>
                <a:sym typeface="Arial"/>
              </a:rPr>
              <a:t> vs. </a:t>
            </a:r>
            <a:r>
              <a:rPr lang="en-US" sz="5000">
                <a:solidFill>
                  <a:srgbClr val="00B050"/>
                </a:solidFill>
                <a:latin typeface="Arial"/>
                <a:ea typeface="Arial"/>
                <a:cs typeface="Arial"/>
                <a:sym typeface="Arial"/>
              </a:rPr>
              <a:t>While</a:t>
            </a:r>
            <a:r>
              <a:rPr lang="en-US" sz="5000">
                <a:latin typeface="Arial"/>
                <a:ea typeface="Arial"/>
                <a:cs typeface="Arial"/>
                <a:sym typeface="Arial"/>
              </a:rPr>
              <a:t>) Statements</a:t>
            </a:r>
            <a:endParaRPr sz="5000">
              <a:latin typeface="Arial"/>
              <a:ea typeface="Arial"/>
              <a:cs typeface="Arial"/>
              <a:sym typeface="Arial"/>
            </a:endParaRPr>
          </a:p>
        </p:txBody>
      </p:sp>
      <p:graphicFrame>
        <p:nvGraphicFramePr>
          <p:cNvPr id="520" name="Google Shape;520;p39"/>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3.1. Access Tuple</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3.2. Sequences in python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3.3. Nested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4.1. For vs. while statements</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521" name="Google Shape;521;p39"/>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522" name="Google Shape;522;p39"/>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523" name="Google Shape;523;p39"/>
          <p:cNvSpPr/>
          <p:nvPr/>
        </p:nvSpPr>
        <p:spPr>
          <a:xfrm>
            <a:off x="2585258" y="1449936"/>
            <a:ext cx="9177251"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To contrast the use of for loops and while loops for list iteration, the same iteration is provided as a while loop below:</a:t>
            </a:r>
            <a:endParaRPr b="0" i="0" sz="1400" u="none" cap="none" strike="noStrike">
              <a:solidFill>
                <a:srgbClr val="000000"/>
              </a:solidFill>
              <a:latin typeface="Arial"/>
              <a:ea typeface="Arial"/>
              <a:cs typeface="Arial"/>
              <a:sym typeface="Arial"/>
            </a:endParaRPr>
          </a:p>
        </p:txBody>
      </p:sp>
      <p:sp>
        <p:nvSpPr>
          <p:cNvPr id="524" name="Google Shape;524;p39"/>
          <p:cNvSpPr/>
          <p:nvPr/>
        </p:nvSpPr>
        <p:spPr>
          <a:xfrm>
            <a:off x="3106714" y="2725931"/>
            <a:ext cx="8350469"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k = 0						</a:t>
            </a:r>
            <a:br>
              <a:rPr b="1" i="0" lang="en-US" sz="2400" u="none" cap="none" strike="noStrike">
                <a:solidFill>
                  <a:srgbClr val="FF0000"/>
                </a:solidFill>
                <a:latin typeface="Arial"/>
                <a:ea typeface="Arial"/>
                <a:cs typeface="Arial"/>
                <a:sym typeface="Arial"/>
              </a:rPr>
            </a:br>
            <a:r>
              <a:rPr b="1" i="0" lang="en-US" sz="2400" u="none" cap="none" strike="noStrike">
                <a:solidFill>
                  <a:srgbClr val="FF0000"/>
                </a:solidFill>
                <a:latin typeface="Arial"/>
                <a:ea typeface="Arial"/>
                <a:cs typeface="Arial"/>
                <a:sym typeface="Arial"/>
              </a:rPr>
              <a:t>while k &lt; len(nums):			 for k in nums:</a:t>
            </a:r>
            <a:br>
              <a:rPr b="1" i="0" lang="en-US" sz="2400" u="none" cap="none" strike="noStrike">
                <a:solidFill>
                  <a:srgbClr val="FF0000"/>
                </a:solidFill>
                <a:latin typeface="Arial"/>
                <a:ea typeface="Arial"/>
                <a:cs typeface="Arial"/>
                <a:sym typeface="Arial"/>
              </a:rPr>
            </a:br>
            <a:r>
              <a:rPr b="1" i="0" lang="en-US" sz="2400" u="none" cap="none" strike="noStrike">
                <a:solidFill>
                  <a:srgbClr val="FF0000"/>
                </a:solidFill>
                <a:latin typeface="Arial"/>
                <a:ea typeface="Arial"/>
                <a:cs typeface="Arial"/>
                <a:sym typeface="Arial"/>
              </a:rPr>
              <a:t>	print (nums[k])			 	 print(k)</a:t>
            </a:r>
            <a:br>
              <a:rPr b="1" i="0" lang="en-US" sz="2400" u="none" cap="none" strike="noStrike">
                <a:solidFill>
                  <a:srgbClr val="FF0000"/>
                </a:solidFill>
                <a:latin typeface="Arial"/>
                <a:ea typeface="Arial"/>
                <a:cs typeface="Arial"/>
                <a:sym typeface="Arial"/>
              </a:rPr>
            </a:br>
            <a:r>
              <a:rPr b="1" i="0" lang="en-US" sz="2400" u="none" cap="none" strike="noStrike">
                <a:solidFill>
                  <a:srgbClr val="FF0000"/>
                </a:solidFill>
                <a:latin typeface="Arial"/>
                <a:ea typeface="Arial"/>
                <a:cs typeface="Arial"/>
                <a:sym typeface="Arial"/>
              </a:rPr>
              <a:t>	k = k + 1</a:t>
            </a:r>
            <a:endParaRPr b="0" i="0" sz="1400" u="none" cap="none" strike="noStrike">
              <a:solidFill>
                <a:srgbClr val="000000"/>
              </a:solidFill>
              <a:latin typeface="Arial"/>
              <a:ea typeface="Arial"/>
              <a:cs typeface="Arial"/>
              <a:sym typeface="Arial"/>
            </a:endParaRPr>
          </a:p>
        </p:txBody>
      </p:sp>
      <p:sp>
        <p:nvSpPr>
          <p:cNvPr id="525" name="Google Shape;525;p39"/>
          <p:cNvSpPr/>
          <p:nvPr/>
        </p:nvSpPr>
        <p:spPr>
          <a:xfrm>
            <a:off x="2693324" y="4666725"/>
            <a:ext cx="9177251" cy="193899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 the while loop version, loop variable k must be initialized to 0 and incremented (by 1) each time through the loop. In the for loop version, however, loop variable k automatically iterates over the provided sequence of values making the syntax much more succinct.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0"/>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5000"/>
              <a:buNone/>
            </a:pPr>
            <a:r>
              <a:rPr lang="en-US" sz="5000">
                <a:latin typeface="Arial"/>
                <a:ea typeface="Arial"/>
                <a:cs typeface="Arial"/>
                <a:sym typeface="Arial"/>
              </a:rPr>
              <a:t>For statement for all sequences</a:t>
            </a:r>
            <a:endParaRPr sz="5000">
              <a:latin typeface="Arial"/>
              <a:ea typeface="Arial"/>
              <a:cs typeface="Arial"/>
              <a:sym typeface="Arial"/>
            </a:endParaRPr>
          </a:p>
        </p:txBody>
      </p:sp>
      <p:graphicFrame>
        <p:nvGraphicFramePr>
          <p:cNvPr id="531" name="Google Shape;531;p40"/>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3.1. Access Tuple</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3.2. Sequences in python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3.3. Nested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4.1. For vs. while statements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4.2. For statement for all sequences</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532" name="Google Shape;532;p40"/>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533" name="Google Shape;533;p40"/>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534" name="Google Shape;534;p40"/>
          <p:cNvSpPr/>
          <p:nvPr/>
        </p:nvSpPr>
        <p:spPr>
          <a:xfrm>
            <a:off x="2585258" y="1449936"/>
            <a:ext cx="9177251"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 </a:t>
            </a:r>
            <a:r>
              <a:rPr b="0" i="0" lang="en-US" sz="2400" u="none" cap="none" strike="noStrike">
                <a:solidFill>
                  <a:srgbClr val="D4650A"/>
                </a:solidFill>
                <a:latin typeface="Arial"/>
                <a:ea typeface="Arial"/>
                <a:cs typeface="Arial"/>
                <a:sym typeface="Arial"/>
              </a:rPr>
              <a:t>for statement </a:t>
            </a:r>
            <a:r>
              <a:rPr b="0" i="0" lang="en-US" sz="2400" u="none" cap="none" strike="noStrike">
                <a:solidFill>
                  <a:schemeClr val="dk1"/>
                </a:solidFill>
                <a:latin typeface="Arial"/>
                <a:ea typeface="Arial"/>
                <a:cs typeface="Arial"/>
                <a:sym typeface="Arial"/>
              </a:rPr>
              <a:t>can be applied to all sequences types including strings.</a:t>
            </a:r>
            <a:endParaRPr b="0" i="0" sz="1400" u="none" cap="none" strike="noStrike">
              <a:solidFill>
                <a:srgbClr val="000000"/>
              </a:solidFill>
              <a:latin typeface="Arial"/>
              <a:ea typeface="Arial"/>
              <a:cs typeface="Arial"/>
              <a:sym typeface="Arial"/>
            </a:endParaRPr>
          </a:p>
        </p:txBody>
      </p:sp>
      <p:sp>
        <p:nvSpPr>
          <p:cNvPr id="535" name="Google Shape;535;p40"/>
          <p:cNvSpPr/>
          <p:nvPr/>
        </p:nvSpPr>
        <p:spPr>
          <a:xfrm>
            <a:off x="3106715" y="2725931"/>
            <a:ext cx="3685486"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for ch in 'Hello':</a:t>
            </a:r>
            <a:br>
              <a:rPr b="1" i="0" lang="en-US" sz="2400" u="none" cap="none" strike="noStrike">
                <a:solidFill>
                  <a:srgbClr val="FF0000"/>
                </a:solidFill>
                <a:latin typeface="Arial"/>
                <a:ea typeface="Arial"/>
                <a:cs typeface="Arial"/>
                <a:sym typeface="Arial"/>
              </a:rPr>
            </a:br>
            <a:r>
              <a:rPr b="1" i="0" lang="en-US" sz="2400" u="none" cap="none" strike="noStrike">
                <a:solidFill>
                  <a:srgbClr val="FF0000"/>
                </a:solidFill>
                <a:latin typeface="Arial"/>
                <a:ea typeface="Arial"/>
                <a:cs typeface="Arial"/>
                <a:sym typeface="Arial"/>
              </a:rPr>
              <a:t>	print(ch)</a:t>
            </a:r>
            <a:endParaRPr b="0" i="0" sz="1400" u="none" cap="none" strike="noStrike">
              <a:solidFill>
                <a:srgbClr val="000000"/>
              </a:solidFill>
              <a:latin typeface="Arial"/>
              <a:ea typeface="Arial"/>
              <a:cs typeface="Arial"/>
              <a:sym typeface="Arial"/>
            </a:endParaRPr>
          </a:p>
        </p:txBody>
      </p:sp>
      <p:sp>
        <p:nvSpPr>
          <p:cNvPr id="536" name="Google Shape;536;p40"/>
          <p:cNvSpPr/>
          <p:nvPr/>
        </p:nvSpPr>
        <p:spPr>
          <a:xfrm>
            <a:off x="3106714" y="4001926"/>
            <a:ext cx="881962"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H</a:t>
            </a:r>
            <a:br>
              <a:rPr b="1" i="0" lang="en-US" sz="2400" u="none" cap="none" strike="noStrike">
                <a:solidFill>
                  <a:schemeClr val="dk1"/>
                </a:solidFill>
                <a:latin typeface="Arial"/>
                <a:ea typeface="Arial"/>
                <a:cs typeface="Arial"/>
                <a:sym typeface="Arial"/>
              </a:rPr>
            </a:br>
            <a:r>
              <a:rPr b="1" i="0" lang="en-US" sz="2400" u="none" cap="none" strike="noStrike">
                <a:solidFill>
                  <a:schemeClr val="dk1"/>
                </a:solidFill>
                <a:latin typeface="Arial"/>
                <a:ea typeface="Arial"/>
                <a:cs typeface="Arial"/>
                <a:sym typeface="Arial"/>
              </a:rPr>
              <a:t>e</a:t>
            </a:r>
            <a:br>
              <a:rPr b="1" i="0" lang="en-US" sz="2400" u="none" cap="none" strike="noStrike">
                <a:solidFill>
                  <a:schemeClr val="dk1"/>
                </a:solidFill>
                <a:latin typeface="Arial"/>
                <a:ea typeface="Arial"/>
                <a:cs typeface="Arial"/>
                <a:sym typeface="Arial"/>
              </a:rPr>
            </a:br>
            <a:r>
              <a:rPr b="1" i="0" lang="en-US" sz="2400" u="none" cap="none" strike="noStrike">
                <a:solidFill>
                  <a:schemeClr val="dk1"/>
                </a:solidFill>
                <a:latin typeface="Arial"/>
                <a:ea typeface="Arial"/>
                <a:cs typeface="Arial"/>
                <a:sym typeface="Arial"/>
              </a:rPr>
              <a:t>l</a:t>
            </a:r>
            <a:br>
              <a:rPr b="1" i="0" lang="en-US" sz="2400" u="none" cap="none" strike="noStrike">
                <a:solidFill>
                  <a:schemeClr val="dk1"/>
                </a:solidFill>
                <a:latin typeface="Arial"/>
                <a:ea typeface="Arial"/>
                <a:cs typeface="Arial"/>
                <a:sym typeface="Arial"/>
              </a:rPr>
            </a:br>
            <a:r>
              <a:rPr b="1" i="0" lang="en-US" sz="2400" u="none" cap="none" strike="noStrike">
                <a:solidFill>
                  <a:schemeClr val="dk1"/>
                </a:solidFill>
                <a:latin typeface="Arial"/>
                <a:ea typeface="Arial"/>
                <a:cs typeface="Arial"/>
                <a:sym typeface="Arial"/>
              </a:rPr>
              <a:t>l</a:t>
            </a:r>
            <a:br>
              <a:rPr b="1" i="0" lang="en-US" sz="2400" u="none" cap="none" strike="noStrike">
                <a:solidFill>
                  <a:schemeClr val="dk1"/>
                </a:solidFill>
                <a:latin typeface="Arial"/>
                <a:ea typeface="Arial"/>
                <a:cs typeface="Arial"/>
                <a:sym typeface="Arial"/>
              </a:rPr>
            </a:br>
            <a:r>
              <a:rPr b="1" i="0" lang="en-US" sz="2400" u="none" cap="none" strike="noStrike">
                <a:solidFill>
                  <a:schemeClr val="dk1"/>
                </a:solidFill>
                <a:latin typeface="Arial"/>
                <a:ea typeface="Arial"/>
                <a:cs typeface="Arial"/>
                <a:sym typeface="Arial"/>
              </a:rPr>
              <a:t>o</a:t>
            </a:r>
            <a:endParaRPr b="0" i="0" sz="1400" u="none" cap="none" strike="noStrike">
              <a:solidFill>
                <a:srgbClr val="000000"/>
              </a:solidFill>
              <a:latin typeface="Arial"/>
              <a:ea typeface="Arial"/>
              <a:cs typeface="Arial"/>
              <a:sym typeface="Arial"/>
            </a:endParaRPr>
          </a:p>
        </p:txBody>
      </p:sp>
      <p:sp>
        <p:nvSpPr>
          <p:cNvPr id="537" name="Google Shape;537;p40"/>
          <p:cNvSpPr/>
          <p:nvPr/>
        </p:nvSpPr>
        <p:spPr>
          <a:xfrm>
            <a:off x="7447516" y="3416699"/>
            <a:ext cx="4148016" cy="3109445"/>
          </a:xfrm>
          <a:prstGeom prst="rect">
            <a:avLst/>
          </a:prstGeom>
          <a:gradFill>
            <a:gsLst>
              <a:gs pos="0">
                <a:srgbClr val="FFDC9B"/>
              </a:gs>
              <a:gs pos="50000">
                <a:srgbClr val="FFD68D"/>
              </a:gs>
              <a:gs pos="100000">
                <a:srgbClr val="FFD478"/>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for: </a:t>
            </a:r>
            <a:r>
              <a:rPr b="0" i="0" lang="en-US" sz="1800" u="none" cap="none" strike="noStrike">
                <a:solidFill>
                  <a:srgbClr val="FF0000"/>
                </a:solidFill>
                <a:latin typeface="Calibri"/>
                <a:ea typeface="Calibri"/>
                <a:cs typeface="Calibri"/>
                <a:sym typeface="Calibri"/>
              </a:rPr>
              <a:t>for</a:t>
            </a:r>
            <a:r>
              <a:rPr b="0" i="0" lang="en-US" sz="1800" u="none" cap="none" strike="noStrike">
                <a:solidFill>
                  <a:schemeClr val="dk1"/>
                </a:solidFill>
                <a:latin typeface="Calibri"/>
                <a:ea typeface="Calibri"/>
                <a:cs typeface="Calibri"/>
                <a:sym typeface="Calibri"/>
              </a:rPr>
              <a:t> is the keyword to execute for statement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ch: ch is a </a:t>
            </a:r>
            <a:r>
              <a:rPr b="0" i="0" lang="en-US" sz="1800" u="none" cap="none" strike="noStrike">
                <a:solidFill>
                  <a:srgbClr val="FF0000"/>
                </a:solidFill>
                <a:latin typeface="Calibri"/>
                <a:ea typeface="Calibri"/>
                <a:cs typeface="Calibri"/>
                <a:sym typeface="Calibri"/>
              </a:rPr>
              <a:t>loop variable </a:t>
            </a:r>
            <a:r>
              <a:rPr b="0" i="0" lang="en-US" sz="1800" u="none" cap="none" strike="noStrike">
                <a:solidFill>
                  <a:schemeClr val="dk1"/>
                </a:solidFill>
                <a:latin typeface="Calibri"/>
                <a:ea typeface="Calibri"/>
                <a:cs typeface="Calibri"/>
                <a:sym typeface="Calibri"/>
              </a:rPr>
              <a:t>(can be any sensible identifier) where value during iteration is stored</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in: a </a:t>
            </a:r>
            <a:r>
              <a:rPr b="0" i="0" lang="en-US" sz="1800" u="none" cap="none" strike="noStrike">
                <a:solidFill>
                  <a:srgbClr val="FF0000"/>
                </a:solidFill>
                <a:latin typeface="Calibri"/>
                <a:ea typeface="Calibri"/>
                <a:cs typeface="Calibri"/>
                <a:sym typeface="Calibri"/>
              </a:rPr>
              <a:t>membership operator </a:t>
            </a:r>
            <a:r>
              <a:rPr b="0" i="0" lang="en-US" sz="1800" u="none" cap="none" strike="noStrike">
                <a:solidFill>
                  <a:schemeClr val="dk1"/>
                </a:solidFill>
                <a:latin typeface="Calibri"/>
                <a:ea typeface="Calibri"/>
                <a:cs typeface="Calibri"/>
                <a:sym typeface="Calibri"/>
              </a:rPr>
              <a:t>which determines weather there is value or not.</a:t>
            </a:r>
            <a:endParaRPr b="0" i="0" sz="1400" u="none" cap="none" strike="noStrike">
              <a:solidFill>
                <a:srgbClr val="000000"/>
              </a:solidFill>
              <a:latin typeface="Arial"/>
              <a:ea typeface="Arial"/>
              <a:cs typeface="Arial"/>
              <a:sym typeface="Arial"/>
            </a:endParaRPr>
          </a:p>
        </p:txBody>
      </p:sp>
      <p:sp>
        <p:nvSpPr>
          <p:cNvPr id="538" name="Google Shape;538;p40"/>
          <p:cNvSpPr/>
          <p:nvPr/>
        </p:nvSpPr>
        <p:spPr>
          <a:xfrm flipH="1">
            <a:off x="3936812" y="4468774"/>
            <a:ext cx="2086720" cy="748424"/>
          </a:xfrm>
          <a:prstGeom prst="rightArrow">
            <a:avLst>
              <a:gd fmla="val 50000" name="adj1"/>
              <a:gd fmla="val 50000" name="adj2"/>
            </a:avLst>
          </a:prstGeom>
          <a:solidFill>
            <a:srgbClr val="FFFF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Output</a:t>
            </a:r>
            <a:endParaRPr b="0" i="0" sz="1800" u="none" cap="none" strike="noStrike">
              <a:solidFill>
                <a:schemeClr val="dk1"/>
              </a:solidFill>
              <a:latin typeface="Calibri"/>
              <a:ea typeface="Calibri"/>
              <a:cs typeface="Calibri"/>
              <a:sym typeface="Calibri"/>
            </a:endParaRPr>
          </a:p>
        </p:txBody>
      </p:sp>
      <p:sp>
        <p:nvSpPr>
          <p:cNvPr id="539" name="Google Shape;539;p40"/>
          <p:cNvSpPr/>
          <p:nvPr/>
        </p:nvSpPr>
        <p:spPr>
          <a:xfrm>
            <a:off x="8474120" y="3141429"/>
            <a:ext cx="2094807" cy="275102"/>
          </a:xfrm>
          <a:prstGeom prst="rect">
            <a:avLst/>
          </a:prstGeom>
          <a:gradFill>
            <a:gsLst>
              <a:gs pos="0">
                <a:srgbClr val="F08B54"/>
              </a:gs>
              <a:gs pos="50000">
                <a:srgbClr val="F67A26"/>
              </a:gs>
              <a:gs pos="100000">
                <a:srgbClr val="E36A18"/>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Explanation</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41"/>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5000"/>
              <a:buNone/>
            </a:pPr>
            <a:r>
              <a:rPr lang="en-US" sz="5000">
                <a:latin typeface="Arial"/>
                <a:ea typeface="Arial"/>
                <a:cs typeface="Arial"/>
                <a:sym typeface="Arial"/>
              </a:rPr>
              <a:t>The Built-In range Function</a:t>
            </a:r>
            <a:endParaRPr sz="5000">
              <a:latin typeface="Arial"/>
              <a:ea typeface="Arial"/>
              <a:cs typeface="Arial"/>
              <a:sym typeface="Arial"/>
            </a:endParaRPr>
          </a:p>
        </p:txBody>
      </p:sp>
      <p:graphicFrame>
        <p:nvGraphicFramePr>
          <p:cNvPr id="545" name="Google Shape;545;p41"/>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4.1. For vs. while statements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4.2. For statement for all sequences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4.2. Built-in range function</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546" name="Google Shape;546;p41"/>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547" name="Google Shape;547;p41"/>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548" name="Google Shape;548;p41"/>
          <p:cNvSpPr/>
          <p:nvPr/>
        </p:nvSpPr>
        <p:spPr>
          <a:xfrm>
            <a:off x="2585258" y="1449936"/>
            <a:ext cx="9177251"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As we discussed, python provides </a:t>
            </a:r>
            <a:r>
              <a:rPr b="1" i="1" lang="en-US" sz="2400" u="none" cap="none" strike="noStrike">
                <a:solidFill>
                  <a:srgbClr val="D4650A"/>
                </a:solidFill>
                <a:latin typeface="Arial"/>
                <a:ea typeface="Arial"/>
                <a:cs typeface="Arial"/>
                <a:sym typeface="Arial"/>
              </a:rPr>
              <a:t>built-in range function </a:t>
            </a:r>
            <a:r>
              <a:rPr b="0" i="0" lang="en-US" sz="2400" u="none" cap="none" strike="noStrike">
                <a:solidFill>
                  <a:schemeClr val="dk1"/>
                </a:solidFill>
                <a:latin typeface="Arial"/>
                <a:ea typeface="Arial"/>
                <a:cs typeface="Arial"/>
                <a:sym typeface="Arial"/>
              </a:rPr>
              <a:t>that can be used for generating a sequence of integers that a for loop can iterate over:</a:t>
            </a:r>
            <a:endParaRPr b="0" i="0" sz="1400" u="none" cap="none" strike="noStrike">
              <a:solidFill>
                <a:srgbClr val="000000"/>
              </a:solidFill>
              <a:latin typeface="Arial"/>
              <a:ea typeface="Arial"/>
              <a:cs typeface="Arial"/>
              <a:sym typeface="Arial"/>
            </a:endParaRPr>
          </a:p>
        </p:txBody>
      </p:sp>
      <p:sp>
        <p:nvSpPr>
          <p:cNvPr id="549" name="Google Shape;549;p41"/>
          <p:cNvSpPr/>
          <p:nvPr/>
        </p:nvSpPr>
        <p:spPr>
          <a:xfrm>
            <a:off x="3106714" y="2725931"/>
            <a:ext cx="835046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sum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for k in </a:t>
            </a:r>
            <a:r>
              <a:rPr b="1" i="0" lang="en-US" sz="2400" u="none" cap="none" strike="noStrike">
                <a:solidFill>
                  <a:srgbClr val="00B0F0"/>
                </a:solidFill>
                <a:latin typeface="Arial"/>
                <a:ea typeface="Arial"/>
                <a:cs typeface="Arial"/>
                <a:sym typeface="Arial"/>
              </a:rPr>
              <a:t>range (1, 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	sum = sum + k</a:t>
            </a:r>
            <a:endParaRPr b="1" i="0" sz="2400" u="none" cap="none" strike="noStrike">
              <a:solidFill>
                <a:srgbClr val="FF0000"/>
              </a:solidFill>
              <a:latin typeface="Arial"/>
              <a:ea typeface="Arial"/>
              <a:cs typeface="Arial"/>
              <a:sym typeface="Arial"/>
            </a:endParaRPr>
          </a:p>
        </p:txBody>
      </p:sp>
      <p:sp>
        <p:nvSpPr>
          <p:cNvPr id="550" name="Google Shape;550;p41"/>
          <p:cNvSpPr/>
          <p:nvPr/>
        </p:nvSpPr>
        <p:spPr>
          <a:xfrm>
            <a:off x="2693322" y="4001926"/>
            <a:ext cx="9177251"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 value in the generated sequence </a:t>
            </a:r>
            <a:r>
              <a:rPr b="0" i="0" lang="en-US" sz="2400" u="none" cap="none" strike="noStrike">
                <a:solidFill>
                  <a:srgbClr val="D4650A"/>
                </a:solidFill>
                <a:latin typeface="Arial"/>
                <a:ea typeface="Arial"/>
                <a:cs typeface="Arial"/>
                <a:sym typeface="Arial"/>
              </a:rPr>
              <a:t>include the starting value</a:t>
            </a:r>
            <a:r>
              <a:rPr b="0" i="0" lang="en-US" sz="2400" u="none" cap="none" strike="noStrike">
                <a:solidFill>
                  <a:schemeClr val="dk1"/>
                </a:solidFill>
                <a:latin typeface="Arial"/>
                <a:ea typeface="Arial"/>
                <a:cs typeface="Arial"/>
                <a:sym typeface="Arial"/>
              </a:rPr>
              <a:t>, up to but </a:t>
            </a:r>
            <a:r>
              <a:rPr b="0" i="0" lang="en-US" sz="2400" u="none" cap="none" strike="noStrike">
                <a:solidFill>
                  <a:srgbClr val="D4650A"/>
                </a:solidFill>
                <a:latin typeface="Arial"/>
                <a:ea typeface="Arial"/>
                <a:cs typeface="Arial"/>
                <a:sym typeface="Arial"/>
              </a:rPr>
              <a:t>not including the ending value</a:t>
            </a:r>
            <a:r>
              <a:rPr b="0" i="0" lang="en-US" sz="2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51" name="Google Shape;551;p41"/>
          <p:cNvSpPr/>
          <p:nvPr/>
        </p:nvSpPr>
        <p:spPr>
          <a:xfrm>
            <a:off x="2693322" y="5014464"/>
            <a:ext cx="9177251"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For Instance </a:t>
            </a:r>
            <a:r>
              <a:rPr b="0" i="0" lang="en-US" sz="2400" u="none" cap="none" strike="noStrike">
                <a:solidFill>
                  <a:schemeClr val="dk1"/>
                </a:solidFill>
                <a:latin typeface="Arial"/>
                <a:ea typeface="Arial"/>
                <a:cs typeface="Arial"/>
                <a:sym typeface="Arial"/>
              </a:rPr>
              <a:t>[</a:t>
            </a:r>
            <a:r>
              <a:rPr b="1" i="0" lang="en-US" sz="2400" u="none" cap="none" strike="noStrike">
                <a:solidFill>
                  <a:srgbClr val="D4650A"/>
                </a:solidFill>
                <a:latin typeface="Arial"/>
                <a:ea typeface="Arial"/>
                <a:cs typeface="Arial"/>
                <a:sym typeface="Arial"/>
              </a:rPr>
              <a:t>Example</a:t>
            </a:r>
            <a:r>
              <a:rPr b="0" i="0" lang="en-US" sz="2400" u="none" cap="none" strike="noStrike">
                <a:solidFill>
                  <a:schemeClr val="dk1"/>
                </a:solidFill>
                <a:latin typeface="Arial"/>
                <a:ea typeface="Arial"/>
                <a:cs typeface="Arial"/>
                <a:sym typeface="Arial"/>
              </a:rPr>
              <a:t>]: range(1,11) generates the sequence [1,2,3,4,5,6,7,8,9,10]. Thus, this for loop adds up the integer value 1-10</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2"/>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5000"/>
              <a:buNone/>
            </a:pPr>
            <a:r>
              <a:rPr lang="en-US" sz="5000">
                <a:latin typeface="Arial"/>
                <a:ea typeface="Arial"/>
                <a:cs typeface="Arial"/>
                <a:sym typeface="Arial"/>
              </a:rPr>
              <a:t>Why To Use Range Function?</a:t>
            </a:r>
            <a:endParaRPr sz="5000">
              <a:latin typeface="Arial"/>
              <a:ea typeface="Arial"/>
              <a:cs typeface="Arial"/>
              <a:sym typeface="Arial"/>
            </a:endParaRPr>
          </a:p>
        </p:txBody>
      </p:sp>
      <p:graphicFrame>
        <p:nvGraphicFramePr>
          <p:cNvPr id="557" name="Google Shape;557;p42"/>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4.1. For vs. while statements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4.2. For statement for all sequences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4.2. Built-In Range Function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4.3. Why to Use Range Function?</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558" name="Google Shape;558;p42"/>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559" name="Google Shape;559;p42"/>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560" name="Google Shape;560;p42"/>
          <p:cNvSpPr/>
          <p:nvPr/>
        </p:nvSpPr>
        <p:spPr>
          <a:xfrm>
            <a:off x="2585258" y="1449936"/>
            <a:ext cx="9177251"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 </a:t>
            </a:r>
            <a:r>
              <a:rPr b="1" i="0" lang="en-US" sz="2400" u="none" cap="none" strike="noStrike">
                <a:solidFill>
                  <a:srgbClr val="D4650A"/>
                </a:solidFill>
                <a:latin typeface="Arial"/>
                <a:ea typeface="Arial"/>
                <a:cs typeface="Arial"/>
                <a:sym typeface="Arial"/>
              </a:rPr>
              <a:t>range function </a:t>
            </a:r>
            <a:r>
              <a:rPr b="0" i="0" lang="en-US" sz="2400" u="none" cap="none" strike="noStrike">
                <a:solidFill>
                  <a:schemeClr val="dk1"/>
                </a:solidFill>
                <a:latin typeface="Arial"/>
                <a:ea typeface="Arial"/>
                <a:cs typeface="Arial"/>
                <a:sym typeface="Arial"/>
              </a:rPr>
              <a:t>is convenient </a:t>
            </a:r>
            <a:r>
              <a:rPr b="1" i="0" lang="en-US" sz="2400" u="none" cap="none" strike="noStrike">
                <a:solidFill>
                  <a:srgbClr val="00B0F0"/>
                </a:solidFill>
                <a:latin typeface="Arial"/>
                <a:ea typeface="Arial"/>
                <a:cs typeface="Arial"/>
                <a:sym typeface="Arial"/>
              </a:rPr>
              <a:t>when long sequences </a:t>
            </a:r>
            <a:r>
              <a:rPr b="0" i="0" lang="en-US" sz="2400" u="none" cap="none" strike="noStrike">
                <a:solidFill>
                  <a:schemeClr val="dk1"/>
                </a:solidFill>
                <a:latin typeface="Arial"/>
                <a:ea typeface="Arial"/>
                <a:cs typeface="Arial"/>
                <a:sym typeface="Arial"/>
              </a:rPr>
              <a:t>of integers are needed.</a:t>
            </a:r>
            <a:endParaRPr b="0" i="0" sz="1400" u="none" cap="none" strike="noStrike">
              <a:solidFill>
                <a:srgbClr val="000000"/>
              </a:solidFill>
              <a:latin typeface="Arial"/>
              <a:ea typeface="Arial"/>
              <a:cs typeface="Arial"/>
              <a:sym typeface="Arial"/>
            </a:endParaRPr>
          </a:p>
        </p:txBody>
      </p:sp>
      <p:sp>
        <p:nvSpPr>
          <p:cNvPr id="561" name="Google Shape;561;p42"/>
          <p:cNvSpPr/>
          <p:nvPr/>
        </p:nvSpPr>
        <p:spPr>
          <a:xfrm>
            <a:off x="2585258" y="2610528"/>
            <a:ext cx="9177251"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Actually, range does not create a sequence of integers. It creates a generator function able to produce each next time of the sequence.</a:t>
            </a:r>
            <a:endParaRPr b="0" i="0" sz="1400" u="none" cap="none" strike="noStrike">
              <a:solidFill>
                <a:srgbClr val="000000"/>
              </a:solidFill>
              <a:latin typeface="Arial"/>
              <a:ea typeface="Arial"/>
              <a:cs typeface="Arial"/>
              <a:sym typeface="Arial"/>
            </a:endParaRPr>
          </a:p>
        </p:txBody>
      </p:sp>
      <p:sp>
        <p:nvSpPr>
          <p:cNvPr id="562" name="Google Shape;562;p42"/>
          <p:cNvSpPr/>
          <p:nvPr/>
        </p:nvSpPr>
        <p:spPr>
          <a:xfrm>
            <a:off x="2585258" y="3987538"/>
            <a:ext cx="9177251"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This </a:t>
            </a:r>
            <a:r>
              <a:rPr b="1" i="0" lang="en-US" sz="2400" u="none" cap="none" strike="noStrike">
                <a:solidFill>
                  <a:srgbClr val="00B0F0"/>
                </a:solidFill>
                <a:latin typeface="Arial"/>
                <a:ea typeface="Arial"/>
                <a:cs typeface="Arial"/>
                <a:sym typeface="Arial"/>
              </a:rPr>
              <a:t>saves memory, especially for long lists</a:t>
            </a:r>
            <a:r>
              <a:rPr b="0" i="0" lang="en-US" sz="2400" u="none" cap="none" strike="noStrike">
                <a:solidFill>
                  <a:schemeClr val="dk1"/>
                </a:solidFill>
                <a:latin typeface="Arial"/>
                <a:ea typeface="Arial"/>
                <a:cs typeface="Arial"/>
                <a:sym typeface="Arial"/>
              </a:rPr>
              <a:t>. Therefore, typing range (0,9) in the Python shell does not produce a list as expected – it simply “echoes out” the call to range.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43"/>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00B0F0"/>
              </a:buClr>
              <a:buSzPts val="5000"/>
              <a:buNone/>
            </a:pPr>
            <a:r>
              <a:rPr lang="en-US" sz="5000">
                <a:solidFill>
                  <a:srgbClr val="00B0F0"/>
                </a:solidFill>
                <a:latin typeface="Arial"/>
                <a:ea typeface="Arial"/>
                <a:cs typeface="Arial"/>
                <a:sym typeface="Arial"/>
              </a:rPr>
              <a:t>Start</a:t>
            </a:r>
            <a:r>
              <a:rPr lang="en-US" sz="5000">
                <a:latin typeface="Arial"/>
                <a:ea typeface="Arial"/>
                <a:cs typeface="Arial"/>
                <a:sym typeface="Arial"/>
              </a:rPr>
              <a:t>, </a:t>
            </a:r>
            <a:r>
              <a:rPr lang="en-US" sz="5000">
                <a:solidFill>
                  <a:srgbClr val="D4650A"/>
                </a:solidFill>
                <a:latin typeface="Arial"/>
                <a:ea typeface="Arial"/>
                <a:cs typeface="Arial"/>
                <a:sym typeface="Arial"/>
              </a:rPr>
              <a:t>Stop</a:t>
            </a:r>
            <a:r>
              <a:rPr lang="en-US" sz="5000">
                <a:latin typeface="Arial"/>
                <a:ea typeface="Arial"/>
                <a:cs typeface="Arial"/>
                <a:sym typeface="Arial"/>
              </a:rPr>
              <a:t> and </a:t>
            </a:r>
            <a:r>
              <a:rPr lang="en-US" sz="5000">
                <a:solidFill>
                  <a:srgbClr val="00B050"/>
                </a:solidFill>
                <a:latin typeface="Arial"/>
                <a:ea typeface="Arial"/>
                <a:cs typeface="Arial"/>
                <a:sym typeface="Arial"/>
              </a:rPr>
              <a:t>Step</a:t>
            </a:r>
            <a:endParaRPr sz="5000">
              <a:solidFill>
                <a:srgbClr val="00B050"/>
              </a:solidFill>
              <a:latin typeface="Arial"/>
              <a:ea typeface="Arial"/>
              <a:cs typeface="Arial"/>
              <a:sym typeface="Arial"/>
            </a:endParaRPr>
          </a:p>
        </p:txBody>
      </p:sp>
      <p:graphicFrame>
        <p:nvGraphicFramePr>
          <p:cNvPr id="568" name="Google Shape;568;p43"/>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4.1. For vs. while statements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4.2. For statement for all sequences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4.2. Built-in range function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4.3. Range function parameters</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569" name="Google Shape;569;p43"/>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570" name="Google Shape;570;p43"/>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571" name="Google Shape;571;p43"/>
          <p:cNvSpPr/>
          <p:nvPr/>
        </p:nvSpPr>
        <p:spPr>
          <a:xfrm>
            <a:off x="2585258" y="1449936"/>
            <a:ext cx="9177251"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By default, the range function generates a sequence of </a:t>
            </a:r>
            <a:r>
              <a:rPr b="1" i="0" lang="en-US" sz="2400" u="none" cap="none" strike="noStrike">
                <a:solidFill>
                  <a:srgbClr val="D4650A"/>
                </a:solidFill>
                <a:latin typeface="Arial"/>
                <a:ea typeface="Arial"/>
                <a:cs typeface="Arial"/>
                <a:sym typeface="Arial"/>
              </a:rPr>
              <a:t>consecutive integers</a:t>
            </a:r>
            <a:r>
              <a:rPr b="0" i="0" lang="en-US" sz="2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72" name="Google Shape;572;p43"/>
          <p:cNvSpPr/>
          <p:nvPr/>
        </p:nvSpPr>
        <p:spPr>
          <a:xfrm>
            <a:off x="2585258" y="2587793"/>
            <a:ext cx="9177251" cy="46166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A “step” value can be provided.</a:t>
            </a:r>
            <a:endParaRPr b="0" i="0" sz="1400" u="none" cap="none" strike="noStrike">
              <a:solidFill>
                <a:srgbClr val="000000"/>
              </a:solidFill>
              <a:latin typeface="Arial"/>
              <a:ea typeface="Arial"/>
              <a:cs typeface="Arial"/>
              <a:sym typeface="Arial"/>
            </a:endParaRPr>
          </a:p>
        </p:txBody>
      </p:sp>
      <p:sp>
        <p:nvSpPr>
          <p:cNvPr id="573" name="Google Shape;573;p43"/>
          <p:cNvSpPr/>
          <p:nvPr/>
        </p:nvSpPr>
        <p:spPr>
          <a:xfrm>
            <a:off x="2585257" y="3398921"/>
            <a:ext cx="9177251" cy="46166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range(0, 11, 2) 🡪 [0,2,4,6,8,10] 🡪 containing a step value of 2</a:t>
            </a:r>
            <a:endParaRPr b="1" i="0" sz="2400" u="none" cap="none" strike="noStrike">
              <a:solidFill>
                <a:srgbClr val="FF0000"/>
              </a:solidFill>
              <a:latin typeface="Arial"/>
              <a:ea typeface="Arial"/>
              <a:cs typeface="Arial"/>
              <a:sym typeface="Arial"/>
            </a:endParaRPr>
          </a:p>
        </p:txBody>
      </p:sp>
      <p:sp>
        <p:nvSpPr>
          <p:cNvPr id="574" name="Google Shape;574;p43"/>
          <p:cNvSpPr/>
          <p:nvPr/>
        </p:nvSpPr>
        <p:spPr>
          <a:xfrm>
            <a:off x="2585257" y="4167446"/>
            <a:ext cx="9177251"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range(10, 0, -1) 🡪 [10, 9, 8, 7, 6, 5, 4, 3, 2, 1] 🡪 containing a step value of -1</a:t>
            </a:r>
            <a:endParaRPr b="1" i="0" sz="2400" u="none" cap="none" strike="noStrike">
              <a:solidFill>
                <a:srgbClr val="FF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8" name="Shape 578"/>
        <p:cNvGrpSpPr/>
        <p:nvPr/>
      </p:nvGrpSpPr>
      <p:grpSpPr>
        <a:xfrm>
          <a:off x="0" y="0"/>
          <a:ext cx="0" cy="0"/>
          <a:chOff x="0" y="0"/>
          <a:chExt cx="0" cy="0"/>
        </a:xfrm>
      </p:grpSpPr>
      <p:sp>
        <p:nvSpPr>
          <p:cNvPr id="579" name="Google Shape;579;p44"/>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5000"/>
              <a:buNone/>
            </a:pPr>
            <a:r>
              <a:rPr lang="en-US" sz="5000">
                <a:latin typeface="Arial"/>
                <a:ea typeface="Arial"/>
                <a:cs typeface="Arial"/>
                <a:sym typeface="Arial"/>
              </a:rPr>
              <a:t>While Loops and Lists </a:t>
            </a:r>
            <a:endParaRPr sz="5000">
              <a:latin typeface="Arial"/>
              <a:ea typeface="Arial"/>
              <a:cs typeface="Arial"/>
              <a:sym typeface="Arial"/>
            </a:endParaRPr>
          </a:p>
        </p:txBody>
      </p:sp>
      <p:graphicFrame>
        <p:nvGraphicFramePr>
          <p:cNvPr id="580" name="Google Shape;580;p44"/>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4.1. For vs. while statements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4.2. For statement for all sequences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4.2. Built-in range function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4.3. Range function parameters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4.4. While Loops and Lists</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581" name="Google Shape;581;p44"/>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582" name="Google Shape;582;p44"/>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583" name="Google Shape;583;p44"/>
          <p:cNvSpPr/>
          <p:nvPr/>
        </p:nvSpPr>
        <p:spPr>
          <a:xfrm>
            <a:off x="2585258" y="1282549"/>
            <a:ext cx="9177251"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There are situations in which a sequence is to be </a:t>
            </a:r>
            <a:r>
              <a:rPr b="1" i="0" lang="en-US" sz="2400" u="none" cap="none" strike="noStrike">
                <a:solidFill>
                  <a:srgbClr val="00B050"/>
                </a:solidFill>
                <a:latin typeface="Arial"/>
                <a:ea typeface="Arial"/>
                <a:cs typeface="Arial"/>
                <a:sym typeface="Arial"/>
              </a:rPr>
              <a:t>traversed until a given condition is true</a:t>
            </a:r>
            <a:r>
              <a:rPr b="0" i="0" lang="en-US" sz="2400" u="none" cap="none" strike="noStrike">
                <a:solidFill>
                  <a:schemeClr val="dk1"/>
                </a:solidFill>
                <a:latin typeface="Arial"/>
                <a:ea typeface="Arial"/>
                <a:cs typeface="Arial"/>
                <a:sym typeface="Arial"/>
              </a:rPr>
              <a:t>. In such cases, a while loop is appropriate control structure.</a:t>
            </a:r>
            <a:endParaRPr b="0" i="0" sz="1400" u="none" cap="none" strike="noStrike">
              <a:solidFill>
                <a:srgbClr val="000000"/>
              </a:solidFill>
              <a:latin typeface="Arial"/>
              <a:ea typeface="Arial"/>
              <a:cs typeface="Arial"/>
              <a:sym typeface="Arial"/>
            </a:endParaRPr>
          </a:p>
        </p:txBody>
      </p:sp>
      <p:sp>
        <p:nvSpPr>
          <p:cNvPr id="584" name="Google Shape;584;p44"/>
          <p:cNvSpPr/>
          <p:nvPr/>
        </p:nvSpPr>
        <p:spPr>
          <a:xfrm>
            <a:off x="2841638" y="2553105"/>
            <a:ext cx="4269117" cy="369331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80808"/>
                </a:solidFill>
                <a:latin typeface="Arimo"/>
                <a:ea typeface="Arimo"/>
                <a:cs typeface="Arimo"/>
                <a:sym typeface="Arimo"/>
              </a:rPr>
              <a:t>nums = [</a:t>
            </a:r>
            <a:r>
              <a:rPr b="0" i="0" lang="en-US" sz="1800" u="none" cap="none" strike="noStrike">
                <a:solidFill>
                  <a:srgbClr val="1750EB"/>
                </a:solidFill>
                <a:latin typeface="Arimo"/>
                <a:ea typeface="Arimo"/>
                <a:cs typeface="Arimo"/>
                <a:sym typeface="Arimo"/>
              </a:rPr>
              <a:t>10</a:t>
            </a:r>
            <a:r>
              <a:rPr b="0" i="0" lang="en-US" sz="1800" u="none" cap="none" strike="noStrike">
                <a:solidFill>
                  <a:srgbClr val="080808"/>
                </a:solidFill>
                <a:latin typeface="Arimo"/>
                <a:ea typeface="Arimo"/>
                <a:cs typeface="Arimo"/>
                <a:sym typeface="Arimo"/>
              </a:rPr>
              <a:t>,</a:t>
            </a:r>
            <a:r>
              <a:rPr b="0" i="0" lang="en-US" sz="1800" u="none" cap="none" strike="noStrike">
                <a:solidFill>
                  <a:srgbClr val="1750EB"/>
                </a:solidFill>
                <a:latin typeface="Arimo"/>
                <a:ea typeface="Arimo"/>
                <a:cs typeface="Arimo"/>
                <a:sym typeface="Arimo"/>
              </a:rPr>
              <a:t>20</a:t>
            </a:r>
            <a:r>
              <a:rPr b="0" i="0" lang="en-US" sz="1800" u="none" cap="none" strike="noStrike">
                <a:solidFill>
                  <a:srgbClr val="080808"/>
                </a:solidFill>
                <a:latin typeface="Arimo"/>
                <a:ea typeface="Arimo"/>
                <a:cs typeface="Arimo"/>
                <a:sym typeface="Arimo"/>
              </a:rPr>
              <a:t>,</a:t>
            </a:r>
            <a:r>
              <a:rPr b="0" i="0" lang="en-US" sz="1800" u="none" cap="none" strike="noStrike">
                <a:solidFill>
                  <a:srgbClr val="1750EB"/>
                </a:solidFill>
                <a:latin typeface="Arimo"/>
                <a:ea typeface="Arimo"/>
                <a:cs typeface="Arimo"/>
                <a:sym typeface="Arimo"/>
              </a:rPr>
              <a:t>30</a:t>
            </a:r>
            <a:r>
              <a:rPr b="0" i="0" lang="en-US" sz="1800" u="none" cap="none" strike="noStrike">
                <a:solidFill>
                  <a:srgbClr val="080808"/>
                </a:solidFill>
                <a:latin typeface="Arimo"/>
                <a:ea typeface="Arimo"/>
                <a:cs typeface="Arimo"/>
                <a:sym typeface="Arimo"/>
              </a:rPr>
              <a:t>,</a:t>
            </a:r>
            <a:r>
              <a:rPr b="0" i="0" lang="en-US" sz="1800" u="none" cap="none" strike="noStrike">
                <a:solidFill>
                  <a:srgbClr val="1750EB"/>
                </a:solidFill>
                <a:latin typeface="Arimo"/>
                <a:ea typeface="Arimo"/>
                <a:cs typeface="Arimo"/>
                <a:sym typeface="Arimo"/>
              </a:rPr>
              <a:t>40</a:t>
            </a:r>
            <a:r>
              <a:rPr b="0" i="0" lang="en-US" sz="1800" u="none" cap="none" strike="noStrike">
                <a:solidFill>
                  <a:srgbClr val="080808"/>
                </a:solidFill>
                <a:latin typeface="Arimo"/>
                <a:ea typeface="Arimo"/>
                <a:cs typeface="Arimo"/>
                <a:sym typeface="Arimo"/>
              </a:rPr>
              <a:t>,</a:t>
            </a:r>
            <a:r>
              <a:rPr b="0" i="0" lang="en-US" sz="1800" u="none" cap="none" strike="noStrike">
                <a:solidFill>
                  <a:srgbClr val="1750EB"/>
                </a:solidFill>
                <a:latin typeface="Arimo"/>
                <a:ea typeface="Arimo"/>
                <a:cs typeface="Arimo"/>
                <a:sym typeface="Arimo"/>
              </a:rPr>
              <a:t>50</a:t>
            </a:r>
            <a:r>
              <a:rPr b="0" i="0" lang="en-US" sz="1800" u="none" cap="none" strike="noStrike">
                <a:solidFill>
                  <a:srgbClr val="080808"/>
                </a:solidFill>
                <a:latin typeface="Arimo"/>
                <a:ea typeface="Arimo"/>
                <a:cs typeface="Arimo"/>
                <a:sym typeface="Arimo"/>
              </a:rPr>
              <a:t>,</a:t>
            </a:r>
            <a:r>
              <a:rPr b="0" i="0" lang="en-US" sz="1800" u="none" cap="none" strike="noStrike">
                <a:solidFill>
                  <a:srgbClr val="1750EB"/>
                </a:solidFill>
                <a:latin typeface="Arimo"/>
                <a:ea typeface="Arimo"/>
                <a:cs typeface="Arimo"/>
                <a:sym typeface="Arimo"/>
              </a:rPr>
              <a:t>60</a:t>
            </a:r>
            <a:r>
              <a:rPr b="0" i="0" lang="en-US" sz="1800" u="none" cap="none" strike="noStrike">
                <a:solidFill>
                  <a:srgbClr val="080808"/>
                </a:solidFill>
                <a:latin typeface="Arimo"/>
                <a:ea typeface="Arimo"/>
                <a:cs typeface="Arimo"/>
                <a:sym typeface="Arimo"/>
              </a:rPr>
              <a:t>]</a:t>
            </a:r>
            <a:br>
              <a:rPr b="0" i="0" lang="en-US" sz="1800" u="none" cap="none" strike="noStrike">
                <a:solidFill>
                  <a:srgbClr val="080808"/>
                </a:solidFill>
                <a:latin typeface="Arimo"/>
                <a:ea typeface="Arimo"/>
                <a:cs typeface="Arimo"/>
                <a:sym typeface="Arimo"/>
              </a:rPr>
            </a:br>
            <a:r>
              <a:rPr b="0" i="0" lang="en-US" sz="1800" u="none" cap="none" strike="noStrike">
                <a:solidFill>
                  <a:srgbClr val="080808"/>
                </a:solidFill>
                <a:latin typeface="Arimo"/>
                <a:ea typeface="Arimo"/>
                <a:cs typeface="Arimo"/>
                <a:sym typeface="Arimo"/>
              </a:rPr>
              <a:t>k = </a:t>
            </a:r>
            <a:r>
              <a:rPr b="0" i="0" lang="en-US" sz="1800" u="none" cap="none" strike="noStrike">
                <a:solidFill>
                  <a:srgbClr val="1750EB"/>
                </a:solidFill>
                <a:latin typeface="Arimo"/>
                <a:ea typeface="Arimo"/>
                <a:cs typeface="Arimo"/>
                <a:sym typeface="Arimo"/>
              </a:rPr>
              <a:t>0</a:t>
            </a:r>
            <a:br>
              <a:rPr b="0" i="0" lang="en-US" sz="1800" u="none" cap="none" strike="noStrike">
                <a:solidFill>
                  <a:srgbClr val="1750EB"/>
                </a:solidFill>
                <a:latin typeface="Arimo"/>
                <a:ea typeface="Arimo"/>
                <a:cs typeface="Arimo"/>
                <a:sym typeface="Arimo"/>
              </a:rPr>
            </a:br>
            <a:r>
              <a:rPr b="0" i="0" lang="en-US" sz="1800" u="none" cap="none" strike="noStrike">
                <a:solidFill>
                  <a:srgbClr val="080808"/>
                </a:solidFill>
                <a:latin typeface="Arimo"/>
                <a:ea typeface="Arimo"/>
                <a:cs typeface="Arimo"/>
                <a:sym typeface="Arimo"/>
              </a:rPr>
              <a:t>item_to_find = </a:t>
            </a:r>
            <a:r>
              <a:rPr b="0" i="0" lang="en-US" sz="1800" u="none" cap="none" strike="noStrike">
                <a:solidFill>
                  <a:srgbClr val="1750EB"/>
                </a:solidFill>
                <a:latin typeface="Arimo"/>
                <a:ea typeface="Arimo"/>
                <a:cs typeface="Arimo"/>
                <a:sym typeface="Arimo"/>
              </a:rPr>
              <a:t>40</a:t>
            </a:r>
            <a:br>
              <a:rPr b="0" i="0" lang="en-US" sz="1800" u="none" cap="none" strike="noStrike">
                <a:solidFill>
                  <a:srgbClr val="1750EB"/>
                </a:solidFill>
                <a:latin typeface="Arimo"/>
                <a:ea typeface="Arimo"/>
                <a:cs typeface="Arimo"/>
                <a:sym typeface="Arimo"/>
              </a:rPr>
            </a:br>
            <a:r>
              <a:rPr b="0" i="0" lang="en-US" sz="1800" u="none" cap="none" strike="noStrike">
                <a:solidFill>
                  <a:srgbClr val="080808"/>
                </a:solidFill>
                <a:latin typeface="Arimo"/>
                <a:ea typeface="Arimo"/>
                <a:cs typeface="Arimo"/>
                <a:sym typeface="Arimo"/>
              </a:rPr>
              <a:t>found_item = </a:t>
            </a:r>
            <a:r>
              <a:rPr b="0" i="0" lang="en-US" sz="1800" u="none" cap="none" strike="noStrike">
                <a:solidFill>
                  <a:srgbClr val="0033B3"/>
                </a:solidFill>
                <a:latin typeface="Arimo"/>
                <a:ea typeface="Arimo"/>
                <a:cs typeface="Arimo"/>
                <a:sym typeface="Arimo"/>
              </a:rPr>
              <a:t>False</a:t>
            </a:r>
            <a:br>
              <a:rPr b="0" i="0" lang="en-US" sz="1800" u="none" cap="none" strike="noStrike">
                <a:solidFill>
                  <a:srgbClr val="0033B3"/>
                </a:solidFill>
                <a:latin typeface="Arimo"/>
                <a:ea typeface="Arimo"/>
                <a:cs typeface="Arimo"/>
                <a:sym typeface="Arimo"/>
              </a:rPr>
            </a:br>
            <a:r>
              <a:rPr b="0" i="0" lang="en-US" sz="1800" u="none" cap="none" strike="noStrike">
                <a:solidFill>
                  <a:srgbClr val="0033B3"/>
                </a:solidFill>
                <a:latin typeface="Arimo"/>
                <a:ea typeface="Arimo"/>
                <a:cs typeface="Arimo"/>
                <a:sym typeface="Arimo"/>
              </a:rPr>
              <a:t>while </a:t>
            </a:r>
            <a:r>
              <a:rPr b="0" i="0" lang="en-US" sz="1800" u="none" cap="none" strike="noStrike">
                <a:solidFill>
                  <a:srgbClr val="080808"/>
                </a:solidFill>
                <a:latin typeface="Arimo"/>
                <a:ea typeface="Arimo"/>
                <a:cs typeface="Arimo"/>
                <a:sym typeface="Arimo"/>
              </a:rPr>
              <a:t>k &lt; </a:t>
            </a:r>
            <a:r>
              <a:rPr b="0" i="0" lang="en-US" sz="1800" u="none" cap="none" strike="noStrike">
                <a:solidFill>
                  <a:srgbClr val="000080"/>
                </a:solidFill>
                <a:latin typeface="Arimo"/>
                <a:ea typeface="Arimo"/>
                <a:cs typeface="Arimo"/>
                <a:sym typeface="Arimo"/>
              </a:rPr>
              <a:t>len</a:t>
            </a:r>
            <a:r>
              <a:rPr b="0" i="0" lang="en-US" sz="1800" u="none" cap="none" strike="noStrike">
                <a:solidFill>
                  <a:srgbClr val="080808"/>
                </a:solidFill>
                <a:latin typeface="Arimo"/>
                <a:ea typeface="Arimo"/>
                <a:cs typeface="Arimo"/>
                <a:sym typeface="Arimo"/>
              </a:rPr>
              <a:t>(nums) </a:t>
            </a:r>
            <a:r>
              <a:rPr b="0" i="0" lang="en-US" sz="1800" u="none" cap="none" strike="noStrike">
                <a:solidFill>
                  <a:srgbClr val="0033B3"/>
                </a:solidFill>
                <a:latin typeface="Arimo"/>
                <a:ea typeface="Arimo"/>
                <a:cs typeface="Arimo"/>
                <a:sym typeface="Arimo"/>
              </a:rPr>
              <a:t>and not </a:t>
            </a:r>
            <a:r>
              <a:rPr b="0" i="0" lang="en-US" sz="1800" u="none" cap="none" strike="noStrike">
                <a:solidFill>
                  <a:srgbClr val="080808"/>
                </a:solidFill>
                <a:latin typeface="Arimo"/>
                <a:ea typeface="Arimo"/>
                <a:cs typeface="Arimo"/>
                <a:sym typeface="Arimo"/>
              </a:rPr>
              <a:t>found_item:</a:t>
            </a:r>
            <a:br>
              <a:rPr b="0" i="0" lang="en-US" sz="1800" u="none" cap="none" strike="noStrike">
                <a:solidFill>
                  <a:srgbClr val="080808"/>
                </a:solidFill>
                <a:latin typeface="Arimo"/>
                <a:ea typeface="Arimo"/>
                <a:cs typeface="Arimo"/>
                <a:sym typeface="Arimo"/>
              </a:rPr>
            </a:br>
            <a:r>
              <a:rPr b="0" i="0" lang="en-US" sz="1800" u="none" cap="none" strike="noStrike">
                <a:solidFill>
                  <a:srgbClr val="080808"/>
                </a:solidFill>
                <a:latin typeface="Arimo"/>
                <a:ea typeface="Arimo"/>
                <a:cs typeface="Arimo"/>
                <a:sym typeface="Arimo"/>
              </a:rPr>
              <a:t>    </a:t>
            </a:r>
            <a:r>
              <a:rPr b="0" i="0" lang="en-US" sz="1800" u="none" cap="none" strike="noStrike">
                <a:solidFill>
                  <a:srgbClr val="0033B3"/>
                </a:solidFill>
                <a:latin typeface="Arimo"/>
                <a:ea typeface="Arimo"/>
                <a:cs typeface="Arimo"/>
                <a:sym typeface="Arimo"/>
              </a:rPr>
              <a:t>if </a:t>
            </a:r>
            <a:r>
              <a:rPr b="0" i="0" lang="en-US" sz="1800" u="none" cap="none" strike="noStrike">
                <a:solidFill>
                  <a:srgbClr val="080808"/>
                </a:solidFill>
                <a:latin typeface="Arimo"/>
                <a:ea typeface="Arimo"/>
                <a:cs typeface="Arimo"/>
                <a:sym typeface="Arimo"/>
              </a:rPr>
              <a:t>nums[k] == item_to_find:</a:t>
            </a:r>
            <a:br>
              <a:rPr b="0" i="0" lang="en-US" sz="1800" u="none" cap="none" strike="noStrike">
                <a:solidFill>
                  <a:srgbClr val="080808"/>
                </a:solidFill>
                <a:latin typeface="Arimo"/>
                <a:ea typeface="Arimo"/>
                <a:cs typeface="Arimo"/>
                <a:sym typeface="Arimo"/>
              </a:rPr>
            </a:br>
            <a:r>
              <a:rPr b="0" i="0" lang="en-US" sz="1800" u="none" cap="none" strike="noStrike">
                <a:solidFill>
                  <a:srgbClr val="080808"/>
                </a:solidFill>
                <a:latin typeface="Arimo"/>
                <a:ea typeface="Arimo"/>
                <a:cs typeface="Arimo"/>
                <a:sym typeface="Arimo"/>
              </a:rPr>
              <a:t>        found_item = </a:t>
            </a:r>
            <a:r>
              <a:rPr b="0" i="0" lang="en-US" sz="1800" u="none" cap="none" strike="noStrike">
                <a:solidFill>
                  <a:srgbClr val="0033B3"/>
                </a:solidFill>
                <a:latin typeface="Arimo"/>
                <a:ea typeface="Arimo"/>
                <a:cs typeface="Arimo"/>
                <a:sym typeface="Arimo"/>
              </a:rPr>
              <a:t>True</a:t>
            </a:r>
            <a:br>
              <a:rPr b="0" i="0" lang="en-US" sz="1800" u="none" cap="none" strike="noStrike">
                <a:solidFill>
                  <a:srgbClr val="0033B3"/>
                </a:solidFill>
                <a:latin typeface="Arimo"/>
                <a:ea typeface="Arimo"/>
                <a:cs typeface="Arimo"/>
                <a:sym typeface="Arimo"/>
              </a:rPr>
            </a:br>
            <a:r>
              <a:rPr b="0" i="0" lang="en-US" sz="1800" u="none" cap="none" strike="noStrike">
                <a:solidFill>
                  <a:srgbClr val="0033B3"/>
                </a:solidFill>
                <a:latin typeface="Arimo"/>
                <a:ea typeface="Arimo"/>
                <a:cs typeface="Arimo"/>
                <a:sym typeface="Arimo"/>
              </a:rPr>
              <a:t>    else</a:t>
            </a:r>
            <a:r>
              <a:rPr b="0" i="0" lang="en-US" sz="1800" u="none" cap="none" strike="noStrike">
                <a:solidFill>
                  <a:srgbClr val="080808"/>
                </a:solidFill>
                <a:latin typeface="Arimo"/>
                <a:ea typeface="Arimo"/>
                <a:cs typeface="Arimo"/>
                <a:sym typeface="Arimo"/>
              </a:rPr>
              <a:t>:</a:t>
            </a:r>
            <a:br>
              <a:rPr b="0" i="0" lang="en-US" sz="1800" u="none" cap="none" strike="noStrike">
                <a:solidFill>
                  <a:srgbClr val="080808"/>
                </a:solidFill>
                <a:latin typeface="Arimo"/>
                <a:ea typeface="Arimo"/>
                <a:cs typeface="Arimo"/>
                <a:sym typeface="Arimo"/>
              </a:rPr>
            </a:br>
            <a:r>
              <a:rPr b="0" i="0" lang="en-US" sz="1800" u="none" cap="none" strike="noStrike">
                <a:solidFill>
                  <a:srgbClr val="080808"/>
                </a:solidFill>
                <a:latin typeface="Arimo"/>
                <a:ea typeface="Arimo"/>
                <a:cs typeface="Arimo"/>
                <a:sym typeface="Arimo"/>
              </a:rPr>
              <a:t>        k = k + </a:t>
            </a:r>
            <a:r>
              <a:rPr b="0" i="0" lang="en-US" sz="1800" u="none" cap="none" strike="noStrike">
                <a:solidFill>
                  <a:srgbClr val="1750EB"/>
                </a:solidFill>
                <a:latin typeface="Arimo"/>
                <a:ea typeface="Arimo"/>
                <a:cs typeface="Arimo"/>
                <a:sym typeface="Arimo"/>
              </a:rPr>
              <a:t>1</a:t>
            </a:r>
            <a:br>
              <a:rPr b="0" i="0" lang="en-US" sz="1800" u="none" cap="none" strike="noStrike">
                <a:solidFill>
                  <a:srgbClr val="1750EB"/>
                </a:solidFill>
                <a:latin typeface="Arimo"/>
                <a:ea typeface="Arimo"/>
                <a:cs typeface="Arimo"/>
                <a:sym typeface="Arimo"/>
              </a:rPr>
            </a:br>
            <a:r>
              <a:rPr b="0" i="0" lang="en-US" sz="1800" u="none" cap="none" strike="noStrike">
                <a:solidFill>
                  <a:srgbClr val="0033B3"/>
                </a:solidFill>
                <a:latin typeface="Arimo"/>
                <a:ea typeface="Arimo"/>
                <a:cs typeface="Arimo"/>
                <a:sym typeface="Arimo"/>
              </a:rPr>
              <a:t>if </a:t>
            </a:r>
            <a:r>
              <a:rPr b="0" i="0" lang="en-US" sz="1800" u="none" cap="none" strike="noStrike">
                <a:solidFill>
                  <a:srgbClr val="080808"/>
                </a:solidFill>
                <a:latin typeface="Arimo"/>
                <a:ea typeface="Arimo"/>
                <a:cs typeface="Arimo"/>
                <a:sym typeface="Arimo"/>
              </a:rPr>
              <a:t>found_item:</a:t>
            </a:r>
            <a:br>
              <a:rPr b="0" i="0" lang="en-US" sz="1800" u="none" cap="none" strike="noStrike">
                <a:solidFill>
                  <a:srgbClr val="080808"/>
                </a:solidFill>
                <a:latin typeface="Arimo"/>
                <a:ea typeface="Arimo"/>
                <a:cs typeface="Arimo"/>
                <a:sym typeface="Arimo"/>
              </a:rPr>
            </a:br>
            <a:r>
              <a:rPr b="0" i="0" lang="en-US" sz="1800" u="none" cap="none" strike="noStrike">
                <a:solidFill>
                  <a:srgbClr val="080808"/>
                </a:solidFill>
                <a:latin typeface="Arimo"/>
                <a:ea typeface="Arimo"/>
                <a:cs typeface="Arimo"/>
                <a:sym typeface="Arimo"/>
              </a:rPr>
              <a:t>    </a:t>
            </a:r>
            <a:r>
              <a:rPr b="0" i="0" lang="en-US" sz="1800" u="none" cap="none" strike="noStrike">
                <a:solidFill>
                  <a:srgbClr val="000080"/>
                </a:solidFill>
                <a:latin typeface="Arimo"/>
                <a:ea typeface="Arimo"/>
                <a:cs typeface="Arimo"/>
                <a:sym typeface="Arimo"/>
              </a:rPr>
              <a:t>print</a:t>
            </a:r>
            <a:r>
              <a:rPr b="0" i="0" lang="en-US" sz="1800" u="none" cap="none" strike="noStrike">
                <a:solidFill>
                  <a:srgbClr val="080808"/>
                </a:solidFill>
                <a:latin typeface="Arimo"/>
                <a:ea typeface="Arimo"/>
                <a:cs typeface="Arimo"/>
                <a:sym typeface="Arimo"/>
              </a:rPr>
              <a:t>(</a:t>
            </a:r>
            <a:r>
              <a:rPr b="0" i="0" lang="en-US" sz="1800" u="none" cap="none" strike="noStrike">
                <a:solidFill>
                  <a:srgbClr val="067D17"/>
                </a:solidFill>
                <a:latin typeface="Arimo"/>
                <a:ea typeface="Arimo"/>
                <a:cs typeface="Arimo"/>
                <a:sym typeface="Arimo"/>
              </a:rPr>
              <a:t>"Item Found"</a:t>
            </a:r>
            <a:r>
              <a:rPr b="0" i="0" lang="en-US" sz="1800" u="none" cap="none" strike="noStrike">
                <a:solidFill>
                  <a:srgbClr val="080808"/>
                </a:solidFill>
                <a:latin typeface="Arimo"/>
                <a:ea typeface="Arimo"/>
                <a:cs typeface="Arimo"/>
                <a:sym typeface="Arimo"/>
              </a:rPr>
              <a:t>)</a:t>
            </a:r>
            <a:br>
              <a:rPr b="0" i="0" lang="en-US" sz="1800" u="none" cap="none" strike="noStrike">
                <a:solidFill>
                  <a:srgbClr val="080808"/>
                </a:solidFill>
                <a:latin typeface="Arimo"/>
                <a:ea typeface="Arimo"/>
                <a:cs typeface="Arimo"/>
                <a:sym typeface="Arimo"/>
              </a:rPr>
            </a:br>
            <a:r>
              <a:rPr b="0" i="0" lang="en-US" sz="1800" u="none" cap="none" strike="noStrike">
                <a:solidFill>
                  <a:srgbClr val="0033B3"/>
                </a:solidFill>
                <a:latin typeface="Arimo"/>
                <a:ea typeface="Arimo"/>
                <a:cs typeface="Arimo"/>
                <a:sym typeface="Arimo"/>
              </a:rPr>
              <a:t>else</a:t>
            </a:r>
            <a:r>
              <a:rPr b="0" i="0" lang="en-US" sz="1800" u="none" cap="none" strike="noStrike">
                <a:solidFill>
                  <a:srgbClr val="080808"/>
                </a:solidFill>
                <a:latin typeface="Arimo"/>
                <a:ea typeface="Arimo"/>
                <a:cs typeface="Arimo"/>
                <a:sym typeface="Arimo"/>
              </a:rPr>
              <a:t>:</a:t>
            </a:r>
            <a:br>
              <a:rPr b="0" i="0" lang="en-US" sz="1800" u="none" cap="none" strike="noStrike">
                <a:solidFill>
                  <a:srgbClr val="080808"/>
                </a:solidFill>
                <a:latin typeface="Arimo"/>
                <a:ea typeface="Arimo"/>
                <a:cs typeface="Arimo"/>
                <a:sym typeface="Arimo"/>
              </a:rPr>
            </a:br>
            <a:r>
              <a:rPr b="0" i="0" lang="en-US" sz="1800" u="none" cap="none" strike="noStrike">
                <a:solidFill>
                  <a:srgbClr val="080808"/>
                </a:solidFill>
                <a:latin typeface="Arimo"/>
                <a:ea typeface="Arimo"/>
                <a:cs typeface="Arimo"/>
                <a:sym typeface="Arimo"/>
              </a:rPr>
              <a:t>    </a:t>
            </a:r>
            <a:r>
              <a:rPr b="0" i="0" lang="en-US" sz="1800" u="none" cap="none" strike="noStrike">
                <a:solidFill>
                  <a:srgbClr val="000080"/>
                </a:solidFill>
                <a:latin typeface="Arimo"/>
                <a:ea typeface="Arimo"/>
                <a:cs typeface="Arimo"/>
                <a:sym typeface="Arimo"/>
              </a:rPr>
              <a:t>print</a:t>
            </a:r>
            <a:r>
              <a:rPr b="0" i="0" lang="en-US" sz="1800" u="none" cap="none" strike="noStrike">
                <a:solidFill>
                  <a:srgbClr val="080808"/>
                </a:solidFill>
                <a:latin typeface="Arimo"/>
                <a:ea typeface="Arimo"/>
                <a:cs typeface="Arimo"/>
                <a:sym typeface="Arimo"/>
              </a:rPr>
              <a:t>(</a:t>
            </a:r>
            <a:r>
              <a:rPr b="0" i="0" lang="en-US" sz="1800" u="none" cap="none" strike="noStrike">
                <a:solidFill>
                  <a:srgbClr val="067D17"/>
                </a:solidFill>
                <a:latin typeface="Arimo"/>
                <a:ea typeface="Arimo"/>
                <a:cs typeface="Arimo"/>
                <a:sym typeface="Arimo"/>
              </a:rPr>
              <a:t>"item not found"</a:t>
            </a:r>
            <a:r>
              <a:rPr b="0" i="0" lang="en-US" sz="1800" u="none" cap="none" strike="noStrike">
                <a:solidFill>
                  <a:srgbClr val="080808"/>
                </a:solidFill>
                <a:latin typeface="Arimo"/>
                <a:ea typeface="Arimo"/>
                <a:cs typeface="Arimo"/>
                <a:sym typeface="Arimo"/>
              </a:rPr>
              <a:t>)</a:t>
            </a:r>
            <a:endParaRPr b="0" i="0" sz="4000" u="none" cap="none" strike="noStrike">
              <a:solidFill>
                <a:schemeClr val="dk1"/>
              </a:solidFill>
              <a:latin typeface="Arial"/>
              <a:ea typeface="Arial"/>
              <a:cs typeface="Arial"/>
              <a:sym typeface="Arial"/>
            </a:endParaRPr>
          </a:p>
        </p:txBody>
      </p:sp>
      <p:sp>
        <p:nvSpPr>
          <p:cNvPr id="585" name="Google Shape;585;p44"/>
          <p:cNvSpPr/>
          <p:nvPr/>
        </p:nvSpPr>
        <p:spPr>
          <a:xfrm>
            <a:off x="8187212" y="2350246"/>
            <a:ext cx="3575297" cy="4099035"/>
          </a:xfrm>
          <a:prstGeom prst="rect">
            <a:avLst/>
          </a:prstGeom>
          <a:gradFill>
            <a:gsLst>
              <a:gs pos="0">
                <a:srgbClr val="FFDC9B"/>
              </a:gs>
              <a:gs pos="50000">
                <a:srgbClr val="FFD68D"/>
              </a:gs>
              <a:gs pos="100000">
                <a:srgbClr val="FFD478"/>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Explanation: </a:t>
            </a:r>
            <a:r>
              <a:rPr b="0" i="0" lang="en-US" sz="2000" u="none" cap="none" strike="noStrike">
                <a:solidFill>
                  <a:schemeClr val="dk1"/>
                </a:solidFill>
                <a:latin typeface="Arial"/>
                <a:ea typeface="Arial"/>
                <a:cs typeface="Arial"/>
                <a:sym typeface="Arial"/>
              </a:rPr>
              <a:t>The loop continues until either the item is not found, or the complete list has been traversed. The final if statement determines which of the two possibilities of ending the loop occurred, displaying either ‘item found’ or ‘item not found’</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45"/>
          <p:cNvSpPr txBox="1"/>
          <p:nvPr/>
        </p:nvSpPr>
        <p:spPr>
          <a:xfrm>
            <a:off x="1116424" y="2763501"/>
            <a:ext cx="10041622"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32C4A"/>
                </a:solidFill>
                <a:latin typeface="Arial"/>
                <a:ea typeface="Arial"/>
                <a:cs typeface="Arial"/>
                <a:sym typeface="Arial"/>
              </a:rPr>
              <a:t>Associative Data Structures</a:t>
            </a:r>
            <a:endParaRPr b="0" i="0" sz="4400" u="none" cap="none" strike="noStrike">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46"/>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5000"/>
              <a:buNone/>
            </a:pPr>
            <a:r>
              <a:rPr lang="en-US" sz="5000">
                <a:latin typeface="Arial"/>
                <a:ea typeface="Arial"/>
                <a:cs typeface="Arial"/>
                <a:sym typeface="Arial"/>
              </a:rPr>
              <a:t>Associative Data Structures</a:t>
            </a:r>
            <a:endParaRPr sz="5000">
              <a:latin typeface="Arial"/>
              <a:ea typeface="Arial"/>
              <a:cs typeface="Arial"/>
              <a:sym typeface="Arial"/>
            </a:endParaRPr>
          </a:p>
        </p:txBody>
      </p:sp>
      <p:graphicFrame>
        <p:nvGraphicFramePr>
          <p:cNvPr id="596" name="Google Shape;596;p46"/>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5. Associative Data Structures</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597" name="Google Shape;597;p46"/>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598" name="Google Shape;598;p46"/>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599" name="Google Shape;599;p46"/>
          <p:cNvSpPr/>
          <p:nvPr/>
        </p:nvSpPr>
        <p:spPr>
          <a:xfrm>
            <a:off x="2585258" y="1449936"/>
            <a:ext cx="9177251"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 this section, we introduce the notion of an </a:t>
            </a:r>
            <a:r>
              <a:rPr b="1" i="0" lang="en-US" sz="2400" u="none" cap="none" strike="noStrike">
                <a:solidFill>
                  <a:srgbClr val="D4650A"/>
                </a:solidFill>
                <a:latin typeface="Arial"/>
                <a:ea typeface="Arial"/>
                <a:cs typeface="Arial"/>
                <a:sym typeface="Arial"/>
              </a:rPr>
              <a:t>associative data structure</a:t>
            </a:r>
            <a:r>
              <a:rPr b="0" i="0" lang="en-US" sz="2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00" name="Google Shape;600;p46"/>
          <p:cNvSpPr/>
          <p:nvPr/>
        </p:nvSpPr>
        <p:spPr>
          <a:xfrm>
            <a:off x="2585258" y="2587793"/>
            <a:ext cx="9177251" cy="193899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Element of indexed </a:t>
            </a:r>
            <a:r>
              <a:rPr b="1" i="0" lang="en-US" sz="2400" u="none" cap="none" strike="noStrike">
                <a:solidFill>
                  <a:srgbClr val="D4650A"/>
                </a:solidFill>
                <a:latin typeface="Arial"/>
                <a:ea typeface="Arial"/>
                <a:cs typeface="Arial"/>
                <a:sym typeface="Arial"/>
              </a:rPr>
              <a:t>linear data structures</a:t>
            </a:r>
            <a:r>
              <a:rPr b="0" i="0" lang="en-US" sz="2400" u="none" cap="none" strike="noStrike">
                <a:solidFill>
                  <a:schemeClr val="dk1"/>
                </a:solidFill>
                <a:latin typeface="Arial"/>
                <a:ea typeface="Arial"/>
                <a:cs typeface="Arial"/>
                <a:sym typeface="Arial"/>
              </a:rPr>
              <a:t>, such as </a:t>
            </a:r>
            <a:r>
              <a:rPr b="1" i="0" lang="en-US" sz="2400" u="none" cap="none" strike="noStrike">
                <a:solidFill>
                  <a:srgbClr val="00B0F0"/>
                </a:solidFill>
                <a:latin typeface="Arial"/>
                <a:ea typeface="Arial"/>
                <a:cs typeface="Arial"/>
                <a:sym typeface="Arial"/>
              </a:rPr>
              <a:t>lists</a:t>
            </a:r>
            <a:r>
              <a:rPr b="0" i="0" lang="en-US" sz="2400" u="none" cap="none" strike="noStrike">
                <a:solidFill>
                  <a:schemeClr val="dk1"/>
                </a:solidFill>
                <a:latin typeface="Arial"/>
                <a:ea typeface="Arial"/>
                <a:cs typeface="Arial"/>
                <a:sym typeface="Arial"/>
              </a:rPr>
              <a:t>, are ordered – the first element (at index 0), second element (at index 1) and so forth. In contrast, the element of an associative data structure are unordered, instead accessed by an associated key.</a:t>
            </a:r>
            <a:endParaRPr b="0" i="0" sz="1400" u="none" cap="none" strike="noStrike">
              <a:solidFill>
                <a:srgbClr val="000000"/>
              </a:solidFill>
              <a:latin typeface="Arial"/>
              <a:ea typeface="Arial"/>
              <a:cs typeface="Arial"/>
              <a:sym typeface="Arial"/>
            </a:endParaRPr>
          </a:p>
        </p:txBody>
      </p:sp>
      <p:sp>
        <p:nvSpPr>
          <p:cNvPr id="601" name="Google Shape;601;p46"/>
          <p:cNvSpPr/>
          <p:nvPr/>
        </p:nvSpPr>
        <p:spPr>
          <a:xfrm>
            <a:off x="2585258" y="4861395"/>
            <a:ext cx="9177251"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 Python, an associative data structure is provided by the dictionary type.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47"/>
          <p:cNvSpPr txBox="1"/>
          <p:nvPr/>
        </p:nvSpPr>
        <p:spPr>
          <a:xfrm>
            <a:off x="1116424" y="2763501"/>
            <a:ext cx="10041622"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32C4A"/>
                </a:solidFill>
                <a:latin typeface="Arial"/>
                <a:ea typeface="Arial"/>
                <a:cs typeface="Arial"/>
                <a:sym typeface="Arial"/>
              </a:rPr>
              <a:t>Dictionary</a:t>
            </a:r>
            <a:endParaRPr b="0" i="0" sz="4400" u="none" cap="none" strike="noStrike">
              <a:solidFill>
                <a:schemeClr val="dk1"/>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48"/>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5000"/>
              <a:buNone/>
            </a:pPr>
            <a:r>
              <a:rPr lang="en-US" sz="5000">
                <a:latin typeface="Arial"/>
                <a:ea typeface="Arial"/>
                <a:cs typeface="Arial"/>
                <a:sym typeface="Arial"/>
              </a:rPr>
              <a:t>What is a Dictionary?</a:t>
            </a:r>
            <a:endParaRPr sz="5000">
              <a:latin typeface="Arial"/>
              <a:ea typeface="Arial"/>
              <a:cs typeface="Arial"/>
              <a:sym typeface="Arial"/>
            </a:endParaRPr>
          </a:p>
        </p:txBody>
      </p:sp>
      <p:graphicFrame>
        <p:nvGraphicFramePr>
          <p:cNvPr id="612" name="Google Shape;612;p48"/>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 Associative Data Structures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5.1. What is a Dictionary?</a:t>
                      </a:r>
                      <a:endParaRPr sz="1400" u="none" cap="none" strike="noStrike"/>
                    </a:p>
                  </a:txBody>
                  <a:tcPr marT="45725" marB="45725" marR="91450" marL="91450"/>
                </a:tc>
              </a:tr>
            </a:tbl>
          </a:graphicData>
        </a:graphic>
      </p:graphicFrame>
      <p:sp>
        <p:nvSpPr>
          <p:cNvPr id="613" name="Google Shape;613;p48"/>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614" name="Google Shape;614;p48"/>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615" name="Google Shape;615;p48"/>
          <p:cNvSpPr/>
          <p:nvPr/>
        </p:nvSpPr>
        <p:spPr>
          <a:xfrm>
            <a:off x="2585258" y="1449936"/>
            <a:ext cx="9177251"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 dictionary is a </a:t>
            </a:r>
            <a:r>
              <a:rPr b="1" i="0" lang="en-US" sz="2400" u="none" cap="none" strike="noStrike">
                <a:solidFill>
                  <a:srgbClr val="D4650A"/>
                </a:solidFill>
                <a:latin typeface="Arial"/>
                <a:ea typeface="Arial"/>
                <a:cs typeface="Arial"/>
                <a:sym typeface="Arial"/>
              </a:rPr>
              <a:t>mutable</a:t>
            </a:r>
            <a:r>
              <a:rPr b="0" i="0" lang="en-US" sz="2400" u="none" cap="none" strike="noStrike">
                <a:solidFill>
                  <a:schemeClr val="dk1"/>
                </a:solidFill>
                <a:latin typeface="Arial"/>
                <a:ea typeface="Arial"/>
                <a:cs typeface="Arial"/>
                <a:sym typeface="Arial"/>
              </a:rPr>
              <a:t>, associative data structure of variable length. </a:t>
            </a:r>
            <a:endParaRPr b="0" i="0" sz="1400" u="none" cap="none" strike="noStrike">
              <a:solidFill>
                <a:srgbClr val="000000"/>
              </a:solidFill>
              <a:latin typeface="Arial"/>
              <a:ea typeface="Arial"/>
              <a:cs typeface="Arial"/>
              <a:sym typeface="Arial"/>
            </a:endParaRPr>
          </a:p>
        </p:txBody>
      </p:sp>
      <p:sp>
        <p:nvSpPr>
          <p:cNvPr id="616" name="Google Shape;616;p48"/>
          <p:cNvSpPr/>
          <p:nvPr/>
        </p:nvSpPr>
        <p:spPr>
          <a:xfrm>
            <a:off x="2585258" y="2365281"/>
            <a:ext cx="9177251" cy="156966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It is an </a:t>
            </a:r>
            <a:r>
              <a:rPr b="1" i="0" lang="en-US" sz="2400" u="none" cap="none" strike="noStrike">
                <a:solidFill>
                  <a:srgbClr val="D4650A"/>
                </a:solidFill>
                <a:latin typeface="Arial"/>
                <a:ea typeface="Arial"/>
                <a:cs typeface="Arial"/>
                <a:sym typeface="Arial"/>
              </a:rPr>
              <a:t>ordered collection </a:t>
            </a:r>
            <a:r>
              <a:rPr b="0" i="0" lang="en-US" sz="2400" u="none" cap="none" strike="noStrike">
                <a:solidFill>
                  <a:schemeClr val="dk1"/>
                </a:solidFill>
                <a:latin typeface="Arial"/>
                <a:ea typeface="Arial"/>
                <a:cs typeface="Arial"/>
                <a:sym typeface="Arial"/>
              </a:rPr>
              <a:t>(starting from Python 3.7) of items. It stores element in </a:t>
            </a:r>
            <a:r>
              <a:rPr b="1" i="0" lang="en-US" sz="2400" u="none" cap="none" strike="noStrike">
                <a:solidFill>
                  <a:srgbClr val="00B0F0"/>
                </a:solidFill>
                <a:latin typeface="Arial"/>
                <a:ea typeface="Arial"/>
                <a:cs typeface="Arial"/>
                <a:sym typeface="Arial"/>
              </a:rPr>
              <a:t>key/value pairs</a:t>
            </a:r>
            <a:r>
              <a:rPr b="0" i="0" lang="en-US" sz="2400" u="none" cap="none" strike="noStrike">
                <a:solidFill>
                  <a:schemeClr val="dk1"/>
                </a:solidFill>
                <a:latin typeface="Arial"/>
                <a:ea typeface="Arial"/>
                <a:cs typeface="Arial"/>
                <a:sym typeface="Arial"/>
              </a:rPr>
              <a:t>. Here, key are unique identifiers that are associate with each value. Dictionary does not allow duplicate keys. </a:t>
            </a:r>
            <a:endParaRPr b="0" i="0" sz="1400" u="none" cap="none" strike="noStrike">
              <a:solidFill>
                <a:srgbClr val="000000"/>
              </a:solidFill>
              <a:latin typeface="Arial"/>
              <a:ea typeface="Arial"/>
              <a:cs typeface="Arial"/>
              <a:sym typeface="Arial"/>
            </a:endParaRPr>
          </a:p>
        </p:txBody>
      </p:sp>
      <p:sp>
        <p:nvSpPr>
          <p:cNvPr id="617" name="Google Shape;617;p48"/>
          <p:cNvSpPr/>
          <p:nvPr/>
        </p:nvSpPr>
        <p:spPr>
          <a:xfrm>
            <a:off x="2585257" y="4027275"/>
            <a:ext cx="9177251" cy="46166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For instance, Let’s see a data of weekly temp in dictionary</a:t>
            </a:r>
            <a:endParaRPr b="0" i="0" sz="1400" u="none" cap="none" strike="noStrike">
              <a:solidFill>
                <a:srgbClr val="000000"/>
              </a:solidFill>
              <a:latin typeface="Arial"/>
              <a:ea typeface="Arial"/>
              <a:cs typeface="Arial"/>
              <a:sym typeface="Arial"/>
            </a:endParaRPr>
          </a:p>
        </p:txBody>
      </p:sp>
      <p:graphicFrame>
        <p:nvGraphicFramePr>
          <p:cNvPr id="618" name="Google Shape;618;p48"/>
          <p:cNvGraphicFramePr/>
          <p:nvPr/>
        </p:nvGraphicFramePr>
        <p:xfrm>
          <a:off x="3046755" y="4724421"/>
          <a:ext cx="3000000" cy="3000000"/>
        </p:xfrm>
        <a:graphic>
          <a:graphicData uri="http://schemas.openxmlformats.org/drawingml/2006/table">
            <a:tbl>
              <a:tblPr bandRow="1" firstRow="1">
                <a:noFill/>
                <a:tableStyleId>{E6664844-2B1D-4FCE-927B-3923A23EA554}</a:tableStyleId>
              </a:tblPr>
              <a:tblGrid>
                <a:gridCol w="4064000"/>
                <a:gridCol w="4064000"/>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Key</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Value</a:t>
                      </a:r>
                      <a:endParaRPr sz="18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Sun</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18.8</a:t>
                      </a:r>
                      <a:endParaRPr sz="18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Mon</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10.2</a:t>
                      </a:r>
                      <a:endParaRPr sz="18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Tue </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17.2</a:t>
                      </a:r>
                      <a:endParaRPr sz="18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Wed</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11.8</a:t>
                      </a:r>
                      <a:endParaRPr sz="1800" u="none" cap="none" strike="noStrike"/>
                    </a:p>
                  </a:txBody>
                  <a:tcPr marT="45725" marB="45725" marR="91450" marL="91450"/>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9"/>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5000"/>
              <a:buNone/>
            </a:pPr>
            <a:r>
              <a:rPr lang="en-US" sz="5000">
                <a:latin typeface="Arial"/>
                <a:ea typeface="Arial"/>
                <a:cs typeface="Arial"/>
                <a:sym typeface="Arial"/>
              </a:rPr>
              <a:t>Dictionary Recipe</a:t>
            </a:r>
            <a:endParaRPr sz="5000">
              <a:latin typeface="Arial"/>
              <a:ea typeface="Arial"/>
              <a:cs typeface="Arial"/>
              <a:sym typeface="Arial"/>
            </a:endParaRPr>
          </a:p>
        </p:txBody>
      </p:sp>
      <p:graphicFrame>
        <p:nvGraphicFramePr>
          <p:cNvPr id="624" name="Google Shape;624;p49"/>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 Associative Data Structures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5.1. What is a Dictionary? </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Dictionary Recipe</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625" name="Google Shape;625;p49"/>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626" name="Google Shape;626;p49"/>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627" name="Google Shape;627;p49"/>
          <p:cNvSpPr/>
          <p:nvPr/>
        </p:nvSpPr>
        <p:spPr>
          <a:xfrm>
            <a:off x="2585256" y="1550228"/>
            <a:ext cx="9285319"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Dictionary daily_temps stores the average temperature for each day of the week. Each temperature has with it a unique key value (sun, mon, etc.) </a:t>
            </a:r>
            <a:r>
              <a:rPr b="1" i="0" lang="en-US" sz="2400" u="none" cap="none" strike="noStrike">
                <a:solidFill>
                  <a:srgbClr val="00B0F0"/>
                </a:solidFill>
                <a:latin typeface="Arial"/>
                <a:ea typeface="Arial"/>
                <a:cs typeface="Arial"/>
                <a:sym typeface="Arial"/>
              </a:rPr>
              <a:t>Strings are often used as key values</a:t>
            </a:r>
            <a:r>
              <a:rPr b="0" i="0" lang="en-US" sz="2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28" name="Google Shape;628;p49"/>
          <p:cNvSpPr/>
          <p:nvPr/>
        </p:nvSpPr>
        <p:spPr>
          <a:xfrm>
            <a:off x="2585256" y="5401778"/>
            <a:ext cx="9177251"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The Bracket notion of dictionary is curly braces i.e. {} and accessing to the value is same like list but there we used indexing number whereas here we use keys.</a:t>
            </a:r>
            <a:endParaRPr b="0" i="0" sz="1400" u="none" cap="none" strike="noStrike">
              <a:solidFill>
                <a:srgbClr val="000000"/>
              </a:solidFill>
              <a:latin typeface="Arial"/>
              <a:ea typeface="Arial"/>
              <a:cs typeface="Arial"/>
              <a:sym typeface="Arial"/>
            </a:endParaRPr>
          </a:p>
        </p:txBody>
      </p:sp>
      <p:sp>
        <p:nvSpPr>
          <p:cNvPr id="629" name="Google Shape;629;p49"/>
          <p:cNvSpPr/>
          <p:nvPr/>
        </p:nvSpPr>
        <p:spPr>
          <a:xfrm>
            <a:off x="2854065" y="3107463"/>
            <a:ext cx="8513379" cy="120032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80808"/>
                </a:solidFill>
                <a:latin typeface="Arial"/>
                <a:ea typeface="Arial"/>
                <a:cs typeface="Arial"/>
                <a:sym typeface="Arial"/>
              </a:rPr>
              <a:t>daily_temp = {</a:t>
            </a:r>
            <a:r>
              <a:rPr b="0" i="0" lang="en-US" sz="2400" u="none" cap="none" strike="noStrike">
                <a:solidFill>
                  <a:srgbClr val="067D17"/>
                </a:solidFill>
                <a:latin typeface="Arial"/>
                <a:ea typeface="Arial"/>
                <a:cs typeface="Arial"/>
                <a:sym typeface="Arial"/>
              </a:rPr>
              <a:t>'sun'</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18.8</a:t>
            </a:r>
            <a:r>
              <a:rPr b="0" i="0" lang="en-US" sz="2400" u="none" cap="none" strike="noStrike">
                <a:solidFill>
                  <a:srgbClr val="080808"/>
                </a:solidFill>
                <a:latin typeface="Arial"/>
                <a:ea typeface="Arial"/>
                <a:cs typeface="Arial"/>
                <a:sym typeface="Arial"/>
              </a:rPr>
              <a:t>, </a:t>
            </a:r>
            <a:r>
              <a:rPr b="0" i="0" lang="en-US" sz="2400" u="none" cap="none" strike="noStrike">
                <a:solidFill>
                  <a:srgbClr val="067D17"/>
                </a:solidFill>
                <a:latin typeface="Arial"/>
                <a:ea typeface="Arial"/>
                <a:cs typeface="Arial"/>
                <a:sym typeface="Arial"/>
              </a:rPr>
              <a:t>'mon'</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10.2</a:t>
            </a:r>
            <a:r>
              <a:rPr b="0" i="0" lang="en-US" sz="2400" u="none" cap="none" strike="noStrike">
                <a:solidFill>
                  <a:srgbClr val="080808"/>
                </a:solidFill>
                <a:latin typeface="Arial"/>
                <a:ea typeface="Arial"/>
                <a:cs typeface="Arial"/>
                <a:sym typeface="Arial"/>
              </a:rPr>
              <a:t>, </a:t>
            </a:r>
            <a:r>
              <a:rPr b="0" i="0" lang="en-US" sz="2400" u="none" cap="none" strike="noStrike">
                <a:solidFill>
                  <a:srgbClr val="067D17"/>
                </a:solidFill>
                <a:latin typeface="Arial"/>
                <a:ea typeface="Arial"/>
                <a:cs typeface="Arial"/>
                <a:sym typeface="Arial"/>
              </a:rPr>
              <a:t>'tue'</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17.2</a:t>
            </a:r>
            <a:r>
              <a:rPr b="0" i="0" lang="en-US" sz="2400" u="none" cap="none" strike="noStrike">
                <a:solidFill>
                  <a:srgbClr val="080808"/>
                </a:solidFill>
                <a:latin typeface="Arial"/>
                <a:ea typeface="Arial"/>
                <a:cs typeface="Arial"/>
                <a:sym typeface="Arial"/>
              </a:rPr>
              <a:t>, </a:t>
            </a:r>
            <a:r>
              <a:rPr b="0" i="0" lang="en-US" sz="2400" u="none" cap="none" strike="noStrike">
                <a:solidFill>
                  <a:srgbClr val="067D17"/>
                </a:solidFill>
                <a:latin typeface="Arial"/>
                <a:ea typeface="Arial"/>
                <a:cs typeface="Arial"/>
                <a:sym typeface="Arial"/>
              </a:rPr>
              <a:t>'wed'</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11.8</a:t>
            </a:r>
            <a:r>
              <a:rPr b="0" i="0" lang="en-US" sz="2400" u="none" cap="none" strike="noStrike">
                <a:solidFill>
                  <a:srgbClr val="080808"/>
                </a:solidFill>
                <a:latin typeface="Arial"/>
                <a:ea typeface="Arial"/>
                <a:cs typeface="Arial"/>
                <a:sym typeface="Arial"/>
              </a:rPr>
              <a:t>, </a:t>
            </a:r>
            <a:r>
              <a:rPr b="0" i="0" lang="en-US" sz="2400" u="none" cap="none" strike="noStrike">
                <a:solidFill>
                  <a:srgbClr val="067D17"/>
                </a:solidFill>
                <a:latin typeface="Arial"/>
                <a:ea typeface="Arial"/>
                <a:cs typeface="Arial"/>
                <a:sym typeface="Arial"/>
              </a:rPr>
              <a:t>'thur'</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13.2</a:t>
            </a:r>
            <a:r>
              <a:rPr b="0" i="0" lang="en-US" sz="2400" u="none" cap="none" strike="noStrike">
                <a:solidFill>
                  <a:srgbClr val="080808"/>
                </a:solidFill>
                <a:latin typeface="Arial"/>
                <a:ea typeface="Arial"/>
                <a:cs typeface="Arial"/>
                <a:sym typeface="Arial"/>
              </a:rPr>
              <a:t>, </a:t>
            </a:r>
            <a:r>
              <a:rPr b="0" i="0" lang="en-US" sz="2400" u="none" cap="none" strike="noStrike">
                <a:solidFill>
                  <a:srgbClr val="067D17"/>
                </a:solidFill>
                <a:latin typeface="Arial"/>
                <a:ea typeface="Arial"/>
                <a:cs typeface="Arial"/>
                <a:sym typeface="Arial"/>
              </a:rPr>
              <a:t>'fri'</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15.6</a:t>
            </a:r>
            <a:r>
              <a:rPr b="0" i="0" lang="en-US" sz="2400" u="none" cap="none" strike="noStrike">
                <a:solidFill>
                  <a:srgbClr val="080808"/>
                </a:solidFill>
                <a:latin typeface="Arial"/>
                <a:ea typeface="Arial"/>
                <a:cs typeface="Arial"/>
                <a:sym typeface="Arial"/>
              </a:rPr>
              <a:t>, </a:t>
            </a:r>
            <a:r>
              <a:rPr b="0" i="0" lang="en-US" sz="2400" u="none" cap="none" strike="noStrike">
                <a:solidFill>
                  <a:srgbClr val="067D17"/>
                </a:solidFill>
                <a:latin typeface="Arial"/>
                <a:ea typeface="Arial"/>
                <a:cs typeface="Arial"/>
                <a:sym typeface="Arial"/>
              </a:rPr>
              <a:t>'sat'</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14.0</a:t>
            </a:r>
            <a:r>
              <a:rPr b="0" i="0" lang="en-US" sz="2400" u="none" cap="none" strike="noStrike">
                <a:solidFill>
                  <a:srgbClr val="080808"/>
                </a:solidFill>
                <a:latin typeface="Arial"/>
                <a:ea typeface="Arial"/>
                <a:cs typeface="Arial"/>
                <a:sym typeface="Arial"/>
              </a:rPr>
              <a:t>}</a:t>
            </a:r>
            <a:br>
              <a:rPr b="0" i="0" lang="en-US" sz="2400" u="none" cap="none" strike="noStrike">
                <a:solidFill>
                  <a:srgbClr val="080808"/>
                </a:solidFill>
                <a:latin typeface="Arial"/>
                <a:ea typeface="Arial"/>
                <a:cs typeface="Arial"/>
                <a:sym typeface="Arial"/>
              </a:rPr>
            </a:br>
            <a:r>
              <a:rPr b="0" i="0" lang="en-US" sz="2400" u="none" cap="none" strike="noStrike">
                <a:solidFill>
                  <a:srgbClr val="000080"/>
                </a:solidFill>
                <a:latin typeface="Arial"/>
                <a:ea typeface="Arial"/>
                <a:cs typeface="Arial"/>
                <a:sym typeface="Arial"/>
              </a:rPr>
              <a:t>print</a:t>
            </a:r>
            <a:r>
              <a:rPr b="0" i="0" lang="en-US" sz="2400" u="none" cap="none" strike="noStrike">
                <a:solidFill>
                  <a:srgbClr val="080808"/>
                </a:solidFill>
                <a:latin typeface="Arial"/>
                <a:ea typeface="Arial"/>
                <a:cs typeface="Arial"/>
                <a:sym typeface="Arial"/>
              </a:rPr>
              <a:t>(daily_temp)</a:t>
            </a:r>
            <a:endParaRPr b="0" i="0" sz="4800" u="none" cap="none" strike="noStrike">
              <a:solidFill>
                <a:schemeClr val="dk1"/>
              </a:solidFill>
              <a:latin typeface="Arial"/>
              <a:ea typeface="Arial"/>
              <a:cs typeface="Arial"/>
              <a:sym typeface="Arial"/>
            </a:endParaRPr>
          </a:p>
        </p:txBody>
      </p:sp>
      <p:pic>
        <p:nvPicPr>
          <p:cNvPr id="630" name="Google Shape;630;p49"/>
          <p:cNvPicPr preferRelativeResize="0"/>
          <p:nvPr/>
        </p:nvPicPr>
        <p:blipFill rotWithShape="1">
          <a:blip r:embed="rId3">
            <a:alphaModFix/>
          </a:blip>
          <a:srcRect b="0" l="0" r="0" t="0"/>
          <a:stretch/>
        </p:blipFill>
        <p:spPr>
          <a:xfrm>
            <a:off x="2801391" y="4554996"/>
            <a:ext cx="9069184" cy="599578"/>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4" name="Shape 634"/>
        <p:cNvGrpSpPr/>
        <p:nvPr/>
      </p:nvGrpSpPr>
      <p:grpSpPr>
        <a:xfrm>
          <a:off x="0" y="0"/>
          <a:ext cx="0" cy="0"/>
          <a:chOff x="0" y="0"/>
          <a:chExt cx="0" cy="0"/>
        </a:xfrm>
      </p:grpSpPr>
      <p:sp>
        <p:nvSpPr>
          <p:cNvPr id="635" name="Google Shape;635;p50"/>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None/>
            </a:pPr>
            <a:r>
              <a:rPr lang="en-US" sz="4400">
                <a:latin typeface="Arial"/>
                <a:ea typeface="Arial"/>
                <a:cs typeface="Arial"/>
                <a:sym typeface="Arial"/>
              </a:rPr>
              <a:t>Tuple as Key</a:t>
            </a:r>
            <a:endParaRPr sz="4400">
              <a:latin typeface="Arial"/>
              <a:ea typeface="Arial"/>
              <a:cs typeface="Arial"/>
              <a:sym typeface="Arial"/>
            </a:endParaRPr>
          </a:p>
        </p:txBody>
      </p:sp>
      <p:graphicFrame>
        <p:nvGraphicFramePr>
          <p:cNvPr id="636" name="Google Shape;636;p50"/>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 Associative Data Structures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5.1. What is a Dictionary? </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5.2. Tuple as Key</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637" name="Google Shape;637;p50"/>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638" name="Google Shape;638;p50"/>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639" name="Google Shape;639;p50"/>
          <p:cNvSpPr/>
          <p:nvPr/>
        </p:nvSpPr>
        <p:spPr>
          <a:xfrm>
            <a:off x="2585256" y="1550228"/>
            <a:ext cx="9285319"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Strings are often used as key values, however, any other immutable type may be used as well.</a:t>
            </a:r>
            <a:endParaRPr b="0" i="0" sz="1400" u="none" cap="none" strike="noStrike">
              <a:solidFill>
                <a:srgbClr val="000000"/>
              </a:solidFill>
              <a:latin typeface="Arial"/>
              <a:ea typeface="Arial"/>
              <a:cs typeface="Arial"/>
              <a:sym typeface="Arial"/>
            </a:endParaRPr>
          </a:p>
        </p:txBody>
      </p:sp>
      <p:sp>
        <p:nvSpPr>
          <p:cNvPr id="640" name="Google Shape;640;p50"/>
          <p:cNvSpPr/>
          <p:nvPr/>
        </p:nvSpPr>
        <p:spPr>
          <a:xfrm>
            <a:off x="2693324" y="2610138"/>
            <a:ext cx="228628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For instance: </a:t>
            </a:r>
            <a:endParaRPr b="0" i="0" sz="1400" u="none" cap="none" strike="noStrike">
              <a:solidFill>
                <a:srgbClr val="000000"/>
              </a:solidFill>
              <a:latin typeface="Arial"/>
              <a:ea typeface="Arial"/>
              <a:cs typeface="Arial"/>
              <a:sym typeface="Arial"/>
            </a:endParaRPr>
          </a:p>
        </p:txBody>
      </p:sp>
      <p:sp>
        <p:nvSpPr>
          <p:cNvPr id="641" name="Google Shape;641;p50"/>
          <p:cNvSpPr txBox="1"/>
          <p:nvPr/>
        </p:nvSpPr>
        <p:spPr>
          <a:xfrm>
            <a:off x="2585256" y="3300716"/>
            <a:ext cx="4459521"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temps = {</a:t>
            </a:r>
            <a:br>
              <a:rPr b="1" i="0" lang="en-US" sz="2000" u="none" cap="none" strike="noStrike">
                <a:solidFill>
                  <a:schemeClr val="dk1"/>
                </a:solidFill>
                <a:latin typeface="Arial"/>
                <a:ea typeface="Arial"/>
                <a:cs typeface="Arial"/>
                <a:sym typeface="Arial"/>
              </a:rPr>
            </a:br>
            <a:r>
              <a:rPr b="1" i="0" lang="en-US" sz="2000" u="none" cap="none" strike="noStrike">
                <a:solidFill>
                  <a:schemeClr val="dk1"/>
                </a:solidFill>
                <a:latin typeface="Arial"/>
                <a:ea typeface="Arial"/>
                <a:cs typeface="Arial"/>
                <a:sym typeface="Arial"/>
              </a:rPr>
              <a:t>	('Jan', 02, 2004): 14.8,</a:t>
            </a:r>
            <a:br>
              <a:rPr b="1" i="0" lang="en-US" sz="2000" u="none" cap="none" strike="noStrike">
                <a:solidFill>
                  <a:schemeClr val="dk1"/>
                </a:solidFill>
                <a:latin typeface="Arial"/>
                <a:ea typeface="Arial"/>
                <a:cs typeface="Arial"/>
                <a:sym typeface="Arial"/>
              </a:rPr>
            </a:br>
            <a:r>
              <a:rPr b="1" i="0" lang="en-US" sz="2000" u="none" cap="none" strike="noStrike">
                <a:solidFill>
                  <a:schemeClr val="dk1"/>
                </a:solidFill>
                <a:latin typeface="Arial"/>
                <a:ea typeface="Arial"/>
                <a:cs typeface="Arial"/>
                <a:sym typeface="Arial"/>
              </a:rPr>
              <a:t>	('Mar', 06, 2000): 18.2,</a:t>
            </a:r>
            <a:br>
              <a:rPr b="1" i="0" lang="en-US" sz="2000" u="none" cap="none" strike="noStrike">
                <a:solidFill>
                  <a:schemeClr val="dk1"/>
                </a:solidFill>
                <a:latin typeface="Arial"/>
                <a:ea typeface="Arial"/>
                <a:cs typeface="Arial"/>
                <a:sym typeface="Arial"/>
              </a:rPr>
            </a:br>
            <a:r>
              <a:rPr b="1" i="0" lang="en-US" sz="2000" u="none" cap="none" strike="noStrike">
                <a:solidFill>
                  <a:schemeClr val="dk1"/>
                </a:solidFill>
                <a:latin typeface="Arial"/>
                <a:ea typeface="Arial"/>
                <a:cs typeface="Arial"/>
                <a:sym typeface="Arial"/>
              </a:rPr>
              <a:t>	('Nov', 30, 2003): 11.0,</a:t>
            </a:r>
            <a:br>
              <a:rPr b="1" i="0" lang="en-US" sz="2000" u="none" cap="none" strike="noStrike">
                <a:solidFill>
                  <a:schemeClr val="dk1"/>
                </a:solidFill>
                <a:latin typeface="Arial"/>
                <a:ea typeface="Arial"/>
                <a:cs typeface="Arial"/>
                <a:sym typeface="Arial"/>
              </a:rPr>
            </a:br>
            <a:r>
              <a:rPr b="1" i="0" lang="en-US" sz="2000" u="none" cap="none" strike="noStrike">
                <a:solidFill>
                  <a:schemeClr val="dk1"/>
                </a:solidFill>
                <a:latin typeface="Arial"/>
                <a:ea typeface="Arial"/>
                <a:cs typeface="Arial"/>
                <a:sym typeface="Arial"/>
              </a:rPr>
              <a:t>	('Apr', 14, 2001): 14.6,</a:t>
            </a:r>
            <a:br>
              <a:rPr b="1" i="0" lang="en-US" sz="2000" u="none" cap="none" strike="noStrike">
                <a:solidFill>
                  <a:schemeClr val="dk1"/>
                </a:solidFill>
                <a:latin typeface="Arial"/>
                <a:ea typeface="Arial"/>
                <a:cs typeface="Arial"/>
                <a:sym typeface="Arial"/>
              </a:rPr>
            </a:br>
            <a:r>
              <a:rPr b="1" i="0" lang="en-US" sz="2000" u="none" cap="none" strike="noStrike">
                <a:solidFill>
                  <a:schemeClr val="dk1"/>
                </a:solidFill>
                <a:latin typeface="Arial"/>
                <a:ea typeface="Arial"/>
                <a:cs typeface="Arial"/>
                <a:sym typeface="Arial"/>
              </a:rPr>
              <a:t>	('Dec', 21, 2002): 18.8 }</a:t>
            </a:r>
            <a:endParaRPr b="0" i="0" sz="1400" u="none" cap="none" strike="noStrike">
              <a:solidFill>
                <a:srgbClr val="000000"/>
              </a:solidFill>
              <a:latin typeface="Arial"/>
              <a:ea typeface="Arial"/>
              <a:cs typeface="Arial"/>
              <a:sym typeface="Arial"/>
            </a:endParaRPr>
          </a:p>
        </p:txBody>
      </p:sp>
      <p:graphicFrame>
        <p:nvGraphicFramePr>
          <p:cNvPr id="642" name="Google Shape;642;p50"/>
          <p:cNvGraphicFramePr/>
          <p:nvPr/>
        </p:nvGraphicFramePr>
        <p:xfrm>
          <a:off x="6792200" y="3385508"/>
          <a:ext cx="3000000" cy="3000000"/>
        </p:xfrm>
        <a:graphic>
          <a:graphicData uri="http://schemas.openxmlformats.org/drawingml/2006/table">
            <a:tbl>
              <a:tblPr bandRow="1" firstRow="1">
                <a:noFill/>
                <a:tableStyleId>{E6664844-2B1D-4FCE-927B-3923A23EA554}</a:tableStyleId>
              </a:tblPr>
              <a:tblGrid>
                <a:gridCol w="3055725"/>
                <a:gridCol w="1464750"/>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Courier New"/>
                          <a:ea typeface="Courier New"/>
                          <a:cs typeface="Courier New"/>
                          <a:sym typeface="Courier New"/>
                        </a:rPr>
                        <a:t>('Apr', 14, 2001):</a:t>
                      </a:r>
                      <a:endParaRPr b="0" sz="1800" u="none" cap="none" strike="noStrike">
                        <a:solidFill>
                          <a:schemeClr val="dk1"/>
                        </a:solidFill>
                        <a:latin typeface="Courier New"/>
                        <a:ea typeface="Courier New"/>
                        <a:cs typeface="Courier New"/>
                        <a:sym typeface="Courier New"/>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9F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Courier New"/>
                          <a:ea typeface="Courier New"/>
                          <a:cs typeface="Courier New"/>
                          <a:sym typeface="Courier New"/>
                        </a:rPr>
                        <a:t>14.6</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9F9F9"/>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Courier New"/>
                          <a:ea typeface="Courier New"/>
                          <a:cs typeface="Courier New"/>
                          <a:sym typeface="Courier New"/>
                        </a:rPr>
                        <a:t>('Dec', 21, 2002):</a:t>
                      </a:r>
                      <a:endParaRPr b="0" sz="1800" u="none" cap="none" strike="noStrike">
                        <a:solidFill>
                          <a:schemeClr val="dk1"/>
                        </a:solidFill>
                        <a:latin typeface="Courier New"/>
                        <a:ea typeface="Courier New"/>
                        <a:cs typeface="Courier New"/>
                        <a:sym typeface="Courier New"/>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9F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18.8</a:t>
                      </a:r>
                      <a:endParaRPr sz="1800" u="none" cap="none" strike="noStrike">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9F9F9"/>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Courier New"/>
                          <a:ea typeface="Courier New"/>
                          <a:cs typeface="Courier New"/>
                          <a:sym typeface="Courier New"/>
                        </a:rPr>
                        <a:t>('Nov', 30, 2003):</a:t>
                      </a:r>
                      <a:endParaRPr b="0" sz="1800" u="none" cap="none" strike="noStrike">
                        <a:solidFill>
                          <a:schemeClr val="dk1"/>
                        </a:solidFill>
                        <a:latin typeface="Courier New"/>
                        <a:ea typeface="Courier New"/>
                        <a:cs typeface="Courier New"/>
                        <a:sym typeface="Courier New"/>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9F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11.0</a:t>
                      </a:r>
                      <a:endParaRPr sz="1800" u="none" cap="none" strike="noStrike">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9F9F9"/>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Courier New"/>
                          <a:ea typeface="Courier New"/>
                          <a:cs typeface="Courier New"/>
                          <a:sym typeface="Courier New"/>
                        </a:rPr>
                        <a:t>('Jan', 02, 2004):</a:t>
                      </a:r>
                      <a:endParaRPr b="0" sz="1800" u="none" cap="none" strike="noStrike">
                        <a:solidFill>
                          <a:schemeClr val="dk1"/>
                        </a:solidFill>
                        <a:latin typeface="Courier New"/>
                        <a:ea typeface="Courier New"/>
                        <a:cs typeface="Courier New"/>
                        <a:sym typeface="Courier New"/>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9F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14.8</a:t>
                      </a:r>
                      <a:endParaRPr sz="1800" u="none" cap="none" strike="noStrike">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9F9F9"/>
                    </a:solidFill>
                  </a:tcPr>
                </a:tc>
              </a:tr>
              <a:tr h="370850">
                <a:tc>
                  <a:txBody>
                    <a:bodyPr/>
                    <a:lstStyle/>
                    <a:p>
                      <a:pPr indent="0" lvl="0" marL="0" marR="0" rtl="0" algn="ctr">
                        <a:lnSpc>
                          <a:spcPct val="100000"/>
                        </a:lnSpc>
                        <a:spcBef>
                          <a:spcPts val="0"/>
                        </a:spcBef>
                        <a:spcAft>
                          <a:spcPts val="0"/>
                        </a:spcAft>
                        <a:buClr>
                          <a:schemeClr val="dk1"/>
                        </a:buClr>
                        <a:buSzPts val="1800"/>
                        <a:buFont typeface="Courier New"/>
                        <a:buNone/>
                      </a:pPr>
                      <a:r>
                        <a:rPr b="0" lang="en-US" sz="1800" u="none" cap="none" strike="noStrike">
                          <a:solidFill>
                            <a:schemeClr val="dk1"/>
                          </a:solidFill>
                          <a:latin typeface="Courier New"/>
                          <a:ea typeface="Courier New"/>
                          <a:cs typeface="Courier New"/>
                          <a:sym typeface="Courier New"/>
                        </a:rPr>
                        <a:t>('Mar', 06, 2000):</a:t>
                      </a:r>
                      <a:endParaRPr b="0" sz="1800" u="none" cap="none" strike="noStrike">
                        <a:solidFill>
                          <a:schemeClr val="dk1"/>
                        </a:solidFill>
                        <a:latin typeface="Courier New"/>
                        <a:ea typeface="Courier New"/>
                        <a:cs typeface="Courier New"/>
                        <a:sym typeface="Courier New"/>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9F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18.2</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9F9F9"/>
                    </a:solidFill>
                  </a:tcPr>
                </a:tc>
              </a:tr>
            </a:tbl>
          </a:graphicData>
        </a:graphic>
      </p:graphicFrame>
      <p:sp>
        <p:nvSpPr>
          <p:cNvPr id="643" name="Google Shape;643;p50"/>
          <p:cNvSpPr/>
          <p:nvPr/>
        </p:nvSpPr>
        <p:spPr>
          <a:xfrm>
            <a:off x="3367990" y="5534025"/>
            <a:ext cx="771984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Associative Data Structure Using Tuple Key Values </a:t>
            </a:r>
            <a:endParaRPr b="0" i="0" sz="1400" u="none" cap="none" strike="noStrike">
              <a:solidFill>
                <a:srgbClr val="000000"/>
              </a:solidFill>
              <a:latin typeface="Arial"/>
              <a:ea typeface="Arial"/>
              <a:cs typeface="Arial"/>
              <a:sym typeface="Arial"/>
            </a:endParaRPr>
          </a:p>
        </p:txBody>
      </p:sp>
      <p:sp>
        <p:nvSpPr>
          <p:cNvPr id="644" name="Google Shape;644;p50"/>
          <p:cNvSpPr/>
          <p:nvPr/>
        </p:nvSpPr>
        <p:spPr>
          <a:xfrm>
            <a:off x="2693324" y="6059174"/>
            <a:ext cx="471154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temps[('Apr', 14, 2001)] → 14.6 </a:t>
            </a:r>
            <a:endParaRPr b="1" i="0" sz="2400" u="none" cap="none" strike="noStrike">
              <a:solidFill>
                <a:schemeClr val="dk1"/>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51"/>
          <p:cNvSpPr txBox="1"/>
          <p:nvPr/>
        </p:nvSpPr>
        <p:spPr>
          <a:xfrm>
            <a:off x="1116424" y="2763501"/>
            <a:ext cx="10041622" cy="144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32C4A"/>
                </a:solidFill>
                <a:latin typeface="Arial"/>
                <a:ea typeface="Arial"/>
                <a:cs typeface="Arial"/>
                <a:sym typeface="Arial"/>
              </a:rPr>
              <a:t>Some of the common operation of dictionaries</a:t>
            </a:r>
            <a:endParaRPr b="0" i="0" sz="4400" u="none" cap="none" strike="noStrike">
              <a:solidFill>
                <a:schemeClr val="dk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52"/>
          <p:cNvSpPr txBox="1"/>
          <p:nvPr>
            <p:ph idx="1" type="subTitle"/>
          </p:nvPr>
        </p:nvSpPr>
        <p:spPr>
          <a:xfrm>
            <a:off x="3499945" y="308259"/>
            <a:ext cx="7072471"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191919"/>
              </a:buClr>
              <a:buSzPts val="4800"/>
              <a:buNone/>
            </a:pPr>
            <a:r>
              <a:rPr lang="en-US" sz="4800">
                <a:solidFill>
                  <a:srgbClr val="191919"/>
                </a:solidFill>
                <a:latin typeface="Arial"/>
                <a:ea typeface="Arial"/>
                <a:cs typeface="Arial"/>
                <a:sym typeface="Arial"/>
              </a:rPr>
              <a:t>Sneak Peek!!</a:t>
            </a:r>
            <a:endParaRPr sz="4800">
              <a:solidFill>
                <a:srgbClr val="191919"/>
              </a:solidFill>
              <a:latin typeface="Arial"/>
              <a:ea typeface="Arial"/>
              <a:cs typeface="Arial"/>
              <a:sym typeface="Arial"/>
            </a:endParaRPr>
          </a:p>
        </p:txBody>
      </p:sp>
      <p:graphicFrame>
        <p:nvGraphicFramePr>
          <p:cNvPr id="655" name="Google Shape;655;p52"/>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 Associative Data Structures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5.1. What is a Dictionary? </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5.2. Tuple as Key</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Sneak Peek!!</a:t>
                      </a:r>
                      <a:endParaRPr b="1" sz="1600" u="sng" cap="none" strike="noStrike">
                        <a:solidFill>
                          <a:srgbClr val="00B050"/>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txBody>
                  <a:tcPr marT="45725" marB="45725" marR="91450" marL="91450"/>
                </a:tc>
              </a:tr>
            </a:tbl>
          </a:graphicData>
        </a:graphic>
      </p:graphicFrame>
      <p:cxnSp>
        <p:nvCxnSpPr>
          <p:cNvPr id="656" name="Google Shape;656;p52"/>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657" name="Google Shape;657;p52"/>
          <p:cNvSpPr/>
          <p:nvPr/>
        </p:nvSpPr>
        <p:spPr>
          <a:xfrm>
            <a:off x="2809449" y="1603046"/>
            <a:ext cx="8467831" cy="3416320"/>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80808"/>
                </a:solidFill>
                <a:latin typeface="Arial"/>
                <a:ea typeface="Arial"/>
                <a:cs typeface="Arial"/>
                <a:sym typeface="Arial"/>
              </a:rPr>
              <a:t>daily_temp = {</a:t>
            </a:r>
            <a:r>
              <a:rPr b="0" i="0" lang="en-US" sz="2400" u="none" cap="none" strike="noStrike">
                <a:solidFill>
                  <a:srgbClr val="067D17"/>
                </a:solidFill>
                <a:latin typeface="Arial"/>
                <a:ea typeface="Arial"/>
                <a:cs typeface="Arial"/>
                <a:sym typeface="Arial"/>
              </a:rPr>
              <a:t>'sun'</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18.8</a:t>
            </a:r>
            <a:r>
              <a:rPr b="0" i="0" lang="en-US" sz="2400" u="none" cap="none" strike="noStrike">
                <a:solidFill>
                  <a:srgbClr val="080808"/>
                </a:solidFill>
                <a:latin typeface="Arial"/>
                <a:ea typeface="Arial"/>
                <a:cs typeface="Arial"/>
                <a:sym typeface="Arial"/>
              </a:rPr>
              <a:t>, </a:t>
            </a:r>
            <a:r>
              <a:rPr b="0" i="0" lang="en-US" sz="2400" u="none" cap="none" strike="noStrike">
                <a:solidFill>
                  <a:srgbClr val="067D17"/>
                </a:solidFill>
                <a:latin typeface="Arial"/>
                <a:ea typeface="Arial"/>
                <a:cs typeface="Arial"/>
                <a:sym typeface="Arial"/>
              </a:rPr>
              <a:t>'mon'</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10.2</a:t>
            </a:r>
            <a:r>
              <a:rPr b="0" i="0" lang="en-US" sz="2400" u="none" cap="none" strike="noStrike">
                <a:solidFill>
                  <a:srgbClr val="080808"/>
                </a:solidFill>
                <a:latin typeface="Arial"/>
                <a:ea typeface="Arial"/>
                <a:cs typeface="Arial"/>
                <a:sym typeface="Arial"/>
              </a:rPr>
              <a:t>, </a:t>
            </a:r>
            <a:r>
              <a:rPr b="0" i="0" lang="en-US" sz="2400" u="none" cap="none" strike="noStrike">
                <a:solidFill>
                  <a:srgbClr val="067D17"/>
                </a:solidFill>
                <a:latin typeface="Arial"/>
                <a:ea typeface="Arial"/>
                <a:cs typeface="Arial"/>
                <a:sym typeface="Arial"/>
              </a:rPr>
              <a:t>'tue'</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17.2</a:t>
            </a:r>
            <a:r>
              <a:rPr b="0" i="0" lang="en-US" sz="2400" u="none" cap="none" strike="noStrike">
                <a:solidFill>
                  <a:srgbClr val="080808"/>
                </a:solidFill>
                <a:latin typeface="Arial"/>
                <a:ea typeface="Arial"/>
                <a:cs typeface="Arial"/>
                <a:sym typeface="Arial"/>
              </a:rPr>
              <a:t>}</a:t>
            </a:r>
            <a:br>
              <a:rPr b="0" i="0" lang="en-US" sz="2400" u="none" cap="none" strike="noStrike">
                <a:solidFill>
                  <a:srgbClr val="080808"/>
                </a:solidFill>
                <a:latin typeface="Arial"/>
                <a:ea typeface="Arial"/>
                <a:cs typeface="Arial"/>
                <a:sym typeface="Arial"/>
              </a:rPr>
            </a:br>
            <a:r>
              <a:rPr b="0" i="0" lang="en-US" sz="2400" u="none" cap="none" strike="noStrike">
                <a:solidFill>
                  <a:srgbClr val="000080"/>
                </a:solidFill>
                <a:latin typeface="Arial"/>
                <a:ea typeface="Arial"/>
                <a:cs typeface="Arial"/>
                <a:sym typeface="Arial"/>
              </a:rPr>
              <a:t>print</a:t>
            </a:r>
            <a:r>
              <a:rPr b="0" i="0" lang="en-US" sz="2400" u="none" cap="none" strike="noStrike">
                <a:solidFill>
                  <a:srgbClr val="080808"/>
                </a:solidFill>
                <a:latin typeface="Arial"/>
                <a:ea typeface="Arial"/>
                <a:cs typeface="Arial"/>
                <a:sym typeface="Arial"/>
              </a:rPr>
              <a:t>(</a:t>
            </a:r>
            <a:r>
              <a:rPr b="0" i="0" lang="en-US" sz="2400" u="none" cap="none" strike="noStrike">
                <a:solidFill>
                  <a:srgbClr val="067D17"/>
                </a:solidFill>
                <a:latin typeface="Arial"/>
                <a:ea typeface="Arial"/>
                <a:cs typeface="Arial"/>
                <a:sym typeface="Arial"/>
              </a:rPr>
              <a:t>"Initial Dictionary"</a:t>
            </a:r>
            <a:r>
              <a:rPr b="0" i="0" lang="en-US" sz="2400" u="none" cap="none" strike="noStrike">
                <a:solidFill>
                  <a:srgbClr val="080808"/>
                </a:solidFill>
                <a:latin typeface="Arial"/>
                <a:ea typeface="Arial"/>
                <a:cs typeface="Arial"/>
                <a:sym typeface="Arial"/>
              </a:rPr>
              <a:t>, daily_temp)</a:t>
            </a:r>
            <a:br>
              <a:rPr b="0" i="0" lang="en-US" sz="2400" u="none" cap="none" strike="noStrike">
                <a:solidFill>
                  <a:srgbClr val="080808"/>
                </a:solidFill>
                <a:latin typeface="Arial"/>
                <a:ea typeface="Arial"/>
                <a:cs typeface="Arial"/>
                <a:sym typeface="Arial"/>
              </a:rPr>
            </a:br>
            <a:r>
              <a:rPr b="0" i="0" lang="en-US" sz="2400" u="none" cap="none" strike="noStrike">
                <a:solidFill>
                  <a:srgbClr val="080808"/>
                </a:solidFill>
                <a:latin typeface="Arial"/>
                <a:ea typeface="Arial"/>
                <a:cs typeface="Arial"/>
                <a:sym typeface="Arial"/>
              </a:rPr>
              <a:t>daily_temp[</a:t>
            </a:r>
            <a:r>
              <a:rPr b="0" i="0" lang="en-US" sz="2400" u="none" cap="none" strike="noStrike">
                <a:solidFill>
                  <a:srgbClr val="067D17"/>
                </a:solidFill>
                <a:latin typeface="Arial"/>
                <a:ea typeface="Arial"/>
                <a:cs typeface="Arial"/>
                <a:sym typeface="Arial"/>
              </a:rPr>
              <a:t>"wed"</a:t>
            </a:r>
            <a:r>
              <a:rPr b="0" i="0" lang="en-US" sz="2400" u="none" cap="none" strike="noStrike">
                <a:solidFill>
                  <a:srgbClr val="080808"/>
                </a:solidFill>
                <a:latin typeface="Arial"/>
                <a:ea typeface="Arial"/>
                <a:cs typeface="Arial"/>
                <a:sym typeface="Arial"/>
              </a:rPr>
              <a:t>] = </a:t>
            </a:r>
            <a:r>
              <a:rPr b="0" i="0" lang="en-US" sz="2400" u="none" cap="none" strike="noStrike">
                <a:solidFill>
                  <a:srgbClr val="1750EB"/>
                </a:solidFill>
                <a:latin typeface="Arial"/>
                <a:ea typeface="Arial"/>
                <a:cs typeface="Arial"/>
                <a:sym typeface="Arial"/>
              </a:rPr>
              <a:t>16.5</a:t>
            </a:r>
            <a:br>
              <a:rPr b="0" i="0" lang="en-US" sz="2400" u="none" cap="none" strike="noStrike">
                <a:solidFill>
                  <a:srgbClr val="1750EB"/>
                </a:solidFill>
                <a:latin typeface="Arial"/>
                <a:ea typeface="Arial"/>
                <a:cs typeface="Arial"/>
                <a:sym typeface="Arial"/>
              </a:rPr>
            </a:br>
            <a:r>
              <a:rPr b="0" i="0" lang="en-US" sz="2400" u="none" cap="none" strike="noStrike">
                <a:solidFill>
                  <a:srgbClr val="000080"/>
                </a:solidFill>
                <a:latin typeface="Arial"/>
                <a:ea typeface="Arial"/>
                <a:cs typeface="Arial"/>
                <a:sym typeface="Arial"/>
              </a:rPr>
              <a:t>print</a:t>
            </a:r>
            <a:r>
              <a:rPr b="0" i="0" lang="en-US" sz="2400" u="none" cap="none" strike="noStrike">
                <a:solidFill>
                  <a:srgbClr val="080808"/>
                </a:solidFill>
                <a:latin typeface="Arial"/>
                <a:ea typeface="Arial"/>
                <a:cs typeface="Arial"/>
                <a:sym typeface="Arial"/>
              </a:rPr>
              <a:t>(</a:t>
            </a:r>
            <a:r>
              <a:rPr b="0" i="0" lang="en-US" sz="2400" u="none" cap="none" strike="noStrike">
                <a:solidFill>
                  <a:srgbClr val="067D17"/>
                </a:solidFill>
                <a:latin typeface="Arial"/>
                <a:ea typeface="Arial"/>
                <a:cs typeface="Arial"/>
                <a:sym typeface="Arial"/>
              </a:rPr>
              <a:t>"Updated Dictionary"</a:t>
            </a:r>
            <a:r>
              <a:rPr b="0" i="0" lang="en-US" sz="2400" u="none" cap="none" strike="noStrike">
                <a:solidFill>
                  <a:srgbClr val="080808"/>
                </a:solidFill>
                <a:latin typeface="Arial"/>
                <a:ea typeface="Arial"/>
                <a:cs typeface="Arial"/>
                <a:sym typeface="Arial"/>
              </a:rPr>
              <a:t>, daily_temp)</a:t>
            </a:r>
            <a:br>
              <a:rPr b="0" i="0" lang="en-US" sz="2400" u="none" cap="none" strike="noStrike">
                <a:solidFill>
                  <a:srgbClr val="080808"/>
                </a:solidFill>
                <a:latin typeface="Arial"/>
                <a:ea typeface="Arial"/>
                <a:cs typeface="Arial"/>
                <a:sym typeface="Arial"/>
              </a:rPr>
            </a:br>
            <a:r>
              <a:rPr b="0" i="0" lang="en-US" sz="2400" u="none" cap="none" strike="noStrike">
                <a:solidFill>
                  <a:srgbClr val="080808"/>
                </a:solidFill>
                <a:latin typeface="Arial"/>
                <a:ea typeface="Arial"/>
                <a:cs typeface="Arial"/>
                <a:sym typeface="Arial"/>
              </a:rPr>
              <a:t>daily_temp[</a:t>
            </a:r>
            <a:r>
              <a:rPr b="0" i="0" lang="en-US" sz="2400" u="none" cap="none" strike="noStrike">
                <a:solidFill>
                  <a:srgbClr val="067D17"/>
                </a:solidFill>
                <a:latin typeface="Arial"/>
                <a:ea typeface="Arial"/>
                <a:cs typeface="Arial"/>
                <a:sym typeface="Arial"/>
              </a:rPr>
              <a:t>'mon'</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15.2</a:t>
            </a:r>
            <a:br>
              <a:rPr b="0" i="0" lang="en-US" sz="2400" u="none" cap="none" strike="noStrike">
                <a:solidFill>
                  <a:srgbClr val="1750EB"/>
                </a:solidFill>
                <a:latin typeface="Arial"/>
                <a:ea typeface="Arial"/>
                <a:cs typeface="Arial"/>
                <a:sym typeface="Arial"/>
              </a:rPr>
            </a:br>
            <a:r>
              <a:rPr b="0" i="0" lang="en-US" sz="2400" u="none" cap="none" strike="noStrike">
                <a:solidFill>
                  <a:srgbClr val="000080"/>
                </a:solidFill>
                <a:latin typeface="Arial"/>
                <a:ea typeface="Arial"/>
                <a:cs typeface="Arial"/>
                <a:sym typeface="Arial"/>
              </a:rPr>
              <a:t>print</a:t>
            </a:r>
            <a:r>
              <a:rPr b="0" i="0" lang="en-US" sz="2400" u="none" cap="none" strike="noStrike">
                <a:solidFill>
                  <a:srgbClr val="080808"/>
                </a:solidFill>
                <a:latin typeface="Arial"/>
                <a:ea typeface="Arial"/>
                <a:cs typeface="Arial"/>
                <a:sym typeface="Arial"/>
              </a:rPr>
              <a:t>(</a:t>
            </a:r>
            <a:r>
              <a:rPr b="0" i="0" lang="en-US" sz="2400" u="none" cap="none" strike="noStrike">
                <a:solidFill>
                  <a:srgbClr val="067D17"/>
                </a:solidFill>
                <a:latin typeface="Arial"/>
                <a:ea typeface="Arial"/>
                <a:cs typeface="Arial"/>
                <a:sym typeface="Arial"/>
              </a:rPr>
              <a:t>"Value of mon is updated:"</a:t>
            </a:r>
            <a:r>
              <a:rPr b="0" i="0" lang="en-US" sz="2400" u="none" cap="none" strike="noStrike">
                <a:solidFill>
                  <a:srgbClr val="080808"/>
                </a:solidFill>
                <a:latin typeface="Arial"/>
                <a:ea typeface="Arial"/>
                <a:cs typeface="Arial"/>
                <a:sym typeface="Arial"/>
              </a:rPr>
              <a:t>, daily_temp)</a:t>
            </a:r>
            <a:br>
              <a:rPr b="0" i="0" lang="en-US" sz="2400" u="none" cap="none" strike="noStrike">
                <a:solidFill>
                  <a:srgbClr val="080808"/>
                </a:solidFill>
                <a:latin typeface="Arial"/>
                <a:ea typeface="Arial"/>
                <a:cs typeface="Arial"/>
                <a:sym typeface="Arial"/>
              </a:rPr>
            </a:br>
            <a:r>
              <a:rPr b="0" i="0" lang="en-US" sz="2400" u="none" cap="none" strike="noStrike">
                <a:solidFill>
                  <a:srgbClr val="000080"/>
                </a:solidFill>
                <a:latin typeface="Arial"/>
                <a:ea typeface="Arial"/>
                <a:cs typeface="Arial"/>
                <a:sym typeface="Arial"/>
              </a:rPr>
              <a:t>print</a:t>
            </a:r>
            <a:r>
              <a:rPr b="0" i="0" lang="en-US" sz="2400" u="none" cap="none" strike="noStrike">
                <a:solidFill>
                  <a:srgbClr val="080808"/>
                </a:solidFill>
                <a:latin typeface="Arial"/>
                <a:ea typeface="Arial"/>
                <a:cs typeface="Arial"/>
                <a:sym typeface="Arial"/>
              </a:rPr>
              <a:t>(</a:t>
            </a:r>
            <a:r>
              <a:rPr b="0" i="0" lang="en-US" sz="2400" u="none" cap="none" strike="noStrike">
                <a:solidFill>
                  <a:srgbClr val="067D17"/>
                </a:solidFill>
                <a:latin typeface="Arial"/>
                <a:ea typeface="Arial"/>
                <a:cs typeface="Arial"/>
                <a:sym typeface="Arial"/>
              </a:rPr>
              <a:t>"Accessing The Value of mon only: "</a:t>
            </a:r>
            <a:r>
              <a:rPr b="0" i="0" lang="en-US" sz="2400" u="none" cap="none" strike="noStrike">
                <a:solidFill>
                  <a:srgbClr val="080808"/>
                </a:solidFill>
                <a:latin typeface="Arial"/>
                <a:ea typeface="Arial"/>
                <a:cs typeface="Arial"/>
                <a:sym typeface="Arial"/>
              </a:rPr>
              <a:t>, daily_temp[</a:t>
            </a:r>
            <a:r>
              <a:rPr b="0" i="0" lang="en-US" sz="2400" u="none" cap="none" strike="noStrike">
                <a:solidFill>
                  <a:srgbClr val="067D17"/>
                </a:solidFill>
                <a:latin typeface="Arial"/>
                <a:ea typeface="Arial"/>
                <a:cs typeface="Arial"/>
                <a:sym typeface="Arial"/>
              </a:rPr>
              <a:t>'mon'</a:t>
            </a:r>
            <a:r>
              <a:rPr b="0" i="0" lang="en-US" sz="2400" u="none" cap="none" strike="noStrike">
                <a:solidFill>
                  <a:srgbClr val="080808"/>
                </a:solidFill>
                <a:latin typeface="Arial"/>
                <a:ea typeface="Arial"/>
                <a:cs typeface="Arial"/>
                <a:sym typeface="Arial"/>
              </a:rPr>
              <a:t>])</a:t>
            </a:r>
            <a:br>
              <a:rPr b="0" i="0" lang="en-US" sz="2400" u="none" cap="none" strike="noStrike">
                <a:solidFill>
                  <a:srgbClr val="080808"/>
                </a:solidFill>
                <a:latin typeface="Arial"/>
                <a:ea typeface="Arial"/>
                <a:cs typeface="Arial"/>
                <a:sym typeface="Arial"/>
              </a:rPr>
            </a:br>
            <a:r>
              <a:rPr b="0" i="0" lang="en-US" sz="2400" u="none" cap="none" strike="noStrike">
                <a:solidFill>
                  <a:srgbClr val="0033B3"/>
                </a:solidFill>
                <a:latin typeface="Arial"/>
                <a:ea typeface="Arial"/>
                <a:cs typeface="Arial"/>
                <a:sym typeface="Arial"/>
              </a:rPr>
              <a:t>del </a:t>
            </a:r>
            <a:r>
              <a:rPr b="0" i="0" lang="en-US" sz="2400" u="none" cap="none" strike="noStrike">
                <a:solidFill>
                  <a:srgbClr val="080808"/>
                </a:solidFill>
                <a:latin typeface="Arial"/>
                <a:ea typeface="Arial"/>
                <a:cs typeface="Arial"/>
                <a:sym typeface="Arial"/>
              </a:rPr>
              <a:t>daily_temp[</a:t>
            </a:r>
            <a:r>
              <a:rPr b="0" i="0" lang="en-US" sz="2400" u="none" cap="none" strike="noStrike">
                <a:solidFill>
                  <a:srgbClr val="067D17"/>
                </a:solidFill>
                <a:latin typeface="Arial"/>
                <a:ea typeface="Arial"/>
                <a:cs typeface="Arial"/>
                <a:sym typeface="Arial"/>
              </a:rPr>
              <a:t>'wed'</a:t>
            </a:r>
            <a:r>
              <a:rPr b="0" i="0" lang="en-US" sz="2400" u="none" cap="none" strike="noStrike">
                <a:solidFill>
                  <a:srgbClr val="080808"/>
                </a:solidFill>
                <a:latin typeface="Arial"/>
                <a:ea typeface="Arial"/>
                <a:cs typeface="Arial"/>
                <a:sym typeface="Arial"/>
              </a:rPr>
              <a:t>]</a:t>
            </a:r>
            <a:br>
              <a:rPr b="0" i="0" lang="en-US" sz="2400" u="none" cap="none" strike="noStrike">
                <a:solidFill>
                  <a:srgbClr val="080808"/>
                </a:solidFill>
                <a:latin typeface="Arial"/>
                <a:ea typeface="Arial"/>
                <a:cs typeface="Arial"/>
                <a:sym typeface="Arial"/>
              </a:rPr>
            </a:br>
            <a:r>
              <a:rPr b="0" i="0" lang="en-US" sz="2400" u="none" cap="none" strike="noStrike">
                <a:solidFill>
                  <a:srgbClr val="000080"/>
                </a:solidFill>
                <a:latin typeface="Arial"/>
                <a:ea typeface="Arial"/>
                <a:cs typeface="Arial"/>
                <a:sym typeface="Arial"/>
              </a:rPr>
              <a:t>print</a:t>
            </a:r>
            <a:r>
              <a:rPr b="0" i="0" lang="en-US" sz="2400" u="none" cap="none" strike="noStrike">
                <a:solidFill>
                  <a:srgbClr val="080808"/>
                </a:solidFill>
                <a:latin typeface="Arial"/>
                <a:ea typeface="Arial"/>
                <a:cs typeface="Arial"/>
                <a:sym typeface="Arial"/>
              </a:rPr>
              <a:t>(</a:t>
            </a:r>
            <a:r>
              <a:rPr b="0" i="0" lang="en-US" sz="2400" u="none" cap="none" strike="noStrike">
                <a:solidFill>
                  <a:srgbClr val="067D17"/>
                </a:solidFill>
                <a:latin typeface="Arial"/>
                <a:ea typeface="Arial"/>
                <a:cs typeface="Arial"/>
                <a:sym typeface="Arial"/>
              </a:rPr>
              <a:t>"The Final Dictionary:"</a:t>
            </a:r>
            <a:r>
              <a:rPr b="0" i="0" lang="en-US" sz="2400" u="none" cap="none" strike="noStrike">
                <a:solidFill>
                  <a:srgbClr val="080808"/>
                </a:solidFill>
                <a:latin typeface="Arial"/>
                <a:ea typeface="Arial"/>
                <a:cs typeface="Arial"/>
                <a:sym typeface="Arial"/>
              </a:rPr>
              <a:t>, daily_temp)</a:t>
            </a:r>
            <a:endParaRPr b="0" i="0" sz="4800" u="none" cap="none" strike="noStrike">
              <a:solidFill>
                <a:schemeClr val="dk1"/>
              </a:solidFill>
              <a:latin typeface="Arial"/>
              <a:ea typeface="Arial"/>
              <a:cs typeface="Arial"/>
              <a:sym typeface="Arial"/>
            </a:endParaRPr>
          </a:p>
        </p:txBody>
      </p:sp>
      <p:pic>
        <p:nvPicPr>
          <p:cNvPr id="658" name="Google Shape;658;p52"/>
          <p:cNvPicPr preferRelativeResize="0"/>
          <p:nvPr/>
        </p:nvPicPr>
        <p:blipFill rotWithShape="1">
          <a:blip r:embed="rId3">
            <a:alphaModFix/>
          </a:blip>
          <a:srcRect b="0" l="0" r="0" t="0"/>
          <a:stretch/>
        </p:blipFill>
        <p:spPr>
          <a:xfrm>
            <a:off x="5265683" y="5188471"/>
            <a:ext cx="6728315" cy="1500423"/>
          </a:xfrm>
          <a:prstGeom prst="rect">
            <a:avLst/>
          </a:prstGeom>
          <a:noFill/>
          <a:ln>
            <a:noFill/>
          </a:ln>
        </p:spPr>
      </p:pic>
      <p:sp>
        <p:nvSpPr>
          <p:cNvPr id="659" name="Google Shape;659;p52"/>
          <p:cNvSpPr/>
          <p:nvPr/>
        </p:nvSpPr>
        <p:spPr>
          <a:xfrm>
            <a:off x="3176965" y="5481956"/>
            <a:ext cx="1546760" cy="748424"/>
          </a:xfrm>
          <a:prstGeom prst="rightArrow">
            <a:avLst>
              <a:gd fmla="val 50000" name="adj1"/>
              <a:gd fmla="val 50000" name="adj2"/>
            </a:avLst>
          </a:prstGeom>
          <a:solidFill>
            <a:srgbClr val="FFFF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Output</a:t>
            </a:r>
            <a:endParaRPr b="0" i="0" sz="1800" u="none" cap="none" strike="noStrike">
              <a:solidFill>
                <a:schemeClr val="dk1"/>
              </a:solidFill>
              <a:latin typeface="Calibri"/>
              <a:ea typeface="Calibri"/>
              <a:cs typeface="Calibri"/>
              <a:sym typeface="Calibri"/>
            </a:endParaRPr>
          </a:p>
        </p:txBody>
      </p:sp>
      <p:pic>
        <p:nvPicPr>
          <p:cNvPr descr="Face with Peeking Eye Emoji 🫣" id="660" name="Google Shape;660;p52"/>
          <p:cNvPicPr preferRelativeResize="0"/>
          <p:nvPr/>
        </p:nvPicPr>
        <p:blipFill rotWithShape="1">
          <a:blip r:embed="rId4">
            <a:alphaModFix/>
          </a:blip>
          <a:srcRect b="0" l="0" r="0" t="0"/>
          <a:stretch/>
        </p:blipFill>
        <p:spPr>
          <a:xfrm>
            <a:off x="9560676" y="1573187"/>
            <a:ext cx="2073275" cy="20732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53"/>
          <p:cNvSpPr txBox="1"/>
          <p:nvPr>
            <p:ph idx="1" type="subTitle"/>
          </p:nvPr>
        </p:nvSpPr>
        <p:spPr>
          <a:xfrm>
            <a:off x="3680189" y="308259"/>
            <a:ext cx="7245892"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None/>
            </a:pPr>
            <a:r>
              <a:rPr lang="en-US" sz="6000"/>
              <a:t>Dictionary Operation</a:t>
            </a:r>
            <a:endParaRPr sz="4800">
              <a:solidFill>
                <a:srgbClr val="191919"/>
              </a:solidFill>
              <a:latin typeface="Arial"/>
              <a:ea typeface="Arial"/>
              <a:cs typeface="Arial"/>
              <a:sym typeface="Arial"/>
            </a:endParaRPr>
          </a:p>
        </p:txBody>
      </p:sp>
      <p:graphicFrame>
        <p:nvGraphicFramePr>
          <p:cNvPr id="666" name="Google Shape;666;p53"/>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 Associative Data Structures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5.1. What is a Dictionary? </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5.2. Tuple as Key</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5.3. Dictionary Operation</a:t>
                      </a:r>
                      <a:endParaRPr sz="1400" u="none" cap="none" strike="noStrike"/>
                    </a:p>
                  </a:txBody>
                  <a:tcPr marT="45725" marB="45725" marR="91450" marL="91450"/>
                </a:tc>
              </a:tr>
            </a:tbl>
          </a:graphicData>
        </a:graphic>
      </p:graphicFrame>
      <p:sp>
        <p:nvSpPr>
          <p:cNvPr id="667" name="Google Shape;667;p53"/>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668" name="Google Shape;668;p53"/>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669" name="Google Shape;669;p53"/>
          <p:cNvSpPr/>
          <p:nvPr/>
        </p:nvSpPr>
        <p:spPr>
          <a:xfrm>
            <a:off x="4745081" y="6302739"/>
            <a:ext cx="536845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https://docs.python.org/3/tutorial/datastructures.html</a:t>
            </a:r>
            <a:endParaRPr b="0" i="0" sz="1800" u="none" cap="none" strike="noStrike">
              <a:solidFill>
                <a:schemeClr val="dk1"/>
              </a:solidFill>
              <a:latin typeface="Calibri"/>
              <a:ea typeface="Calibri"/>
              <a:cs typeface="Calibri"/>
              <a:sym typeface="Calibri"/>
            </a:endParaRPr>
          </a:p>
        </p:txBody>
      </p:sp>
      <p:pic>
        <p:nvPicPr>
          <p:cNvPr descr="▷ Click Here Signs &amp; Buttons: Animated Images, Gifs, Pictures &amp; Animations  - 100% FREE!" id="670" name="Google Shape;670;p53"/>
          <p:cNvPicPr preferRelativeResize="0"/>
          <p:nvPr/>
        </p:nvPicPr>
        <p:blipFill rotWithShape="1">
          <a:blip r:embed="rId4">
            <a:alphaModFix/>
          </a:blip>
          <a:srcRect b="0" l="0" r="0" t="0"/>
          <a:stretch/>
        </p:blipFill>
        <p:spPr>
          <a:xfrm>
            <a:off x="2963058" y="5817123"/>
            <a:ext cx="1865366" cy="1340563"/>
          </a:xfrm>
          <a:prstGeom prst="rect">
            <a:avLst/>
          </a:prstGeom>
          <a:noFill/>
          <a:ln>
            <a:noFill/>
          </a:ln>
        </p:spPr>
      </p:pic>
      <p:graphicFrame>
        <p:nvGraphicFramePr>
          <p:cNvPr id="671" name="Google Shape;671;p53"/>
          <p:cNvGraphicFramePr/>
          <p:nvPr/>
        </p:nvGraphicFramePr>
        <p:xfrm>
          <a:off x="2936364" y="1440291"/>
          <a:ext cx="3000000" cy="3000000"/>
        </p:xfrm>
        <a:graphic>
          <a:graphicData uri="http://schemas.openxmlformats.org/drawingml/2006/table">
            <a:tbl>
              <a:tblPr firstRow="1">
                <a:noFill/>
                <a:tableStyleId>{E6664844-2B1D-4FCE-927B-3923A23EA554}</a:tableStyleId>
              </a:tblPr>
              <a:tblGrid>
                <a:gridCol w="2417300"/>
                <a:gridCol w="6187800"/>
              </a:tblGrid>
              <a:tr h="459875">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Operation</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A5A5A5"/>
                    </a:solidFill>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Results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A5A5A5"/>
                    </a:solidFill>
                  </a:tcPr>
                </a:tc>
              </a:tr>
              <a:tr h="3475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dict()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Creates a new, empty dictionary</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3902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dict(s)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Creates a new dictionary with key values and their associated values for sequence s, for example: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fruit_prices = dict(fruit_data)</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where </a:t>
                      </a:r>
                      <a:r>
                        <a:rPr lang="en-US" sz="1800" u="none" cap="none" strike="noStrike">
                          <a:latin typeface="Courier New"/>
                          <a:ea typeface="Courier New"/>
                          <a:cs typeface="Courier New"/>
                          <a:sym typeface="Courier New"/>
                        </a:rPr>
                        <a:t>fruit_data</a:t>
                      </a:r>
                      <a:r>
                        <a:rPr lang="en-US" sz="1800" u="none" cap="none" strike="noStrike"/>
                        <a:t> is (possible read from a file):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[['apples', '.66'], …, ['bananas', 0.49]]</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75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len(d)</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Length (num of key/value pairs) of dictionary </a:t>
                      </a:r>
                      <a:r>
                        <a:rPr lang="en-US" sz="1800" u="none" cap="none" strike="noStrike">
                          <a:solidFill>
                            <a:schemeClr val="dk1"/>
                          </a:solidFill>
                          <a:latin typeface="Courier New"/>
                          <a:ea typeface="Courier New"/>
                          <a:cs typeface="Courier New"/>
                          <a:sym typeface="Courier New"/>
                        </a:rPr>
                        <a:t>d</a:t>
                      </a:r>
                      <a:r>
                        <a:rPr lang="en-US" sz="1800" u="none" cap="none" strike="noStrike"/>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082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d[key] = value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Sets the associated value for </a:t>
                      </a:r>
                      <a:r>
                        <a:rPr lang="en-US" sz="1800" u="none" cap="none" strike="noStrike">
                          <a:latin typeface="Courier New"/>
                          <a:ea typeface="Courier New"/>
                          <a:cs typeface="Courier New"/>
                          <a:sym typeface="Courier New"/>
                        </a:rPr>
                        <a:t>key</a:t>
                      </a:r>
                      <a:r>
                        <a:rPr lang="en-US" sz="1800" u="none" cap="none" strike="noStrike"/>
                        <a:t> to </a:t>
                      </a:r>
                      <a:r>
                        <a:rPr lang="en-US" sz="1800" u="none" cap="none" strike="noStrike">
                          <a:solidFill>
                            <a:schemeClr val="dk1"/>
                          </a:solidFill>
                          <a:latin typeface="Courier New"/>
                          <a:ea typeface="Courier New"/>
                          <a:cs typeface="Courier New"/>
                          <a:sym typeface="Courier New"/>
                        </a:rPr>
                        <a:t>value</a:t>
                      </a:r>
                      <a:r>
                        <a:rPr lang="en-US" sz="1800" u="none" cap="none" strike="noStrike"/>
                        <a:t>, used to either add a new key/value pair, or replace the value of an existing key/value pair.</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75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del d[key]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Remove key and associated value from dictionary </a:t>
                      </a:r>
                      <a:r>
                        <a:rPr lang="en-US" sz="1800" u="none" cap="none" strike="noStrike">
                          <a:solidFill>
                            <a:schemeClr val="dk1"/>
                          </a:solidFill>
                          <a:latin typeface="Courier New"/>
                          <a:ea typeface="Courier New"/>
                          <a:cs typeface="Courier New"/>
                          <a:sym typeface="Courier New"/>
                        </a:rPr>
                        <a:t>d</a:t>
                      </a:r>
                      <a:r>
                        <a:rPr lang="en-US" sz="1800" u="none" cap="none" strike="noStrike"/>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082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key in d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ourier New"/>
                          <a:ea typeface="Courier New"/>
                          <a:cs typeface="Courier New"/>
                          <a:sym typeface="Courier New"/>
                        </a:rPr>
                        <a:t>True</a:t>
                      </a:r>
                      <a:r>
                        <a:rPr lang="en-US" sz="1800" u="none" cap="none" strike="noStrike"/>
                        <a:t> if key value </a:t>
                      </a:r>
                      <a:r>
                        <a:rPr lang="en-US" sz="1800" u="none" cap="none" strike="noStrike">
                          <a:solidFill>
                            <a:schemeClr val="dk1"/>
                          </a:solidFill>
                          <a:latin typeface="Courier New"/>
                          <a:ea typeface="Courier New"/>
                          <a:cs typeface="Courier New"/>
                          <a:sym typeface="Courier New"/>
                        </a:rPr>
                        <a:t>key</a:t>
                      </a:r>
                      <a:r>
                        <a:rPr lang="en-US" sz="1800" u="none" cap="none" strike="noStrike"/>
                        <a:t> exists in dictionary </a:t>
                      </a:r>
                      <a:r>
                        <a:rPr lang="en-US" sz="1800" u="none" cap="none" strike="noStrike">
                          <a:solidFill>
                            <a:schemeClr val="dk1"/>
                          </a:solidFill>
                          <a:latin typeface="Courier New"/>
                          <a:ea typeface="Courier New"/>
                          <a:cs typeface="Courier New"/>
                          <a:sym typeface="Courier New"/>
                        </a:rPr>
                        <a:t>d</a:t>
                      </a:r>
                      <a:r>
                        <a:rPr lang="en-US" sz="1800" u="none" cap="none" strike="noStrike"/>
                        <a:t>, otherwise returns </a:t>
                      </a:r>
                      <a:r>
                        <a:rPr lang="en-US" sz="1800" u="none" cap="none" strike="noStrike">
                          <a:solidFill>
                            <a:schemeClr val="dk1"/>
                          </a:solidFill>
                          <a:latin typeface="Courier New"/>
                          <a:ea typeface="Courier New"/>
                          <a:cs typeface="Courier New"/>
                          <a:sym typeface="Courier New"/>
                        </a:rPr>
                        <a:t>False</a:t>
                      </a:r>
                      <a:r>
                        <a:rPr lang="en-US" sz="1800" u="none" cap="none" strike="noStrike"/>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54"/>
          <p:cNvSpPr txBox="1"/>
          <p:nvPr/>
        </p:nvSpPr>
        <p:spPr>
          <a:xfrm>
            <a:off x="2207874" y="2719902"/>
            <a:ext cx="8650627" cy="144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32C4A"/>
                </a:solidFill>
                <a:latin typeface="Arial"/>
                <a:ea typeface="Arial"/>
                <a:cs typeface="Arial"/>
                <a:sym typeface="Arial"/>
              </a:rPr>
              <a:t>Conditional statement in dictionary </a:t>
            </a:r>
            <a:endParaRPr b="0" i="0" sz="4400" u="none" cap="none" strike="noStrike">
              <a:solidFill>
                <a:schemeClr val="dk1"/>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55"/>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None/>
            </a:pPr>
            <a:r>
              <a:rPr lang="en-US" sz="4400">
                <a:latin typeface="Arial"/>
                <a:ea typeface="Arial"/>
                <a:cs typeface="Arial"/>
                <a:sym typeface="Arial"/>
              </a:rPr>
              <a:t>Let’s Understand Through Example</a:t>
            </a:r>
            <a:endParaRPr sz="4400">
              <a:latin typeface="Arial"/>
              <a:ea typeface="Arial"/>
              <a:cs typeface="Arial"/>
              <a:sym typeface="Arial"/>
            </a:endParaRPr>
          </a:p>
        </p:txBody>
      </p:sp>
      <p:graphicFrame>
        <p:nvGraphicFramePr>
          <p:cNvPr id="682" name="Google Shape;682;p55"/>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 Associative Data Structures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5.1. What is a Dictionary? </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5.2. Tuple as Key</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5.3. Dictionary Operation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Example!!</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683" name="Google Shape;683;p55"/>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684" name="Google Shape;684;p55"/>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685" name="Google Shape;685;p55"/>
          <p:cNvSpPr/>
          <p:nvPr/>
        </p:nvSpPr>
        <p:spPr>
          <a:xfrm>
            <a:off x="2884803" y="1771547"/>
            <a:ext cx="9526386" cy="3416320"/>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80808"/>
                </a:solidFill>
                <a:latin typeface="Arial"/>
                <a:ea typeface="Arial"/>
                <a:cs typeface="Arial"/>
                <a:sym typeface="Arial"/>
              </a:rPr>
              <a:t>daily_temp = {</a:t>
            </a:r>
            <a:r>
              <a:rPr b="0" i="0" lang="en-US" sz="2400" u="none" cap="none" strike="noStrike">
                <a:solidFill>
                  <a:srgbClr val="067D17"/>
                </a:solidFill>
                <a:latin typeface="Arial"/>
                <a:ea typeface="Arial"/>
                <a:cs typeface="Arial"/>
                <a:sym typeface="Arial"/>
              </a:rPr>
              <a:t>'sun'</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18.8</a:t>
            </a:r>
            <a:r>
              <a:rPr b="0" i="0" lang="en-US" sz="2400" u="none" cap="none" strike="noStrike">
                <a:solidFill>
                  <a:srgbClr val="080808"/>
                </a:solidFill>
                <a:latin typeface="Arial"/>
                <a:ea typeface="Arial"/>
                <a:cs typeface="Arial"/>
                <a:sym typeface="Arial"/>
              </a:rPr>
              <a:t>, </a:t>
            </a:r>
            <a:r>
              <a:rPr b="0" i="0" lang="en-US" sz="2400" u="none" cap="none" strike="noStrike">
                <a:solidFill>
                  <a:srgbClr val="067D17"/>
                </a:solidFill>
                <a:latin typeface="Arial"/>
                <a:ea typeface="Arial"/>
                <a:cs typeface="Arial"/>
                <a:sym typeface="Arial"/>
              </a:rPr>
              <a:t>'mon'</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10.2</a:t>
            </a:r>
            <a:r>
              <a:rPr b="0" i="0" lang="en-US" sz="2400" u="none" cap="none" strike="noStrike">
                <a:solidFill>
                  <a:srgbClr val="080808"/>
                </a:solidFill>
                <a:latin typeface="Arial"/>
                <a:ea typeface="Arial"/>
                <a:cs typeface="Arial"/>
                <a:sym typeface="Arial"/>
              </a:rPr>
              <a:t>, </a:t>
            </a:r>
            <a:r>
              <a:rPr b="0" i="0" lang="en-US" sz="2400" u="none" cap="none" strike="noStrike">
                <a:solidFill>
                  <a:srgbClr val="067D17"/>
                </a:solidFill>
                <a:latin typeface="Arial"/>
                <a:ea typeface="Arial"/>
                <a:cs typeface="Arial"/>
                <a:sym typeface="Arial"/>
              </a:rPr>
              <a:t>'tue'</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17.2</a:t>
            </a:r>
            <a:r>
              <a:rPr b="0" i="0" lang="en-US" sz="2400" u="none" cap="none" strike="noStrike">
                <a:solidFill>
                  <a:srgbClr val="080808"/>
                </a:solidFill>
                <a:latin typeface="Arial"/>
                <a:ea typeface="Arial"/>
                <a:cs typeface="Arial"/>
                <a:sym typeface="Arial"/>
              </a:rPr>
              <a:t>, </a:t>
            </a:r>
            <a:r>
              <a:rPr b="0" i="0" lang="en-US" sz="2400" u="none" cap="none" strike="noStrike">
                <a:solidFill>
                  <a:srgbClr val="067D17"/>
                </a:solidFill>
                <a:latin typeface="Arial"/>
                <a:ea typeface="Arial"/>
                <a:cs typeface="Arial"/>
                <a:sym typeface="Arial"/>
              </a:rPr>
              <a:t>'wed'</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11.8</a:t>
            </a:r>
            <a:r>
              <a:rPr b="0" i="0" lang="en-US" sz="2400" u="none" cap="none" strike="noStrike">
                <a:solidFill>
                  <a:srgbClr val="080808"/>
                </a:solidFill>
                <a:latin typeface="Arial"/>
                <a:ea typeface="Arial"/>
                <a:cs typeface="Arial"/>
                <a:sym typeface="Arial"/>
              </a:rPr>
              <a:t>, </a:t>
            </a:r>
            <a:r>
              <a:rPr b="0" i="0" lang="en-US" sz="2400" u="none" cap="none" strike="noStrike">
                <a:solidFill>
                  <a:srgbClr val="067D17"/>
                </a:solidFill>
                <a:latin typeface="Arial"/>
                <a:ea typeface="Arial"/>
                <a:cs typeface="Arial"/>
                <a:sym typeface="Arial"/>
              </a:rPr>
              <a:t>'thur'</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13.2</a:t>
            </a:r>
            <a:r>
              <a:rPr b="0" i="0" lang="en-US" sz="2400" u="none" cap="none" strike="noStrike">
                <a:solidFill>
                  <a:srgbClr val="080808"/>
                </a:solidFill>
                <a:latin typeface="Arial"/>
                <a:ea typeface="Arial"/>
                <a:cs typeface="Arial"/>
                <a:sym typeface="Arial"/>
              </a:rPr>
              <a:t>, </a:t>
            </a:r>
            <a:r>
              <a:rPr b="0" i="0" lang="en-US" sz="2400" u="none" cap="none" strike="noStrike">
                <a:solidFill>
                  <a:srgbClr val="067D17"/>
                </a:solidFill>
                <a:latin typeface="Arial"/>
                <a:ea typeface="Arial"/>
                <a:cs typeface="Arial"/>
                <a:sym typeface="Arial"/>
              </a:rPr>
              <a:t>'fri'</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15.6</a:t>
            </a:r>
            <a:r>
              <a:rPr b="0" i="0" lang="en-US" sz="2400" u="none" cap="none" strike="noStrike">
                <a:solidFill>
                  <a:srgbClr val="080808"/>
                </a:solidFill>
                <a:latin typeface="Arial"/>
                <a:ea typeface="Arial"/>
                <a:cs typeface="Arial"/>
                <a:sym typeface="Arial"/>
              </a:rPr>
              <a:t>, </a:t>
            </a:r>
            <a:r>
              <a:rPr b="0" i="0" lang="en-US" sz="2400" u="none" cap="none" strike="noStrike">
                <a:solidFill>
                  <a:srgbClr val="067D17"/>
                </a:solidFill>
                <a:latin typeface="Arial"/>
                <a:ea typeface="Arial"/>
                <a:cs typeface="Arial"/>
                <a:sym typeface="Arial"/>
              </a:rPr>
              <a:t>'sat'</a:t>
            </a:r>
            <a:r>
              <a:rPr b="0" i="0" lang="en-US" sz="2400" u="none" cap="none" strike="noStrike">
                <a:solidFill>
                  <a:srgbClr val="080808"/>
                </a:solidFill>
                <a:latin typeface="Arial"/>
                <a:ea typeface="Arial"/>
                <a:cs typeface="Arial"/>
                <a:sym typeface="Arial"/>
              </a:rPr>
              <a:t>: </a:t>
            </a:r>
            <a:r>
              <a:rPr b="0" i="0" lang="en-US" sz="2400" u="none" cap="none" strike="noStrike">
                <a:solidFill>
                  <a:srgbClr val="1750EB"/>
                </a:solidFill>
                <a:latin typeface="Arial"/>
                <a:ea typeface="Arial"/>
                <a:cs typeface="Arial"/>
                <a:sym typeface="Arial"/>
              </a:rPr>
              <a:t>14.0</a:t>
            </a:r>
            <a:r>
              <a:rPr b="0" i="0" lang="en-US" sz="2400" u="none" cap="none" strike="noStrike">
                <a:solidFill>
                  <a:srgbClr val="080808"/>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br>
              <a:rPr b="0" i="0" lang="en-US" sz="2400" u="none" cap="none" strike="noStrike">
                <a:solidFill>
                  <a:srgbClr val="080808"/>
                </a:solidFill>
                <a:latin typeface="Arial"/>
                <a:ea typeface="Arial"/>
                <a:cs typeface="Arial"/>
                <a:sym typeface="Arial"/>
              </a:rPr>
            </a:br>
            <a:r>
              <a:rPr b="0" i="0" lang="en-US" sz="2400" u="none" cap="none" strike="noStrike">
                <a:solidFill>
                  <a:srgbClr val="0033B3"/>
                </a:solidFill>
                <a:latin typeface="Arial"/>
                <a:ea typeface="Arial"/>
                <a:cs typeface="Arial"/>
                <a:sym typeface="Arial"/>
              </a:rPr>
              <a:t>if </a:t>
            </a:r>
            <a:r>
              <a:rPr b="0" i="0" lang="en-US" sz="2400" u="none" cap="none" strike="noStrike">
                <a:solidFill>
                  <a:srgbClr val="080808"/>
                </a:solidFill>
                <a:latin typeface="Arial"/>
                <a:ea typeface="Arial"/>
                <a:cs typeface="Arial"/>
                <a:sym typeface="Arial"/>
              </a:rPr>
              <a:t>daily_temp[</a:t>
            </a:r>
            <a:r>
              <a:rPr b="0" i="0" lang="en-US" sz="2400" u="none" cap="none" strike="noStrike">
                <a:solidFill>
                  <a:srgbClr val="067D17"/>
                </a:solidFill>
                <a:latin typeface="Arial"/>
                <a:ea typeface="Arial"/>
                <a:cs typeface="Arial"/>
                <a:sym typeface="Arial"/>
              </a:rPr>
              <a:t>'sun'</a:t>
            </a:r>
            <a:r>
              <a:rPr b="0" i="0" lang="en-US" sz="2400" u="none" cap="none" strike="noStrike">
                <a:solidFill>
                  <a:srgbClr val="080808"/>
                </a:solidFill>
                <a:latin typeface="Arial"/>
                <a:ea typeface="Arial"/>
                <a:cs typeface="Arial"/>
                <a:sym typeface="Arial"/>
              </a:rPr>
              <a:t>] &lt; daily_temp[</a:t>
            </a:r>
            <a:r>
              <a:rPr b="0" i="0" lang="en-US" sz="2400" u="none" cap="none" strike="noStrike">
                <a:solidFill>
                  <a:srgbClr val="067D17"/>
                </a:solidFill>
                <a:latin typeface="Arial"/>
                <a:ea typeface="Arial"/>
                <a:cs typeface="Arial"/>
                <a:sym typeface="Arial"/>
              </a:rPr>
              <a:t>'sat'</a:t>
            </a:r>
            <a:r>
              <a:rPr b="0" i="0" lang="en-US" sz="2400" u="none" cap="none" strike="noStrike">
                <a:solidFill>
                  <a:srgbClr val="080808"/>
                </a:solidFill>
                <a:latin typeface="Arial"/>
                <a:ea typeface="Arial"/>
                <a:cs typeface="Arial"/>
                <a:sym typeface="Arial"/>
              </a:rPr>
              <a:t>]:</a:t>
            </a:r>
            <a:br>
              <a:rPr b="0" i="0" lang="en-US" sz="2400" u="none" cap="none" strike="noStrike">
                <a:solidFill>
                  <a:srgbClr val="080808"/>
                </a:solidFill>
                <a:latin typeface="Arial"/>
                <a:ea typeface="Arial"/>
                <a:cs typeface="Arial"/>
                <a:sym typeface="Arial"/>
              </a:rPr>
            </a:br>
            <a:r>
              <a:rPr b="0" i="0" lang="en-US" sz="2400" u="none" cap="none" strike="noStrike">
                <a:solidFill>
                  <a:srgbClr val="080808"/>
                </a:solidFill>
                <a:latin typeface="Arial"/>
                <a:ea typeface="Arial"/>
                <a:cs typeface="Arial"/>
                <a:sym typeface="Arial"/>
              </a:rPr>
              <a:t>    </a:t>
            </a:r>
            <a:r>
              <a:rPr b="0" i="0" lang="en-US" sz="2400" u="none" cap="none" strike="noStrike">
                <a:solidFill>
                  <a:srgbClr val="000080"/>
                </a:solidFill>
                <a:latin typeface="Arial"/>
                <a:ea typeface="Arial"/>
                <a:cs typeface="Arial"/>
                <a:sym typeface="Arial"/>
              </a:rPr>
              <a:t>print</a:t>
            </a:r>
            <a:r>
              <a:rPr b="0" i="0" lang="en-US" sz="2400" u="none" cap="none" strike="noStrike">
                <a:solidFill>
                  <a:srgbClr val="080808"/>
                </a:solidFill>
                <a:latin typeface="Arial"/>
                <a:ea typeface="Arial"/>
                <a:cs typeface="Arial"/>
                <a:sym typeface="Arial"/>
              </a:rPr>
              <a:t>(</a:t>
            </a:r>
            <a:r>
              <a:rPr b="0" i="0" lang="en-US" sz="2400" u="none" cap="none" strike="noStrike">
                <a:solidFill>
                  <a:srgbClr val="067D17"/>
                </a:solidFill>
                <a:latin typeface="Arial"/>
                <a:ea typeface="Arial"/>
                <a:cs typeface="Arial"/>
                <a:sym typeface="Arial"/>
              </a:rPr>
              <a:t>"Sunday was warmer weekend day"</a:t>
            </a:r>
            <a:r>
              <a:rPr b="0" i="0" lang="en-US" sz="2400" u="none" cap="none" strike="noStrike">
                <a:solidFill>
                  <a:srgbClr val="080808"/>
                </a:solidFill>
                <a:latin typeface="Arial"/>
                <a:ea typeface="Arial"/>
                <a:cs typeface="Arial"/>
                <a:sym typeface="Arial"/>
              </a:rPr>
              <a:t>)</a:t>
            </a:r>
            <a:br>
              <a:rPr b="0" i="0" lang="en-US" sz="2400" u="none" cap="none" strike="noStrike">
                <a:solidFill>
                  <a:srgbClr val="080808"/>
                </a:solidFill>
                <a:latin typeface="Arial"/>
                <a:ea typeface="Arial"/>
                <a:cs typeface="Arial"/>
                <a:sym typeface="Arial"/>
              </a:rPr>
            </a:br>
            <a:r>
              <a:rPr b="0" i="0" lang="en-US" sz="2400" u="none" cap="none" strike="noStrike">
                <a:solidFill>
                  <a:srgbClr val="0033B3"/>
                </a:solidFill>
                <a:latin typeface="Arial"/>
                <a:ea typeface="Arial"/>
                <a:cs typeface="Arial"/>
                <a:sym typeface="Arial"/>
              </a:rPr>
              <a:t>elif </a:t>
            </a:r>
            <a:r>
              <a:rPr b="0" i="0" lang="en-US" sz="2400" u="none" cap="none" strike="noStrike">
                <a:solidFill>
                  <a:srgbClr val="080808"/>
                </a:solidFill>
                <a:latin typeface="Arial"/>
                <a:ea typeface="Arial"/>
                <a:cs typeface="Arial"/>
                <a:sym typeface="Arial"/>
              </a:rPr>
              <a:t>daily_temp[</a:t>
            </a:r>
            <a:r>
              <a:rPr b="0" i="0" lang="en-US" sz="2400" u="none" cap="none" strike="noStrike">
                <a:solidFill>
                  <a:srgbClr val="067D17"/>
                </a:solidFill>
                <a:latin typeface="Arial"/>
                <a:ea typeface="Arial"/>
                <a:cs typeface="Arial"/>
                <a:sym typeface="Arial"/>
              </a:rPr>
              <a:t>'sun'</a:t>
            </a:r>
            <a:r>
              <a:rPr b="0" i="0" lang="en-US" sz="2400" u="none" cap="none" strike="noStrike">
                <a:solidFill>
                  <a:srgbClr val="080808"/>
                </a:solidFill>
                <a:latin typeface="Arial"/>
                <a:ea typeface="Arial"/>
                <a:cs typeface="Arial"/>
                <a:sym typeface="Arial"/>
              </a:rPr>
              <a:t>] &gt; daily_temp[</a:t>
            </a:r>
            <a:r>
              <a:rPr b="0" i="0" lang="en-US" sz="2400" u="none" cap="none" strike="noStrike">
                <a:solidFill>
                  <a:srgbClr val="067D17"/>
                </a:solidFill>
                <a:latin typeface="Arial"/>
                <a:ea typeface="Arial"/>
                <a:cs typeface="Arial"/>
                <a:sym typeface="Arial"/>
              </a:rPr>
              <a:t>'sat'</a:t>
            </a:r>
            <a:r>
              <a:rPr b="0" i="0" lang="en-US" sz="2400" u="none" cap="none" strike="noStrike">
                <a:solidFill>
                  <a:srgbClr val="080808"/>
                </a:solidFill>
                <a:latin typeface="Arial"/>
                <a:ea typeface="Arial"/>
                <a:cs typeface="Arial"/>
                <a:sym typeface="Arial"/>
              </a:rPr>
              <a:t>]:</a:t>
            </a:r>
            <a:br>
              <a:rPr b="0" i="0" lang="en-US" sz="2400" u="none" cap="none" strike="noStrike">
                <a:solidFill>
                  <a:srgbClr val="080808"/>
                </a:solidFill>
                <a:latin typeface="Arial"/>
                <a:ea typeface="Arial"/>
                <a:cs typeface="Arial"/>
                <a:sym typeface="Arial"/>
              </a:rPr>
            </a:br>
            <a:r>
              <a:rPr b="0" i="0" lang="en-US" sz="2400" u="none" cap="none" strike="noStrike">
                <a:solidFill>
                  <a:srgbClr val="080808"/>
                </a:solidFill>
                <a:latin typeface="Arial"/>
                <a:ea typeface="Arial"/>
                <a:cs typeface="Arial"/>
                <a:sym typeface="Arial"/>
              </a:rPr>
              <a:t>    </a:t>
            </a:r>
            <a:r>
              <a:rPr b="0" i="0" lang="en-US" sz="2400" u="none" cap="none" strike="noStrike">
                <a:solidFill>
                  <a:srgbClr val="000080"/>
                </a:solidFill>
                <a:latin typeface="Arial"/>
                <a:ea typeface="Arial"/>
                <a:cs typeface="Arial"/>
                <a:sym typeface="Arial"/>
              </a:rPr>
              <a:t>print</a:t>
            </a:r>
            <a:r>
              <a:rPr b="0" i="0" lang="en-US" sz="2400" u="none" cap="none" strike="noStrike">
                <a:solidFill>
                  <a:srgbClr val="080808"/>
                </a:solidFill>
                <a:latin typeface="Arial"/>
                <a:ea typeface="Arial"/>
                <a:cs typeface="Arial"/>
                <a:sym typeface="Arial"/>
              </a:rPr>
              <a:t>(</a:t>
            </a:r>
            <a:r>
              <a:rPr b="0" i="0" lang="en-US" sz="2400" u="none" cap="none" strike="noStrike">
                <a:solidFill>
                  <a:srgbClr val="067D17"/>
                </a:solidFill>
                <a:latin typeface="Arial"/>
                <a:ea typeface="Arial"/>
                <a:cs typeface="Arial"/>
                <a:sym typeface="Arial"/>
              </a:rPr>
              <a:t>"Sunday was warmer weekend day"</a:t>
            </a:r>
            <a:r>
              <a:rPr b="0" i="0" lang="en-US" sz="2400" u="none" cap="none" strike="noStrike">
                <a:solidFill>
                  <a:srgbClr val="080808"/>
                </a:solidFill>
                <a:latin typeface="Arial"/>
                <a:ea typeface="Arial"/>
                <a:cs typeface="Arial"/>
                <a:sym typeface="Arial"/>
              </a:rPr>
              <a:t>)</a:t>
            </a:r>
            <a:br>
              <a:rPr b="0" i="0" lang="en-US" sz="2400" u="none" cap="none" strike="noStrike">
                <a:solidFill>
                  <a:srgbClr val="080808"/>
                </a:solidFill>
                <a:latin typeface="Arial"/>
                <a:ea typeface="Arial"/>
                <a:cs typeface="Arial"/>
                <a:sym typeface="Arial"/>
              </a:rPr>
            </a:br>
            <a:r>
              <a:rPr b="0" i="0" lang="en-US" sz="2400" u="none" cap="none" strike="noStrike">
                <a:solidFill>
                  <a:srgbClr val="0033B3"/>
                </a:solidFill>
                <a:latin typeface="Arial"/>
                <a:ea typeface="Arial"/>
                <a:cs typeface="Arial"/>
                <a:sym typeface="Arial"/>
              </a:rPr>
              <a:t>else</a:t>
            </a:r>
            <a:r>
              <a:rPr b="0" i="0" lang="en-US" sz="2400" u="none" cap="none" strike="noStrike">
                <a:solidFill>
                  <a:srgbClr val="080808"/>
                </a:solidFill>
                <a:latin typeface="Arial"/>
                <a:ea typeface="Arial"/>
                <a:cs typeface="Arial"/>
                <a:sym typeface="Arial"/>
              </a:rPr>
              <a:t>:</a:t>
            </a:r>
            <a:br>
              <a:rPr b="0" i="0" lang="en-US" sz="2400" u="none" cap="none" strike="noStrike">
                <a:solidFill>
                  <a:srgbClr val="080808"/>
                </a:solidFill>
                <a:latin typeface="Arial"/>
                <a:ea typeface="Arial"/>
                <a:cs typeface="Arial"/>
                <a:sym typeface="Arial"/>
              </a:rPr>
            </a:br>
            <a:r>
              <a:rPr b="0" i="0" lang="en-US" sz="2400" u="none" cap="none" strike="noStrike">
                <a:solidFill>
                  <a:srgbClr val="080808"/>
                </a:solidFill>
                <a:latin typeface="Arial"/>
                <a:ea typeface="Arial"/>
                <a:cs typeface="Arial"/>
                <a:sym typeface="Arial"/>
              </a:rPr>
              <a:t>    </a:t>
            </a:r>
            <a:r>
              <a:rPr b="0" i="0" lang="en-US" sz="2400" u="none" cap="none" strike="noStrike">
                <a:solidFill>
                  <a:srgbClr val="000080"/>
                </a:solidFill>
                <a:latin typeface="Arial"/>
                <a:ea typeface="Arial"/>
                <a:cs typeface="Arial"/>
                <a:sym typeface="Arial"/>
              </a:rPr>
              <a:t>print</a:t>
            </a:r>
            <a:r>
              <a:rPr b="0" i="0" lang="en-US" sz="2400" u="none" cap="none" strike="noStrike">
                <a:solidFill>
                  <a:srgbClr val="080808"/>
                </a:solidFill>
                <a:latin typeface="Arial"/>
                <a:ea typeface="Arial"/>
                <a:cs typeface="Arial"/>
                <a:sym typeface="Arial"/>
              </a:rPr>
              <a:t>(</a:t>
            </a:r>
            <a:r>
              <a:rPr b="0" i="0" lang="en-US" sz="2400" u="none" cap="none" strike="noStrike">
                <a:solidFill>
                  <a:srgbClr val="067D17"/>
                </a:solidFill>
                <a:latin typeface="Arial"/>
                <a:ea typeface="Arial"/>
                <a:cs typeface="Arial"/>
                <a:sym typeface="Arial"/>
              </a:rPr>
              <a:t>'Saturday and Sunday were equally warm'</a:t>
            </a:r>
            <a:r>
              <a:rPr b="0" i="0" lang="en-US" sz="2400" u="none" cap="none" strike="noStrike">
                <a:solidFill>
                  <a:srgbClr val="080808"/>
                </a:solidFill>
                <a:latin typeface="Arial"/>
                <a:ea typeface="Arial"/>
                <a:cs typeface="Arial"/>
                <a:sym typeface="Arial"/>
              </a:rPr>
              <a:t>)</a:t>
            </a:r>
            <a:endParaRPr b="0" i="0" sz="4800" u="none" cap="none" strike="noStrike">
              <a:solidFill>
                <a:schemeClr val="dk1"/>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56"/>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None/>
            </a:pPr>
            <a:r>
              <a:rPr lang="en-US" sz="4400">
                <a:latin typeface="Arial"/>
                <a:ea typeface="Arial"/>
                <a:cs typeface="Arial"/>
                <a:sym typeface="Arial"/>
              </a:rPr>
              <a:t>Let’s Try</a:t>
            </a:r>
            <a:endParaRPr sz="4400">
              <a:latin typeface="Arial"/>
              <a:ea typeface="Arial"/>
              <a:cs typeface="Arial"/>
              <a:sym typeface="Arial"/>
            </a:endParaRPr>
          </a:p>
        </p:txBody>
      </p:sp>
      <p:graphicFrame>
        <p:nvGraphicFramePr>
          <p:cNvPr id="691" name="Google Shape;691;p56"/>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 Associative Data Structures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5.1. What is a Dictionary? </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5.2. Tuple as Key</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5.3. Dictionary Operation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Try Outs!!</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692" name="Google Shape;692;p56"/>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693" name="Google Shape;693;p56"/>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694" name="Google Shape;694;p56"/>
          <p:cNvSpPr txBox="1"/>
          <p:nvPr/>
        </p:nvSpPr>
        <p:spPr>
          <a:xfrm>
            <a:off x="2693324" y="1105411"/>
            <a:ext cx="8783973" cy="54688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From the Python Shell, enter the following and observe the results.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&gt;&gt;&gt; fruit_prices = {</a:t>
            </a:r>
            <a:br>
              <a:rPr b="1" i="0" lang="en-US" sz="1800" u="none" cap="none" strike="noStrike">
                <a:solidFill>
                  <a:schemeClr val="dk1"/>
                </a:solidFill>
                <a:latin typeface="Arial"/>
                <a:ea typeface="Arial"/>
                <a:cs typeface="Arial"/>
                <a:sym typeface="Arial"/>
              </a:rPr>
            </a:br>
            <a:r>
              <a:rPr b="1" i="0" lang="en-US" sz="1800" u="none" cap="none" strike="noStrike">
                <a:solidFill>
                  <a:schemeClr val="dk1"/>
                </a:solidFill>
                <a:latin typeface="Arial"/>
                <a:ea typeface="Arial"/>
                <a:cs typeface="Arial"/>
                <a:sym typeface="Arial"/>
              </a:rPr>
              <a:t>'apples': '.66', 'pears': '.25', 'peaches': '.74', 'bananas': '.49'</a:t>
            </a:r>
            <a:br>
              <a:rPr b="1" i="0" lang="en-US" sz="1800" u="none" cap="none" strike="noStrike">
                <a:solidFill>
                  <a:schemeClr val="dk1"/>
                </a:solidFill>
                <a:latin typeface="Arial"/>
                <a:ea typeface="Arial"/>
                <a:cs typeface="Arial"/>
                <a:sym typeface="Arial"/>
              </a:rPr>
            </a:br>
            <a:r>
              <a:rPr b="1" i="0" lang="en-US" sz="1800" u="none" cap="none" strike="noStrike">
                <a:solidFill>
                  <a:schemeClr val="dk1"/>
                </a:solidFill>
                <a:latin typeface="Arial"/>
                <a:ea typeface="Arial"/>
                <a:cs typeface="Arial"/>
                <a:sym typeface="Arial"/>
              </a:rPr>
              <a:t>}</a:t>
            </a:r>
            <a:br>
              <a:rPr b="1" i="0" lang="en-US" sz="1800" u="none" cap="none" strike="noStrike">
                <a:solidFill>
                  <a:schemeClr val="dk1"/>
                </a:solidFill>
                <a:latin typeface="Arial"/>
                <a:ea typeface="Arial"/>
                <a:cs typeface="Arial"/>
                <a:sym typeface="Arial"/>
              </a:rPr>
            </a:br>
            <a:br>
              <a:rPr b="1" i="0" lang="en-US" sz="1800" u="none" cap="none" strike="noStrike">
                <a:solidFill>
                  <a:schemeClr val="dk1"/>
                </a:solidFill>
                <a:latin typeface="Arial"/>
                <a:ea typeface="Arial"/>
                <a:cs typeface="Arial"/>
                <a:sym typeface="Arial"/>
              </a:rPr>
            </a:br>
            <a:r>
              <a:rPr b="1" i="0" lang="en-US" sz="1800" u="none" cap="none" strike="noStrike">
                <a:solidFill>
                  <a:schemeClr val="dk1"/>
                </a:solidFill>
                <a:latin typeface="Arial"/>
                <a:ea typeface="Arial"/>
                <a:cs typeface="Arial"/>
                <a:sym typeface="Arial"/>
              </a:rPr>
              <a:t>&gt;&gt;&gt; fruit_prices['apples’]</a:t>
            </a:r>
            <a:br>
              <a:rPr b="1" i="0" lang="en-US" sz="1800" u="none" cap="none" strike="noStrike">
                <a:solidFill>
                  <a:schemeClr val="dk1"/>
                </a:solidFill>
                <a:latin typeface="Arial"/>
                <a:ea typeface="Arial"/>
                <a:cs typeface="Arial"/>
                <a:sym typeface="Arial"/>
              </a:rPr>
            </a:br>
            <a:r>
              <a:rPr b="1" i="0" lang="en-US" sz="1800" u="none" cap="none" strike="noStrike">
                <a:solidFill>
                  <a:schemeClr val="dk1"/>
                </a:solidFill>
                <a:latin typeface="Arial"/>
                <a:ea typeface="Arial"/>
                <a:cs typeface="Arial"/>
                <a:sym typeface="Arial"/>
              </a:rPr>
              <a:t>???</a:t>
            </a:r>
            <a:br>
              <a:rPr b="1" i="0" lang="en-US" sz="1800" u="none" cap="none" strike="noStrike">
                <a:solidFill>
                  <a:schemeClr val="dk1"/>
                </a:solidFill>
                <a:latin typeface="Arial"/>
                <a:ea typeface="Arial"/>
                <a:cs typeface="Arial"/>
                <a:sym typeface="Arial"/>
              </a:rPr>
            </a:br>
            <a:br>
              <a:rPr b="1" i="0" lang="en-US" sz="1800" u="none" cap="none" strike="noStrike">
                <a:solidFill>
                  <a:schemeClr val="dk1"/>
                </a:solidFill>
                <a:latin typeface="Arial"/>
                <a:ea typeface="Arial"/>
                <a:cs typeface="Arial"/>
                <a:sym typeface="Arial"/>
              </a:rPr>
            </a:br>
            <a:r>
              <a:rPr b="1" i="0" lang="en-US" sz="1800" u="none" cap="none" strike="noStrike">
                <a:solidFill>
                  <a:schemeClr val="dk1"/>
                </a:solidFill>
                <a:latin typeface="Arial"/>
                <a:ea typeface="Arial"/>
                <a:cs typeface="Arial"/>
                <a:sym typeface="Arial"/>
              </a:rPr>
              <a:t>&gt;&gt;&gt; fruit_prices[0]</a:t>
            </a:r>
            <a:br>
              <a:rPr b="1" i="0" lang="en-US" sz="1800" u="none" cap="none" strike="noStrike">
                <a:solidFill>
                  <a:schemeClr val="dk1"/>
                </a:solidFill>
                <a:latin typeface="Arial"/>
                <a:ea typeface="Arial"/>
                <a:cs typeface="Arial"/>
                <a:sym typeface="Arial"/>
              </a:rPr>
            </a:br>
            <a:r>
              <a:rPr b="1" i="0" lang="en-US" sz="1800" u="none" cap="none" strike="noStrike">
                <a:solidFill>
                  <a:schemeClr val="dk1"/>
                </a:solidFill>
                <a:latin typeface="Arial"/>
                <a:ea typeface="Arial"/>
                <a:cs typeface="Arial"/>
                <a:sym typeface="Arial"/>
              </a:rPr>
              <a:t>???</a:t>
            </a:r>
            <a:br>
              <a:rPr b="1" i="0" lang="en-US" sz="1800" u="none" cap="none" strike="noStrike">
                <a:solidFill>
                  <a:schemeClr val="dk1"/>
                </a:solidFill>
                <a:latin typeface="Arial"/>
                <a:ea typeface="Arial"/>
                <a:cs typeface="Arial"/>
                <a:sym typeface="Arial"/>
              </a:rPr>
            </a:br>
            <a:br>
              <a:rPr b="1" i="0" lang="en-US" sz="1800" u="none" cap="none" strike="noStrike">
                <a:solidFill>
                  <a:schemeClr val="dk1"/>
                </a:solidFill>
                <a:latin typeface="Arial"/>
                <a:ea typeface="Arial"/>
                <a:cs typeface="Arial"/>
                <a:sym typeface="Arial"/>
              </a:rPr>
            </a:br>
            <a:r>
              <a:rPr b="1" i="0" lang="en-US" sz="1800" u="none" cap="none" strike="noStrike">
                <a:solidFill>
                  <a:schemeClr val="dk1"/>
                </a:solidFill>
                <a:latin typeface="Arial"/>
                <a:ea typeface="Arial"/>
                <a:cs typeface="Arial"/>
                <a:sym typeface="Arial"/>
              </a:rPr>
              <a:t>&gt;&gt;&gt; veg_data = [['corn', '.25'], ['tomatoes', '.49'], ['peas', '.39']]</a:t>
            </a:r>
            <a:br>
              <a:rPr b="1" i="0" lang="en-US" sz="1800" u="none" cap="none" strike="noStrike">
                <a:solidFill>
                  <a:schemeClr val="dk1"/>
                </a:solidFill>
                <a:latin typeface="Arial"/>
                <a:ea typeface="Arial"/>
                <a:cs typeface="Arial"/>
                <a:sym typeface="Arial"/>
              </a:rPr>
            </a:br>
            <a:r>
              <a:rPr b="1" i="0" lang="en-US" sz="1800" u="none" cap="none" strike="noStrike">
                <a:solidFill>
                  <a:schemeClr val="dk1"/>
                </a:solidFill>
                <a:latin typeface="Arial"/>
                <a:ea typeface="Arial"/>
                <a:cs typeface="Arial"/>
                <a:sym typeface="Arial"/>
              </a:rPr>
              <a:t>&gt;&gt;&gt; veg_prices = dict(veg_data)</a:t>
            </a:r>
            <a:br>
              <a:rPr b="1" i="0" lang="en-US" sz="1800" u="none" cap="none" strike="noStrike">
                <a:solidFill>
                  <a:schemeClr val="dk1"/>
                </a:solidFill>
                <a:latin typeface="Arial"/>
                <a:ea typeface="Arial"/>
                <a:cs typeface="Arial"/>
                <a:sym typeface="Arial"/>
              </a:rPr>
            </a:br>
            <a:r>
              <a:rPr b="1" i="0" lang="en-US" sz="1800" u="none" cap="none" strike="noStrike">
                <a:solidFill>
                  <a:schemeClr val="dk1"/>
                </a:solidFill>
                <a:latin typeface="Arial"/>
                <a:ea typeface="Arial"/>
                <a:cs typeface="Arial"/>
                <a:sym typeface="Arial"/>
              </a:rPr>
              <a:t>&gt;&gt;&gt; veg_prices</a:t>
            </a:r>
            <a:br>
              <a:rPr b="1" i="0" lang="en-US" sz="1800" u="none" cap="none" strike="noStrike">
                <a:solidFill>
                  <a:schemeClr val="dk1"/>
                </a:solidFill>
                <a:latin typeface="Arial"/>
                <a:ea typeface="Arial"/>
                <a:cs typeface="Arial"/>
                <a:sym typeface="Arial"/>
              </a:rPr>
            </a:br>
            <a:r>
              <a:rPr b="1" i="0" lang="en-US" sz="1800" u="none" cap="none" strike="noStrike">
                <a:solidFill>
                  <a:schemeClr val="dk1"/>
                </a:solidFill>
                <a:latin typeface="Arial"/>
                <a:ea typeface="Arial"/>
                <a:cs typeface="Arial"/>
                <a:sym typeface="Arial"/>
              </a:rPr>
              <a:t>???</a:t>
            </a:r>
            <a:br>
              <a:rPr b="1" i="0" lang="en-US" sz="1800" u="none" cap="none" strike="noStrike">
                <a:solidFill>
                  <a:schemeClr val="dk1"/>
                </a:solidFill>
                <a:latin typeface="Arial"/>
                <a:ea typeface="Arial"/>
                <a:cs typeface="Arial"/>
                <a:sym typeface="Arial"/>
              </a:rPr>
            </a:br>
            <a:br>
              <a:rPr b="1" i="0" lang="en-US" sz="1800" u="none" cap="none" strike="noStrike">
                <a:solidFill>
                  <a:schemeClr val="dk1"/>
                </a:solidFill>
                <a:latin typeface="Arial"/>
                <a:ea typeface="Arial"/>
                <a:cs typeface="Arial"/>
                <a:sym typeface="Arial"/>
              </a:rPr>
            </a:br>
            <a:r>
              <a:rPr b="1" i="0" lang="en-US" sz="1800" u="none" cap="none" strike="noStrike">
                <a:solidFill>
                  <a:schemeClr val="dk1"/>
                </a:solidFill>
                <a:latin typeface="Arial"/>
                <a:ea typeface="Arial"/>
                <a:cs typeface="Arial"/>
                <a:sym typeface="Arial"/>
              </a:rPr>
              <a:t>&gt;&gt;&gt; veg_prices['peas']</a:t>
            </a:r>
            <a:br>
              <a:rPr b="1" i="0" lang="en-US" sz="1800" u="none" cap="none" strike="noStrike">
                <a:solidFill>
                  <a:schemeClr val="dk1"/>
                </a:solidFill>
                <a:latin typeface="Arial"/>
                <a:ea typeface="Arial"/>
                <a:cs typeface="Arial"/>
                <a:sym typeface="Arial"/>
              </a:rPr>
            </a:br>
            <a:r>
              <a:rPr b="1" i="0" lang="en-US" sz="1800" u="none" cap="none" strike="noStrike">
                <a:solidFill>
                  <a:schemeClr val="dk1"/>
                </a:solidFill>
                <a:latin typeface="Arial"/>
                <a:ea typeface="Arial"/>
                <a:cs typeface="Arial"/>
                <a:sym typeface="Arial"/>
              </a:rPr>
              <a:t>??? </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57"/>
          <p:cNvSpPr txBox="1"/>
          <p:nvPr/>
        </p:nvSpPr>
        <p:spPr>
          <a:xfrm>
            <a:off x="2207874" y="2719902"/>
            <a:ext cx="8650627" cy="144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32C4A"/>
                </a:solidFill>
                <a:latin typeface="Arial"/>
                <a:ea typeface="Arial"/>
                <a:cs typeface="Arial"/>
                <a:sym typeface="Arial"/>
              </a:rPr>
              <a:t>Iterating over Dictionaries in Python</a:t>
            </a:r>
            <a:endParaRPr b="0" i="0" sz="4400" u="none" cap="none" strike="noStrike">
              <a:solidFill>
                <a:schemeClr val="dk1"/>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58"/>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5000"/>
              <a:buNone/>
            </a:pPr>
            <a:r>
              <a:rPr lang="en-US" sz="5000">
                <a:latin typeface="Arial"/>
                <a:ea typeface="Arial"/>
                <a:cs typeface="Arial"/>
                <a:sym typeface="Arial"/>
              </a:rPr>
              <a:t>Iteration over Dictionaries</a:t>
            </a:r>
            <a:endParaRPr sz="5000">
              <a:latin typeface="Arial"/>
              <a:ea typeface="Arial"/>
              <a:cs typeface="Arial"/>
              <a:sym typeface="Arial"/>
            </a:endParaRPr>
          </a:p>
        </p:txBody>
      </p:sp>
      <p:graphicFrame>
        <p:nvGraphicFramePr>
          <p:cNvPr id="705" name="Google Shape;705;p58"/>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 Associative Data Structures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5.1. What is a Dictionary? </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5.2. Tuple as Key</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5.3. Dictionary Operation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5.4. Iteration over Dictionaries</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706" name="Google Shape;706;p58"/>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707" name="Google Shape;707;p58"/>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708" name="Google Shape;708;p58"/>
          <p:cNvSpPr/>
          <p:nvPr/>
        </p:nvSpPr>
        <p:spPr>
          <a:xfrm>
            <a:off x="2585256" y="1550228"/>
            <a:ext cx="9285319"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We can iterate over the </a:t>
            </a:r>
            <a:r>
              <a:rPr b="1" i="0" lang="en-US" sz="2400" u="none" cap="none" strike="noStrike">
                <a:solidFill>
                  <a:srgbClr val="D4650A"/>
                </a:solidFill>
                <a:latin typeface="Arial"/>
                <a:ea typeface="Arial"/>
                <a:cs typeface="Arial"/>
                <a:sym typeface="Arial"/>
              </a:rPr>
              <a:t>keys and values </a:t>
            </a:r>
            <a:r>
              <a:rPr b="0" i="0" lang="en-US" sz="2400" u="none" cap="none" strike="noStrike">
                <a:solidFill>
                  <a:schemeClr val="dk1"/>
                </a:solidFill>
                <a:latin typeface="Arial"/>
                <a:ea typeface="Arial"/>
                <a:cs typeface="Arial"/>
                <a:sym typeface="Arial"/>
              </a:rPr>
              <a:t>of a dictionary as we would with any other sequence. The easiest way is to use </a:t>
            </a:r>
            <a:r>
              <a:rPr b="1" i="1" lang="en-US" sz="2400" u="none" cap="none" strike="noStrike">
                <a:solidFill>
                  <a:srgbClr val="D4650A"/>
                </a:solidFill>
                <a:latin typeface="Arial"/>
                <a:ea typeface="Arial"/>
                <a:cs typeface="Arial"/>
                <a:sym typeface="Arial"/>
              </a:rPr>
              <a:t>for loop</a:t>
            </a:r>
            <a:r>
              <a:rPr b="0" i="0" lang="en-US" sz="2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709" name="Google Shape;709;p58"/>
          <p:cNvSpPr/>
          <p:nvPr/>
        </p:nvSpPr>
        <p:spPr>
          <a:xfrm>
            <a:off x="2585256" y="2875838"/>
            <a:ext cx="9285319"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There are various built-in functions which can be use to help us iterate over dictionaries in Python which are </a:t>
            </a:r>
            <a:r>
              <a:rPr b="1" i="0" lang="en-US" sz="2400" u="none" cap="none" strike="noStrike">
                <a:solidFill>
                  <a:srgbClr val="00B0F0"/>
                </a:solidFill>
                <a:latin typeface="Arial"/>
                <a:ea typeface="Arial"/>
                <a:cs typeface="Arial"/>
                <a:sym typeface="Arial"/>
              </a:rPr>
              <a:t>dict.keys(), dict.values() and dict.items()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59"/>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5000"/>
              <a:buNone/>
            </a:pPr>
            <a:r>
              <a:rPr lang="en-US" sz="5000">
                <a:latin typeface="Arial"/>
                <a:ea typeface="Arial"/>
                <a:cs typeface="Arial"/>
                <a:sym typeface="Arial"/>
              </a:rPr>
              <a:t>Iteration over </a:t>
            </a:r>
            <a:r>
              <a:rPr lang="en-US" sz="5000">
                <a:solidFill>
                  <a:srgbClr val="00B0F0"/>
                </a:solidFill>
                <a:latin typeface="Arial"/>
                <a:ea typeface="Arial"/>
                <a:cs typeface="Arial"/>
                <a:sym typeface="Arial"/>
              </a:rPr>
              <a:t>key</a:t>
            </a:r>
            <a:r>
              <a:rPr lang="en-US" sz="5000">
                <a:latin typeface="Arial"/>
                <a:ea typeface="Arial"/>
                <a:cs typeface="Arial"/>
                <a:sym typeface="Arial"/>
              </a:rPr>
              <a:t> or </a:t>
            </a:r>
            <a:r>
              <a:rPr lang="en-US" sz="5000">
                <a:solidFill>
                  <a:srgbClr val="00B050"/>
                </a:solidFill>
                <a:latin typeface="Arial"/>
                <a:ea typeface="Arial"/>
                <a:cs typeface="Arial"/>
                <a:sym typeface="Arial"/>
              </a:rPr>
              <a:t>value</a:t>
            </a:r>
            <a:endParaRPr sz="5000">
              <a:solidFill>
                <a:srgbClr val="00B050"/>
              </a:solidFill>
              <a:latin typeface="Arial"/>
              <a:ea typeface="Arial"/>
              <a:cs typeface="Arial"/>
              <a:sym typeface="Arial"/>
            </a:endParaRPr>
          </a:p>
        </p:txBody>
      </p:sp>
      <p:graphicFrame>
        <p:nvGraphicFramePr>
          <p:cNvPr id="715" name="Google Shape;715;p59"/>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 Associative Data Structures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5.1. What is a Dictionary? </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5.2. Tuple as Key</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5.3. Dictionary Operation</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5.4. Iteration over Dictionaries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5.5. Iteration over key</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716" name="Google Shape;716;p59"/>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US"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717" name="Google Shape;717;p59"/>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718" name="Google Shape;718;p59"/>
          <p:cNvSpPr/>
          <p:nvPr/>
        </p:nvSpPr>
        <p:spPr>
          <a:xfrm>
            <a:off x="2693324" y="1450428"/>
            <a:ext cx="9120089"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If you just need to work with </a:t>
            </a:r>
            <a:r>
              <a:rPr b="1" i="1" lang="en-US" sz="2400" u="none" cap="none" strike="noStrike">
                <a:solidFill>
                  <a:srgbClr val="D4650A"/>
                </a:solidFill>
                <a:latin typeface="Arial"/>
                <a:ea typeface="Arial"/>
                <a:cs typeface="Arial"/>
                <a:sym typeface="Arial"/>
              </a:rPr>
              <a:t>keys</a:t>
            </a:r>
            <a:r>
              <a:rPr b="0" i="0" lang="en-US" sz="2400" u="none" cap="none" strike="noStrike">
                <a:solidFill>
                  <a:schemeClr val="dk1"/>
                </a:solidFill>
                <a:latin typeface="Arial"/>
                <a:ea typeface="Arial"/>
                <a:cs typeface="Arial"/>
                <a:sym typeface="Arial"/>
              </a:rPr>
              <a:t> of a dictionary, then you can use </a:t>
            </a:r>
            <a:r>
              <a:rPr b="1" i="1" lang="en-US" sz="2400" u="none" cap="none" strike="noStrike">
                <a:solidFill>
                  <a:srgbClr val="D4650A"/>
                </a:solidFill>
                <a:latin typeface="Arial"/>
                <a:ea typeface="Arial"/>
                <a:cs typeface="Arial"/>
                <a:sym typeface="Arial"/>
              </a:rPr>
              <a:t>.keys()</a:t>
            </a:r>
            <a:r>
              <a:rPr b="0" i="0" lang="en-US" sz="2400" u="none" cap="none" strike="noStrike">
                <a:solidFill>
                  <a:schemeClr val="dk1"/>
                </a:solidFill>
                <a:latin typeface="Arial"/>
                <a:ea typeface="Arial"/>
                <a:cs typeface="Arial"/>
                <a:sym typeface="Arial"/>
              </a:rPr>
              <a:t>, which is a method that returns a new view object contacting the dictionary keys:</a:t>
            </a:r>
            <a:endParaRPr b="0" i="0" sz="2400" u="none" cap="none" strike="noStrike">
              <a:solidFill>
                <a:schemeClr val="dk1"/>
              </a:solidFill>
              <a:latin typeface="Arial"/>
              <a:ea typeface="Arial"/>
              <a:cs typeface="Arial"/>
              <a:sym typeface="Arial"/>
            </a:endParaRPr>
          </a:p>
        </p:txBody>
      </p:sp>
      <p:sp>
        <p:nvSpPr>
          <p:cNvPr id="719" name="Google Shape;719;p59"/>
          <p:cNvSpPr/>
          <p:nvPr/>
        </p:nvSpPr>
        <p:spPr>
          <a:xfrm>
            <a:off x="3006465" y="2679634"/>
            <a:ext cx="820857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colours = {'spade': 'red', 'bucket': 'blue', 'towel': 'grey’}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for key in colours.keys():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    print(key)</a:t>
            </a:r>
            <a:endParaRPr b="0" i="0" sz="1400" u="none" cap="none" strike="noStrike">
              <a:solidFill>
                <a:srgbClr val="000000"/>
              </a:solidFill>
              <a:latin typeface="Arial"/>
              <a:ea typeface="Arial"/>
              <a:cs typeface="Arial"/>
              <a:sym typeface="Arial"/>
            </a:endParaRPr>
          </a:p>
        </p:txBody>
      </p:sp>
      <p:sp>
        <p:nvSpPr>
          <p:cNvPr id="720" name="Google Shape;720;p59"/>
          <p:cNvSpPr/>
          <p:nvPr/>
        </p:nvSpPr>
        <p:spPr>
          <a:xfrm>
            <a:off x="2750486" y="4031159"/>
            <a:ext cx="9120089"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It’s also common to only use the </a:t>
            </a:r>
            <a:r>
              <a:rPr b="1" i="1" lang="en-US" sz="2400" u="none" cap="none" strike="noStrike">
                <a:solidFill>
                  <a:srgbClr val="D4650A"/>
                </a:solidFill>
                <a:latin typeface="Arial"/>
                <a:ea typeface="Arial"/>
                <a:cs typeface="Arial"/>
                <a:sym typeface="Arial"/>
              </a:rPr>
              <a:t>values</a:t>
            </a:r>
            <a:r>
              <a:rPr b="0" i="0" lang="en-US" sz="2400" u="none" cap="none" strike="noStrike">
                <a:solidFill>
                  <a:schemeClr val="dk1"/>
                </a:solidFill>
                <a:latin typeface="Arial"/>
                <a:ea typeface="Arial"/>
                <a:cs typeface="Arial"/>
                <a:sym typeface="Arial"/>
              </a:rPr>
              <a:t> to iterate through a dictionary in Python. One way to do that is to use </a:t>
            </a:r>
            <a:r>
              <a:rPr b="1" i="1" lang="en-US" sz="2400" u="none" cap="none" strike="noStrike">
                <a:solidFill>
                  <a:srgbClr val="D4650A"/>
                </a:solidFill>
                <a:latin typeface="Arial"/>
                <a:ea typeface="Arial"/>
                <a:cs typeface="Arial"/>
                <a:sym typeface="Arial"/>
              </a:rPr>
              <a:t>.values()</a:t>
            </a:r>
            <a:r>
              <a:rPr b="0" i="0" lang="en-US" sz="2400" u="none" cap="none" strike="noStrike">
                <a:solidFill>
                  <a:schemeClr val="dk1"/>
                </a:solidFill>
                <a:latin typeface="Arial"/>
                <a:ea typeface="Arial"/>
                <a:cs typeface="Arial"/>
                <a:sym typeface="Arial"/>
              </a:rPr>
              <a:t>, which returns a view with the values of the dictionary </a:t>
            </a:r>
            <a:endParaRPr b="0" i="0" sz="2400" u="none" cap="none" strike="noStrike">
              <a:solidFill>
                <a:schemeClr val="dk1"/>
              </a:solidFill>
              <a:latin typeface="Arial"/>
              <a:ea typeface="Arial"/>
              <a:cs typeface="Arial"/>
              <a:sym typeface="Arial"/>
            </a:endParaRPr>
          </a:p>
        </p:txBody>
      </p:sp>
      <p:sp>
        <p:nvSpPr>
          <p:cNvPr id="721" name="Google Shape;721;p59"/>
          <p:cNvSpPr/>
          <p:nvPr/>
        </p:nvSpPr>
        <p:spPr>
          <a:xfrm>
            <a:off x="3006465" y="5382684"/>
            <a:ext cx="820857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colours = {'spade': 'red', 'bucket': 'blue', 'towel': 'grey’}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for key in colours.values():</a:t>
            </a:r>
            <a:endParaRPr b="1" i="0" sz="2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    print(values)</a:t>
            </a:r>
            <a:endParaRPr b="1" i="0" sz="2400" u="none" cap="none" strike="noStrike">
              <a:solidFill>
                <a:srgbClr val="FF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60"/>
          <p:cNvSpPr txBox="1"/>
          <p:nvPr>
            <p:ph idx="1" type="subTitle"/>
          </p:nvPr>
        </p:nvSpPr>
        <p:spPr>
          <a:xfrm>
            <a:off x="2585258" y="308259"/>
            <a:ext cx="9401695" cy="78222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5000"/>
              <a:buNone/>
            </a:pPr>
            <a:r>
              <a:rPr lang="en-US" sz="5000">
                <a:latin typeface="Arial"/>
                <a:ea typeface="Arial"/>
                <a:cs typeface="Arial"/>
                <a:sym typeface="Arial"/>
              </a:rPr>
              <a:t>Iteration over Dictionaries</a:t>
            </a:r>
            <a:endParaRPr sz="5000">
              <a:latin typeface="Arial"/>
              <a:ea typeface="Arial"/>
              <a:cs typeface="Arial"/>
              <a:sym typeface="Arial"/>
            </a:endParaRPr>
          </a:p>
        </p:txBody>
      </p:sp>
      <p:graphicFrame>
        <p:nvGraphicFramePr>
          <p:cNvPr id="727" name="Google Shape;727;p60"/>
          <p:cNvGraphicFramePr/>
          <p:nvPr/>
        </p:nvGraphicFramePr>
        <p:xfrm>
          <a:off x="-8792" y="8792"/>
          <a:ext cx="3000000" cy="3000000"/>
        </p:xfrm>
        <a:graphic>
          <a:graphicData uri="http://schemas.openxmlformats.org/drawingml/2006/table">
            <a:tbl>
              <a:tblPr>
                <a:noFill/>
                <a:tableStyleId>{FE5DFC55-6CDA-4FDE-B55B-BA9B7D4DFA6F}</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Introduction</a:t>
                      </a:r>
                      <a:endParaRPr sz="1400" u="none" cap="none" strike="noStrike"/>
                    </a:p>
                    <a:p>
                      <a:pPr indent="-342900" lvl="0" marL="342900" marR="0" rtl="0" algn="ctr">
                        <a:lnSpc>
                          <a:spcPct val="150000"/>
                        </a:lnSpc>
                        <a:spcBef>
                          <a:spcPts val="0"/>
                        </a:spcBef>
                        <a:spcAft>
                          <a:spcPts val="0"/>
                        </a:spcAft>
                        <a:buClr>
                          <a:srgbClr val="222A35"/>
                        </a:buClr>
                        <a:buSzPts val="1600"/>
                        <a:buFont typeface="Calibri"/>
                        <a:buAutoNum type="arabicPeriod"/>
                      </a:pPr>
                      <a:r>
                        <a:rPr b="1" lang="en-US" sz="1600" u="none" cap="none" strike="noStrike">
                          <a:solidFill>
                            <a:srgbClr val="222A35"/>
                          </a:solidFill>
                          <a:latin typeface="Arial"/>
                          <a:ea typeface="Arial"/>
                          <a:cs typeface="Arial"/>
                          <a:sym typeface="Arial"/>
                        </a:rPr>
                        <a:t>Lists</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3. Tuples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4. Iteration over Lists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 Associative Data Structures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5.4. Iteration over Dictionaries</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222A35"/>
                          </a:solidFill>
                          <a:latin typeface="Arial"/>
                          <a:ea typeface="Arial"/>
                          <a:cs typeface="Arial"/>
                          <a:sym typeface="Arial"/>
                        </a:rPr>
                        <a:t>5.5. Iteration over key</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rPr b="1" lang="en-US" sz="1600" u="none" cap="none" strike="noStrike">
                          <a:solidFill>
                            <a:srgbClr val="00B050"/>
                          </a:solidFill>
                          <a:latin typeface="Arial"/>
                          <a:ea typeface="Arial"/>
                          <a:cs typeface="Arial"/>
                          <a:sym typeface="Arial"/>
                        </a:rPr>
                        <a:t>5.6. Iteration over Dictionaries</a:t>
                      </a:r>
                      <a:endParaRPr b="1" sz="1600" u="sng"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728" name="Google Shape;728;p60"/>
          <p:cNvSpPr txBox="1"/>
          <p:nvPr/>
        </p:nvSpPr>
        <p:spPr>
          <a:xfrm>
            <a:off x="2913883" y="1453399"/>
            <a:ext cx="8799896" cy="1605111"/>
          </a:xfrm>
          <a:prstGeom prst="rect">
            <a:avLst/>
          </a:prstGeom>
          <a:noFill/>
          <a:ln>
            <a:noFill/>
          </a:ln>
        </p:spPr>
        <p:txBody>
          <a:bodyPr anchorCtr="0" anchor="ctr" bIns="91425" lIns="91425" spcFirstLastPara="1" rIns="91425" wrap="square" tIns="91425">
            <a:noAutofit/>
          </a:bodyPr>
          <a:lstStyle/>
          <a:p>
            <a:pPr indent="-342900" lvl="0" marL="342900" marR="0" rtl="0" algn="just">
              <a:lnSpc>
                <a:spcPct val="100000"/>
              </a:lnSpc>
              <a:spcBef>
                <a:spcPts val="0"/>
              </a:spcBef>
              <a:spcAft>
                <a:spcPts val="0"/>
              </a:spcAft>
              <a:buClr>
                <a:schemeClr val="dk1"/>
              </a:buClr>
              <a:buSzPts val="3000"/>
              <a:buFont typeface="Arial"/>
              <a:buChar char="•"/>
            </a:pPr>
            <a:r>
              <a:rPr b="0" i="0" lang="en-US" sz="2400" u="none" cap="none" strike="noStrike">
                <a:solidFill>
                  <a:schemeClr val="dk1"/>
                </a:solidFill>
                <a:latin typeface="Arial"/>
                <a:ea typeface="Arial"/>
                <a:cs typeface="Arial"/>
                <a:sym typeface="Arial"/>
              </a:rPr>
              <a:t>When you’re working with dictionaries, it’s likely that you’ll </a:t>
            </a:r>
            <a:r>
              <a:rPr b="1" i="1" lang="en-US" sz="2400" u="none" cap="none" strike="noStrike">
                <a:solidFill>
                  <a:srgbClr val="D4650A"/>
                </a:solidFill>
                <a:latin typeface="Arial"/>
                <a:ea typeface="Arial"/>
                <a:cs typeface="Arial"/>
                <a:sym typeface="Arial"/>
              </a:rPr>
              <a:t>want to work </a:t>
            </a:r>
            <a:r>
              <a:rPr b="0" i="0" lang="en-US" sz="2400" u="none" cap="none" strike="noStrike">
                <a:solidFill>
                  <a:schemeClr val="dk1"/>
                </a:solidFill>
                <a:latin typeface="Arial"/>
                <a:ea typeface="Arial"/>
                <a:cs typeface="Arial"/>
                <a:sym typeface="Arial"/>
              </a:rPr>
              <a:t>with both the </a:t>
            </a:r>
            <a:r>
              <a:rPr b="1" i="1" lang="en-US" sz="2400" u="none" cap="none" strike="noStrike">
                <a:solidFill>
                  <a:srgbClr val="00B0F0"/>
                </a:solidFill>
                <a:latin typeface="Arial"/>
                <a:ea typeface="Arial"/>
                <a:cs typeface="Arial"/>
                <a:sym typeface="Arial"/>
              </a:rPr>
              <a:t>keys and values</a:t>
            </a:r>
            <a:r>
              <a:rPr b="0" i="0" lang="en-US" sz="2400" u="none" cap="none" strike="noStrike">
                <a:solidFill>
                  <a:schemeClr val="dk1"/>
                </a:solidFill>
                <a:latin typeface="Arial"/>
                <a:ea typeface="Arial"/>
                <a:cs typeface="Arial"/>
                <a:sym typeface="Arial"/>
              </a:rPr>
              <a:t>. One of the most useful ways to iterate through a dictionary in python is by using the built-in </a:t>
            </a:r>
            <a:r>
              <a:rPr b="1" i="1" lang="en-US" sz="2400" u="none" cap="none" strike="noStrike">
                <a:solidFill>
                  <a:srgbClr val="D4650A"/>
                </a:solidFill>
                <a:latin typeface="Arial"/>
                <a:ea typeface="Arial"/>
                <a:cs typeface="Arial"/>
                <a:sym typeface="Arial"/>
              </a:rPr>
              <a:t>items() </a:t>
            </a:r>
            <a:r>
              <a:rPr b="0" i="0" lang="en-US" sz="2400" u="none" cap="none" strike="noStrike">
                <a:solidFill>
                  <a:schemeClr val="dk1"/>
                </a:solidFill>
                <a:latin typeface="Arial"/>
                <a:ea typeface="Arial"/>
                <a:cs typeface="Arial"/>
                <a:sym typeface="Arial"/>
              </a:rPr>
              <a:t>function.</a:t>
            </a:r>
            <a:endParaRPr b="0" i="0" sz="2400" u="none" cap="none" strike="noStrike">
              <a:solidFill>
                <a:schemeClr val="dk1"/>
              </a:solidFill>
              <a:latin typeface="Arial"/>
              <a:ea typeface="Arial"/>
              <a:cs typeface="Arial"/>
              <a:sym typeface="Arial"/>
            </a:endParaRPr>
          </a:p>
        </p:txBody>
      </p:sp>
      <p:cxnSp>
        <p:nvCxnSpPr>
          <p:cNvPr id="729" name="Google Shape;729;p60"/>
          <p:cNvCxnSpPr/>
          <p:nvPr/>
        </p:nvCxnSpPr>
        <p:spPr>
          <a:xfrm flipH="1" rot="10800000">
            <a:off x="2693324" y="1090482"/>
            <a:ext cx="9177251" cy="29859"/>
          </a:xfrm>
          <a:prstGeom prst="straightConnector1">
            <a:avLst/>
          </a:prstGeom>
          <a:noFill/>
          <a:ln cap="flat" cmpd="sng" w="9525">
            <a:solidFill>
              <a:schemeClr val="dk1"/>
            </a:solidFill>
            <a:prstDash val="solid"/>
            <a:round/>
            <a:headEnd len="med" w="med" type="oval"/>
            <a:tailEnd len="med" w="med" type="oval"/>
          </a:ln>
        </p:spPr>
      </p:cxnSp>
      <p:sp>
        <p:nvSpPr>
          <p:cNvPr id="730" name="Google Shape;730;p60"/>
          <p:cNvSpPr txBox="1"/>
          <p:nvPr/>
        </p:nvSpPr>
        <p:spPr>
          <a:xfrm>
            <a:off x="2913883" y="3058510"/>
            <a:ext cx="8799896" cy="1605111"/>
          </a:xfrm>
          <a:prstGeom prst="rect">
            <a:avLst/>
          </a:prstGeom>
          <a:noFill/>
          <a:ln>
            <a:noFill/>
          </a:ln>
        </p:spPr>
        <p:txBody>
          <a:bodyPr anchorCtr="0" anchor="ctr" bIns="91425" lIns="91425" spcFirstLastPara="1" rIns="91425" wrap="square" tIns="91425">
            <a:noAutofit/>
          </a:bodyPr>
          <a:lstStyle/>
          <a:p>
            <a:pPr indent="-342900" lvl="0" marL="342900" marR="0" rtl="0" algn="just">
              <a:lnSpc>
                <a:spcPct val="100000"/>
              </a:lnSpc>
              <a:spcBef>
                <a:spcPts val="0"/>
              </a:spcBef>
              <a:spcAft>
                <a:spcPts val="0"/>
              </a:spcAft>
              <a:buClr>
                <a:schemeClr val="dk1"/>
              </a:buClr>
              <a:buSzPts val="3000"/>
              <a:buFont typeface="Arial"/>
              <a:buChar char="•"/>
            </a:pPr>
            <a:r>
              <a:rPr b="0" i="0" lang="en-US" sz="2400" u="none" cap="none" strike="noStrike">
                <a:solidFill>
                  <a:schemeClr val="dk1"/>
                </a:solidFill>
                <a:latin typeface="Arial"/>
                <a:ea typeface="Arial"/>
                <a:cs typeface="Arial"/>
                <a:sym typeface="Arial"/>
              </a:rPr>
              <a:t>This returns list of tuples, each tuple containing a </a:t>
            </a:r>
            <a:r>
              <a:rPr b="1" i="1" lang="en-US" sz="2400" u="none" cap="none" strike="noStrike">
                <a:solidFill>
                  <a:srgbClr val="D4650A"/>
                </a:solidFill>
                <a:latin typeface="Arial"/>
                <a:ea typeface="Arial"/>
                <a:cs typeface="Arial"/>
                <a:sym typeface="Arial"/>
              </a:rPr>
              <a:t>key and a value</a:t>
            </a:r>
            <a:r>
              <a:rPr b="0" i="0" lang="en-US" sz="2400" u="none" cap="none" strike="noStrike">
                <a:solidFill>
                  <a:schemeClr val="dk1"/>
                </a:solidFill>
                <a:latin typeface="Arial"/>
                <a:ea typeface="Arial"/>
                <a:cs typeface="Arial"/>
                <a:sym typeface="Arial"/>
              </a:rPr>
              <a:t>. Each tuple is then unpacked to two variables to print one dictionary item at a time.</a:t>
            </a:r>
            <a:endParaRPr b="0" i="0" sz="2400" u="none" cap="none" strike="noStrike">
              <a:solidFill>
                <a:schemeClr val="dk1"/>
              </a:solidFill>
              <a:latin typeface="Arial"/>
              <a:ea typeface="Arial"/>
              <a:cs typeface="Arial"/>
              <a:sym typeface="Arial"/>
            </a:endParaRPr>
          </a:p>
        </p:txBody>
      </p:sp>
      <p:sp>
        <p:nvSpPr>
          <p:cNvPr id="731" name="Google Shape;731;p60"/>
          <p:cNvSpPr/>
          <p:nvPr/>
        </p:nvSpPr>
        <p:spPr>
          <a:xfrm>
            <a:off x="3174123" y="4564529"/>
            <a:ext cx="8539656"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colours = {'spade': 'red', 'bucket': 'blue', 'towel': 'grey’}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for key, value in colours.items():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    print(key, value)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pic>
        <p:nvPicPr>
          <p:cNvPr id="736" name="Google Shape;736;p61"/>
          <p:cNvPicPr preferRelativeResize="0"/>
          <p:nvPr/>
        </p:nvPicPr>
        <p:blipFill rotWithShape="1">
          <a:blip r:embed="rId3">
            <a:alphaModFix/>
          </a:blip>
          <a:srcRect b="0" l="0" r="0" t="0"/>
          <a:stretch/>
        </p:blipFill>
        <p:spPr>
          <a:xfrm>
            <a:off x="3305752" y="1580072"/>
            <a:ext cx="5591577" cy="36791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2023-02-13T14:18:17Z</dcterms:created>
  <dc:creator>Sujan Aryal</dc:creator>
</cp:coreProperties>
</file>