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jUdE5uLF8wKtkIQ7/dNa/Hz8dC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4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4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4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4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5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5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2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2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52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52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52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5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2" name="Google Shape;142;p55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5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5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6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56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p5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7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8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8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35"/>
          <p:cNvPicPr preferRelativeResize="0"/>
          <p:nvPr/>
        </p:nvPicPr>
        <p:blipFill rotWithShape="1">
          <a:blip r:embed="rId1">
            <a:alphaModFix amt="50000"/>
          </a:blip>
          <a:srcRect b="0" l="0" r="0" t="0"/>
          <a:stretch/>
        </p:blipFill>
        <p:spPr>
          <a:xfrm>
            <a:off x="10962254" y="5364286"/>
            <a:ext cx="1220658" cy="122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33901" y="81794"/>
            <a:ext cx="1934108" cy="67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668" y="136525"/>
            <a:ext cx="1955044" cy="50538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38"/>
          <p:cNvPicPr preferRelativeResize="0"/>
          <p:nvPr/>
        </p:nvPicPr>
        <p:blipFill rotWithShape="1">
          <a:blip r:embed="rId1">
            <a:alphaModFix amt="50000"/>
          </a:blip>
          <a:srcRect b="0" l="0" r="0" t="0"/>
          <a:stretch/>
        </p:blipFill>
        <p:spPr>
          <a:xfrm>
            <a:off x="11087379" y="5413498"/>
            <a:ext cx="1104621" cy="1104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26848" y="131007"/>
            <a:ext cx="1750249" cy="614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605" y="185738"/>
            <a:ext cx="1769195" cy="45734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/>
          <p:nvPr/>
        </p:nvSpPr>
        <p:spPr>
          <a:xfrm>
            <a:off x="2759371" y="2242712"/>
            <a:ext cx="703641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32C4A"/>
                </a:solidFill>
                <a:latin typeface="Arial"/>
                <a:ea typeface="Arial"/>
                <a:cs typeface="Arial"/>
                <a:sym typeface="Arial"/>
              </a:rPr>
              <a:t>Introductory To Programming and Problem-Solving Skills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882325" y="4089575"/>
            <a:ext cx="6790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0B050"/>
                </a:solidFill>
              </a:rPr>
              <a:t>Data structures in Python</a:t>
            </a:r>
            <a:endParaRPr b="1" sz="2800">
              <a:solidFill>
                <a:srgbClr val="00B05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00B050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4177098" y="5329973"/>
            <a:ext cx="38378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32C4A"/>
                </a:solidFill>
                <a:latin typeface="Arial"/>
                <a:ea typeface="Arial"/>
                <a:cs typeface="Arial"/>
                <a:sym typeface="Arial"/>
              </a:rPr>
              <a:t>Tutorial Week - 5 </a:t>
            </a:r>
            <a:endParaRPr b="1" i="0" sz="2800" u="none" cap="none" strike="noStrike">
              <a:solidFill>
                <a:srgbClr val="132C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"/>
          <p:cNvSpPr txBox="1"/>
          <p:nvPr/>
        </p:nvSpPr>
        <p:spPr>
          <a:xfrm>
            <a:off x="302614" y="654385"/>
            <a:ext cx="5399917" cy="1036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i="0" lang="en-US" sz="5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Activity!</a:t>
            </a:r>
            <a:endParaRPr b="1" i="0" sz="5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838200" y="1690688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1143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5 volunteer’s for this activity.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align them in a straight line and perform the methods of list accordingly!!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eg: append, insert, delete.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also extend, the activity with for loop iterating each student and if statement!!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"/>
          <p:cNvSpPr txBox="1"/>
          <p:nvPr>
            <p:ph type="ctrTitle"/>
          </p:nvPr>
        </p:nvSpPr>
        <p:spPr>
          <a:xfrm>
            <a:off x="281248" y="21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What is List?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185" name="Google Shape;18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3"/>
          <p:cNvSpPr txBox="1"/>
          <p:nvPr/>
        </p:nvSpPr>
        <p:spPr>
          <a:xfrm>
            <a:off x="1142058" y="5260890"/>
            <a:ext cx="4585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List indices starts from 0</a:t>
            </a:r>
            <a:endParaRPr b="1" i="0" sz="3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6789792" y="4828185"/>
            <a:ext cx="3501364" cy="1710727"/>
          </a:xfrm>
          <a:custGeom>
            <a:rect b="b" l="l" r="r" t="t"/>
            <a:pathLst>
              <a:path extrusionOk="0" h="4484655" w="10583786">
                <a:moveTo>
                  <a:pt x="0" y="0"/>
                </a:moveTo>
                <a:lnTo>
                  <a:pt x="10583786" y="0"/>
                </a:lnTo>
                <a:lnTo>
                  <a:pt x="10583786" y="4484655"/>
                </a:lnTo>
                <a:lnTo>
                  <a:pt x="0" y="4484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3"/>
          <p:cNvSpPr txBox="1"/>
          <p:nvPr/>
        </p:nvSpPr>
        <p:spPr>
          <a:xfrm>
            <a:off x="394234" y="1461721"/>
            <a:ext cx="10959566" cy="466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List is a linear data structure in python that is mutable, or changeable ordered sequence of elements.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contains of mixed elements and each element that is inside value is called an item.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defined by having values between square brackets [].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 txBox="1"/>
          <p:nvPr>
            <p:ph type="ctrTitle"/>
          </p:nvPr>
        </p:nvSpPr>
        <p:spPr>
          <a:xfrm>
            <a:off x="281248" y="21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00B050"/>
                </a:solidFill>
              </a:rPr>
              <a:t>List Examples</a:t>
            </a:r>
            <a:endParaRPr b="1" sz="5400">
              <a:solidFill>
                <a:srgbClr val="00B050"/>
              </a:solidFill>
            </a:endParaRPr>
          </a:p>
        </p:txBody>
      </p:sp>
      <p:sp>
        <p:nvSpPr>
          <p:cNvPr id="195" name="Google Shape;19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570" y="1974759"/>
            <a:ext cx="5746008" cy="285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1178" y="3441771"/>
            <a:ext cx="4352054" cy="2095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 txBox="1"/>
          <p:nvPr>
            <p:ph type="ctrTitle"/>
          </p:nvPr>
        </p:nvSpPr>
        <p:spPr>
          <a:xfrm>
            <a:off x="281248" y="21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Common List Operations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394234" y="1461721"/>
            <a:ext cx="10959566" cy="5013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Access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Insert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Edit/Update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Delete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 Concatenation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 Repetition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 Membership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 Slicing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5269773" y="3634887"/>
            <a:ext cx="6084027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Note: Lists are mutable!!</a:t>
            </a:r>
            <a:endParaRPr b="1" i="0" sz="80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399011" y="2139839"/>
            <a:ext cx="11080866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Create a list of car collection!!</a:t>
            </a:r>
            <a:endParaRPr b="1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ctrTitle"/>
          </p:nvPr>
        </p:nvSpPr>
        <p:spPr>
          <a:xfrm>
            <a:off x="281248" y="21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Let’s Access From Your Car From List!!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19" name="Google Shape;21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708" y="1914310"/>
            <a:ext cx="6420746" cy="3029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1996" y="3271058"/>
            <a:ext cx="2413603" cy="248950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 txBox="1"/>
          <p:nvPr/>
        </p:nvSpPr>
        <p:spPr>
          <a:xfrm>
            <a:off x="882258" y="5056972"/>
            <a:ext cx="6420746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CAN ACCESS FROM BOTH POSITIVE AND NEGATIVE INDEXING. But list cannot go out of bound!!</a:t>
            </a:r>
            <a:endParaRPr b="1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270157" y="2025509"/>
            <a:ext cx="1712043" cy="64976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access()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>
            <p:ph type="ctrTitle"/>
          </p:nvPr>
        </p:nvSpPr>
        <p:spPr>
          <a:xfrm>
            <a:off x="281248" y="21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Let’s add a new car!!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30" name="Google Shape;23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258" y="2052690"/>
            <a:ext cx="6201640" cy="1648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261" y="4625550"/>
            <a:ext cx="8697539" cy="148610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8270157" y="2162262"/>
            <a:ext cx="1712043" cy="64976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append()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>
            <p:ph type="ctrTitle"/>
          </p:nvPr>
        </p:nvSpPr>
        <p:spPr>
          <a:xfrm>
            <a:off x="231372" y="451305"/>
            <a:ext cx="901238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Let’s get you a new car and put right after Hummer!!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40" name="Google Shape;24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8610600" y="2056488"/>
            <a:ext cx="1712043" cy="64976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insert()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925" y="4717888"/>
            <a:ext cx="8285101" cy="16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550" y="2226600"/>
            <a:ext cx="7361225" cy="18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 txBox="1"/>
          <p:nvPr>
            <p:ph type="ctrTitle"/>
          </p:nvPr>
        </p:nvSpPr>
        <p:spPr>
          <a:xfrm>
            <a:off x="231372" y="451305"/>
            <a:ext cx="98769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Let’s sell your cars Hummer and BYD!! 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50" name="Google Shape;25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9126178" y="1853068"/>
            <a:ext cx="2378700" cy="6498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 []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428" y="2101748"/>
            <a:ext cx="6096851" cy="2381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9089" y="4941012"/>
            <a:ext cx="7773485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9126178" y="2624424"/>
            <a:ext cx="2378637" cy="64976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remove ()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 txBox="1"/>
          <p:nvPr>
            <p:ph type="ctrTitle"/>
          </p:nvPr>
        </p:nvSpPr>
        <p:spPr>
          <a:xfrm>
            <a:off x="198121" y="386858"/>
            <a:ext cx="1069986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There are other methods in list which you might want to use!!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61" name="Google Shape;26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1619599" y="2019647"/>
            <a:ext cx="3018904" cy="4380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reverse()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6634944" y="2019647"/>
            <a:ext cx="2625434" cy="3084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sorted()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5604857" y="4992242"/>
            <a:ext cx="60090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You might want to explore this for 10 min, and discuss with example in class!!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THE LINK GO THROUGH LECTURE CONTENT.</a:t>
            </a:r>
            <a:endParaRPr b="1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/>
          <p:nvPr/>
        </p:nvSpPr>
        <p:spPr>
          <a:xfrm>
            <a:off x="342901" y="250825"/>
            <a:ext cx="831064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i="0" lang="en-US" sz="5400" u="sng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REMEMBER!!!</a:t>
            </a:r>
            <a:endParaRPr b="1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ung fu Panda – Master Oogway's secret – NaTech4Kids" id="270" name="Google Shape;2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9289" y="844868"/>
            <a:ext cx="2660073" cy="266007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2"/>
          <p:cNvSpPr/>
          <p:nvPr/>
        </p:nvSpPr>
        <p:spPr>
          <a:xfrm>
            <a:off x="122488" y="1576388"/>
            <a:ext cx="73589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There are other additional list operation!!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4299" y="2286449"/>
            <a:ext cx="8032048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Concatenation: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allows us to join two or more lists using concatenation operator depicted by the symbol “+”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Repetition: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allows us to replicate a list using repetition operator depicted by “*”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Membership: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strings, membership operator "in" checks if the element is present in the list and return TRUE, else FALSE.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Slicing: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string, slicing operator can be used in list as well.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 txBox="1"/>
          <p:nvPr>
            <p:ph type="ctrTitle"/>
          </p:nvPr>
        </p:nvSpPr>
        <p:spPr>
          <a:xfrm>
            <a:off x="281248" y="21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List Iteration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394234" y="1461721"/>
            <a:ext cx="10959566" cy="466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access every element of the list one by one which is called list traversal.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access element of the list or traverse a list using a for loop or while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>
            <p:ph type="ctrTitle"/>
          </p:nvPr>
        </p:nvSpPr>
        <p:spPr>
          <a:xfrm>
            <a:off x="181495" y="176985"/>
            <a:ext cx="98769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List Iteration with for loop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87" name="Google Shape;28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14"/>
          <p:cNvSpPr txBox="1"/>
          <p:nvPr/>
        </p:nvSpPr>
        <p:spPr>
          <a:xfrm>
            <a:off x="365759" y="1690689"/>
            <a:ext cx="11321935" cy="293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8993678" y="1809219"/>
            <a:ext cx="1977044" cy="336763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495" y="2555668"/>
            <a:ext cx="7302814" cy="1951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1094" y="2480767"/>
            <a:ext cx="1162212" cy="1505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4"/>
          <p:cNvSpPr txBox="1"/>
          <p:nvPr/>
        </p:nvSpPr>
        <p:spPr>
          <a:xfrm>
            <a:off x="541345" y="4625551"/>
            <a:ext cx="11221164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access through list using for loop in two ways: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Iterating over value of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Iterating over indexing of list. During this process we need identify the length of the list.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/>
          <p:nvPr>
            <p:ph type="ctrTitle"/>
          </p:nvPr>
        </p:nvSpPr>
        <p:spPr>
          <a:xfrm>
            <a:off x="181495" y="176985"/>
            <a:ext cx="98769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List Iteration with while loop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299" name="Google Shape;29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365759" y="1690689"/>
            <a:ext cx="11321935" cy="293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8969519" y="2152440"/>
            <a:ext cx="1977044" cy="336763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6935" y="2823988"/>
            <a:ext cx="1162212" cy="150516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5"/>
          <p:cNvSpPr txBox="1"/>
          <p:nvPr/>
        </p:nvSpPr>
        <p:spPr>
          <a:xfrm>
            <a:off x="466530" y="5495104"/>
            <a:ext cx="1122116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Likewise, using while loop we need to compare it with the length of the loop. </a:t>
            </a:r>
            <a:endParaRPr b="1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582" y="2480767"/>
            <a:ext cx="7070612" cy="184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"/>
          <p:cNvSpPr txBox="1"/>
          <p:nvPr>
            <p:ph type="ctrTitle"/>
          </p:nvPr>
        </p:nvSpPr>
        <p:spPr>
          <a:xfrm>
            <a:off x="181495" y="176985"/>
            <a:ext cx="98769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Nested List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311" name="Google Shape;31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365759" y="1690689"/>
            <a:ext cx="11321935" cy="293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Nested List?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list appears as an element of another list, it is called a nested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9033574" y="5038493"/>
            <a:ext cx="1977044" cy="336763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739" y="4438129"/>
            <a:ext cx="7271872" cy="787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8334" y="5447024"/>
            <a:ext cx="2335466" cy="78487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6"/>
          <p:cNvSpPr txBox="1"/>
          <p:nvPr/>
        </p:nvSpPr>
        <p:spPr>
          <a:xfrm>
            <a:off x="466530" y="5495104"/>
            <a:ext cx="756356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can iterate over nested lists as well either from for loop or while loop.</a:t>
            </a:r>
            <a:endParaRPr b="1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 txBox="1"/>
          <p:nvPr>
            <p:ph type="ctrTitle"/>
          </p:nvPr>
        </p:nvSpPr>
        <p:spPr>
          <a:xfrm>
            <a:off x="181495" y="100785"/>
            <a:ext cx="9876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List Comprehension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323" name="Google Shape;32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315882" y="1432995"/>
            <a:ext cx="11612881" cy="208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comprehension is a concise way to create a new list by iterating over an existing list, sequence, or any iterable object, and applying a condition or transformation to each element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2109147" y="4041669"/>
            <a:ext cx="1977044" cy="33676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315882" y="4528830"/>
            <a:ext cx="6018416" cy="336763"/>
          </a:xfrm>
          <a:prstGeom prst="rect">
            <a:avLst/>
          </a:prstGeom>
          <a:noFill/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 = [expression for item in iterable if condition]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4920" y="3421288"/>
            <a:ext cx="4086795" cy="800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13" y="5333547"/>
            <a:ext cx="5877745" cy="857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186" y="5408549"/>
            <a:ext cx="1458755" cy="779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 txBox="1"/>
          <p:nvPr>
            <p:ph type="ctrTitle"/>
          </p:nvPr>
        </p:nvSpPr>
        <p:spPr>
          <a:xfrm>
            <a:off x="331124" y="173932"/>
            <a:ext cx="255339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i="1" lang="en-US" sz="5400" u="sng"/>
              <a:t>For You</a:t>
            </a:r>
            <a:endParaRPr b="1" i="1" sz="5400" u="sng"/>
          </a:p>
        </p:txBody>
      </p:sp>
      <p:sp>
        <p:nvSpPr>
          <p:cNvPr id="335" name="Google Shape;335;p18"/>
          <p:cNvSpPr txBox="1"/>
          <p:nvPr/>
        </p:nvSpPr>
        <p:spPr>
          <a:xfrm>
            <a:off x="455814" y="1383117"/>
            <a:ext cx="11522826" cy="445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menu driven program to perform various list operation, such as: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1246909" y="2084032"/>
            <a:ext cx="7481456" cy="3335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 an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an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 a new list to the given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an existing element from its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an existing element from its 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an existing element with a given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the list in ascending order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71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the list	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"/>
          <p:cNvSpPr txBox="1"/>
          <p:nvPr>
            <p:ph type="ctrTitle"/>
          </p:nvPr>
        </p:nvSpPr>
        <p:spPr>
          <a:xfrm>
            <a:off x="281248" y="21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What is Tuple?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394234" y="1461721"/>
            <a:ext cx="10959566" cy="466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tuple is a linear data structure in python that is similar to list. However, in tuple is immutable means, we can only access in tuple but we cannot alter in tuple like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We can convert tuple to list to perform various operations like adding, updating and removing items.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 txBox="1"/>
          <p:nvPr>
            <p:ph type="ctrTitle"/>
          </p:nvPr>
        </p:nvSpPr>
        <p:spPr>
          <a:xfrm>
            <a:off x="281248" y="21782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Tuple Examples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352" name="Google Shape;35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3" name="Google Shape;3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751" y="1635719"/>
            <a:ext cx="4882598" cy="462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5434" y="4199585"/>
            <a:ext cx="3251859" cy="164686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0"/>
          <p:cNvSpPr/>
          <p:nvPr/>
        </p:nvSpPr>
        <p:spPr>
          <a:xfrm>
            <a:off x="7794977" y="3607871"/>
            <a:ext cx="1977044" cy="336763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 txBox="1"/>
          <p:nvPr>
            <p:ph type="ctrTitle"/>
          </p:nvPr>
        </p:nvSpPr>
        <p:spPr>
          <a:xfrm>
            <a:off x="281248" y="217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t/>
            </a:r>
            <a:endParaRPr b="1" sz="5400" u="sng">
              <a:solidFill>
                <a:srgbClr val="00B05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What Dictionary?</a:t>
            </a:r>
            <a:endParaRPr b="1" sz="5400" u="sng">
              <a:solidFill>
                <a:srgbClr val="00B05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t/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362" name="Google Shape;362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916325" y="1890650"/>
            <a:ext cx="10515600" cy="4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is a defined as an ordered set of key:value pairs, with requirement that the keys are unique.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Dictionary are Mutable data type.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dictionary, the items are entered are separated by commas and enclosed in curly braces.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●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must be unique and should be any immutable data type, i.e., number, string or tuple.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"/>
          <p:cNvSpPr txBox="1"/>
          <p:nvPr>
            <p:ph type="ctrTitle"/>
          </p:nvPr>
        </p:nvSpPr>
        <p:spPr>
          <a:xfrm>
            <a:off x="281248" y="217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>
                <a:solidFill>
                  <a:srgbClr val="00B050"/>
                </a:solidFill>
              </a:rPr>
              <a:t>Dictionary Examples</a:t>
            </a:r>
            <a:endParaRPr b="1" sz="5400">
              <a:solidFill>
                <a:srgbClr val="00B050"/>
              </a:solidFill>
            </a:endParaRPr>
          </a:p>
        </p:txBody>
      </p:sp>
      <p:sp>
        <p:nvSpPr>
          <p:cNvPr id="370" name="Google Shape;370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1" name="Google Shape;3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80" y="1748336"/>
            <a:ext cx="6387567" cy="3055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2737" y="5162401"/>
            <a:ext cx="7011379" cy="1057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"/>
          <p:cNvSpPr txBox="1"/>
          <p:nvPr>
            <p:ph type="ctrTitle"/>
          </p:nvPr>
        </p:nvSpPr>
        <p:spPr>
          <a:xfrm>
            <a:off x="281248" y="217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Common Dictionary Operations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394234" y="1461721"/>
            <a:ext cx="10959600" cy="50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Accessing items in a Dictionary</a:t>
            </a:r>
            <a:endParaRPr b="0" i="0" sz="3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Adding a new items in a Dictionary</a:t>
            </a:r>
            <a:endParaRPr b="0" i="0" sz="3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Modifying an Existing Item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Membership in Dictionary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Traversing in Dictionary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1052514" y="4210051"/>
            <a:ext cx="7696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Note: Dictionary are mutable!!</a:t>
            </a:r>
            <a:endParaRPr b="1" i="0" sz="80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438886" y="1601727"/>
            <a:ext cx="11080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Create a  dictionary of car owner and their cars</a:t>
            </a:r>
            <a:endParaRPr b="1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/>
          <p:nvPr>
            <p:ph type="ctrTitle"/>
          </p:nvPr>
        </p:nvSpPr>
        <p:spPr>
          <a:xfrm>
            <a:off x="281248" y="217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Let’s Access From Your Car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394" name="Google Shape;39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5" name="Google Shape;3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693" y="1960597"/>
            <a:ext cx="9930576" cy="131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9521" y="4210051"/>
            <a:ext cx="9424279" cy="1223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6"/>
          <p:cNvSpPr txBox="1"/>
          <p:nvPr>
            <p:ph type="ctrTitle"/>
          </p:nvPr>
        </p:nvSpPr>
        <p:spPr>
          <a:xfrm>
            <a:off x="281248" y="217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Let’s add and modify a new car owner!!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403" name="Google Shape;403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608" y="1878122"/>
            <a:ext cx="9440593" cy="1571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1839" y="4434982"/>
            <a:ext cx="6335009" cy="1419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"/>
          <p:cNvSpPr txBox="1"/>
          <p:nvPr>
            <p:ph type="ctrTitle"/>
          </p:nvPr>
        </p:nvSpPr>
        <p:spPr>
          <a:xfrm>
            <a:off x="281248" y="217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Iteration over dictionary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412" name="Google Shape;412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3" name="Google Shape;4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752" y="1648530"/>
            <a:ext cx="6916803" cy="2561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112" y="3387200"/>
            <a:ext cx="4396675" cy="2856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 txBox="1"/>
          <p:nvPr>
            <p:ph type="ctrTitle"/>
          </p:nvPr>
        </p:nvSpPr>
        <p:spPr>
          <a:xfrm>
            <a:off x="198121" y="386858"/>
            <a:ext cx="10699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There are other methods in dictionary which you might want to use!!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421" name="Google Shape;421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1619599" y="2019647"/>
            <a:ext cx="3018900" cy="4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 txBox="1"/>
          <p:nvPr/>
        </p:nvSpPr>
        <p:spPr>
          <a:xfrm>
            <a:off x="6634944" y="2019647"/>
            <a:ext cx="2625300" cy="30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clear()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5604857" y="4992242"/>
            <a:ext cx="6009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You might want to explore this for 10 min, and discuss with example in class!! </a:t>
            </a: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THE LINK GO THROUGH LECTURE CONTENT.</a:t>
            </a:r>
            <a:endParaRPr b="1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/>
          <p:nvPr>
            <p:ph type="ctrTitle"/>
          </p:nvPr>
        </p:nvSpPr>
        <p:spPr>
          <a:xfrm>
            <a:off x="281248" y="217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The Set Data Type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431" name="Google Shape;431;p29"/>
          <p:cNvSpPr txBox="1"/>
          <p:nvPr/>
        </p:nvSpPr>
        <p:spPr>
          <a:xfrm>
            <a:off x="394234" y="1461721"/>
            <a:ext cx="10959600" cy="46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8001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set is an unordered collection with no duplicate elements.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objects also, support mathematical operations like union, intersection, difference and symmetric difference.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8001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Curly braces or the set() function can be used to create empty sets.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3" name="Google Shape;4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5137" y="5488961"/>
            <a:ext cx="8004938" cy="696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"/>
          <p:cNvSpPr txBox="1"/>
          <p:nvPr>
            <p:ph type="ctrTitle"/>
          </p:nvPr>
        </p:nvSpPr>
        <p:spPr>
          <a:xfrm>
            <a:off x="281248" y="2178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400"/>
              <a:buFont typeface="Calibri"/>
              <a:buNone/>
            </a:pPr>
            <a:r>
              <a:rPr b="1" lang="en-US" sz="5400" u="sng">
                <a:solidFill>
                  <a:srgbClr val="00B050"/>
                </a:solidFill>
              </a:rPr>
              <a:t>Set Operation in Python </a:t>
            </a:r>
            <a:endParaRPr b="1" sz="5400" u="sng">
              <a:solidFill>
                <a:srgbClr val="00B050"/>
              </a:solidFill>
            </a:endParaRPr>
          </a:p>
        </p:txBody>
      </p:sp>
      <p:sp>
        <p:nvSpPr>
          <p:cNvPr id="440" name="Google Shape;440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1" name="Google Shape;4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6649" y="1416384"/>
            <a:ext cx="9441831" cy="3900512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0"/>
          <p:cNvSpPr txBox="1"/>
          <p:nvPr/>
        </p:nvSpPr>
        <p:spPr>
          <a:xfrm>
            <a:off x="406893" y="5534026"/>
            <a:ext cx="11221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There are two types of set in python which are mutable and immutable so generally for immutable sets, we declare it with frozenset() type.</a:t>
            </a:r>
            <a:endParaRPr b="1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1"/>
          <p:cNvSpPr txBox="1"/>
          <p:nvPr>
            <p:ph type="ctrTitle"/>
          </p:nvPr>
        </p:nvSpPr>
        <p:spPr>
          <a:xfrm>
            <a:off x="361631" y="432826"/>
            <a:ext cx="6472801" cy="939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i="1" lang="en-US" sz="5400" u="sng"/>
              <a:t>For You – Exercise</a:t>
            </a:r>
            <a:endParaRPr b="1" i="1" sz="5400" u="sng"/>
          </a:p>
        </p:txBody>
      </p:sp>
      <p:sp>
        <p:nvSpPr>
          <p:cNvPr id="449" name="Google Shape;449;p31"/>
          <p:cNvSpPr/>
          <p:nvPr/>
        </p:nvSpPr>
        <p:spPr>
          <a:xfrm>
            <a:off x="234887" y="1221970"/>
            <a:ext cx="11884792" cy="454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628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Python to program to get the 4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index and the last index of a tuple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28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program to find the number of times an element occurs in the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28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python program to find the largest number from a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28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program to read a list of n integer (positive as well as negative). Create a new lists, one having all positive number and the other having all negative numbers from the given list. Print all three lists.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>
            <p:ph type="ctrTitle"/>
          </p:nvPr>
        </p:nvSpPr>
        <p:spPr>
          <a:xfrm>
            <a:off x="314498" y="281997"/>
            <a:ext cx="4872644" cy="939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1" lang="en-US" sz="5400" u="sng"/>
              <a:t>For You – Exercise</a:t>
            </a:r>
            <a:endParaRPr b="1" i="1" sz="5400" u="sng"/>
          </a:p>
        </p:txBody>
      </p:sp>
      <p:sp>
        <p:nvSpPr>
          <p:cNvPr id="457" name="Google Shape;457;p32"/>
          <p:cNvSpPr/>
          <p:nvPr/>
        </p:nvSpPr>
        <p:spPr>
          <a:xfrm>
            <a:off x="465513" y="1221970"/>
            <a:ext cx="11654166" cy="5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628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nested list of your favorite movies, with each sub-list containing the name of the movie and year of release. Print the first movie and the year of release for the second movie in the list.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28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program to read a list of elements. Input an element from the user that has to be inserted in the list. Also input position, at which it is to be inserted.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286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program to read a list of n integers and find their median.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median value of a list of values is the middle one when they are arranged in order. If there are two middle values then take their average.</a:t>
            </a:r>
            <a:endParaRPr b="0" i="1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Hint: You can use built-in-function to sort the list.</a:t>
            </a:r>
            <a:endParaRPr b="0" i="1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"/>
          <p:cNvSpPr txBox="1"/>
          <p:nvPr>
            <p:ph type="ctrTitle"/>
          </p:nvPr>
        </p:nvSpPr>
        <p:spPr>
          <a:xfrm>
            <a:off x="314500" y="282000"/>
            <a:ext cx="97200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i="1" lang="en-US" sz="5400" u="sng"/>
              <a:t>For You – Additional Questions</a:t>
            </a:r>
            <a:endParaRPr b="1" i="1" sz="5400" u="sng"/>
          </a:p>
        </p:txBody>
      </p:sp>
      <p:sp>
        <p:nvSpPr>
          <p:cNvPr id="464" name="Google Shape;464;p33"/>
          <p:cNvSpPr/>
          <p:nvPr/>
        </p:nvSpPr>
        <p:spPr>
          <a:xfrm>
            <a:off x="234887" y="1221970"/>
            <a:ext cx="1124498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1" marL="6286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Imagine that you are working on a project to assist a nearby library in managing their book inventory. they want you to design a program that enables them to add new book, remove old books, and perform advanced book searches. You make the decision to use a list to store all of the library's books.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6" name="Google Shape;466;p33"/>
          <p:cNvSpPr/>
          <p:nvPr/>
        </p:nvSpPr>
        <p:spPr>
          <a:xfrm>
            <a:off x="706645" y="3259627"/>
            <a:ext cx="1090623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114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Tasks: Create a python program that prompts user with dashboard menu as follows: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915031" y="4294878"/>
            <a:ext cx="332376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Add a new book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Remove a book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Search for book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7740348" y="4226361"/>
            <a:ext cx="332376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 List all the books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5) Quit.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5752" y="1580072"/>
            <a:ext cx="5591577" cy="367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