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Fira Code"/>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bYCSd2OeKABRZfqb7eUs7d6b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EFC7BD-39C8-49FD-A5F3-D92DB93B0395}">
  <a:tblStyle styleId="{92EFC7BD-39C8-49FD-A5F3-D92DB93B039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FiraCode-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FiraCode-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1"/>
          <p:cNvSpPr/>
          <p:nvPr/>
        </p:nvSpPr>
        <p:spPr>
          <a:xfrm>
            <a:off x="1" y="6418555"/>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1"/>
          <p:cNvSpPr/>
          <p:nvPr/>
        </p:nvSpPr>
        <p:spPr>
          <a:xfrm>
            <a:off x="1" y="6334316"/>
            <a:ext cx="12192000"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6" name="Google Shape;26;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 name="Google Shape;29;p3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3" name="Google Shape;33;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3"/>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3"/>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1" name="Google Shape;41;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4" name="Google Shape;44;p33"/>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4"/>
          <p:cNvSpPr txBox="1"/>
          <p:nvPr>
            <p:ph idx="1" type="body"/>
          </p:nvPr>
        </p:nvSpPr>
        <p:spPr>
          <a:xfrm>
            <a:off x="1097280" y="1845734"/>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34"/>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5"/>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5" name="Google Shape;55;p35"/>
          <p:cNvSpPr txBox="1"/>
          <p:nvPr>
            <p:ph idx="2" type="body"/>
          </p:nvPr>
        </p:nvSpPr>
        <p:spPr>
          <a:xfrm>
            <a:off x="1097280" y="2582335"/>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35"/>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7" name="Google Shape;57;p35"/>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8" name="Google Shape;58;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3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3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38"/>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8"/>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8"/>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7" name="Google Shape;77;p38"/>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8" name="Google Shape;78;p38"/>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39"/>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9"/>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9"/>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9"/>
          <p:cNvSpPr/>
          <p:nvPr>
            <p:ph idx="2" type="pic"/>
          </p:nvPr>
        </p:nvSpPr>
        <p:spPr>
          <a:xfrm>
            <a:off x="15" y="0"/>
            <a:ext cx="12191985" cy="4915076"/>
          </a:xfrm>
          <a:prstGeom prst="rect">
            <a:avLst/>
          </a:prstGeom>
          <a:solidFill>
            <a:srgbClr val="BECAD4"/>
          </a:solidFill>
          <a:ln>
            <a:noFill/>
          </a:ln>
        </p:spPr>
      </p:sp>
      <p:sp>
        <p:nvSpPr>
          <p:cNvPr id="86" name="Google Shape;86;p39"/>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7" name="Google Shape;87;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0"/>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3" name="Google Shape;93;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4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1"/>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1"/>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1" name="Google Shape;101;p4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1.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 name="Shape 9"/>
        <p:cNvGrpSpPr/>
        <p:nvPr/>
      </p:nvGrpSpPr>
      <p:grpSpPr>
        <a:xfrm>
          <a:off x="0" y="0"/>
          <a:ext cx="0" cy="0"/>
          <a:chOff x="0" y="0"/>
          <a:chExt cx="0" cy="0"/>
        </a:xfrm>
      </p:grpSpPr>
      <p:pic>
        <p:nvPicPr>
          <p:cNvPr id="10" name="Google Shape;10;p30"/>
          <p:cNvPicPr preferRelativeResize="0"/>
          <p:nvPr/>
        </p:nvPicPr>
        <p:blipFill rotWithShape="1">
          <a:blip r:embed="rId1">
            <a:alphaModFix/>
          </a:blip>
          <a:srcRect b="0" l="0" r="0" t="0"/>
          <a:stretch/>
        </p:blipFill>
        <p:spPr>
          <a:xfrm>
            <a:off x="146210" y="243407"/>
            <a:ext cx="2607932" cy="545660"/>
          </a:xfrm>
          <a:prstGeom prst="rect">
            <a:avLst/>
          </a:prstGeom>
          <a:noFill/>
          <a:ln>
            <a:noFill/>
          </a:ln>
        </p:spPr>
      </p:pic>
      <p:sp>
        <p:nvSpPr>
          <p:cNvPr id="11" name="Google Shape;11;p3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5" name="Google Shape;15;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8" name="Google Shape;18;p30"/>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pic>
        <p:nvPicPr>
          <p:cNvPr id="19" name="Google Shape;19;p30"/>
          <p:cNvPicPr preferRelativeResize="0"/>
          <p:nvPr/>
        </p:nvPicPr>
        <p:blipFill rotWithShape="1">
          <a:blip r:embed="rId2">
            <a:alphaModFix/>
          </a:blip>
          <a:srcRect b="0" l="0" r="0" t="0"/>
          <a:stretch/>
        </p:blipFill>
        <p:spPr>
          <a:xfrm>
            <a:off x="10040645" y="-18209"/>
            <a:ext cx="1957811" cy="1007109"/>
          </a:xfrm>
          <a:prstGeom prst="rect">
            <a:avLst/>
          </a:prstGeom>
          <a:noFill/>
          <a:ln>
            <a:noFill/>
          </a:ln>
        </p:spPr>
      </p:pic>
      <p:pic>
        <p:nvPicPr>
          <p:cNvPr id="20" name="Google Shape;20;p30"/>
          <p:cNvPicPr preferRelativeResize="0"/>
          <p:nvPr/>
        </p:nvPicPr>
        <p:blipFill rotWithShape="1">
          <a:blip r:embed="rId3">
            <a:alphaModFix amt="70000"/>
          </a:blip>
          <a:srcRect b="0" l="0" r="0" t="0"/>
          <a:stretch/>
        </p:blipFill>
        <p:spPr>
          <a:xfrm>
            <a:off x="10843051" y="5039331"/>
            <a:ext cx="1292509" cy="12925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Fira Code"/>
              <a:buNone/>
            </a:pPr>
            <a:r>
              <a:rPr lang="en-US">
                <a:latin typeface="Fira Code"/>
                <a:ea typeface="Fira Code"/>
                <a:cs typeface="Fira Code"/>
                <a:sym typeface="Fira Code"/>
              </a:rPr>
              <a:t>Functions</a:t>
            </a:r>
            <a:endParaRPr/>
          </a:p>
        </p:txBody>
      </p:sp>
      <p:sp>
        <p:nvSpPr>
          <p:cNvPr id="109" name="Google Shape;109;p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latin typeface="Fira Code"/>
                <a:ea typeface="Fira Code"/>
                <a:cs typeface="Fira Code"/>
                <a:sym typeface="Fira Code"/>
              </a:rPr>
              <a:t>WEEK – 6 </a:t>
            </a:r>
            <a:endParaRPr/>
          </a:p>
          <a:p>
            <a:pPr indent="0" lvl="0" marL="0" rtl="0" algn="l">
              <a:lnSpc>
                <a:spcPct val="90000"/>
              </a:lnSpc>
              <a:spcBef>
                <a:spcPts val="1400"/>
              </a:spcBef>
              <a:spcAft>
                <a:spcPts val="0"/>
              </a:spcAft>
              <a:buSzPts val="2400"/>
              <a:buNone/>
            </a:pPr>
            <a:r>
              <a:rPr lang="en-US">
                <a:latin typeface="Fira Code"/>
                <a:ea typeface="Fira Code"/>
                <a:cs typeface="Fira Code"/>
                <a:sym typeface="Fira Code"/>
              </a:rPr>
              <a:t>TUTORIAL</a:t>
            </a:r>
            <a:endParaRPr/>
          </a:p>
        </p:txBody>
      </p:sp>
      <p:sp>
        <p:nvSpPr>
          <p:cNvPr id="110" name="Google Shape;110;p1"/>
          <p:cNvSpPr txBox="1"/>
          <p:nvPr/>
        </p:nvSpPr>
        <p:spPr>
          <a:xfrm>
            <a:off x="0" y="6450031"/>
            <a:ext cx="79397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lt1"/>
                </a:solidFill>
                <a:latin typeface="Fira Code"/>
                <a:ea typeface="Fira Code"/>
                <a:cs typeface="Fira Code"/>
                <a:sym typeface="Fira Code"/>
              </a:rPr>
              <a:t>4CS001 - Introductory Programming and Problem Solving</a:t>
            </a:r>
            <a:endParaRPr/>
          </a:p>
        </p:txBody>
      </p:sp>
      <p:sp>
        <p:nvSpPr>
          <p:cNvPr id="111" name="Google Shape;111;p1"/>
          <p:cNvSpPr txBox="1"/>
          <p:nvPr/>
        </p:nvSpPr>
        <p:spPr>
          <a:xfrm>
            <a:off x="10378617" y="6437049"/>
            <a:ext cx="181338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Fira Code"/>
                <a:ea typeface="Fira Code"/>
                <a:cs typeface="Fira Code"/>
                <a:sym typeface="Fira Code"/>
              </a:rPr>
              <a:t>Basanta Singh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Function</a:t>
            </a:r>
            <a:endParaRPr/>
          </a:p>
        </p:txBody>
      </p:sp>
      <p:sp>
        <p:nvSpPr>
          <p:cNvPr id="117" name="Google Shape;117;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457200" marR="0" rtl="0" algn="just">
              <a:lnSpc>
                <a:spcPct val="150000"/>
              </a:lnSpc>
              <a:spcBef>
                <a:spcPts val="0"/>
              </a:spcBef>
              <a:spcAft>
                <a:spcPts val="0"/>
              </a:spcAft>
              <a:buClr>
                <a:schemeClr val="dk1"/>
              </a:buClr>
              <a:buSzPts val="3600"/>
              <a:buFont typeface="Noto Sans Symbols"/>
              <a:buChar char="▪"/>
            </a:pPr>
            <a:r>
              <a:rPr b="0" i="0" lang="en-US" sz="2000" u="none" cap="none" strike="noStrike">
                <a:solidFill>
                  <a:schemeClr val="dk1"/>
                </a:solidFill>
                <a:latin typeface="Calibri"/>
                <a:ea typeface="Calibri"/>
                <a:cs typeface="Calibri"/>
                <a:sym typeface="Calibri"/>
              </a:rPr>
              <a:t>Function is one of the means to achieve </a:t>
            </a:r>
            <a:r>
              <a:rPr b="0" i="0" lang="en-US" sz="2000" u="none" cap="none" strike="noStrike">
                <a:solidFill>
                  <a:schemeClr val="accent2"/>
                </a:solidFill>
                <a:latin typeface="Calibri"/>
                <a:ea typeface="Calibri"/>
                <a:cs typeface="Calibri"/>
                <a:sym typeface="Calibri"/>
              </a:rPr>
              <a:t>modularity</a:t>
            </a:r>
            <a:r>
              <a:rPr b="0" i="0" lang="en-US" sz="2000" u="none" cap="none" strike="noStrike">
                <a:solidFill>
                  <a:schemeClr val="dk1"/>
                </a:solidFill>
                <a:latin typeface="Calibri"/>
                <a:ea typeface="Calibri"/>
                <a:cs typeface="Calibri"/>
                <a:sym typeface="Calibri"/>
              </a:rPr>
              <a:t> and </a:t>
            </a:r>
            <a:r>
              <a:rPr b="0" i="0" lang="en-US" sz="2000" u="none" cap="none" strike="noStrike">
                <a:solidFill>
                  <a:schemeClr val="accent2"/>
                </a:solidFill>
                <a:latin typeface="Calibri"/>
                <a:ea typeface="Calibri"/>
                <a:cs typeface="Calibri"/>
                <a:sym typeface="Calibri"/>
              </a:rPr>
              <a:t>reusability.</a:t>
            </a:r>
            <a:endParaRPr>
              <a:solidFill>
                <a:schemeClr val="accent2"/>
              </a:solidFill>
            </a:endParaRPr>
          </a:p>
          <a:p>
            <a:pPr indent="-342900" lvl="0" marL="457200" marR="0" rtl="0" algn="just">
              <a:lnSpc>
                <a:spcPct val="150000"/>
              </a:lnSpc>
              <a:spcBef>
                <a:spcPts val="1000"/>
              </a:spcBef>
              <a:spcAft>
                <a:spcPts val="0"/>
              </a:spcAft>
              <a:buClr>
                <a:schemeClr val="dk1"/>
              </a:buClr>
              <a:buSzPts val="3600"/>
              <a:buFont typeface="Noto Sans Symbols"/>
              <a:buChar char="▪"/>
            </a:pPr>
            <a:r>
              <a:rPr b="0" i="0" lang="en-US" sz="2000" u="none" cap="none" strike="noStrike">
                <a:solidFill>
                  <a:schemeClr val="dk1"/>
                </a:solidFill>
                <a:latin typeface="Calibri"/>
                <a:ea typeface="Calibri"/>
                <a:cs typeface="Calibri"/>
                <a:sym typeface="Calibri"/>
              </a:rPr>
              <a:t>Function can be </a:t>
            </a:r>
            <a:r>
              <a:rPr b="0" i="0" lang="en-US" sz="2000" u="none" cap="none" strike="noStrike">
                <a:solidFill>
                  <a:schemeClr val="accent2"/>
                </a:solidFill>
                <a:latin typeface="Calibri"/>
                <a:ea typeface="Calibri"/>
                <a:cs typeface="Calibri"/>
                <a:sym typeface="Calibri"/>
              </a:rPr>
              <a:t>defined as a named group instructions that accomplish a specific task </a:t>
            </a:r>
            <a:r>
              <a:rPr b="0" i="0" lang="en-US" sz="2000" u="none" cap="none" strike="noStrike">
                <a:solidFill>
                  <a:schemeClr val="dk1"/>
                </a:solidFill>
                <a:latin typeface="Calibri"/>
                <a:ea typeface="Calibri"/>
                <a:cs typeface="Calibri"/>
                <a:sym typeface="Calibri"/>
              </a:rPr>
              <a:t>when it is invoked. </a:t>
            </a:r>
            <a:endParaRPr/>
          </a:p>
          <a:p>
            <a:pPr indent="-342900" lvl="0" marL="457200" marR="0" rtl="0" algn="just">
              <a:lnSpc>
                <a:spcPct val="150000"/>
              </a:lnSpc>
              <a:spcBef>
                <a:spcPts val="1000"/>
              </a:spcBef>
              <a:spcAft>
                <a:spcPts val="0"/>
              </a:spcAft>
              <a:buClr>
                <a:schemeClr val="dk1"/>
              </a:buClr>
              <a:buSzPts val="3600"/>
              <a:buFont typeface="Noto Sans Symbols"/>
              <a:buChar char="▪"/>
            </a:pPr>
            <a:r>
              <a:rPr b="0" i="0" lang="en-US" sz="2000" u="none" cap="none" strike="noStrike">
                <a:solidFill>
                  <a:schemeClr val="dk1"/>
                </a:solidFill>
                <a:latin typeface="Calibri"/>
                <a:ea typeface="Calibri"/>
                <a:cs typeface="Calibri"/>
                <a:sym typeface="Calibri"/>
              </a:rPr>
              <a:t>It is defined using the </a:t>
            </a:r>
            <a:r>
              <a:rPr b="1" i="0" lang="en-US" sz="2000" u="none" cap="none" strike="noStrike">
                <a:solidFill>
                  <a:schemeClr val="accent2"/>
                </a:solidFill>
                <a:latin typeface="Fira Code"/>
                <a:ea typeface="Fira Code"/>
                <a:cs typeface="Fira Code"/>
                <a:sym typeface="Fira Code"/>
              </a:rPr>
              <a:t>def</a:t>
            </a:r>
            <a:r>
              <a:rPr b="1" i="0" lang="en-US" sz="2000" u="none" cap="none" strike="noStrike">
                <a:solidFill>
                  <a:schemeClr val="accent2"/>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keyword, followed by the </a:t>
            </a:r>
            <a:r>
              <a:rPr i="0" lang="en-US" sz="2000" u="none" cap="none" strike="noStrike">
                <a:solidFill>
                  <a:schemeClr val="accent2"/>
                </a:solidFill>
                <a:latin typeface="Calibri"/>
                <a:ea typeface="Calibri"/>
                <a:cs typeface="Calibri"/>
                <a:sym typeface="Calibri"/>
              </a:rPr>
              <a:t>name of the function</a:t>
            </a:r>
            <a:r>
              <a:rPr i="0" lang="en-US" sz="2000" u="none" cap="none" strike="noStrike">
                <a:solidFill>
                  <a:schemeClr val="dk1"/>
                </a:solidFill>
                <a:latin typeface="Calibri"/>
                <a:ea typeface="Calibri"/>
                <a:cs typeface="Calibri"/>
                <a:sym typeface="Calibri"/>
              </a:rPr>
              <a:t>,</a:t>
            </a:r>
            <a:r>
              <a:rPr b="0" i="0" lang="en-US" sz="2000" u="none" cap="none" strike="noStrike">
                <a:solidFill>
                  <a:schemeClr val="dk1"/>
                </a:solidFill>
                <a:latin typeface="Calibri"/>
                <a:ea typeface="Calibri"/>
                <a:cs typeface="Calibri"/>
                <a:sym typeface="Calibri"/>
              </a:rPr>
              <a:t> set of </a:t>
            </a:r>
            <a:r>
              <a:rPr i="0" lang="en-US" sz="2000" u="none" cap="none" strike="noStrike">
                <a:solidFill>
                  <a:schemeClr val="accent2"/>
                </a:solidFill>
                <a:latin typeface="Calibri"/>
                <a:ea typeface="Calibri"/>
                <a:cs typeface="Calibri"/>
                <a:sym typeface="Calibri"/>
              </a:rPr>
              <a:t>parentheses that may include parameter</a:t>
            </a:r>
            <a:r>
              <a:rPr b="0" i="0" lang="en-US" sz="2000" u="none" cap="none" strike="noStrike">
                <a:solidFill>
                  <a:schemeClr val="dk1"/>
                </a:solidFill>
                <a:latin typeface="Calibri"/>
                <a:ea typeface="Calibri"/>
                <a:cs typeface="Calibri"/>
                <a:sym typeface="Calibri"/>
              </a:rPr>
              <a:t>. </a:t>
            </a:r>
            <a:endParaRPr/>
          </a:p>
          <a:p>
            <a:pPr indent="-342900" lvl="0" marL="457200" marR="0" rtl="0" algn="just">
              <a:lnSpc>
                <a:spcPct val="150000"/>
              </a:lnSpc>
              <a:spcBef>
                <a:spcPts val="1000"/>
              </a:spcBef>
              <a:spcAft>
                <a:spcPts val="0"/>
              </a:spcAft>
              <a:buClr>
                <a:schemeClr val="dk1"/>
              </a:buClr>
              <a:buSzPts val="3600"/>
              <a:buFont typeface="Noto Sans Symbols"/>
              <a:buChar char="▪"/>
            </a:pPr>
            <a:r>
              <a:rPr b="0" i="0" lang="en-US" sz="2000" u="none" cap="none" strike="noStrike">
                <a:solidFill>
                  <a:schemeClr val="dk1"/>
                </a:solidFill>
                <a:latin typeface="Calibri"/>
                <a:ea typeface="Calibri"/>
                <a:cs typeface="Calibri"/>
                <a:sym typeface="Calibri"/>
              </a:rPr>
              <a:t>The code block within every function starts with a colon (:) and </a:t>
            </a:r>
            <a:r>
              <a:rPr i="0" lang="en-US" sz="2000" u="none" cap="none" strike="noStrike">
                <a:solidFill>
                  <a:schemeClr val="accent2"/>
                </a:solidFill>
                <a:latin typeface="Calibri"/>
                <a:ea typeface="Calibri"/>
                <a:cs typeface="Calibri"/>
                <a:sym typeface="Calibri"/>
              </a:rPr>
              <a:t>is indented</a:t>
            </a:r>
            <a:r>
              <a:rPr b="0" i="0" lang="en-US" sz="2000" u="none" cap="none" strike="noStrike">
                <a:solidFill>
                  <a:schemeClr val="dk1"/>
                </a:solidFill>
                <a:latin typeface="Calibri"/>
                <a:ea typeface="Calibri"/>
                <a:cs typeface="Calibri"/>
                <a:sym typeface="Calibri"/>
              </a:rPr>
              <a:t>.</a:t>
            </a:r>
            <a:endParaRPr/>
          </a:p>
          <a:p>
            <a:pPr indent="0" lvl="0" marL="91440" rtl="0" algn="just">
              <a:lnSpc>
                <a:spcPct val="90000"/>
              </a:lnSpc>
              <a:spcBef>
                <a:spcPts val="0"/>
              </a:spcBef>
              <a:spcAft>
                <a:spcPts val="0"/>
              </a:spcAft>
              <a:buSzPts val="2000"/>
              <a:buNone/>
            </a:pPr>
            <a:r>
              <a:t/>
            </a:r>
            <a:endParaRPr/>
          </a:p>
        </p:txBody>
      </p:sp>
      <p:sp>
        <p:nvSpPr>
          <p:cNvPr id="118" name="Google Shape;118;p2"/>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sz="4800">
                <a:solidFill>
                  <a:schemeClr val="dk1"/>
                </a:solidFill>
              </a:rPr>
              <a:t>The Advantages of Function</a:t>
            </a:r>
            <a:endParaRPr>
              <a:solidFill>
                <a:schemeClr val="dk1"/>
              </a:solidFill>
            </a:endParaRPr>
          </a:p>
        </p:txBody>
      </p:sp>
      <p:sp>
        <p:nvSpPr>
          <p:cNvPr id="124" name="Google Shape;124;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342900" lvl="0" marL="457200" rtl="0" algn="just">
              <a:lnSpc>
                <a:spcPct val="150000"/>
              </a:lnSpc>
              <a:spcBef>
                <a:spcPts val="0"/>
              </a:spcBef>
              <a:spcAft>
                <a:spcPts val="0"/>
              </a:spcAft>
              <a:buClr>
                <a:schemeClr val="dk1"/>
              </a:buClr>
              <a:buSzPts val="3000"/>
              <a:buFont typeface="Noto Sans Symbols"/>
              <a:buChar char="▪"/>
            </a:pPr>
            <a:r>
              <a:rPr b="1" i="0" lang="en-US" sz="2000" u="none" cap="none" strike="noStrike">
                <a:solidFill>
                  <a:schemeClr val="accent2"/>
                </a:solidFill>
                <a:latin typeface="Calibri"/>
                <a:ea typeface="Calibri"/>
                <a:cs typeface="Calibri"/>
                <a:sym typeface="Calibri"/>
              </a:rPr>
              <a:t>Increases readability</a:t>
            </a:r>
            <a:r>
              <a:rPr b="0" i="0" lang="en-US" sz="2000" u="none" cap="none" strike="noStrike">
                <a:solidFill>
                  <a:schemeClr val="dk1"/>
                </a:solidFill>
                <a:latin typeface="Calibri"/>
                <a:ea typeface="Calibri"/>
                <a:cs typeface="Calibri"/>
                <a:sym typeface="Calibri"/>
              </a:rPr>
              <a:t>, particularly for longer code as by using functions, the program is better organised and easy to understand.</a:t>
            </a:r>
            <a:endParaRPr/>
          </a:p>
          <a:p>
            <a:pPr indent="-342900" lvl="0" marL="457200" marR="0" rtl="0" algn="just">
              <a:lnSpc>
                <a:spcPct val="150000"/>
              </a:lnSpc>
              <a:spcBef>
                <a:spcPts val="1000"/>
              </a:spcBef>
              <a:spcAft>
                <a:spcPts val="0"/>
              </a:spcAft>
              <a:buClr>
                <a:schemeClr val="dk1"/>
              </a:buClr>
              <a:buSzPts val="3000"/>
              <a:buFont typeface="Noto Sans Symbols"/>
              <a:buChar char="▪"/>
            </a:pPr>
            <a:r>
              <a:rPr b="1" i="0" lang="en-US" sz="2000" u="none" cap="none" strike="noStrike">
                <a:solidFill>
                  <a:schemeClr val="accent2"/>
                </a:solidFill>
                <a:latin typeface="Calibri"/>
                <a:ea typeface="Calibri"/>
                <a:cs typeface="Calibri"/>
                <a:sym typeface="Calibri"/>
              </a:rPr>
              <a:t>Reduces code length</a:t>
            </a:r>
            <a:r>
              <a:rPr b="0" i="0" lang="en-US" sz="2000" u="none" cap="none" strike="noStrike">
                <a:solidFill>
                  <a:schemeClr val="accent2"/>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as same code is not required to be written at multiple places in a program. This also makes debugging easier.</a:t>
            </a:r>
            <a:endParaRPr/>
          </a:p>
          <a:p>
            <a:pPr indent="-342900" lvl="0" marL="457200" marR="0" rtl="0" algn="just">
              <a:lnSpc>
                <a:spcPct val="150000"/>
              </a:lnSpc>
              <a:spcBef>
                <a:spcPts val="1000"/>
              </a:spcBef>
              <a:spcAft>
                <a:spcPts val="0"/>
              </a:spcAft>
              <a:buClr>
                <a:schemeClr val="dk1"/>
              </a:buClr>
              <a:buSzPts val="3000"/>
              <a:buFont typeface="Noto Sans Symbols"/>
              <a:buChar char="▪"/>
            </a:pPr>
            <a:r>
              <a:rPr b="1" i="0" lang="en-US" sz="2000" u="none" cap="none" strike="noStrike">
                <a:solidFill>
                  <a:schemeClr val="accent2"/>
                </a:solidFill>
                <a:latin typeface="Calibri"/>
                <a:ea typeface="Calibri"/>
                <a:cs typeface="Calibri"/>
                <a:sym typeface="Calibri"/>
              </a:rPr>
              <a:t>Increases reusability</a:t>
            </a:r>
            <a:r>
              <a:rPr b="0" i="0" lang="en-US" sz="2000" u="none" cap="none" strike="noStrike">
                <a:solidFill>
                  <a:schemeClr val="dk1"/>
                </a:solidFill>
                <a:latin typeface="Calibri"/>
                <a:ea typeface="Calibri"/>
                <a:cs typeface="Calibri"/>
                <a:sym typeface="Calibri"/>
              </a:rPr>
              <a:t>, as function can be called from another function or another program. Thus, we can reuse or build upon already defined functions and avoid repetitions of writing the same piece of code. </a:t>
            </a:r>
            <a:endParaRPr/>
          </a:p>
          <a:p>
            <a:pPr indent="-342900" lvl="0" marL="457200" marR="0" rtl="0" algn="just">
              <a:lnSpc>
                <a:spcPct val="150000"/>
              </a:lnSpc>
              <a:spcBef>
                <a:spcPts val="1000"/>
              </a:spcBef>
              <a:spcAft>
                <a:spcPts val="0"/>
              </a:spcAft>
              <a:buClr>
                <a:schemeClr val="dk1"/>
              </a:buClr>
              <a:buSzPts val="3000"/>
              <a:buFont typeface="Noto Sans Symbols"/>
              <a:buChar char="▪"/>
            </a:pPr>
            <a:r>
              <a:rPr b="1" i="0" lang="en-US" sz="2000" u="none" cap="none" strike="noStrike">
                <a:solidFill>
                  <a:schemeClr val="accent2"/>
                </a:solidFill>
                <a:latin typeface="Calibri"/>
                <a:ea typeface="Calibri"/>
                <a:cs typeface="Calibri"/>
                <a:sym typeface="Calibri"/>
              </a:rPr>
              <a:t>Work</a:t>
            </a:r>
            <a:r>
              <a:rPr b="0" i="0" lang="en-US" sz="2000" u="none" cap="none" strike="noStrike">
                <a:solidFill>
                  <a:schemeClr val="dk1"/>
                </a:solidFill>
                <a:latin typeface="Calibri"/>
                <a:ea typeface="Calibri"/>
                <a:cs typeface="Calibri"/>
                <a:sym typeface="Calibri"/>
              </a:rPr>
              <a:t> can be </a:t>
            </a:r>
            <a:r>
              <a:rPr b="1" i="0" lang="en-US" sz="2000" u="none" cap="none" strike="noStrike">
                <a:solidFill>
                  <a:schemeClr val="accent2"/>
                </a:solidFill>
                <a:latin typeface="Calibri"/>
                <a:ea typeface="Calibri"/>
                <a:cs typeface="Calibri"/>
                <a:sym typeface="Calibri"/>
              </a:rPr>
              <a:t>easily divided</a:t>
            </a:r>
            <a:r>
              <a:rPr b="0" i="0" lang="en-US" sz="2000" u="none" cap="none" strike="noStrike">
                <a:solidFill>
                  <a:schemeClr val="accent2"/>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among team members and completed in parallel. </a:t>
            </a:r>
            <a:endParaRPr/>
          </a:p>
        </p:txBody>
      </p:sp>
      <p:sp>
        <p:nvSpPr>
          <p:cNvPr id="125" name="Google Shape;125;p3"/>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Function Types</a:t>
            </a:r>
            <a:endParaRPr/>
          </a:p>
        </p:txBody>
      </p:sp>
      <p:sp>
        <p:nvSpPr>
          <p:cNvPr id="131" name="Google Shape;131;p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114300" marR="0" rtl="0" algn="just">
              <a:lnSpc>
                <a:spcPct val="90000"/>
              </a:lnSpc>
              <a:spcBef>
                <a:spcPts val="0"/>
              </a:spcBef>
              <a:spcAft>
                <a:spcPts val="0"/>
              </a:spcAft>
              <a:buClr>
                <a:schemeClr val="dk1"/>
              </a:buClr>
              <a:buSzPts val="3600"/>
              <a:buFont typeface="Arial"/>
              <a:buNone/>
            </a:pPr>
            <a:r>
              <a:rPr b="0" i="0" lang="en-US" sz="2000" u="none" cap="none" strike="noStrike">
                <a:solidFill>
                  <a:schemeClr val="dk1"/>
                </a:solidFill>
                <a:latin typeface="Calibri"/>
                <a:ea typeface="Calibri"/>
                <a:cs typeface="Calibri"/>
                <a:sym typeface="Calibri"/>
              </a:rPr>
              <a:t>There are two types of function in python:</a:t>
            </a:r>
            <a:endParaRPr/>
          </a:p>
          <a:p>
            <a:pPr indent="-685800" lvl="0" marL="800100" marR="0" rtl="0" algn="just">
              <a:lnSpc>
                <a:spcPct val="150000"/>
              </a:lnSpc>
              <a:spcBef>
                <a:spcPts val="1000"/>
              </a:spcBef>
              <a:spcAft>
                <a:spcPts val="0"/>
              </a:spcAft>
              <a:buClr>
                <a:schemeClr val="dk1"/>
              </a:buClr>
              <a:buSzPts val="3600"/>
              <a:buFont typeface="Noto Sans Symbols"/>
              <a:buChar char="▪"/>
            </a:pPr>
            <a:r>
              <a:rPr b="1" i="0" lang="en-US" sz="2000" u="none" cap="none" strike="noStrike">
                <a:solidFill>
                  <a:schemeClr val="accent2"/>
                </a:solidFill>
                <a:latin typeface="Calibri"/>
                <a:ea typeface="Calibri"/>
                <a:cs typeface="Calibri"/>
                <a:sym typeface="Calibri"/>
              </a:rPr>
              <a:t>Standard Library Function</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These are built-in function which we have using since our first day at class. Some of the built in function that have used are </a:t>
            </a:r>
            <a:r>
              <a:rPr b="1" i="0" lang="en-US" sz="2000" u="none" cap="none" strike="noStrike">
                <a:solidFill>
                  <a:schemeClr val="accent2"/>
                </a:solidFill>
                <a:latin typeface="Fira Code"/>
                <a:ea typeface="Fira Code"/>
                <a:cs typeface="Fira Code"/>
                <a:sym typeface="Fira Code"/>
              </a:rPr>
              <a:t>len(), range(), format(), input(), int() </a:t>
            </a:r>
            <a:r>
              <a:rPr b="0" i="0" lang="en-US" sz="2000" u="none" cap="none" strike="noStrike">
                <a:solidFill>
                  <a:schemeClr val="dk1"/>
                </a:solidFill>
                <a:latin typeface="Calibri"/>
                <a:ea typeface="Calibri"/>
                <a:cs typeface="Calibri"/>
                <a:sym typeface="Calibri"/>
              </a:rPr>
              <a:t>and so on. </a:t>
            </a:r>
            <a:endParaRPr/>
          </a:p>
          <a:p>
            <a:pPr indent="-685800" lvl="0" marL="800100" marR="0" rtl="0" algn="just">
              <a:lnSpc>
                <a:spcPct val="150000"/>
              </a:lnSpc>
              <a:spcBef>
                <a:spcPts val="1000"/>
              </a:spcBef>
              <a:spcAft>
                <a:spcPts val="0"/>
              </a:spcAft>
              <a:buClr>
                <a:schemeClr val="dk1"/>
              </a:buClr>
              <a:buSzPts val="3600"/>
              <a:buFont typeface="Noto Sans Symbols"/>
              <a:buChar char="▪"/>
            </a:pPr>
            <a:r>
              <a:rPr b="1" i="0" lang="en-US" sz="2000" u="none" cap="none" strike="noStrike">
                <a:solidFill>
                  <a:schemeClr val="accent2"/>
                </a:solidFill>
                <a:latin typeface="Calibri"/>
                <a:ea typeface="Calibri"/>
                <a:cs typeface="Calibri"/>
                <a:sym typeface="Calibri"/>
              </a:rPr>
              <a:t>User – defined Functions</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We can create our own functions based on our requirement.</a:t>
            </a:r>
            <a:endParaRPr/>
          </a:p>
          <a:p>
            <a:pPr indent="0" lvl="0" marL="91440" rtl="0" algn="l">
              <a:lnSpc>
                <a:spcPct val="150000"/>
              </a:lnSpc>
              <a:spcBef>
                <a:spcPts val="1200"/>
              </a:spcBef>
              <a:spcAft>
                <a:spcPts val="0"/>
              </a:spcAft>
              <a:buSzPts val="2000"/>
              <a:buFont typeface="Noto Sans Symbols"/>
              <a:buNone/>
            </a:pPr>
            <a:r>
              <a:t/>
            </a:r>
            <a:endParaRPr>
              <a:solidFill>
                <a:schemeClr val="dk1"/>
              </a:solidFill>
            </a:endParaRPr>
          </a:p>
          <a:p>
            <a:pPr indent="0" lvl="0" marL="91440" rtl="0" algn="l">
              <a:lnSpc>
                <a:spcPct val="90000"/>
              </a:lnSpc>
              <a:spcBef>
                <a:spcPts val="1400"/>
              </a:spcBef>
              <a:spcAft>
                <a:spcPts val="0"/>
              </a:spcAft>
              <a:buSzPts val="2000"/>
              <a:buNone/>
            </a:pPr>
            <a:r>
              <a:t/>
            </a:r>
            <a:endParaRPr/>
          </a:p>
        </p:txBody>
      </p:sp>
      <p:sp>
        <p:nvSpPr>
          <p:cNvPr id="132" name="Google Shape;132;p4"/>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Built-in Functions</a:t>
            </a:r>
            <a:endParaRPr/>
          </a:p>
        </p:txBody>
      </p:sp>
      <p:sp>
        <p:nvSpPr>
          <p:cNvPr id="138" name="Google Shape;138;p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114300" rtl="0" algn="just">
              <a:lnSpc>
                <a:spcPct val="150000"/>
              </a:lnSpc>
              <a:spcBef>
                <a:spcPts val="0"/>
              </a:spcBef>
              <a:spcAft>
                <a:spcPts val="0"/>
              </a:spcAft>
              <a:buClr>
                <a:schemeClr val="dk1"/>
              </a:buClr>
              <a:buSzPts val="3000"/>
              <a:buNone/>
            </a:pPr>
            <a:r>
              <a:rPr lang="en-US">
                <a:solidFill>
                  <a:schemeClr val="dk1"/>
                </a:solidFill>
                <a:latin typeface="Calibri"/>
                <a:ea typeface="Calibri"/>
                <a:cs typeface="Calibri"/>
                <a:sym typeface="Calibri"/>
              </a:rPr>
              <a:t>Common Built in Function</a:t>
            </a:r>
            <a:endParaRPr b="0" i="0" sz="2000" u="none" cap="none" strike="noStrike">
              <a:solidFill>
                <a:schemeClr val="dk1"/>
              </a:solidFill>
              <a:latin typeface="Calibri"/>
              <a:ea typeface="Calibri"/>
              <a:cs typeface="Calibri"/>
              <a:sym typeface="Calibri"/>
            </a:endParaRPr>
          </a:p>
        </p:txBody>
      </p:sp>
      <p:sp>
        <p:nvSpPr>
          <p:cNvPr id="139" name="Google Shape;139;p5"/>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graphicFrame>
        <p:nvGraphicFramePr>
          <p:cNvPr id="140" name="Google Shape;140;p5"/>
          <p:cNvGraphicFramePr/>
          <p:nvPr/>
        </p:nvGraphicFramePr>
        <p:xfrm>
          <a:off x="1097280" y="2753284"/>
          <a:ext cx="3000000" cy="3000000"/>
        </p:xfrm>
        <a:graphic>
          <a:graphicData uri="http://schemas.openxmlformats.org/drawingml/2006/table">
            <a:tbl>
              <a:tblPr>
                <a:noFill/>
                <a:tableStyleId>{92EFC7BD-39C8-49FD-A5F3-D92DB93B0395}</a:tableStyleId>
              </a:tblPr>
              <a:tblGrid>
                <a:gridCol w="1954875"/>
              </a:tblGrid>
              <a:tr h="627000">
                <a:tc>
                  <a:txBody>
                    <a:bodyPr/>
                    <a:lstStyle/>
                    <a:p>
                      <a:pPr indent="0" lvl="0" marL="0" marR="0" rtl="0" algn="ctr">
                        <a:spcBef>
                          <a:spcPts val="0"/>
                        </a:spcBef>
                        <a:spcAft>
                          <a:spcPts val="0"/>
                        </a:spcAft>
                        <a:buClr>
                          <a:schemeClr val="dk1"/>
                        </a:buClr>
                        <a:buSzPts val="1800"/>
                        <a:buFont typeface="Calibri"/>
                        <a:buNone/>
                      </a:pPr>
                      <a:r>
                        <a:rPr lang="en-US" sz="1800" u="none" cap="none" strike="noStrike"/>
                        <a:t>Input or Output</a:t>
                      </a:r>
                      <a:endParaRPr sz="1800" u="none" cap="none" strike="noStrike"/>
                    </a:p>
                  </a:txBody>
                  <a:tcPr marT="45725" marB="45725" marR="91450" marL="91450">
                    <a:solidFill>
                      <a:schemeClr val="accent2"/>
                    </a:solidFill>
                  </a:tcPr>
                </a:tc>
              </a:tr>
              <a:tr h="1240375">
                <a:tc>
                  <a:txBody>
                    <a:bodyPr/>
                    <a:lstStyle/>
                    <a:p>
                      <a:pPr indent="0" lvl="0" marL="0" marR="0" rtl="0" algn="ctr">
                        <a:spcBef>
                          <a:spcPts val="0"/>
                        </a:spcBef>
                        <a:spcAft>
                          <a:spcPts val="0"/>
                        </a:spcAft>
                        <a:buClr>
                          <a:schemeClr val="dk1"/>
                        </a:buClr>
                        <a:buSzPts val="1800"/>
                        <a:buFont typeface="Calibri"/>
                        <a:buNone/>
                      </a:pPr>
                      <a:r>
                        <a:rPr lang="en-US" sz="1800" u="none" cap="none" strike="noStrike"/>
                        <a:t>input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print()</a:t>
                      </a:r>
                      <a:endParaRPr sz="1800" u="none" cap="none" strike="noStrike"/>
                    </a:p>
                  </a:txBody>
                  <a:tcPr marT="45725" marB="45725" marR="91450" marL="91450">
                    <a:solidFill>
                      <a:schemeClr val="accent2"/>
                    </a:solidFill>
                  </a:tcPr>
                </a:tc>
              </a:tr>
            </a:tbl>
          </a:graphicData>
        </a:graphic>
      </p:graphicFrame>
      <p:graphicFrame>
        <p:nvGraphicFramePr>
          <p:cNvPr id="141" name="Google Shape;141;p5"/>
          <p:cNvGraphicFramePr/>
          <p:nvPr/>
        </p:nvGraphicFramePr>
        <p:xfrm>
          <a:off x="3893128" y="2753284"/>
          <a:ext cx="3000000" cy="3000000"/>
        </p:xfrm>
        <a:graphic>
          <a:graphicData uri="http://schemas.openxmlformats.org/drawingml/2006/table">
            <a:tbl>
              <a:tblPr>
                <a:noFill/>
                <a:tableStyleId>{92EFC7BD-39C8-49FD-A5F3-D92DB93B0395}</a:tableStyleId>
              </a:tblPr>
              <a:tblGrid>
                <a:gridCol w="1669475"/>
              </a:tblGrid>
              <a:tr h="609600">
                <a:tc>
                  <a:txBody>
                    <a:bodyPr/>
                    <a:lstStyle/>
                    <a:p>
                      <a:pPr indent="0" lvl="0" marL="0" marR="0" rtl="0" algn="ctr">
                        <a:spcBef>
                          <a:spcPts val="0"/>
                        </a:spcBef>
                        <a:spcAft>
                          <a:spcPts val="0"/>
                        </a:spcAft>
                        <a:buClr>
                          <a:schemeClr val="dk1"/>
                        </a:buClr>
                        <a:buSzPts val="1800"/>
                        <a:buFont typeface="Calibri"/>
                        <a:buNone/>
                      </a:pPr>
                      <a:r>
                        <a:rPr lang="en-US" sz="1800" u="none" cap="none" strike="noStrike"/>
                        <a:t>Data Type Conversion</a:t>
                      </a:r>
                      <a:endParaRPr sz="1800" u="none" cap="none" strike="noStrike"/>
                    </a:p>
                  </a:txBody>
                  <a:tcPr marT="45725" marB="45725" marR="91450" marL="91450">
                    <a:solidFill>
                      <a:schemeClr val="accent2"/>
                    </a:solidFill>
                  </a:tcPr>
                </a:tc>
              </a:tr>
              <a:tr h="1240375">
                <a:tc>
                  <a:txBody>
                    <a:bodyPr/>
                    <a:lstStyle/>
                    <a:p>
                      <a:pPr indent="0" lvl="0" marL="0" marR="0" rtl="0" algn="ctr">
                        <a:spcBef>
                          <a:spcPts val="0"/>
                        </a:spcBef>
                        <a:spcAft>
                          <a:spcPts val="0"/>
                        </a:spcAft>
                        <a:buClr>
                          <a:schemeClr val="dk1"/>
                        </a:buClr>
                        <a:buSzPts val="1800"/>
                        <a:buFont typeface="Calibri"/>
                        <a:buNone/>
                      </a:pPr>
                      <a:r>
                        <a:rPr lang="en-US" sz="1800" u="none" cap="none" strike="noStrike"/>
                        <a:t>bool()</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chr()</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dict()</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float()</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int()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list()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ord()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set()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str()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tuple()</a:t>
                      </a:r>
                      <a:endParaRPr sz="1800" u="none" cap="none" strike="noStrike"/>
                    </a:p>
                  </a:txBody>
                  <a:tcPr marT="45725" marB="45725" marR="91450" marL="91450">
                    <a:solidFill>
                      <a:schemeClr val="accent2"/>
                    </a:solidFill>
                  </a:tcPr>
                </a:tc>
              </a:tr>
            </a:tbl>
          </a:graphicData>
        </a:graphic>
      </p:graphicFrame>
      <p:graphicFrame>
        <p:nvGraphicFramePr>
          <p:cNvPr id="142" name="Google Shape;142;p5"/>
          <p:cNvGraphicFramePr/>
          <p:nvPr/>
        </p:nvGraphicFramePr>
        <p:xfrm>
          <a:off x="6522721" y="2246968"/>
          <a:ext cx="3000000" cy="3000000"/>
        </p:xfrm>
        <a:graphic>
          <a:graphicData uri="http://schemas.openxmlformats.org/drawingml/2006/table">
            <a:tbl>
              <a:tblPr>
                <a:noFill/>
                <a:tableStyleId>{92EFC7BD-39C8-49FD-A5F3-D92DB93B0395}</a:tableStyleId>
              </a:tblPr>
              <a:tblGrid>
                <a:gridCol w="1669475"/>
              </a:tblGrid>
              <a:tr h="609600">
                <a:tc>
                  <a:txBody>
                    <a:bodyPr/>
                    <a:lstStyle/>
                    <a:p>
                      <a:pPr indent="0" lvl="0" marL="0" marR="0" rtl="0" algn="ctr">
                        <a:spcBef>
                          <a:spcPts val="0"/>
                        </a:spcBef>
                        <a:spcAft>
                          <a:spcPts val="0"/>
                        </a:spcAft>
                        <a:buClr>
                          <a:schemeClr val="dk1"/>
                        </a:buClr>
                        <a:buSzPts val="1800"/>
                        <a:buFont typeface="Calibri"/>
                        <a:buNone/>
                      </a:pPr>
                      <a:r>
                        <a:rPr lang="en-US" sz="1800" u="none" cap="none" strike="noStrike"/>
                        <a:t>Mathematical Function</a:t>
                      </a:r>
                      <a:endParaRPr sz="1800" u="none" cap="none" strike="noStrike"/>
                    </a:p>
                  </a:txBody>
                  <a:tcPr marT="45725" marB="45725" marR="91450" marL="91450">
                    <a:solidFill>
                      <a:schemeClr val="accent2"/>
                    </a:solidFill>
                  </a:tcPr>
                </a:tc>
              </a:tr>
              <a:tr h="1240375">
                <a:tc>
                  <a:txBody>
                    <a:bodyPr/>
                    <a:lstStyle/>
                    <a:p>
                      <a:pPr indent="0" lvl="0" marL="0" marR="0" rtl="0" algn="ctr">
                        <a:spcBef>
                          <a:spcPts val="0"/>
                        </a:spcBef>
                        <a:spcAft>
                          <a:spcPts val="0"/>
                        </a:spcAft>
                        <a:buClr>
                          <a:schemeClr val="dk1"/>
                        </a:buClr>
                        <a:buSzPts val="1800"/>
                        <a:buFont typeface="Calibri"/>
                        <a:buNone/>
                      </a:pPr>
                      <a:r>
                        <a:rPr lang="en-US" sz="1800" u="none" cap="none" strike="noStrike"/>
                        <a:t>abs()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divmod()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max()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min()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pow()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sum()</a:t>
                      </a:r>
                      <a:endParaRPr sz="1800" u="none" cap="none" strike="noStrike"/>
                    </a:p>
                  </a:txBody>
                  <a:tcPr marT="45725" marB="45725" marR="91450" marL="91450">
                    <a:solidFill>
                      <a:schemeClr val="accent2"/>
                    </a:solidFill>
                  </a:tcPr>
                </a:tc>
              </a:tr>
            </a:tbl>
          </a:graphicData>
        </a:graphic>
      </p:graphicFrame>
      <p:graphicFrame>
        <p:nvGraphicFramePr>
          <p:cNvPr id="143" name="Google Shape;143;p5"/>
          <p:cNvGraphicFramePr/>
          <p:nvPr/>
        </p:nvGraphicFramePr>
        <p:xfrm>
          <a:off x="8986500" y="3046268"/>
          <a:ext cx="3000000" cy="3000000"/>
        </p:xfrm>
        <a:graphic>
          <a:graphicData uri="http://schemas.openxmlformats.org/drawingml/2006/table">
            <a:tbl>
              <a:tblPr>
                <a:noFill/>
                <a:tableStyleId>{92EFC7BD-39C8-49FD-A5F3-D92DB93B0395}</a:tableStyleId>
              </a:tblPr>
              <a:tblGrid>
                <a:gridCol w="1954875"/>
              </a:tblGrid>
              <a:tr h="627000">
                <a:tc>
                  <a:txBody>
                    <a:bodyPr/>
                    <a:lstStyle/>
                    <a:p>
                      <a:pPr indent="0" lvl="0" marL="0" marR="0" rtl="0" algn="ctr">
                        <a:spcBef>
                          <a:spcPts val="0"/>
                        </a:spcBef>
                        <a:spcAft>
                          <a:spcPts val="0"/>
                        </a:spcAft>
                        <a:buClr>
                          <a:schemeClr val="dk1"/>
                        </a:buClr>
                        <a:buSzPts val="1800"/>
                        <a:buFont typeface="Calibri"/>
                        <a:buNone/>
                      </a:pPr>
                      <a:r>
                        <a:rPr lang="en-US" sz="1800" u="none" cap="none" strike="noStrike"/>
                        <a:t>Other Functions</a:t>
                      </a:r>
                      <a:endParaRPr sz="1800" u="none" cap="none" strike="noStrike"/>
                    </a:p>
                  </a:txBody>
                  <a:tcPr marT="45725" marB="45725" marR="91450" marL="91450">
                    <a:solidFill>
                      <a:schemeClr val="accent2"/>
                    </a:solidFill>
                  </a:tcPr>
                </a:tc>
              </a:tr>
              <a:tr h="1240375">
                <a:tc>
                  <a:txBody>
                    <a:bodyPr/>
                    <a:lstStyle/>
                    <a:p>
                      <a:pPr indent="0" lvl="0" marL="0" marR="0" rtl="0" algn="ctr">
                        <a:spcBef>
                          <a:spcPts val="0"/>
                        </a:spcBef>
                        <a:spcAft>
                          <a:spcPts val="0"/>
                        </a:spcAft>
                        <a:buClr>
                          <a:schemeClr val="dk1"/>
                        </a:buClr>
                        <a:buSzPts val="1800"/>
                        <a:buFont typeface="Calibri"/>
                        <a:buNone/>
                      </a:pPr>
                      <a:r>
                        <a:rPr lang="en-US" sz="1800" u="none" cap="none" strike="noStrike"/>
                        <a:t>__import__()</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len()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range() </a:t>
                      </a:r>
                      <a:endParaRPr sz="1800" u="none" cap="none" strike="noStrike"/>
                    </a:p>
                    <a:p>
                      <a:pPr indent="0" lvl="0" marL="0" marR="0" rtl="0" algn="ctr">
                        <a:spcBef>
                          <a:spcPts val="0"/>
                        </a:spcBef>
                        <a:spcAft>
                          <a:spcPts val="0"/>
                        </a:spcAft>
                        <a:buClr>
                          <a:schemeClr val="dk1"/>
                        </a:buClr>
                        <a:buSzPts val="1800"/>
                        <a:buFont typeface="Calibri"/>
                        <a:buNone/>
                      </a:pPr>
                      <a:r>
                        <a:rPr lang="en-US" sz="1800" u="none" cap="none" strike="noStrike"/>
                        <a:t>type()</a:t>
                      </a:r>
                      <a:endParaRPr sz="1800" u="none" cap="none" strike="noStrike"/>
                    </a:p>
                  </a:txBody>
                  <a:tcPr marT="45725" marB="45725" marR="91450" marL="91450">
                    <a:solidFill>
                      <a:schemeClr val="accent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User Defined Functions</a:t>
            </a:r>
            <a:endParaRPr/>
          </a:p>
        </p:txBody>
      </p:sp>
      <p:sp>
        <p:nvSpPr>
          <p:cNvPr id="149" name="Google Shape;149;p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Clr>
                <a:srgbClr val="000000"/>
              </a:buClr>
              <a:buSzPts val="2000"/>
              <a:buChar char=" "/>
            </a:pPr>
            <a:br>
              <a:rPr lang="en-US"/>
            </a:br>
            <a:endParaRPr/>
          </a:p>
          <a:p>
            <a:pPr indent="-127000" lvl="0" marL="91440" rtl="0" algn="l">
              <a:lnSpc>
                <a:spcPct val="90000"/>
              </a:lnSpc>
              <a:spcBef>
                <a:spcPts val="1400"/>
              </a:spcBef>
              <a:spcAft>
                <a:spcPts val="0"/>
              </a:spcAft>
              <a:buClr>
                <a:srgbClr val="000000"/>
              </a:buClr>
              <a:buSzPts val="2000"/>
              <a:buChar char=" "/>
            </a:pPr>
            <a:br>
              <a:rPr lang="en-US"/>
            </a:br>
            <a:endParaRPr/>
          </a:p>
          <a:p>
            <a:pPr indent="-127000" lvl="0" marL="91440" rtl="0" algn="l">
              <a:lnSpc>
                <a:spcPct val="90000"/>
              </a:lnSpc>
              <a:spcBef>
                <a:spcPts val="1400"/>
              </a:spcBef>
              <a:spcAft>
                <a:spcPts val="0"/>
              </a:spcAft>
              <a:buClr>
                <a:srgbClr val="000000"/>
              </a:buClr>
              <a:buSzPts val="2000"/>
              <a:buChar char=" "/>
            </a:pPr>
            <a:br>
              <a:rPr lang="en-US"/>
            </a:br>
            <a:r>
              <a:rPr lang="en-US"/>
              <a:t>A </a:t>
            </a:r>
            <a:r>
              <a:rPr b="1" lang="en-US">
                <a:solidFill>
                  <a:srgbClr val="D4650A"/>
                </a:solidFill>
              </a:rPr>
              <a:t>function header </a:t>
            </a:r>
            <a:r>
              <a:rPr lang="en-US">
                <a:solidFill>
                  <a:srgbClr val="002FC4"/>
                </a:solidFill>
              </a:rPr>
              <a:t>starts with the keyword </a:t>
            </a:r>
            <a:r>
              <a:rPr b="1" lang="en-US">
                <a:solidFill>
                  <a:srgbClr val="D4650A"/>
                </a:solidFill>
              </a:rPr>
              <a:t>def,</a:t>
            </a:r>
            <a:r>
              <a:rPr lang="en-US"/>
              <a:t> </a:t>
            </a:r>
            <a:r>
              <a:rPr lang="en-US">
                <a:solidFill>
                  <a:srgbClr val="002FC4"/>
                </a:solidFill>
              </a:rPr>
              <a:t>followed by an identifier </a:t>
            </a:r>
            <a:r>
              <a:rPr lang="en-US"/>
              <a:t>(e.g. </a:t>
            </a:r>
            <a:r>
              <a:rPr lang="en-US">
                <a:latin typeface="Courier New"/>
                <a:ea typeface="Courier New"/>
                <a:cs typeface="Courier New"/>
                <a:sym typeface="Courier New"/>
              </a:rPr>
              <a:t>avg</a:t>
            </a:r>
            <a:r>
              <a:rPr lang="en-US"/>
              <a:t>), which is the function’s name. </a:t>
            </a:r>
            <a:r>
              <a:rPr lang="en-US">
                <a:solidFill>
                  <a:srgbClr val="002FC4"/>
                </a:solidFill>
              </a:rPr>
              <a:t>The function name is followed by </a:t>
            </a:r>
            <a:r>
              <a:rPr lang="en-US"/>
              <a:t>a comma-separated (possibly empty) list of identifiers (</a:t>
            </a:r>
            <a:r>
              <a:rPr lang="en-US">
                <a:latin typeface="Courier New"/>
                <a:ea typeface="Courier New"/>
                <a:cs typeface="Courier New"/>
                <a:sym typeface="Courier New"/>
              </a:rPr>
              <a:t>n1, n2, n3</a:t>
            </a:r>
            <a:r>
              <a:rPr lang="en-US"/>
              <a:t>) called </a:t>
            </a:r>
            <a:r>
              <a:rPr b="1" lang="en-US">
                <a:solidFill>
                  <a:srgbClr val="D4650A"/>
                </a:solidFill>
              </a:rPr>
              <a:t>parameters</a:t>
            </a:r>
            <a:r>
              <a:rPr lang="en-US"/>
              <a:t>. Following the </a:t>
            </a:r>
            <a:r>
              <a:rPr lang="en-US">
                <a:solidFill>
                  <a:srgbClr val="D4650A"/>
                </a:solidFill>
              </a:rPr>
              <a:t>parameter list </a:t>
            </a:r>
            <a:r>
              <a:rPr lang="en-US"/>
              <a:t>is a colon ( : )</a:t>
            </a:r>
            <a:endParaRPr/>
          </a:p>
          <a:p>
            <a:pPr indent="-127000" lvl="0" marL="91440" rtl="0" algn="l">
              <a:lnSpc>
                <a:spcPct val="90000"/>
              </a:lnSpc>
              <a:spcBef>
                <a:spcPts val="1400"/>
              </a:spcBef>
              <a:spcAft>
                <a:spcPts val="0"/>
              </a:spcAft>
              <a:buClr>
                <a:srgbClr val="000000"/>
              </a:buClr>
              <a:buSzPts val="2000"/>
              <a:buChar char=" "/>
            </a:pPr>
            <a:br>
              <a:rPr lang="en-US">
                <a:solidFill>
                  <a:srgbClr val="002FC4"/>
                </a:solidFill>
              </a:rPr>
            </a:br>
            <a:r>
              <a:rPr lang="en-US">
                <a:solidFill>
                  <a:srgbClr val="002FC4"/>
                </a:solidFill>
              </a:rPr>
              <a:t>Following the function header </a:t>
            </a:r>
            <a:r>
              <a:rPr lang="en-US"/>
              <a:t>is the </a:t>
            </a:r>
            <a:r>
              <a:rPr b="1" lang="en-US">
                <a:solidFill>
                  <a:srgbClr val="D4650A"/>
                </a:solidFill>
              </a:rPr>
              <a:t>function body</a:t>
            </a:r>
            <a:r>
              <a:rPr lang="en-US"/>
              <a:t>, a </a:t>
            </a:r>
            <a:r>
              <a:rPr lang="en-US">
                <a:solidFill>
                  <a:srgbClr val="D4650A"/>
                </a:solidFill>
              </a:rPr>
              <a:t>suite</a:t>
            </a:r>
            <a:r>
              <a:rPr lang="en-US"/>
              <a:t> (program block) containing the function’s instructions. </a:t>
            </a:r>
            <a:r>
              <a:rPr lang="en-US">
                <a:solidFill>
                  <a:srgbClr val="002FC4"/>
                </a:solidFill>
              </a:rPr>
              <a:t>The statements within the suite must be indented at the same level, relative to the function header.</a:t>
            </a:r>
            <a:endParaRPr/>
          </a:p>
        </p:txBody>
      </p:sp>
      <p:pic>
        <p:nvPicPr>
          <p:cNvPr id="150" name="Google Shape;150;p6"/>
          <p:cNvPicPr preferRelativeResize="0"/>
          <p:nvPr/>
        </p:nvPicPr>
        <p:blipFill rotWithShape="1">
          <a:blip r:embed="rId3">
            <a:alphaModFix/>
          </a:blip>
          <a:srcRect b="0" l="0" r="0" t="0"/>
          <a:stretch/>
        </p:blipFill>
        <p:spPr>
          <a:xfrm>
            <a:off x="1161675" y="1845734"/>
            <a:ext cx="5669280" cy="1650788"/>
          </a:xfrm>
          <a:prstGeom prst="rect">
            <a:avLst/>
          </a:prstGeom>
          <a:noFill/>
          <a:ln>
            <a:noFill/>
          </a:ln>
        </p:spPr>
      </p:pic>
      <p:sp>
        <p:nvSpPr>
          <p:cNvPr id="151" name="Google Shape;151;p6"/>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User Defined Functions</a:t>
            </a:r>
            <a:endParaRPr/>
          </a:p>
        </p:txBody>
      </p:sp>
      <p:sp>
        <p:nvSpPr>
          <p:cNvPr id="157" name="Google Shape;157;p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marR="0" rtl="0" algn="just">
              <a:lnSpc>
                <a:spcPct val="100000"/>
              </a:lnSpc>
              <a:spcBef>
                <a:spcPts val="0"/>
              </a:spcBef>
              <a:spcAft>
                <a:spcPts val="0"/>
              </a:spcAft>
              <a:buSzPts val="2000"/>
              <a:buNone/>
            </a:pPr>
            <a:r>
              <a:rPr i="0" lang="en-US" sz="2000" u="none" cap="none" strike="noStrike">
                <a:solidFill>
                  <a:schemeClr val="accent2"/>
                </a:solidFill>
                <a:latin typeface="Fira Code"/>
                <a:ea typeface="Fira Code"/>
                <a:cs typeface="Fira Code"/>
                <a:sym typeface="Fira Code"/>
              </a:rPr>
              <a:t>def greet(name):</a:t>
            </a:r>
            <a:endParaRPr>
              <a:solidFill>
                <a:schemeClr val="accent2"/>
              </a:solidFill>
              <a:latin typeface="Fira Code"/>
              <a:ea typeface="Fira Code"/>
              <a:cs typeface="Fira Code"/>
              <a:sym typeface="Fira Code"/>
            </a:endParaRPr>
          </a:p>
          <a:p>
            <a:pPr indent="0" lvl="0" marL="0" marR="0" rtl="0" algn="just">
              <a:lnSpc>
                <a:spcPct val="100000"/>
              </a:lnSpc>
              <a:spcBef>
                <a:spcPts val="0"/>
              </a:spcBef>
              <a:spcAft>
                <a:spcPts val="0"/>
              </a:spcAft>
              <a:buSzPts val="2000"/>
              <a:buNone/>
            </a:pPr>
            <a:r>
              <a:rPr i="0" lang="en-US" sz="2000" u="none" cap="none" strike="noStrike">
                <a:solidFill>
                  <a:schemeClr val="dk1"/>
                </a:solidFill>
                <a:latin typeface="Fira Code"/>
                <a:ea typeface="Fira Code"/>
                <a:cs typeface="Fira Code"/>
                <a:sym typeface="Fira Code"/>
              </a:rPr>
              <a:t>    # This function prints a greeting to the specified name</a:t>
            </a:r>
            <a:endParaRPr>
              <a:latin typeface="Fira Code"/>
              <a:ea typeface="Fira Code"/>
              <a:cs typeface="Fira Code"/>
              <a:sym typeface="Fira Code"/>
            </a:endParaRPr>
          </a:p>
          <a:p>
            <a:pPr indent="0" lvl="0" marL="0" marR="0" rtl="0" algn="just">
              <a:lnSpc>
                <a:spcPct val="100000"/>
              </a:lnSpc>
              <a:spcBef>
                <a:spcPts val="0"/>
              </a:spcBef>
              <a:spcAft>
                <a:spcPts val="0"/>
              </a:spcAft>
              <a:buSzPts val="2000"/>
              <a:buNone/>
            </a:pPr>
            <a:r>
              <a:rPr i="0" lang="en-US" sz="2000" u="none" cap="none" strike="noStrike">
                <a:solidFill>
                  <a:schemeClr val="dk1"/>
                </a:solidFill>
                <a:latin typeface="Fira Code"/>
                <a:ea typeface="Fira Code"/>
                <a:cs typeface="Fira Code"/>
                <a:sym typeface="Fira Code"/>
              </a:rPr>
              <a:t>    print("Hello, " + name + "!")</a:t>
            </a:r>
            <a:endParaRPr/>
          </a:p>
          <a:p>
            <a:pPr indent="0" lvl="0" marL="0" marR="0" rtl="0" algn="just">
              <a:lnSpc>
                <a:spcPct val="100000"/>
              </a:lnSpc>
              <a:spcBef>
                <a:spcPts val="0"/>
              </a:spcBef>
              <a:spcAft>
                <a:spcPts val="0"/>
              </a:spcAft>
              <a:buSzPts val="2000"/>
              <a:buNone/>
            </a:pPr>
            <a:r>
              <a:t/>
            </a:r>
            <a:endParaRPr>
              <a:latin typeface="Fira Code"/>
              <a:ea typeface="Fira Code"/>
              <a:cs typeface="Fira Code"/>
              <a:sym typeface="Fira Code"/>
            </a:endParaRPr>
          </a:p>
          <a:p>
            <a:pPr indent="0" lvl="0" marL="0" marR="0" rtl="0" algn="just">
              <a:lnSpc>
                <a:spcPct val="100000"/>
              </a:lnSpc>
              <a:spcBef>
                <a:spcPts val="0"/>
              </a:spcBef>
              <a:spcAft>
                <a:spcPts val="0"/>
              </a:spcAft>
              <a:buSzPts val="2000"/>
              <a:buNone/>
            </a:pPr>
            <a:r>
              <a:rPr i="0" lang="en-US" sz="2000" u="none" cap="none" strike="noStrike">
                <a:solidFill>
                  <a:schemeClr val="dk1"/>
                </a:solidFill>
                <a:latin typeface="Fira Code"/>
                <a:ea typeface="Fira Code"/>
                <a:cs typeface="Fira Code"/>
                <a:sym typeface="Fira Code"/>
              </a:rPr>
              <a:t># Calling the function….below…</a:t>
            </a:r>
            <a:endParaRPr>
              <a:latin typeface="Fira Code"/>
              <a:ea typeface="Fira Code"/>
              <a:cs typeface="Fira Code"/>
              <a:sym typeface="Fira Code"/>
            </a:endParaRPr>
          </a:p>
          <a:p>
            <a:pPr indent="0" lvl="0" marL="0" marR="0" rtl="0" algn="just">
              <a:lnSpc>
                <a:spcPct val="100000"/>
              </a:lnSpc>
              <a:spcBef>
                <a:spcPts val="0"/>
              </a:spcBef>
              <a:spcAft>
                <a:spcPts val="0"/>
              </a:spcAft>
              <a:buSzPts val="2000"/>
              <a:buNone/>
            </a:pPr>
            <a:r>
              <a:rPr i="0" lang="en-US" sz="2000" u="none" cap="none" strike="noStrike">
                <a:solidFill>
                  <a:schemeClr val="accent2"/>
                </a:solidFill>
                <a:latin typeface="Fira Code"/>
                <a:ea typeface="Fira Code"/>
                <a:cs typeface="Fira Code"/>
                <a:sym typeface="Fira Code"/>
              </a:rPr>
              <a:t>greet("John")</a:t>
            </a:r>
            <a:endParaRPr>
              <a:solidFill>
                <a:schemeClr val="accent2"/>
              </a:solidFill>
              <a:latin typeface="Fira Code"/>
              <a:ea typeface="Fira Code"/>
              <a:cs typeface="Fira Code"/>
              <a:sym typeface="Fira Code"/>
            </a:endParaRPr>
          </a:p>
          <a:p>
            <a:pPr indent="0" lvl="0" marL="91440" rtl="0" algn="l">
              <a:lnSpc>
                <a:spcPct val="90000"/>
              </a:lnSpc>
              <a:spcBef>
                <a:spcPts val="1200"/>
              </a:spcBef>
              <a:spcAft>
                <a:spcPts val="0"/>
              </a:spcAft>
              <a:buClr>
                <a:srgbClr val="000000"/>
              </a:buClr>
              <a:buSzPts val="2000"/>
              <a:buNone/>
            </a:pPr>
            <a:r>
              <a:t/>
            </a:r>
            <a:endParaRPr/>
          </a:p>
        </p:txBody>
      </p:sp>
      <p:sp>
        <p:nvSpPr>
          <p:cNvPr id="158" name="Google Shape;158;p7"/>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pic>
        <p:nvPicPr>
          <p:cNvPr id="159" name="Google Shape;159;p7"/>
          <p:cNvPicPr preferRelativeResize="0"/>
          <p:nvPr/>
        </p:nvPicPr>
        <p:blipFill rotWithShape="1">
          <a:blip r:embed="rId3">
            <a:alphaModFix/>
          </a:blip>
          <a:srcRect b="0" l="0" r="0" t="0"/>
          <a:stretch/>
        </p:blipFill>
        <p:spPr>
          <a:xfrm>
            <a:off x="1097280" y="3857414"/>
            <a:ext cx="9594043" cy="21399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Exercise – For You</a:t>
            </a:r>
            <a:endParaRPr/>
          </a:p>
        </p:txBody>
      </p:sp>
      <p:sp>
        <p:nvSpPr>
          <p:cNvPr id="165" name="Google Shape;165;p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b="0" i="0" lang="en-US" sz="2000" u="none" cap="none" strike="noStrike">
                <a:solidFill>
                  <a:schemeClr val="dk1"/>
                </a:solidFill>
                <a:latin typeface="Calibri"/>
                <a:ea typeface="Calibri"/>
                <a:cs typeface="Calibri"/>
                <a:sym typeface="Calibri"/>
              </a:rPr>
              <a:t>Write a user defined function to add 2 numbers and display their sum.</a:t>
            </a:r>
            <a:endParaRPr/>
          </a:p>
          <a:p>
            <a:pPr indent="-127000" lvl="0" marL="91440" rtl="0" algn="l">
              <a:lnSpc>
                <a:spcPct val="150000"/>
              </a:lnSpc>
              <a:spcBef>
                <a:spcPts val="1400"/>
              </a:spcBef>
              <a:spcAft>
                <a:spcPts val="0"/>
              </a:spcAft>
              <a:buSzPts val="2000"/>
              <a:buFont typeface="Noto Sans Symbols"/>
              <a:buChar char="▪"/>
            </a:pPr>
            <a:r>
              <a:rPr lang="en-US"/>
              <a:t>Function to add two numbers </a:t>
            </a:r>
            <a:endParaRPr/>
          </a:p>
          <a:p>
            <a:pPr indent="-127000" lvl="0" marL="91440" rtl="0" algn="l">
              <a:lnSpc>
                <a:spcPct val="150000"/>
              </a:lnSpc>
              <a:spcBef>
                <a:spcPts val="1400"/>
              </a:spcBef>
              <a:spcAft>
                <a:spcPts val="0"/>
              </a:spcAft>
              <a:buSzPts val="2000"/>
              <a:buFont typeface="Noto Sans Symbols"/>
              <a:buChar char="▪"/>
            </a:pPr>
            <a:r>
              <a:rPr lang="en-US"/>
              <a:t>The requirements are listed below:</a:t>
            </a:r>
            <a:endParaRPr/>
          </a:p>
          <a:p>
            <a:pPr indent="-127000" lvl="0" marL="91440" rtl="0" algn="l">
              <a:lnSpc>
                <a:spcPct val="150000"/>
              </a:lnSpc>
              <a:spcBef>
                <a:spcPts val="1400"/>
              </a:spcBef>
              <a:spcAft>
                <a:spcPts val="0"/>
              </a:spcAft>
              <a:buSzPts val="2000"/>
              <a:buFont typeface="Noto Sans Symbols"/>
              <a:buChar char="▪"/>
            </a:pPr>
            <a:r>
              <a:rPr lang="en-US"/>
              <a:t>We need to accept 2 numbers from the user. </a:t>
            </a:r>
            <a:endParaRPr/>
          </a:p>
          <a:p>
            <a:pPr indent="-127000" lvl="0" marL="91440" rtl="0" algn="l">
              <a:lnSpc>
                <a:spcPct val="150000"/>
              </a:lnSpc>
              <a:spcBef>
                <a:spcPts val="1400"/>
              </a:spcBef>
              <a:spcAft>
                <a:spcPts val="0"/>
              </a:spcAft>
              <a:buSzPts val="2000"/>
              <a:buFont typeface="Noto Sans Symbols"/>
              <a:buChar char="▪"/>
            </a:pPr>
            <a:r>
              <a:rPr lang="en-US"/>
              <a:t>Calculate their sum. </a:t>
            </a:r>
            <a:endParaRPr/>
          </a:p>
          <a:p>
            <a:pPr indent="-127000" lvl="0" marL="91440" rtl="0" algn="l">
              <a:lnSpc>
                <a:spcPct val="150000"/>
              </a:lnSpc>
              <a:spcBef>
                <a:spcPts val="1400"/>
              </a:spcBef>
              <a:spcAft>
                <a:spcPts val="0"/>
              </a:spcAft>
              <a:buSzPts val="2000"/>
              <a:buFont typeface="Noto Sans Symbols"/>
              <a:buChar char="▪"/>
            </a:pPr>
            <a:r>
              <a:rPr lang="en-US"/>
              <a:t>Display the sum.</a:t>
            </a:r>
            <a:endParaRPr>
              <a:solidFill>
                <a:schemeClr val="dk1"/>
              </a:solidFill>
            </a:endParaRPr>
          </a:p>
        </p:txBody>
      </p:sp>
      <p:sp>
        <p:nvSpPr>
          <p:cNvPr id="166" name="Google Shape;166;p8"/>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Code Implementation</a:t>
            </a:r>
            <a:endParaRPr/>
          </a:p>
        </p:txBody>
      </p:sp>
      <p:sp>
        <p:nvSpPr>
          <p:cNvPr id="172" name="Google Shape;172;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endParaRPr>
              <a:solidFill>
                <a:schemeClr val="dk1"/>
              </a:solidFill>
            </a:endParaRPr>
          </a:p>
        </p:txBody>
      </p:sp>
      <p:sp>
        <p:nvSpPr>
          <p:cNvPr id="173" name="Google Shape;173;p9"/>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 </a:t>
            </a:r>
            <a:endParaRPr/>
          </a:p>
        </p:txBody>
      </p:sp>
      <p:sp>
        <p:nvSpPr>
          <p:cNvPr id="174" name="Google Shape;174;p9"/>
          <p:cNvSpPr txBox="1"/>
          <p:nvPr/>
        </p:nvSpPr>
        <p:spPr>
          <a:xfrm>
            <a:off x="1918780" y="1845734"/>
            <a:ext cx="6094378" cy="33547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Fira Code"/>
                <a:ea typeface="Fira Code"/>
                <a:cs typeface="Fira Code"/>
                <a:sym typeface="Fira Code"/>
              </a:rPr>
              <a:t>def addnum(): </a:t>
            </a:r>
            <a:endParaRPr/>
          </a:p>
          <a:p>
            <a:pPr indent="0" lvl="2" marL="384048" marR="0" rtl="0" algn="l">
              <a:spcBef>
                <a:spcPts val="0"/>
              </a:spcBef>
              <a:spcAft>
                <a:spcPts val="0"/>
              </a:spcAft>
              <a:buClr>
                <a:schemeClr val="dk1"/>
              </a:buClr>
              <a:buSzPts val="2000"/>
              <a:buFont typeface="Fira Code"/>
              <a:buNone/>
            </a:pPr>
            <a:r>
              <a:rPr b="0" i="0" lang="en-US" sz="2000" u="none" cap="none" strike="noStrike">
                <a:solidFill>
                  <a:schemeClr val="dk1"/>
                </a:solidFill>
                <a:latin typeface="Fira Code"/>
                <a:ea typeface="Fira Code"/>
                <a:cs typeface="Fira Code"/>
                <a:sym typeface="Fira Code"/>
              </a:rPr>
              <a:t>fnum = int(input("Enter first number: ")) </a:t>
            </a:r>
            <a:endParaRPr/>
          </a:p>
          <a:p>
            <a:pPr indent="0" lvl="2" marL="384048" marR="0" rtl="0" algn="l">
              <a:spcBef>
                <a:spcPts val="0"/>
              </a:spcBef>
              <a:spcAft>
                <a:spcPts val="0"/>
              </a:spcAft>
              <a:buClr>
                <a:schemeClr val="dk1"/>
              </a:buClr>
              <a:buSzPts val="2000"/>
              <a:buFont typeface="Fira Code"/>
              <a:buNone/>
            </a:pPr>
            <a:r>
              <a:rPr b="0" i="0" lang="en-US" sz="2000" u="none" cap="none" strike="noStrike">
                <a:solidFill>
                  <a:schemeClr val="dk1"/>
                </a:solidFill>
                <a:latin typeface="Fira Code"/>
                <a:ea typeface="Fira Code"/>
                <a:cs typeface="Fira Code"/>
                <a:sym typeface="Fira Code"/>
              </a:rPr>
              <a:t>snum = int(input("Enter second number: ")) </a:t>
            </a:r>
            <a:endParaRPr/>
          </a:p>
          <a:p>
            <a:pPr indent="0" lvl="2" marL="384048" marR="0" rtl="0" algn="l">
              <a:spcBef>
                <a:spcPts val="0"/>
              </a:spcBef>
              <a:spcAft>
                <a:spcPts val="0"/>
              </a:spcAft>
              <a:buClr>
                <a:schemeClr val="dk1"/>
              </a:buClr>
              <a:buSzPts val="2000"/>
              <a:buFont typeface="Fira Code"/>
              <a:buNone/>
            </a:pPr>
            <a:r>
              <a:rPr b="0" i="0" lang="en-US" sz="2000" u="none" cap="none" strike="noStrike">
                <a:solidFill>
                  <a:schemeClr val="dk1"/>
                </a:solidFill>
                <a:latin typeface="Fira Code"/>
                <a:ea typeface="Fira Code"/>
                <a:cs typeface="Fira Code"/>
                <a:sym typeface="Fira Code"/>
              </a:rPr>
              <a:t>sum = fnum + snum </a:t>
            </a:r>
            <a:endParaRPr/>
          </a:p>
          <a:p>
            <a:pPr indent="0" lvl="2" marL="384048" marR="0" rtl="0" algn="l">
              <a:spcBef>
                <a:spcPts val="0"/>
              </a:spcBef>
              <a:spcAft>
                <a:spcPts val="0"/>
              </a:spcAft>
              <a:buClr>
                <a:schemeClr val="dk1"/>
              </a:buClr>
              <a:buSzPts val="2000"/>
              <a:buFont typeface="Fira Code"/>
              <a:buNone/>
            </a:pPr>
            <a:r>
              <a:rPr b="0" i="0" lang="en-US" sz="2000" u="none" cap="none" strike="noStrike">
                <a:solidFill>
                  <a:schemeClr val="dk1"/>
                </a:solidFill>
                <a:latin typeface="Fira Code"/>
                <a:ea typeface="Fira Code"/>
                <a:cs typeface="Fira Code"/>
                <a:sym typeface="Fira Code"/>
              </a:rPr>
              <a:t>print("The sum of", fnum, "and", snum, "is", sum) </a:t>
            </a:r>
            <a:endParaRPr/>
          </a:p>
          <a:p>
            <a:pPr indent="0" lvl="0" marL="0" marR="0" rtl="0" algn="l">
              <a:spcBef>
                <a:spcPts val="0"/>
              </a:spcBef>
              <a:spcAft>
                <a:spcPts val="0"/>
              </a:spcAft>
              <a:buNone/>
            </a:pPr>
            <a:r>
              <a:t/>
            </a:r>
            <a:endParaRPr sz="1800">
              <a:solidFill>
                <a:schemeClr val="dk1"/>
              </a:solidFill>
              <a:latin typeface="Fira Code"/>
              <a:ea typeface="Fira Code"/>
              <a:cs typeface="Fira Code"/>
              <a:sym typeface="Fira Code"/>
            </a:endParaRPr>
          </a:p>
          <a:p>
            <a:pPr indent="0" lvl="0" marL="0" marR="0" rtl="0" algn="l">
              <a:spcBef>
                <a:spcPts val="0"/>
              </a:spcBef>
              <a:spcAft>
                <a:spcPts val="0"/>
              </a:spcAft>
              <a:buNone/>
            </a:pPr>
            <a:r>
              <a:rPr lang="en-US" sz="1800">
                <a:solidFill>
                  <a:schemeClr val="dk1"/>
                </a:solidFill>
                <a:latin typeface="Fira Code"/>
                <a:ea typeface="Fira Code"/>
                <a:cs typeface="Fira Code"/>
                <a:sym typeface="Fira Code"/>
              </a:rPr>
              <a:t># Function call </a:t>
            </a:r>
            <a:endParaRPr/>
          </a:p>
          <a:p>
            <a:pPr indent="0" lvl="0" marL="0" marR="0" rtl="0" algn="l">
              <a:spcBef>
                <a:spcPts val="0"/>
              </a:spcBef>
              <a:spcAft>
                <a:spcPts val="0"/>
              </a:spcAft>
              <a:buNone/>
            </a:pPr>
            <a:r>
              <a:rPr lang="en-US" sz="1800">
                <a:solidFill>
                  <a:schemeClr val="dk1"/>
                </a:solidFill>
                <a:latin typeface="Fira Code"/>
                <a:ea typeface="Fira Code"/>
                <a:cs typeface="Fira Code"/>
                <a:sym typeface="Fira Code"/>
              </a:rPr>
              <a:t>addnum()</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Arguments and Parameters</a:t>
            </a:r>
            <a:endParaRPr/>
          </a:p>
        </p:txBody>
      </p:sp>
      <p:sp>
        <p:nvSpPr>
          <p:cNvPr id="180" name="Google Shape;180;p10"/>
          <p:cNvSpPr txBox="1"/>
          <p:nvPr>
            <p:ph idx="1" type="body"/>
          </p:nvPr>
        </p:nvSpPr>
        <p:spPr>
          <a:xfrm>
            <a:off x="1097280" y="1845734"/>
            <a:ext cx="10058400" cy="4428606"/>
          </a:xfrm>
          <a:prstGeom prst="rect">
            <a:avLst/>
          </a:prstGeom>
          <a:noFill/>
          <a:ln>
            <a:noFill/>
          </a:ln>
        </p:spPr>
        <p:txBody>
          <a:bodyPr anchorCtr="0" anchor="t" bIns="45700" lIns="0" spcFirstLastPara="1" rIns="0" wrap="square" tIns="45700">
            <a:normAutofit/>
          </a:bodyPr>
          <a:lstStyle/>
          <a:p>
            <a:pPr indent="-152400" lvl="0" marL="91440" rtl="0" algn="just">
              <a:lnSpc>
                <a:spcPct val="150000"/>
              </a:lnSpc>
              <a:spcBef>
                <a:spcPts val="0"/>
              </a:spcBef>
              <a:spcAft>
                <a:spcPts val="0"/>
              </a:spcAft>
              <a:buSzPts val="2400"/>
              <a:buChar char=" "/>
            </a:pPr>
            <a:r>
              <a:rPr b="0" i="0" lang="en-US" sz="2400" u="none" cap="none" strike="noStrike">
                <a:solidFill>
                  <a:schemeClr val="dk1"/>
                </a:solidFill>
                <a:latin typeface="Calibri"/>
                <a:ea typeface="Calibri"/>
                <a:cs typeface="Calibri"/>
                <a:sym typeface="Calibri"/>
              </a:rPr>
              <a:t>In the above example, the numbers were accepted from the user within the function itself, but it is also possible for a user defined function to receive values at the time of being called. An argument is a value passed to the function during the function call which is received in corresponding parameter defined in function header.</a:t>
            </a:r>
            <a:endParaRPr b="1" i="0" sz="2400" u="none" cap="none" strike="noStrike">
              <a:solidFill>
                <a:srgbClr val="FF0000"/>
              </a:solidFill>
              <a:latin typeface="Calibri"/>
              <a:ea typeface="Calibri"/>
              <a:cs typeface="Calibri"/>
              <a:sym typeface="Calibri"/>
            </a:endParaRPr>
          </a:p>
        </p:txBody>
      </p:sp>
      <p:sp>
        <p:nvSpPr>
          <p:cNvPr id="181" name="Google Shape;181;p10"/>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pic>
        <p:nvPicPr>
          <p:cNvPr id="182" name="Google Shape;182;p10"/>
          <p:cNvPicPr preferRelativeResize="0"/>
          <p:nvPr/>
        </p:nvPicPr>
        <p:blipFill rotWithShape="1">
          <a:blip r:embed="rId3">
            <a:alphaModFix/>
          </a:blip>
          <a:srcRect b="0" l="0" r="0" t="0"/>
          <a:stretch/>
        </p:blipFill>
        <p:spPr>
          <a:xfrm>
            <a:off x="3796395" y="4369272"/>
            <a:ext cx="5746439" cy="17786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Parameter Passing</a:t>
            </a:r>
            <a:endParaRPr/>
          </a:p>
        </p:txBody>
      </p:sp>
      <p:sp>
        <p:nvSpPr>
          <p:cNvPr id="188" name="Google Shape;188;p11"/>
          <p:cNvSpPr txBox="1"/>
          <p:nvPr>
            <p:ph idx="1" type="body"/>
          </p:nvPr>
        </p:nvSpPr>
        <p:spPr>
          <a:xfrm>
            <a:off x="1097280" y="1845733"/>
            <a:ext cx="10058400" cy="4399423"/>
          </a:xfrm>
          <a:prstGeom prst="rect">
            <a:avLst/>
          </a:prstGeom>
          <a:noFill/>
          <a:ln>
            <a:noFill/>
          </a:ln>
        </p:spPr>
        <p:txBody>
          <a:bodyPr anchorCtr="0" anchor="t" bIns="45700" lIns="0" spcFirstLastPara="1" rIns="0" wrap="square" tIns="45700">
            <a:normAutofit/>
          </a:bodyPr>
          <a:lstStyle/>
          <a:p>
            <a:pPr indent="0" lvl="0" marL="0" rtl="0" algn="just">
              <a:lnSpc>
                <a:spcPct val="150000"/>
              </a:lnSpc>
              <a:spcBef>
                <a:spcPts val="0"/>
              </a:spcBef>
              <a:spcAft>
                <a:spcPts val="0"/>
              </a:spcAft>
              <a:buSzPts val="2000"/>
              <a:buNone/>
            </a:pPr>
            <a:r>
              <a:rPr lang="en-US">
                <a:solidFill>
                  <a:srgbClr val="002FC4"/>
                </a:solidFill>
              </a:rPr>
              <a:t>Parameter passing </a:t>
            </a:r>
            <a:r>
              <a:rPr lang="en-US">
                <a:solidFill>
                  <a:schemeClr val="dk1"/>
                </a:solidFill>
              </a:rPr>
              <a:t>is the process of passing arguments to a function. </a:t>
            </a:r>
            <a:endParaRPr/>
          </a:p>
          <a:p>
            <a:pPr indent="0" lvl="0" marL="0" rtl="0" algn="just">
              <a:lnSpc>
                <a:spcPct val="150000"/>
              </a:lnSpc>
              <a:spcBef>
                <a:spcPts val="1400"/>
              </a:spcBef>
              <a:spcAft>
                <a:spcPts val="0"/>
              </a:spcAft>
              <a:buSzPts val="2000"/>
              <a:buNone/>
            </a:pPr>
            <a:r>
              <a:rPr lang="en-US">
                <a:solidFill>
                  <a:schemeClr val="dk1"/>
                </a:solidFill>
              </a:rPr>
              <a:t>Recall that </a:t>
            </a:r>
            <a:r>
              <a:rPr i="1" lang="en-US">
                <a:solidFill>
                  <a:schemeClr val="dk1"/>
                </a:solidFill>
              </a:rPr>
              <a:t>actual arguments </a:t>
            </a:r>
            <a:r>
              <a:rPr lang="en-US">
                <a:solidFill>
                  <a:schemeClr val="dk1"/>
                </a:solidFill>
              </a:rPr>
              <a:t>are the values passed to a function’s </a:t>
            </a:r>
            <a:r>
              <a:rPr i="1" lang="en-US">
                <a:solidFill>
                  <a:schemeClr val="dk1"/>
                </a:solidFill>
              </a:rPr>
              <a:t>formal parameters.</a:t>
            </a:r>
            <a:endParaRPr/>
          </a:p>
          <a:p>
            <a:pPr indent="0" lvl="0" marL="0" rtl="0" algn="just">
              <a:lnSpc>
                <a:spcPct val="150000"/>
              </a:lnSpc>
              <a:spcBef>
                <a:spcPts val="1400"/>
              </a:spcBef>
              <a:spcAft>
                <a:spcPts val="0"/>
              </a:spcAft>
              <a:buSzPts val="2000"/>
              <a:buNone/>
            </a:pPr>
            <a:r>
              <a:rPr lang="en-US"/>
              <a:t>The correspondence of actual arguments and formal parameters is </a:t>
            </a:r>
            <a:r>
              <a:rPr lang="en-US">
                <a:solidFill>
                  <a:srgbClr val="002FC4"/>
                </a:solidFill>
              </a:rPr>
              <a:t>determined by the </a:t>
            </a:r>
            <a:r>
              <a:rPr i="1" lang="en-US">
                <a:solidFill>
                  <a:srgbClr val="002FC4"/>
                </a:solidFill>
              </a:rPr>
              <a:t>order of the arguments passed</a:t>
            </a:r>
            <a:r>
              <a:rPr lang="en-US"/>
              <a:t>, and not their names.</a:t>
            </a:r>
            <a:endParaRPr/>
          </a:p>
          <a:p>
            <a:pPr indent="-127000" lvl="0" marL="91440" rtl="0" algn="just">
              <a:lnSpc>
                <a:spcPct val="150000"/>
              </a:lnSpc>
              <a:spcBef>
                <a:spcPts val="1400"/>
              </a:spcBef>
              <a:spcAft>
                <a:spcPts val="0"/>
              </a:spcAft>
              <a:buSzPts val="2000"/>
              <a:buChar char=" "/>
            </a:pPr>
            <a:r>
              <a:rPr lang="en-US"/>
              <a:t>Parameters could be passed to a function in three different ways</a:t>
            </a:r>
            <a:endParaRPr/>
          </a:p>
          <a:p>
            <a:pPr indent="-457200" lvl="1" marL="749808" rtl="0" algn="just">
              <a:lnSpc>
                <a:spcPct val="150000"/>
              </a:lnSpc>
              <a:spcBef>
                <a:spcPts val="400"/>
              </a:spcBef>
              <a:spcAft>
                <a:spcPts val="0"/>
              </a:spcAft>
              <a:buSzPts val="1800"/>
              <a:buFont typeface="Calibri"/>
              <a:buAutoNum type="arabicPeriod"/>
            </a:pPr>
            <a:r>
              <a:rPr lang="en-US"/>
              <a:t>Positional Arguments</a:t>
            </a:r>
            <a:endParaRPr/>
          </a:p>
          <a:p>
            <a:pPr indent="-457200" lvl="1" marL="749808" rtl="0" algn="just">
              <a:lnSpc>
                <a:spcPct val="150000"/>
              </a:lnSpc>
              <a:spcBef>
                <a:spcPts val="600"/>
              </a:spcBef>
              <a:spcAft>
                <a:spcPts val="0"/>
              </a:spcAft>
              <a:buSzPts val="1800"/>
              <a:buFont typeface="Calibri"/>
              <a:buAutoNum type="arabicPeriod"/>
            </a:pPr>
            <a:r>
              <a:rPr lang="en-US"/>
              <a:t>Keywords Arguments</a:t>
            </a:r>
            <a:endParaRPr/>
          </a:p>
          <a:p>
            <a:pPr indent="-457200" lvl="1" marL="749808" rtl="0" algn="just">
              <a:lnSpc>
                <a:spcPct val="150000"/>
              </a:lnSpc>
              <a:spcBef>
                <a:spcPts val="600"/>
              </a:spcBef>
              <a:spcAft>
                <a:spcPts val="0"/>
              </a:spcAft>
              <a:buSzPts val="1800"/>
              <a:buFont typeface="Calibri"/>
              <a:buAutoNum type="arabicPeriod"/>
            </a:pPr>
            <a:r>
              <a:rPr lang="en-US"/>
              <a:t>Default Argument</a:t>
            </a:r>
            <a:endParaRPr/>
          </a:p>
        </p:txBody>
      </p:sp>
      <p:sp>
        <p:nvSpPr>
          <p:cNvPr id="189" name="Google Shape;189;p11"/>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Positional Arguments in Python</a:t>
            </a:r>
            <a:endParaRPr/>
          </a:p>
        </p:txBody>
      </p:sp>
      <p:sp>
        <p:nvSpPr>
          <p:cNvPr id="195" name="Google Shape;195;p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solidFill>
                  <a:schemeClr val="dk1"/>
                </a:solidFill>
              </a:rPr>
              <a:t>The functions we have looked at so far were called with a fixed number of </a:t>
            </a:r>
            <a:r>
              <a:rPr i="1" lang="en-US">
                <a:solidFill>
                  <a:schemeClr val="dk1"/>
                </a:solidFill>
              </a:rPr>
              <a:t>positional arguments</a:t>
            </a:r>
            <a:r>
              <a:rPr lang="en-US">
                <a:solidFill>
                  <a:schemeClr val="dk1"/>
                </a:solidFill>
              </a:rPr>
              <a:t>.</a:t>
            </a:r>
            <a:endParaRPr/>
          </a:p>
          <a:p>
            <a:pPr indent="-127000" lvl="0" marL="91440" rtl="0" algn="l">
              <a:lnSpc>
                <a:spcPct val="90000"/>
              </a:lnSpc>
              <a:spcBef>
                <a:spcPts val="1400"/>
              </a:spcBef>
              <a:spcAft>
                <a:spcPts val="0"/>
              </a:spcAft>
              <a:buSzPts val="2000"/>
              <a:buChar char=" "/>
            </a:pPr>
            <a:br>
              <a:rPr lang="en-US">
                <a:solidFill>
                  <a:schemeClr val="dk1"/>
                </a:solidFill>
              </a:rPr>
            </a:br>
            <a:r>
              <a:rPr lang="en-US">
                <a:solidFill>
                  <a:schemeClr val="dk1"/>
                </a:solidFill>
              </a:rPr>
              <a:t>A </a:t>
            </a:r>
            <a:r>
              <a:rPr b="1" lang="en-US">
                <a:solidFill>
                  <a:srgbClr val="D4650A"/>
                </a:solidFill>
              </a:rPr>
              <a:t>positional argument</a:t>
            </a:r>
            <a:r>
              <a:rPr lang="en-US">
                <a:solidFill>
                  <a:schemeClr val="dk1"/>
                </a:solidFill>
              </a:rPr>
              <a:t> is an argument that is assigned to a particular parameter based on its position in the argument list,</a:t>
            </a:r>
            <a:endParaRPr/>
          </a:p>
        </p:txBody>
      </p:sp>
      <p:pic>
        <p:nvPicPr>
          <p:cNvPr id="196" name="Google Shape;196;p12"/>
          <p:cNvPicPr preferRelativeResize="0"/>
          <p:nvPr/>
        </p:nvPicPr>
        <p:blipFill rotWithShape="1">
          <a:blip r:embed="rId3">
            <a:alphaModFix/>
          </a:blip>
          <a:srcRect b="0" l="0" r="0" t="0"/>
          <a:stretch/>
        </p:blipFill>
        <p:spPr>
          <a:xfrm>
            <a:off x="1097280" y="3857414"/>
            <a:ext cx="6838950" cy="1619250"/>
          </a:xfrm>
          <a:prstGeom prst="rect">
            <a:avLst/>
          </a:prstGeom>
          <a:noFill/>
          <a:ln>
            <a:noFill/>
          </a:ln>
        </p:spPr>
      </p:pic>
      <p:sp>
        <p:nvSpPr>
          <p:cNvPr id="197" name="Google Shape;197;p12"/>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Keyword Arguments in Python</a:t>
            </a:r>
            <a:endParaRPr/>
          </a:p>
        </p:txBody>
      </p:sp>
      <p:sp>
        <p:nvSpPr>
          <p:cNvPr id="203" name="Google Shape;203;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solidFill>
                  <a:srgbClr val="002FC4"/>
                </a:solidFill>
              </a:rPr>
              <a:t>Python provides the option of calling any function by the use of </a:t>
            </a:r>
            <a:r>
              <a:rPr b="1" lang="en-US">
                <a:solidFill>
                  <a:srgbClr val="D4650A"/>
                </a:solidFill>
              </a:rPr>
              <a:t>keyword arguments</a:t>
            </a:r>
            <a:r>
              <a:rPr lang="en-US">
                <a:solidFill>
                  <a:schemeClr val="dk1"/>
                </a:solidFill>
              </a:rPr>
              <a:t>. A keyword argument is an argument that is specified by name, rather than as a positional argument.</a:t>
            </a:r>
            <a:endParaRPr/>
          </a:p>
          <a:p>
            <a:pPr indent="-127000" lvl="0" marL="91440" rtl="0" algn="l">
              <a:lnSpc>
                <a:spcPct val="90000"/>
              </a:lnSpc>
              <a:spcBef>
                <a:spcPts val="1400"/>
              </a:spcBef>
              <a:spcAft>
                <a:spcPts val="0"/>
              </a:spcAft>
              <a:buSzPts val="2000"/>
              <a:buChar char=" "/>
            </a:pPr>
            <a:br>
              <a:rPr lang="en-US">
                <a:solidFill>
                  <a:schemeClr val="dk1"/>
                </a:solidFill>
              </a:rPr>
            </a:br>
            <a:br>
              <a:rPr lang="en-US">
                <a:solidFill>
                  <a:schemeClr val="dk1"/>
                </a:solidFill>
              </a:rPr>
            </a:br>
            <a:br>
              <a:rPr lang="en-US">
                <a:solidFill>
                  <a:schemeClr val="dk1"/>
                </a:solidFill>
              </a:rPr>
            </a:br>
            <a:br>
              <a:rPr lang="en-US">
                <a:solidFill>
                  <a:schemeClr val="dk1"/>
                </a:solidFill>
              </a:rPr>
            </a:br>
            <a:br>
              <a:rPr lang="en-US">
                <a:solidFill>
                  <a:schemeClr val="dk1"/>
                </a:solidFill>
              </a:rPr>
            </a:br>
            <a:br>
              <a:rPr lang="en-US">
                <a:solidFill>
                  <a:schemeClr val="dk1"/>
                </a:solidFill>
              </a:rPr>
            </a:br>
            <a:br>
              <a:rPr lang="en-US">
                <a:solidFill>
                  <a:schemeClr val="dk1"/>
                </a:solidFill>
              </a:rPr>
            </a:br>
            <a:br>
              <a:rPr lang="en-US">
                <a:solidFill>
                  <a:schemeClr val="dk1"/>
                </a:solidFill>
              </a:rPr>
            </a:br>
            <a:r>
              <a:rPr lang="en-US"/>
              <a:t>This can be a useful way of calling a function if it is easier to remember the parameter names than it is to remember their order.</a:t>
            </a:r>
            <a:endParaRPr/>
          </a:p>
          <a:p>
            <a:pPr indent="0" lvl="0" marL="91440" rtl="0" algn="l">
              <a:lnSpc>
                <a:spcPct val="90000"/>
              </a:lnSpc>
              <a:spcBef>
                <a:spcPts val="1400"/>
              </a:spcBef>
              <a:spcAft>
                <a:spcPts val="0"/>
              </a:spcAft>
              <a:buSzPts val="2000"/>
              <a:buNone/>
            </a:pPr>
            <a:r>
              <a:t/>
            </a:r>
            <a:endParaRPr>
              <a:solidFill>
                <a:schemeClr val="dk1"/>
              </a:solidFill>
            </a:endParaRPr>
          </a:p>
        </p:txBody>
      </p:sp>
      <p:pic>
        <p:nvPicPr>
          <p:cNvPr id="204" name="Google Shape;204;p13"/>
          <p:cNvPicPr preferRelativeResize="0"/>
          <p:nvPr/>
        </p:nvPicPr>
        <p:blipFill rotWithShape="1">
          <a:blip r:embed="rId3">
            <a:alphaModFix/>
          </a:blip>
          <a:srcRect b="0" l="0" r="0" t="0"/>
          <a:stretch/>
        </p:blipFill>
        <p:spPr>
          <a:xfrm>
            <a:off x="1097280" y="3046820"/>
            <a:ext cx="8503920" cy="1647692"/>
          </a:xfrm>
          <a:prstGeom prst="rect">
            <a:avLst/>
          </a:prstGeom>
          <a:noFill/>
          <a:ln>
            <a:noFill/>
          </a:ln>
        </p:spPr>
      </p:pic>
      <p:sp>
        <p:nvSpPr>
          <p:cNvPr id="205" name="Google Shape;205;p13"/>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Default Arguments in Python</a:t>
            </a:r>
            <a:endParaRPr/>
          </a:p>
        </p:txBody>
      </p:sp>
      <p:sp>
        <p:nvSpPr>
          <p:cNvPr id="211" name="Google Shape;211;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br>
              <a:rPr lang="en-US"/>
            </a:br>
            <a:r>
              <a:rPr lang="en-US">
                <a:solidFill>
                  <a:schemeClr val="dk1"/>
                </a:solidFill>
              </a:rPr>
              <a:t>Python provides for </a:t>
            </a:r>
            <a:r>
              <a:rPr i="1" lang="en-US">
                <a:solidFill>
                  <a:schemeClr val="dk1"/>
                </a:solidFill>
              </a:rPr>
              <a:t>default arguments</a:t>
            </a:r>
            <a:r>
              <a:rPr lang="en-US">
                <a:solidFill>
                  <a:schemeClr val="dk1"/>
                </a:solidFill>
              </a:rPr>
              <a:t>. A </a:t>
            </a:r>
            <a:r>
              <a:rPr b="1" lang="en-US">
                <a:solidFill>
                  <a:srgbClr val="D4650A"/>
                </a:solidFill>
              </a:rPr>
              <a:t>default argument </a:t>
            </a:r>
            <a:r>
              <a:rPr lang="en-US">
                <a:solidFill>
                  <a:schemeClr val="dk1"/>
                </a:solidFill>
              </a:rPr>
              <a:t>is an argument that can be optionally provided.</a:t>
            </a:r>
            <a:endParaRPr sz="1100">
              <a:solidFill>
                <a:schemeClr val="dk1"/>
              </a:solidFill>
            </a:endParaRPr>
          </a:p>
          <a:p>
            <a:pPr indent="-21589" lvl="0" marL="91440" rtl="0" algn="l">
              <a:lnSpc>
                <a:spcPct val="90000"/>
              </a:lnSpc>
              <a:spcBef>
                <a:spcPts val="1400"/>
              </a:spcBef>
              <a:spcAft>
                <a:spcPts val="0"/>
              </a:spcAft>
              <a:buSzPts val="1100"/>
              <a:buNone/>
            </a:pPr>
            <a:r>
              <a:t/>
            </a:r>
            <a:endParaRPr sz="1100">
              <a:solidFill>
                <a:schemeClr val="dk1"/>
              </a:solidFill>
            </a:endParaRPr>
          </a:p>
          <a:p>
            <a:pPr indent="-21589" lvl="0" marL="91440" rtl="0" algn="l">
              <a:lnSpc>
                <a:spcPct val="90000"/>
              </a:lnSpc>
              <a:spcBef>
                <a:spcPts val="1400"/>
              </a:spcBef>
              <a:spcAft>
                <a:spcPts val="0"/>
              </a:spcAft>
              <a:buSzPts val="1100"/>
              <a:buNone/>
            </a:pPr>
            <a:r>
              <a:t/>
            </a:r>
            <a:endParaRPr sz="1100">
              <a:solidFill>
                <a:schemeClr val="dk1"/>
              </a:solidFill>
            </a:endParaRPr>
          </a:p>
          <a:p>
            <a:pPr indent="-21589" lvl="0" marL="91440" rtl="0" algn="l">
              <a:lnSpc>
                <a:spcPct val="90000"/>
              </a:lnSpc>
              <a:spcBef>
                <a:spcPts val="1400"/>
              </a:spcBef>
              <a:spcAft>
                <a:spcPts val="0"/>
              </a:spcAft>
              <a:buSzPts val="1100"/>
              <a:buNone/>
            </a:pPr>
            <a:r>
              <a:t/>
            </a:r>
            <a:endParaRPr sz="1100">
              <a:solidFill>
                <a:schemeClr val="dk1"/>
              </a:solidFill>
            </a:endParaRPr>
          </a:p>
          <a:p>
            <a:pPr indent="-21589" lvl="0" marL="91440" rtl="0" algn="l">
              <a:lnSpc>
                <a:spcPct val="90000"/>
              </a:lnSpc>
              <a:spcBef>
                <a:spcPts val="1400"/>
              </a:spcBef>
              <a:spcAft>
                <a:spcPts val="0"/>
              </a:spcAft>
              <a:buSzPts val="1100"/>
              <a:buNone/>
            </a:pPr>
            <a:r>
              <a:t/>
            </a:r>
            <a:endParaRPr sz="1100">
              <a:solidFill>
                <a:schemeClr val="dk1"/>
              </a:solidFill>
            </a:endParaRPr>
          </a:p>
          <a:p>
            <a:pPr indent="-21589" lvl="0" marL="91440" rtl="0" algn="l">
              <a:lnSpc>
                <a:spcPct val="90000"/>
              </a:lnSpc>
              <a:spcBef>
                <a:spcPts val="1400"/>
              </a:spcBef>
              <a:spcAft>
                <a:spcPts val="0"/>
              </a:spcAft>
              <a:buSzPts val="1100"/>
              <a:buNone/>
            </a:pPr>
            <a:r>
              <a:t/>
            </a:r>
            <a:endParaRPr sz="1100">
              <a:solidFill>
                <a:schemeClr val="dk1"/>
              </a:solidFill>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Parameter </a:t>
            </a:r>
            <a:r>
              <a:rPr lang="en-US">
                <a:latin typeface="Courier New"/>
                <a:ea typeface="Courier New"/>
                <a:cs typeface="Courier New"/>
                <a:sym typeface="Courier New"/>
              </a:rPr>
              <a:t>term </a:t>
            </a:r>
            <a:r>
              <a:rPr lang="en-US"/>
              <a:t>is assigned a default value, 20, and therefore is optionally provided when calling function </a:t>
            </a:r>
            <a:r>
              <a:rPr lang="en-US">
                <a:latin typeface="Courier New"/>
                <a:ea typeface="Courier New"/>
                <a:cs typeface="Courier New"/>
                <a:sym typeface="Courier New"/>
              </a:rPr>
              <a:t>mortgage_rate</a:t>
            </a:r>
            <a:r>
              <a:rPr lang="en-US"/>
              <a:t>. </a:t>
            </a:r>
            <a:endParaRPr/>
          </a:p>
          <a:p>
            <a:pPr indent="-127000" lvl="0" marL="91440" rtl="0" algn="l">
              <a:lnSpc>
                <a:spcPct val="90000"/>
              </a:lnSpc>
              <a:spcBef>
                <a:spcPts val="1400"/>
              </a:spcBef>
              <a:spcAft>
                <a:spcPts val="0"/>
              </a:spcAft>
              <a:buSzPts val="2000"/>
              <a:buChar char=" "/>
            </a:pPr>
            <a:r>
              <a:rPr lang="en-US">
                <a:solidFill>
                  <a:srgbClr val="002FC4"/>
                </a:solidFill>
              </a:rPr>
              <a:t>All positional arguments must come before any default arguments in a function definition.</a:t>
            </a:r>
            <a:endParaRPr/>
          </a:p>
          <a:p>
            <a:pPr indent="0" lvl="0" marL="91440" rtl="0" algn="l">
              <a:lnSpc>
                <a:spcPct val="90000"/>
              </a:lnSpc>
              <a:spcBef>
                <a:spcPts val="1400"/>
              </a:spcBef>
              <a:spcAft>
                <a:spcPts val="0"/>
              </a:spcAft>
              <a:buSzPts val="2000"/>
              <a:buNone/>
            </a:pPr>
            <a:r>
              <a:t/>
            </a:r>
            <a:endParaRPr>
              <a:solidFill>
                <a:schemeClr val="dk1"/>
              </a:solidFill>
            </a:endParaRPr>
          </a:p>
        </p:txBody>
      </p:sp>
      <p:pic>
        <p:nvPicPr>
          <p:cNvPr id="212" name="Google Shape;212;p14"/>
          <p:cNvPicPr preferRelativeResize="0"/>
          <p:nvPr/>
        </p:nvPicPr>
        <p:blipFill rotWithShape="1">
          <a:blip r:embed="rId3">
            <a:alphaModFix/>
          </a:blip>
          <a:srcRect b="0" l="0" r="0" t="0"/>
          <a:stretch/>
        </p:blipFill>
        <p:spPr>
          <a:xfrm>
            <a:off x="1097280" y="2870220"/>
            <a:ext cx="7296150" cy="1619250"/>
          </a:xfrm>
          <a:prstGeom prst="rect">
            <a:avLst/>
          </a:prstGeom>
          <a:noFill/>
          <a:ln>
            <a:noFill/>
          </a:ln>
        </p:spPr>
      </p:pic>
      <p:sp>
        <p:nvSpPr>
          <p:cNvPr id="213" name="Google Shape;213;p14"/>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Keyword Arguments in Python</a:t>
            </a:r>
            <a:endParaRPr/>
          </a:p>
        </p:txBody>
      </p:sp>
      <p:sp>
        <p:nvSpPr>
          <p:cNvPr id="219" name="Google Shape;219;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Char char=" "/>
            </a:pPr>
            <a:br>
              <a:rPr lang="en-US"/>
            </a:br>
            <a:r>
              <a:rPr lang="en-US">
                <a:solidFill>
                  <a:srgbClr val="002FC4"/>
                </a:solidFill>
              </a:rPr>
              <a:t>It is possible to call a function using both positional and keyword arguments. </a:t>
            </a:r>
            <a:r>
              <a:rPr lang="en-US">
                <a:solidFill>
                  <a:schemeClr val="dk1"/>
                </a:solidFill>
              </a:rPr>
              <a:t>However, all positional arguments must come before all keyword arguments in the function call</a:t>
            </a:r>
            <a:endParaRPr/>
          </a:p>
          <a:p>
            <a:pPr indent="0" lvl="0" marL="91440" rtl="0" algn="just">
              <a:lnSpc>
                <a:spcPct val="90000"/>
              </a:lnSpc>
              <a:spcBef>
                <a:spcPts val="1400"/>
              </a:spcBef>
              <a:spcAft>
                <a:spcPts val="0"/>
              </a:spcAft>
              <a:buSzPts val="2000"/>
              <a:buNone/>
            </a:pPr>
            <a:r>
              <a:t/>
            </a:r>
            <a:endParaRPr>
              <a:solidFill>
                <a:schemeClr val="dk1"/>
              </a:solidFill>
            </a:endParaRPr>
          </a:p>
          <a:p>
            <a:pPr indent="0" lvl="0" marL="91440" rtl="0" algn="just">
              <a:lnSpc>
                <a:spcPct val="90000"/>
              </a:lnSpc>
              <a:spcBef>
                <a:spcPts val="1400"/>
              </a:spcBef>
              <a:spcAft>
                <a:spcPts val="0"/>
              </a:spcAft>
              <a:buSzPts val="2000"/>
              <a:buNone/>
            </a:pPr>
            <a:r>
              <a:t/>
            </a:r>
            <a:endParaRPr>
              <a:solidFill>
                <a:schemeClr val="dk1"/>
              </a:solidFill>
            </a:endParaRPr>
          </a:p>
          <a:p>
            <a:pPr indent="0" lvl="0" marL="91440" rtl="0" algn="just">
              <a:lnSpc>
                <a:spcPct val="90000"/>
              </a:lnSpc>
              <a:spcBef>
                <a:spcPts val="1400"/>
              </a:spcBef>
              <a:spcAft>
                <a:spcPts val="0"/>
              </a:spcAft>
              <a:buSzPts val="2000"/>
              <a:buNone/>
            </a:pPr>
            <a:r>
              <a:t/>
            </a:r>
            <a:endParaRPr>
              <a:solidFill>
                <a:schemeClr val="dk1"/>
              </a:solidFill>
            </a:endParaRPr>
          </a:p>
          <a:p>
            <a:pPr indent="0" lvl="0" marL="91440" rtl="0" algn="just">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br>
              <a:rPr lang="en-US"/>
            </a:br>
            <a:r>
              <a:rPr lang="en-US"/>
              <a:t>This form of function call might be useful, for example, if you remember that the first argument is the loan amount, but you are not sure of the order of the last two arguments rate and term.</a:t>
            </a:r>
            <a:endParaRPr>
              <a:solidFill>
                <a:srgbClr val="002FC4"/>
              </a:solidFill>
            </a:endParaRPr>
          </a:p>
        </p:txBody>
      </p:sp>
      <p:pic>
        <p:nvPicPr>
          <p:cNvPr id="220" name="Google Shape;220;p15"/>
          <p:cNvPicPr preferRelativeResize="0"/>
          <p:nvPr/>
        </p:nvPicPr>
        <p:blipFill rotWithShape="1">
          <a:blip r:embed="rId3">
            <a:alphaModFix/>
          </a:blip>
          <a:srcRect b="0" l="0" r="0" t="0"/>
          <a:stretch/>
        </p:blipFill>
        <p:spPr>
          <a:xfrm>
            <a:off x="1097280" y="3028739"/>
            <a:ext cx="7696200" cy="1657350"/>
          </a:xfrm>
          <a:prstGeom prst="rect">
            <a:avLst/>
          </a:prstGeom>
          <a:noFill/>
          <a:ln>
            <a:noFill/>
          </a:ln>
        </p:spPr>
      </p:pic>
      <p:sp>
        <p:nvSpPr>
          <p:cNvPr id="221" name="Google Shape;221;p15"/>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Value Returning Functions</a:t>
            </a:r>
            <a:endParaRPr/>
          </a:p>
        </p:txBody>
      </p:sp>
      <p:sp>
        <p:nvSpPr>
          <p:cNvPr id="227" name="Google Shape;227;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Char char=" "/>
            </a:pPr>
            <a:br>
              <a:rPr lang="en-US"/>
            </a:br>
            <a:r>
              <a:rPr lang="en-US"/>
              <a:t>A </a:t>
            </a:r>
            <a:r>
              <a:rPr b="1" lang="en-US">
                <a:solidFill>
                  <a:srgbClr val="D4650A"/>
                </a:solidFill>
              </a:rPr>
              <a:t>value-returning function </a:t>
            </a:r>
            <a:r>
              <a:rPr lang="en-US">
                <a:solidFill>
                  <a:srgbClr val="002FC4"/>
                </a:solidFill>
              </a:rPr>
              <a:t>is a program routine called for its return value</a:t>
            </a:r>
            <a:r>
              <a:rPr lang="en-US"/>
              <a:t>, and is therefore similar to a mathematical function, e.g.,</a:t>
            </a:r>
            <a:endParaRPr/>
          </a:p>
          <a:p>
            <a:pPr indent="-127000" lvl="0" marL="91440" rtl="0" algn="just">
              <a:lnSpc>
                <a:spcPct val="90000"/>
              </a:lnSpc>
              <a:spcBef>
                <a:spcPts val="1400"/>
              </a:spcBef>
              <a:spcAft>
                <a:spcPts val="0"/>
              </a:spcAft>
              <a:buSzPts val="2000"/>
              <a:buChar char=" "/>
            </a:pPr>
            <a:br>
              <a:rPr lang="en-US"/>
            </a:br>
            <a:r>
              <a:rPr lang="en-US">
                <a:latin typeface="Courier New"/>
                <a:ea typeface="Courier New"/>
                <a:cs typeface="Courier New"/>
                <a:sym typeface="Courier New"/>
              </a:rPr>
              <a:t>f(x) = 2x </a:t>
            </a:r>
            <a:endParaRPr/>
          </a:p>
          <a:p>
            <a:pPr indent="0" lvl="0" marL="91440" rtl="0" algn="l">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lang="en-US"/>
              <a:t>In this notation, “x” stands for any numeric value that function f may be applied to, </a:t>
            </a:r>
            <a:endParaRPr/>
          </a:p>
          <a:p>
            <a:pPr indent="-127000" lvl="0" marL="91440" rtl="0" algn="l">
              <a:lnSpc>
                <a:spcPct val="90000"/>
              </a:lnSpc>
              <a:spcBef>
                <a:spcPts val="1400"/>
              </a:spcBef>
              <a:spcAft>
                <a:spcPts val="0"/>
              </a:spcAft>
              <a:buSzPts val="2000"/>
              <a:buChar char=" "/>
            </a:pPr>
            <a:br>
              <a:rPr lang="en-US"/>
            </a:br>
            <a:r>
              <a:rPr lang="en-US">
                <a:latin typeface="Courier New"/>
                <a:ea typeface="Courier New"/>
                <a:cs typeface="Courier New"/>
                <a:sym typeface="Courier New"/>
              </a:rPr>
              <a:t>f(2) = 2 x 2 = 4</a:t>
            </a:r>
            <a:br>
              <a:rPr lang="en-US"/>
            </a:br>
            <a:endParaRPr/>
          </a:p>
          <a:p>
            <a:pPr indent="-127000" lvl="0" marL="91440" rtl="0" algn="l">
              <a:lnSpc>
                <a:spcPct val="90000"/>
              </a:lnSpc>
              <a:spcBef>
                <a:spcPts val="1400"/>
              </a:spcBef>
              <a:spcAft>
                <a:spcPts val="0"/>
              </a:spcAft>
              <a:buSzPts val="2000"/>
              <a:buChar char=" "/>
            </a:pPr>
            <a:r>
              <a:rPr lang="en-US"/>
              <a:t>Program functions are similarly used.</a:t>
            </a:r>
            <a:endParaRPr/>
          </a:p>
          <a:p>
            <a:pPr indent="0" lvl="0" marL="91440" rtl="0" algn="l">
              <a:lnSpc>
                <a:spcPct val="90000"/>
              </a:lnSpc>
              <a:spcBef>
                <a:spcPts val="1400"/>
              </a:spcBef>
              <a:spcAft>
                <a:spcPts val="0"/>
              </a:spcAft>
              <a:buSzPts val="2000"/>
              <a:buNone/>
            </a:pPr>
            <a:r>
              <a:t/>
            </a:r>
            <a:endParaRPr/>
          </a:p>
        </p:txBody>
      </p:sp>
      <p:sp>
        <p:nvSpPr>
          <p:cNvPr id="228" name="Google Shape;228;p16"/>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Non-Value Returning Functions</a:t>
            </a:r>
            <a:endParaRPr/>
          </a:p>
        </p:txBody>
      </p:sp>
      <p:sp>
        <p:nvSpPr>
          <p:cNvPr id="234" name="Google Shape;234;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t>A </a:t>
            </a:r>
            <a:r>
              <a:rPr b="1" lang="en-US">
                <a:solidFill>
                  <a:srgbClr val="D4650A"/>
                </a:solidFill>
              </a:rPr>
              <a:t>non-value-returning function </a:t>
            </a:r>
            <a:r>
              <a:rPr lang="en-US"/>
              <a:t>is called not for a returned value, but for its </a:t>
            </a:r>
            <a:r>
              <a:rPr i="1" lang="en-US"/>
              <a:t>side effects.  A </a:t>
            </a:r>
            <a:r>
              <a:rPr b="1" lang="en-US">
                <a:solidFill>
                  <a:srgbClr val="D4650A"/>
                </a:solidFill>
              </a:rPr>
              <a:t>side effect</a:t>
            </a:r>
            <a:r>
              <a:rPr lang="en-US"/>
              <a:t> </a:t>
            </a:r>
            <a:r>
              <a:rPr lang="en-US">
                <a:solidFill>
                  <a:srgbClr val="002FC4"/>
                </a:solidFill>
              </a:rPr>
              <a:t>is an action other than returning a function value</a:t>
            </a:r>
            <a:r>
              <a:rPr lang="en-US"/>
              <a:t>, such as displaying output.</a:t>
            </a:r>
            <a:endParaRPr/>
          </a:p>
          <a:p>
            <a:pPr indent="-127000" lvl="0" marL="91440" rtl="0" algn="l">
              <a:lnSpc>
                <a:spcPct val="90000"/>
              </a:lnSpc>
              <a:spcBef>
                <a:spcPts val="1400"/>
              </a:spcBef>
              <a:spcAft>
                <a:spcPts val="0"/>
              </a:spcAft>
              <a:buSzPts val="2000"/>
              <a:buChar char=" "/>
            </a:pPr>
            <a:br>
              <a:rPr lang="en-US"/>
            </a:br>
            <a:endParaRPr/>
          </a:p>
        </p:txBody>
      </p:sp>
      <p:sp>
        <p:nvSpPr>
          <p:cNvPr id="235" name="Google Shape;235;p17"/>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pic>
        <p:nvPicPr>
          <p:cNvPr id="236" name="Google Shape;236;p17"/>
          <p:cNvPicPr preferRelativeResize="0"/>
          <p:nvPr/>
        </p:nvPicPr>
        <p:blipFill rotWithShape="1">
          <a:blip r:embed="rId3">
            <a:alphaModFix/>
          </a:blip>
          <a:srcRect b="0" l="0" r="0" t="0"/>
          <a:stretch/>
        </p:blipFill>
        <p:spPr>
          <a:xfrm>
            <a:off x="1354148" y="3484826"/>
            <a:ext cx="8592749" cy="14670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Function Calls Overview</a:t>
            </a:r>
            <a:endParaRPr/>
          </a:p>
        </p:txBody>
      </p:sp>
      <p:sp>
        <p:nvSpPr>
          <p:cNvPr id="242" name="Google Shape;242;p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Char char=" "/>
            </a:pPr>
            <a:br>
              <a:rPr b="1" lang="en-US"/>
            </a:br>
            <a:r>
              <a:rPr b="1" lang="en-US"/>
              <a:t>A call to a value-returning function is an expression</a:t>
            </a:r>
            <a:r>
              <a:rPr lang="en-US"/>
              <a:t>. It evaluates to the value returned by the function call. Thus, </a:t>
            </a:r>
            <a:r>
              <a:rPr lang="en-US">
                <a:solidFill>
                  <a:srgbClr val="002FC4"/>
                </a:solidFill>
              </a:rPr>
              <a:t>calls to value-returning functions are made part of a larger expression</a:t>
            </a:r>
            <a:r>
              <a:rPr lang="en-US"/>
              <a:t>:</a:t>
            </a:r>
            <a:endParaRPr/>
          </a:p>
          <a:p>
            <a:pPr indent="-88900" lvl="3" marL="749808" rtl="0" algn="l">
              <a:lnSpc>
                <a:spcPct val="90000"/>
              </a:lnSpc>
              <a:spcBef>
                <a:spcPts val="400"/>
              </a:spcBef>
              <a:spcAft>
                <a:spcPts val="0"/>
              </a:spcAft>
              <a:buSzPct val="100000"/>
              <a:buNone/>
            </a:pPr>
            <a:r>
              <a:t/>
            </a:r>
            <a:endParaRPr sz="1600"/>
          </a:p>
          <a:p>
            <a:pPr indent="0" lvl="3" marL="566928" rtl="0" algn="l">
              <a:lnSpc>
                <a:spcPct val="90000"/>
              </a:lnSpc>
              <a:spcBef>
                <a:spcPts val="600"/>
              </a:spcBef>
              <a:spcAft>
                <a:spcPts val="0"/>
              </a:spcAft>
              <a:buSzPct val="100000"/>
              <a:buNone/>
            </a:pPr>
            <a:r>
              <a:rPr lang="en-US" sz="2000">
                <a:latin typeface="Courier New"/>
                <a:ea typeface="Courier New"/>
                <a:cs typeface="Courier New"/>
                <a:sym typeface="Courier New"/>
              </a:rPr>
              <a:t>result = </a:t>
            </a:r>
            <a:r>
              <a:rPr b="1" lang="en-US" sz="2000">
                <a:solidFill>
                  <a:srgbClr val="D4650A"/>
                </a:solidFill>
                <a:latin typeface="Courier New"/>
                <a:ea typeface="Courier New"/>
                <a:cs typeface="Courier New"/>
                <a:sym typeface="Courier New"/>
              </a:rPr>
              <a:t>avg(10, 25, 16) </a:t>
            </a:r>
            <a:r>
              <a:rPr lang="en-US" sz="2000">
                <a:latin typeface="Courier New"/>
                <a:ea typeface="Courier New"/>
                <a:cs typeface="Courier New"/>
                <a:sym typeface="Courier New"/>
              </a:rPr>
              <a:t>* factor</a:t>
            </a:r>
            <a:endParaRPr sz="2000"/>
          </a:p>
          <a:p>
            <a:pPr indent="-117475" lvl="0" marL="91440" rtl="0" algn="l">
              <a:lnSpc>
                <a:spcPct val="90000"/>
              </a:lnSpc>
              <a:spcBef>
                <a:spcPts val="1600"/>
              </a:spcBef>
              <a:spcAft>
                <a:spcPts val="0"/>
              </a:spcAft>
              <a:buSzPct val="100000"/>
              <a:buChar char=" "/>
            </a:pPr>
            <a:br>
              <a:rPr lang="en-US"/>
            </a:br>
            <a:r>
              <a:rPr b="1" lang="en-US"/>
              <a:t>A call to a non-value-returning function is a statement</a:t>
            </a:r>
            <a:r>
              <a:rPr lang="en-US"/>
              <a:t>. Thus, </a:t>
            </a:r>
            <a:r>
              <a:rPr lang="en-US">
                <a:solidFill>
                  <a:srgbClr val="002FC4"/>
                </a:solidFill>
              </a:rPr>
              <a:t>calls to non-value-returning functions are written as a statement (instruction) on its own:</a:t>
            </a:r>
            <a:br>
              <a:rPr lang="en-US">
                <a:solidFill>
                  <a:srgbClr val="002FC4"/>
                </a:solidFill>
              </a:rPr>
            </a:br>
            <a:br>
              <a:rPr lang="en-US">
                <a:solidFill>
                  <a:srgbClr val="002FC4"/>
                </a:solidFill>
              </a:rPr>
            </a:br>
            <a:r>
              <a:rPr lang="en-US">
                <a:solidFill>
                  <a:srgbClr val="002FC4"/>
                </a:solidFill>
              </a:rPr>
              <a:t>       </a:t>
            </a:r>
            <a:r>
              <a:rPr b="1" lang="en-US">
                <a:solidFill>
                  <a:srgbClr val="D4650A"/>
                </a:solidFill>
                <a:latin typeface="Courier New"/>
                <a:ea typeface="Courier New"/>
                <a:cs typeface="Courier New"/>
                <a:sym typeface="Courier New"/>
              </a:rPr>
              <a:t>displayWelcome()</a:t>
            </a:r>
            <a:endParaRPr/>
          </a:p>
          <a:p>
            <a:pPr indent="0" lvl="0" marL="91440" rtl="0" algn="l">
              <a:lnSpc>
                <a:spcPct val="90000"/>
              </a:lnSpc>
              <a:spcBef>
                <a:spcPts val="1400"/>
              </a:spcBef>
              <a:spcAft>
                <a:spcPts val="0"/>
              </a:spcAft>
              <a:buSzPct val="100000"/>
              <a:buNone/>
            </a:pPr>
            <a:r>
              <a:t/>
            </a:r>
            <a:endParaRPr/>
          </a:p>
          <a:p>
            <a:pPr indent="-117475" lvl="0" marL="91440" rtl="0" algn="l">
              <a:lnSpc>
                <a:spcPct val="90000"/>
              </a:lnSpc>
              <a:spcBef>
                <a:spcPts val="1400"/>
              </a:spcBef>
              <a:spcAft>
                <a:spcPts val="0"/>
              </a:spcAft>
              <a:buSzPct val="100000"/>
              <a:buChar char=" "/>
            </a:pPr>
            <a:r>
              <a:rPr b="1" lang="en-US"/>
              <a:t>Technically, all functions in Python are value-returning</a:t>
            </a:r>
            <a:r>
              <a:rPr lang="en-US"/>
              <a:t>, since </a:t>
            </a:r>
            <a:r>
              <a:rPr lang="en-US">
                <a:solidFill>
                  <a:srgbClr val="002FC4"/>
                </a:solidFill>
              </a:rPr>
              <a:t>functions that do not return a value return special value </a:t>
            </a:r>
            <a:r>
              <a:rPr lang="en-US">
                <a:solidFill>
                  <a:srgbClr val="002FC4"/>
                </a:solidFill>
                <a:latin typeface="Courier New"/>
                <a:ea typeface="Courier New"/>
                <a:cs typeface="Courier New"/>
                <a:sym typeface="Courier New"/>
              </a:rPr>
              <a:t>None</a:t>
            </a:r>
            <a:r>
              <a:rPr lang="en-US"/>
              <a:t>.</a:t>
            </a:r>
            <a:endParaRPr/>
          </a:p>
        </p:txBody>
      </p:sp>
      <p:sp>
        <p:nvSpPr>
          <p:cNvPr id="243" name="Google Shape;243;p18"/>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Points to Ponder</a:t>
            </a:r>
            <a:endParaRPr/>
          </a:p>
        </p:txBody>
      </p:sp>
      <p:sp>
        <p:nvSpPr>
          <p:cNvPr id="249" name="Google Shape;249;p19"/>
          <p:cNvSpPr txBox="1"/>
          <p:nvPr>
            <p:ph idx="1" type="body"/>
          </p:nvPr>
        </p:nvSpPr>
        <p:spPr>
          <a:xfrm>
            <a:off x="1097280" y="1845734"/>
            <a:ext cx="10906652" cy="4023360"/>
          </a:xfrm>
          <a:prstGeom prst="rect">
            <a:avLst/>
          </a:prstGeom>
          <a:noFill/>
          <a:ln>
            <a:noFill/>
          </a:ln>
        </p:spPr>
        <p:txBody>
          <a:bodyPr anchorCtr="0" anchor="t" bIns="45700" lIns="0" spcFirstLastPara="1" rIns="0" wrap="square" tIns="45700">
            <a:normAutofit/>
          </a:bodyPr>
          <a:lstStyle/>
          <a:p>
            <a:pPr indent="-127000" lvl="0" marL="91440" rtl="0" algn="just">
              <a:lnSpc>
                <a:spcPct val="150000"/>
              </a:lnSpc>
              <a:spcBef>
                <a:spcPts val="0"/>
              </a:spcBef>
              <a:spcAft>
                <a:spcPts val="0"/>
              </a:spcAft>
              <a:buSzPts val="2000"/>
              <a:buChar char=" "/>
            </a:pPr>
            <a:r>
              <a:rPr i="0" lang="en-US" sz="2000" u="none" cap="none" strike="noStrike">
                <a:solidFill>
                  <a:schemeClr val="dk1"/>
                </a:solidFill>
                <a:latin typeface="Calibri"/>
                <a:ea typeface="Calibri"/>
                <a:cs typeface="Calibri"/>
                <a:sym typeface="Calibri"/>
              </a:rPr>
              <a:t>So far we have learnt that function may or may not have parameter(s) and a function may or may not return any value(s). In Python, as per our requirements, we can have the function in either of the following ways: </a:t>
            </a:r>
            <a:endParaRPr/>
          </a:p>
          <a:p>
            <a:pPr indent="-342900" lvl="1" marL="686308" rtl="0" algn="just">
              <a:lnSpc>
                <a:spcPct val="150000"/>
              </a:lnSpc>
              <a:spcBef>
                <a:spcPts val="200"/>
              </a:spcBef>
              <a:spcAft>
                <a:spcPts val="0"/>
              </a:spcAft>
              <a:buClr>
                <a:schemeClr val="dk1"/>
              </a:buClr>
              <a:buSzPts val="2800"/>
              <a:buFont typeface="Noto Sans Symbols"/>
              <a:buChar char="▪"/>
            </a:pPr>
            <a:r>
              <a:rPr b="1" i="0" lang="en-US" u="none" cap="none" strike="noStrike">
                <a:solidFill>
                  <a:schemeClr val="dk1"/>
                </a:solidFill>
                <a:latin typeface="Calibri"/>
                <a:ea typeface="Calibri"/>
                <a:cs typeface="Calibri"/>
                <a:sym typeface="Calibri"/>
              </a:rPr>
              <a:t>Function with no argument and no return value</a:t>
            </a:r>
            <a:endParaRPr/>
          </a:p>
          <a:p>
            <a:pPr indent="-342900" lvl="1" marL="686308" rtl="0" algn="just">
              <a:lnSpc>
                <a:spcPct val="150000"/>
              </a:lnSpc>
              <a:spcBef>
                <a:spcPts val="0"/>
              </a:spcBef>
              <a:spcAft>
                <a:spcPts val="0"/>
              </a:spcAft>
              <a:buClr>
                <a:schemeClr val="dk1"/>
              </a:buClr>
              <a:buSzPts val="2800"/>
              <a:buFont typeface="Noto Sans Symbols"/>
              <a:buChar char="▪"/>
            </a:pPr>
            <a:r>
              <a:rPr b="1" lang="en-US">
                <a:solidFill>
                  <a:schemeClr val="dk1"/>
                </a:solidFill>
                <a:latin typeface="Calibri"/>
                <a:ea typeface="Calibri"/>
                <a:cs typeface="Calibri"/>
                <a:sym typeface="Calibri"/>
              </a:rPr>
              <a:t>Function with no argument but return value</a:t>
            </a:r>
            <a:endParaRPr/>
          </a:p>
          <a:p>
            <a:pPr indent="-342900" lvl="1" marL="686308" rtl="0" algn="just">
              <a:lnSpc>
                <a:spcPct val="150000"/>
              </a:lnSpc>
              <a:spcBef>
                <a:spcPts val="0"/>
              </a:spcBef>
              <a:spcAft>
                <a:spcPts val="0"/>
              </a:spcAft>
              <a:buClr>
                <a:schemeClr val="dk1"/>
              </a:buClr>
              <a:buSzPts val="2800"/>
              <a:buFont typeface="Noto Sans Symbols"/>
              <a:buChar char="▪"/>
            </a:pPr>
            <a:r>
              <a:rPr b="1" i="0" lang="en-US" u="none" cap="none" strike="noStrike">
                <a:solidFill>
                  <a:schemeClr val="dk1"/>
                </a:solidFill>
                <a:latin typeface="Calibri"/>
                <a:ea typeface="Calibri"/>
                <a:cs typeface="Calibri"/>
                <a:sym typeface="Calibri"/>
              </a:rPr>
              <a:t>Function with argument(s) </a:t>
            </a:r>
            <a:r>
              <a:rPr b="1" lang="en-US">
                <a:solidFill>
                  <a:schemeClr val="dk1"/>
                </a:solidFill>
                <a:latin typeface="Calibri"/>
                <a:ea typeface="Calibri"/>
                <a:cs typeface="Calibri"/>
                <a:sym typeface="Calibri"/>
              </a:rPr>
              <a:t>but</a:t>
            </a:r>
            <a:r>
              <a:rPr b="1" i="0" lang="en-US" u="none" cap="none" strike="noStrike">
                <a:solidFill>
                  <a:schemeClr val="dk1"/>
                </a:solidFill>
                <a:latin typeface="Calibri"/>
                <a:ea typeface="Calibri"/>
                <a:cs typeface="Calibri"/>
                <a:sym typeface="Calibri"/>
              </a:rPr>
              <a:t> no return value</a:t>
            </a:r>
            <a:endParaRPr b="1"/>
          </a:p>
          <a:p>
            <a:pPr indent="-342900" lvl="1" marL="686308" rtl="0" algn="just">
              <a:lnSpc>
                <a:spcPct val="150000"/>
              </a:lnSpc>
              <a:spcBef>
                <a:spcPts val="0"/>
              </a:spcBef>
              <a:spcAft>
                <a:spcPts val="0"/>
              </a:spcAft>
              <a:buClr>
                <a:schemeClr val="dk1"/>
              </a:buClr>
              <a:buSzPts val="2800"/>
              <a:buFont typeface="Noto Sans Symbols"/>
              <a:buChar char="▪"/>
            </a:pPr>
            <a:r>
              <a:rPr b="1" i="0" lang="en-US" u="none" cap="none" strike="noStrike">
                <a:solidFill>
                  <a:schemeClr val="dk1"/>
                </a:solidFill>
                <a:latin typeface="Calibri"/>
                <a:ea typeface="Calibri"/>
                <a:cs typeface="Calibri"/>
                <a:sym typeface="Calibri"/>
              </a:rPr>
              <a:t>Function with argument(s) and return value(s)</a:t>
            </a:r>
            <a:endParaRPr/>
          </a:p>
          <a:p>
            <a:pPr indent="0" lvl="0" marL="91440" rtl="0" algn="just">
              <a:lnSpc>
                <a:spcPct val="150000"/>
              </a:lnSpc>
              <a:spcBef>
                <a:spcPts val="12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
        <p:nvSpPr>
          <p:cNvPr id="250" name="Google Shape;250;p19"/>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Variable Scope</a:t>
            </a:r>
            <a:endParaRPr/>
          </a:p>
        </p:txBody>
      </p:sp>
      <p:sp>
        <p:nvSpPr>
          <p:cNvPr id="256" name="Google Shape;256;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b="1" lang="en-US">
                <a:solidFill>
                  <a:srgbClr val="D4650A"/>
                </a:solidFill>
              </a:rPr>
              <a:t>Variable scope </a:t>
            </a:r>
            <a:r>
              <a:rPr lang="en-US"/>
              <a:t>has to do with the parts a program that a given variable is accessible.</a:t>
            </a:r>
            <a:endParaRPr/>
          </a:p>
          <a:p>
            <a:pPr indent="-127000" lvl="0" marL="91440" rtl="0" algn="l">
              <a:lnSpc>
                <a:spcPct val="90000"/>
              </a:lnSpc>
              <a:spcBef>
                <a:spcPts val="1400"/>
              </a:spcBef>
              <a:spcAft>
                <a:spcPts val="0"/>
              </a:spcAft>
              <a:buSzPts val="2000"/>
              <a:buChar char=" "/>
            </a:pPr>
            <a:br>
              <a:rPr lang="en-US">
                <a:solidFill>
                  <a:srgbClr val="002FC4"/>
                </a:solidFill>
              </a:rPr>
            </a:br>
            <a:r>
              <a:rPr lang="en-US">
                <a:solidFill>
                  <a:srgbClr val="002FC4"/>
                </a:solidFill>
              </a:rPr>
              <a:t>A</a:t>
            </a:r>
            <a:r>
              <a:rPr lang="en-US"/>
              <a:t> </a:t>
            </a:r>
            <a:r>
              <a:rPr b="1" lang="en-US">
                <a:solidFill>
                  <a:srgbClr val="D4650A"/>
                </a:solidFill>
              </a:rPr>
              <a:t>local variable </a:t>
            </a:r>
            <a:r>
              <a:rPr lang="en-US">
                <a:solidFill>
                  <a:srgbClr val="002FC4"/>
                </a:solidFill>
              </a:rPr>
              <a:t>is a variable that is only accessible from within a given function</a:t>
            </a:r>
            <a:r>
              <a:rPr lang="en-US"/>
              <a:t>. Such variables are said to have </a:t>
            </a:r>
            <a:r>
              <a:rPr b="1" lang="en-US">
                <a:solidFill>
                  <a:srgbClr val="D4650A"/>
                </a:solidFill>
              </a:rPr>
              <a:t>local scope</a:t>
            </a:r>
            <a:r>
              <a:rPr lang="en-US"/>
              <a:t>. In Python, any variable assigned a value in a function becomes a local variable of the function.</a:t>
            </a:r>
            <a:endParaRPr/>
          </a:p>
          <a:p>
            <a:pPr indent="-127000" lvl="0" marL="91440" rtl="0" algn="l">
              <a:lnSpc>
                <a:spcPct val="90000"/>
              </a:lnSpc>
              <a:spcBef>
                <a:spcPts val="1400"/>
              </a:spcBef>
              <a:spcAft>
                <a:spcPts val="0"/>
              </a:spcAft>
              <a:buSzPts val="2000"/>
              <a:buChar char=" "/>
            </a:pPr>
            <a:br>
              <a:rPr lang="en-US"/>
            </a:br>
            <a:r>
              <a:rPr lang="en-US"/>
              <a:t>What does this mean then? </a:t>
            </a:r>
            <a:endParaRPr/>
          </a:p>
          <a:p>
            <a:pPr indent="-127000" lvl="0" marL="91440" rtl="0" algn="l">
              <a:lnSpc>
                <a:spcPct val="90000"/>
              </a:lnSpc>
              <a:spcBef>
                <a:spcPts val="1400"/>
              </a:spcBef>
              <a:spcAft>
                <a:spcPts val="0"/>
              </a:spcAft>
              <a:buSzPts val="2000"/>
              <a:buChar char=" "/>
            </a:pPr>
            <a:br>
              <a:rPr lang="en-US"/>
            </a:br>
            <a:r>
              <a:rPr lang="en-US"/>
              <a:t>Local variables are only accessible inside the functions they are defined within.</a:t>
            </a:r>
            <a:endParaRPr/>
          </a:p>
          <a:p>
            <a:pPr indent="0" lvl="0" marL="91440" rtl="0" algn="l">
              <a:lnSpc>
                <a:spcPct val="90000"/>
              </a:lnSpc>
              <a:spcBef>
                <a:spcPts val="1400"/>
              </a:spcBef>
              <a:spcAft>
                <a:spcPts val="0"/>
              </a:spcAft>
              <a:buSzPts val="2000"/>
              <a:buNone/>
            </a:pPr>
            <a:r>
              <a:t/>
            </a:r>
            <a:endParaRPr>
              <a:solidFill>
                <a:srgbClr val="002FC4"/>
              </a:solidFill>
            </a:endParaRPr>
          </a:p>
        </p:txBody>
      </p:sp>
      <p:sp>
        <p:nvSpPr>
          <p:cNvPr id="257" name="Google Shape;257;p20"/>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nvSpPr>
        <p:spPr>
          <a:xfrm>
            <a:off x="1097280" y="1630017"/>
            <a:ext cx="10245781" cy="369332"/>
          </a:xfrm>
          <a:prstGeom prst="rect">
            <a:avLst/>
          </a:prstGeom>
          <a:solidFill>
            <a:srgbClr val="F9F9F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21"/>
          <p:cNvSpPr txBox="1"/>
          <p:nvPr>
            <p:ph idx="1" type="body"/>
          </p:nvPr>
        </p:nvSpPr>
        <p:spPr>
          <a:xfrm>
            <a:off x="1097280" y="1845733"/>
            <a:ext cx="10058400" cy="4350785"/>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br>
              <a:rPr lang="en-US"/>
            </a:br>
            <a:endParaRPr/>
          </a:p>
          <a:p>
            <a:pPr indent="0" lvl="0" marL="91440" rtl="0" algn="l">
              <a:lnSpc>
                <a:spcPct val="90000"/>
              </a:lnSpc>
              <a:spcBef>
                <a:spcPts val="1400"/>
              </a:spcBef>
              <a:spcAft>
                <a:spcPts val="0"/>
              </a:spcAft>
              <a:buSzPts val="2000"/>
              <a:buNone/>
            </a:pPr>
            <a:r>
              <a:t/>
            </a:r>
            <a:endParaRPr>
              <a:solidFill>
                <a:srgbClr val="002FC4"/>
              </a:solidFill>
            </a:endParaRPr>
          </a:p>
          <a:p>
            <a:pPr indent="0" lvl="0" marL="91440" rtl="0" algn="l">
              <a:lnSpc>
                <a:spcPct val="90000"/>
              </a:lnSpc>
              <a:spcBef>
                <a:spcPts val="1400"/>
              </a:spcBef>
              <a:spcAft>
                <a:spcPts val="0"/>
              </a:spcAft>
              <a:buSzPts val="2000"/>
              <a:buNone/>
            </a:pPr>
            <a:r>
              <a:t/>
            </a:r>
            <a:endParaRPr>
              <a:solidFill>
                <a:srgbClr val="002FC4"/>
              </a:solidFill>
            </a:endParaRPr>
          </a:p>
          <a:p>
            <a:pPr indent="0" lvl="0" marL="91440" rtl="0" algn="l">
              <a:lnSpc>
                <a:spcPct val="90000"/>
              </a:lnSpc>
              <a:spcBef>
                <a:spcPts val="1400"/>
              </a:spcBef>
              <a:spcAft>
                <a:spcPts val="0"/>
              </a:spcAft>
              <a:buSzPts val="2000"/>
              <a:buNone/>
            </a:pPr>
            <a:r>
              <a:t/>
            </a:r>
            <a:endParaRPr>
              <a:solidFill>
                <a:srgbClr val="002FC4"/>
              </a:solidFill>
            </a:endParaRPr>
          </a:p>
          <a:p>
            <a:pPr indent="-127000" lvl="0" marL="91440" rtl="0" algn="l">
              <a:lnSpc>
                <a:spcPct val="90000"/>
              </a:lnSpc>
              <a:spcBef>
                <a:spcPts val="1400"/>
              </a:spcBef>
              <a:spcAft>
                <a:spcPts val="0"/>
              </a:spcAft>
              <a:buSzPts val="2000"/>
              <a:buChar char=" "/>
            </a:pPr>
            <a:r>
              <a:rPr lang="en-US">
                <a:solidFill>
                  <a:srgbClr val="002FC4"/>
                </a:solidFill>
              </a:rPr>
              <a:t>Both</a:t>
            </a:r>
            <a:r>
              <a:rPr lang="en-US"/>
              <a:t> </a:t>
            </a:r>
            <a:r>
              <a:rPr b="1" lang="en-US">
                <a:solidFill>
                  <a:srgbClr val="D4650A"/>
                </a:solidFill>
                <a:latin typeface="Courier New"/>
                <a:ea typeface="Courier New"/>
                <a:cs typeface="Courier New"/>
                <a:sym typeface="Courier New"/>
              </a:rPr>
              <a:t>func1</a:t>
            </a:r>
            <a:r>
              <a:rPr lang="en-US"/>
              <a:t> </a:t>
            </a:r>
            <a:r>
              <a:rPr lang="en-US">
                <a:solidFill>
                  <a:srgbClr val="002FC4"/>
                </a:solidFill>
              </a:rPr>
              <a:t>and</a:t>
            </a:r>
            <a:r>
              <a:rPr lang="en-US"/>
              <a:t> </a:t>
            </a:r>
            <a:r>
              <a:rPr b="1" lang="en-US">
                <a:solidFill>
                  <a:srgbClr val="D4650A"/>
                </a:solidFill>
                <a:latin typeface="Courier New"/>
                <a:ea typeface="Courier New"/>
                <a:cs typeface="Courier New"/>
                <a:sym typeface="Courier New"/>
              </a:rPr>
              <a:t>func</a:t>
            </a:r>
            <a:r>
              <a:rPr b="1" lang="en-US">
                <a:solidFill>
                  <a:srgbClr val="D4650A"/>
                </a:solidFill>
              </a:rPr>
              <a:t>2</a:t>
            </a:r>
            <a:r>
              <a:rPr lang="en-US"/>
              <a:t> </a:t>
            </a:r>
            <a:r>
              <a:rPr lang="en-US">
                <a:solidFill>
                  <a:srgbClr val="002FC4"/>
                </a:solidFill>
              </a:rPr>
              <a:t>contain</a:t>
            </a:r>
            <a:r>
              <a:rPr lang="en-US"/>
              <a:t> </a:t>
            </a:r>
            <a:r>
              <a:rPr lang="en-US">
                <a:solidFill>
                  <a:srgbClr val="002FC4"/>
                </a:solidFill>
              </a:rPr>
              <a:t>identifier </a:t>
            </a:r>
            <a:r>
              <a:rPr lang="en-US">
                <a:solidFill>
                  <a:srgbClr val="002FC4"/>
                </a:solidFill>
                <a:latin typeface="Courier New"/>
                <a:ea typeface="Courier New"/>
                <a:cs typeface="Courier New"/>
                <a:sym typeface="Courier New"/>
              </a:rPr>
              <a:t>n</a:t>
            </a:r>
            <a:r>
              <a:rPr lang="en-US">
                <a:solidFill>
                  <a:srgbClr val="002FC4"/>
                </a:solidFill>
              </a:rPr>
              <a:t>.</a:t>
            </a:r>
            <a:r>
              <a:rPr lang="en-US"/>
              <a:t> Function </a:t>
            </a:r>
            <a:r>
              <a:rPr b="1" lang="en-US">
                <a:solidFill>
                  <a:srgbClr val="D4650A"/>
                </a:solidFill>
                <a:latin typeface="Courier New"/>
                <a:ea typeface="Courier New"/>
                <a:cs typeface="Courier New"/>
                <a:sym typeface="Courier New"/>
              </a:rPr>
              <a:t>func1</a:t>
            </a:r>
            <a:r>
              <a:rPr lang="en-US"/>
              <a:t> assigns </a:t>
            </a:r>
            <a:r>
              <a:rPr lang="en-US">
                <a:latin typeface="Courier New"/>
                <a:ea typeface="Courier New"/>
                <a:cs typeface="Courier New"/>
                <a:sym typeface="Courier New"/>
              </a:rPr>
              <a:t>n</a:t>
            </a:r>
            <a:r>
              <a:rPr lang="en-US"/>
              <a:t> to 10, while function </a:t>
            </a:r>
            <a:r>
              <a:rPr b="1" lang="en-US">
                <a:solidFill>
                  <a:srgbClr val="D4650A"/>
                </a:solidFill>
                <a:latin typeface="Courier New"/>
                <a:ea typeface="Courier New"/>
                <a:cs typeface="Courier New"/>
                <a:sym typeface="Courier New"/>
              </a:rPr>
              <a:t>func2</a:t>
            </a:r>
            <a:r>
              <a:rPr lang="en-US"/>
              <a:t> assigns </a:t>
            </a:r>
            <a:r>
              <a:rPr lang="en-US">
                <a:latin typeface="Courier New"/>
                <a:ea typeface="Courier New"/>
                <a:cs typeface="Courier New"/>
                <a:sym typeface="Courier New"/>
              </a:rPr>
              <a:t>n</a:t>
            </a:r>
            <a:r>
              <a:rPr lang="en-US"/>
              <a:t> to 20. Both functions display the value of </a:t>
            </a:r>
            <a:r>
              <a:rPr lang="en-US">
                <a:latin typeface="Courier New"/>
                <a:ea typeface="Courier New"/>
                <a:cs typeface="Courier New"/>
                <a:sym typeface="Courier New"/>
              </a:rPr>
              <a:t>n</a:t>
            </a:r>
            <a:r>
              <a:rPr lang="en-US"/>
              <a:t> when called—</a:t>
            </a:r>
            <a:r>
              <a:rPr b="1" lang="en-US">
                <a:solidFill>
                  <a:srgbClr val="D4650A"/>
                </a:solidFill>
                <a:latin typeface="Courier New"/>
                <a:ea typeface="Courier New"/>
                <a:cs typeface="Courier New"/>
                <a:sym typeface="Courier New"/>
              </a:rPr>
              <a:t>func2</a:t>
            </a:r>
            <a:r>
              <a:rPr lang="en-US"/>
              <a:t> displays the value of </a:t>
            </a:r>
            <a:r>
              <a:rPr lang="en-US">
                <a:latin typeface="Courier New"/>
                <a:ea typeface="Courier New"/>
                <a:cs typeface="Courier New"/>
                <a:sym typeface="Courier New"/>
              </a:rPr>
              <a:t>n</a:t>
            </a:r>
            <a:r>
              <a:rPr lang="en-US"/>
              <a:t> both </a:t>
            </a:r>
            <a:r>
              <a:rPr i="1" lang="en-US"/>
              <a:t>before and after its call to func1. </a:t>
            </a:r>
            <a:r>
              <a:rPr lang="en-US">
                <a:solidFill>
                  <a:srgbClr val="002FC4"/>
                </a:solidFill>
              </a:rPr>
              <a:t>If identifier </a:t>
            </a:r>
            <a:r>
              <a:rPr lang="en-US">
                <a:solidFill>
                  <a:srgbClr val="002FC4"/>
                </a:solidFill>
                <a:latin typeface="Courier New"/>
                <a:ea typeface="Courier New"/>
                <a:cs typeface="Courier New"/>
                <a:sym typeface="Courier New"/>
              </a:rPr>
              <a:t>n</a:t>
            </a:r>
            <a:r>
              <a:rPr lang="en-US">
                <a:solidFill>
                  <a:srgbClr val="002FC4"/>
                </a:solidFill>
              </a:rPr>
              <a:t> represents the same variable, then shouldn’t its value change to 10 after the call to </a:t>
            </a:r>
            <a:r>
              <a:rPr b="1" lang="en-US">
                <a:solidFill>
                  <a:srgbClr val="D4650A"/>
                </a:solidFill>
                <a:latin typeface="Courier New"/>
                <a:ea typeface="Courier New"/>
                <a:cs typeface="Courier New"/>
                <a:sym typeface="Courier New"/>
              </a:rPr>
              <a:t>func1</a:t>
            </a:r>
            <a:r>
              <a:rPr lang="en-US">
                <a:solidFill>
                  <a:srgbClr val="002FC4"/>
                </a:solidFill>
              </a:rPr>
              <a:t>? </a:t>
            </a:r>
            <a:endParaRPr/>
          </a:p>
          <a:p>
            <a:pPr indent="-127000" lvl="0" marL="91440" rtl="0" algn="l">
              <a:lnSpc>
                <a:spcPct val="90000"/>
              </a:lnSpc>
              <a:spcBef>
                <a:spcPts val="1400"/>
              </a:spcBef>
              <a:spcAft>
                <a:spcPts val="0"/>
              </a:spcAft>
              <a:buSzPts val="2000"/>
              <a:buChar char=" "/>
            </a:pPr>
            <a:br>
              <a:rPr b="1" lang="en-US">
                <a:solidFill>
                  <a:srgbClr val="002FC4"/>
                </a:solidFill>
              </a:rPr>
            </a:br>
            <a:r>
              <a:rPr b="1" lang="en-US"/>
              <a:t>The execution of </a:t>
            </a:r>
            <a:r>
              <a:rPr b="1" lang="en-US">
                <a:solidFill>
                  <a:srgbClr val="D4650A"/>
                </a:solidFill>
                <a:latin typeface="Courier New"/>
                <a:ea typeface="Courier New"/>
                <a:cs typeface="Courier New"/>
                <a:sym typeface="Courier New"/>
              </a:rPr>
              <a:t>func2</a:t>
            </a:r>
            <a:r>
              <a:rPr b="1" lang="en-US"/>
              <a:t>, however, shows that the value of </a:t>
            </a:r>
            <a:r>
              <a:rPr b="1" lang="en-US">
                <a:latin typeface="Courier New"/>
                <a:ea typeface="Courier New"/>
                <a:cs typeface="Courier New"/>
                <a:sym typeface="Courier New"/>
              </a:rPr>
              <a:t>n</a:t>
            </a:r>
            <a:r>
              <a:rPr b="1" lang="en-US"/>
              <a:t> remains unchanged.</a:t>
            </a:r>
            <a:endParaRPr/>
          </a:p>
          <a:p>
            <a:pPr indent="0" lvl="0" marL="91440" rtl="0" algn="l">
              <a:lnSpc>
                <a:spcPct val="90000"/>
              </a:lnSpc>
              <a:spcBef>
                <a:spcPts val="1400"/>
              </a:spcBef>
              <a:spcAft>
                <a:spcPts val="0"/>
              </a:spcAft>
              <a:buSzPts val="2000"/>
              <a:buNone/>
            </a:pPr>
            <a:r>
              <a:t/>
            </a:r>
            <a:endParaRPr/>
          </a:p>
        </p:txBody>
      </p:sp>
      <p:pic>
        <p:nvPicPr>
          <p:cNvPr id="264" name="Google Shape;264;p21"/>
          <p:cNvPicPr preferRelativeResize="0"/>
          <p:nvPr/>
        </p:nvPicPr>
        <p:blipFill rotWithShape="1">
          <a:blip r:embed="rId3">
            <a:alphaModFix/>
          </a:blip>
          <a:srcRect b="0" l="0" r="0" t="0"/>
          <a:stretch/>
        </p:blipFill>
        <p:spPr>
          <a:xfrm>
            <a:off x="1097280" y="809755"/>
            <a:ext cx="6373563" cy="3217981"/>
          </a:xfrm>
          <a:prstGeom prst="rect">
            <a:avLst/>
          </a:prstGeom>
          <a:noFill/>
          <a:ln>
            <a:noFill/>
          </a:ln>
        </p:spPr>
      </p:pic>
      <p:sp>
        <p:nvSpPr>
          <p:cNvPr id="265" name="Google Shape;265;p21"/>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nvSpPr>
        <p:spPr>
          <a:xfrm>
            <a:off x="1097281" y="1590261"/>
            <a:ext cx="10058400" cy="369332"/>
          </a:xfrm>
          <a:prstGeom prst="rect">
            <a:avLst/>
          </a:prstGeom>
          <a:solidFill>
            <a:srgbClr val="F9F9F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22"/>
          <p:cNvSpPr txBox="1"/>
          <p:nvPr>
            <p:ph idx="1" type="body"/>
          </p:nvPr>
        </p:nvSpPr>
        <p:spPr>
          <a:xfrm>
            <a:off x="1097280" y="286603"/>
            <a:ext cx="10058400" cy="5782893"/>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t>Now consider the following:</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br>
              <a:rPr lang="en-US"/>
            </a:br>
            <a:r>
              <a:rPr lang="en-US"/>
              <a:t>In this case, when func2 is called, we get an error that variable n is not defined within func1. </a:t>
            </a:r>
            <a:r>
              <a:rPr lang="en-US">
                <a:solidFill>
                  <a:srgbClr val="002FC4"/>
                </a:solidFill>
              </a:rPr>
              <a:t>This is because variable n defined in func2 is inaccessible from func1</a:t>
            </a:r>
            <a:r>
              <a:rPr lang="en-US"/>
              <a:t>. </a:t>
            </a:r>
            <a:endParaRPr/>
          </a:p>
          <a:p>
            <a:pPr indent="0" lvl="0" marL="91440" rtl="0" algn="l">
              <a:lnSpc>
                <a:spcPct val="90000"/>
              </a:lnSpc>
              <a:spcBef>
                <a:spcPts val="1400"/>
              </a:spcBef>
              <a:spcAft>
                <a:spcPts val="0"/>
              </a:spcAft>
              <a:buSzPts val="2000"/>
              <a:buNone/>
            </a:pPr>
            <a:r>
              <a:t/>
            </a:r>
            <a:endParaRPr/>
          </a:p>
        </p:txBody>
      </p:sp>
      <p:pic>
        <p:nvPicPr>
          <p:cNvPr id="272" name="Google Shape;272;p22"/>
          <p:cNvPicPr preferRelativeResize="0"/>
          <p:nvPr/>
        </p:nvPicPr>
        <p:blipFill rotWithShape="1">
          <a:blip r:embed="rId3">
            <a:alphaModFix/>
          </a:blip>
          <a:srcRect b="0" l="0" r="0" t="0"/>
          <a:stretch/>
        </p:blipFill>
        <p:spPr>
          <a:xfrm>
            <a:off x="1097280" y="1013614"/>
            <a:ext cx="7372350" cy="4181475"/>
          </a:xfrm>
          <a:prstGeom prst="rect">
            <a:avLst/>
          </a:prstGeom>
          <a:noFill/>
          <a:ln>
            <a:noFill/>
          </a:ln>
        </p:spPr>
      </p:pic>
      <p:sp>
        <p:nvSpPr>
          <p:cNvPr id="273" name="Google Shape;273;p22"/>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Global Variables and Global Scope</a:t>
            </a:r>
            <a:endParaRPr/>
          </a:p>
        </p:txBody>
      </p:sp>
      <p:sp>
        <p:nvSpPr>
          <p:cNvPr id="279" name="Google Shape;279;p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t>A</a:t>
            </a:r>
            <a:r>
              <a:rPr lang="en-US">
                <a:solidFill>
                  <a:srgbClr val="002FC4"/>
                </a:solidFill>
              </a:rPr>
              <a:t> </a:t>
            </a:r>
            <a:r>
              <a:rPr b="1" lang="en-US">
                <a:solidFill>
                  <a:srgbClr val="D4650A"/>
                </a:solidFill>
              </a:rPr>
              <a:t>global variable </a:t>
            </a:r>
            <a:r>
              <a:rPr lang="en-US"/>
              <a:t>is </a:t>
            </a:r>
            <a:r>
              <a:rPr lang="en-US">
                <a:solidFill>
                  <a:srgbClr val="002FC4"/>
                </a:solidFill>
              </a:rPr>
              <a:t>a variable that is defined outside of any function definition</a:t>
            </a:r>
            <a:r>
              <a:rPr lang="en-US"/>
              <a:t>.</a:t>
            </a:r>
            <a:endParaRPr/>
          </a:p>
          <a:p>
            <a:pPr indent="-127000" lvl="0" marL="91440" rtl="0" algn="l">
              <a:lnSpc>
                <a:spcPct val="90000"/>
              </a:lnSpc>
              <a:spcBef>
                <a:spcPts val="1400"/>
              </a:spcBef>
              <a:spcAft>
                <a:spcPts val="0"/>
              </a:spcAft>
              <a:buSzPts val="2000"/>
              <a:buChar char=" "/>
            </a:pPr>
            <a:br>
              <a:rPr lang="en-US"/>
            </a:br>
            <a:r>
              <a:rPr lang="en-US"/>
              <a:t>Such variables are said to have </a:t>
            </a:r>
            <a:r>
              <a:rPr b="1" lang="en-US">
                <a:solidFill>
                  <a:srgbClr val="D4650A"/>
                </a:solidFill>
              </a:rPr>
              <a:t>global scope</a:t>
            </a:r>
            <a:r>
              <a:rPr lang="en-US"/>
              <a:t>.</a:t>
            </a:r>
            <a:endParaRPr>
              <a:solidFill>
                <a:srgbClr val="002FC4"/>
              </a:solidFill>
            </a:endParaRPr>
          </a:p>
        </p:txBody>
      </p:sp>
      <p:sp>
        <p:nvSpPr>
          <p:cNvPr id="280" name="Google Shape;280;p23"/>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4"/>
          <p:cNvSpPr txBox="1"/>
          <p:nvPr/>
        </p:nvSpPr>
        <p:spPr>
          <a:xfrm>
            <a:off x="1097280" y="1669774"/>
            <a:ext cx="10232529" cy="369332"/>
          </a:xfrm>
          <a:prstGeom prst="rect">
            <a:avLst/>
          </a:prstGeom>
          <a:solidFill>
            <a:srgbClr val="F9F9F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0" lvl="0" marL="91440" rtl="0" algn="l">
              <a:lnSpc>
                <a:spcPct val="90000"/>
              </a:lnSpc>
              <a:spcBef>
                <a:spcPts val="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lang="en-US">
                <a:solidFill>
                  <a:srgbClr val="002FC4"/>
                </a:solidFill>
              </a:rPr>
              <a:t>Variable</a:t>
            </a:r>
            <a:r>
              <a:rPr lang="en-US"/>
              <a:t> </a:t>
            </a:r>
            <a:r>
              <a:rPr b="1" lang="en-US">
                <a:solidFill>
                  <a:srgbClr val="D4650A"/>
                </a:solidFill>
              </a:rPr>
              <a:t>max</a:t>
            </a:r>
            <a:r>
              <a:rPr lang="en-US"/>
              <a:t> </a:t>
            </a:r>
            <a:r>
              <a:rPr lang="en-US">
                <a:solidFill>
                  <a:srgbClr val="002FC4"/>
                </a:solidFill>
              </a:rPr>
              <a:t>is defined outside func1 and func2, and therefore “global” to each</a:t>
            </a:r>
            <a:r>
              <a:rPr lang="en-US"/>
              <a:t>. Thus, it is referred to as a </a:t>
            </a:r>
            <a:r>
              <a:rPr b="1" lang="en-US">
                <a:solidFill>
                  <a:srgbClr val="D4650A"/>
                </a:solidFill>
              </a:rPr>
              <a:t>global variable</a:t>
            </a:r>
            <a:r>
              <a:rPr lang="en-US"/>
              <a:t>. As a result, it is directly accessible by both functions. </a:t>
            </a:r>
            <a:endParaRPr/>
          </a:p>
          <a:p>
            <a:pPr indent="-127000" lvl="0" marL="91440" rtl="0" algn="just">
              <a:lnSpc>
                <a:spcPct val="90000"/>
              </a:lnSpc>
              <a:spcBef>
                <a:spcPts val="1400"/>
              </a:spcBef>
              <a:spcAft>
                <a:spcPts val="0"/>
              </a:spcAft>
              <a:buSzPts val="2000"/>
              <a:buChar char=" "/>
            </a:pPr>
            <a:r>
              <a:rPr b="1" lang="en-US"/>
              <a:t>The use of global variables is generally considered to be bad programming style</a:t>
            </a:r>
            <a:r>
              <a:rPr i="1" lang="en-US"/>
              <a:t>. </a:t>
            </a:r>
            <a:r>
              <a:rPr lang="en-US"/>
              <a:t>Although it provides a convenient way to share values among functions, all functions within the scope of a global variable can access and alter it. This may include functions that have no need to access the variable, but none-the-less may unintentionally alter it.</a:t>
            </a:r>
            <a:endParaRPr/>
          </a:p>
          <a:p>
            <a:pPr indent="-127000" lvl="0" marL="91440" rtl="0" algn="just">
              <a:lnSpc>
                <a:spcPct val="90000"/>
              </a:lnSpc>
              <a:spcBef>
                <a:spcPts val="1400"/>
              </a:spcBef>
              <a:spcAft>
                <a:spcPts val="0"/>
              </a:spcAft>
              <a:buSzPts val="2000"/>
              <a:buChar char=" "/>
            </a:pPr>
            <a:r>
              <a:rPr b="1" lang="en-US"/>
              <a:t>Another reason that the use of global variables is bad practice is related to code reuse</a:t>
            </a:r>
            <a:r>
              <a:rPr lang="en-US"/>
              <a:t>. If a function is to be reused in another program, the function will not work properly if it is reliant on the existence of global variables that are nonexistent in the new program</a:t>
            </a:r>
            <a:endParaRPr/>
          </a:p>
          <a:p>
            <a:pPr indent="0" lvl="0" marL="91440" rtl="0" algn="just">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pic>
        <p:nvPicPr>
          <p:cNvPr id="287" name="Google Shape;287;p24"/>
          <p:cNvPicPr preferRelativeResize="0"/>
          <p:nvPr/>
        </p:nvPicPr>
        <p:blipFill rotWithShape="1">
          <a:blip r:embed="rId3">
            <a:alphaModFix/>
          </a:blip>
          <a:srcRect b="0" l="0" r="0" t="0"/>
          <a:stretch/>
        </p:blipFill>
        <p:spPr>
          <a:xfrm>
            <a:off x="1197959" y="779062"/>
            <a:ext cx="2915057" cy="1781424"/>
          </a:xfrm>
          <a:prstGeom prst="rect">
            <a:avLst/>
          </a:prstGeom>
          <a:noFill/>
          <a:ln>
            <a:noFill/>
          </a:ln>
        </p:spPr>
      </p:pic>
      <p:cxnSp>
        <p:nvCxnSpPr>
          <p:cNvPr id="288" name="Google Shape;288;p24"/>
          <p:cNvCxnSpPr/>
          <p:nvPr/>
        </p:nvCxnSpPr>
        <p:spPr>
          <a:xfrm rot="10800000">
            <a:off x="3828639" y="1669774"/>
            <a:ext cx="1289370" cy="0"/>
          </a:xfrm>
          <a:prstGeom prst="straightConnector1">
            <a:avLst/>
          </a:prstGeom>
          <a:noFill/>
          <a:ln cap="flat" cmpd="sng" w="12700">
            <a:solidFill>
              <a:schemeClr val="accent1"/>
            </a:solidFill>
            <a:prstDash val="solid"/>
            <a:round/>
            <a:headEnd len="sm" w="sm" type="none"/>
            <a:tailEnd len="med" w="med" type="triangle"/>
          </a:ln>
        </p:spPr>
      </p:cxnSp>
      <p:cxnSp>
        <p:nvCxnSpPr>
          <p:cNvPr id="289" name="Google Shape;289;p24"/>
          <p:cNvCxnSpPr/>
          <p:nvPr/>
        </p:nvCxnSpPr>
        <p:spPr>
          <a:xfrm rot="10800000">
            <a:off x="3828639" y="2423908"/>
            <a:ext cx="1289370" cy="0"/>
          </a:xfrm>
          <a:prstGeom prst="straightConnector1">
            <a:avLst/>
          </a:prstGeom>
          <a:noFill/>
          <a:ln cap="flat" cmpd="sng" w="12700">
            <a:solidFill>
              <a:schemeClr val="accent1"/>
            </a:solidFill>
            <a:prstDash val="solid"/>
            <a:round/>
            <a:headEnd len="sm" w="sm" type="none"/>
            <a:tailEnd len="med" w="med" type="triangle"/>
          </a:ln>
        </p:spPr>
      </p:cxnSp>
      <p:sp>
        <p:nvSpPr>
          <p:cNvPr id="290" name="Google Shape;290;p24"/>
          <p:cNvSpPr txBox="1"/>
          <p:nvPr/>
        </p:nvSpPr>
        <p:spPr>
          <a:xfrm>
            <a:off x="5338916" y="1610524"/>
            <a:ext cx="188779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Global variable max accessed.</a:t>
            </a:r>
            <a:endParaRPr/>
          </a:p>
        </p:txBody>
      </p:sp>
      <p:sp>
        <p:nvSpPr>
          <p:cNvPr id="291" name="Google Shape;291;p24"/>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Variable Lifetime</a:t>
            </a:r>
            <a:endParaRPr/>
          </a:p>
        </p:txBody>
      </p:sp>
      <p:sp>
        <p:nvSpPr>
          <p:cNvPr id="297" name="Google Shape;297;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r>
              <a:rPr lang="en-US">
                <a:solidFill>
                  <a:srgbClr val="002FC4"/>
                </a:solidFill>
              </a:rPr>
              <a:t>The period of time that a variable exists is called its </a:t>
            </a:r>
            <a:r>
              <a:rPr b="1" lang="en-US">
                <a:solidFill>
                  <a:srgbClr val="D4650A"/>
                </a:solidFill>
              </a:rPr>
              <a:t>lifetime</a:t>
            </a:r>
            <a:r>
              <a:rPr b="1" lang="en-US"/>
              <a:t>.</a:t>
            </a:r>
            <a:endParaRPr/>
          </a:p>
          <a:p>
            <a:pPr indent="-127000" lvl="0" marL="91440" rtl="0" algn="l">
              <a:lnSpc>
                <a:spcPct val="90000"/>
              </a:lnSpc>
              <a:spcBef>
                <a:spcPts val="1400"/>
              </a:spcBef>
              <a:spcAft>
                <a:spcPts val="0"/>
              </a:spcAft>
              <a:buSzPts val="2000"/>
              <a:buChar char=" "/>
            </a:pPr>
            <a:br>
              <a:rPr b="1" lang="en-US"/>
            </a:br>
            <a:r>
              <a:rPr b="1" lang="en-US"/>
              <a:t>Local variables are automatically created (allocated memory) when a function is called and destroyed (deallocated) when the function terminates.</a:t>
            </a:r>
            <a:endParaRPr/>
          </a:p>
          <a:p>
            <a:pPr indent="-127000" lvl="0" marL="91440" rtl="0" algn="l">
              <a:lnSpc>
                <a:spcPct val="90000"/>
              </a:lnSpc>
              <a:spcBef>
                <a:spcPts val="1400"/>
              </a:spcBef>
              <a:spcAft>
                <a:spcPts val="0"/>
              </a:spcAft>
              <a:buSzPts val="2000"/>
              <a:buChar char=" "/>
            </a:pPr>
            <a:br>
              <a:rPr lang="en-US"/>
            </a:br>
            <a:r>
              <a:rPr lang="en-US"/>
              <a:t>Thus, the lifetime of a local variable is equal to the duration of its function’s execution. Consequently, the values of local variables are not retained from one function call to the next.</a:t>
            </a:r>
            <a:endParaRPr>
              <a:solidFill>
                <a:srgbClr val="002FC4"/>
              </a:solidFill>
            </a:endParaRPr>
          </a:p>
          <a:p>
            <a:pPr indent="0" lvl="0" marL="91440" rtl="0" algn="l">
              <a:lnSpc>
                <a:spcPct val="90000"/>
              </a:lnSpc>
              <a:spcBef>
                <a:spcPts val="1400"/>
              </a:spcBef>
              <a:spcAft>
                <a:spcPts val="0"/>
              </a:spcAft>
              <a:buSzPts val="2000"/>
              <a:buNone/>
            </a:pPr>
            <a:r>
              <a:t/>
            </a:r>
            <a:endParaRPr/>
          </a:p>
        </p:txBody>
      </p:sp>
      <p:sp>
        <p:nvSpPr>
          <p:cNvPr id="298" name="Google Shape;298;p25"/>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Exercise – For You</a:t>
            </a:r>
            <a:endParaRPr/>
          </a:p>
        </p:txBody>
      </p:sp>
      <p:sp>
        <p:nvSpPr>
          <p:cNvPr id="304" name="Google Shape;304;p2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70000" lnSpcReduction="20000"/>
          </a:bodyPr>
          <a:lstStyle/>
          <a:p>
            <a:pPr indent="-514350" lvl="0" marL="628650" marR="0" rtl="0" algn="l">
              <a:lnSpc>
                <a:spcPct val="170000"/>
              </a:lnSpc>
              <a:spcBef>
                <a:spcPts val="0"/>
              </a:spcBef>
              <a:spcAft>
                <a:spcPts val="0"/>
              </a:spcAft>
              <a:buClr>
                <a:schemeClr val="dk1"/>
              </a:buClr>
              <a:buSzPct val="142857"/>
              <a:buFont typeface="Calibri"/>
              <a:buAutoNum type="arabicPeriod"/>
            </a:pPr>
            <a:r>
              <a:rPr b="0" i="0" lang="en-US" sz="2600" u="none" cap="none" strike="noStrike">
                <a:solidFill>
                  <a:schemeClr val="dk1"/>
                </a:solidFill>
                <a:latin typeface="Calibri"/>
                <a:ea typeface="Calibri"/>
                <a:cs typeface="Calibri"/>
                <a:sym typeface="Calibri"/>
              </a:rPr>
              <a:t>Write a program to check the divisibility of a number </a:t>
            </a:r>
            <a:r>
              <a:rPr lang="en-US" sz="2600">
                <a:solidFill>
                  <a:schemeClr val="dk1"/>
                </a:solidFill>
                <a:latin typeface="Calibri"/>
                <a:ea typeface="Calibri"/>
                <a:cs typeface="Calibri"/>
                <a:sym typeface="Calibri"/>
              </a:rPr>
              <a:t>by </a:t>
            </a:r>
            <a:r>
              <a:rPr b="0" i="0" lang="en-US" sz="2600" u="none" cap="none" strike="noStrike">
                <a:solidFill>
                  <a:schemeClr val="dk1"/>
                </a:solidFill>
                <a:latin typeface="Calibri"/>
                <a:ea typeface="Calibri"/>
                <a:cs typeface="Calibri"/>
                <a:sym typeface="Calibri"/>
              </a:rPr>
              <a:t>7 that is passed as a parameter to the user defined function. </a:t>
            </a:r>
            <a:endParaRPr/>
          </a:p>
          <a:p>
            <a:pPr indent="-514350" lvl="0" marL="628650" marR="0" rtl="0" algn="l">
              <a:lnSpc>
                <a:spcPct val="170000"/>
              </a:lnSpc>
              <a:spcBef>
                <a:spcPts val="0"/>
              </a:spcBef>
              <a:spcAft>
                <a:spcPts val="0"/>
              </a:spcAft>
              <a:buClr>
                <a:schemeClr val="dk1"/>
              </a:buClr>
              <a:buSzPct val="142857"/>
              <a:buFont typeface="Calibri"/>
              <a:buAutoNum type="arabicPeriod"/>
            </a:pPr>
            <a:r>
              <a:rPr b="0" i="0" lang="en-US" sz="2600" u="none" cap="none" strike="noStrike">
                <a:solidFill>
                  <a:schemeClr val="dk1"/>
                </a:solidFill>
                <a:latin typeface="Calibri"/>
                <a:ea typeface="Calibri"/>
                <a:cs typeface="Calibri"/>
                <a:sym typeface="Calibri"/>
              </a:rPr>
              <a:t>Write a program that implements a user defined function that accepts Principal, Time and Rate to calculate the simple interest.</a:t>
            </a:r>
            <a:endParaRPr/>
          </a:p>
          <a:p>
            <a:pPr indent="-514350" lvl="0" marL="628650" marR="0" rtl="0" algn="l">
              <a:lnSpc>
                <a:spcPct val="170000"/>
              </a:lnSpc>
              <a:spcBef>
                <a:spcPts val="0"/>
              </a:spcBef>
              <a:spcAft>
                <a:spcPts val="0"/>
              </a:spcAft>
              <a:buClr>
                <a:schemeClr val="dk1"/>
              </a:buClr>
              <a:buSzPct val="142857"/>
              <a:buFont typeface="Calibri"/>
              <a:buAutoNum type="arabicPeriod"/>
            </a:pPr>
            <a:r>
              <a:rPr b="0" i="0" lang="en-US" sz="2600" u="none" cap="none" strike="noStrike">
                <a:solidFill>
                  <a:schemeClr val="dk1"/>
                </a:solidFill>
                <a:latin typeface="Calibri"/>
                <a:ea typeface="Calibri"/>
                <a:cs typeface="Calibri"/>
                <a:sym typeface="Calibri"/>
              </a:rPr>
              <a:t>Create a menu driven program using user defined functions to implement a calculator that performs the following: </a:t>
            </a:r>
            <a:endParaRPr/>
          </a:p>
          <a:p>
            <a:pPr indent="-514350" lvl="1" marL="1085850" marR="0" rtl="0" algn="l">
              <a:lnSpc>
                <a:spcPct val="170000"/>
              </a:lnSpc>
              <a:spcBef>
                <a:spcPts val="0"/>
              </a:spcBef>
              <a:spcAft>
                <a:spcPts val="0"/>
              </a:spcAft>
              <a:buClr>
                <a:schemeClr val="dk1"/>
              </a:buClr>
              <a:buSzPct val="142857"/>
              <a:buFont typeface="Arial"/>
              <a:buChar char="•"/>
            </a:pPr>
            <a:r>
              <a:rPr b="0" i="0" lang="en-US" sz="2600" u="none" cap="none" strike="noStrike">
                <a:solidFill>
                  <a:schemeClr val="dk1"/>
                </a:solidFill>
                <a:latin typeface="Calibri"/>
                <a:ea typeface="Calibri"/>
                <a:cs typeface="Calibri"/>
                <a:sym typeface="Calibri"/>
              </a:rPr>
              <a:t>Basic arithmetic operations (+, -, *, /)</a:t>
            </a:r>
            <a:endParaRPr/>
          </a:p>
          <a:p>
            <a:pPr indent="-514350" lvl="1" marL="1085850" marR="0" rtl="0" algn="l">
              <a:lnSpc>
                <a:spcPct val="170000"/>
              </a:lnSpc>
              <a:spcBef>
                <a:spcPts val="0"/>
              </a:spcBef>
              <a:spcAft>
                <a:spcPts val="0"/>
              </a:spcAft>
              <a:buClr>
                <a:schemeClr val="dk1"/>
              </a:buClr>
              <a:buSzPct val="142857"/>
              <a:buFont typeface="Arial"/>
              <a:buChar char="•"/>
            </a:pPr>
            <a:r>
              <a:rPr b="0" i="0" lang="en-US" sz="2600" u="none" cap="none" strike="noStrike">
                <a:solidFill>
                  <a:schemeClr val="dk1"/>
                </a:solidFill>
                <a:latin typeface="Calibri"/>
                <a:ea typeface="Calibri"/>
                <a:cs typeface="Calibri"/>
                <a:sym typeface="Calibri"/>
              </a:rPr>
              <a:t>Factorial of number</a:t>
            </a:r>
            <a:endParaRPr/>
          </a:p>
          <a:p>
            <a:pPr indent="-514350" lvl="1" marL="1085850" marR="0" rtl="0" algn="l">
              <a:lnSpc>
                <a:spcPct val="170000"/>
              </a:lnSpc>
              <a:spcBef>
                <a:spcPts val="0"/>
              </a:spcBef>
              <a:spcAft>
                <a:spcPts val="0"/>
              </a:spcAft>
              <a:buClr>
                <a:schemeClr val="dk1"/>
              </a:buClr>
              <a:buSzPct val="142857"/>
              <a:buFont typeface="Arial"/>
              <a:buChar char="•"/>
            </a:pPr>
            <a:r>
              <a:rPr b="0" i="0" lang="en-US" sz="2600" u="none" cap="none" strike="noStrike">
                <a:solidFill>
                  <a:schemeClr val="dk1"/>
                </a:solidFill>
                <a:latin typeface="Calibri"/>
                <a:ea typeface="Calibri"/>
                <a:cs typeface="Calibri"/>
                <a:sym typeface="Calibri"/>
              </a:rPr>
              <a:t>Mean median and mode (Import Statistics)</a:t>
            </a:r>
            <a:endParaRPr/>
          </a:p>
          <a:p>
            <a:pPr indent="-2539" lvl="0" marL="91440" rtl="0" algn="l">
              <a:lnSpc>
                <a:spcPct val="90000"/>
              </a:lnSpc>
              <a:spcBef>
                <a:spcPts val="1200"/>
              </a:spcBef>
              <a:spcAft>
                <a:spcPts val="0"/>
              </a:spcAft>
              <a:buSzPct val="100000"/>
              <a:buNone/>
            </a:pPr>
            <a:r>
              <a:t/>
            </a:r>
            <a:endParaRPr>
              <a:solidFill>
                <a:srgbClr val="002FC4"/>
              </a:solidFill>
            </a:endParaRPr>
          </a:p>
        </p:txBody>
      </p:sp>
      <p:sp>
        <p:nvSpPr>
          <p:cNvPr id="305" name="Google Shape;305;p26"/>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Exercise – For You</a:t>
            </a:r>
            <a:endParaRPr/>
          </a:p>
        </p:txBody>
      </p:sp>
      <p:sp>
        <p:nvSpPr>
          <p:cNvPr id="311" name="Google Shape;311;p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514350" lvl="0" marL="628650" marR="0" rtl="0" algn="just">
              <a:lnSpc>
                <a:spcPct val="150000"/>
              </a:lnSpc>
              <a:spcBef>
                <a:spcPts val="0"/>
              </a:spcBef>
              <a:spcAft>
                <a:spcPts val="0"/>
              </a:spcAft>
              <a:buClr>
                <a:schemeClr val="dk1"/>
              </a:buClr>
              <a:buSzPts val="2600"/>
              <a:buFont typeface="Calibri"/>
              <a:buAutoNum type="arabicPeriod"/>
            </a:pPr>
            <a:r>
              <a:rPr b="0" i="0" lang="en-US" sz="2000" u="none" cap="none" strike="noStrike">
                <a:solidFill>
                  <a:schemeClr val="dk1"/>
                </a:solidFill>
                <a:latin typeface="Calibri"/>
                <a:ea typeface="Calibri"/>
                <a:cs typeface="Calibri"/>
                <a:sym typeface="Calibri"/>
              </a:rPr>
              <a:t>Write a program that has a user defined function to accept 2 numbers as parameters, if number 1 is less than number 2 then numbers are swapped and returned, i.e., number 2 is returned in place of number1 and number 1 is reformed in place of number 2, otherwise the same order is returned.</a:t>
            </a:r>
            <a:endParaRPr/>
          </a:p>
          <a:p>
            <a:pPr indent="-514350" lvl="0" marL="628650" marR="0" rtl="0" algn="just">
              <a:lnSpc>
                <a:spcPct val="150000"/>
              </a:lnSpc>
              <a:spcBef>
                <a:spcPts val="0"/>
              </a:spcBef>
              <a:spcAft>
                <a:spcPts val="0"/>
              </a:spcAft>
              <a:buClr>
                <a:schemeClr val="dk1"/>
              </a:buClr>
              <a:buSzPts val="2600"/>
              <a:buFont typeface="Calibri"/>
              <a:buAutoNum type="arabicPeriod"/>
            </a:pPr>
            <a:r>
              <a:rPr b="0" i="0" lang="en-US" sz="2000" u="none" cap="none" strike="noStrike">
                <a:solidFill>
                  <a:schemeClr val="dk1"/>
                </a:solidFill>
                <a:latin typeface="Calibri"/>
                <a:ea typeface="Calibri"/>
                <a:cs typeface="Calibri"/>
                <a:sym typeface="Calibri"/>
              </a:rPr>
              <a:t>Write a program that uses a user defined function that accepts name and gender (as M for Male, F for Female) and prefixes Mr/Ms on the basis of the gender.</a:t>
            </a:r>
            <a:endParaRPr/>
          </a:p>
          <a:p>
            <a:pPr indent="0" lvl="0" marL="91440" rtl="0" algn="l">
              <a:lnSpc>
                <a:spcPct val="90000"/>
              </a:lnSpc>
              <a:spcBef>
                <a:spcPts val="1200"/>
              </a:spcBef>
              <a:spcAft>
                <a:spcPts val="0"/>
              </a:spcAft>
              <a:buSzPts val="2000"/>
              <a:buNone/>
            </a:pPr>
            <a:r>
              <a:t/>
            </a:r>
            <a:endParaRPr>
              <a:solidFill>
                <a:srgbClr val="002FC4"/>
              </a:solidFill>
            </a:endParaRPr>
          </a:p>
        </p:txBody>
      </p:sp>
      <p:sp>
        <p:nvSpPr>
          <p:cNvPr id="312" name="Google Shape;312;p27"/>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Calibri"/>
              <a:buNone/>
            </a:pPr>
            <a:r>
              <a:rPr b="1" lang="en-US">
                <a:solidFill>
                  <a:schemeClr val="dk1"/>
                </a:solidFill>
              </a:rPr>
              <a:t>Exercise – Homework</a:t>
            </a:r>
            <a:endParaRPr/>
          </a:p>
        </p:txBody>
      </p:sp>
      <p:sp>
        <p:nvSpPr>
          <p:cNvPr id="318" name="Google Shape;318;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514350" lvl="0" marL="628650" marR="0" rtl="0" algn="just">
              <a:lnSpc>
                <a:spcPct val="150000"/>
              </a:lnSpc>
              <a:spcBef>
                <a:spcPts val="0"/>
              </a:spcBef>
              <a:spcAft>
                <a:spcPts val="0"/>
              </a:spcAft>
              <a:buClr>
                <a:schemeClr val="dk1"/>
              </a:buClr>
              <a:buSzPts val="2600"/>
              <a:buFont typeface="Calibri"/>
              <a:buAutoNum type="arabicPeriod"/>
            </a:pPr>
            <a:r>
              <a:rPr b="0" i="0" lang="en-US" sz="2000" u="none" cap="none" strike="noStrike">
                <a:solidFill>
                  <a:schemeClr val="dk1"/>
                </a:solidFill>
                <a:latin typeface="Calibri"/>
                <a:ea typeface="Calibri"/>
                <a:cs typeface="Calibri"/>
                <a:sym typeface="Calibri"/>
              </a:rPr>
              <a:t>To secure your account, whether it be an email, online bank account or any other account, it is important that we use authentication. Use your programming expertise to create a program using user defined function named login that accepts user</a:t>
            </a:r>
            <a:r>
              <a:rPr lang="en-US" sz="2000">
                <a:solidFill>
                  <a:schemeClr val="dk1"/>
                </a:solidFill>
                <a:latin typeface="Calibri"/>
                <a:ea typeface="Calibri"/>
                <a:cs typeface="Calibri"/>
                <a:sym typeface="Calibri"/>
              </a:rPr>
              <a:t>I</a:t>
            </a:r>
            <a:r>
              <a:rPr b="0" i="0" lang="en-US" sz="2000" u="none" cap="none" strike="noStrike">
                <a:solidFill>
                  <a:schemeClr val="dk1"/>
                </a:solidFill>
                <a:latin typeface="Calibri"/>
                <a:ea typeface="Calibri"/>
                <a:cs typeface="Calibri"/>
                <a:sym typeface="Calibri"/>
              </a:rPr>
              <a:t>d and password as parameters (login(uid,pwd)) that displays a message “account blocked” in case of three wrong attempts. The login is successful if the user enters user ID as "ADMIN" and password as "St0rE@1". On successful login, display a message “login successful”.</a:t>
            </a:r>
            <a:endParaRPr/>
          </a:p>
          <a:p>
            <a:pPr indent="0" lvl="0" marL="91440" rtl="0" algn="l">
              <a:lnSpc>
                <a:spcPct val="90000"/>
              </a:lnSpc>
              <a:spcBef>
                <a:spcPts val="1200"/>
              </a:spcBef>
              <a:spcAft>
                <a:spcPts val="0"/>
              </a:spcAft>
              <a:buSzPts val="2000"/>
              <a:buNone/>
            </a:pPr>
            <a:r>
              <a:t/>
            </a:r>
            <a:endParaRPr>
              <a:solidFill>
                <a:srgbClr val="002FC4"/>
              </a:solidFill>
            </a:endParaRPr>
          </a:p>
        </p:txBody>
      </p:sp>
      <p:sp>
        <p:nvSpPr>
          <p:cNvPr id="319" name="Google Shape;319;p28"/>
          <p:cNvSpPr txBox="1"/>
          <p:nvPr/>
        </p:nvSpPr>
        <p:spPr>
          <a:xfrm>
            <a:off x="1097280" y="6450031"/>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9"/>
          <p:cNvSpPr txBox="1"/>
          <p:nvPr/>
        </p:nvSpPr>
        <p:spPr>
          <a:xfrm>
            <a:off x="0" y="6493075"/>
            <a:ext cx="6449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4CS001 - Introductory Programming and Problem Solving</a:t>
            </a:r>
            <a:endParaRPr/>
          </a:p>
        </p:txBody>
      </p:sp>
      <p:pic>
        <p:nvPicPr>
          <p:cNvPr id="325" name="Google Shape;325;p29"/>
          <p:cNvPicPr preferRelativeResize="0"/>
          <p:nvPr/>
        </p:nvPicPr>
        <p:blipFill rotWithShape="1">
          <a:blip r:embed="rId3">
            <a:alphaModFix/>
          </a:blip>
          <a:srcRect b="0" l="0" r="0" t="0"/>
          <a:stretch/>
        </p:blipFill>
        <p:spPr>
          <a:xfrm>
            <a:off x="1926725" y="729574"/>
            <a:ext cx="8338550" cy="47957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2017-10-31T20:28:57Z</dcterms:created>
  <dc:creator>Basanta Singh</dc:creator>
</cp:coreProperties>
</file>