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6858000" cx="12192000"/>
  <p:notesSz cx="6858000" cy="9144000"/>
  <p:embeddedFontLst>
    <p:embeddedFont>
      <p:font typeface="Century Schoolbook"/>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17">
          <p15:clr>
            <a:srgbClr val="A4A3A4"/>
          </p15:clr>
        </p15:guide>
      </p15:sldGuideLst>
    </p:ext>
    <p:ext uri="GoogleSlidesCustomDataVersion2">
      <go:slidesCustomData xmlns:go="http://customooxmlschemas.google.com/" r:id="rId52" roundtripDataSignature="AMtx7mi4kfJIM4jniDkmqRkLOU+Zi1MK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17"/>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CenturySchoolbook-regular.fntdata"/><Relationship Id="rId47" Type="http://schemas.openxmlformats.org/officeDocument/2006/relationships/slide" Target="slides/slide42.xml"/><Relationship Id="rId49" Type="http://schemas.openxmlformats.org/officeDocument/2006/relationships/font" Target="fonts/CenturySchoolbook-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CenturySchoolbook-boldItalic.fntdata"/><Relationship Id="rId50" Type="http://schemas.openxmlformats.org/officeDocument/2006/relationships/font" Target="fonts/CenturySchoolbook-italic.fntdata"/><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 name="Google Shape;9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 name="Google Shape;10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5" name="Google Shape;16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8" name="Google Shape;25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5" name="Google Shape;26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 name="Google Shape;28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 name="Google Shape;30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3" name="Google Shape;31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0" name="Google Shape;32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7" name="Google Shape;33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5" name="Google Shape;34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 name="Google Shape;35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9" name="Google Shape;35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7" name="Google Shape;367;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4" name="Google Shape;37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0" name="Google Shape;400;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7" name="Google Shape;407;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4" name="Google Shape;41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7" name="Google Shape;427;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4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4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1" name="Google Shape;21;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b="1" sz="4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sz="24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4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3" name="Google Shape;33;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4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4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4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4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4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4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4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4" name="Google Shape;64;p4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5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50"/>
          <p:cNvSpPr/>
          <p:nvPr>
            <p:ph idx="2" type="pic"/>
          </p:nvPr>
        </p:nvSpPr>
        <p:spPr>
          <a:xfrm>
            <a:off x="5183188" y="987425"/>
            <a:ext cx="6172200" cy="4873625"/>
          </a:xfrm>
          <a:prstGeom prst="rect">
            <a:avLst/>
          </a:prstGeom>
          <a:noFill/>
          <a:ln>
            <a:noFill/>
          </a:ln>
        </p:spPr>
      </p:sp>
      <p:sp>
        <p:nvSpPr>
          <p:cNvPr id="71" name="Google Shape;71;p5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5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5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12.png"/><Relationship Id="rId2" Type="http://schemas.openxmlformats.org/officeDocument/2006/relationships/image" Target="../media/image9.png"/><Relationship Id="rId3" Type="http://schemas.openxmlformats.org/officeDocument/2006/relationships/image" Target="../media/image8.jp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theme" Target="../theme/theme2.xml"/><Relationship Id="rId14" Type="http://schemas.openxmlformats.org/officeDocument/2006/relationships/slideLayout" Target="../slideLayouts/slideLayout1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41"/>
          <p:cNvPicPr preferRelativeResize="0"/>
          <p:nvPr/>
        </p:nvPicPr>
        <p:blipFill rotWithShape="1">
          <a:blip r:embed="rId1">
            <a:alphaModFix/>
          </a:blip>
          <a:srcRect b="0" l="0" r="0" t="0"/>
          <a:stretch/>
        </p:blipFill>
        <p:spPr>
          <a:xfrm>
            <a:off x="9684585" y="168812"/>
            <a:ext cx="2051822" cy="720033"/>
          </a:xfrm>
          <a:prstGeom prst="rect">
            <a:avLst/>
          </a:prstGeom>
          <a:noFill/>
          <a:ln>
            <a:noFill/>
          </a:ln>
        </p:spPr>
      </p:pic>
      <p:pic>
        <p:nvPicPr>
          <p:cNvPr id="16" name="Google Shape;16;p41"/>
          <p:cNvPicPr preferRelativeResize="0"/>
          <p:nvPr/>
        </p:nvPicPr>
        <p:blipFill rotWithShape="1">
          <a:blip r:embed="rId2">
            <a:alphaModFix amt="20000"/>
          </a:blip>
          <a:srcRect b="0" l="0" r="0" t="0"/>
          <a:stretch/>
        </p:blipFill>
        <p:spPr>
          <a:xfrm>
            <a:off x="9980485" y="4862348"/>
            <a:ext cx="1805900" cy="1805900"/>
          </a:xfrm>
          <a:prstGeom prst="rect">
            <a:avLst/>
          </a:prstGeom>
          <a:noFill/>
          <a:ln>
            <a:noFill/>
          </a:ln>
        </p:spPr>
      </p:pic>
      <p:pic>
        <p:nvPicPr>
          <p:cNvPr id="17" name="Google Shape;17;p41"/>
          <p:cNvPicPr preferRelativeResize="0"/>
          <p:nvPr/>
        </p:nvPicPr>
        <p:blipFill rotWithShape="1">
          <a:blip r:embed="rId3">
            <a:alphaModFix/>
          </a:blip>
          <a:srcRect b="0" l="0" r="0" t="0"/>
          <a:stretch/>
        </p:blipFill>
        <p:spPr>
          <a:xfrm>
            <a:off x="301840" y="127647"/>
            <a:ext cx="2528355" cy="653588"/>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1.png"/><Relationship Id="rId5"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docs.python.org/3/reference/expressions.html#operator-precedence" TargetMode="External"/><Relationship Id="rId4" Type="http://schemas.openxmlformats.org/officeDocument/2006/relationships/image" Target="../media/image34.gi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hyperlink" Target="https://docs.python.org/3/reference/lexical_analysis.html#escape-sequences"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0.gi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9.png"/><Relationship Id="rId4" Type="http://schemas.openxmlformats.org/officeDocument/2006/relationships/image" Target="../media/image23.png"/><Relationship Id="rId5"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8.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6.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93" name="Google Shape;93;p1"/>
          <p:cNvSpPr txBox="1"/>
          <p:nvPr/>
        </p:nvSpPr>
        <p:spPr>
          <a:xfrm>
            <a:off x="1620000" y="1151305"/>
            <a:ext cx="8952000" cy="23082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rgbClr val="132C4A"/>
                </a:solidFill>
                <a:latin typeface="Century Schoolbook"/>
                <a:ea typeface="Century Schoolbook"/>
                <a:cs typeface="Century Schoolbook"/>
                <a:sym typeface="Century Schoolbook"/>
              </a:rPr>
              <a:t>Introductory To Programming and </a:t>
            </a:r>
            <a:endParaRPr/>
          </a:p>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rgbClr val="132C4A"/>
                </a:solidFill>
                <a:latin typeface="Century Schoolbook"/>
                <a:ea typeface="Century Schoolbook"/>
                <a:cs typeface="Century Schoolbook"/>
                <a:sym typeface="Century Schoolbook"/>
              </a:rPr>
              <a:t>Problem-Solving Skills</a:t>
            </a:r>
            <a:endParaRPr b="0" i="0" sz="4800" u="none" cap="none" strike="noStrike">
              <a:solidFill>
                <a:schemeClr val="dk1"/>
              </a:solidFill>
              <a:latin typeface="Century Schoolbook"/>
              <a:ea typeface="Century Schoolbook"/>
              <a:cs typeface="Century Schoolbook"/>
              <a:sym typeface="Century Schoolbook"/>
            </a:endParaRPr>
          </a:p>
        </p:txBody>
      </p:sp>
      <p:sp>
        <p:nvSpPr>
          <p:cNvPr id="94" name="Google Shape;94;p1"/>
          <p:cNvSpPr txBox="1"/>
          <p:nvPr/>
        </p:nvSpPr>
        <p:spPr>
          <a:xfrm>
            <a:off x="3574599" y="3725967"/>
            <a:ext cx="5042801" cy="5231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B050"/>
                </a:solidFill>
                <a:latin typeface="Century Schoolbook"/>
                <a:ea typeface="Century Schoolbook"/>
                <a:cs typeface="Century Schoolbook"/>
                <a:sym typeface="Century Schoolbook"/>
              </a:rPr>
              <a:t>Data and Expression</a:t>
            </a:r>
            <a:endParaRPr b="1" i="0" sz="2800" u="none" cap="none" strike="noStrike">
              <a:solidFill>
                <a:srgbClr val="00B050"/>
              </a:solidFill>
              <a:latin typeface="Century Schoolbook"/>
              <a:ea typeface="Century Schoolbook"/>
              <a:cs typeface="Century Schoolbook"/>
              <a:sym typeface="Century Schoolbook"/>
            </a:endParaRPr>
          </a:p>
        </p:txBody>
      </p:sp>
      <p:sp>
        <p:nvSpPr>
          <p:cNvPr id="95" name="Google Shape;95;p1"/>
          <p:cNvSpPr txBox="1"/>
          <p:nvPr/>
        </p:nvSpPr>
        <p:spPr>
          <a:xfrm>
            <a:off x="4573200" y="6195150"/>
            <a:ext cx="3911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lang="en-US" sz="2400">
                <a:solidFill>
                  <a:srgbClr val="132C4A"/>
                </a:solidFill>
                <a:latin typeface="Century Schoolbook"/>
                <a:ea typeface="Century Schoolbook"/>
                <a:cs typeface="Century Schoolbook"/>
                <a:sym typeface="Century Schoolbook"/>
              </a:rPr>
              <a:t>Bhisma Raj Koirala</a:t>
            </a:r>
            <a:endParaRPr b="1" i="0" sz="2400" u="none" cap="none" strike="noStrike">
              <a:solidFill>
                <a:srgbClr val="132C4A"/>
              </a:solidFill>
              <a:latin typeface="Century Schoolbook"/>
              <a:ea typeface="Century Schoolbook"/>
              <a:cs typeface="Century Schoolbook"/>
              <a:sym typeface="Century Schoolbook"/>
            </a:endParaRPr>
          </a:p>
        </p:txBody>
      </p:sp>
      <p:sp>
        <p:nvSpPr>
          <p:cNvPr id="96" name="Google Shape;96;p1"/>
          <p:cNvSpPr txBox="1"/>
          <p:nvPr/>
        </p:nvSpPr>
        <p:spPr>
          <a:xfrm>
            <a:off x="4383831" y="5475883"/>
            <a:ext cx="3646261" cy="4616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132C4A"/>
                </a:solidFill>
                <a:latin typeface="Century Schoolbook"/>
                <a:ea typeface="Century Schoolbook"/>
                <a:cs typeface="Century Schoolbook"/>
                <a:sym typeface="Century Schoolbook"/>
              </a:rPr>
              <a:t>Tutorial Week - 2 </a:t>
            </a:r>
            <a:endParaRPr b="1" i="0" sz="2400" u="none" cap="none" strike="noStrike">
              <a:solidFill>
                <a:srgbClr val="132C4A"/>
              </a:solidFill>
              <a:latin typeface="Century Schoolbook"/>
              <a:ea typeface="Century Schoolbook"/>
              <a:cs typeface="Century Schoolbook"/>
              <a:sym typeface="Century Schoolbook"/>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53"/>
          <p:cNvSpPr txBox="1"/>
          <p:nvPr>
            <p:ph type="title"/>
          </p:nvPr>
        </p:nvSpPr>
        <p:spPr>
          <a:xfrm>
            <a:off x="1037446" y="633758"/>
            <a:ext cx="8776855" cy="63699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50000"/>
              <a:buNone/>
            </a:pPr>
            <a:r>
              <a:rPr b="1" lang="en-US" sz="4000">
                <a:solidFill>
                  <a:schemeClr val="dk1"/>
                </a:solidFill>
                <a:latin typeface="Century Schoolbook"/>
                <a:ea typeface="Century Schoolbook"/>
                <a:cs typeface="Century Schoolbook"/>
                <a:sym typeface="Century Schoolbook"/>
              </a:rPr>
              <a:t>Agenda</a:t>
            </a:r>
            <a:endParaRPr>
              <a:latin typeface="Century Schoolbook"/>
              <a:ea typeface="Century Schoolbook"/>
              <a:cs typeface="Century Schoolbook"/>
              <a:sym typeface="Century Schoolbook"/>
            </a:endParaRPr>
          </a:p>
        </p:txBody>
      </p:sp>
      <p:sp>
        <p:nvSpPr>
          <p:cNvPr id="102" name="Google Shape;102;p53"/>
          <p:cNvSpPr txBox="1"/>
          <p:nvPr>
            <p:ph idx="1" type="body"/>
          </p:nvPr>
        </p:nvSpPr>
        <p:spPr>
          <a:xfrm>
            <a:off x="838200" y="1451553"/>
            <a:ext cx="10515600" cy="3743902"/>
          </a:xfrm>
          <a:prstGeom prst="rect">
            <a:avLst/>
          </a:prstGeom>
          <a:noFill/>
          <a:ln>
            <a:noFill/>
          </a:ln>
        </p:spPr>
        <p:txBody>
          <a:bodyPr anchorCtr="0" anchor="t" bIns="45700" lIns="91425" spcFirstLastPara="1" rIns="91425" wrap="square" tIns="45700">
            <a:normAutofit/>
          </a:bodyPr>
          <a:lstStyle/>
          <a:p>
            <a:pPr indent="-228600" lvl="0" marL="342900" rtl="0" algn="l">
              <a:lnSpc>
                <a:spcPct val="90000"/>
              </a:lnSpc>
              <a:spcBef>
                <a:spcPts val="0"/>
              </a:spcBef>
              <a:spcAft>
                <a:spcPts val="0"/>
              </a:spcAft>
              <a:buClr>
                <a:schemeClr val="dk1"/>
              </a:buClr>
              <a:buSzPts val="3200"/>
              <a:buFont typeface="Arial"/>
              <a:buChar char="•"/>
            </a:pPr>
            <a:r>
              <a:rPr lang="en-US" sz="2400">
                <a:latin typeface="Century Schoolbook"/>
                <a:ea typeface="Century Schoolbook"/>
                <a:cs typeface="Century Schoolbook"/>
                <a:sym typeface="Century Schoolbook"/>
              </a:rPr>
              <a:t>Introduction</a:t>
            </a:r>
            <a:endParaRPr>
              <a:latin typeface="Century Schoolbook"/>
              <a:ea typeface="Century Schoolbook"/>
              <a:cs typeface="Century Schoolbook"/>
              <a:sym typeface="Century Schoolbook"/>
            </a:endParaRPr>
          </a:p>
          <a:p>
            <a:pPr indent="-228600" lvl="0" marL="342900" rtl="0" algn="l">
              <a:lnSpc>
                <a:spcPct val="90000"/>
              </a:lnSpc>
              <a:spcBef>
                <a:spcPts val="1000"/>
              </a:spcBef>
              <a:spcAft>
                <a:spcPts val="0"/>
              </a:spcAft>
              <a:buClr>
                <a:schemeClr val="dk1"/>
              </a:buClr>
              <a:buSzPts val="3200"/>
              <a:buFont typeface="Arial"/>
              <a:buChar char="•"/>
            </a:pPr>
            <a:r>
              <a:rPr lang="en-US" sz="2400">
                <a:latin typeface="Century Schoolbook"/>
                <a:ea typeface="Century Schoolbook"/>
                <a:cs typeface="Century Schoolbook"/>
                <a:sym typeface="Century Schoolbook"/>
              </a:rPr>
              <a:t>Python Literals</a:t>
            </a:r>
            <a:endParaRPr>
              <a:latin typeface="Century Schoolbook"/>
              <a:ea typeface="Century Schoolbook"/>
              <a:cs typeface="Century Schoolbook"/>
              <a:sym typeface="Century Schoolbook"/>
            </a:endParaRPr>
          </a:p>
          <a:p>
            <a:pPr indent="-228600" lvl="0" marL="342900" rtl="0" algn="l">
              <a:lnSpc>
                <a:spcPct val="90000"/>
              </a:lnSpc>
              <a:spcBef>
                <a:spcPts val="1000"/>
              </a:spcBef>
              <a:spcAft>
                <a:spcPts val="0"/>
              </a:spcAft>
              <a:buClr>
                <a:schemeClr val="dk1"/>
              </a:buClr>
              <a:buSzPts val="3200"/>
              <a:buFont typeface="Arial"/>
              <a:buChar char="•"/>
            </a:pPr>
            <a:r>
              <a:rPr lang="en-US" sz="2400">
                <a:latin typeface="Century Schoolbook"/>
                <a:ea typeface="Century Schoolbook"/>
                <a:cs typeface="Century Schoolbook"/>
                <a:sym typeface="Century Schoolbook"/>
              </a:rPr>
              <a:t>Python Variables</a:t>
            </a:r>
            <a:endParaRPr>
              <a:latin typeface="Century Schoolbook"/>
              <a:ea typeface="Century Schoolbook"/>
              <a:cs typeface="Century Schoolbook"/>
              <a:sym typeface="Century Schoolbook"/>
            </a:endParaRPr>
          </a:p>
          <a:p>
            <a:pPr indent="-228600" lvl="0" marL="342900" rtl="0" algn="l">
              <a:lnSpc>
                <a:spcPct val="90000"/>
              </a:lnSpc>
              <a:spcBef>
                <a:spcPts val="1000"/>
              </a:spcBef>
              <a:spcAft>
                <a:spcPts val="0"/>
              </a:spcAft>
              <a:buClr>
                <a:schemeClr val="dk1"/>
              </a:buClr>
              <a:buSzPts val="3200"/>
              <a:buFont typeface="Arial"/>
              <a:buChar char="•"/>
            </a:pPr>
            <a:r>
              <a:rPr lang="en-US" sz="2400">
                <a:latin typeface="Century Schoolbook"/>
                <a:ea typeface="Century Schoolbook"/>
                <a:cs typeface="Century Schoolbook"/>
                <a:sym typeface="Century Schoolbook"/>
              </a:rPr>
              <a:t>Python Data Types</a:t>
            </a:r>
            <a:endParaRPr>
              <a:latin typeface="Century Schoolbook"/>
              <a:ea typeface="Century Schoolbook"/>
              <a:cs typeface="Century Schoolbook"/>
              <a:sym typeface="Century Schoolbook"/>
            </a:endParaRPr>
          </a:p>
          <a:p>
            <a:pPr indent="-228600" lvl="0" marL="342900" rtl="0" algn="l">
              <a:lnSpc>
                <a:spcPct val="90000"/>
              </a:lnSpc>
              <a:spcBef>
                <a:spcPts val="1000"/>
              </a:spcBef>
              <a:spcAft>
                <a:spcPts val="0"/>
              </a:spcAft>
              <a:buClr>
                <a:schemeClr val="dk1"/>
              </a:buClr>
              <a:buSzPts val="3200"/>
              <a:buFont typeface="Arial"/>
              <a:buChar char="•"/>
            </a:pPr>
            <a:r>
              <a:rPr lang="en-US" sz="2400">
                <a:latin typeface="Century Schoolbook"/>
                <a:ea typeface="Century Schoolbook"/>
                <a:cs typeface="Century Schoolbook"/>
                <a:sym typeface="Century Schoolbook"/>
              </a:rPr>
              <a:t>Type Casting</a:t>
            </a:r>
            <a:endParaRPr>
              <a:latin typeface="Century Schoolbook"/>
              <a:ea typeface="Century Schoolbook"/>
              <a:cs typeface="Century Schoolbook"/>
              <a:sym typeface="Century Schoolbook"/>
            </a:endParaRPr>
          </a:p>
          <a:p>
            <a:pPr indent="-228600" lvl="0" marL="342900" rtl="0" algn="l">
              <a:lnSpc>
                <a:spcPct val="90000"/>
              </a:lnSpc>
              <a:spcBef>
                <a:spcPts val="1000"/>
              </a:spcBef>
              <a:spcAft>
                <a:spcPts val="0"/>
              </a:spcAft>
              <a:buClr>
                <a:schemeClr val="dk1"/>
              </a:buClr>
              <a:buSzPts val="3200"/>
              <a:buFont typeface="Arial"/>
              <a:buChar char="•"/>
            </a:pPr>
            <a:r>
              <a:rPr lang="en-US" sz="2400">
                <a:latin typeface="Century Schoolbook"/>
                <a:ea typeface="Century Schoolbook"/>
                <a:cs typeface="Century Schoolbook"/>
                <a:sym typeface="Century Schoolbook"/>
              </a:rPr>
              <a:t>Python Operators</a:t>
            </a:r>
            <a:endParaRPr>
              <a:latin typeface="Century Schoolbook"/>
              <a:ea typeface="Century Schoolbook"/>
              <a:cs typeface="Century Schoolbook"/>
              <a:sym typeface="Century Schoolbook"/>
            </a:endParaRPr>
          </a:p>
          <a:p>
            <a:pPr indent="-228600" lvl="0" marL="342900" rtl="0" algn="l">
              <a:lnSpc>
                <a:spcPct val="90000"/>
              </a:lnSpc>
              <a:spcBef>
                <a:spcPts val="1000"/>
              </a:spcBef>
              <a:spcAft>
                <a:spcPts val="0"/>
              </a:spcAft>
              <a:buClr>
                <a:schemeClr val="dk1"/>
              </a:buClr>
              <a:buSzPts val="3200"/>
              <a:buFont typeface="Arial"/>
              <a:buChar char="•"/>
            </a:pPr>
            <a:r>
              <a:rPr lang="en-US" sz="2400">
                <a:latin typeface="Century Schoolbook"/>
                <a:ea typeface="Century Schoolbook"/>
                <a:cs typeface="Century Schoolbook"/>
                <a:sym typeface="Century Schoolbook"/>
              </a:rPr>
              <a:t>Python I/O</a:t>
            </a:r>
            <a:endParaRPr>
              <a:latin typeface="Century Schoolbook"/>
              <a:ea typeface="Century Schoolbook"/>
              <a:cs typeface="Century Schoolbook"/>
              <a:sym typeface="Century Schoolbook"/>
            </a:endParaRPr>
          </a:p>
          <a:p>
            <a:pPr indent="-228600" lvl="0" marL="342900" rtl="0" algn="l">
              <a:lnSpc>
                <a:spcPct val="90000"/>
              </a:lnSpc>
              <a:spcBef>
                <a:spcPts val="1000"/>
              </a:spcBef>
              <a:spcAft>
                <a:spcPts val="0"/>
              </a:spcAft>
              <a:buClr>
                <a:schemeClr val="dk1"/>
              </a:buClr>
              <a:buSzPts val="3200"/>
              <a:buFont typeface="Arial"/>
              <a:buChar char="•"/>
            </a:pPr>
            <a:r>
              <a:rPr lang="en-US" sz="2400">
                <a:latin typeface="Century Schoolbook"/>
                <a:ea typeface="Century Schoolbook"/>
                <a:cs typeface="Century Schoolbook"/>
                <a:sym typeface="Century Schoolbook"/>
              </a:rPr>
              <a:t>Bonus Topic</a:t>
            </a:r>
            <a:endParaRPr>
              <a:latin typeface="Century Schoolbook"/>
              <a:ea typeface="Century Schoolbook"/>
              <a:cs typeface="Century Schoolbook"/>
              <a:sym typeface="Century Schoolbook"/>
            </a:endParaRPr>
          </a:p>
          <a:p>
            <a:pPr indent="-228600" lvl="0" marL="457200" rtl="0" algn="l">
              <a:lnSpc>
                <a:spcPct val="90000"/>
              </a:lnSpc>
              <a:spcBef>
                <a:spcPts val="1000"/>
              </a:spcBef>
              <a:spcAft>
                <a:spcPts val="0"/>
              </a:spcAft>
              <a:buClr>
                <a:schemeClr val="dk1"/>
              </a:buClr>
              <a:buSzPts val="1800"/>
              <a:buNone/>
            </a:pPr>
            <a:r>
              <a:t/>
            </a:r>
            <a:endParaRPr/>
          </a:p>
        </p:txBody>
      </p:sp>
      <p:sp>
        <p:nvSpPr>
          <p:cNvPr id="103" name="Google Shape;103;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cxnSp>
        <p:nvCxnSpPr>
          <p:cNvPr id="104" name="Google Shape;104;p53"/>
          <p:cNvCxnSpPr/>
          <p:nvPr/>
        </p:nvCxnSpPr>
        <p:spPr>
          <a:xfrm>
            <a:off x="1037446" y="1304003"/>
            <a:ext cx="10139540" cy="0"/>
          </a:xfrm>
          <a:prstGeom prst="straightConnector1">
            <a:avLst/>
          </a:prstGeom>
          <a:noFill/>
          <a:ln cap="flat" cmpd="sng" w="9525">
            <a:solidFill>
              <a:schemeClr val="dk1"/>
            </a:solidFill>
            <a:prstDash val="solid"/>
            <a:round/>
            <a:headEnd len="med" w="med" type="oval"/>
            <a:tailEnd len="med" w="med" type="oval"/>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
          <p:cNvSpPr txBox="1"/>
          <p:nvPr>
            <p:ph type="ctrTitle"/>
          </p:nvPr>
        </p:nvSpPr>
        <p:spPr>
          <a:xfrm>
            <a:off x="838200" y="473191"/>
            <a:ext cx="10515600" cy="113116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b="1" lang="en-US" u="sng"/>
              <a:t>Let’s Think Data</a:t>
            </a:r>
            <a:endParaRPr b="1" u="sng"/>
          </a:p>
        </p:txBody>
      </p:sp>
      <p:sp>
        <p:nvSpPr>
          <p:cNvPr id="110" name="Google Shape;110;p3"/>
          <p:cNvSpPr txBox="1"/>
          <p:nvPr>
            <p:ph idx="1" type="subTitle"/>
          </p:nvPr>
        </p:nvSpPr>
        <p:spPr>
          <a:xfrm>
            <a:off x="838200" y="1690688"/>
            <a:ext cx="10515600" cy="4251960"/>
          </a:xfrm>
          <a:prstGeom prst="rect">
            <a:avLst/>
          </a:prstGeom>
          <a:noFill/>
          <a:ln>
            <a:noFill/>
          </a:ln>
        </p:spPr>
        <p:txBody>
          <a:bodyPr anchorCtr="0" anchor="t" bIns="45700" lIns="91425" spcFirstLastPara="1" rIns="91425" wrap="square" tIns="45700">
            <a:noAutofit/>
          </a:bodyPr>
          <a:lstStyle/>
          <a:p>
            <a:pPr indent="-342900" lvl="0" marL="457200" rtl="0" algn="just">
              <a:lnSpc>
                <a:spcPct val="150000"/>
              </a:lnSpc>
              <a:spcBef>
                <a:spcPts val="0"/>
              </a:spcBef>
              <a:spcAft>
                <a:spcPts val="0"/>
              </a:spcAft>
              <a:buClr>
                <a:schemeClr val="dk1"/>
              </a:buClr>
              <a:buSzPts val="3600"/>
              <a:buFont typeface="Noto Sans Symbols"/>
              <a:buChar char="▪"/>
            </a:pPr>
            <a:r>
              <a:rPr lang="en-US"/>
              <a:t>Let’s pick a random literals and operators from random picker and discuss about the data type and its implementation in real time code. </a:t>
            </a:r>
            <a:endParaRPr/>
          </a:p>
        </p:txBody>
      </p:sp>
      <p:sp>
        <p:nvSpPr>
          <p:cNvPr id="111" name="Google Shape;111;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5" name="Shape 115"/>
        <p:cNvGrpSpPr/>
        <p:nvPr/>
      </p:nvGrpSpPr>
      <p:grpSpPr>
        <a:xfrm>
          <a:off x="0" y="0"/>
          <a:ext cx="0" cy="0"/>
          <a:chOff x="0" y="0"/>
          <a:chExt cx="0" cy="0"/>
        </a:xfrm>
      </p:grpSpPr>
      <p:sp>
        <p:nvSpPr>
          <p:cNvPr id="116" name="Google Shape;116;p54"/>
          <p:cNvSpPr txBox="1"/>
          <p:nvPr>
            <p:ph type="title"/>
          </p:nvPr>
        </p:nvSpPr>
        <p:spPr>
          <a:xfrm>
            <a:off x="838200" y="814329"/>
            <a:ext cx="10515600" cy="91503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4000">
                <a:solidFill>
                  <a:schemeClr val="dk1"/>
                </a:solidFill>
              </a:rPr>
              <a:t>What is Python?</a:t>
            </a:r>
            <a:endParaRPr/>
          </a:p>
        </p:txBody>
      </p:sp>
      <p:sp>
        <p:nvSpPr>
          <p:cNvPr id="117" name="Google Shape;117;p54"/>
          <p:cNvSpPr txBox="1"/>
          <p:nvPr>
            <p:ph idx="1" type="body"/>
          </p:nvPr>
        </p:nvSpPr>
        <p:spPr>
          <a:xfrm>
            <a:off x="838200" y="1825625"/>
            <a:ext cx="10450484" cy="3760528"/>
          </a:xfrm>
          <a:prstGeom prst="rect">
            <a:avLst/>
          </a:prstGeom>
          <a:noFill/>
          <a:ln>
            <a:noFill/>
          </a:ln>
        </p:spPr>
        <p:txBody>
          <a:bodyPr anchorCtr="0" anchor="t" bIns="45700" lIns="91425" spcFirstLastPara="1" rIns="91425" wrap="square" tIns="45700">
            <a:normAutofit fontScale="92500" lnSpcReduction="10000"/>
          </a:bodyPr>
          <a:lstStyle/>
          <a:p>
            <a:pPr indent="-342900" lvl="0" marL="457200" rtl="0" algn="l">
              <a:lnSpc>
                <a:spcPct val="150000"/>
              </a:lnSpc>
              <a:spcBef>
                <a:spcPts val="1000"/>
              </a:spcBef>
              <a:spcAft>
                <a:spcPts val="0"/>
              </a:spcAft>
              <a:buSzPct val="81081"/>
              <a:buFont typeface="Noto Sans Symbols"/>
              <a:buChar char="▪"/>
            </a:pPr>
            <a:r>
              <a:rPr lang="en-US" sz="2400">
                <a:solidFill>
                  <a:schemeClr val="dk1"/>
                </a:solidFill>
              </a:rPr>
              <a:t>Python is an </a:t>
            </a:r>
            <a:r>
              <a:rPr b="1" lang="en-US" sz="2400">
                <a:solidFill>
                  <a:schemeClr val="dk1"/>
                </a:solidFill>
              </a:rPr>
              <a:t>interpreted,</a:t>
            </a:r>
            <a:r>
              <a:rPr lang="en-US" sz="2400">
                <a:solidFill>
                  <a:schemeClr val="dk1"/>
                </a:solidFill>
              </a:rPr>
              <a:t> </a:t>
            </a:r>
            <a:r>
              <a:rPr b="1" lang="en-US" sz="2400">
                <a:solidFill>
                  <a:schemeClr val="dk1"/>
                </a:solidFill>
              </a:rPr>
              <a:t>object oriented</a:t>
            </a:r>
            <a:r>
              <a:rPr lang="en-US" sz="2400">
                <a:solidFill>
                  <a:schemeClr val="dk1"/>
                </a:solidFill>
              </a:rPr>
              <a:t>, </a:t>
            </a:r>
            <a:r>
              <a:rPr b="1" lang="en-US" sz="2400">
                <a:solidFill>
                  <a:schemeClr val="dk1"/>
                </a:solidFill>
              </a:rPr>
              <a:t>high level, cross platform programming</a:t>
            </a:r>
            <a:r>
              <a:rPr lang="en-US" sz="2400">
                <a:solidFill>
                  <a:schemeClr val="dk1"/>
                </a:solidFill>
              </a:rPr>
              <a:t> language with dynamic semantics developed by </a:t>
            </a:r>
            <a:r>
              <a:rPr b="1" lang="en-US" sz="2400">
                <a:solidFill>
                  <a:schemeClr val="dk1"/>
                </a:solidFill>
              </a:rPr>
              <a:t>Guido van Rossum</a:t>
            </a:r>
            <a:endParaRPr b="1"/>
          </a:p>
          <a:p>
            <a:pPr indent="-342900" lvl="0" marL="457200" rtl="0" algn="l">
              <a:lnSpc>
                <a:spcPct val="150000"/>
              </a:lnSpc>
              <a:spcBef>
                <a:spcPts val="1000"/>
              </a:spcBef>
              <a:spcAft>
                <a:spcPts val="0"/>
              </a:spcAft>
              <a:buSzPct val="81081"/>
              <a:buFont typeface="Noto Sans Symbols"/>
              <a:buChar char="▪"/>
            </a:pPr>
            <a:r>
              <a:rPr b="1" lang="en-US" sz="2400">
                <a:solidFill>
                  <a:srgbClr val="FF0000"/>
                </a:solidFill>
              </a:rPr>
              <a:t>Developing websites and software, task automation, data analysis and data visualization used by many successful organization.</a:t>
            </a:r>
            <a:endParaRPr/>
          </a:p>
          <a:p>
            <a:pPr indent="-342900" lvl="0" marL="457200" rtl="0" algn="l">
              <a:lnSpc>
                <a:spcPct val="90000"/>
              </a:lnSpc>
              <a:spcBef>
                <a:spcPts val="1000"/>
              </a:spcBef>
              <a:spcAft>
                <a:spcPts val="0"/>
              </a:spcAft>
              <a:buClr>
                <a:schemeClr val="dk1"/>
              </a:buClr>
              <a:buSzPct val="81081"/>
              <a:buChar char="•"/>
            </a:pPr>
            <a:r>
              <a:rPr lang="en-US"/>
              <a:t>Note: Students will be provided 10 minutes to gather around data and its implementation. After 10 minutes of time, tutor will conduct a session where students are selected randomly and asked to discuss about it.</a:t>
            </a:r>
            <a:endParaRPr/>
          </a:p>
          <a:p>
            <a:pPr indent="-228600" lvl="0" marL="457200" rtl="0" algn="l">
              <a:lnSpc>
                <a:spcPct val="90000"/>
              </a:lnSpc>
              <a:spcBef>
                <a:spcPts val="1000"/>
              </a:spcBef>
              <a:spcAft>
                <a:spcPts val="0"/>
              </a:spcAft>
              <a:buClr>
                <a:schemeClr val="dk1"/>
              </a:buClr>
              <a:buSzPct val="81081"/>
              <a:buNone/>
            </a:pPr>
            <a:r>
              <a:t/>
            </a:r>
            <a:endParaRPr>
              <a:latin typeface="Calibri"/>
              <a:ea typeface="Calibri"/>
              <a:cs typeface="Calibri"/>
              <a:sym typeface="Calibri"/>
            </a:endParaRPr>
          </a:p>
          <a:p>
            <a:pPr indent="-228600" lvl="0" marL="457200" rtl="0" algn="l">
              <a:lnSpc>
                <a:spcPct val="90000"/>
              </a:lnSpc>
              <a:spcBef>
                <a:spcPts val="1000"/>
              </a:spcBef>
              <a:spcAft>
                <a:spcPts val="0"/>
              </a:spcAft>
              <a:buClr>
                <a:schemeClr val="dk1"/>
              </a:buClr>
              <a:buSzPct val="81081"/>
              <a:buNone/>
            </a:pPr>
            <a:r>
              <a:t/>
            </a:r>
            <a:endParaRPr/>
          </a:p>
        </p:txBody>
      </p:sp>
      <p:sp>
        <p:nvSpPr>
          <p:cNvPr id="118" name="Google Shape;118;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txBox="1"/>
          <p:nvPr>
            <p:ph type="ctrTitle"/>
          </p:nvPr>
        </p:nvSpPr>
        <p:spPr>
          <a:xfrm>
            <a:off x="962891" y="972272"/>
            <a:ext cx="10566862" cy="2219816"/>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6600"/>
              <a:buFont typeface="Calibri"/>
              <a:buNone/>
            </a:pPr>
            <a:r>
              <a:rPr b="1" lang="en-US"/>
              <a:t>By now, you may  have installed python so now let’s implement.</a:t>
            </a:r>
            <a:endParaRPr b="1"/>
          </a:p>
        </p:txBody>
      </p:sp>
      <p:pic>
        <p:nvPicPr>
          <p:cNvPr descr="Lets Go Vector Art, Icons, and Graphics for Free Download" id="124" name="Google Shape;124;p5"/>
          <p:cNvPicPr preferRelativeResize="0"/>
          <p:nvPr/>
        </p:nvPicPr>
        <p:blipFill rotWithShape="1">
          <a:blip r:embed="rId3">
            <a:alphaModFix/>
          </a:blip>
          <a:srcRect b="0" l="0" r="0" t="0"/>
          <a:stretch/>
        </p:blipFill>
        <p:spPr>
          <a:xfrm>
            <a:off x="4163075" y="3572107"/>
            <a:ext cx="3792826" cy="1581784"/>
          </a:xfrm>
          <a:prstGeom prst="rect">
            <a:avLst/>
          </a:prstGeom>
          <a:noFill/>
          <a:ln>
            <a:noFill/>
          </a:ln>
        </p:spPr>
      </p:pic>
      <p:sp>
        <p:nvSpPr>
          <p:cNvPr id="125" name="Google Shape;12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txBox="1"/>
          <p:nvPr>
            <p:ph type="ctrTitle"/>
          </p:nvPr>
        </p:nvSpPr>
        <p:spPr>
          <a:xfrm>
            <a:off x="738448" y="567763"/>
            <a:ext cx="9577647" cy="967086"/>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u="sng">
                <a:solidFill>
                  <a:srgbClr val="00B050"/>
                </a:solidFill>
              </a:rPr>
              <a:t>Run the first program</a:t>
            </a:r>
            <a:endParaRPr b="1"/>
          </a:p>
        </p:txBody>
      </p:sp>
      <p:sp>
        <p:nvSpPr>
          <p:cNvPr id="131" name="Google Shape;131;p6"/>
          <p:cNvSpPr txBox="1"/>
          <p:nvPr>
            <p:ph idx="1" type="subTitle"/>
          </p:nvPr>
        </p:nvSpPr>
        <p:spPr>
          <a:xfrm>
            <a:off x="1350328" y="1736850"/>
            <a:ext cx="4402500" cy="1152300"/>
          </a:xfrm>
          <a:prstGeom prst="rect">
            <a:avLst/>
          </a:prstGeom>
          <a:noFill/>
          <a:ln>
            <a:noFill/>
          </a:ln>
        </p:spPr>
        <p:txBody>
          <a:bodyPr anchorCtr="0" anchor="t" bIns="45700" lIns="91425" spcFirstLastPara="1" rIns="91425" wrap="square" tIns="45700">
            <a:normAutofit/>
          </a:bodyPr>
          <a:lstStyle/>
          <a:p>
            <a:pPr indent="-127000" lvl="0" marL="91440" rtl="0" algn="l">
              <a:lnSpc>
                <a:spcPct val="90000"/>
              </a:lnSpc>
              <a:spcBef>
                <a:spcPts val="0"/>
              </a:spcBef>
              <a:spcAft>
                <a:spcPts val="0"/>
              </a:spcAft>
              <a:buClr>
                <a:srgbClr val="FF0000"/>
              </a:buClr>
              <a:buSzPts val="2000"/>
              <a:buChar char=" "/>
            </a:pPr>
            <a:r>
              <a:rPr b="1" lang="en-US" sz="2000">
                <a:solidFill>
                  <a:srgbClr val="FF0000"/>
                </a:solidFill>
                <a:latin typeface="Courier New"/>
                <a:ea typeface="Courier New"/>
                <a:cs typeface="Courier New"/>
                <a:sym typeface="Courier New"/>
              </a:rPr>
              <a:t>print(</a:t>
            </a:r>
            <a:r>
              <a:rPr b="1" lang="en-US" sz="2000">
                <a:solidFill>
                  <a:schemeClr val="accent6"/>
                </a:solidFill>
                <a:latin typeface="Courier New"/>
                <a:ea typeface="Courier New"/>
                <a:cs typeface="Courier New"/>
                <a:sym typeface="Courier New"/>
              </a:rPr>
              <a:t>“</a:t>
            </a:r>
            <a:r>
              <a:rPr b="1" lang="en-US" sz="2000">
                <a:solidFill>
                  <a:schemeClr val="accent1"/>
                </a:solidFill>
                <a:latin typeface="Courier New"/>
                <a:ea typeface="Courier New"/>
                <a:cs typeface="Courier New"/>
                <a:sym typeface="Courier New"/>
              </a:rPr>
              <a:t>Hello, World_</a:t>
            </a:r>
            <a:r>
              <a:rPr b="1" lang="en-US" sz="2000">
                <a:solidFill>
                  <a:schemeClr val="accent6"/>
                </a:solidFill>
                <a:latin typeface="Courier New"/>
                <a:ea typeface="Courier New"/>
                <a:cs typeface="Courier New"/>
                <a:sym typeface="Courier New"/>
              </a:rPr>
              <a:t>”</a:t>
            </a:r>
            <a:r>
              <a:rPr b="1" lang="en-US" sz="2000">
                <a:solidFill>
                  <a:srgbClr val="FF0000"/>
                </a:solidFill>
                <a:latin typeface="Courier New"/>
                <a:ea typeface="Courier New"/>
                <a:cs typeface="Courier New"/>
                <a:sym typeface="Courier New"/>
              </a:rPr>
              <a:t>)</a:t>
            </a:r>
            <a:br>
              <a:rPr lang="en-US" sz="2000">
                <a:latin typeface="Courier New"/>
                <a:ea typeface="Courier New"/>
                <a:cs typeface="Courier New"/>
                <a:sym typeface="Courier New"/>
              </a:rPr>
            </a:br>
            <a:br>
              <a:rPr lang="en-US" sz="2000">
                <a:latin typeface="Courier New"/>
                <a:ea typeface="Courier New"/>
                <a:cs typeface="Courier New"/>
                <a:sym typeface="Courier New"/>
              </a:rPr>
            </a:br>
            <a:r>
              <a:rPr lang="en-US" sz="2000">
                <a:latin typeface="Courier New"/>
                <a:ea typeface="Courier New"/>
                <a:cs typeface="Courier New"/>
                <a:sym typeface="Courier New"/>
              </a:rPr>
              <a:t> </a:t>
            </a:r>
            <a:endParaRPr sz="2000">
              <a:latin typeface="Courier New"/>
              <a:ea typeface="Courier New"/>
              <a:cs typeface="Courier New"/>
              <a:sym typeface="Courier New"/>
            </a:endParaRPr>
          </a:p>
        </p:txBody>
      </p:sp>
      <p:pic>
        <p:nvPicPr>
          <p:cNvPr descr="Code Factory — Hello World. Explaining 'hello world' with analogy… | by  Shafi Sahal | DataDrivenInvestor" id="132" name="Google Shape;132;p6"/>
          <p:cNvPicPr preferRelativeResize="0"/>
          <p:nvPr/>
        </p:nvPicPr>
        <p:blipFill rotWithShape="1">
          <a:blip r:embed="rId3">
            <a:alphaModFix/>
          </a:blip>
          <a:srcRect b="0" l="0" r="0" t="0"/>
          <a:stretch/>
        </p:blipFill>
        <p:spPr>
          <a:xfrm>
            <a:off x="7176862" y="1522479"/>
            <a:ext cx="3992016" cy="2084310"/>
          </a:xfrm>
          <a:prstGeom prst="rect">
            <a:avLst/>
          </a:prstGeom>
          <a:noFill/>
          <a:ln>
            <a:noFill/>
          </a:ln>
        </p:spPr>
      </p:pic>
      <p:sp>
        <p:nvSpPr>
          <p:cNvPr id="133" name="Google Shape;133;p6"/>
          <p:cNvSpPr/>
          <p:nvPr/>
        </p:nvSpPr>
        <p:spPr>
          <a:xfrm>
            <a:off x="365325" y="4956558"/>
            <a:ext cx="2136371" cy="967086"/>
          </a:xfrm>
          <a:prstGeom prst="rect">
            <a:avLst/>
          </a:prstGeom>
          <a:solidFill>
            <a:schemeClr val="accent6"/>
          </a:solidFill>
          <a:ln cap="flat" cmpd="sng" w="12700">
            <a:solidFill>
              <a:srgbClr val="517E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OBSERVE</a:t>
            </a:r>
            <a:endParaRPr b="0" i="0" sz="1800" u="none" cap="none" strike="noStrike">
              <a:solidFill>
                <a:schemeClr val="lt1"/>
              </a:solidFill>
              <a:latin typeface="Calibri"/>
              <a:ea typeface="Calibri"/>
              <a:cs typeface="Calibri"/>
              <a:sym typeface="Calibri"/>
            </a:endParaRPr>
          </a:p>
        </p:txBody>
      </p:sp>
      <p:sp>
        <p:nvSpPr>
          <p:cNvPr id="134" name="Google Shape;134;p6"/>
          <p:cNvSpPr/>
          <p:nvPr/>
        </p:nvSpPr>
        <p:spPr>
          <a:xfrm>
            <a:off x="4284203" y="5788770"/>
            <a:ext cx="2193372" cy="1002934"/>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THINK</a:t>
            </a:r>
            <a:endParaRPr b="0" i="0" sz="1800" u="none" cap="none" strike="noStrike">
              <a:solidFill>
                <a:schemeClr val="lt1"/>
              </a:solidFill>
              <a:latin typeface="Calibri"/>
              <a:ea typeface="Calibri"/>
              <a:cs typeface="Calibri"/>
              <a:sym typeface="Calibri"/>
            </a:endParaRPr>
          </a:p>
        </p:txBody>
      </p:sp>
      <p:sp>
        <p:nvSpPr>
          <p:cNvPr id="135" name="Google Shape;135;p6"/>
          <p:cNvSpPr/>
          <p:nvPr/>
        </p:nvSpPr>
        <p:spPr>
          <a:xfrm>
            <a:off x="7868607" y="5029058"/>
            <a:ext cx="2136300" cy="967200"/>
          </a:xfrm>
          <a:prstGeom prst="rect">
            <a:avLst/>
          </a:prstGeom>
          <a:solidFill>
            <a:schemeClr val="accent2"/>
          </a:solidFill>
          <a:ln cap="flat" cmpd="sng" w="12700">
            <a:solidFill>
              <a:srgbClr val="AC5B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QUESTION?</a:t>
            </a:r>
            <a:endParaRPr b="0" i="0" sz="1800" u="none" cap="none" strike="noStrike">
              <a:solidFill>
                <a:schemeClr val="lt1"/>
              </a:solidFill>
              <a:latin typeface="Calibri"/>
              <a:ea typeface="Calibri"/>
              <a:cs typeface="Calibri"/>
              <a:sym typeface="Calibri"/>
            </a:endParaRPr>
          </a:p>
        </p:txBody>
      </p:sp>
      <p:sp>
        <p:nvSpPr>
          <p:cNvPr id="136" name="Google Shape;136;p6"/>
          <p:cNvSpPr/>
          <p:nvPr/>
        </p:nvSpPr>
        <p:spPr>
          <a:xfrm rot="-5400000">
            <a:off x="2048075" y="4256794"/>
            <a:ext cx="376418" cy="520497"/>
          </a:xfrm>
          <a:prstGeom prst="downArrow">
            <a:avLst>
              <a:gd fmla="val 50000" name="adj1"/>
              <a:gd fmla="val 50000" name="adj2"/>
            </a:avLst>
          </a:prstGeom>
          <a:gradFill>
            <a:gsLst>
              <a:gs pos="0">
                <a:srgbClr val="70A5DA"/>
              </a:gs>
              <a:gs pos="50000">
                <a:srgbClr val="539BDB"/>
              </a:gs>
              <a:gs pos="100000">
                <a:srgbClr val="4288C8"/>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7" name="Google Shape;137;p6"/>
          <p:cNvSpPr/>
          <p:nvPr/>
        </p:nvSpPr>
        <p:spPr>
          <a:xfrm>
            <a:off x="5907792" y="3211800"/>
            <a:ext cx="376418" cy="520497"/>
          </a:xfrm>
          <a:prstGeom prst="downArrow">
            <a:avLst>
              <a:gd fmla="val 50000" name="adj1"/>
              <a:gd fmla="val 50000" name="adj2"/>
            </a:avLst>
          </a:prstGeom>
          <a:gradFill>
            <a:gsLst>
              <a:gs pos="0">
                <a:srgbClr val="70A5DA"/>
              </a:gs>
              <a:gs pos="50000">
                <a:srgbClr val="539BDB"/>
              </a:gs>
              <a:gs pos="100000">
                <a:srgbClr val="4288C8"/>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8" name="Google Shape;13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9" name="Google Shape;139;p6"/>
          <p:cNvSpPr txBox="1"/>
          <p:nvPr/>
        </p:nvSpPr>
        <p:spPr>
          <a:xfrm>
            <a:off x="3225875" y="3858096"/>
            <a:ext cx="6503399" cy="348557"/>
          </a:xfrm>
          <a:prstGeom prst="rect">
            <a:avLst/>
          </a:prstGeom>
          <a:noFill/>
          <a:ln>
            <a:noFill/>
          </a:ln>
        </p:spPr>
        <p:txBody>
          <a:bodyPr anchorCtr="0" anchor="t" bIns="45700" lIns="91425" spcFirstLastPara="1" rIns="91425" wrap="square" tIns="45700">
            <a:spAutoFit/>
          </a:bodyPr>
          <a:lstStyle/>
          <a:p>
            <a:pPr indent="-127000" lvl="0" marL="91440" marR="0" rtl="0" algn="l">
              <a:lnSpc>
                <a:spcPct val="90000"/>
              </a:lnSpc>
              <a:spcBef>
                <a:spcPts val="0"/>
              </a:spcBef>
              <a:spcAft>
                <a:spcPts val="0"/>
              </a:spcAft>
              <a:buClr>
                <a:srgbClr val="FF0000"/>
              </a:buClr>
              <a:buSzPts val="2000"/>
              <a:buFont typeface="Arial"/>
              <a:buChar char=" "/>
            </a:pPr>
            <a:r>
              <a:rPr b="1" i="0" lang="en-US" sz="1800" u="none" cap="none" strike="noStrike">
                <a:solidFill>
                  <a:srgbClr val="FF0000"/>
                </a:solidFill>
                <a:latin typeface="Courier New"/>
                <a:ea typeface="Courier New"/>
                <a:cs typeface="Courier New"/>
                <a:sym typeface="Courier New"/>
              </a:rPr>
              <a:t>print(</a:t>
            </a:r>
            <a:r>
              <a:rPr b="1" i="0" lang="en-US" sz="1800" u="none" cap="none" strike="noStrike">
                <a:solidFill>
                  <a:schemeClr val="accent6"/>
                </a:solidFill>
                <a:latin typeface="Courier New"/>
                <a:ea typeface="Courier New"/>
                <a:cs typeface="Courier New"/>
                <a:sym typeface="Courier New"/>
              </a:rPr>
              <a:t>“</a:t>
            </a:r>
            <a:r>
              <a:rPr b="1" i="0" lang="en-US" sz="1800" u="none" cap="none" strike="noStrike">
                <a:solidFill>
                  <a:schemeClr val="accent1"/>
                </a:solidFill>
                <a:latin typeface="Courier New"/>
                <a:ea typeface="Courier New"/>
                <a:cs typeface="Courier New"/>
                <a:sym typeface="Courier New"/>
              </a:rPr>
              <a:t>Hello World123!</a:t>
            </a:r>
            <a:r>
              <a:rPr b="1" i="0" lang="en-US" sz="1800" u="none" cap="none" strike="noStrike">
                <a:solidFill>
                  <a:schemeClr val="accent6"/>
                </a:solidFill>
                <a:latin typeface="Courier New"/>
                <a:ea typeface="Courier New"/>
                <a:cs typeface="Courier New"/>
                <a:sym typeface="Courier New"/>
              </a:rPr>
              <a:t>”</a:t>
            </a:r>
            <a:r>
              <a:rPr b="1" i="0" lang="en-US" sz="1800" u="none" cap="none" strike="noStrike">
                <a:solidFill>
                  <a:srgbClr val="FF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140" name="Google Shape;140;p6"/>
          <p:cNvSpPr txBox="1"/>
          <p:nvPr/>
        </p:nvSpPr>
        <p:spPr>
          <a:xfrm>
            <a:off x="3271476" y="4335610"/>
            <a:ext cx="365186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Courier New"/>
                <a:ea typeface="Courier New"/>
                <a:cs typeface="Courier New"/>
                <a:sym typeface="Courier New"/>
              </a:rPr>
              <a:t>Output: Hello World123! </a:t>
            </a:r>
            <a:endParaRPr b="0" i="0" sz="1400" u="none" cap="none" strike="noStrike">
              <a:solidFill>
                <a:srgbClr val="000000"/>
              </a:solidFill>
              <a:latin typeface="Arial"/>
              <a:ea typeface="Arial"/>
              <a:cs typeface="Arial"/>
              <a:sym typeface="Arial"/>
            </a:endParaRPr>
          </a:p>
        </p:txBody>
      </p:sp>
      <p:sp>
        <p:nvSpPr>
          <p:cNvPr id="141" name="Google Shape;141;p6"/>
          <p:cNvSpPr txBox="1"/>
          <p:nvPr/>
        </p:nvSpPr>
        <p:spPr>
          <a:xfrm>
            <a:off x="1431472" y="2628900"/>
            <a:ext cx="382632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Courier New"/>
                <a:ea typeface="Courier New"/>
                <a:cs typeface="Courier New"/>
                <a:sym typeface="Courier New"/>
              </a:rPr>
              <a:t>Output: Hello</a:t>
            </a:r>
            <a:r>
              <a:rPr lang="en-US" sz="2000">
                <a:latin typeface="Courier New"/>
                <a:ea typeface="Courier New"/>
                <a:cs typeface="Courier New"/>
                <a:sym typeface="Courier New"/>
              </a:rPr>
              <a:t>, </a:t>
            </a:r>
            <a:r>
              <a:rPr b="0" i="0" lang="en-US" sz="2000" u="none" cap="none" strike="noStrike">
                <a:solidFill>
                  <a:srgbClr val="000000"/>
                </a:solidFill>
                <a:latin typeface="Courier New"/>
                <a:ea typeface="Courier New"/>
                <a:cs typeface="Courier New"/>
                <a:sym typeface="Courier New"/>
              </a:rPr>
              <a:t>World</a:t>
            </a:r>
            <a:r>
              <a:rPr lang="en-US" sz="2000">
                <a:latin typeface="Courier New"/>
                <a:ea typeface="Courier New"/>
                <a:cs typeface="Courier New"/>
                <a:sym typeface="Courier New"/>
              </a:rPr>
              <a:t>_</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7"/>
          <p:cNvSpPr txBox="1"/>
          <p:nvPr>
            <p:ph type="ctrTitle"/>
          </p:nvPr>
        </p:nvSpPr>
        <p:spPr>
          <a:xfrm>
            <a:off x="538941" y="696190"/>
            <a:ext cx="10515600" cy="652550"/>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u="sng">
                <a:solidFill>
                  <a:schemeClr val="dk1"/>
                </a:solidFill>
              </a:rPr>
              <a:t>Python Literals</a:t>
            </a:r>
            <a:endParaRPr b="1">
              <a:solidFill>
                <a:schemeClr val="dk1"/>
              </a:solidFill>
            </a:endParaRPr>
          </a:p>
        </p:txBody>
      </p:sp>
      <p:sp>
        <p:nvSpPr>
          <p:cNvPr id="147" name="Google Shape;147;p7"/>
          <p:cNvSpPr txBox="1"/>
          <p:nvPr/>
        </p:nvSpPr>
        <p:spPr>
          <a:xfrm>
            <a:off x="473824" y="1690688"/>
            <a:ext cx="11154233" cy="4144847"/>
          </a:xfrm>
          <a:prstGeom prst="rect">
            <a:avLst/>
          </a:prstGeom>
          <a:noFill/>
          <a:ln>
            <a:noFill/>
          </a:ln>
        </p:spPr>
        <p:txBody>
          <a:bodyPr anchorCtr="0" anchor="t" bIns="45700" lIns="91425" spcFirstLastPara="1" rIns="91425" wrap="square" tIns="45700">
            <a:noAutofit/>
          </a:bodyPr>
          <a:lstStyle/>
          <a:p>
            <a:pPr indent="0" lvl="0" marL="114300" marR="0" rtl="0" algn="l">
              <a:lnSpc>
                <a:spcPct val="90000"/>
              </a:lnSpc>
              <a:spcBef>
                <a:spcPts val="0"/>
              </a:spcBef>
              <a:spcAft>
                <a:spcPts val="0"/>
              </a:spcAft>
              <a:buClr>
                <a:schemeClr val="dk1"/>
              </a:buClr>
              <a:buSzPts val="4800"/>
              <a:buFont typeface="Arial"/>
              <a:buNone/>
            </a:pPr>
            <a:r>
              <a:rPr b="1" i="0" lang="en-US" sz="2400" u="none" cap="none" strike="noStrike">
                <a:solidFill>
                  <a:schemeClr val="dk1"/>
                </a:solidFill>
                <a:latin typeface="Arial"/>
                <a:ea typeface="Arial"/>
                <a:cs typeface="Arial"/>
                <a:sym typeface="Arial"/>
              </a:rPr>
              <a:t>What are Python Literals? </a:t>
            </a:r>
            <a:endParaRPr b="1" i="0" sz="2400" u="none" cap="none" strike="noStrike">
              <a:solidFill>
                <a:schemeClr val="dk1"/>
              </a:solidFill>
              <a:latin typeface="Arial"/>
              <a:ea typeface="Arial"/>
              <a:cs typeface="Arial"/>
              <a:sym typeface="Arial"/>
            </a:endParaRPr>
          </a:p>
          <a:p>
            <a:pPr indent="-342900" lvl="0" marL="457200" marR="0" rtl="0" algn="l">
              <a:lnSpc>
                <a:spcPct val="150000"/>
              </a:lnSpc>
              <a:spcBef>
                <a:spcPts val="1000"/>
              </a:spcBef>
              <a:spcAft>
                <a:spcPts val="0"/>
              </a:spcAft>
              <a:buClr>
                <a:schemeClr val="dk1"/>
              </a:buClr>
              <a:buSzPts val="4800"/>
              <a:buFont typeface="Noto Sans Symbols"/>
              <a:buChar char="▪"/>
            </a:pPr>
            <a:r>
              <a:rPr b="0" i="0" lang="en-US" sz="2400" u="none" cap="none" strike="noStrike">
                <a:solidFill>
                  <a:schemeClr val="dk1"/>
                </a:solidFill>
                <a:latin typeface="Arial"/>
                <a:ea typeface="Arial"/>
                <a:cs typeface="Arial"/>
                <a:sym typeface="Arial"/>
              </a:rPr>
              <a:t>In python, data are categorized into different form which we refer as literals. </a:t>
            </a:r>
            <a:endParaRPr/>
          </a:p>
          <a:p>
            <a:pPr indent="-342900" lvl="0" marL="457200" marR="0" rtl="0" algn="l">
              <a:lnSpc>
                <a:spcPct val="150000"/>
              </a:lnSpc>
              <a:spcBef>
                <a:spcPts val="1000"/>
              </a:spcBef>
              <a:spcAft>
                <a:spcPts val="0"/>
              </a:spcAft>
              <a:buClr>
                <a:schemeClr val="dk1"/>
              </a:buClr>
              <a:buSzPts val="4800"/>
              <a:buFont typeface="Noto Sans Symbols"/>
              <a:buChar char="▪"/>
            </a:pPr>
            <a:r>
              <a:rPr b="0" i="0" lang="en-US" sz="2400" u="none" cap="none" strike="noStrike">
                <a:solidFill>
                  <a:schemeClr val="dk1"/>
                </a:solidFill>
                <a:latin typeface="Arial"/>
                <a:ea typeface="Arial"/>
                <a:cs typeface="Arial"/>
                <a:sym typeface="Arial"/>
              </a:rPr>
              <a:t>Literals are representation of fixed value in a program. </a:t>
            </a:r>
            <a:endParaRPr/>
          </a:p>
          <a:p>
            <a:pPr indent="-342900" lvl="0" marL="457200" marR="0" rtl="0" algn="l">
              <a:lnSpc>
                <a:spcPct val="150000"/>
              </a:lnSpc>
              <a:spcBef>
                <a:spcPts val="1000"/>
              </a:spcBef>
              <a:spcAft>
                <a:spcPts val="0"/>
              </a:spcAft>
              <a:buClr>
                <a:schemeClr val="dk1"/>
              </a:buClr>
              <a:buSzPts val="4800"/>
              <a:buFont typeface="Noto Sans Symbols"/>
              <a:buChar char="▪"/>
            </a:pPr>
            <a:r>
              <a:rPr b="0" i="0" lang="en-US" sz="2400" u="none" cap="none" strike="noStrike">
                <a:solidFill>
                  <a:schemeClr val="dk1"/>
                </a:solidFill>
                <a:latin typeface="Arial"/>
                <a:ea typeface="Arial"/>
                <a:cs typeface="Arial"/>
                <a:sym typeface="Arial"/>
              </a:rPr>
              <a:t>They can be numbers, strings, Boolean and so on.</a:t>
            </a:r>
            <a:endParaRPr b="0" i="0" sz="2400" u="none" cap="none" strike="noStrike">
              <a:solidFill>
                <a:srgbClr val="000000"/>
              </a:solidFill>
              <a:latin typeface="Arial"/>
              <a:ea typeface="Arial"/>
              <a:cs typeface="Arial"/>
              <a:sym typeface="Arial"/>
            </a:endParaRPr>
          </a:p>
        </p:txBody>
      </p:sp>
      <p:sp>
        <p:nvSpPr>
          <p:cNvPr id="148" name="Google Shape;14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8"/>
          <p:cNvSpPr txBox="1"/>
          <p:nvPr>
            <p:ph type="ctrTitle"/>
          </p:nvPr>
        </p:nvSpPr>
        <p:spPr>
          <a:xfrm>
            <a:off x="680243" y="215500"/>
            <a:ext cx="11143800" cy="1325400"/>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u="sng">
                <a:solidFill>
                  <a:schemeClr val="dk1"/>
                </a:solidFill>
              </a:rPr>
              <a:t>Literals and Its Implementation</a:t>
            </a:r>
            <a:endParaRPr b="1" u="sng">
              <a:solidFill>
                <a:schemeClr val="dk1"/>
              </a:solidFill>
            </a:endParaRPr>
          </a:p>
        </p:txBody>
      </p:sp>
      <p:sp>
        <p:nvSpPr>
          <p:cNvPr id="154" name="Google Shape;154;p8"/>
          <p:cNvSpPr/>
          <p:nvPr/>
        </p:nvSpPr>
        <p:spPr>
          <a:xfrm>
            <a:off x="735019" y="1336209"/>
            <a:ext cx="11143800" cy="3785611"/>
          </a:xfrm>
          <a:prstGeom prst="rect">
            <a:avLst/>
          </a:prstGeom>
          <a:noFill/>
          <a:ln>
            <a:noFill/>
          </a:ln>
        </p:spPr>
        <p:txBody>
          <a:bodyPr anchorCtr="0" anchor="t" bIns="45700" lIns="91425" spcFirstLastPara="1" rIns="91425" wrap="square" tIns="45700">
            <a:spAutoFit/>
          </a:bodyPr>
          <a:lstStyle/>
          <a:p>
            <a:pPr indent="-63500" lvl="0" marL="63500" marR="0" rtl="0" algn="just">
              <a:lnSpc>
                <a:spcPct val="200000"/>
              </a:lnSpc>
              <a:spcBef>
                <a:spcPts val="0"/>
              </a:spcBef>
              <a:spcAft>
                <a:spcPts val="0"/>
              </a:spcAft>
              <a:buClr>
                <a:schemeClr val="accent2"/>
              </a:buClr>
              <a:buSzPts val="4400"/>
              <a:buFont typeface="Noto Sans Symbols"/>
              <a:buChar char="▪"/>
            </a:pPr>
            <a:r>
              <a:rPr b="1" i="0" lang="en-US" sz="2400" u="none" cap="none" strike="noStrike">
                <a:solidFill>
                  <a:schemeClr val="accent2"/>
                </a:solidFill>
                <a:latin typeface="Arial"/>
                <a:ea typeface="Arial"/>
                <a:cs typeface="Arial"/>
                <a:sym typeface="Arial"/>
              </a:rPr>
              <a:t>Numeric Literals: </a:t>
            </a:r>
            <a:r>
              <a:rPr b="0" i="0" lang="en-US" sz="2400" u="none" cap="none" strike="noStrike">
                <a:solidFill>
                  <a:srgbClr val="000000"/>
                </a:solidFill>
                <a:latin typeface="Arial"/>
                <a:ea typeface="Arial"/>
                <a:cs typeface="Arial"/>
                <a:sym typeface="Arial"/>
              </a:rPr>
              <a:t>int, float and complex  </a:t>
            </a:r>
            <a:endParaRPr b="0" i="0" sz="2400" u="none" cap="none" strike="noStrike">
              <a:solidFill>
                <a:srgbClr val="000000"/>
              </a:solidFill>
              <a:latin typeface="Arial"/>
              <a:ea typeface="Arial"/>
              <a:cs typeface="Arial"/>
              <a:sym typeface="Arial"/>
            </a:endParaRPr>
          </a:p>
          <a:p>
            <a:pPr indent="-63500" lvl="0" marL="63500" marR="0" rtl="0" algn="just">
              <a:lnSpc>
                <a:spcPct val="200000"/>
              </a:lnSpc>
              <a:spcBef>
                <a:spcPts val="0"/>
              </a:spcBef>
              <a:spcAft>
                <a:spcPts val="0"/>
              </a:spcAft>
              <a:buClr>
                <a:schemeClr val="accent2"/>
              </a:buClr>
              <a:buSzPts val="4400"/>
              <a:buFont typeface="Noto Sans Symbols"/>
              <a:buChar char="▪"/>
            </a:pPr>
            <a:r>
              <a:rPr b="1" i="0" lang="en-US" sz="2400" u="none" cap="none" strike="noStrike">
                <a:solidFill>
                  <a:schemeClr val="accent2"/>
                </a:solidFill>
                <a:latin typeface="Arial"/>
                <a:ea typeface="Arial"/>
                <a:cs typeface="Arial"/>
                <a:sym typeface="Arial"/>
              </a:rPr>
              <a:t>String Literals: </a:t>
            </a:r>
            <a:r>
              <a:rPr b="0" i="0" lang="en-US" sz="2400" u="none" cap="none" strike="noStrike">
                <a:solidFill>
                  <a:srgbClr val="000000"/>
                </a:solidFill>
                <a:latin typeface="Arial"/>
                <a:ea typeface="Arial"/>
                <a:cs typeface="Arial"/>
                <a:sym typeface="Arial"/>
              </a:rPr>
              <a:t>str</a:t>
            </a:r>
            <a:endParaRPr b="0" i="0" sz="2400" u="none" cap="none" strike="noStrike">
              <a:solidFill>
                <a:srgbClr val="000000"/>
              </a:solidFill>
              <a:latin typeface="Arial"/>
              <a:ea typeface="Arial"/>
              <a:cs typeface="Arial"/>
              <a:sym typeface="Arial"/>
            </a:endParaRPr>
          </a:p>
          <a:p>
            <a:pPr indent="-63500" lvl="0" marL="63500" marR="0" rtl="0" algn="just">
              <a:lnSpc>
                <a:spcPct val="200000"/>
              </a:lnSpc>
              <a:spcBef>
                <a:spcPts val="0"/>
              </a:spcBef>
              <a:spcAft>
                <a:spcPts val="0"/>
              </a:spcAft>
              <a:buClr>
                <a:srgbClr val="0070C0"/>
              </a:buClr>
              <a:buSzPts val="4400"/>
              <a:buFont typeface="Noto Sans Symbols"/>
              <a:buChar char="▪"/>
            </a:pPr>
            <a:r>
              <a:rPr b="1" i="0" lang="en-US" sz="2400" u="none" cap="none" strike="noStrike">
                <a:solidFill>
                  <a:srgbClr val="0070C0"/>
                </a:solidFill>
                <a:latin typeface="Arial"/>
                <a:ea typeface="Arial"/>
                <a:cs typeface="Arial"/>
                <a:sym typeface="Arial"/>
              </a:rPr>
              <a:t>Boolean Literals: </a:t>
            </a:r>
            <a:r>
              <a:rPr b="0" i="0" lang="en-US" sz="2400" u="none" cap="none" strike="noStrike">
                <a:solidFill>
                  <a:srgbClr val="000000"/>
                </a:solidFill>
                <a:latin typeface="Arial"/>
                <a:ea typeface="Arial"/>
                <a:cs typeface="Arial"/>
                <a:sym typeface="Arial"/>
              </a:rPr>
              <a:t>True and False</a:t>
            </a:r>
            <a:endParaRPr b="0" i="0" sz="2400" u="none" cap="none" strike="noStrike">
              <a:solidFill>
                <a:srgbClr val="000000"/>
              </a:solidFill>
              <a:latin typeface="Arial"/>
              <a:ea typeface="Arial"/>
              <a:cs typeface="Arial"/>
              <a:sym typeface="Arial"/>
            </a:endParaRPr>
          </a:p>
          <a:p>
            <a:pPr indent="-63500" lvl="0" marL="63500" marR="0" rtl="0" algn="just">
              <a:lnSpc>
                <a:spcPct val="200000"/>
              </a:lnSpc>
              <a:spcBef>
                <a:spcPts val="0"/>
              </a:spcBef>
              <a:spcAft>
                <a:spcPts val="0"/>
              </a:spcAft>
              <a:buClr>
                <a:srgbClr val="0070C0"/>
              </a:buClr>
              <a:buSzPts val="4400"/>
              <a:buFont typeface="Noto Sans Symbols"/>
              <a:buChar char="▪"/>
            </a:pPr>
            <a:r>
              <a:rPr b="1" i="0" lang="en-US" sz="2400" u="none" cap="none" strike="noStrike">
                <a:solidFill>
                  <a:srgbClr val="0070C0"/>
                </a:solidFill>
                <a:latin typeface="Arial"/>
                <a:ea typeface="Arial"/>
                <a:cs typeface="Arial"/>
                <a:sym typeface="Arial"/>
              </a:rPr>
              <a:t>Collection Literals: </a:t>
            </a:r>
            <a:r>
              <a:rPr b="0" i="0" lang="en-US" sz="2400" u="none" cap="none" strike="noStrike">
                <a:solidFill>
                  <a:srgbClr val="000000"/>
                </a:solidFill>
                <a:latin typeface="Arial"/>
                <a:ea typeface="Arial"/>
                <a:cs typeface="Arial"/>
                <a:sym typeface="Arial"/>
              </a:rPr>
              <a:t>list, tuple, set and dict</a:t>
            </a:r>
            <a:endParaRPr b="0" i="0" sz="2400" u="none" cap="none" strike="noStrike">
              <a:solidFill>
                <a:srgbClr val="000000"/>
              </a:solidFill>
              <a:latin typeface="Arial"/>
              <a:ea typeface="Arial"/>
              <a:cs typeface="Arial"/>
              <a:sym typeface="Arial"/>
            </a:endParaRPr>
          </a:p>
          <a:p>
            <a:pPr indent="-63500" lvl="0" marL="63500" marR="0" rtl="0" algn="just">
              <a:lnSpc>
                <a:spcPct val="200000"/>
              </a:lnSpc>
              <a:spcBef>
                <a:spcPts val="0"/>
              </a:spcBef>
              <a:spcAft>
                <a:spcPts val="0"/>
              </a:spcAft>
              <a:buClr>
                <a:srgbClr val="0070C0"/>
              </a:buClr>
              <a:buSzPts val="4400"/>
              <a:buFont typeface="Noto Sans Symbols"/>
              <a:buChar char="▪"/>
            </a:pPr>
            <a:r>
              <a:rPr b="1" i="0" lang="en-US" sz="2400" u="none" cap="none" strike="noStrike">
                <a:solidFill>
                  <a:srgbClr val="0070C0"/>
                </a:solidFill>
                <a:latin typeface="Arial"/>
                <a:ea typeface="Arial"/>
                <a:cs typeface="Arial"/>
                <a:sym typeface="Arial"/>
              </a:rPr>
              <a:t>Special Literal: </a:t>
            </a:r>
            <a:r>
              <a:rPr b="0" i="0" lang="en-US" sz="2400" u="none" cap="none" strike="noStrike">
                <a:solidFill>
                  <a:srgbClr val="000000"/>
                </a:solidFill>
                <a:latin typeface="Arial"/>
                <a:ea typeface="Arial"/>
                <a:cs typeface="Arial"/>
                <a:sym typeface="Arial"/>
              </a:rPr>
              <a:t>None</a:t>
            </a:r>
            <a:endParaRPr b="0" i="0" sz="2400" u="none" cap="none" strike="noStrike">
              <a:solidFill>
                <a:srgbClr val="000000"/>
              </a:solidFill>
              <a:latin typeface="Arial"/>
              <a:ea typeface="Arial"/>
              <a:cs typeface="Arial"/>
              <a:sym typeface="Arial"/>
            </a:endParaRPr>
          </a:p>
        </p:txBody>
      </p:sp>
      <p:sp>
        <p:nvSpPr>
          <p:cNvPr id="155" name="Google Shape;155;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9"/>
          <p:cNvPicPr preferRelativeResize="0"/>
          <p:nvPr/>
        </p:nvPicPr>
        <p:blipFill rotWithShape="1">
          <a:blip r:embed="rId3">
            <a:alphaModFix/>
          </a:blip>
          <a:srcRect b="0" l="0" r="0" t="0"/>
          <a:stretch/>
        </p:blipFill>
        <p:spPr>
          <a:xfrm>
            <a:off x="390699" y="2851745"/>
            <a:ext cx="2782560" cy="3485461"/>
          </a:xfrm>
          <a:prstGeom prst="rect">
            <a:avLst/>
          </a:prstGeom>
          <a:noFill/>
          <a:ln>
            <a:noFill/>
          </a:ln>
        </p:spPr>
      </p:pic>
      <p:sp>
        <p:nvSpPr>
          <p:cNvPr id="161" name="Google Shape;161;p9"/>
          <p:cNvSpPr txBox="1"/>
          <p:nvPr/>
        </p:nvSpPr>
        <p:spPr>
          <a:xfrm>
            <a:off x="482371" y="2372332"/>
            <a:ext cx="11154233" cy="1476461"/>
          </a:xfrm>
          <a:prstGeom prst="rect">
            <a:avLst/>
          </a:prstGeom>
          <a:noFill/>
          <a:ln>
            <a:noFill/>
          </a:ln>
        </p:spPr>
        <p:txBody>
          <a:bodyPr anchorCtr="0" anchor="t" bIns="45700" lIns="91425" spcFirstLastPara="1" rIns="91425" wrap="square" tIns="45700">
            <a:noAutofit/>
          </a:bodyPr>
          <a:lstStyle/>
          <a:p>
            <a:pPr indent="0" lvl="0" marL="114300" marR="0" rtl="0" algn="ctr">
              <a:lnSpc>
                <a:spcPct val="90000"/>
              </a:lnSpc>
              <a:spcBef>
                <a:spcPts val="0"/>
              </a:spcBef>
              <a:spcAft>
                <a:spcPts val="0"/>
              </a:spcAft>
              <a:buClr>
                <a:schemeClr val="dk1"/>
              </a:buClr>
              <a:buSzPts val="6000"/>
              <a:buFont typeface="Arial"/>
              <a:buNone/>
            </a:pPr>
            <a:r>
              <a:rPr b="1" i="0" lang="en-US" sz="4000" u="none" cap="none" strike="noStrike">
                <a:solidFill>
                  <a:schemeClr val="dk1"/>
                </a:solidFill>
                <a:latin typeface="Arial"/>
                <a:ea typeface="Arial"/>
                <a:cs typeface="Arial"/>
                <a:sym typeface="Arial"/>
              </a:rPr>
              <a:t>Do we use values directly in the calculation/program?</a:t>
            </a:r>
            <a:endParaRPr b="0" i="0" sz="4000" u="none" cap="none" strike="noStrike">
              <a:solidFill>
                <a:schemeClr val="dk1"/>
              </a:solidFill>
              <a:latin typeface="Arial"/>
              <a:ea typeface="Arial"/>
              <a:cs typeface="Arial"/>
              <a:sym typeface="Arial"/>
            </a:endParaRPr>
          </a:p>
        </p:txBody>
      </p:sp>
      <p:sp>
        <p:nvSpPr>
          <p:cNvPr id="162" name="Google Shape;162;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0"/>
          <p:cNvSpPr txBox="1"/>
          <p:nvPr>
            <p:ph type="ctrTitle"/>
          </p:nvPr>
        </p:nvSpPr>
        <p:spPr>
          <a:xfrm>
            <a:off x="342901" y="250825"/>
            <a:ext cx="5404756" cy="132556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u="sng">
                <a:solidFill>
                  <a:schemeClr val="dk1"/>
                </a:solidFill>
              </a:rPr>
              <a:t>Python Variables</a:t>
            </a:r>
            <a:endParaRPr b="1">
              <a:solidFill>
                <a:schemeClr val="dk1"/>
              </a:solidFill>
            </a:endParaRPr>
          </a:p>
        </p:txBody>
      </p:sp>
      <p:sp>
        <p:nvSpPr>
          <p:cNvPr id="168" name="Google Shape;168;p10"/>
          <p:cNvSpPr txBox="1"/>
          <p:nvPr/>
        </p:nvSpPr>
        <p:spPr>
          <a:xfrm>
            <a:off x="473824" y="1690688"/>
            <a:ext cx="11154233" cy="4144847"/>
          </a:xfrm>
          <a:prstGeom prst="rect">
            <a:avLst/>
          </a:prstGeom>
          <a:noFill/>
          <a:ln>
            <a:noFill/>
          </a:ln>
        </p:spPr>
        <p:txBody>
          <a:bodyPr anchorCtr="0" anchor="t" bIns="45700" lIns="91425" spcFirstLastPara="1" rIns="91425" wrap="square" tIns="45700">
            <a:noAutofit/>
          </a:bodyPr>
          <a:lstStyle/>
          <a:p>
            <a:pPr indent="0" lvl="0" marL="114300" marR="0" rtl="0" algn="l">
              <a:lnSpc>
                <a:spcPct val="90000"/>
              </a:lnSpc>
              <a:spcBef>
                <a:spcPts val="0"/>
              </a:spcBef>
              <a:spcAft>
                <a:spcPts val="0"/>
              </a:spcAft>
              <a:buClr>
                <a:schemeClr val="dk1"/>
              </a:buClr>
              <a:buSzPts val="4800"/>
              <a:buFont typeface="Arial"/>
              <a:buNone/>
            </a:pPr>
            <a:r>
              <a:rPr b="1" i="0" lang="en-US" sz="2400" u="none" cap="none" strike="noStrike">
                <a:solidFill>
                  <a:schemeClr val="dk1"/>
                </a:solidFill>
                <a:latin typeface="Arial"/>
                <a:ea typeface="Arial"/>
                <a:cs typeface="Arial"/>
                <a:sym typeface="Arial"/>
              </a:rPr>
              <a:t>What are Variables?</a:t>
            </a:r>
            <a:endParaRPr b="1" i="0" sz="2400" u="none" cap="none" strike="noStrike">
              <a:solidFill>
                <a:schemeClr val="dk1"/>
              </a:solidFill>
              <a:latin typeface="Arial"/>
              <a:ea typeface="Arial"/>
              <a:cs typeface="Arial"/>
              <a:sym typeface="Arial"/>
            </a:endParaRPr>
          </a:p>
          <a:p>
            <a:pPr indent="0" lvl="0" marL="114300" marR="0" rtl="0" algn="l">
              <a:lnSpc>
                <a:spcPct val="150000"/>
              </a:lnSpc>
              <a:spcBef>
                <a:spcPts val="1000"/>
              </a:spcBef>
              <a:spcAft>
                <a:spcPts val="0"/>
              </a:spcAft>
              <a:buClr>
                <a:schemeClr val="dk1"/>
              </a:buClr>
              <a:buSzPts val="4800"/>
              <a:buFont typeface="Arial"/>
              <a:buNone/>
            </a:pPr>
            <a:r>
              <a:rPr b="0" i="0" lang="en-US" sz="2400" u="none" cap="none" strike="noStrike">
                <a:solidFill>
                  <a:schemeClr val="dk1"/>
                </a:solidFill>
                <a:latin typeface="Arial"/>
                <a:ea typeface="Arial"/>
                <a:cs typeface="Arial"/>
                <a:sym typeface="Arial"/>
              </a:rPr>
              <a:t>A variable is a </a:t>
            </a:r>
            <a:r>
              <a:rPr b="1" i="0" lang="en-US" sz="2400" u="none" cap="none" strike="noStrike">
                <a:solidFill>
                  <a:srgbClr val="D4650A"/>
                </a:solidFill>
                <a:latin typeface="Arial"/>
                <a:ea typeface="Arial"/>
                <a:cs typeface="Arial"/>
                <a:sym typeface="Arial"/>
              </a:rPr>
              <a:t>name</a:t>
            </a:r>
            <a:r>
              <a:rPr b="0" i="0" lang="en-US" sz="2400" u="none" cap="none" strike="noStrike">
                <a:solidFill>
                  <a:schemeClr val="dk1"/>
                </a:solidFill>
                <a:latin typeface="Arial"/>
                <a:ea typeface="Arial"/>
                <a:cs typeface="Arial"/>
                <a:sym typeface="Arial"/>
              </a:rPr>
              <a:t> (identifier) that is </a:t>
            </a:r>
            <a:r>
              <a:rPr b="1" i="0" lang="en-US" sz="2400" u="none" cap="none" strike="noStrike">
                <a:solidFill>
                  <a:srgbClr val="D4650A"/>
                </a:solidFill>
                <a:latin typeface="Arial"/>
                <a:ea typeface="Arial"/>
                <a:cs typeface="Arial"/>
                <a:sym typeface="Arial"/>
              </a:rPr>
              <a:t>associated </a:t>
            </a:r>
            <a:r>
              <a:rPr b="0" i="0" lang="en-US" sz="2400" u="none" cap="none" strike="noStrike">
                <a:solidFill>
                  <a:schemeClr val="dk1"/>
                </a:solidFill>
                <a:latin typeface="Arial"/>
                <a:ea typeface="Arial"/>
                <a:cs typeface="Arial"/>
                <a:sym typeface="Arial"/>
              </a:rPr>
              <a:t>with a </a:t>
            </a:r>
            <a:r>
              <a:rPr b="1" i="0" lang="en-US" sz="2400" u="none" cap="none" strike="noStrike">
                <a:solidFill>
                  <a:srgbClr val="D4650A"/>
                </a:solidFill>
                <a:latin typeface="Arial"/>
                <a:ea typeface="Arial"/>
                <a:cs typeface="Arial"/>
                <a:sym typeface="Arial"/>
              </a:rPr>
              <a:t>value </a:t>
            </a:r>
            <a:r>
              <a:rPr b="0" i="0" lang="en-US" sz="2400" u="none" cap="none" strike="noStrike">
                <a:solidFill>
                  <a:schemeClr val="dk1"/>
                </a:solidFill>
                <a:latin typeface="Arial"/>
                <a:ea typeface="Arial"/>
                <a:cs typeface="Arial"/>
                <a:sym typeface="Arial"/>
              </a:rPr>
              <a:t>and can be </a:t>
            </a:r>
            <a:r>
              <a:rPr b="0" i="0" lang="en-US" sz="2400" u="none" cap="none" strike="noStrike">
                <a:solidFill>
                  <a:srgbClr val="00B0F0"/>
                </a:solidFill>
                <a:latin typeface="Arial"/>
                <a:ea typeface="Arial"/>
                <a:cs typeface="Arial"/>
                <a:sym typeface="Arial"/>
              </a:rPr>
              <a:t>used to store data </a:t>
            </a:r>
            <a:r>
              <a:rPr b="0" i="0" lang="en-US" sz="2400" u="none" cap="none" strike="noStrike">
                <a:solidFill>
                  <a:schemeClr val="dk1"/>
                </a:solidFill>
                <a:latin typeface="Arial"/>
                <a:ea typeface="Arial"/>
                <a:cs typeface="Arial"/>
                <a:sym typeface="Arial"/>
              </a:rPr>
              <a:t>and used in further calculation.</a:t>
            </a:r>
            <a:endParaRPr b="0" i="0" sz="2400" u="none" cap="none" strike="noStrike">
              <a:solidFill>
                <a:srgbClr val="000000"/>
              </a:solidFill>
              <a:latin typeface="Arial"/>
              <a:ea typeface="Arial"/>
              <a:cs typeface="Arial"/>
              <a:sym typeface="Arial"/>
            </a:endParaRPr>
          </a:p>
        </p:txBody>
      </p:sp>
      <p:sp>
        <p:nvSpPr>
          <p:cNvPr id="169" name="Google Shape;16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1"/>
          <p:cNvSpPr txBox="1"/>
          <p:nvPr>
            <p:ph idx="1" type="subTitle"/>
          </p:nvPr>
        </p:nvSpPr>
        <p:spPr>
          <a:xfrm>
            <a:off x="731227" y="1690688"/>
            <a:ext cx="10729546" cy="4020156"/>
          </a:xfrm>
          <a:prstGeom prst="rect">
            <a:avLst/>
          </a:prstGeom>
          <a:noFill/>
          <a:ln>
            <a:noFill/>
          </a:ln>
        </p:spPr>
        <p:txBody>
          <a:bodyPr anchorCtr="0" anchor="t" bIns="45700" lIns="91425" spcFirstLastPara="1" rIns="91425" wrap="square" tIns="45700">
            <a:noAutofit/>
          </a:bodyPr>
          <a:lstStyle/>
          <a:p>
            <a:pPr indent="-285750" lvl="0" marL="285750" rtl="0" algn="l">
              <a:lnSpc>
                <a:spcPct val="90000"/>
              </a:lnSpc>
              <a:spcBef>
                <a:spcPts val="0"/>
              </a:spcBef>
              <a:spcAft>
                <a:spcPts val="0"/>
              </a:spcAft>
              <a:buClr>
                <a:schemeClr val="dk1"/>
              </a:buClr>
              <a:buSzPts val="2000"/>
              <a:buFont typeface="Noto Sans Symbols"/>
              <a:buChar char="▪"/>
            </a:pPr>
            <a:r>
              <a:rPr b="1" lang="en-US" sz="1600"/>
              <a:t>Assign Ram to a name variable</a:t>
            </a:r>
            <a:endParaRPr sz="1600"/>
          </a:p>
          <a:p>
            <a:pPr indent="0" lvl="0" marL="0" rtl="0" algn="l">
              <a:lnSpc>
                <a:spcPct val="90000"/>
              </a:lnSpc>
              <a:spcBef>
                <a:spcPts val="1000"/>
              </a:spcBef>
              <a:spcAft>
                <a:spcPts val="0"/>
              </a:spcAft>
              <a:buClr>
                <a:schemeClr val="dk1"/>
              </a:buClr>
              <a:buSzPts val="2000"/>
              <a:buNone/>
            </a:pPr>
            <a:r>
              <a:rPr b="1" lang="en-US" sz="1600"/>
              <a:t>name</a:t>
            </a:r>
            <a:r>
              <a:rPr lang="en-US" sz="1600"/>
              <a:t> = “Ram”</a:t>
            </a:r>
            <a:endParaRPr sz="1600"/>
          </a:p>
          <a:p>
            <a:pPr indent="0" lvl="0" marL="0" rtl="0" algn="l">
              <a:lnSpc>
                <a:spcPct val="90000"/>
              </a:lnSpc>
              <a:spcBef>
                <a:spcPts val="1000"/>
              </a:spcBef>
              <a:spcAft>
                <a:spcPts val="0"/>
              </a:spcAft>
              <a:buClr>
                <a:schemeClr val="dk1"/>
              </a:buClr>
              <a:buSzPts val="2000"/>
              <a:buNone/>
            </a:pPr>
            <a:r>
              <a:rPr lang="en-US" sz="1600"/>
              <a:t>print(</a:t>
            </a:r>
            <a:r>
              <a:rPr b="1" lang="en-US" sz="1600"/>
              <a:t>name</a:t>
            </a:r>
            <a:r>
              <a:rPr lang="en-US" sz="1600"/>
              <a:t>)</a:t>
            </a:r>
            <a:endParaRPr sz="1600"/>
          </a:p>
          <a:p>
            <a:pPr indent="0" lvl="0" marL="0" rtl="0" algn="l">
              <a:lnSpc>
                <a:spcPct val="90000"/>
              </a:lnSpc>
              <a:spcBef>
                <a:spcPts val="1000"/>
              </a:spcBef>
              <a:spcAft>
                <a:spcPts val="0"/>
              </a:spcAft>
              <a:buClr>
                <a:schemeClr val="dk1"/>
              </a:buClr>
              <a:buSzPts val="2000"/>
              <a:buNone/>
            </a:pPr>
            <a:r>
              <a:t/>
            </a:r>
            <a:endParaRPr sz="1600"/>
          </a:p>
          <a:p>
            <a:pPr indent="-285750" lvl="0" marL="285750" rtl="0" algn="l">
              <a:lnSpc>
                <a:spcPct val="90000"/>
              </a:lnSpc>
              <a:spcBef>
                <a:spcPts val="1000"/>
              </a:spcBef>
              <a:spcAft>
                <a:spcPts val="0"/>
              </a:spcAft>
              <a:buClr>
                <a:schemeClr val="dk1"/>
              </a:buClr>
              <a:buSzPts val="2000"/>
              <a:buFont typeface="Noto Sans Symbols"/>
              <a:buChar char="▪"/>
            </a:pPr>
            <a:r>
              <a:rPr b="1" lang="en-US" sz="1600"/>
              <a:t>Change the value of name variable</a:t>
            </a:r>
            <a:endParaRPr sz="1600"/>
          </a:p>
          <a:p>
            <a:pPr indent="0" lvl="0" marL="0" rtl="0" algn="l">
              <a:lnSpc>
                <a:spcPct val="90000"/>
              </a:lnSpc>
              <a:spcBef>
                <a:spcPts val="1000"/>
              </a:spcBef>
              <a:spcAft>
                <a:spcPts val="0"/>
              </a:spcAft>
              <a:buClr>
                <a:schemeClr val="dk1"/>
              </a:buClr>
              <a:buSzPts val="2000"/>
              <a:buNone/>
            </a:pPr>
            <a:r>
              <a:rPr b="1" lang="en-US" sz="1600"/>
              <a:t>name</a:t>
            </a:r>
            <a:r>
              <a:rPr lang="en-US" sz="1600"/>
              <a:t> = “Hari”</a:t>
            </a:r>
            <a:endParaRPr sz="1600"/>
          </a:p>
          <a:p>
            <a:pPr indent="0" lvl="0" marL="0" rtl="0" algn="l">
              <a:lnSpc>
                <a:spcPct val="90000"/>
              </a:lnSpc>
              <a:spcBef>
                <a:spcPts val="1000"/>
              </a:spcBef>
              <a:spcAft>
                <a:spcPts val="0"/>
              </a:spcAft>
              <a:buClr>
                <a:schemeClr val="dk1"/>
              </a:buClr>
              <a:buSzPts val="2000"/>
              <a:buNone/>
            </a:pPr>
            <a:r>
              <a:rPr lang="en-US" sz="1600"/>
              <a:t>print(</a:t>
            </a:r>
            <a:r>
              <a:rPr b="1" lang="en-US" sz="1600"/>
              <a:t>name</a:t>
            </a:r>
            <a:r>
              <a:rPr lang="en-US" sz="1600"/>
              <a:t>)</a:t>
            </a:r>
            <a:endParaRPr sz="1600"/>
          </a:p>
          <a:p>
            <a:pPr indent="0" lvl="0" marL="0" rtl="0" algn="l">
              <a:lnSpc>
                <a:spcPct val="90000"/>
              </a:lnSpc>
              <a:spcBef>
                <a:spcPts val="1000"/>
              </a:spcBef>
              <a:spcAft>
                <a:spcPts val="0"/>
              </a:spcAft>
              <a:buClr>
                <a:schemeClr val="dk1"/>
              </a:buClr>
              <a:buSzPts val="2000"/>
              <a:buNone/>
            </a:pPr>
            <a:r>
              <a:t/>
            </a:r>
            <a:endParaRPr sz="1600"/>
          </a:p>
          <a:p>
            <a:pPr indent="-285750" lvl="0" marL="285750" rtl="0" algn="l">
              <a:lnSpc>
                <a:spcPct val="90000"/>
              </a:lnSpc>
              <a:spcBef>
                <a:spcPts val="1000"/>
              </a:spcBef>
              <a:spcAft>
                <a:spcPts val="0"/>
              </a:spcAft>
              <a:buClr>
                <a:schemeClr val="dk1"/>
              </a:buClr>
              <a:buSzPts val="2000"/>
              <a:buFont typeface="Noto Sans Symbols"/>
              <a:buChar char="▪"/>
            </a:pPr>
            <a:r>
              <a:rPr b="1" lang="en-US" sz="1600"/>
              <a:t>Counter  variable </a:t>
            </a:r>
            <a:endParaRPr b="1" sz="1600"/>
          </a:p>
          <a:p>
            <a:pPr indent="0" lvl="0" marL="0" rtl="0" algn="l">
              <a:lnSpc>
                <a:spcPct val="90000"/>
              </a:lnSpc>
              <a:spcBef>
                <a:spcPts val="1000"/>
              </a:spcBef>
              <a:spcAft>
                <a:spcPts val="0"/>
              </a:spcAft>
              <a:buClr>
                <a:schemeClr val="dk1"/>
              </a:buClr>
              <a:buSzPts val="2000"/>
              <a:buNone/>
            </a:pPr>
            <a:r>
              <a:rPr lang="en-US" sz="1600"/>
              <a:t>number = 1 </a:t>
            </a:r>
            <a:endParaRPr sz="1600"/>
          </a:p>
          <a:p>
            <a:pPr indent="0" lvl="0" marL="0" rtl="0" algn="l">
              <a:lnSpc>
                <a:spcPct val="90000"/>
              </a:lnSpc>
              <a:spcBef>
                <a:spcPts val="1000"/>
              </a:spcBef>
              <a:spcAft>
                <a:spcPts val="0"/>
              </a:spcAft>
              <a:buClr>
                <a:schemeClr val="dk1"/>
              </a:buClr>
              <a:buSzPts val="2000"/>
              <a:buNone/>
            </a:pPr>
            <a:r>
              <a:rPr lang="en-US" sz="1600"/>
              <a:t>number = number + 1 </a:t>
            </a:r>
            <a:endParaRPr sz="1600"/>
          </a:p>
        </p:txBody>
      </p:sp>
      <p:sp>
        <p:nvSpPr>
          <p:cNvPr id="175" name="Google Shape;175;p11"/>
          <p:cNvSpPr txBox="1"/>
          <p:nvPr/>
        </p:nvSpPr>
        <p:spPr>
          <a:xfrm>
            <a:off x="7265877" y="1576388"/>
            <a:ext cx="4353929" cy="304694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600"/>
              <a:buFont typeface="Noto Sans Symbols"/>
              <a:buChar char="▪"/>
            </a:pPr>
            <a:r>
              <a:rPr b="1" i="0" lang="en-US" sz="1600" u="none" cap="none" strike="noStrike">
                <a:solidFill>
                  <a:schemeClr val="dk1"/>
                </a:solidFill>
                <a:latin typeface="Arial"/>
                <a:ea typeface="Arial"/>
                <a:cs typeface="Arial"/>
                <a:sym typeface="Arial"/>
              </a:rPr>
              <a:t>Assign multiple values to variable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name, age, add = “ram”, 20, “ktm”</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print(name)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print(age)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print(add)</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Noto Sans Symbols"/>
              <a:buChar char="▪"/>
            </a:pPr>
            <a:r>
              <a:rPr b="1" i="0" lang="en-US" sz="1600" u="none" cap="none" strike="noStrike">
                <a:solidFill>
                  <a:schemeClr val="dk1"/>
                </a:solidFill>
                <a:latin typeface="Arial"/>
                <a:ea typeface="Arial"/>
                <a:cs typeface="Arial"/>
                <a:sym typeface="Arial"/>
              </a:rPr>
              <a:t>Change the value of age1 and 2 variable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age1 = age2 = 20</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print(age1)</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print(age2)</a:t>
            </a:r>
            <a:endParaRPr b="0" i="0" sz="1600" u="none" cap="none" strike="noStrike">
              <a:solidFill>
                <a:srgbClr val="000000"/>
              </a:solidFill>
              <a:latin typeface="Arial"/>
              <a:ea typeface="Arial"/>
              <a:cs typeface="Arial"/>
              <a:sym typeface="Arial"/>
            </a:endParaRPr>
          </a:p>
        </p:txBody>
      </p:sp>
      <p:sp>
        <p:nvSpPr>
          <p:cNvPr id="176" name="Google Shape;176;p11"/>
          <p:cNvSpPr txBox="1"/>
          <p:nvPr/>
        </p:nvSpPr>
        <p:spPr>
          <a:xfrm>
            <a:off x="342901" y="250825"/>
            <a:ext cx="8310648" cy="1325563"/>
          </a:xfrm>
          <a:prstGeom prst="rect">
            <a:avLst/>
          </a:prstGeom>
          <a:noFill/>
          <a:ln>
            <a:noFill/>
          </a:ln>
        </p:spPr>
        <p:txBody>
          <a:bodyPr anchorCtr="0" anchor="ctr" bIns="45700" lIns="91425" spcFirstLastPara="1" rIns="91425" wrap="square" tIns="45700">
            <a:normAutofit/>
          </a:bodyPr>
          <a:lstStyle/>
          <a:p>
            <a:pPr indent="0" lvl="0" marL="114300" marR="0" rtl="0" algn="l">
              <a:lnSpc>
                <a:spcPct val="90000"/>
              </a:lnSpc>
              <a:spcBef>
                <a:spcPts val="0"/>
              </a:spcBef>
              <a:spcAft>
                <a:spcPts val="0"/>
              </a:spcAft>
              <a:buClr>
                <a:srgbClr val="00B050"/>
              </a:buClr>
              <a:buSzPts val="4000"/>
              <a:buFont typeface="Calibri"/>
              <a:buNone/>
            </a:pPr>
            <a:r>
              <a:rPr b="1" i="0" lang="en-US" sz="4000" u="sng" cap="none" strike="noStrike">
                <a:solidFill>
                  <a:schemeClr val="dk1"/>
                </a:solidFill>
                <a:latin typeface="Arial"/>
                <a:ea typeface="Arial"/>
                <a:cs typeface="Arial"/>
                <a:sym typeface="Arial"/>
              </a:rPr>
              <a:t>Some ways to declare variable</a:t>
            </a:r>
            <a:endParaRPr b="1" i="0" sz="4000" u="none" cap="none" strike="noStrike">
              <a:solidFill>
                <a:schemeClr val="dk1"/>
              </a:solidFill>
              <a:latin typeface="Arial"/>
              <a:ea typeface="Arial"/>
              <a:cs typeface="Arial"/>
              <a:sym typeface="Arial"/>
            </a:endParaRPr>
          </a:p>
        </p:txBody>
      </p:sp>
      <p:sp>
        <p:nvSpPr>
          <p:cNvPr id="177" name="Google Shape;1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2"/>
          <p:cNvSpPr txBox="1"/>
          <p:nvPr/>
        </p:nvSpPr>
        <p:spPr>
          <a:xfrm>
            <a:off x="667097" y="394114"/>
            <a:ext cx="8310648" cy="1325563"/>
          </a:xfrm>
          <a:prstGeom prst="rect">
            <a:avLst/>
          </a:prstGeom>
          <a:noFill/>
          <a:ln>
            <a:noFill/>
          </a:ln>
        </p:spPr>
        <p:txBody>
          <a:bodyPr anchorCtr="0" anchor="ctr" bIns="45700" lIns="91425" spcFirstLastPara="1" rIns="91425" wrap="square" tIns="45700">
            <a:normAutofit/>
          </a:bodyPr>
          <a:lstStyle/>
          <a:p>
            <a:pPr indent="0" lvl="0" marL="114300" marR="0" rtl="0" algn="l">
              <a:lnSpc>
                <a:spcPct val="90000"/>
              </a:lnSpc>
              <a:spcBef>
                <a:spcPts val="0"/>
              </a:spcBef>
              <a:spcAft>
                <a:spcPts val="0"/>
              </a:spcAft>
              <a:buClr>
                <a:srgbClr val="00B050"/>
              </a:buClr>
              <a:buSzPts val="5400"/>
              <a:buFont typeface="Calibri"/>
              <a:buNone/>
            </a:pPr>
            <a:r>
              <a:rPr b="1" i="0" lang="en-US" sz="4000" u="sng" cap="none" strike="noStrike">
                <a:solidFill>
                  <a:srgbClr val="00B050"/>
                </a:solidFill>
                <a:latin typeface="Arial"/>
                <a:ea typeface="Arial"/>
                <a:cs typeface="Arial"/>
                <a:sym typeface="Arial"/>
              </a:rPr>
              <a:t>REMEMBER!!!</a:t>
            </a:r>
            <a:endParaRPr b="1" i="0" sz="4000" u="none" cap="none" strike="noStrike">
              <a:solidFill>
                <a:schemeClr val="dk1"/>
              </a:solidFill>
              <a:latin typeface="Arial"/>
              <a:ea typeface="Arial"/>
              <a:cs typeface="Arial"/>
              <a:sym typeface="Arial"/>
            </a:endParaRPr>
          </a:p>
        </p:txBody>
      </p:sp>
      <p:sp>
        <p:nvSpPr>
          <p:cNvPr id="183" name="Google Shape;183;p12"/>
          <p:cNvSpPr/>
          <p:nvPr/>
        </p:nvSpPr>
        <p:spPr>
          <a:xfrm>
            <a:off x="667097" y="1598934"/>
            <a:ext cx="11066256" cy="3046948"/>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Rules for Naming an Identifier</a:t>
            </a:r>
            <a:endParaRPr b="1" i="0" sz="2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2800"/>
              <a:buFont typeface="Noto Sans Symbols"/>
              <a:buChar char="▪"/>
            </a:pPr>
            <a:r>
              <a:rPr b="0" i="0" lang="en-US" sz="2400" u="none" cap="none" strike="noStrike">
                <a:solidFill>
                  <a:schemeClr val="dk1"/>
                </a:solidFill>
                <a:latin typeface="Arial"/>
                <a:ea typeface="Arial"/>
                <a:cs typeface="Arial"/>
                <a:sym typeface="Arial"/>
              </a:rPr>
              <a:t>Identifiers cannot be a </a:t>
            </a:r>
            <a:r>
              <a:rPr b="1" i="0" lang="en-US" sz="2400" u="none" cap="none" strike="noStrike">
                <a:solidFill>
                  <a:srgbClr val="FF0000"/>
                </a:solidFill>
                <a:latin typeface="Arial"/>
                <a:ea typeface="Arial"/>
                <a:cs typeface="Arial"/>
                <a:sym typeface="Arial"/>
              </a:rPr>
              <a:t>keyword</a:t>
            </a:r>
            <a:r>
              <a:rPr b="0" i="0" lang="en-US" sz="2400" u="none" cap="none" strike="noStrike">
                <a:solidFill>
                  <a:schemeClr val="dk1"/>
                </a:solidFill>
                <a:latin typeface="Arial"/>
                <a:ea typeface="Arial"/>
                <a:cs typeface="Arial"/>
                <a:sym typeface="Arial"/>
              </a:rPr>
              <a:t>.</a:t>
            </a:r>
            <a:endParaRPr b="0" i="0" sz="2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2800"/>
              <a:buFont typeface="Noto Sans Symbols"/>
              <a:buChar char="▪"/>
            </a:pPr>
            <a:r>
              <a:rPr b="0" i="0" lang="en-US" sz="2400" u="none" cap="none" strike="noStrike">
                <a:solidFill>
                  <a:schemeClr val="dk1"/>
                </a:solidFill>
                <a:latin typeface="Arial"/>
                <a:ea typeface="Arial"/>
                <a:cs typeface="Arial"/>
                <a:sym typeface="Arial"/>
              </a:rPr>
              <a:t>Identifiers are </a:t>
            </a:r>
            <a:r>
              <a:rPr b="1" i="0" lang="en-US" sz="2400" u="none" cap="none" strike="noStrike">
                <a:solidFill>
                  <a:srgbClr val="FF0000"/>
                </a:solidFill>
                <a:latin typeface="Arial"/>
                <a:ea typeface="Arial"/>
                <a:cs typeface="Arial"/>
                <a:sym typeface="Arial"/>
              </a:rPr>
              <a:t>case-sensitive</a:t>
            </a:r>
            <a:r>
              <a:rPr b="0" i="0" lang="en-US" sz="2400" u="none" cap="none" strike="noStrike">
                <a:solidFill>
                  <a:schemeClr val="dk1"/>
                </a:solidFill>
                <a:latin typeface="Arial"/>
                <a:ea typeface="Arial"/>
                <a:cs typeface="Arial"/>
                <a:sym typeface="Arial"/>
              </a:rPr>
              <a:t>.</a:t>
            </a:r>
            <a:endParaRPr b="0" i="0" sz="2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2800"/>
              <a:buFont typeface="Noto Sans Symbols"/>
              <a:buChar char="▪"/>
            </a:pPr>
            <a:r>
              <a:rPr b="0" i="0" lang="en-US" sz="2400" u="none" cap="none" strike="noStrike">
                <a:solidFill>
                  <a:schemeClr val="dk1"/>
                </a:solidFill>
                <a:latin typeface="Arial"/>
                <a:ea typeface="Arial"/>
                <a:cs typeface="Arial"/>
                <a:sym typeface="Arial"/>
              </a:rPr>
              <a:t>It can have a sequence of </a:t>
            </a:r>
            <a:r>
              <a:rPr b="1" i="0" lang="en-US" sz="2400" u="none" cap="none" strike="noStrike">
                <a:solidFill>
                  <a:srgbClr val="FF0000"/>
                </a:solidFill>
                <a:latin typeface="Arial"/>
                <a:ea typeface="Arial"/>
                <a:cs typeface="Arial"/>
                <a:sym typeface="Arial"/>
              </a:rPr>
              <a:t>letters and digits</a:t>
            </a:r>
            <a:r>
              <a:rPr b="0" i="0" lang="en-US" sz="2400" u="none" cap="none" strike="noStrike">
                <a:solidFill>
                  <a:schemeClr val="dk1"/>
                </a:solidFill>
                <a:latin typeface="Arial"/>
                <a:ea typeface="Arial"/>
                <a:cs typeface="Arial"/>
                <a:sym typeface="Arial"/>
              </a:rPr>
              <a:t>. </a:t>
            </a:r>
            <a:endParaRPr b="0" i="0" sz="2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FF0000"/>
              </a:buClr>
              <a:buSzPts val="2800"/>
              <a:buFont typeface="Noto Sans Symbols"/>
              <a:buChar char="▪"/>
            </a:pPr>
            <a:r>
              <a:rPr b="1" i="0" lang="en-US" sz="2400" u="none" cap="none" strike="noStrike">
                <a:solidFill>
                  <a:srgbClr val="FF0000"/>
                </a:solidFill>
                <a:latin typeface="Arial"/>
                <a:ea typeface="Arial"/>
                <a:cs typeface="Arial"/>
                <a:sym typeface="Arial"/>
              </a:rPr>
              <a:t>White Spaces</a:t>
            </a:r>
            <a:r>
              <a:rPr b="0" i="0" lang="en-US" sz="2400" u="none" cap="none" strike="noStrike">
                <a:solidFill>
                  <a:schemeClr val="dk1"/>
                </a:solidFill>
                <a:latin typeface="Arial"/>
                <a:ea typeface="Arial"/>
                <a:cs typeface="Arial"/>
                <a:sym typeface="Arial"/>
              </a:rPr>
              <a:t> are not allowed.</a:t>
            </a:r>
            <a:endParaRPr b="0" i="0" sz="2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2800"/>
              <a:buFont typeface="Noto Sans Symbols"/>
              <a:buChar char="▪"/>
            </a:pPr>
            <a:r>
              <a:rPr b="0" i="0" lang="en-US" sz="2400" u="none" cap="none" strike="noStrike">
                <a:solidFill>
                  <a:schemeClr val="dk1"/>
                </a:solidFill>
                <a:latin typeface="Arial"/>
                <a:ea typeface="Arial"/>
                <a:cs typeface="Arial"/>
                <a:sym typeface="Arial"/>
              </a:rPr>
              <a:t>We cannot use special symbols like </a:t>
            </a:r>
            <a:r>
              <a:rPr b="1" i="0" lang="en-US" sz="2400" u="none" cap="none" strike="noStrike">
                <a:solidFill>
                  <a:srgbClr val="FF0000"/>
                </a:solidFill>
                <a:latin typeface="Arial"/>
                <a:ea typeface="Arial"/>
                <a:cs typeface="Arial"/>
                <a:sym typeface="Arial"/>
              </a:rPr>
              <a:t>!, @, #, $, and so on</a:t>
            </a:r>
            <a:r>
              <a:rPr b="0" i="0" lang="en-US" sz="2400" u="none" cap="none" strike="noStrike">
                <a:solidFill>
                  <a:schemeClr val="dk1"/>
                </a:solidFill>
                <a:latin typeface="Arial"/>
                <a:ea typeface="Arial"/>
                <a:cs typeface="Arial"/>
                <a:sym typeface="Arial"/>
              </a:rPr>
              <a:t>.</a:t>
            </a:r>
            <a:endParaRPr b="0" i="0" sz="2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2800"/>
              <a:buFont typeface="Noto Sans Symbols"/>
              <a:buChar char="▪"/>
            </a:pPr>
            <a:r>
              <a:rPr b="0" i="0" lang="en-US" sz="2400" u="none" cap="none" strike="noStrike">
                <a:solidFill>
                  <a:schemeClr val="dk1"/>
                </a:solidFill>
                <a:latin typeface="Arial"/>
                <a:ea typeface="Arial"/>
                <a:cs typeface="Arial"/>
                <a:sym typeface="Arial"/>
              </a:rPr>
              <a:t>However, it must begin with a letter not with an _. The first letter of an identifier </a:t>
            </a:r>
            <a:r>
              <a:rPr b="1" i="0" lang="en-US" sz="2400" u="none" cap="none" strike="noStrike">
                <a:solidFill>
                  <a:srgbClr val="FF0000"/>
                </a:solidFill>
                <a:latin typeface="Arial"/>
                <a:ea typeface="Arial"/>
                <a:cs typeface="Arial"/>
                <a:sym typeface="Arial"/>
              </a:rPr>
              <a:t>cannot be a digit</a:t>
            </a:r>
            <a:r>
              <a:rPr b="0" i="0" lang="en-US" sz="2400" u="none" cap="none" strike="noStrike">
                <a:solidFill>
                  <a:schemeClr val="dk1"/>
                </a:solidFill>
                <a:latin typeface="Arial"/>
                <a:ea typeface="Arial"/>
                <a:cs typeface="Arial"/>
                <a:sym typeface="Arial"/>
              </a:rPr>
              <a:t>.</a:t>
            </a:r>
            <a:endParaRPr b="0" i="0" sz="2400" u="none" cap="none" strike="noStrike">
              <a:solidFill>
                <a:srgbClr val="000000"/>
              </a:solidFill>
              <a:latin typeface="Arial"/>
              <a:ea typeface="Arial"/>
              <a:cs typeface="Arial"/>
              <a:sym typeface="Arial"/>
            </a:endParaRPr>
          </a:p>
        </p:txBody>
      </p:sp>
      <p:sp>
        <p:nvSpPr>
          <p:cNvPr id="184" name="Google Shape;184;p12"/>
          <p:cNvSpPr txBox="1"/>
          <p:nvPr/>
        </p:nvSpPr>
        <p:spPr>
          <a:xfrm>
            <a:off x="779948" y="5028233"/>
            <a:ext cx="10241343"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So, what could be the valid and invalid identifiers?</a:t>
            </a:r>
            <a:endParaRPr b="1" i="0" sz="2400" u="none" cap="none" strike="noStrike">
              <a:solidFill>
                <a:srgbClr val="FF0000"/>
              </a:solidFill>
              <a:latin typeface="Arial"/>
              <a:ea typeface="Arial"/>
              <a:cs typeface="Arial"/>
              <a:sym typeface="Arial"/>
            </a:endParaRPr>
          </a:p>
        </p:txBody>
      </p:sp>
      <p:sp>
        <p:nvSpPr>
          <p:cNvPr id="185" name="Google Shape;185;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3"/>
          <p:cNvSpPr txBox="1"/>
          <p:nvPr>
            <p:ph type="ctrTitle"/>
          </p:nvPr>
        </p:nvSpPr>
        <p:spPr>
          <a:xfrm>
            <a:off x="1039091" y="228003"/>
            <a:ext cx="10515600" cy="132556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u="sng">
                <a:solidFill>
                  <a:srgbClr val="00B050"/>
                </a:solidFill>
              </a:rPr>
              <a:t>Some Common Python Keywords</a:t>
            </a:r>
            <a:endParaRPr b="1"/>
          </a:p>
        </p:txBody>
      </p:sp>
      <p:pic>
        <p:nvPicPr>
          <p:cNvPr id="191" name="Google Shape;191;p13"/>
          <p:cNvPicPr preferRelativeResize="0"/>
          <p:nvPr/>
        </p:nvPicPr>
        <p:blipFill rotWithShape="1">
          <a:blip r:embed="rId3">
            <a:alphaModFix/>
          </a:blip>
          <a:srcRect b="0" l="0" r="0" t="0"/>
          <a:stretch/>
        </p:blipFill>
        <p:spPr>
          <a:xfrm>
            <a:off x="1039091" y="1408728"/>
            <a:ext cx="11064240" cy="5221269"/>
          </a:xfrm>
          <a:prstGeom prst="rect">
            <a:avLst/>
          </a:prstGeom>
          <a:noFill/>
          <a:ln>
            <a:noFill/>
          </a:ln>
        </p:spPr>
      </p:pic>
      <p:sp>
        <p:nvSpPr>
          <p:cNvPr id="192" name="Google Shape;19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4"/>
          <p:cNvSpPr txBox="1"/>
          <p:nvPr>
            <p:ph type="ctrTitle"/>
          </p:nvPr>
        </p:nvSpPr>
        <p:spPr>
          <a:xfrm>
            <a:off x="384462" y="479380"/>
            <a:ext cx="7712134" cy="956995"/>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u="sng">
                <a:solidFill>
                  <a:srgbClr val="00B050"/>
                </a:solidFill>
              </a:rPr>
              <a:t>Python Data Types</a:t>
            </a:r>
            <a:endParaRPr b="1"/>
          </a:p>
        </p:txBody>
      </p:sp>
      <p:sp>
        <p:nvSpPr>
          <p:cNvPr id="198" name="Google Shape;198;p14"/>
          <p:cNvSpPr txBox="1"/>
          <p:nvPr/>
        </p:nvSpPr>
        <p:spPr>
          <a:xfrm>
            <a:off x="571302" y="2194396"/>
            <a:ext cx="11285156" cy="4144847"/>
          </a:xfrm>
          <a:prstGeom prst="rect">
            <a:avLst/>
          </a:prstGeom>
          <a:noFill/>
          <a:ln>
            <a:noFill/>
          </a:ln>
        </p:spPr>
        <p:txBody>
          <a:bodyPr anchorCtr="0" anchor="t" bIns="45700" lIns="91425" spcFirstLastPara="1" rIns="91425" wrap="square" tIns="45700">
            <a:noAutofit/>
          </a:bodyPr>
          <a:lstStyle/>
          <a:p>
            <a:pPr indent="0" lvl="0" marL="114300" marR="0" rtl="0" algn="l">
              <a:lnSpc>
                <a:spcPct val="150000"/>
              </a:lnSpc>
              <a:spcBef>
                <a:spcPts val="1000"/>
              </a:spcBef>
              <a:spcAft>
                <a:spcPts val="0"/>
              </a:spcAft>
              <a:buNone/>
            </a:pPr>
            <a:r>
              <a:rPr b="0" i="0" lang="en-US" sz="2400" u="none" cap="none" strike="noStrike">
                <a:solidFill>
                  <a:schemeClr val="dk1"/>
                </a:solidFill>
                <a:latin typeface="Arial"/>
                <a:ea typeface="Arial"/>
                <a:cs typeface="Arial"/>
                <a:sym typeface="Arial"/>
              </a:rPr>
              <a:t>Every value belongs to a specific </a:t>
            </a:r>
            <a:r>
              <a:rPr b="1" i="0" lang="en-US" sz="2400" u="none" cap="none" strike="noStrike">
                <a:solidFill>
                  <a:schemeClr val="accent2"/>
                </a:solidFill>
                <a:latin typeface="Arial"/>
                <a:ea typeface="Arial"/>
                <a:cs typeface="Arial"/>
                <a:sym typeface="Arial"/>
              </a:rPr>
              <a:t>data type </a:t>
            </a:r>
            <a:r>
              <a:rPr b="0" i="0" lang="en-US" sz="2400" u="none" cap="none" strike="noStrike">
                <a:solidFill>
                  <a:schemeClr val="dk1"/>
                </a:solidFill>
                <a:latin typeface="Arial"/>
                <a:ea typeface="Arial"/>
                <a:cs typeface="Arial"/>
                <a:sym typeface="Arial"/>
              </a:rPr>
              <a:t>in Python. Data type identifies the </a:t>
            </a:r>
            <a:r>
              <a:rPr b="1" i="0" lang="en-US" sz="2400" u="none" cap="none" strike="noStrike">
                <a:solidFill>
                  <a:schemeClr val="dk1"/>
                </a:solidFill>
                <a:latin typeface="Arial"/>
                <a:ea typeface="Arial"/>
                <a:cs typeface="Arial"/>
                <a:sym typeface="Arial"/>
              </a:rPr>
              <a:t>type of data values a variable</a:t>
            </a:r>
            <a:r>
              <a:rPr b="0" i="0" lang="en-US" sz="2400" u="none" cap="none" strike="noStrike">
                <a:solidFill>
                  <a:schemeClr val="dk1"/>
                </a:solidFill>
                <a:latin typeface="Arial"/>
                <a:ea typeface="Arial"/>
                <a:cs typeface="Arial"/>
                <a:sym typeface="Arial"/>
              </a:rPr>
              <a:t> can hold and the operations that can be performed on that data</a:t>
            </a:r>
            <a:endParaRPr b="0" i="0" sz="2400" u="none" cap="none" strike="noStrike">
              <a:solidFill>
                <a:schemeClr val="dk1"/>
              </a:solidFill>
              <a:latin typeface="Arial"/>
              <a:ea typeface="Arial"/>
              <a:cs typeface="Arial"/>
              <a:sym typeface="Arial"/>
            </a:endParaRPr>
          </a:p>
        </p:txBody>
      </p:sp>
      <p:sp>
        <p:nvSpPr>
          <p:cNvPr id="199" name="Google Shape;199;p14"/>
          <p:cNvSpPr txBox="1"/>
          <p:nvPr/>
        </p:nvSpPr>
        <p:spPr>
          <a:xfrm>
            <a:off x="522811" y="4137661"/>
            <a:ext cx="10830989" cy="830956"/>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400"/>
              <a:buFont typeface="Noto Sans Symbols"/>
              <a:buChar char="▪"/>
            </a:pPr>
            <a:r>
              <a:rPr b="0" i="0" lang="en-US" sz="2400" u="none" cap="none" strike="noStrike">
                <a:solidFill>
                  <a:srgbClr val="FF0000"/>
                </a:solidFill>
                <a:latin typeface="Arial"/>
                <a:ea typeface="Arial"/>
                <a:cs typeface="Arial"/>
                <a:sym typeface="Arial"/>
              </a:rPr>
              <a:t>We can use the </a:t>
            </a:r>
            <a:r>
              <a:rPr b="1" i="0" lang="en-US" sz="2400" u="none" cap="none" strike="noStrike">
                <a:solidFill>
                  <a:srgbClr val="00B0F0"/>
                </a:solidFill>
                <a:latin typeface="Arial"/>
                <a:ea typeface="Arial"/>
                <a:cs typeface="Arial"/>
                <a:sym typeface="Arial"/>
              </a:rPr>
              <a:t>type() </a:t>
            </a:r>
            <a:r>
              <a:rPr b="1" i="0" lang="en-US" sz="2400" u="none" cap="none" strike="noStrike">
                <a:solidFill>
                  <a:srgbClr val="FF0000"/>
                </a:solidFill>
                <a:latin typeface="Arial"/>
                <a:ea typeface="Arial"/>
                <a:cs typeface="Arial"/>
                <a:sym typeface="Arial"/>
              </a:rPr>
              <a:t>function </a:t>
            </a:r>
            <a:r>
              <a:rPr b="0" i="0" lang="en-US" sz="2400" u="none" cap="none" strike="noStrike">
                <a:solidFill>
                  <a:srgbClr val="FF0000"/>
                </a:solidFill>
                <a:latin typeface="Arial"/>
                <a:ea typeface="Arial"/>
                <a:cs typeface="Arial"/>
                <a:sym typeface="Arial"/>
              </a:rPr>
              <a:t>to know which </a:t>
            </a:r>
            <a:r>
              <a:rPr b="1" i="0" lang="en-US" sz="2400" u="none" cap="none" strike="noStrike">
                <a:solidFill>
                  <a:srgbClr val="FF0000"/>
                </a:solidFill>
                <a:latin typeface="Arial"/>
                <a:ea typeface="Arial"/>
                <a:cs typeface="Arial"/>
                <a:sym typeface="Arial"/>
              </a:rPr>
              <a:t>class a variable </a:t>
            </a:r>
            <a:r>
              <a:rPr b="0" i="0" lang="en-US" sz="2400" u="none" cap="none" strike="noStrike">
                <a:solidFill>
                  <a:srgbClr val="FF0000"/>
                </a:solidFill>
                <a:latin typeface="Arial"/>
                <a:ea typeface="Arial"/>
                <a:cs typeface="Arial"/>
                <a:sym typeface="Arial"/>
              </a:rPr>
              <a:t>or a </a:t>
            </a:r>
            <a:r>
              <a:rPr b="1" i="0" lang="en-US" sz="2400" u="none" cap="none" strike="noStrike">
                <a:solidFill>
                  <a:srgbClr val="FF0000"/>
                </a:solidFill>
                <a:latin typeface="Arial"/>
                <a:ea typeface="Arial"/>
                <a:cs typeface="Arial"/>
                <a:sym typeface="Arial"/>
              </a:rPr>
              <a:t>value belongs to</a:t>
            </a:r>
            <a:r>
              <a:rPr b="0" i="0" lang="en-US" sz="2400" u="none" cap="none" strike="noStrike">
                <a:solidFill>
                  <a:srgbClr val="FF0000"/>
                </a:solidFill>
                <a:latin typeface="Arial"/>
                <a:ea typeface="Arial"/>
                <a:cs typeface="Arial"/>
                <a:sym typeface="Arial"/>
              </a:rPr>
              <a:t>.</a:t>
            </a:r>
            <a:endParaRPr b="0" i="0" sz="2400" u="none" cap="none" strike="noStrike">
              <a:solidFill>
                <a:srgbClr val="000000"/>
              </a:solidFill>
              <a:latin typeface="Arial"/>
              <a:ea typeface="Arial"/>
              <a:cs typeface="Arial"/>
              <a:sym typeface="Arial"/>
            </a:endParaRPr>
          </a:p>
        </p:txBody>
      </p:sp>
      <p:sp>
        <p:nvSpPr>
          <p:cNvPr id="200" name="Google Shape;20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01" name="Google Shape;201;p14"/>
          <p:cNvSpPr txBox="1"/>
          <p:nvPr/>
        </p:nvSpPr>
        <p:spPr>
          <a:xfrm>
            <a:off x="571302" y="1378942"/>
            <a:ext cx="823791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chemeClr val="dk1"/>
                </a:solidFill>
                <a:latin typeface="Arial"/>
                <a:ea typeface="Arial"/>
                <a:cs typeface="Arial"/>
                <a:sym typeface="Arial"/>
              </a:rPr>
              <a:t>What are Data Types?</a:t>
            </a:r>
            <a:endParaRPr b="0" i="0" sz="2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5" name="Shape 205"/>
        <p:cNvGrpSpPr/>
        <p:nvPr/>
      </p:nvGrpSpPr>
      <p:grpSpPr>
        <a:xfrm>
          <a:off x="0" y="0"/>
          <a:ext cx="0" cy="0"/>
          <a:chOff x="0" y="0"/>
          <a:chExt cx="0" cy="0"/>
        </a:xfrm>
      </p:grpSpPr>
      <p:sp>
        <p:nvSpPr>
          <p:cNvPr id="206" name="Google Shape;206;p15"/>
          <p:cNvSpPr txBox="1"/>
          <p:nvPr>
            <p:ph type="ctrTitle"/>
          </p:nvPr>
        </p:nvSpPr>
        <p:spPr>
          <a:xfrm>
            <a:off x="546681" y="369433"/>
            <a:ext cx="8381188" cy="727847"/>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u="sng">
                <a:solidFill>
                  <a:srgbClr val="00B050"/>
                </a:solidFill>
              </a:rPr>
              <a:t>Interesting Fact!!</a:t>
            </a:r>
            <a:endParaRPr b="1"/>
          </a:p>
        </p:txBody>
      </p:sp>
      <p:sp>
        <p:nvSpPr>
          <p:cNvPr id="207" name="Google Shape;207;p15"/>
          <p:cNvSpPr/>
          <p:nvPr/>
        </p:nvSpPr>
        <p:spPr>
          <a:xfrm>
            <a:off x="460131" y="1189844"/>
            <a:ext cx="6190051" cy="538730"/>
          </a:xfrm>
          <a:prstGeom prst="rect">
            <a:avLst/>
          </a:prstGeom>
          <a:noFill/>
          <a:ln>
            <a:noFill/>
          </a:ln>
        </p:spPr>
        <p:txBody>
          <a:bodyPr anchorCtr="0" anchor="ctr" bIns="45700" lIns="91425" spcFirstLastPara="1" rIns="91425" wrap="square" tIns="45700">
            <a:noAutofit/>
          </a:bodyPr>
          <a:lstStyle/>
          <a:p>
            <a:pPr indent="0" lvl="0" marL="114300" marR="0" rtl="0" algn="l">
              <a:lnSpc>
                <a:spcPct val="90000"/>
              </a:lnSpc>
              <a:spcBef>
                <a:spcPts val="0"/>
              </a:spcBef>
              <a:spcAft>
                <a:spcPts val="0"/>
              </a:spcAft>
              <a:buClr>
                <a:srgbClr val="00B0F0"/>
              </a:buClr>
              <a:buSzPts val="3200"/>
              <a:buFont typeface="Calibri"/>
              <a:buNone/>
            </a:pPr>
            <a:r>
              <a:rPr b="1" i="0" lang="en-US" sz="2800" u="none" cap="none" strike="noStrike">
                <a:solidFill>
                  <a:srgbClr val="00B0F0"/>
                </a:solidFill>
                <a:latin typeface="Arial"/>
                <a:ea typeface="Arial"/>
                <a:cs typeface="Arial"/>
                <a:sym typeface="Arial"/>
              </a:rPr>
              <a:t>Limits of Range in Floating-Points</a:t>
            </a:r>
            <a:endParaRPr b="1" i="0" sz="2800" u="none" cap="none" strike="noStrike">
              <a:solidFill>
                <a:srgbClr val="00B0F0"/>
              </a:solidFill>
              <a:latin typeface="Arial"/>
              <a:ea typeface="Arial"/>
              <a:cs typeface="Arial"/>
              <a:sym typeface="Arial"/>
            </a:endParaRPr>
          </a:p>
        </p:txBody>
      </p:sp>
      <p:sp>
        <p:nvSpPr>
          <p:cNvPr id="208" name="Google Shape;208;p15"/>
          <p:cNvSpPr/>
          <p:nvPr/>
        </p:nvSpPr>
        <p:spPr>
          <a:xfrm>
            <a:off x="460131" y="1852036"/>
            <a:ext cx="10978662" cy="1215699"/>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A certain number of "digits" (or bits) which can use to represent a number, and if we try to enter a number that's too big or too small, or has too many digits, the number will be rounded off or truncated to fit within the available "digits".</a:t>
            </a:r>
            <a:endParaRPr b="0" i="0" sz="1400" u="none" cap="none" strike="noStrike">
              <a:solidFill>
                <a:srgbClr val="000000"/>
              </a:solidFill>
              <a:latin typeface="Arial"/>
              <a:ea typeface="Arial"/>
              <a:cs typeface="Arial"/>
              <a:sym typeface="Arial"/>
            </a:endParaRPr>
          </a:p>
        </p:txBody>
      </p:sp>
      <p:sp>
        <p:nvSpPr>
          <p:cNvPr id="209" name="Google Shape;209;p15"/>
          <p:cNvSpPr txBox="1"/>
          <p:nvPr/>
        </p:nvSpPr>
        <p:spPr>
          <a:xfrm>
            <a:off x="460131" y="3191197"/>
            <a:ext cx="11060724" cy="92328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For example, </a:t>
            </a:r>
            <a:r>
              <a:rPr b="0" i="0" lang="en-US" sz="1800" u="none" cap="none" strike="noStrike">
                <a:solidFill>
                  <a:schemeClr val="dk1"/>
                </a:solidFill>
                <a:latin typeface="Arial"/>
                <a:ea typeface="Arial"/>
                <a:cs typeface="Arial"/>
                <a:sym typeface="Arial"/>
              </a:rPr>
              <a:t>let's say you want to represent the number </a:t>
            </a:r>
            <a:r>
              <a:rPr b="1" i="0" lang="en-US" sz="1800" u="none" cap="none" strike="noStrike">
                <a:solidFill>
                  <a:srgbClr val="FF0000"/>
                </a:solidFill>
                <a:latin typeface="Arial"/>
                <a:ea typeface="Arial"/>
                <a:cs typeface="Arial"/>
                <a:sym typeface="Arial"/>
              </a:rPr>
              <a:t>100000000000000000000000000000000000. </a:t>
            </a:r>
            <a:r>
              <a:rPr b="0" i="0" lang="en-US" sz="1800" u="none" cap="none" strike="noStrike">
                <a:solidFill>
                  <a:schemeClr val="dk1"/>
                </a:solidFill>
                <a:latin typeface="Arial"/>
                <a:ea typeface="Arial"/>
                <a:cs typeface="Arial"/>
                <a:sym typeface="Arial"/>
              </a:rPr>
              <a:t>This number is too big to fit within the available bits for a floating-point number, so Python will round it off to the nearest representable number:</a:t>
            </a:r>
            <a:endParaRPr b="0" i="0" sz="1800" u="none" cap="none" strike="noStrike">
              <a:solidFill>
                <a:srgbClr val="000000"/>
              </a:solidFill>
              <a:latin typeface="Arial"/>
              <a:ea typeface="Arial"/>
              <a:cs typeface="Arial"/>
              <a:sym typeface="Arial"/>
            </a:endParaRPr>
          </a:p>
        </p:txBody>
      </p:sp>
      <p:sp>
        <p:nvSpPr>
          <p:cNvPr id="210" name="Google Shape;210;p15"/>
          <p:cNvSpPr txBox="1"/>
          <p:nvPr/>
        </p:nvSpPr>
        <p:spPr>
          <a:xfrm>
            <a:off x="546681" y="4287898"/>
            <a:ext cx="8149800" cy="14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x = 100000000000000000000000000000000000.0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print(x)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1e+35</a:t>
            </a:r>
            <a:endParaRPr b="0" i="0" sz="1400" u="none" cap="none" strike="noStrike">
              <a:solidFill>
                <a:srgbClr val="000000"/>
              </a:solidFill>
              <a:latin typeface="Arial"/>
              <a:ea typeface="Arial"/>
              <a:cs typeface="Arial"/>
              <a:sym typeface="Arial"/>
            </a:endParaRPr>
          </a:p>
        </p:txBody>
      </p:sp>
      <p:sp>
        <p:nvSpPr>
          <p:cNvPr id="211" name="Google Shape;211;p15"/>
          <p:cNvSpPr txBox="1"/>
          <p:nvPr/>
        </p:nvSpPr>
        <p:spPr>
          <a:xfrm>
            <a:off x="4508258" y="5444338"/>
            <a:ext cx="6930535" cy="9233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As you can see, Python rounded off the number to 1e+35 (which is scientific notation for </a:t>
            </a:r>
            <a:r>
              <a:rPr b="1" i="0" lang="en-US" sz="1800" u="none" cap="none" strike="noStrike">
                <a:solidFill>
                  <a:srgbClr val="FF0000"/>
                </a:solidFill>
                <a:latin typeface="Arial"/>
                <a:ea typeface="Arial"/>
                <a:cs typeface="Arial"/>
                <a:sym typeface="Arial"/>
              </a:rPr>
              <a:t>1 x 10^35</a:t>
            </a:r>
            <a:r>
              <a:rPr b="0" i="0" lang="en-US" sz="1800" u="none" cap="none" strike="noStrike">
                <a:solidFill>
                  <a:schemeClr val="dk1"/>
                </a:solidFill>
                <a:latin typeface="Arial"/>
                <a:ea typeface="Arial"/>
                <a:cs typeface="Arial"/>
                <a:sym typeface="Arial"/>
              </a:rPr>
              <a:t>). This is still a very big number, but it's not the same as the number you tried to enter.</a:t>
            </a:r>
            <a:endParaRPr b="0" i="0" sz="1400" u="none" cap="none" strike="noStrike">
              <a:solidFill>
                <a:srgbClr val="000000"/>
              </a:solidFill>
              <a:latin typeface="Arial"/>
              <a:ea typeface="Arial"/>
              <a:cs typeface="Arial"/>
              <a:sym typeface="Arial"/>
            </a:endParaRPr>
          </a:p>
        </p:txBody>
      </p:sp>
      <p:sp>
        <p:nvSpPr>
          <p:cNvPr id="212" name="Google Shape;21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6"/>
          <p:cNvSpPr txBox="1"/>
          <p:nvPr>
            <p:ph type="ctrTitle"/>
          </p:nvPr>
        </p:nvSpPr>
        <p:spPr>
          <a:xfrm>
            <a:off x="654732" y="365125"/>
            <a:ext cx="5404756" cy="132556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sz="3500" u="sng">
                <a:solidFill>
                  <a:srgbClr val="00B050"/>
                </a:solidFill>
              </a:rPr>
              <a:t>Type Casting</a:t>
            </a:r>
            <a:endParaRPr b="1" sz="3500"/>
          </a:p>
        </p:txBody>
      </p:sp>
      <p:sp>
        <p:nvSpPr>
          <p:cNvPr id="218" name="Google Shape;218;p16"/>
          <p:cNvSpPr txBox="1"/>
          <p:nvPr/>
        </p:nvSpPr>
        <p:spPr>
          <a:xfrm>
            <a:off x="342902" y="1690688"/>
            <a:ext cx="11285156" cy="4144847"/>
          </a:xfrm>
          <a:prstGeom prst="rect">
            <a:avLst/>
          </a:prstGeom>
          <a:noFill/>
          <a:ln>
            <a:noFill/>
          </a:ln>
        </p:spPr>
        <p:txBody>
          <a:bodyPr anchorCtr="0" anchor="t" bIns="45700" lIns="91425" spcFirstLastPara="1" rIns="91425" wrap="square" tIns="45700">
            <a:noAutofit/>
          </a:bodyPr>
          <a:lstStyle/>
          <a:p>
            <a:pPr indent="0" lvl="0" marL="114300" marR="0" rtl="0" algn="ctr">
              <a:lnSpc>
                <a:spcPct val="90000"/>
              </a:lnSpc>
              <a:spcBef>
                <a:spcPts val="0"/>
              </a:spcBef>
              <a:spcAft>
                <a:spcPts val="0"/>
              </a:spcAft>
              <a:buClr>
                <a:schemeClr val="dk1"/>
              </a:buClr>
              <a:buSzPts val="4800"/>
              <a:buFont typeface="Arial"/>
              <a:buNone/>
            </a:pPr>
            <a:r>
              <a:rPr b="1" i="0" lang="en-US" sz="2800" u="none" cap="none" strike="noStrike">
                <a:solidFill>
                  <a:schemeClr val="dk1"/>
                </a:solidFill>
                <a:latin typeface="Arial"/>
                <a:ea typeface="Arial"/>
                <a:cs typeface="Arial"/>
                <a:sym typeface="Arial"/>
              </a:rPr>
              <a:t>Why do we need type conversion?</a:t>
            </a:r>
            <a:endParaRPr b="1" i="0" sz="2800" u="none" cap="none" strike="noStrike">
              <a:solidFill>
                <a:schemeClr val="dk1"/>
              </a:solidFill>
              <a:latin typeface="Arial"/>
              <a:ea typeface="Arial"/>
              <a:cs typeface="Arial"/>
              <a:sym typeface="Arial"/>
            </a:endParaRPr>
          </a:p>
          <a:p>
            <a:pPr indent="0" lvl="0" marL="114300" marR="0" rtl="0" algn="ctr">
              <a:lnSpc>
                <a:spcPct val="90000"/>
              </a:lnSpc>
              <a:spcBef>
                <a:spcPts val="1000"/>
              </a:spcBef>
              <a:spcAft>
                <a:spcPts val="0"/>
              </a:spcAft>
              <a:buClr>
                <a:schemeClr val="dk1"/>
              </a:buClr>
              <a:buSzPts val="4800"/>
              <a:buFont typeface="Arial"/>
              <a:buNone/>
            </a:pPr>
            <a:r>
              <a:rPr b="0" i="0" lang="en-US" sz="2800" u="none" cap="none" strike="noStrike">
                <a:solidFill>
                  <a:schemeClr val="dk1"/>
                </a:solidFill>
                <a:latin typeface="Arial"/>
                <a:ea typeface="Arial"/>
                <a:cs typeface="Arial"/>
                <a:sym typeface="Arial"/>
              </a:rPr>
              <a:t>Let’s perform a program: </a:t>
            </a:r>
            <a:endParaRPr b="0" i="0" sz="2800" u="none" cap="none" strike="noStrike">
              <a:solidFill>
                <a:schemeClr val="dk1"/>
              </a:solidFill>
              <a:latin typeface="Arial"/>
              <a:ea typeface="Arial"/>
              <a:cs typeface="Arial"/>
              <a:sym typeface="Arial"/>
            </a:endParaRPr>
          </a:p>
        </p:txBody>
      </p:sp>
      <p:sp>
        <p:nvSpPr>
          <p:cNvPr id="219" name="Google Shape;219;p16"/>
          <p:cNvSpPr txBox="1"/>
          <p:nvPr/>
        </p:nvSpPr>
        <p:spPr>
          <a:xfrm>
            <a:off x="3583635" y="5420036"/>
            <a:ext cx="4950589"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FF0000"/>
                </a:solidFill>
                <a:latin typeface="Calibri"/>
                <a:ea typeface="Calibri"/>
                <a:cs typeface="Calibri"/>
                <a:sym typeface="Calibri"/>
              </a:rPr>
              <a:t>Expected Output??</a:t>
            </a:r>
            <a:endParaRPr b="0" i="0" sz="4800" u="none" cap="none" strike="noStrike">
              <a:solidFill>
                <a:srgbClr val="FF0000"/>
              </a:solidFill>
              <a:latin typeface="Calibri"/>
              <a:ea typeface="Calibri"/>
              <a:cs typeface="Calibri"/>
              <a:sym typeface="Calibri"/>
            </a:endParaRPr>
          </a:p>
        </p:txBody>
      </p:sp>
      <p:pic>
        <p:nvPicPr>
          <p:cNvPr id="220" name="Google Shape;220;p16"/>
          <p:cNvPicPr preferRelativeResize="0"/>
          <p:nvPr/>
        </p:nvPicPr>
        <p:blipFill rotWithShape="1">
          <a:blip r:embed="rId3">
            <a:alphaModFix/>
          </a:blip>
          <a:srcRect b="5148" l="0" r="0" t="-5150"/>
          <a:stretch/>
        </p:blipFill>
        <p:spPr>
          <a:xfrm>
            <a:off x="790013" y="2804933"/>
            <a:ext cx="5729657" cy="1479123"/>
          </a:xfrm>
          <a:prstGeom prst="rect">
            <a:avLst/>
          </a:prstGeom>
          <a:noFill/>
          <a:ln>
            <a:noFill/>
          </a:ln>
        </p:spPr>
      </p:pic>
      <p:pic>
        <p:nvPicPr>
          <p:cNvPr id="221" name="Google Shape;221;p16"/>
          <p:cNvPicPr preferRelativeResize="0"/>
          <p:nvPr/>
        </p:nvPicPr>
        <p:blipFill rotWithShape="1">
          <a:blip r:embed="rId4">
            <a:alphaModFix/>
          </a:blip>
          <a:srcRect b="0" l="0" r="0" t="0"/>
          <a:stretch/>
        </p:blipFill>
        <p:spPr>
          <a:xfrm>
            <a:off x="6966780" y="3815235"/>
            <a:ext cx="4594775" cy="1288779"/>
          </a:xfrm>
          <a:prstGeom prst="rect">
            <a:avLst/>
          </a:prstGeom>
          <a:noFill/>
          <a:ln>
            <a:noFill/>
          </a:ln>
        </p:spPr>
      </p:pic>
      <p:sp>
        <p:nvSpPr>
          <p:cNvPr id="222" name="Google Shape;222;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7"/>
          <p:cNvSpPr txBox="1"/>
          <p:nvPr>
            <p:ph type="ctrTitle"/>
          </p:nvPr>
        </p:nvSpPr>
        <p:spPr>
          <a:xfrm>
            <a:off x="342901" y="259138"/>
            <a:ext cx="8344241" cy="132556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4000"/>
              <a:buFont typeface="Calibri"/>
              <a:buNone/>
            </a:pPr>
            <a:r>
              <a:rPr b="1" lang="en-US" u="sng">
                <a:solidFill>
                  <a:srgbClr val="00B050"/>
                </a:solidFill>
              </a:rPr>
              <a:t>Python</a:t>
            </a:r>
            <a:r>
              <a:rPr b="1" lang="en-US" sz="5400" u="sng">
                <a:solidFill>
                  <a:srgbClr val="00B050"/>
                </a:solidFill>
              </a:rPr>
              <a:t> </a:t>
            </a:r>
            <a:r>
              <a:rPr b="1" lang="en-US" u="sng">
                <a:solidFill>
                  <a:srgbClr val="00B050"/>
                </a:solidFill>
              </a:rPr>
              <a:t>Type</a:t>
            </a:r>
            <a:r>
              <a:rPr b="1" lang="en-US" sz="5400" u="sng">
                <a:solidFill>
                  <a:srgbClr val="00B050"/>
                </a:solidFill>
              </a:rPr>
              <a:t> </a:t>
            </a:r>
            <a:r>
              <a:rPr b="1" lang="en-US" u="sng">
                <a:solidFill>
                  <a:srgbClr val="00B050"/>
                </a:solidFill>
              </a:rPr>
              <a:t>Conversion</a:t>
            </a:r>
            <a:endParaRPr b="1" u="sng">
              <a:solidFill>
                <a:srgbClr val="00B050"/>
              </a:solidFill>
            </a:endParaRPr>
          </a:p>
        </p:txBody>
      </p:sp>
      <p:sp>
        <p:nvSpPr>
          <p:cNvPr id="228" name="Google Shape;228;p17"/>
          <p:cNvSpPr/>
          <p:nvPr/>
        </p:nvSpPr>
        <p:spPr>
          <a:xfrm>
            <a:off x="4789313" y="1684675"/>
            <a:ext cx="2376972" cy="1050213"/>
          </a:xfrm>
          <a:prstGeom prst="rect">
            <a:avLst/>
          </a:prstGeom>
          <a:solidFill>
            <a:schemeClr val="accent6"/>
          </a:solidFill>
          <a:ln cap="flat" cmpd="sng" w="12700">
            <a:solidFill>
              <a:srgbClr val="517E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Type Conversion</a:t>
            </a:r>
            <a:endParaRPr b="0" i="0" sz="1800" u="none" cap="none" strike="noStrike">
              <a:solidFill>
                <a:schemeClr val="lt1"/>
              </a:solidFill>
              <a:latin typeface="Calibri"/>
              <a:ea typeface="Calibri"/>
              <a:cs typeface="Calibri"/>
              <a:sym typeface="Calibri"/>
            </a:endParaRPr>
          </a:p>
        </p:txBody>
      </p:sp>
      <p:sp>
        <p:nvSpPr>
          <p:cNvPr id="229" name="Google Shape;229;p17"/>
          <p:cNvSpPr/>
          <p:nvPr/>
        </p:nvSpPr>
        <p:spPr>
          <a:xfrm>
            <a:off x="941418" y="3159836"/>
            <a:ext cx="2376972" cy="323197"/>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Implicit</a:t>
            </a:r>
            <a:endParaRPr b="0" i="0" sz="1800" u="none" cap="none" strike="noStrike">
              <a:solidFill>
                <a:schemeClr val="lt1"/>
              </a:solidFill>
              <a:latin typeface="Calibri"/>
              <a:ea typeface="Calibri"/>
              <a:cs typeface="Calibri"/>
              <a:sym typeface="Calibri"/>
            </a:endParaRPr>
          </a:p>
        </p:txBody>
      </p:sp>
      <p:sp>
        <p:nvSpPr>
          <p:cNvPr id="230" name="Google Shape;230;p17"/>
          <p:cNvSpPr/>
          <p:nvPr/>
        </p:nvSpPr>
        <p:spPr>
          <a:xfrm>
            <a:off x="941418" y="3483033"/>
            <a:ext cx="2376972" cy="2410691"/>
          </a:xfrm>
          <a:prstGeom prst="rect">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1" name="Google Shape;231;p17"/>
          <p:cNvSpPr txBox="1"/>
          <p:nvPr/>
        </p:nvSpPr>
        <p:spPr>
          <a:xfrm>
            <a:off x="941418" y="3563720"/>
            <a:ext cx="2376972" cy="147732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Conversion performed by python interpreter.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Automatic type conversion.</a:t>
            </a:r>
            <a:endParaRPr b="0" i="0" sz="1800" u="none" cap="none" strike="noStrike">
              <a:solidFill>
                <a:schemeClr val="dk1"/>
              </a:solidFill>
              <a:latin typeface="Calibri"/>
              <a:ea typeface="Calibri"/>
              <a:cs typeface="Calibri"/>
              <a:sym typeface="Calibri"/>
            </a:endParaRPr>
          </a:p>
        </p:txBody>
      </p:sp>
      <p:sp>
        <p:nvSpPr>
          <p:cNvPr id="232" name="Google Shape;232;p17"/>
          <p:cNvSpPr/>
          <p:nvPr/>
        </p:nvSpPr>
        <p:spPr>
          <a:xfrm>
            <a:off x="8687143" y="3159835"/>
            <a:ext cx="2376972" cy="323197"/>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Explicit</a:t>
            </a:r>
            <a:endParaRPr b="0" i="0" sz="1800" u="none" cap="none" strike="noStrike">
              <a:solidFill>
                <a:schemeClr val="lt1"/>
              </a:solidFill>
              <a:latin typeface="Calibri"/>
              <a:ea typeface="Calibri"/>
              <a:cs typeface="Calibri"/>
              <a:sym typeface="Calibri"/>
            </a:endParaRPr>
          </a:p>
        </p:txBody>
      </p:sp>
      <p:sp>
        <p:nvSpPr>
          <p:cNvPr id="233" name="Google Shape;233;p17"/>
          <p:cNvSpPr/>
          <p:nvPr/>
        </p:nvSpPr>
        <p:spPr>
          <a:xfrm>
            <a:off x="8687143" y="3483032"/>
            <a:ext cx="2376972" cy="2410691"/>
          </a:xfrm>
          <a:prstGeom prst="rect">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4" name="Google Shape;234;p17"/>
          <p:cNvSpPr txBox="1"/>
          <p:nvPr/>
        </p:nvSpPr>
        <p:spPr>
          <a:xfrm>
            <a:off x="8687143" y="3563719"/>
            <a:ext cx="2376972" cy="175432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Conversion performed by user explicitly using type conversion function.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Manual type conversion</a:t>
            </a:r>
            <a:endParaRPr b="0" i="0" sz="1800" u="none" cap="none" strike="noStrike">
              <a:solidFill>
                <a:schemeClr val="dk1"/>
              </a:solidFill>
              <a:latin typeface="Calibri"/>
              <a:ea typeface="Calibri"/>
              <a:cs typeface="Calibri"/>
              <a:sym typeface="Calibri"/>
            </a:endParaRPr>
          </a:p>
        </p:txBody>
      </p:sp>
      <p:cxnSp>
        <p:nvCxnSpPr>
          <p:cNvPr id="235" name="Google Shape;235;p17"/>
          <p:cNvCxnSpPr>
            <a:stCxn id="228" idx="1"/>
            <a:endCxn id="229" idx="0"/>
          </p:cNvCxnSpPr>
          <p:nvPr/>
        </p:nvCxnSpPr>
        <p:spPr>
          <a:xfrm flipH="1">
            <a:off x="2129813" y="2209782"/>
            <a:ext cx="2659500" cy="950100"/>
          </a:xfrm>
          <a:prstGeom prst="bentConnector2">
            <a:avLst/>
          </a:prstGeom>
          <a:noFill/>
          <a:ln cap="flat" cmpd="sng" w="19050">
            <a:solidFill>
              <a:schemeClr val="dk1"/>
            </a:solidFill>
            <a:prstDash val="solid"/>
            <a:miter lim="800000"/>
            <a:headEnd len="sm" w="sm" type="none"/>
            <a:tailEnd len="med" w="med" type="triangle"/>
          </a:ln>
        </p:spPr>
      </p:cxnSp>
      <p:cxnSp>
        <p:nvCxnSpPr>
          <p:cNvPr id="236" name="Google Shape;236;p17"/>
          <p:cNvCxnSpPr>
            <a:stCxn id="228" idx="3"/>
            <a:endCxn id="232" idx="0"/>
          </p:cNvCxnSpPr>
          <p:nvPr/>
        </p:nvCxnSpPr>
        <p:spPr>
          <a:xfrm>
            <a:off x="7166285" y="2209782"/>
            <a:ext cx="2709300" cy="950100"/>
          </a:xfrm>
          <a:prstGeom prst="bentConnector2">
            <a:avLst/>
          </a:prstGeom>
          <a:noFill/>
          <a:ln cap="flat" cmpd="sng" w="19050">
            <a:solidFill>
              <a:schemeClr val="dk1"/>
            </a:solidFill>
            <a:prstDash val="solid"/>
            <a:miter lim="800000"/>
            <a:headEnd len="sm" w="sm" type="none"/>
            <a:tailEnd len="med" w="med" type="triangle"/>
          </a:ln>
        </p:spPr>
      </p:cxnSp>
      <p:sp>
        <p:nvSpPr>
          <p:cNvPr id="237" name="Google Shape;237;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8"/>
          <p:cNvSpPr txBox="1"/>
          <p:nvPr>
            <p:ph type="ctrTitle"/>
          </p:nvPr>
        </p:nvSpPr>
        <p:spPr>
          <a:xfrm>
            <a:off x="147670" y="169217"/>
            <a:ext cx="6623878" cy="132556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u="sng">
                <a:solidFill>
                  <a:srgbClr val="00B050"/>
                </a:solidFill>
              </a:rPr>
              <a:t>Implicit</a:t>
            </a:r>
            <a:r>
              <a:rPr b="1" lang="en-US" sz="5400" u="sng">
                <a:solidFill>
                  <a:srgbClr val="00B050"/>
                </a:solidFill>
              </a:rPr>
              <a:t> </a:t>
            </a:r>
            <a:r>
              <a:rPr b="1" lang="en-US" u="sng">
                <a:solidFill>
                  <a:srgbClr val="00B050"/>
                </a:solidFill>
              </a:rPr>
              <a:t>Conversion</a:t>
            </a:r>
            <a:endParaRPr b="1" u="sng">
              <a:solidFill>
                <a:srgbClr val="00B050"/>
              </a:solidFill>
            </a:endParaRPr>
          </a:p>
        </p:txBody>
      </p:sp>
      <p:pic>
        <p:nvPicPr>
          <p:cNvPr id="243" name="Google Shape;243;p18"/>
          <p:cNvPicPr preferRelativeResize="0"/>
          <p:nvPr/>
        </p:nvPicPr>
        <p:blipFill rotWithShape="1">
          <a:blip r:embed="rId3">
            <a:alphaModFix/>
          </a:blip>
          <a:srcRect b="0" l="0" r="0" t="0"/>
          <a:stretch/>
        </p:blipFill>
        <p:spPr>
          <a:xfrm>
            <a:off x="390084" y="1558492"/>
            <a:ext cx="7259002" cy="3241884"/>
          </a:xfrm>
          <a:prstGeom prst="rect">
            <a:avLst/>
          </a:prstGeom>
          <a:noFill/>
          <a:ln>
            <a:noFill/>
          </a:ln>
        </p:spPr>
      </p:pic>
      <p:pic>
        <p:nvPicPr>
          <p:cNvPr id="244" name="Google Shape;244;p18"/>
          <p:cNvPicPr preferRelativeResize="0"/>
          <p:nvPr/>
        </p:nvPicPr>
        <p:blipFill rotWithShape="1">
          <a:blip r:embed="rId4">
            <a:alphaModFix/>
          </a:blip>
          <a:srcRect b="0" l="0" r="0" t="0"/>
          <a:stretch/>
        </p:blipFill>
        <p:spPr>
          <a:xfrm>
            <a:off x="6539883" y="3233731"/>
            <a:ext cx="5088174" cy="3106938"/>
          </a:xfrm>
          <a:prstGeom prst="rect">
            <a:avLst/>
          </a:prstGeom>
          <a:noFill/>
          <a:ln>
            <a:noFill/>
          </a:ln>
        </p:spPr>
      </p:pic>
      <p:pic>
        <p:nvPicPr>
          <p:cNvPr id="245" name="Google Shape;245;p18"/>
          <p:cNvPicPr preferRelativeResize="0"/>
          <p:nvPr/>
        </p:nvPicPr>
        <p:blipFill rotWithShape="1">
          <a:blip r:embed="rId5">
            <a:alphaModFix/>
          </a:blip>
          <a:srcRect b="0" l="0" r="0" t="0"/>
          <a:stretch/>
        </p:blipFill>
        <p:spPr>
          <a:xfrm>
            <a:off x="3823192" y="5432395"/>
            <a:ext cx="2438740" cy="571580"/>
          </a:xfrm>
          <a:prstGeom prst="rect">
            <a:avLst/>
          </a:prstGeom>
          <a:noFill/>
          <a:ln>
            <a:noFill/>
          </a:ln>
        </p:spPr>
      </p:pic>
      <p:sp>
        <p:nvSpPr>
          <p:cNvPr id="246" name="Google Shape;246;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19"/>
          <p:cNvPicPr preferRelativeResize="0"/>
          <p:nvPr/>
        </p:nvPicPr>
        <p:blipFill rotWithShape="1">
          <a:blip r:embed="rId3">
            <a:alphaModFix/>
          </a:blip>
          <a:srcRect b="0" l="0" r="0" t="0"/>
          <a:stretch/>
        </p:blipFill>
        <p:spPr>
          <a:xfrm>
            <a:off x="990208" y="5128961"/>
            <a:ext cx="5251099" cy="940886"/>
          </a:xfrm>
          <a:prstGeom prst="rect">
            <a:avLst/>
          </a:prstGeom>
          <a:noFill/>
          <a:ln>
            <a:noFill/>
          </a:ln>
        </p:spPr>
      </p:pic>
      <p:pic>
        <p:nvPicPr>
          <p:cNvPr id="252" name="Google Shape;252;p19"/>
          <p:cNvPicPr preferRelativeResize="0"/>
          <p:nvPr/>
        </p:nvPicPr>
        <p:blipFill rotWithShape="1">
          <a:blip r:embed="rId4">
            <a:alphaModFix/>
          </a:blip>
          <a:srcRect b="0" l="0" r="0" t="0"/>
          <a:stretch/>
        </p:blipFill>
        <p:spPr>
          <a:xfrm>
            <a:off x="6966675" y="-475084"/>
            <a:ext cx="5388068" cy="3550793"/>
          </a:xfrm>
          <a:prstGeom prst="rect">
            <a:avLst/>
          </a:prstGeom>
          <a:noFill/>
          <a:ln>
            <a:noFill/>
          </a:ln>
        </p:spPr>
      </p:pic>
      <p:sp>
        <p:nvSpPr>
          <p:cNvPr id="253" name="Google Shape;253;p19"/>
          <p:cNvSpPr txBox="1"/>
          <p:nvPr>
            <p:ph type="ctrTitle"/>
          </p:nvPr>
        </p:nvSpPr>
        <p:spPr>
          <a:xfrm>
            <a:off x="147670" y="169217"/>
            <a:ext cx="6623878" cy="132556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u="sng">
                <a:solidFill>
                  <a:srgbClr val="00B050"/>
                </a:solidFill>
              </a:rPr>
              <a:t>Explicit</a:t>
            </a:r>
            <a:r>
              <a:rPr b="1" lang="en-US" sz="5400" u="sng">
                <a:solidFill>
                  <a:srgbClr val="00B050"/>
                </a:solidFill>
              </a:rPr>
              <a:t> </a:t>
            </a:r>
            <a:r>
              <a:rPr b="1" lang="en-US" u="sng">
                <a:solidFill>
                  <a:srgbClr val="00B050"/>
                </a:solidFill>
              </a:rPr>
              <a:t>Conversion</a:t>
            </a:r>
            <a:endParaRPr b="1" u="sng">
              <a:solidFill>
                <a:srgbClr val="00B050"/>
              </a:solidFill>
            </a:endParaRPr>
          </a:p>
        </p:txBody>
      </p:sp>
      <p:pic>
        <p:nvPicPr>
          <p:cNvPr id="254" name="Google Shape;254;p19"/>
          <p:cNvPicPr preferRelativeResize="0"/>
          <p:nvPr/>
        </p:nvPicPr>
        <p:blipFill rotWithShape="1">
          <a:blip r:embed="rId5">
            <a:alphaModFix/>
          </a:blip>
          <a:srcRect b="0" l="0" r="0" t="0"/>
          <a:stretch/>
        </p:blipFill>
        <p:spPr>
          <a:xfrm>
            <a:off x="336375" y="1057825"/>
            <a:ext cx="11710625" cy="5901675"/>
          </a:xfrm>
          <a:prstGeom prst="rect">
            <a:avLst/>
          </a:prstGeom>
          <a:noFill/>
          <a:ln>
            <a:noFill/>
          </a:ln>
        </p:spPr>
      </p:pic>
      <p:sp>
        <p:nvSpPr>
          <p:cNvPr id="255" name="Google Shape;255;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0"/>
          <p:cNvSpPr txBox="1"/>
          <p:nvPr>
            <p:ph type="ctr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u="sng">
                <a:solidFill>
                  <a:srgbClr val="00B050"/>
                </a:solidFill>
              </a:rPr>
              <a:t>Python</a:t>
            </a:r>
            <a:r>
              <a:rPr b="1" lang="en-US" sz="5400" u="sng">
                <a:solidFill>
                  <a:srgbClr val="00B050"/>
                </a:solidFill>
              </a:rPr>
              <a:t> </a:t>
            </a:r>
            <a:r>
              <a:rPr b="1" lang="en-US" u="sng">
                <a:solidFill>
                  <a:srgbClr val="00B050"/>
                </a:solidFill>
              </a:rPr>
              <a:t>Operators</a:t>
            </a:r>
            <a:endParaRPr b="1" u="sng">
              <a:solidFill>
                <a:srgbClr val="00B050"/>
              </a:solidFill>
            </a:endParaRPr>
          </a:p>
        </p:txBody>
      </p:sp>
      <p:sp>
        <p:nvSpPr>
          <p:cNvPr id="261" name="Google Shape;261;p20"/>
          <p:cNvSpPr txBox="1"/>
          <p:nvPr/>
        </p:nvSpPr>
        <p:spPr>
          <a:xfrm>
            <a:off x="473824" y="1690688"/>
            <a:ext cx="11154233" cy="4144847"/>
          </a:xfrm>
          <a:prstGeom prst="rect">
            <a:avLst/>
          </a:prstGeom>
          <a:noFill/>
          <a:ln>
            <a:noFill/>
          </a:ln>
        </p:spPr>
        <p:txBody>
          <a:bodyPr anchorCtr="0" anchor="t" bIns="45700" lIns="91425" spcFirstLastPara="1" rIns="91425" wrap="square" tIns="45700">
            <a:noAutofit/>
          </a:bodyPr>
          <a:lstStyle/>
          <a:p>
            <a:pPr indent="0" lvl="0" marL="114300" marR="0" rtl="0" algn="l">
              <a:lnSpc>
                <a:spcPct val="90000"/>
              </a:lnSpc>
              <a:spcBef>
                <a:spcPts val="0"/>
              </a:spcBef>
              <a:spcAft>
                <a:spcPts val="0"/>
              </a:spcAft>
              <a:buClr>
                <a:schemeClr val="dk1"/>
              </a:buClr>
              <a:buSzPts val="4800"/>
              <a:buFont typeface="Arial"/>
              <a:buNone/>
            </a:pPr>
            <a:r>
              <a:rPr b="1" i="0" lang="en-US" sz="2400" u="none" cap="none" strike="noStrike">
                <a:solidFill>
                  <a:schemeClr val="dk1"/>
                </a:solidFill>
                <a:latin typeface="Arial"/>
                <a:ea typeface="Arial"/>
                <a:cs typeface="Arial"/>
                <a:sym typeface="Arial"/>
              </a:rPr>
              <a:t>What are Python Operators? </a:t>
            </a:r>
            <a:endParaRPr b="1" i="0" sz="2400" u="none" cap="none" strike="noStrike">
              <a:solidFill>
                <a:schemeClr val="dk1"/>
              </a:solidFill>
              <a:latin typeface="Arial"/>
              <a:ea typeface="Arial"/>
              <a:cs typeface="Arial"/>
              <a:sym typeface="Arial"/>
            </a:endParaRPr>
          </a:p>
          <a:p>
            <a:pPr indent="-342900" lvl="0" marL="457200" marR="0" rtl="0" algn="l">
              <a:lnSpc>
                <a:spcPct val="150000"/>
              </a:lnSpc>
              <a:spcBef>
                <a:spcPts val="1000"/>
              </a:spcBef>
              <a:spcAft>
                <a:spcPts val="0"/>
              </a:spcAft>
              <a:buClr>
                <a:schemeClr val="dk1"/>
              </a:buClr>
              <a:buSzPts val="4800"/>
              <a:buFont typeface="Noto Sans Symbols"/>
              <a:buChar char="▪"/>
            </a:pPr>
            <a:r>
              <a:rPr b="0" i="0" lang="en-US" sz="2400" u="none" cap="none" strike="noStrike">
                <a:solidFill>
                  <a:schemeClr val="dk1"/>
                </a:solidFill>
                <a:latin typeface="Arial"/>
                <a:ea typeface="Arial"/>
                <a:cs typeface="Arial"/>
                <a:sym typeface="Arial"/>
              </a:rPr>
              <a:t>An operator is used to perform specific mathematical or logical operation on values. </a:t>
            </a:r>
            <a:endParaRPr/>
          </a:p>
          <a:p>
            <a:pPr indent="-342900" lvl="0" marL="457200" marR="0" rtl="0" algn="l">
              <a:lnSpc>
                <a:spcPct val="150000"/>
              </a:lnSpc>
              <a:spcBef>
                <a:spcPts val="1000"/>
              </a:spcBef>
              <a:spcAft>
                <a:spcPts val="0"/>
              </a:spcAft>
              <a:buClr>
                <a:schemeClr val="dk1"/>
              </a:buClr>
              <a:buSzPts val="4800"/>
              <a:buFont typeface="Noto Sans Symbols"/>
              <a:buChar char="▪"/>
            </a:pPr>
            <a:r>
              <a:rPr b="0" i="0" lang="en-US" sz="2400" u="none" cap="none" strike="noStrike">
                <a:solidFill>
                  <a:schemeClr val="dk1"/>
                </a:solidFill>
                <a:latin typeface="Arial"/>
                <a:ea typeface="Arial"/>
                <a:cs typeface="Arial"/>
                <a:sym typeface="Arial"/>
              </a:rPr>
              <a:t>The values that the operators work on are called operands.</a:t>
            </a:r>
            <a:endParaRPr b="0" i="0" sz="2400" u="none" cap="none" strike="noStrike">
              <a:solidFill>
                <a:schemeClr val="dk1"/>
              </a:solidFill>
              <a:latin typeface="Arial"/>
              <a:ea typeface="Arial"/>
              <a:cs typeface="Arial"/>
              <a:sym typeface="Arial"/>
            </a:endParaRPr>
          </a:p>
        </p:txBody>
      </p:sp>
      <p:sp>
        <p:nvSpPr>
          <p:cNvPr id="262" name="Google Shape;26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1"/>
          <p:cNvSpPr txBox="1"/>
          <p:nvPr>
            <p:ph type="ctrTitle"/>
          </p:nvPr>
        </p:nvSpPr>
        <p:spPr>
          <a:xfrm>
            <a:off x="289560" y="215496"/>
            <a:ext cx="9083040" cy="132556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u="sng">
                <a:solidFill>
                  <a:srgbClr val="00B050"/>
                </a:solidFill>
              </a:rPr>
              <a:t>Python</a:t>
            </a:r>
            <a:r>
              <a:rPr b="1" lang="en-US" sz="5400" u="sng">
                <a:solidFill>
                  <a:srgbClr val="00B050"/>
                </a:solidFill>
              </a:rPr>
              <a:t> </a:t>
            </a:r>
            <a:r>
              <a:rPr b="1" lang="en-US" u="sng">
                <a:solidFill>
                  <a:srgbClr val="00B050"/>
                </a:solidFill>
              </a:rPr>
              <a:t>Operators</a:t>
            </a:r>
            <a:endParaRPr b="1" u="sng">
              <a:solidFill>
                <a:srgbClr val="00B050"/>
              </a:solidFill>
            </a:endParaRPr>
          </a:p>
        </p:txBody>
      </p:sp>
      <p:sp>
        <p:nvSpPr>
          <p:cNvPr id="268" name="Google Shape;268;p21"/>
          <p:cNvSpPr/>
          <p:nvPr/>
        </p:nvSpPr>
        <p:spPr>
          <a:xfrm>
            <a:off x="735019" y="1336209"/>
            <a:ext cx="11004331" cy="2862282"/>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chemeClr val="accent2"/>
              </a:buClr>
              <a:buSzPts val="4400"/>
              <a:buFont typeface="Noto Sans Symbols"/>
              <a:buChar char="▪"/>
            </a:pPr>
            <a:r>
              <a:rPr b="1" i="0" lang="en-US" sz="2400" u="none" cap="none" strike="noStrike">
                <a:solidFill>
                  <a:schemeClr val="accent2"/>
                </a:solidFill>
                <a:latin typeface="Arial"/>
                <a:ea typeface="Arial"/>
                <a:cs typeface="Arial"/>
                <a:sym typeface="Arial"/>
              </a:rPr>
              <a:t>Arithmetic Operator: </a:t>
            </a:r>
            <a:r>
              <a:rPr b="0" i="0" lang="en-US" sz="2400" u="none" cap="none" strike="noStrike">
                <a:solidFill>
                  <a:schemeClr val="dk1"/>
                </a:solidFill>
                <a:latin typeface="Arial"/>
                <a:ea typeface="Arial"/>
                <a:cs typeface="Arial"/>
                <a:sym typeface="Arial"/>
              </a:rPr>
              <a:t>+, -, *, / </a:t>
            </a:r>
            <a:endParaRPr b="0" i="0" sz="2400" u="none" cap="none" strike="noStrike">
              <a:solidFill>
                <a:srgbClr val="000000"/>
              </a:solidFill>
              <a:latin typeface="Arial"/>
              <a:ea typeface="Arial"/>
              <a:cs typeface="Arial"/>
              <a:sym typeface="Arial"/>
            </a:endParaRPr>
          </a:p>
          <a:p>
            <a:pPr indent="-342900" lvl="0" marL="342900" marR="0" rtl="0" algn="just">
              <a:lnSpc>
                <a:spcPct val="150000"/>
              </a:lnSpc>
              <a:spcBef>
                <a:spcPts val="0"/>
              </a:spcBef>
              <a:spcAft>
                <a:spcPts val="0"/>
              </a:spcAft>
              <a:buClr>
                <a:schemeClr val="accent2"/>
              </a:buClr>
              <a:buSzPts val="4400"/>
              <a:buFont typeface="Noto Sans Symbols"/>
              <a:buChar char="▪"/>
            </a:pPr>
            <a:r>
              <a:rPr b="1" i="0" lang="en-US" sz="2400" u="none" cap="none" strike="noStrike">
                <a:solidFill>
                  <a:schemeClr val="accent2"/>
                </a:solidFill>
                <a:latin typeface="Arial"/>
                <a:ea typeface="Arial"/>
                <a:cs typeface="Arial"/>
                <a:sym typeface="Arial"/>
              </a:rPr>
              <a:t>Relational Operator: </a:t>
            </a:r>
            <a:r>
              <a:rPr b="0" i="0" lang="en-US" sz="2400" u="none" cap="none" strike="noStrike">
                <a:solidFill>
                  <a:srgbClr val="000000"/>
                </a:solidFill>
                <a:latin typeface="Arial"/>
                <a:ea typeface="Arial"/>
                <a:cs typeface="Arial"/>
                <a:sym typeface="Arial"/>
              </a:rPr>
              <a:t>==, &gt;, &lt;, !=, &gt;=, &lt;=</a:t>
            </a:r>
            <a:endParaRPr b="0" i="0" sz="2400" u="none" cap="none" strike="noStrike">
              <a:solidFill>
                <a:srgbClr val="000000"/>
              </a:solidFill>
              <a:latin typeface="Arial"/>
              <a:ea typeface="Arial"/>
              <a:cs typeface="Arial"/>
              <a:sym typeface="Arial"/>
            </a:endParaRPr>
          </a:p>
          <a:p>
            <a:pPr indent="-342900" lvl="0" marL="342900" marR="0" rtl="0" algn="just">
              <a:lnSpc>
                <a:spcPct val="150000"/>
              </a:lnSpc>
              <a:spcBef>
                <a:spcPts val="0"/>
              </a:spcBef>
              <a:spcAft>
                <a:spcPts val="0"/>
              </a:spcAft>
              <a:buClr>
                <a:schemeClr val="accent2"/>
              </a:buClr>
              <a:buSzPts val="4400"/>
              <a:buFont typeface="Noto Sans Symbols"/>
              <a:buChar char="▪"/>
            </a:pPr>
            <a:r>
              <a:rPr b="1" i="0" lang="en-US" sz="2400" u="none" cap="none" strike="noStrike">
                <a:solidFill>
                  <a:schemeClr val="accent2"/>
                </a:solidFill>
                <a:latin typeface="Arial"/>
                <a:ea typeface="Arial"/>
                <a:cs typeface="Arial"/>
                <a:sym typeface="Arial"/>
              </a:rPr>
              <a:t>Assignment Operator: </a:t>
            </a:r>
            <a:r>
              <a:rPr b="0" i="0" lang="en-US" sz="2400" u="none" cap="none" strike="noStrike">
                <a:solidFill>
                  <a:srgbClr val="000000"/>
                </a:solidFill>
                <a:latin typeface="Arial"/>
                <a:ea typeface="Arial"/>
                <a:cs typeface="Arial"/>
                <a:sym typeface="Arial"/>
              </a:rPr>
              <a:t>=, +=, -=</a:t>
            </a:r>
            <a:endParaRPr b="0" i="0" sz="2400" u="none" cap="none" strike="noStrike">
              <a:solidFill>
                <a:srgbClr val="000000"/>
              </a:solidFill>
              <a:latin typeface="Arial"/>
              <a:ea typeface="Arial"/>
              <a:cs typeface="Arial"/>
              <a:sym typeface="Arial"/>
            </a:endParaRPr>
          </a:p>
          <a:p>
            <a:pPr indent="-342900" lvl="0" marL="342900" marR="0" rtl="0" algn="just">
              <a:lnSpc>
                <a:spcPct val="150000"/>
              </a:lnSpc>
              <a:spcBef>
                <a:spcPts val="0"/>
              </a:spcBef>
              <a:spcAft>
                <a:spcPts val="0"/>
              </a:spcAft>
              <a:buClr>
                <a:srgbClr val="0070C0"/>
              </a:buClr>
              <a:buSzPts val="4400"/>
              <a:buFont typeface="Noto Sans Symbols"/>
              <a:buChar char="▪"/>
            </a:pPr>
            <a:r>
              <a:rPr b="1" i="0" lang="en-US" sz="2400" u="none" cap="none" strike="noStrike">
                <a:solidFill>
                  <a:srgbClr val="0070C0"/>
                </a:solidFill>
                <a:latin typeface="Arial"/>
                <a:ea typeface="Arial"/>
                <a:cs typeface="Arial"/>
                <a:sym typeface="Arial"/>
              </a:rPr>
              <a:t>Logical Operator: </a:t>
            </a:r>
            <a:r>
              <a:rPr b="0" i="0" lang="en-US" sz="2400" u="none" cap="none" strike="noStrike">
                <a:solidFill>
                  <a:srgbClr val="000000"/>
                </a:solidFill>
                <a:latin typeface="Arial"/>
                <a:ea typeface="Arial"/>
                <a:cs typeface="Arial"/>
                <a:sym typeface="Arial"/>
              </a:rPr>
              <a:t>and , or, not</a:t>
            </a:r>
            <a:endParaRPr b="0" i="0" sz="2400" u="none" cap="none" strike="noStrike">
              <a:solidFill>
                <a:srgbClr val="000000"/>
              </a:solidFill>
              <a:latin typeface="Arial"/>
              <a:ea typeface="Arial"/>
              <a:cs typeface="Arial"/>
              <a:sym typeface="Arial"/>
            </a:endParaRPr>
          </a:p>
          <a:p>
            <a:pPr indent="-342900" lvl="0" marL="342900" marR="0" rtl="0" algn="just">
              <a:lnSpc>
                <a:spcPct val="150000"/>
              </a:lnSpc>
              <a:spcBef>
                <a:spcPts val="0"/>
              </a:spcBef>
              <a:spcAft>
                <a:spcPts val="0"/>
              </a:spcAft>
              <a:buClr>
                <a:srgbClr val="0070C0"/>
              </a:buClr>
              <a:buSzPts val="4400"/>
              <a:buFont typeface="Noto Sans Symbols"/>
              <a:buChar char="▪"/>
            </a:pPr>
            <a:r>
              <a:rPr b="1" i="0" lang="en-US" sz="2400" u="none" cap="none" strike="noStrike">
                <a:solidFill>
                  <a:srgbClr val="0070C0"/>
                </a:solidFill>
                <a:latin typeface="Arial"/>
                <a:ea typeface="Arial"/>
                <a:cs typeface="Arial"/>
                <a:sym typeface="Arial"/>
              </a:rPr>
              <a:t>Membership Operator: </a:t>
            </a:r>
            <a:r>
              <a:rPr b="0" i="0" lang="en-US" sz="2400" u="none" cap="none" strike="noStrike">
                <a:solidFill>
                  <a:srgbClr val="000000"/>
                </a:solidFill>
                <a:latin typeface="Arial"/>
                <a:ea typeface="Arial"/>
                <a:cs typeface="Arial"/>
                <a:sym typeface="Arial"/>
              </a:rPr>
              <a:t>in, not in</a:t>
            </a:r>
            <a:endParaRPr b="0" i="0" sz="2400" u="none" cap="none" strike="noStrike">
              <a:solidFill>
                <a:srgbClr val="000000"/>
              </a:solidFill>
              <a:latin typeface="Arial"/>
              <a:ea typeface="Arial"/>
              <a:cs typeface="Arial"/>
              <a:sym typeface="Arial"/>
            </a:endParaRPr>
          </a:p>
        </p:txBody>
      </p:sp>
      <p:sp>
        <p:nvSpPr>
          <p:cNvPr id="269" name="Google Shape;26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2"/>
          <p:cNvSpPr txBox="1"/>
          <p:nvPr>
            <p:ph type="ctrTitle"/>
          </p:nvPr>
        </p:nvSpPr>
        <p:spPr>
          <a:xfrm>
            <a:off x="289560" y="215496"/>
            <a:ext cx="9083040" cy="132556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u="sng">
                <a:solidFill>
                  <a:srgbClr val="00B050"/>
                </a:solidFill>
              </a:rPr>
              <a:t>Arithmetic</a:t>
            </a:r>
            <a:r>
              <a:rPr b="1" lang="en-US" sz="5400" u="sng">
                <a:solidFill>
                  <a:srgbClr val="00B050"/>
                </a:solidFill>
              </a:rPr>
              <a:t> </a:t>
            </a:r>
            <a:r>
              <a:rPr b="1" lang="en-US" u="sng">
                <a:solidFill>
                  <a:srgbClr val="00B050"/>
                </a:solidFill>
              </a:rPr>
              <a:t>Operator</a:t>
            </a:r>
            <a:endParaRPr b="1" u="sng">
              <a:solidFill>
                <a:srgbClr val="00B050"/>
              </a:solidFill>
            </a:endParaRPr>
          </a:p>
        </p:txBody>
      </p:sp>
      <p:pic>
        <p:nvPicPr>
          <p:cNvPr id="275" name="Google Shape;275;p22"/>
          <p:cNvPicPr preferRelativeResize="0"/>
          <p:nvPr/>
        </p:nvPicPr>
        <p:blipFill rotWithShape="1">
          <a:blip r:embed="rId3">
            <a:alphaModFix/>
          </a:blip>
          <a:srcRect b="0" l="0" r="0" t="0"/>
          <a:stretch/>
        </p:blipFill>
        <p:spPr>
          <a:xfrm>
            <a:off x="914854" y="1825300"/>
            <a:ext cx="3844812" cy="3353529"/>
          </a:xfrm>
          <a:prstGeom prst="rect">
            <a:avLst/>
          </a:prstGeom>
          <a:noFill/>
          <a:ln>
            <a:noFill/>
          </a:ln>
        </p:spPr>
      </p:pic>
      <p:pic>
        <p:nvPicPr>
          <p:cNvPr id="276" name="Google Shape;276;p22"/>
          <p:cNvPicPr preferRelativeResize="0"/>
          <p:nvPr/>
        </p:nvPicPr>
        <p:blipFill rotWithShape="1">
          <a:blip r:embed="rId4">
            <a:alphaModFix/>
          </a:blip>
          <a:srcRect b="0" l="0" r="0" t="0"/>
          <a:stretch/>
        </p:blipFill>
        <p:spPr>
          <a:xfrm>
            <a:off x="5623785" y="2132066"/>
            <a:ext cx="6004272" cy="2739996"/>
          </a:xfrm>
          <a:prstGeom prst="rect">
            <a:avLst/>
          </a:prstGeom>
          <a:noFill/>
          <a:ln>
            <a:noFill/>
          </a:ln>
        </p:spPr>
      </p:pic>
      <p:pic>
        <p:nvPicPr>
          <p:cNvPr id="277" name="Google Shape;277;p22"/>
          <p:cNvPicPr preferRelativeResize="0"/>
          <p:nvPr/>
        </p:nvPicPr>
        <p:blipFill rotWithShape="1">
          <a:blip r:embed="rId5">
            <a:alphaModFix/>
          </a:blip>
          <a:srcRect b="0" l="0" r="0" t="0"/>
          <a:stretch/>
        </p:blipFill>
        <p:spPr>
          <a:xfrm>
            <a:off x="4522732" y="5323955"/>
            <a:ext cx="2448267" cy="847843"/>
          </a:xfrm>
          <a:prstGeom prst="rect">
            <a:avLst/>
          </a:prstGeom>
          <a:noFill/>
          <a:ln>
            <a:noFill/>
          </a:ln>
        </p:spPr>
      </p:pic>
      <p:sp>
        <p:nvSpPr>
          <p:cNvPr id="278" name="Google Shape;27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4"/>
          <p:cNvSpPr txBox="1"/>
          <p:nvPr>
            <p:ph type="ctrTitle"/>
          </p:nvPr>
        </p:nvSpPr>
        <p:spPr>
          <a:xfrm>
            <a:off x="289560" y="215496"/>
            <a:ext cx="9083040" cy="132556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u="sng">
                <a:solidFill>
                  <a:srgbClr val="00B050"/>
                </a:solidFill>
              </a:rPr>
              <a:t>Comparison</a:t>
            </a:r>
            <a:r>
              <a:rPr b="1" lang="en-US" sz="5400" u="sng">
                <a:solidFill>
                  <a:srgbClr val="00B050"/>
                </a:solidFill>
              </a:rPr>
              <a:t> </a:t>
            </a:r>
            <a:r>
              <a:rPr b="1" lang="en-US" u="sng">
                <a:solidFill>
                  <a:srgbClr val="00B050"/>
                </a:solidFill>
              </a:rPr>
              <a:t>Operator</a:t>
            </a:r>
            <a:endParaRPr b="1" u="sng">
              <a:solidFill>
                <a:srgbClr val="00B050"/>
              </a:solidFill>
            </a:endParaRPr>
          </a:p>
        </p:txBody>
      </p:sp>
      <p:pic>
        <p:nvPicPr>
          <p:cNvPr id="284" name="Google Shape;284;p24"/>
          <p:cNvPicPr preferRelativeResize="0"/>
          <p:nvPr/>
        </p:nvPicPr>
        <p:blipFill rotWithShape="1">
          <a:blip r:embed="rId3">
            <a:alphaModFix/>
          </a:blip>
          <a:srcRect b="0" l="0" r="0" t="0"/>
          <a:stretch/>
        </p:blipFill>
        <p:spPr>
          <a:xfrm>
            <a:off x="6882813" y="1354975"/>
            <a:ext cx="3666038" cy="5290773"/>
          </a:xfrm>
          <a:prstGeom prst="rect">
            <a:avLst/>
          </a:prstGeom>
          <a:noFill/>
          <a:ln>
            <a:noFill/>
          </a:ln>
        </p:spPr>
      </p:pic>
      <p:pic>
        <p:nvPicPr>
          <p:cNvPr id="285" name="Google Shape;285;p24"/>
          <p:cNvPicPr preferRelativeResize="0"/>
          <p:nvPr/>
        </p:nvPicPr>
        <p:blipFill rotWithShape="1">
          <a:blip r:embed="rId4">
            <a:alphaModFix/>
          </a:blip>
          <a:srcRect b="0" l="0" r="0" t="0"/>
          <a:stretch/>
        </p:blipFill>
        <p:spPr>
          <a:xfrm>
            <a:off x="1717589" y="3027182"/>
            <a:ext cx="3913643" cy="1684200"/>
          </a:xfrm>
          <a:prstGeom prst="rect">
            <a:avLst/>
          </a:prstGeom>
          <a:noFill/>
          <a:ln>
            <a:noFill/>
          </a:ln>
        </p:spPr>
      </p:pic>
      <p:sp>
        <p:nvSpPr>
          <p:cNvPr id="286" name="Google Shape;28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3"/>
          <p:cNvSpPr txBox="1"/>
          <p:nvPr>
            <p:ph type="ctrTitle"/>
          </p:nvPr>
        </p:nvSpPr>
        <p:spPr>
          <a:xfrm>
            <a:off x="289560" y="215496"/>
            <a:ext cx="9083040" cy="132556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None/>
            </a:pPr>
            <a:r>
              <a:rPr b="1" lang="en-US" u="sng">
                <a:solidFill>
                  <a:srgbClr val="00B050"/>
                </a:solidFill>
              </a:rPr>
              <a:t>Assignment Operator</a:t>
            </a:r>
            <a:endParaRPr b="1" u="sng">
              <a:solidFill>
                <a:srgbClr val="00B050"/>
              </a:solidFill>
            </a:endParaRPr>
          </a:p>
        </p:txBody>
      </p:sp>
      <p:pic>
        <p:nvPicPr>
          <p:cNvPr id="292" name="Google Shape;292;p23"/>
          <p:cNvPicPr preferRelativeResize="0"/>
          <p:nvPr/>
        </p:nvPicPr>
        <p:blipFill rotWithShape="1">
          <a:blip r:embed="rId3">
            <a:alphaModFix/>
          </a:blip>
          <a:srcRect b="0" l="0" r="0" t="0"/>
          <a:stretch/>
        </p:blipFill>
        <p:spPr>
          <a:xfrm>
            <a:off x="784853" y="1651554"/>
            <a:ext cx="3674026" cy="4306186"/>
          </a:xfrm>
          <a:prstGeom prst="rect">
            <a:avLst/>
          </a:prstGeom>
          <a:noFill/>
          <a:ln>
            <a:noFill/>
          </a:ln>
        </p:spPr>
      </p:pic>
      <p:pic>
        <p:nvPicPr>
          <p:cNvPr id="293" name="Google Shape;293;p23"/>
          <p:cNvPicPr preferRelativeResize="0"/>
          <p:nvPr/>
        </p:nvPicPr>
        <p:blipFill rotWithShape="1">
          <a:blip r:embed="rId4">
            <a:alphaModFix/>
          </a:blip>
          <a:srcRect b="0" l="0" r="0" t="0"/>
          <a:stretch/>
        </p:blipFill>
        <p:spPr>
          <a:xfrm>
            <a:off x="5632633" y="1492884"/>
            <a:ext cx="5672676" cy="3130341"/>
          </a:xfrm>
          <a:prstGeom prst="rect">
            <a:avLst/>
          </a:prstGeom>
          <a:noFill/>
          <a:ln>
            <a:noFill/>
          </a:ln>
        </p:spPr>
      </p:pic>
      <p:pic>
        <p:nvPicPr>
          <p:cNvPr id="294" name="Google Shape;294;p23"/>
          <p:cNvPicPr preferRelativeResize="0"/>
          <p:nvPr/>
        </p:nvPicPr>
        <p:blipFill rotWithShape="1">
          <a:blip r:embed="rId5">
            <a:alphaModFix/>
          </a:blip>
          <a:srcRect b="0" l="0" r="0" t="0"/>
          <a:stretch/>
        </p:blipFill>
        <p:spPr>
          <a:xfrm>
            <a:off x="4903447" y="5144096"/>
            <a:ext cx="3076771" cy="1193034"/>
          </a:xfrm>
          <a:prstGeom prst="rect">
            <a:avLst/>
          </a:prstGeom>
          <a:noFill/>
          <a:ln>
            <a:noFill/>
          </a:ln>
        </p:spPr>
      </p:pic>
      <p:sp>
        <p:nvSpPr>
          <p:cNvPr id="295" name="Google Shape;295;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301" name="Google Shape;301;p55"/>
          <p:cNvPicPr preferRelativeResize="0"/>
          <p:nvPr/>
        </p:nvPicPr>
        <p:blipFill rotWithShape="1">
          <a:blip r:embed="rId3">
            <a:alphaModFix/>
          </a:blip>
          <a:srcRect b="0" l="0" r="0" t="0"/>
          <a:stretch/>
        </p:blipFill>
        <p:spPr>
          <a:xfrm>
            <a:off x="744719" y="996886"/>
            <a:ext cx="10982226" cy="571264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p25"/>
          <p:cNvPicPr preferRelativeResize="0"/>
          <p:nvPr/>
        </p:nvPicPr>
        <p:blipFill rotWithShape="1">
          <a:blip r:embed="rId3">
            <a:alphaModFix/>
          </a:blip>
          <a:srcRect b="0" l="0" r="0" t="0"/>
          <a:stretch/>
        </p:blipFill>
        <p:spPr>
          <a:xfrm>
            <a:off x="4773422" y="2229233"/>
            <a:ext cx="6857304" cy="2442520"/>
          </a:xfrm>
          <a:prstGeom prst="rect">
            <a:avLst/>
          </a:prstGeom>
          <a:noFill/>
          <a:ln>
            <a:noFill/>
          </a:ln>
        </p:spPr>
      </p:pic>
      <p:pic>
        <p:nvPicPr>
          <p:cNvPr id="307" name="Google Shape;307;p25"/>
          <p:cNvPicPr preferRelativeResize="0"/>
          <p:nvPr/>
        </p:nvPicPr>
        <p:blipFill rotWithShape="1">
          <a:blip r:embed="rId4">
            <a:alphaModFix/>
          </a:blip>
          <a:srcRect b="0" l="0" r="0" t="0"/>
          <a:stretch/>
        </p:blipFill>
        <p:spPr>
          <a:xfrm>
            <a:off x="924196" y="1959956"/>
            <a:ext cx="3543795" cy="3505689"/>
          </a:xfrm>
          <a:prstGeom prst="rect">
            <a:avLst/>
          </a:prstGeom>
          <a:noFill/>
          <a:ln>
            <a:noFill/>
          </a:ln>
        </p:spPr>
      </p:pic>
      <p:pic>
        <p:nvPicPr>
          <p:cNvPr id="308" name="Google Shape;308;p25"/>
          <p:cNvPicPr preferRelativeResize="0"/>
          <p:nvPr/>
        </p:nvPicPr>
        <p:blipFill rotWithShape="1">
          <a:blip r:embed="rId5">
            <a:alphaModFix/>
          </a:blip>
          <a:srcRect b="0" l="0" r="0" t="0"/>
          <a:stretch/>
        </p:blipFill>
        <p:spPr>
          <a:xfrm>
            <a:off x="4773422" y="5019913"/>
            <a:ext cx="2582359" cy="753188"/>
          </a:xfrm>
          <a:prstGeom prst="rect">
            <a:avLst/>
          </a:prstGeom>
          <a:noFill/>
          <a:ln>
            <a:noFill/>
          </a:ln>
        </p:spPr>
      </p:pic>
      <p:sp>
        <p:nvSpPr>
          <p:cNvPr id="309" name="Google Shape;309;p25"/>
          <p:cNvSpPr txBox="1"/>
          <p:nvPr/>
        </p:nvSpPr>
        <p:spPr>
          <a:xfrm>
            <a:off x="755073" y="454876"/>
            <a:ext cx="9083040" cy="1325563"/>
          </a:xfrm>
          <a:prstGeom prst="rect">
            <a:avLst/>
          </a:prstGeom>
          <a:noFill/>
          <a:ln>
            <a:noFill/>
          </a:ln>
        </p:spPr>
        <p:txBody>
          <a:bodyPr anchorCtr="0" anchor="ctr" bIns="45700" lIns="91425" spcFirstLastPara="1" rIns="91425" wrap="square" tIns="45700">
            <a:normAutofit/>
          </a:bodyPr>
          <a:lstStyle/>
          <a:p>
            <a:pPr indent="0" lvl="0" marL="114300" marR="0" rtl="0" algn="l">
              <a:lnSpc>
                <a:spcPct val="90000"/>
              </a:lnSpc>
              <a:spcBef>
                <a:spcPts val="0"/>
              </a:spcBef>
              <a:spcAft>
                <a:spcPts val="0"/>
              </a:spcAft>
              <a:buClr>
                <a:srgbClr val="00B050"/>
              </a:buClr>
              <a:buSzPts val="5400"/>
              <a:buFont typeface="Calibri"/>
              <a:buNone/>
            </a:pPr>
            <a:r>
              <a:rPr b="1" i="0" lang="en-US" sz="4000" u="sng" cap="none" strike="noStrike">
                <a:solidFill>
                  <a:srgbClr val="00B050"/>
                </a:solidFill>
                <a:latin typeface="Arial"/>
                <a:ea typeface="Arial"/>
                <a:cs typeface="Arial"/>
                <a:sym typeface="Arial"/>
              </a:rPr>
              <a:t>Logical Operator</a:t>
            </a:r>
            <a:endParaRPr b="1" i="0" sz="4000" u="none" cap="none" strike="noStrike">
              <a:solidFill>
                <a:schemeClr val="dk1"/>
              </a:solidFill>
              <a:latin typeface="Arial"/>
              <a:ea typeface="Arial"/>
              <a:cs typeface="Arial"/>
              <a:sym typeface="Arial"/>
            </a:endParaRPr>
          </a:p>
        </p:txBody>
      </p:sp>
      <p:sp>
        <p:nvSpPr>
          <p:cNvPr id="310" name="Google Shape;31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6"/>
          <p:cNvSpPr txBox="1"/>
          <p:nvPr>
            <p:ph type="ctr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u="sng">
                <a:solidFill>
                  <a:srgbClr val="00B050"/>
                </a:solidFill>
              </a:rPr>
              <a:t>Expressions</a:t>
            </a:r>
            <a:endParaRPr b="1"/>
          </a:p>
        </p:txBody>
      </p:sp>
      <p:sp>
        <p:nvSpPr>
          <p:cNvPr id="316" name="Google Shape;316;p26"/>
          <p:cNvSpPr txBox="1"/>
          <p:nvPr/>
        </p:nvSpPr>
        <p:spPr>
          <a:xfrm>
            <a:off x="473824" y="1690688"/>
            <a:ext cx="11154233" cy="4144847"/>
          </a:xfrm>
          <a:prstGeom prst="rect">
            <a:avLst/>
          </a:prstGeom>
          <a:noFill/>
          <a:ln>
            <a:noFill/>
          </a:ln>
        </p:spPr>
        <p:txBody>
          <a:bodyPr anchorCtr="0" anchor="t" bIns="45700" lIns="91425" spcFirstLastPara="1" rIns="91425" wrap="square" tIns="45700">
            <a:noAutofit/>
          </a:bodyPr>
          <a:lstStyle/>
          <a:p>
            <a:pPr indent="0" lvl="0" marL="114300" marR="0" rtl="0" algn="ctr">
              <a:lnSpc>
                <a:spcPct val="90000"/>
              </a:lnSpc>
              <a:spcBef>
                <a:spcPts val="0"/>
              </a:spcBef>
              <a:spcAft>
                <a:spcPts val="0"/>
              </a:spcAft>
              <a:buClr>
                <a:schemeClr val="dk1"/>
              </a:buClr>
              <a:buSzPts val="4800"/>
              <a:buFont typeface="Arial"/>
              <a:buNone/>
            </a:pPr>
            <a:r>
              <a:rPr b="1" i="0" lang="en-US" sz="2400" u="none" cap="none" strike="noStrike">
                <a:solidFill>
                  <a:schemeClr val="dk1"/>
                </a:solidFill>
                <a:latin typeface="Arial"/>
                <a:ea typeface="Arial"/>
                <a:cs typeface="Arial"/>
                <a:sym typeface="Arial"/>
              </a:rPr>
              <a:t>What are Expressions?</a:t>
            </a:r>
            <a:endParaRPr b="1" i="0" sz="2400" u="none" cap="none" strike="noStrike">
              <a:solidFill>
                <a:schemeClr val="dk1"/>
              </a:solidFill>
              <a:latin typeface="Arial"/>
              <a:ea typeface="Arial"/>
              <a:cs typeface="Arial"/>
              <a:sym typeface="Arial"/>
            </a:endParaRPr>
          </a:p>
          <a:p>
            <a:pPr indent="-342900" lvl="0" marL="457200" marR="0" rtl="0" algn="l">
              <a:lnSpc>
                <a:spcPct val="150000"/>
              </a:lnSpc>
              <a:spcBef>
                <a:spcPts val="1000"/>
              </a:spcBef>
              <a:spcAft>
                <a:spcPts val="0"/>
              </a:spcAft>
              <a:buClr>
                <a:schemeClr val="dk1"/>
              </a:buClr>
              <a:buSzPts val="4800"/>
              <a:buFont typeface="Noto Sans Symbols"/>
              <a:buChar char="▪"/>
            </a:pPr>
            <a:r>
              <a:rPr b="0" i="0" lang="en-US" sz="2400" u="none" cap="none" strike="noStrike">
                <a:solidFill>
                  <a:schemeClr val="dk1"/>
                </a:solidFill>
                <a:latin typeface="Arial"/>
                <a:ea typeface="Arial"/>
                <a:cs typeface="Arial"/>
                <a:sym typeface="Arial"/>
              </a:rPr>
              <a:t>An expression is defined as combination of constants, variables, and operators. An expression always evaluates to a value. </a:t>
            </a:r>
            <a:endParaRPr/>
          </a:p>
          <a:p>
            <a:pPr indent="-342900" lvl="0" marL="457200" marR="0" rtl="0" algn="l">
              <a:lnSpc>
                <a:spcPct val="150000"/>
              </a:lnSpc>
              <a:spcBef>
                <a:spcPts val="1000"/>
              </a:spcBef>
              <a:spcAft>
                <a:spcPts val="0"/>
              </a:spcAft>
              <a:buClr>
                <a:schemeClr val="dk1"/>
              </a:buClr>
              <a:buSzPts val="4800"/>
              <a:buFont typeface="Noto Sans Symbols"/>
              <a:buChar char="▪"/>
            </a:pPr>
            <a:r>
              <a:rPr b="0" i="0" lang="en-US" sz="2400" u="none" cap="none" strike="noStrike">
                <a:solidFill>
                  <a:schemeClr val="dk1"/>
                </a:solidFill>
                <a:latin typeface="Arial"/>
                <a:ea typeface="Arial"/>
                <a:cs typeface="Arial"/>
                <a:sym typeface="Arial"/>
              </a:rPr>
              <a:t>For example: 100, num, num – 20.4, 3.0 + 3.14 and so on.</a:t>
            </a:r>
            <a:endParaRPr/>
          </a:p>
          <a:p>
            <a:pPr indent="-342900" lvl="0" marL="457200" marR="0" rtl="0" algn="l">
              <a:lnSpc>
                <a:spcPct val="150000"/>
              </a:lnSpc>
              <a:spcBef>
                <a:spcPts val="1000"/>
              </a:spcBef>
              <a:spcAft>
                <a:spcPts val="0"/>
              </a:spcAft>
              <a:buClr>
                <a:schemeClr val="dk1"/>
              </a:buClr>
              <a:buSzPts val="4800"/>
              <a:buFont typeface="Noto Sans Symbols"/>
              <a:buChar char="▪"/>
            </a:pPr>
            <a:r>
              <a:rPr b="0" i="0" lang="en-US" sz="2400" u="none" cap="none" strike="noStrike">
                <a:solidFill>
                  <a:schemeClr val="dk1"/>
                </a:solidFill>
                <a:latin typeface="Arial"/>
                <a:ea typeface="Arial"/>
                <a:cs typeface="Arial"/>
                <a:sym typeface="Arial"/>
              </a:rPr>
              <a:t>An Experession can contain sub expression within itself</a:t>
            </a:r>
            <a:endParaRPr b="0" i="0" sz="2400" u="none" cap="none" strike="noStrike">
              <a:solidFill>
                <a:schemeClr val="dk1"/>
              </a:solidFill>
              <a:latin typeface="Arial"/>
              <a:ea typeface="Arial"/>
              <a:cs typeface="Arial"/>
              <a:sym typeface="Arial"/>
            </a:endParaRPr>
          </a:p>
        </p:txBody>
      </p:sp>
      <p:sp>
        <p:nvSpPr>
          <p:cNvPr id="317" name="Google Shape;317;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7"/>
          <p:cNvSpPr txBox="1"/>
          <p:nvPr/>
        </p:nvSpPr>
        <p:spPr>
          <a:xfrm>
            <a:off x="342901" y="209262"/>
            <a:ext cx="8310648" cy="1325563"/>
          </a:xfrm>
          <a:prstGeom prst="rect">
            <a:avLst/>
          </a:prstGeom>
          <a:noFill/>
          <a:ln>
            <a:noFill/>
          </a:ln>
        </p:spPr>
        <p:txBody>
          <a:bodyPr anchorCtr="0" anchor="ctr" bIns="45700" lIns="91425" spcFirstLastPara="1" rIns="91425" wrap="square" tIns="45700">
            <a:normAutofit/>
          </a:bodyPr>
          <a:lstStyle/>
          <a:p>
            <a:pPr indent="0" lvl="0" marL="114300" marR="0" rtl="0" algn="l">
              <a:lnSpc>
                <a:spcPct val="90000"/>
              </a:lnSpc>
              <a:spcBef>
                <a:spcPts val="0"/>
              </a:spcBef>
              <a:spcAft>
                <a:spcPts val="0"/>
              </a:spcAft>
              <a:buClr>
                <a:srgbClr val="00B050"/>
              </a:buClr>
              <a:buSzPts val="5400"/>
              <a:buFont typeface="Calibri"/>
              <a:buNone/>
            </a:pPr>
            <a:r>
              <a:rPr b="1" i="0" lang="en-US" sz="4000" u="sng" cap="none" strike="noStrike">
                <a:solidFill>
                  <a:srgbClr val="00B050"/>
                </a:solidFill>
                <a:latin typeface="Arial"/>
                <a:ea typeface="Arial"/>
                <a:cs typeface="Arial"/>
                <a:sym typeface="Arial"/>
              </a:rPr>
              <a:t>REMEMBER!!!</a:t>
            </a:r>
            <a:endParaRPr b="1" i="0" sz="4000" u="none" cap="none" strike="noStrike">
              <a:solidFill>
                <a:schemeClr val="dk1"/>
              </a:solidFill>
              <a:latin typeface="Arial"/>
              <a:ea typeface="Arial"/>
              <a:cs typeface="Arial"/>
              <a:sym typeface="Arial"/>
            </a:endParaRPr>
          </a:p>
        </p:txBody>
      </p:sp>
      <p:sp>
        <p:nvSpPr>
          <p:cNvPr id="323" name="Google Shape;323;p27"/>
          <p:cNvSpPr txBox="1"/>
          <p:nvPr/>
        </p:nvSpPr>
        <p:spPr>
          <a:xfrm>
            <a:off x="542406" y="1355943"/>
            <a:ext cx="11506198" cy="461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WHAT IS BODMAS?</a:t>
            </a:r>
            <a:endParaRPr b="1" i="0" sz="2400" u="none" cap="none" strike="noStrike">
              <a:solidFill>
                <a:srgbClr val="FF0000"/>
              </a:solidFill>
              <a:latin typeface="Arial"/>
              <a:ea typeface="Arial"/>
              <a:cs typeface="Arial"/>
              <a:sym typeface="Arial"/>
            </a:endParaRPr>
          </a:p>
        </p:txBody>
      </p:sp>
      <p:sp>
        <p:nvSpPr>
          <p:cNvPr id="324" name="Google Shape;324;p27"/>
          <p:cNvSpPr txBox="1"/>
          <p:nvPr/>
        </p:nvSpPr>
        <p:spPr>
          <a:xfrm>
            <a:off x="467590" y="1888424"/>
            <a:ext cx="11369734"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BODMAS IS AN ACRONYM TO HELP EVERYONE TO REMEMBER THE PRECEDENCE OF MATHEMATICAL OPERATIONS!!</a:t>
            </a:r>
            <a:endParaRPr b="1" i="0" sz="2400" u="none" cap="none" strike="noStrike">
              <a:solidFill>
                <a:srgbClr val="FF0000"/>
              </a:solidFill>
              <a:latin typeface="Arial"/>
              <a:ea typeface="Arial"/>
              <a:cs typeface="Arial"/>
              <a:sym typeface="Arial"/>
            </a:endParaRPr>
          </a:p>
        </p:txBody>
      </p:sp>
      <p:sp>
        <p:nvSpPr>
          <p:cNvPr id="325" name="Google Shape;325;p27"/>
          <p:cNvSpPr txBox="1"/>
          <p:nvPr/>
        </p:nvSpPr>
        <p:spPr>
          <a:xfrm>
            <a:off x="467590" y="3193522"/>
            <a:ext cx="11369734"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70C0"/>
                </a:solidFill>
                <a:latin typeface="Arial"/>
                <a:ea typeface="Arial"/>
                <a:cs typeface="Arial"/>
                <a:sym typeface="Arial"/>
              </a:rPr>
              <a:t>IN PROGRAMMING LANGUAGES, OPERATORS HAVE DIFFERENT LEVELS OF PRECEDENCE, WHICH DETERMINES THE ORDER IN WHICH OPERATIONS ARE PERFORMED IN AN EXPRESSION.</a:t>
            </a:r>
            <a:endParaRPr b="1" i="0" sz="2400" u="none" cap="none" strike="noStrike">
              <a:solidFill>
                <a:srgbClr val="0070C0"/>
              </a:solidFill>
              <a:latin typeface="Arial"/>
              <a:ea typeface="Arial"/>
              <a:cs typeface="Arial"/>
              <a:sym typeface="Arial"/>
            </a:endParaRPr>
          </a:p>
        </p:txBody>
      </p:sp>
      <p:sp>
        <p:nvSpPr>
          <p:cNvPr id="326" name="Google Shape;326;p27"/>
          <p:cNvSpPr/>
          <p:nvPr/>
        </p:nvSpPr>
        <p:spPr>
          <a:xfrm>
            <a:off x="2753591" y="5883159"/>
            <a:ext cx="74211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https://docs.python.org/3/reference/expressions.html#operator-precedence</a:t>
            </a: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pic>
        <p:nvPicPr>
          <p:cNvPr descr="Click here Graphics and Animated Gifs | PicGifs.com" id="327" name="Google Shape;327;p27"/>
          <p:cNvPicPr preferRelativeResize="0"/>
          <p:nvPr/>
        </p:nvPicPr>
        <p:blipFill rotWithShape="1">
          <a:blip r:embed="rId4">
            <a:alphaModFix/>
          </a:blip>
          <a:srcRect b="0" l="0" r="0" t="0"/>
          <a:stretch/>
        </p:blipFill>
        <p:spPr>
          <a:xfrm rot="1485728">
            <a:off x="1566954" y="5007170"/>
            <a:ext cx="1544082" cy="1354974"/>
          </a:xfrm>
          <a:prstGeom prst="rect">
            <a:avLst/>
          </a:prstGeom>
          <a:noFill/>
          <a:ln>
            <a:noFill/>
          </a:ln>
        </p:spPr>
      </p:pic>
      <p:sp>
        <p:nvSpPr>
          <p:cNvPr id="328" name="Google Shape;328;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8"/>
          <p:cNvSpPr txBox="1"/>
          <p:nvPr/>
        </p:nvSpPr>
        <p:spPr>
          <a:xfrm>
            <a:off x="1413163" y="3188565"/>
            <a:ext cx="9858896" cy="789709"/>
          </a:xfrm>
          <a:prstGeom prst="rect">
            <a:avLst/>
          </a:prstGeom>
          <a:noFill/>
          <a:ln>
            <a:noFill/>
          </a:ln>
        </p:spPr>
        <p:txBody>
          <a:bodyPr anchorCtr="0" anchor="t" bIns="45700" lIns="91425" spcFirstLastPara="1" rIns="91425" wrap="square" tIns="45700">
            <a:noAutofit/>
          </a:bodyPr>
          <a:lstStyle/>
          <a:p>
            <a:pPr indent="0" lvl="0" marL="114300" marR="0" rtl="0" algn="ctr">
              <a:lnSpc>
                <a:spcPct val="90000"/>
              </a:lnSpc>
              <a:spcBef>
                <a:spcPts val="0"/>
              </a:spcBef>
              <a:spcAft>
                <a:spcPts val="0"/>
              </a:spcAft>
              <a:buClr>
                <a:schemeClr val="dk1"/>
              </a:buClr>
              <a:buSzPts val="6000"/>
              <a:buFont typeface="Arial"/>
              <a:buNone/>
            </a:pPr>
            <a:r>
              <a:rPr b="1" i="0" lang="en-US" sz="4000" u="none" cap="none" strike="noStrike">
                <a:solidFill>
                  <a:schemeClr val="dk1"/>
                </a:solidFill>
                <a:latin typeface="Arial"/>
                <a:ea typeface="Arial"/>
                <a:cs typeface="Arial"/>
                <a:sym typeface="Arial"/>
              </a:rPr>
              <a:t>PYTHON INPUT AND OUTPUT</a:t>
            </a:r>
            <a:endParaRPr b="0" i="0" sz="4000" u="none" cap="none" strike="noStrike">
              <a:solidFill>
                <a:schemeClr val="dk1"/>
              </a:solidFill>
              <a:latin typeface="Arial"/>
              <a:ea typeface="Arial"/>
              <a:cs typeface="Arial"/>
              <a:sym typeface="Arial"/>
            </a:endParaRPr>
          </a:p>
        </p:txBody>
      </p:sp>
      <p:sp>
        <p:nvSpPr>
          <p:cNvPr id="334" name="Google Shape;33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9"/>
          <p:cNvSpPr txBox="1"/>
          <p:nvPr>
            <p:ph type="ctrTitle"/>
          </p:nvPr>
        </p:nvSpPr>
        <p:spPr>
          <a:xfrm>
            <a:off x="473824" y="365126"/>
            <a:ext cx="8696326" cy="132556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u="sng">
                <a:solidFill>
                  <a:srgbClr val="00B050"/>
                </a:solidFill>
              </a:rPr>
              <a:t>PYTHON INPUT AND OUTPUT</a:t>
            </a:r>
            <a:endParaRPr b="1"/>
          </a:p>
        </p:txBody>
      </p:sp>
      <p:sp>
        <p:nvSpPr>
          <p:cNvPr id="340" name="Google Shape;340;p29"/>
          <p:cNvSpPr txBox="1"/>
          <p:nvPr/>
        </p:nvSpPr>
        <p:spPr>
          <a:xfrm>
            <a:off x="473824" y="1690689"/>
            <a:ext cx="11154233" cy="2997689"/>
          </a:xfrm>
          <a:prstGeom prst="rect">
            <a:avLst/>
          </a:prstGeom>
          <a:noFill/>
          <a:ln>
            <a:noFill/>
          </a:ln>
        </p:spPr>
        <p:txBody>
          <a:bodyPr anchorCtr="0" anchor="t" bIns="45700" lIns="91425" spcFirstLastPara="1" rIns="91425" wrap="square" tIns="45700">
            <a:noAutofit/>
          </a:bodyPr>
          <a:lstStyle/>
          <a:p>
            <a:pPr indent="0" lvl="0" marL="114300" marR="0" rtl="0" algn="ctr">
              <a:lnSpc>
                <a:spcPct val="90000"/>
              </a:lnSpc>
              <a:spcBef>
                <a:spcPts val="0"/>
              </a:spcBef>
              <a:spcAft>
                <a:spcPts val="0"/>
              </a:spcAft>
              <a:buClr>
                <a:schemeClr val="dk1"/>
              </a:buClr>
              <a:buSzPts val="4800"/>
              <a:buFont typeface="Arial"/>
              <a:buNone/>
            </a:pPr>
            <a:r>
              <a:rPr b="1" i="0" lang="en-US" sz="2400" u="none" cap="none" strike="noStrike">
                <a:solidFill>
                  <a:schemeClr val="dk1"/>
                </a:solidFill>
                <a:latin typeface="Arial"/>
                <a:ea typeface="Arial"/>
                <a:cs typeface="Arial"/>
                <a:sym typeface="Arial"/>
              </a:rPr>
              <a:t>WE KNOW!!!</a:t>
            </a:r>
            <a:endParaRPr b="1" i="0" sz="2400" u="none" cap="none" strike="noStrike">
              <a:solidFill>
                <a:schemeClr val="dk1"/>
              </a:solidFill>
              <a:latin typeface="Arial"/>
              <a:ea typeface="Arial"/>
              <a:cs typeface="Arial"/>
              <a:sym typeface="Arial"/>
            </a:endParaRPr>
          </a:p>
          <a:p>
            <a:pPr indent="-342900" lvl="0" marL="457200" marR="0" rtl="0" algn="l">
              <a:lnSpc>
                <a:spcPct val="150000"/>
              </a:lnSpc>
              <a:spcBef>
                <a:spcPts val="1000"/>
              </a:spcBef>
              <a:spcAft>
                <a:spcPts val="0"/>
              </a:spcAft>
              <a:buClr>
                <a:schemeClr val="dk1"/>
              </a:buClr>
              <a:buSzPts val="4800"/>
              <a:buFont typeface="Noto Sans Symbols"/>
              <a:buChar char="▪"/>
            </a:pPr>
            <a:r>
              <a:rPr b="0" i="0" lang="en-US" sz="2400" u="none" cap="none" strike="noStrike">
                <a:solidFill>
                  <a:schemeClr val="dk1"/>
                </a:solidFill>
                <a:latin typeface="Arial"/>
                <a:ea typeface="Arial"/>
                <a:cs typeface="Arial"/>
                <a:sym typeface="Arial"/>
              </a:rPr>
              <a:t>By now, we know, how to take input and how to display out. </a:t>
            </a:r>
            <a:endParaRPr/>
          </a:p>
          <a:p>
            <a:pPr indent="-342900" lvl="0" marL="457200" marR="0" rtl="0" algn="l">
              <a:lnSpc>
                <a:spcPct val="150000"/>
              </a:lnSpc>
              <a:spcBef>
                <a:spcPts val="1000"/>
              </a:spcBef>
              <a:spcAft>
                <a:spcPts val="0"/>
              </a:spcAft>
              <a:buClr>
                <a:schemeClr val="dk1"/>
              </a:buClr>
              <a:buSzPts val="4800"/>
              <a:buFont typeface="Noto Sans Symbols"/>
              <a:buChar char="▪"/>
            </a:pPr>
            <a:r>
              <a:rPr b="0" i="0" lang="en-US" sz="2400" u="none" cap="none" strike="noStrike">
                <a:solidFill>
                  <a:schemeClr val="dk1"/>
                </a:solidFill>
                <a:latin typeface="Arial"/>
                <a:ea typeface="Arial"/>
                <a:cs typeface="Arial"/>
                <a:sym typeface="Arial"/>
              </a:rPr>
              <a:t>There are two functions which are input and print!!</a:t>
            </a:r>
            <a:endParaRPr b="0" i="0" sz="2400" u="none" cap="none" strike="noStrike">
              <a:solidFill>
                <a:schemeClr val="dk1"/>
              </a:solidFill>
              <a:latin typeface="Arial"/>
              <a:ea typeface="Arial"/>
              <a:cs typeface="Arial"/>
              <a:sym typeface="Arial"/>
            </a:endParaRPr>
          </a:p>
        </p:txBody>
      </p:sp>
      <p:sp>
        <p:nvSpPr>
          <p:cNvPr id="341" name="Google Shape;341;p29"/>
          <p:cNvSpPr txBox="1"/>
          <p:nvPr/>
        </p:nvSpPr>
        <p:spPr>
          <a:xfrm>
            <a:off x="414251" y="4457545"/>
            <a:ext cx="1083098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Further, we will look how to display output using format function</a:t>
            </a:r>
            <a:r>
              <a:rPr b="1" i="0" lang="en-US" sz="2400" u="none" cap="none" strike="noStrike">
                <a:solidFill>
                  <a:srgbClr val="FF0000"/>
                </a:solidFill>
                <a:latin typeface="Calibri"/>
                <a:ea typeface="Calibri"/>
                <a:cs typeface="Calibri"/>
                <a:sym typeface="Calibri"/>
              </a:rPr>
              <a:t>.</a:t>
            </a:r>
            <a:endParaRPr b="1" i="0" sz="2400" u="none" cap="none" strike="noStrike">
              <a:solidFill>
                <a:srgbClr val="FF0000"/>
              </a:solidFill>
              <a:latin typeface="Calibri"/>
              <a:ea typeface="Calibri"/>
              <a:cs typeface="Calibri"/>
              <a:sym typeface="Calibri"/>
            </a:endParaRPr>
          </a:p>
        </p:txBody>
      </p:sp>
      <p:sp>
        <p:nvSpPr>
          <p:cNvPr id="342" name="Google Shape;342;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0"/>
          <p:cNvSpPr txBox="1"/>
          <p:nvPr>
            <p:ph idx="1" type="subTitle"/>
          </p:nvPr>
        </p:nvSpPr>
        <p:spPr>
          <a:xfrm>
            <a:off x="515389" y="1267972"/>
            <a:ext cx="11301473" cy="4816945"/>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dk1"/>
              </a:buClr>
              <a:buSzPts val="2000"/>
              <a:buFont typeface="Noto Sans Symbols"/>
              <a:buChar char="▪"/>
            </a:pPr>
            <a:r>
              <a:rPr b="1" lang="en-US" sz="2000"/>
              <a:t>Formatted numeric string values are useful when displaying results in which only a certain number of decimal places need to be displayed:</a:t>
            </a:r>
            <a:endParaRPr sz="2000"/>
          </a:p>
          <a:p>
            <a:pPr indent="-342900" lvl="0" marL="342900" rtl="0" algn="just">
              <a:lnSpc>
                <a:spcPct val="90000"/>
              </a:lnSpc>
              <a:spcBef>
                <a:spcPts val="1000"/>
              </a:spcBef>
              <a:spcAft>
                <a:spcPts val="0"/>
              </a:spcAft>
              <a:buClr>
                <a:srgbClr val="FF0000"/>
              </a:buClr>
              <a:buSzPts val="2000"/>
              <a:buFont typeface="Noto Sans Symbols"/>
              <a:buChar char="▪"/>
            </a:pPr>
            <a:r>
              <a:rPr b="1" lang="en-US" sz="2000">
                <a:solidFill>
                  <a:srgbClr val="FF0000"/>
                </a:solidFill>
              </a:rPr>
              <a:t>Without use of format specifier:</a:t>
            </a:r>
            <a:endParaRPr sz="2000"/>
          </a:p>
          <a:p>
            <a:pPr indent="-342900" lvl="0" marL="342900" rtl="0" algn="just">
              <a:lnSpc>
                <a:spcPct val="90000"/>
              </a:lnSpc>
              <a:spcBef>
                <a:spcPts val="1000"/>
              </a:spcBef>
              <a:spcAft>
                <a:spcPts val="0"/>
              </a:spcAft>
              <a:buClr>
                <a:schemeClr val="dk1"/>
              </a:buClr>
              <a:buSzPts val="2000"/>
              <a:buFont typeface="Noto Sans Symbols"/>
              <a:buChar char="▪"/>
            </a:pPr>
            <a:r>
              <a:rPr lang="en-US" sz="2000">
                <a:latin typeface="Courier New"/>
                <a:ea typeface="Courier New"/>
                <a:cs typeface="Courier New"/>
                <a:sym typeface="Courier New"/>
              </a:rPr>
              <a:t>&gt;&gt;&gt; tax = 0.08</a:t>
            </a:r>
            <a:endParaRPr sz="2000">
              <a:latin typeface="Courier New"/>
              <a:ea typeface="Courier New"/>
              <a:cs typeface="Courier New"/>
              <a:sym typeface="Courier New"/>
            </a:endParaRPr>
          </a:p>
          <a:p>
            <a:pPr indent="-342900" lvl="0" marL="342900" rtl="0" algn="just">
              <a:lnSpc>
                <a:spcPct val="90000"/>
              </a:lnSpc>
              <a:spcBef>
                <a:spcPts val="1000"/>
              </a:spcBef>
              <a:spcAft>
                <a:spcPts val="0"/>
              </a:spcAft>
              <a:buClr>
                <a:schemeClr val="dk1"/>
              </a:buClr>
              <a:buSzPts val="2000"/>
              <a:buFont typeface="Noto Sans Symbols"/>
              <a:buChar char="▪"/>
            </a:pPr>
            <a:r>
              <a:rPr lang="en-US" sz="2000">
                <a:latin typeface="Courier New"/>
                <a:ea typeface="Courier New"/>
                <a:cs typeface="Courier New"/>
                <a:sym typeface="Courier New"/>
              </a:rPr>
              <a:t>&gt;&gt;&gt; print('Your cost: £', (1 + tax) * 12.99)</a:t>
            </a:r>
            <a:endParaRPr sz="2000">
              <a:latin typeface="Courier New"/>
              <a:ea typeface="Courier New"/>
              <a:cs typeface="Courier New"/>
              <a:sym typeface="Courier New"/>
            </a:endParaRPr>
          </a:p>
          <a:p>
            <a:pPr indent="-342900" lvl="0" marL="342900" rtl="0" algn="just">
              <a:lnSpc>
                <a:spcPct val="90000"/>
              </a:lnSpc>
              <a:spcBef>
                <a:spcPts val="1000"/>
              </a:spcBef>
              <a:spcAft>
                <a:spcPts val="0"/>
              </a:spcAft>
              <a:buClr>
                <a:schemeClr val="dk1"/>
              </a:buClr>
              <a:buSzPts val="2000"/>
              <a:buFont typeface="Noto Sans Symbols"/>
              <a:buChar char="▪"/>
            </a:pPr>
            <a:r>
              <a:rPr b="1" lang="en-US" sz="2000">
                <a:latin typeface="Courier New"/>
                <a:ea typeface="Courier New"/>
                <a:cs typeface="Courier New"/>
                <a:sym typeface="Courier New"/>
              </a:rPr>
              <a:t>Your cost: £14.029200000000001</a:t>
            </a:r>
            <a:endParaRPr sz="2000">
              <a:latin typeface="Courier New"/>
              <a:ea typeface="Courier New"/>
              <a:cs typeface="Courier New"/>
              <a:sym typeface="Courier New"/>
            </a:endParaRPr>
          </a:p>
          <a:p>
            <a:pPr indent="-342900" lvl="0" marL="342900" rtl="0" algn="just">
              <a:lnSpc>
                <a:spcPct val="90000"/>
              </a:lnSpc>
              <a:spcBef>
                <a:spcPts val="1000"/>
              </a:spcBef>
              <a:spcAft>
                <a:spcPts val="0"/>
              </a:spcAft>
              <a:buClr>
                <a:srgbClr val="FF0000"/>
              </a:buClr>
              <a:buSzPts val="2000"/>
              <a:buFont typeface="Noto Sans Symbols"/>
              <a:buChar char="▪"/>
            </a:pPr>
            <a:r>
              <a:rPr b="1" lang="en-US" sz="2000">
                <a:solidFill>
                  <a:srgbClr val="FF0000"/>
                </a:solidFill>
              </a:rPr>
              <a:t>With use of format specifier:</a:t>
            </a:r>
            <a:endParaRPr sz="2000"/>
          </a:p>
          <a:p>
            <a:pPr indent="-342900" lvl="0" marL="342900" rtl="0" algn="just">
              <a:lnSpc>
                <a:spcPct val="90000"/>
              </a:lnSpc>
              <a:spcBef>
                <a:spcPts val="1000"/>
              </a:spcBef>
              <a:spcAft>
                <a:spcPts val="0"/>
              </a:spcAft>
              <a:buClr>
                <a:schemeClr val="dk1"/>
              </a:buClr>
              <a:buSzPts val="2000"/>
              <a:buFont typeface="Noto Sans Symbols"/>
              <a:buChar char="▪"/>
            </a:pPr>
            <a:r>
              <a:rPr lang="en-US" sz="2000">
                <a:latin typeface="Courier New"/>
                <a:ea typeface="Courier New"/>
                <a:cs typeface="Courier New"/>
                <a:sym typeface="Courier New"/>
              </a:rPr>
              <a:t>&gt;&gt;&gt; print('Your cost: £', format((1 + tax) * 12.99, '.2f'))</a:t>
            </a:r>
            <a:endParaRPr sz="2000">
              <a:latin typeface="Courier New"/>
              <a:ea typeface="Courier New"/>
              <a:cs typeface="Courier New"/>
              <a:sym typeface="Courier New"/>
            </a:endParaRPr>
          </a:p>
          <a:p>
            <a:pPr indent="-342900" lvl="0" marL="342900" rtl="0" algn="just">
              <a:lnSpc>
                <a:spcPct val="90000"/>
              </a:lnSpc>
              <a:spcBef>
                <a:spcPts val="1000"/>
              </a:spcBef>
              <a:spcAft>
                <a:spcPts val="0"/>
              </a:spcAft>
              <a:buClr>
                <a:schemeClr val="dk1"/>
              </a:buClr>
              <a:buSzPts val="2000"/>
              <a:buFont typeface="Noto Sans Symbols"/>
              <a:buChar char="▪"/>
            </a:pPr>
            <a:r>
              <a:rPr lang="en-US" sz="2000">
                <a:latin typeface="Courier New"/>
                <a:ea typeface="Courier New"/>
                <a:cs typeface="Courier New"/>
                <a:sym typeface="Courier New"/>
              </a:rPr>
              <a:t>Your cost: £ 14.03</a:t>
            </a:r>
            <a:endParaRPr sz="2000">
              <a:latin typeface="Courier New"/>
              <a:ea typeface="Courier New"/>
              <a:cs typeface="Courier New"/>
              <a:sym typeface="Courier New"/>
            </a:endParaRPr>
          </a:p>
          <a:p>
            <a:pPr indent="-342900" lvl="0" marL="342900" rtl="0" algn="just">
              <a:lnSpc>
                <a:spcPct val="90000"/>
              </a:lnSpc>
              <a:spcBef>
                <a:spcPts val="1000"/>
              </a:spcBef>
              <a:spcAft>
                <a:spcPts val="0"/>
              </a:spcAft>
              <a:buClr>
                <a:schemeClr val="dk1"/>
              </a:buClr>
              <a:buSzPts val="2000"/>
              <a:buFont typeface="Noto Sans Symbols"/>
              <a:buChar char="▪"/>
            </a:pPr>
            <a:r>
              <a:rPr b="1" lang="en-US" sz="2000"/>
              <a:t>Finally, a comma in the format specifier adds comma separators to the result:</a:t>
            </a:r>
            <a:endParaRPr sz="2000"/>
          </a:p>
          <a:p>
            <a:pPr indent="-342900" lvl="0" marL="342900" rtl="0" algn="just">
              <a:lnSpc>
                <a:spcPct val="90000"/>
              </a:lnSpc>
              <a:spcBef>
                <a:spcPts val="1000"/>
              </a:spcBef>
              <a:spcAft>
                <a:spcPts val="0"/>
              </a:spcAft>
              <a:buClr>
                <a:schemeClr val="dk1"/>
              </a:buClr>
              <a:buSzPts val="2000"/>
              <a:buFont typeface="Noto Sans Symbols"/>
              <a:buChar char="▪"/>
            </a:pPr>
            <a:r>
              <a:rPr lang="en-US" sz="2000"/>
              <a:t>&gt;&gt;&gt; </a:t>
            </a:r>
            <a:r>
              <a:rPr lang="en-US" sz="2000">
                <a:latin typeface="Courier New"/>
                <a:ea typeface="Courier New"/>
                <a:cs typeface="Courier New"/>
                <a:sym typeface="Courier New"/>
              </a:rPr>
              <a:t>format(13402.25, ',.2f')</a:t>
            </a:r>
            <a:endParaRPr sz="2000">
              <a:latin typeface="Courier New"/>
              <a:ea typeface="Courier New"/>
              <a:cs typeface="Courier New"/>
              <a:sym typeface="Courier New"/>
            </a:endParaRPr>
          </a:p>
          <a:p>
            <a:pPr indent="-342900" lvl="0" marL="342900" rtl="0" algn="just">
              <a:lnSpc>
                <a:spcPct val="90000"/>
              </a:lnSpc>
              <a:spcBef>
                <a:spcPts val="1000"/>
              </a:spcBef>
              <a:spcAft>
                <a:spcPts val="0"/>
              </a:spcAft>
              <a:buClr>
                <a:schemeClr val="dk1"/>
              </a:buClr>
              <a:buSzPts val="2000"/>
              <a:buFont typeface="Noto Sans Symbols"/>
              <a:buChar char="▪"/>
            </a:pPr>
            <a:r>
              <a:rPr lang="en-US" sz="2000">
                <a:latin typeface="Courier New"/>
                <a:ea typeface="Courier New"/>
                <a:cs typeface="Courier New"/>
                <a:sym typeface="Courier New"/>
              </a:rPr>
              <a:t>13,402.25</a:t>
            </a:r>
            <a:endParaRPr sz="2000">
              <a:latin typeface="Courier New"/>
              <a:ea typeface="Courier New"/>
              <a:cs typeface="Courier New"/>
              <a:sym typeface="Courier New"/>
            </a:endParaRPr>
          </a:p>
        </p:txBody>
      </p:sp>
      <p:sp>
        <p:nvSpPr>
          <p:cNvPr id="348" name="Google Shape;348;p30"/>
          <p:cNvSpPr txBox="1"/>
          <p:nvPr/>
        </p:nvSpPr>
        <p:spPr>
          <a:xfrm>
            <a:off x="515389" y="404046"/>
            <a:ext cx="8120469" cy="863926"/>
          </a:xfrm>
          <a:prstGeom prst="rect">
            <a:avLst/>
          </a:prstGeom>
          <a:noFill/>
          <a:ln>
            <a:noFill/>
          </a:ln>
        </p:spPr>
        <p:txBody>
          <a:bodyPr anchorCtr="0" anchor="ctr" bIns="45700" lIns="91425" spcFirstLastPara="1" rIns="91425" wrap="square" tIns="45700">
            <a:normAutofit/>
          </a:bodyPr>
          <a:lstStyle/>
          <a:p>
            <a:pPr indent="0" lvl="0" marL="114300" marR="0" rtl="0" algn="l">
              <a:lnSpc>
                <a:spcPct val="90000"/>
              </a:lnSpc>
              <a:spcBef>
                <a:spcPts val="0"/>
              </a:spcBef>
              <a:spcAft>
                <a:spcPts val="0"/>
              </a:spcAft>
              <a:buClr>
                <a:srgbClr val="00B050"/>
              </a:buClr>
              <a:buSzPts val="5400"/>
              <a:buFont typeface="Calibri"/>
              <a:buNone/>
            </a:pPr>
            <a:r>
              <a:rPr b="1" i="0" lang="en-US" sz="4000" u="sng" cap="none" strike="noStrike">
                <a:solidFill>
                  <a:srgbClr val="00B050"/>
                </a:solidFill>
                <a:latin typeface="Arial"/>
                <a:ea typeface="Arial"/>
                <a:cs typeface="Arial"/>
                <a:sym typeface="Arial"/>
              </a:rPr>
              <a:t>Built-in Format Function</a:t>
            </a:r>
            <a:endParaRPr b="1" i="0" sz="4000" u="sng" cap="none" strike="noStrike">
              <a:solidFill>
                <a:srgbClr val="00B050"/>
              </a:solidFill>
              <a:latin typeface="Arial"/>
              <a:ea typeface="Arial"/>
              <a:cs typeface="Arial"/>
              <a:sym typeface="Arial"/>
            </a:endParaRPr>
          </a:p>
        </p:txBody>
      </p:sp>
      <p:sp>
        <p:nvSpPr>
          <p:cNvPr id="349" name="Google Shape;349;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1"/>
          <p:cNvSpPr txBox="1"/>
          <p:nvPr>
            <p:ph idx="1" type="subTitle"/>
          </p:nvPr>
        </p:nvSpPr>
        <p:spPr>
          <a:xfrm>
            <a:off x="323638" y="1650575"/>
            <a:ext cx="11471700" cy="507090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000"/>
              <a:buNone/>
            </a:pPr>
            <a:r>
              <a:rPr b="1" lang="en-US" sz="2000"/>
              <a:t>We can also use built-in function , format while displaying any string value.</a:t>
            </a:r>
            <a:endParaRPr/>
          </a:p>
          <a:p>
            <a:pPr indent="0" lvl="0" marL="0" rtl="0" algn="just">
              <a:lnSpc>
                <a:spcPct val="90000"/>
              </a:lnSpc>
              <a:spcBef>
                <a:spcPts val="1000"/>
              </a:spcBef>
              <a:spcAft>
                <a:spcPts val="0"/>
              </a:spcAft>
              <a:buClr>
                <a:schemeClr val="dk1"/>
              </a:buClr>
              <a:buSzPts val="2000"/>
              <a:buNone/>
            </a:pPr>
            <a:r>
              <a:t/>
            </a:r>
            <a:endParaRPr b="1" sz="2000"/>
          </a:p>
          <a:p>
            <a:pPr indent="0" lvl="0" marL="0" rtl="0" algn="just">
              <a:lnSpc>
                <a:spcPct val="90000"/>
              </a:lnSpc>
              <a:spcBef>
                <a:spcPts val="1000"/>
              </a:spcBef>
              <a:spcAft>
                <a:spcPts val="0"/>
              </a:spcAft>
              <a:buClr>
                <a:schemeClr val="dk1"/>
              </a:buClr>
              <a:buSzPts val="2000"/>
              <a:buNone/>
            </a:pPr>
            <a:r>
              <a:rPr lang="en-US" sz="2000"/>
              <a:t>For example, the following produces the string </a:t>
            </a:r>
            <a:r>
              <a:rPr lang="en-US" sz="2000">
                <a:solidFill>
                  <a:srgbClr val="D4650A"/>
                </a:solidFill>
              </a:rPr>
              <a:t>'Hello'</a:t>
            </a:r>
            <a:r>
              <a:rPr lang="en-US" sz="2000"/>
              <a:t> </a:t>
            </a:r>
            <a:r>
              <a:rPr b="1" lang="en-US" sz="2000"/>
              <a:t>left-justified in a field width of 20 characters</a:t>
            </a:r>
            <a:r>
              <a:rPr lang="en-US" sz="2000"/>
              <a:t>,</a:t>
            </a:r>
            <a:endParaRPr/>
          </a:p>
          <a:p>
            <a:pPr indent="0" lvl="0" marL="0" rtl="0" algn="just">
              <a:lnSpc>
                <a:spcPct val="90000"/>
              </a:lnSpc>
              <a:spcBef>
                <a:spcPts val="1000"/>
              </a:spcBef>
              <a:spcAft>
                <a:spcPts val="0"/>
              </a:spcAft>
              <a:buClr>
                <a:schemeClr val="dk1"/>
              </a:buClr>
              <a:buSzPts val="2000"/>
              <a:buNone/>
            </a:pPr>
            <a:r>
              <a:rPr lang="en-US" sz="2000"/>
              <a:t>        </a:t>
            </a:r>
            <a:r>
              <a:rPr lang="en-US" sz="2000">
                <a:latin typeface="Courier New"/>
                <a:ea typeface="Courier New"/>
                <a:cs typeface="Courier New"/>
                <a:sym typeface="Courier New"/>
              </a:rPr>
              <a:t>format('Hello', </a:t>
            </a:r>
            <a:r>
              <a:rPr b="1" lang="en-US" sz="2000">
                <a:solidFill>
                  <a:srgbClr val="D4650A"/>
                </a:solidFill>
                <a:latin typeface="Courier New"/>
                <a:ea typeface="Courier New"/>
                <a:cs typeface="Courier New"/>
                <a:sym typeface="Courier New"/>
              </a:rPr>
              <a:t>'&lt;20'</a:t>
            </a:r>
            <a:r>
              <a:rPr lang="en-US" sz="2000">
                <a:latin typeface="Courier New"/>
                <a:ea typeface="Courier New"/>
                <a:cs typeface="Courier New"/>
                <a:sym typeface="Courier New"/>
              </a:rPr>
              <a:t>) ➝ 'Hello               '</a:t>
            </a:r>
            <a:endParaRPr/>
          </a:p>
          <a:p>
            <a:pPr indent="0" lvl="0" marL="0" rtl="0" algn="just">
              <a:lnSpc>
                <a:spcPct val="90000"/>
              </a:lnSpc>
              <a:spcBef>
                <a:spcPts val="1000"/>
              </a:spcBef>
              <a:spcAft>
                <a:spcPts val="0"/>
              </a:spcAft>
              <a:buClr>
                <a:schemeClr val="dk1"/>
              </a:buClr>
              <a:buSzPts val="2000"/>
              <a:buNone/>
            </a:pPr>
            <a:r>
              <a:t/>
            </a:r>
            <a:endParaRPr sz="2000"/>
          </a:p>
          <a:p>
            <a:pPr indent="0" lvl="0" marL="0" rtl="0" algn="just">
              <a:lnSpc>
                <a:spcPct val="90000"/>
              </a:lnSpc>
              <a:spcBef>
                <a:spcPts val="1000"/>
              </a:spcBef>
              <a:spcAft>
                <a:spcPts val="0"/>
              </a:spcAft>
              <a:buClr>
                <a:schemeClr val="dk1"/>
              </a:buClr>
              <a:buSzPts val="2000"/>
              <a:buNone/>
            </a:pPr>
            <a:r>
              <a:rPr lang="en-US" sz="2000"/>
              <a:t>To</a:t>
            </a:r>
            <a:r>
              <a:rPr b="1" lang="en-US" sz="2000"/>
              <a:t> right-justify the string</a:t>
            </a:r>
            <a:r>
              <a:rPr lang="en-US" sz="2000"/>
              <a:t>, the following would be used,</a:t>
            </a:r>
            <a:endParaRPr/>
          </a:p>
          <a:p>
            <a:pPr indent="0" lvl="0" marL="0" rtl="0" algn="just">
              <a:lnSpc>
                <a:spcPct val="90000"/>
              </a:lnSpc>
              <a:spcBef>
                <a:spcPts val="1000"/>
              </a:spcBef>
              <a:spcAft>
                <a:spcPts val="0"/>
              </a:spcAft>
              <a:buClr>
                <a:schemeClr val="dk1"/>
              </a:buClr>
              <a:buSzPts val="2000"/>
              <a:buNone/>
            </a:pPr>
            <a:r>
              <a:rPr lang="en-US" sz="2000"/>
              <a:t>        </a:t>
            </a:r>
            <a:r>
              <a:rPr lang="en-US" sz="2000">
                <a:latin typeface="Courier New"/>
                <a:ea typeface="Courier New"/>
                <a:cs typeface="Courier New"/>
                <a:sym typeface="Courier New"/>
              </a:rPr>
              <a:t>format('Hello', </a:t>
            </a:r>
            <a:r>
              <a:rPr b="1" lang="en-US" sz="2000">
                <a:solidFill>
                  <a:srgbClr val="D4650A"/>
                </a:solidFill>
                <a:latin typeface="Courier New"/>
                <a:ea typeface="Courier New"/>
                <a:cs typeface="Courier New"/>
                <a:sym typeface="Courier New"/>
              </a:rPr>
              <a:t>'&gt;20'</a:t>
            </a:r>
            <a:r>
              <a:rPr lang="en-US" sz="2000">
                <a:latin typeface="Courier New"/>
                <a:ea typeface="Courier New"/>
                <a:cs typeface="Courier New"/>
                <a:sym typeface="Courier New"/>
              </a:rPr>
              <a:t>) ➝ '               Hello'</a:t>
            </a:r>
            <a:endParaRPr/>
          </a:p>
          <a:p>
            <a:pPr indent="0" lvl="0" marL="0" rtl="0" algn="just">
              <a:lnSpc>
                <a:spcPct val="90000"/>
              </a:lnSpc>
              <a:spcBef>
                <a:spcPts val="1000"/>
              </a:spcBef>
              <a:spcAft>
                <a:spcPts val="0"/>
              </a:spcAft>
              <a:buClr>
                <a:schemeClr val="dk1"/>
              </a:buClr>
              <a:buSzPts val="2000"/>
              <a:buNone/>
            </a:pPr>
            <a:r>
              <a:t/>
            </a:r>
            <a:endParaRPr sz="2000">
              <a:latin typeface="Courier New"/>
              <a:ea typeface="Courier New"/>
              <a:cs typeface="Courier New"/>
              <a:sym typeface="Courier New"/>
            </a:endParaRPr>
          </a:p>
          <a:p>
            <a:pPr indent="0" lvl="0" marL="0" rtl="0" algn="just">
              <a:lnSpc>
                <a:spcPct val="90000"/>
              </a:lnSpc>
              <a:spcBef>
                <a:spcPts val="1000"/>
              </a:spcBef>
              <a:spcAft>
                <a:spcPts val="0"/>
              </a:spcAft>
              <a:buClr>
                <a:schemeClr val="dk1"/>
              </a:buClr>
              <a:buSzPts val="2000"/>
              <a:buNone/>
            </a:pPr>
            <a:r>
              <a:rPr b="1" lang="en-US" sz="2000"/>
              <a:t>Formatted strings are left-justified by default</a:t>
            </a:r>
            <a:r>
              <a:rPr lang="en-US" sz="2000"/>
              <a:t>. Therefore, the following produce the same result,</a:t>
            </a:r>
            <a:endParaRPr sz="2000">
              <a:latin typeface="Courier New"/>
              <a:ea typeface="Courier New"/>
              <a:cs typeface="Courier New"/>
              <a:sym typeface="Courier New"/>
            </a:endParaRPr>
          </a:p>
          <a:p>
            <a:pPr indent="0" lvl="0" marL="0" rtl="0" algn="just">
              <a:lnSpc>
                <a:spcPct val="90000"/>
              </a:lnSpc>
              <a:spcBef>
                <a:spcPts val="1000"/>
              </a:spcBef>
              <a:spcAft>
                <a:spcPts val="0"/>
              </a:spcAft>
              <a:buClr>
                <a:schemeClr val="dk1"/>
              </a:buClr>
              <a:buSzPts val="2000"/>
              <a:buNone/>
            </a:pPr>
            <a:r>
              <a:rPr lang="en-US" sz="2000">
                <a:latin typeface="Courier New"/>
                <a:ea typeface="Courier New"/>
                <a:cs typeface="Courier New"/>
                <a:sym typeface="Courier New"/>
              </a:rPr>
              <a:t>   format('Hello', </a:t>
            </a:r>
            <a:r>
              <a:rPr b="1" lang="en-US" sz="2000">
                <a:solidFill>
                  <a:srgbClr val="D4650A"/>
                </a:solidFill>
                <a:latin typeface="Courier New"/>
                <a:ea typeface="Courier New"/>
                <a:cs typeface="Courier New"/>
                <a:sym typeface="Courier New"/>
              </a:rPr>
              <a:t>'&lt;20'</a:t>
            </a:r>
            <a:r>
              <a:rPr lang="en-US" sz="2000">
                <a:latin typeface="Courier New"/>
                <a:ea typeface="Courier New"/>
                <a:cs typeface="Courier New"/>
                <a:sym typeface="Courier New"/>
              </a:rPr>
              <a:t>) ➝ 'Hello               '</a:t>
            </a:r>
            <a:endParaRPr/>
          </a:p>
          <a:p>
            <a:pPr indent="0" lvl="0" marL="0" rtl="0" algn="just">
              <a:lnSpc>
                <a:spcPct val="90000"/>
              </a:lnSpc>
              <a:spcBef>
                <a:spcPts val="1000"/>
              </a:spcBef>
              <a:spcAft>
                <a:spcPts val="0"/>
              </a:spcAft>
              <a:buClr>
                <a:schemeClr val="dk1"/>
              </a:buClr>
              <a:buSzPts val="2000"/>
              <a:buNone/>
            </a:pPr>
            <a:r>
              <a:rPr lang="en-US" sz="2000">
                <a:latin typeface="Courier New"/>
                <a:ea typeface="Courier New"/>
                <a:cs typeface="Courier New"/>
                <a:sym typeface="Courier New"/>
              </a:rPr>
              <a:t>   format('Hello', </a:t>
            </a:r>
            <a:r>
              <a:rPr b="1" lang="en-US" sz="2000">
                <a:solidFill>
                  <a:srgbClr val="D4650A"/>
                </a:solidFill>
                <a:latin typeface="Courier New"/>
                <a:ea typeface="Courier New"/>
                <a:cs typeface="Courier New"/>
                <a:sym typeface="Courier New"/>
              </a:rPr>
              <a:t>'20'</a:t>
            </a:r>
            <a:r>
              <a:rPr lang="en-US" sz="2000">
                <a:latin typeface="Courier New"/>
                <a:ea typeface="Courier New"/>
                <a:cs typeface="Courier New"/>
                <a:sym typeface="Courier New"/>
              </a:rPr>
              <a:t>) ➝   'Hello               '</a:t>
            </a:r>
            <a:endParaRPr/>
          </a:p>
        </p:txBody>
      </p:sp>
      <p:sp>
        <p:nvSpPr>
          <p:cNvPr id="355" name="Google Shape;355;p31"/>
          <p:cNvSpPr txBox="1"/>
          <p:nvPr/>
        </p:nvSpPr>
        <p:spPr>
          <a:xfrm>
            <a:off x="396662" y="454140"/>
            <a:ext cx="8696326" cy="1196435"/>
          </a:xfrm>
          <a:prstGeom prst="rect">
            <a:avLst/>
          </a:prstGeom>
          <a:noFill/>
          <a:ln>
            <a:noFill/>
          </a:ln>
        </p:spPr>
        <p:txBody>
          <a:bodyPr anchorCtr="0" anchor="ctr" bIns="45700" lIns="91425" spcFirstLastPara="1" rIns="91425" wrap="square" tIns="45700">
            <a:normAutofit/>
          </a:bodyPr>
          <a:lstStyle/>
          <a:p>
            <a:pPr indent="0" lvl="0" marL="114300" marR="0" rtl="0" algn="l">
              <a:lnSpc>
                <a:spcPct val="90000"/>
              </a:lnSpc>
              <a:spcBef>
                <a:spcPts val="0"/>
              </a:spcBef>
              <a:spcAft>
                <a:spcPts val="0"/>
              </a:spcAft>
              <a:buClr>
                <a:srgbClr val="00B050"/>
              </a:buClr>
              <a:buSzPts val="5400"/>
              <a:buFont typeface="Calibri"/>
              <a:buNone/>
            </a:pPr>
            <a:r>
              <a:rPr b="1" i="0" lang="en-US" sz="4000" u="sng" cap="none" strike="noStrike">
                <a:solidFill>
                  <a:srgbClr val="00B050"/>
                </a:solidFill>
                <a:latin typeface="Arial"/>
                <a:ea typeface="Arial"/>
                <a:cs typeface="Arial"/>
                <a:sym typeface="Arial"/>
              </a:rPr>
              <a:t>Built-in Format Function</a:t>
            </a:r>
            <a:endParaRPr b="1" i="0" sz="4000" u="sng" cap="none" strike="noStrike">
              <a:solidFill>
                <a:srgbClr val="00B050"/>
              </a:solidFill>
              <a:latin typeface="Arial"/>
              <a:ea typeface="Arial"/>
              <a:cs typeface="Arial"/>
              <a:sym typeface="Arial"/>
            </a:endParaRPr>
          </a:p>
        </p:txBody>
      </p:sp>
      <p:sp>
        <p:nvSpPr>
          <p:cNvPr id="356" name="Google Shape;356;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2"/>
          <p:cNvSpPr txBox="1"/>
          <p:nvPr>
            <p:ph idx="1" type="subTitle"/>
          </p:nvPr>
        </p:nvSpPr>
        <p:spPr>
          <a:xfrm>
            <a:off x="615142" y="1529542"/>
            <a:ext cx="9784080" cy="3798916"/>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FF0000"/>
              </a:buClr>
              <a:buSzPts val="2000"/>
              <a:buNone/>
            </a:pPr>
            <a:r>
              <a:rPr b="1" lang="en-US" sz="1600">
                <a:solidFill>
                  <a:srgbClr val="FF0000"/>
                </a:solidFill>
              </a:rPr>
              <a:t>Newline (\n): This control character is used to start a new line.</a:t>
            </a:r>
            <a:endParaRPr sz="1600"/>
          </a:p>
          <a:p>
            <a:pPr indent="0" lvl="0" marL="0" rtl="0" algn="just">
              <a:lnSpc>
                <a:spcPct val="90000"/>
              </a:lnSpc>
              <a:spcBef>
                <a:spcPts val="1000"/>
              </a:spcBef>
              <a:spcAft>
                <a:spcPts val="0"/>
              </a:spcAft>
              <a:buClr>
                <a:schemeClr val="dk1"/>
              </a:buClr>
              <a:buSzPts val="2000"/>
              <a:buNone/>
            </a:pPr>
            <a:r>
              <a:rPr b="1" lang="en-US" sz="1600">
                <a:latin typeface="Courier New"/>
                <a:ea typeface="Courier New"/>
                <a:cs typeface="Courier New"/>
                <a:sym typeface="Courier New"/>
              </a:rPr>
              <a:t>print("Hello,\nworld!")</a:t>
            </a:r>
            <a:endParaRPr sz="1600">
              <a:latin typeface="Courier New"/>
              <a:ea typeface="Courier New"/>
              <a:cs typeface="Courier New"/>
              <a:sym typeface="Courier New"/>
            </a:endParaRPr>
          </a:p>
          <a:p>
            <a:pPr indent="0" lvl="0" marL="0" rtl="0" algn="just">
              <a:lnSpc>
                <a:spcPct val="90000"/>
              </a:lnSpc>
              <a:spcBef>
                <a:spcPts val="1000"/>
              </a:spcBef>
              <a:spcAft>
                <a:spcPts val="0"/>
              </a:spcAft>
              <a:buClr>
                <a:schemeClr val="dk1"/>
              </a:buClr>
              <a:buSzPts val="2000"/>
              <a:buNone/>
            </a:pPr>
            <a:r>
              <a:rPr b="1" lang="en-US" sz="1600">
                <a:highlight>
                  <a:srgbClr val="FFFF00"/>
                </a:highlight>
              </a:rPr>
              <a:t>Output</a:t>
            </a:r>
            <a:endParaRPr sz="1600"/>
          </a:p>
          <a:p>
            <a:pPr indent="0" lvl="0" marL="0" rtl="0" algn="just">
              <a:lnSpc>
                <a:spcPct val="90000"/>
              </a:lnSpc>
              <a:spcBef>
                <a:spcPts val="1000"/>
              </a:spcBef>
              <a:spcAft>
                <a:spcPts val="0"/>
              </a:spcAft>
              <a:buClr>
                <a:schemeClr val="dk1"/>
              </a:buClr>
              <a:buSzPts val="2000"/>
              <a:buNone/>
            </a:pPr>
            <a:r>
              <a:rPr b="1" lang="en-US" sz="1600">
                <a:latin typeface="Courier New"/>
                <a:ea typeface="Courier New"/>
                <a:cs typeface="Courier New"/>
                <a:sym typeface="Courier New"/>
              </a:rPr>
              <a:t>Hello,</a:t>
            </a:r>
            <a:endParaRPr sz="1600">
              <a:latin typeface="Courier New"/>
              <a:ea typeface="Courier New"/>
              <a:cs typeface="Courier New"/>
              <a:sym typeface="Courier New"/>
            </a:endParaRPr>
          </a:p>
          <a:p>
            <a:pPr indent="0" lvl="0" marL="0" rtl="0" algn="just">
              <a:lnSpc>
                <a:spcPct val="90000"/>
              </a:lnSpc>
              <a:spcBef>
                <a:spcPts val="1000"/>
              </a:spcBef>
              <a:spcAft>
                <a:spcPts val="0"/>
              </a:spcAft>
              <a:buClr>
                <a:schemeClr val="dk1"/>
              </a:buClr>
              <a:buSzPts val="2000"/>
              <a:buNone/>
            </a:pPr>
            <a:r>
              <a:rPr b="1" lang="en-US" sz="1600">
                <a:latin typeface="Courier New"/>
                <a:ea typeface="Courier New"/>
                <a:cs typeface="Courier New"/>
                <a:sym typeface="Courier New"/>
              </a:rPr>
              <a:t>world!</a:t>
            </a:r>
            <a:endParaRPr sz="1600">
              <a:latin typeface="Courier New"/>
              <a:ea typeface="Courier New"/>
              <a:cs typeface="Courier New"/>
              <a:sym typeface="Courier New"/>
            </a:endParaRPr>
          </a:p>
          <a:p>
            <a:pPr indent="0" lvl="0" marL="0" rtl="0" algn="just">
              <a:lnSpc>
                <a:spcPct val="90000"/>
              </a:lnSpc>
              <a:spcBef>
                <a:spcPts val="1000"/>
              </a:spcBef>
              <a:spcAft>
                <a:spcPts val="0"/>
              </a:spcAft>
              <a:buClr>
                <a:schemeClr val="dk1"/>
              </a:buClr>
              <a:buSzPts val="2000"/>
              <a:buNone/>
            </a:pPr>
            <a:r>
              <a:t/>
            </a:r>
            <a:endParaRPr b="1" sz="1600"/>
          </a:p>
          <a:p>
            <a:pPr indent="0" lvl="0" marL="0" rtl="0" algn="just">
              <a:lnSpc>
                <a:spcPct val="90000"/>
              </a:lnSpc>
              <a:spcBef>
                <a:spcPts val="1000"/>
              </a:spcBef>
              <a:spcAft>
                <a:spcPts val="0"/>
              </a:spcAft>
              <a:buClr>
                <a:srgbClr val="FF0000"/>
              </a:buClr>
              <a:buSzPts val="2000"/>
              <a:buNone/>
            </a:pPr>
            <a:r>
              <a:rPr b="1" lang="en-US" sz="1600">
                <a:solidFill>
                  <a:srgbClr val="FF0000"/>
                </a:solidFill>
              </a:rPr>
              <a:t>Tab (\t): This control character is used to insert a tab space.</a:t>
            </a:r>
            <a:endParaRPr sz="1600"/>
          </a:p>
          <a:p>
            <a:pPr indent="0" lvl="0" marL="0" rtl="0" algn="just">
              <a:lnSpc>
                <a:spcPct val="90000"/>
              </a:lnSpc>
              <a:spcBef>
                <a:spcPts val="1000"/>
              </a:spcBef>
              <a:spcAft>
                <a:spcPts val="0"/>
              </a:spcAft>
              <a:buClr>
                <a:schemeClr val="dk1"/>
              </a:buClr>
              <a:buSzPts val="2000"/>
              <a:buNone/>
            </a:pPr>
            <a:r>
              <a:rPr b="1" lang="en-US" sz="1600">
                <a:latin typeface="Courier New"/>
                <a:ea typeface="Courier New"/>
                <a:cs typeface="Courier New"/>
                <a:sym typeface="Courier New"/>
              </a:rPr>
              <a:t>print("Name:\tJohn\nAge:\t35")</a:t>
            </a:r>
            <a:endParaRPr sz="1600">
              <a:latin typeface="Courier New"/>
              <a:ea typeface="Courier New"/>
              <a:cs typeface="Courier New"/>
              <a:sym typeface="Courier New"/>
            </a:endParaRPr>
          </a:p>
          <a:p>
            <a:pPr indent="0" lvl="0" marL="0" rtl="0" algn="just">
              <a:lnSpc>
                <a:spcPct val="90000"/>
              </a:lnSpc>
              <a:spcBef>
                <a:spcPts val="1000"/>
              </a:spcBef>
              <a:spcAft>
                <a:spcPts val="0"/>
              </a:spcAft>
              <a:buClr>
                <a:schemeClr val="dk1"/>
              </a:buClr>
              <a:buSzPts val="2000"/>
              <a:buNone/>
            </a:pPr>
            <a:r>
              <a:rPr b="1" lang="en-US" sz="1600">
                <a:highlight>
                  <a:srgbClr val="FFFF00"/>
                </a:highlight>
              </a:rPr>
              <a:t>Output</a:t>
            </a:r>
            <a:endParaRPr sz="1600">
              <a:highlight>
                <a:srgbClr val="FFFF00"/>
              </a:highlight>
            </a:endParaRPr>
          </a:p>
          <a:p>
            <a:pPr indent="0" lvl="0" marL="0" rtl="0" algn="just">
              <a:lnSpc>
                <a:spcPct val="90000"/>
              </a:lnSpc>
              <a:spcBef>
                <a:spcPts val="1000"/>
              </a:spcBef>
              <a:spcAft>
                <a:spcPts val="0"/>
              </a:spcAft>
              <a:buClr>
                <a:schemeClr val="dk1"/>
              </a:buClr>
              <a:buSzPts val="2000"/>
              <a:buNone/>
            </a:pPr>
            <a:r>
              <a:rPr b="1" lang="en-US" sz="1600">
                <a:latin typeface="Courier New"/>
                <a:ea typeface="Courier New"/>
                <a:cs typeface="Courier New"/>
                <a:sym typeface="Courier New"/>
              </a:rPr>
              <a:t>Name:   John</a:t>
            </a:r>
            <a:endParaRPr sz="1600">
              <a:latin typeface="Courier New"/>
              <a:ea typeface="Courier New"/>
              <a:cs typeface="Courier New"/>
              <a:sym typeface="Courier New"/>
            </a:endParaRPr>
          </a:p>
          <a:p>
            <a:pPr indent="0" lvl="0" marL="0" rtl="0" algn="just">
              <a:lnSpc>
                <a:spcPct val="90000"/>
              </a:lnSpc>
              <a:spcBef>
                <a:spcPts val="1000"/>
              </a:spcBef>
              <a:spcAft>
                <a:spcPts val="0"/>
              </a:spcAft>
              <a:buClr>
                <a:schemeClr val="dk1"/>
              </a:buClr>
              <a:buSzPts val="2000"/>
              <a:buNone/>
            </a:pPr>
            <a:r>
              <a:rPr b="1" lang="en-US" sz="1600">
                <a:latin typeface="Courier New"/>
                <a:ea typeface="Courier New"/>
                <a:cs typeface="Courier New"/>
                <a:sym typeface="Courier New"/>
              </a:rPr>
              <a:t>Age:    35</a:t>
            </a:r>
            <a:endParaRPr b="1" sz="1600">
              <a:latin typeface="Courier New"/>
              <a:ea typeface="Courier New"/>
              <a:cs typeface="Courier New"/>
              <a:sym typeface="Courier New"/>
            </a:endParaRPr>
          </a:p>
        </p:txBody>
      </p:sp>
      <p:sp>
        <p:nvSpPr>
          <p:cNvPr id="362" name="Google Shape;362;p32"/>
          <p:cNvSpPr txBox="1"/>
          <p:nvPr/>
        </p:nvSpPr>
        <p:spPr>
          <a:xfrm>
            <a:off x="432262" y="454234"/>
            <a:ext cx="10515600" cy="900741"/>
          </a:xfrm>
          <a:prstGeom prst="rect">
            <a:avLst/>
          </a:prstGeom>
          <a:noFill/>
          <a:ln>
            <a:noFill/>
          </a:ln>
        </p:spPr>
        <p:txBody>
          <a:bodyPr anchorCtr="0" anchor="ctr" bIns="45700" lIns="91425" spcFirstLastPara="1" rIns="91425" wrap="square" tIns="45700">
            <a:normAutofit/>
          </a:bodyPr>
          <a:lstStyle/>
          <a:p>
            <a:pPr indent="0" lvl="0" marL="114300" marR="0" rtl="0" algn="l">
              <a:lnSpc>
                <a:spcPct val="90000"/>
              </a:lnSpc>
              <a:spcBef>
                <a:spcPts val="0"/>
              </a:spcBef>
              <a:spcAft>
                <a:spcPts val="0"/>
              </a:spcAft>
              <a:buClr>
                <a:srgbClr val="00B050"/>
              </a:buClr>
              <a:buSzPts val="5400"/>
              <a:buFont typeface="Calibri"/>
              <a:buNone/>
            </a:pPr>
            <a:r>
              <a:rPr b="1" i="0" lang="en-US" sz="4000" u="sng" cap="none" strike="noStrike">
                <a:solidFill>
                  <a:srgbClr val="00B050"/>
                </a:solidFill>
                <a:latin typeface="Arial"/>
                <a:ea typeface="Arial"/>
                <a:cs typeface="Arial"/>
                <a:sym typeface="Arial"/>
              </a:rPr>
              <a:t>Escape</a:t>
            </a:r>
            <a:r>
              <a:rPr b="1" i="0" lang="en-US" sz="4000" u="sng" cap="none" strike="noStrike">
                <a:solidFill>
                  <a:srgbClr val="00B050"/>
                </a:solidFill>
                <a:latin typeface="Calibri"/>
                <a:ea typeface="Calibri"/>
                <a:cs typeface="Calibri"/>
                <a:sym typeface="Calibri"/>
              </a:rPr>
              <a:t>/Control Characters</a:t>
            </a:r>
            <a:endParaRPr b="1" i="0" sz="4000" u="sng" cap="none" strike="noStrike">
              <a:solidFill>
                <a:srgbClr val="00B050"/>
              </a:solidFill>
              <a:latin typeface="Calibri"/>
              <a:ea typeface="Calibri"/>
              <a:cs typeface="Calibri"/>
              <a:sym typeface="Calibri"/>
            </a:endParaRPr>
          </a:p>
        </p:txBody>
      </p:sp>
      <p:sp>
        <p:nvSpPr>
          <p:cNvPr id="363" name="Google Shape;363;p32"/>
          <p:cNvSpPr/>
          <p:nvPr/>
        </p:nvSpPr>
        <p:spPr>
          <a:xfrm>
            <a:off x="2532610" y="6034434"/>
            <a:ext cx="747591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https://docs.python.org/3/reference/lexical_analysis.html#escape-sequences</a:t>
            </a: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364" name="Google Shape;364;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3"/>
          <p:cNvSpPr txBox="1"/>
          <p:nvPr/>
        </p:nvSpPr>
        <p:spPr>
          <a:xfrm>
            <a:off x="518883" y="3120476"/>
            <a:ext cx="11154233" cy="947651"/>
          </a:xfrm>
          <a:prstGeom prst="rect">
            <a:avLst/>
          </a:prstGeom>
          <a:noFill/>
          <a:ln>
            <a:noFill/>
          </a:ln>
        </p:spPr>
        <p:txBody>
          <a:bodyPr anchorCtr="0" anchor="t" bIns="45700" lIns="91425" spcFirstLastPara="1" rIns="91425" wrap="square" tIns="45700">
            <a:noAutofit/>
          </a:bodyPr>
          <a:lstStyle/>
          <a:p>
            <a:pPr indent="0" lvl="0" marL="114300" marR="0" rtl="0" algn="ctr">
              <a:lnSpc>
                <a:spcPct val="90000"/>
              </a:lnSpc>
              <a:spcBef>
                <a:spcPts val="0"/>
              </a:spcBef>
              <a:spcAft>
                <a:spcPts val="0"/>
              </a:spcAft>
              <a:buClr>
                <a:schemeClr val="dk1"/>
              </a:buClr>
              <a:buSzPts val="6000"/>
              <a:buFont typeface="Arial"/>
              <a:buNone/>
            </a:pPr>
            <a:r>
              <a:rPr b="1" i="0" lang="en-US" sz="4000" u="none" cap="none" strike="noStrike">
                <a:solidFill>
                  <a:schemeClr val="dk1"/>
                </a:solidFill>
                <a:latin typeface="Arial"/>
                <a:ea typeface="Arial"/>
                <a:cs typeface="Arial"/>
                <a:sym typeface="Arial"/>
              </a:rPr>
              <a:t>TIME FOR BONUS</a:t>
            </a:r>
            <a:endParaRPr b="0" i="0" sz="4000" u="none" cap="none" strike="noStrike">
              <a:solidFill>
                <a:schemeClr val="dk1"/>
              </a:solidFill>
              <a:latin typeface="Arial"/>
              <a:ea typeface="Arial"/>
              <a:cs typeface="Arial"/>
              <a:sym typeface="Arial"/>
            </a:endParaRPr>
          </a:p>
        </p:txBody>
      </p:sp>
      <p:pic>
        <p:nvPicPr>
          <p:cNvPr descr="Yes GIF - Yes - Discover &amp; Share GIFs | Funny emoticons, Chip and dale,  Love gif" id="370" name="Google Shape;370;p33"/>
          <p:cNvPicPr preferRelativeResize="0"/>
          <p:nvPr/>
        </p:nvPicPr>
        <p:blipFill rotWithShape="1">
          <a:blip r:embed="rId3">
            <a:alphaModFix/>
          </a:blip>
          <a:srcRect b="0" l="0" r="0" t="0"/>
          <a:stretch/>
        </p:blipFill>
        <p:spPr>
          <a:xfrm>
            <a:off x="332508" y="3737524"/>
            <a:ext cx="3048000" cy="2571751"/>
          </a:xfrm>
          <a:prstGeom prst="rect">
            <a:avLst/>
          </a:prstGeom>
          <a:noFill/>
          <a:ln>
            <a:noFill/>
          </a:ln>
        </p:spPr>
      </p:pic>
      <p:sp>
        <p:nvSpPr>
          <p:cNvPr id="371" name="Google Shape;371;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4"/>
          <p:cNvSpPr txBox="1"/>
          <p:nvPr>
            <p:ph idx="1" type="subTitle"/>
          </p:nvPr>
        </p:nvSpPr>
        <p:spPr>
          <a:xfrm>
            <a:off x="307571" y="1529542"/>
            <a:ext cx="11571316" cy="5045825"/>
          </a:xfrm>
          <a:prstGeom prst="rect">
            <a:avLst/>
          </a:prstGeom>
          <a:noFill/>
          <a:ln>
            <a:noFill/>
          </a:ln>
        </p:spPr>
        <p:txBody>
          <a:bodyPr anchorCtr="0" anchor="t" bIns="45700" lIns="91425" spcFirstLastPara="1" rIns="91425" wrap="square" tIns="45700">
            <a:noAutofit/>
          </a:bodyPr>
          <a:lstStyle/>
          <a:p>
            <a:pPr indent="-342900" lvl="0" marL="431800" rtl="0" algn="just">
              <a:lnSpc>
                <a:spcPct val="150000"/>
              </a:lnSpc>
              <a:spcBef>
                <a:spcPts val="0"/>
              </a:spcBef>
              <a:spcAft>
                <a:spcPts val="0"/>
              </a:spcAft>
              <a:buClr>
                <a:schemeClr val="dk1"/>
              </a:buClr>
              <a:buSzPts val="4000"/>
              <a:buFont typeface="Noto Sans Symbols"/>
              <a:buChar char="▪"/>
            </a:pPr>
            <a:r>
              <a:rPr lang="en-US"/>
              <a:t>In computer programming, comments are hints that we use to make our code more understandable.</a:t>
            </a:r>
            <a:endParaRPr/>
          </a:p>
          <a:p>
            <a:pPr indent="-342900" lvl="0" marL="431800" rtl="0" algn="just">
              <a:lnSpc>
                <a:spcPct val="150000"/>
              </a:lnSpc>
              <a:spcBef>
                <a:spcPts val="1000"/>
              </a:spcBef>
              <a:spcAft>
                <a:spcPts val="0"/>
              </a:spcAft>
              <a:buClr>
                <a:schemeClr val="dk1"/>
              </a:buClr>
              <a:buSzPts val="4000"/>
              <a:buFont typeface="Noto Sans Symbols"/>
              <a:buChar char="▪"/>
            </a:pPr>
            <a:r>
              <a:rPr lang="en-US"/>
              <a:t>Comments are completely ignored by the interpreter. They are meant for fellow programmers.</a:t>
            </a:r>
            <a:endParaRPr/>
          </a:p>
          <a:p>
            <a:pPr indent="-342900" lvl="0" marL="431800" rtl="0" algn="just">
              <a:lnSpc>
                <a:spcPct val="150000"/>
              </a:lnSpc>
              <a:spcBef>
                <a:spcPts val="1000"/>
              </a:spcBef>
              <a:spcAft>
                <a:spcPts val="0"/>
              </a:spcAft>
              <a:buClr>
                <a:schemeClr val="dk1"/>
              </a:buClr>
              <a:buSzPts val="4000"/>
              <a:buFont typeface="Noto Sans Symbols"/>
              <a:buChar char="▪"/>
            </a:pPr>
            <a:r>
              <a:rPr lang="en-US"/>
              <a:t>We can use comments to document our program or code.</a:t>
            </a:r>
            <a:endParaRPr/>
          </a:p>
          <a:p>
            <a:pPr indent="-342900" lvl="0" marL="431800" rtl="0" algn="just">
              <a:lnSpc>
                <a:spcPct val="150000"/>
              </a:lnSpc>
              <a:spcBef>
                <a:spcPts val="1000"/>
              </a:spcBef>
              <a:spcAft>
                <a:spcPts val="0"/>
              </a:spcAft>
              <a:buClr>
                <a:schemeClr val="dk1"/>
              </a:buClr>
              <a:buSzPts val="4000"/>
              <a:buFont typeface="Noto Sans Symbols"/>
              <a:buChar char="▪"/>
            </a:pPr>
            <a:r>
              <a:rPr lang="en-US"/>
              <a:t>Comments are also used to identify errors and debugging</a:t>
            </a:r>
            <a:endParaRPr/>
          </a:p>
        </p:txBody>
      </p:sp>
      <p:sp>
        <p:nvSpPr>
          <p:cNvPr id="377" name="Google Shape;377;p34"/>
          <p:cNvSpPr txBox="1"/>
          <p:nvPr/>
        </p:nvSpPr>
        <p:spPr>
          <a:xfrm>
            <a:off x="307571" y="416234"/>
            <a:ext cx="7873538" cy="872239"/>
          </a:xfrm>
          <a:prstGeom prst="rect">
            <a:avLst/>
          </a:prstGeom>
          <a:noFill/>
          <a:ln>
            <a:noFill/>
          </a:ln>
        </p:spPr>
        <p:txBody>
          <a:bodyPr anchorCtr="0" anchor="ctr" bIns="45700" lIns="91425" spcFirstLastPara="1" rIns="91425" wrap="square" tIns="45700">
            <a:normAutofit/>
          </a:bodyPr>
          <a:lstStyle/>
          <a:p>
            <a:pPr indent="0" lvl="0" marL="114300" marR="0" rtl="0" algn="l">
              <a:lnSpc>
                <a:spcPct val="90000"/>
              </a:lnSpc>
              <a:spcBef>
                <a:spcPts val="0"/>
              </a:spcBef>
              <a:spcAft>
                <a:spcPts val="0"/>
              </a:spcAft>
              <a:buClr>
                <a:srgbClr val="00B050"/>
              </a:buClr>
              <a:buSzPts val="5400"/>
              <a:buFont typeface="Calibri"/>
              <a:buNone/>
            </a:pPr>
            <a:r>
              <a:rPr b="1" i="0" lang="en-US" sz="4000" u="sng" cap="none" strike="noStrike">
                <a:solidFill>
                  <a:srgbClr val="00B050"/>
                </a:solidFill>
                <a:latin typeface="Arial"/>
                <a:ea typeface="Arial"/>
                <a:cs typeface="Arial"/>
                <a:sym typeface="Arial"/>
              </a:rPr>
              <a:t>PYTHON COMMENTS</a:t>
            </a:r>
            <a:endParaRPr b="1" i="0" sz="4000" u="sng" cap="none" strike="noStrike">
              <a:solidFill>
                <a:srgbClr val="00B050"/>
              </a:solidFill>
              <a:latin typeface="Arial"/>
              <a:ea typeface="Arial"/>
              <a:cs typeface="Arial"/>
              <a:sym typeface="Arial"/>
            </a:endParaRPr>
          </a:p>
        </p:txBody>
      </p:sp>
      <p:sp>
        <p:nvSpPr>
          <p:cNvPr id="378" name="Google Shape;378;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5"/>
          <p:cNvSpPr txBox="1"/>
          <p:nvPr>
            <p:ph type="ctrTitle"/>
          </p:nvPr>
        </p:nvSpPr>
        <p:spPr>
          <a:xfrm>
            <a:off x="496293" y="565036"/>
            <a:ext cx="8680958" cy="913946"/>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chemeClr val="dk1"/>
              </a:buClr>
              <a:buSzPts val="5400"/>
              <a:buFont typeface="Calibri"/>
              <a:buNone/>
            </a:pPr>
            <a:r>
              <a:rPr b="1" lang="en-US"/>
              <a:t>Comments Examples</a:t>
            </a:r>
            <a:endParaRPr/>
          </a:p>
        </p:txBody>
      </p:sp>
      <p:sp>
        <p:nvSpPr>
          <p:cNvPr id="384" name="Google Shape;384;p35"/>
          <p:cNvSpPr txBox="1"/>
          <p:nvPr>
            <p:ph idx="1" type="subTitle"/>
          </p:nvPr>
        </p:nvSpPr>
        <p:spPr>
          <a:xfrm>
            <a:off x="234461" y="1890347"/>
            <a:ext cx="11582401" cy="4193930"/>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0"/>
              </a:spcBef>
              <a:spcAft>
                <a:spcPts val="0"/>
              </a:spcAft>
              <a:buClr>
                <a:schemeClr val="dk1"/>
              </a:buClr>
              <a:buSzPts val="2400"/>
              <a:buNone/>
            </a:pPr>
            <a:r>
              <a:rPr b="1" lang="en-US" sz="1600"/>
              <a:t>Single line Comment                         		 Multiline                    </a:t>
            </a:r>
            <a:br>
              <a:rPr b="1" lang="en-US" sz="1600"/>
            </a:br>
            <a:br>
              <a:rPr b="1" lang="en-US" sz="1600"/>
            </a:br>
            <a:br>
              <a:rPr b="1" lang="en-US" sz="1600"/>
            </a:br>
            <a:endParaRPr sz="1600"/>
          </a:p>
        </p:txBody>
      </p:sp>
      <p:pic>
        <p:nvPicPr>
          <p:cNvPr id="385" name="Google Shape;385;p35"/>
          <p:cNvPicPr preferRelativeResize="0"/>
          <p:nvPr/>
        </p:nvPicPr>
        <p:blipFill rotWithShape="1">
          <a:blip r:embed="rId3">
            <a:alphaModFix/>
          </a:blip>
          <a:srcRect b="0" l="0" r="0" t="0"/>
          <a:stretch/>
        </p:blipFill>
        <p:spPr>
          <a:xfrm>
            <a:off x="496293" y="2301275"/>
            <a:ext cx="3305636" cy="1457528"/>
          </a:xfrm>
          <a:prstGeom prst="rect">
            <a:avLst/>
          </a:prstGeom>
          <a:noFill/>
          <a:ln>
            <a:noFill/>
          </a:ln>
        </p:spPr>
      </p:pic>
      <p:pic>
        <p:nvPicPr>
          <p:cNvPr id="386" name="Google Shape;386;p35"/>
          <p:cNvPicPr preferRelativeResize="0"/>
          <p:nvPr/>
        </p:nvPicPr>
        <p:blipFill rotWithShape="1">
          <a:blip r:embed="rId4">
            <a:alphaModFix/>
          </a:blip>
          <a:srcRect b="0" l="0" r="0" t="0"/>
          <a:stretch/>
        </p:blipFill>
        <p:spPr>
          <a:xfrm>
            <a:off x="4390007" y="2386564"/>
            <a:ext cx="2840643" cy="1457528"/>
          </a:xfrm>
          <a:prstGeom prst="rect">
            <a:avLst/>
          </a:prstGeom>
          <a:noFill/>
          <a:ln>
            <a:noFill/>
          </a:ln>
        </p:spPr>
      </p:pic>
      <p:sp>
        <p:nvSpPr>
          <p:cNvPr id="387" name="Google Shape;387;p35"/>
          <p:cNvSpPr txBox="1"/>
          <p:nvPr/>
        </p:nvSpPr>
        <p:spPr>
          <a:xfrm>
            <a:off x="234461" y="4761169"/>
            <a:ext cx="4836303" cy="101357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Importance and uses of Comment</a:t>
            </a:r>
            <a:endParaRPr b="0" i="0" sz="1600" u="none" cap="none" strike="noStrike">
              <a:solidFill>
                <a:srgbClr val="000000"/>
              </a:solidFill>
              <a:latin typeface="Arial"/>
              <a:ea typeface="Arial"/>
              <a:cs typeface="Arial"/>
              <a:sym typeface="Arial"/>
            </a:endParaRPr>
          </a:p>
          <a:p>
            <a:pPr indent="-342900" lvl="0" marL="342900" marR="0" rtl="0" algn="l">
              <a:lnSpc>
                <a:spcPct val="90000"/>
              </a:lnSpc>
              <a:spcBef>
                <a:spcPts val="1000"/>
              </a:spcBef>
              <a:spcAft>
                <a:spcPts val="0"/>
              </a:spcAft>
              <a:buClr>
                <a:schemeClr val="dk1"/>
              </a:buClr>
              <a:buSzPts val="2400"/>
              <a:buFont typeface="Arial"/>
              <a:buChar char="•"/>
            </a:pPr>
            <a:r>
              <a:rPr b="0" i="0" lang="en-US" sz="1600" u="none" cap="none" strike="noStrike">
                <a:solidFill>
                  <a:schemeClr val="dk1"/>
                </a:solidFill>
                <a:latin typeface="Arial"/>
                <a:ea typeface="Arial"/>
                <a:cs typeface="Arial"/>
                <a:sym typeface="Arial"/>
              </a:rPr>
              <a:t>Make Code Easier to Understand</a:t>
            </a:r>
            <a:endParaRPr b="0" i="0" sz="1600" u="none" cap="none" strike="noStrike">
              <a:solidFill>
                <a:srgbClr val="000000"/>
              </a:solidFill>
              <a:latin typeface="Arial"/>
              <a:ea typeface="Arial"/>
              <a:cs typeface="Arial"/>
              <a:sym typeface="Arial"/>
            </a:endParaRPr>
          </a:p>
          <a:p>
            <a:pPr indent="-342900" lvl="0" marL="342900" marR="0" rtl="0" algn="l">
              <a:lnSpc>
                <a:spcPct val="90000"/>
              </a:lnSpc>
              <a:spcBef>
                <a:spcPts val="1000"/>
              </a:spcBef>
              <a:spcAft>
                <a:spcPts val="0"/>
              </a:spcAft>
              <a:buClr>
                <a:schemeClr val="dk1"/>
              </a:buClr>
              <a:buSzPts val="2400"/>
              <a:buFont typeface="Arial"/>
              <a:buChar char="•"/>
            </a:pPr>
            <a:r>
              <a:rPr b="0" i="0" lang="en-US" sz="1600" u="none" cap="none" strike="noStrike">
                <a:solidFill>
                  <a:schemeClr val="dk1"/>
                </a:solidFill>
                <a:latin typeface="Arial"/>
                <a:ea typeface="Arial"/>
                <a:cs typeface="Arial"/>
                <a:sym typeface="Arial"/>
              </a:rPr>
              <a:t>Comments used for Debugging</a:t>
            </a:r>
            <a:endParaRPr b="0" i="0" sz="1600" u="none" cap="none" strike="noStrike">
              <a:solidFill>
                <a:srgbClr val="000000"/>
              </a:solidFill>
              <a:latin typeface="Arial"/>
              <a:ea typeface="Arial"/>
              <a:cs typeface="Arial"/>
              <a:sym typeface="Arial"/>
            </a:endParaRPr>
          </a:p>
        </p:txBody>
      </p:sp>
      <p:pic>
        <p:nvPicPr>
          <p:cNvPr id="388" name="Google Shape;388;p35"/>
          <p:cNvPicPr preferRelativeResize="0"/>
          <p:nvPr/>
        </p:nvPicPr>
        <p:blipFill rotWithShape="1">
          <a:blip r:embed="rId5">
            <a:alphaModFix/>
          </a:blip>
          <a:srcRect b="0" l="0" r="0" t="0"/>
          <a:stretch/>
        </p:blipFill>
        <p:spPr>
          <a:xfrm>
            <a:off x="5282829" y="4082787"/>
            <a:ext cx="6069389" cy="1753204"/>
          </a:xfrm>
          <a:prstGeom prst="rect">
            <a:avLst/>
          </a:prstGeom>
          <a:noFill/>
          <a:ln>
            <a:noFill/>
          </a:ln>
        </p:spPr>
      </p:pic>
      <p:sp>
        <p:nvSpPr>
          <p:cNvPr id="389" name="Google Shape;389;p35"/>
          <p:cNvSpPr/>
          <p:nvPr/>
        </p:nvSpPr>
        <p:spPr>
          <a:xfrm>
            <a:off x="7618765" y="1993358"/>
            <a:ext cx="4009292" cy="178510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Consolas"/>
              <a:buNone/>
            </a:pPr>
            <a:r>
              <a:rPr b="1" i="0" lang="en-US" sz="2800" u="none" cap="none" strike="noStrike">
                <a:solidFill>
                  <a:srgbClr val="000000"/>
                </a:solidFill>
                <a:latin typeface="Consolas"/>
                <a:ea typeface="Consolas"/>
                <a:cs typeface="Consolas"/>
                <a:sym typeface="Consolas"/>
              </a:rPr>
              <a:t>""" </a:t>
            </a:r>
            <a:r>
              <a:rPr b="0" i="0" lang="en-US" sz="1600" u="none" cap="none" strike="noStrike">
                <a:solidFill>
                  <a:srgbClr val="000000"/>
                </a:solidFill>
                <a:latin typeface="Consolas"/>
                <a:ea typeface="Consolas"/>
                <a:cs typeface="Consolas"/>
                <a:sym typeface="Consolas"/>
              </a:rPr>
              <a:t>This is a multi-line comment with </a:t>
            </a:r>
            <a:r>
              <a:rPr b="1" i="0" lang="en-US" sz="1600" u="none" cap="none" strike="noStrike">
                <a:solidFill>
                  <a:srgbClr val="FF0000"/>
                </a:solidFill>
                <a:latin typeface="Consolas"/>
                <a:ea typeface="Consolas"/>
                <a:cs typeface="Consolas"/>
                <a:sym typeface="Consolas"/>
              </a:rPr>
              <a:t>docstrings</a:t>
            </a:r>
            <a:r>
              <a:rPr b="0" i="0" lang="en-US" sz="1600" u="none" cap="none" strike="noStrike">
                <a:solidFill>
                  <a:srgbClr val="000000"/>
                </a:solidFill>
                <a:latin typeface="Consolas"/>
                <a:ea typeface="Consolas"/>
                <a:cs typeface="Consolas"/>
                <a:sym typeface="Consolas"/>
              </a:rPr>
              <a:t> </a:t>
            </a:r>
            <a:r>
              <a:rPr b="1" i="0" lang="en-US" sz="2800" u="none" cap="none" strike="noStrike">
                <a:solidFill>
                  <a:srgbClr val="00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alibri"/>
              <a:buNone/>
            </a:pPr>
            <a:r>
              <a:t/>
            </a:r>
            <a:endParaRPr b="1" i="0" sz="2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We can also use single quotes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 ……… ‘’’</a:t>
            </a:r>
            <a:endParaRPr b="1" i="0" sz="5400" u="none" cap="none" strike="noStrike">
              <a:solidFill>
                <a:schemeClr val="dk1"/>
              </a:solidFill>
              <a:latin typeface="Arial"/>
              <a:ea typeface="Arial"/>
              <a:cs typeface="Arial"/>
              <a:sym typeface="Arial"/>
            </a:endParaRPr>
          </a:p>
        </p:txBody>
      </p:sp>
      <p:sp>
        <p:nvSpPr>
          <p:cNvPr id="390" name="Google Shape;390;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pic>
        <p:nvPicPr>
          <p:cNvPr descr="ProfessionsProfessions. a doctor a pilot a dentist. - ppt download" id="395" name="Google Shape;395;p36"/>
          <p:cNvPicPr preferRelativeResize="0"/>
          <p:nvPr/>
        </p:nvPicPr>
        <p:blipFill rotWithShape="1">
          <a:blip r:embed="rId3">
            <a:alphaModFix/>
          </a:blip>
          <a:srcRect b="0" l="0" r="0" t="0"/>
          <a:stretch/>
        </p:blipFill>
        <p:spPr>
          <a:xfrm>
            <a:off x="2651758" y="948286"/>
            <a:ext cx="7390015" cy="4862945"/>
          </a:xfrm>
          <a:prstGeom prst="rect">
            <a:avLst/>
          </a:prstGeom>
          <a:noFill/>
          <a:ln>
            <a:noFill/>
          </a:ln>
        </p:spPr>
      </p:pic>
      <p:sp>
        <p:nvSpPr>
          <p:cNvPr id="396" name="Google Shape;396;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7"/>
          <p:cNvSpPr txBox="1"/>
          <p:nvPr>
            <p:ph type="ctrTitle"/>
          </p:nvPr>
        </p:nvSpPr>
        <p:spPr>
          <a:xfrm>
            <a:off x="314498" y="281997"/>
            <a:ext cx="8073044" cy="93997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chemeClr val="dk1"/>
              </a:buClr>
              <a:buSzPts val="4000"/>
              <a:buFont typeface="Calibri"/>
              <a:buNone/>
            </a:pPr>
            <a:r>
              <a:rPr b="1" lang="en-US" u="sng"/>
              <a:t>                 </a:t>
            </a:r>
            <a:r>
              <a:rPr b="1" lang="en-US" u="sng"/>
              <a:t>For You – Exercise</a:t>
            </a:r>
            <a:endParaRPr b="1" u="sng"/>
          </a:p>
        </p:txBody>
      </p:sp>
      <p:sp>
        <p:nvSpPr>
          <p:cNvPr id="403" name="Google Shape;403;p37"/>
          <p:cNvSpPr/>
          <p:nvPr/>
        </p:nvSpPr>
        <p:spPr>
          <a:xfrm>
            <a:off x="234887" y="1221969"/>
            <a:ext cx="11344742" cy="4832052"/>
          </a:xfrm>
          <a:prstGeom prst="rect">
            <a:avLst/>
          </a:prstGeom>
          <a:noFill/>
          <a:ln>
            <a:noFill/>
          </a:ln>
        </p:spPr>
        <p:txBody>
          <a:bodyPr anchorCtr="0" anchor="t" bIns="45700" lIns="91425" spcFirstLastPara="1" rIns="91425" wrap="square" tIns="45700">
            <a:spAutoFit/>
          </a:bodyPr>
          <a:lstStyle/>
          <a:p>
            <a:pPr indent="-406400" lvl="0" marL="457200" marR="0" rtl="0" algn="l">
              <a:lnSpc>
                <a:spcPct val="100000"/>
              </a:lnSpc>
              <a:spcBef>
                <a:spcPts val="0"/>
              </a:spcBef>
              <a:spcAft>
                <a:spcPts val="0"/>
              </a:spcAft>
              <a:buClr>
                <a:schemeClr val="dk1"/>
              </a:buClr>
              <a:buSzPts val="2800"/>
              <a:buFont typeface="Calibri"/>
              <a:buAutoNum type="arabicPeriod"/>
            </a:pPr>
            <a:r>
              <a:rPr b="0" i="0" lang="en-US" sz="2800" u="none" cap="none" strike="noStrike">
                <a:solidFill>
                  <a:schemeClr val="dk1"/>
                </a:solidFill>
                <a:latin typeface="Arial"/>
                <a:ea typeface="Arial"/>
                <a:cs typeface="Arial"/>
                <a:sym typeface="Arial"/>
              </a:rPr>
              <a:t>Write a program that asks the user to enter their name and age. Print a message addressed to the user that tells the user the year in which they will turn 100 years old.         </a:t>
            </a:r>
            <a:endParaRPr b="0" i="0" sz="1400" u="none" cap="none" strike="noStrike">
              <a:solidFill>
                <a:srgbClr val="000000"/>
              </a:solidFill>
              <a:latin typeface="Arial"/>
              <a:ea typeface="Arial"/>
              <a:cs typeface="Arial"/>
              <a:sym typeface="Arial"/>
            </a:endParaRPr>
          </a:p>
          <a:p>
            <a:pPr indent="0" lvl="0" marL="11430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a:p>
            <a:pPr indent="0" lvl="0" marL="11430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2.The formula E = mc^2 states that the equivalent energy (E) can be calculated as the mass (m) multiplied by the speed of light (c = about 	3×10</a:t>
            </a:r>
            <a:r>
              <a:rPr b="0" baseline="30000" i="0" lang="en-US" sz="2800" u="none" cap="none" strike="noStrike">
                <a:solidFill>
                  <a:schemeClr val="dk1"/>
                </a:solidFill>
                <a:latin typeface="Arial"/>
                <a:ea typeface="Arial"/>
                <a:cs typeface="Arial"/>
                <a:sym typeface="Arial"/>
              </a:rPr>
              <a:t>8</a:t>
            </a:r>
            <a:r>
              <a:rPr b="0" i="0" lang="en-US" sz="2800" u="none" cap="none" strike="noStrike">
                <a:solidFill>
                  <a:schemeClr val="dk1"/>
                </a:solidFill>
                <a:latin typeface="Arial"/>
                <a:ea typeface="Arial"/>
                <a:cs typeface="Arial"/>
                <a:sym typeface="Arial"/>
              </a:rPr>
              <a:t> m/s) squared. Write a program that accepts the mass of an object 	and determines its energy.</a:t>
            </a:r>
            <a:endParaRPr b="0" i="0" sz="1400" u="none" cap="none" strike="noStrike">
              <a:solidFill>
                <a:srgbClr val="000000"/>
              </a:solidFill>
              <a:latin typeface="Arial"/>
              <a:ea typeface="Arial"/>
              <a:cs typeface="Arial"/>
              <a:sym typeface="Arial"/>
            </a:endParaRPr>
          </a:p>
          <a:p>
            <a:pPr indent="0" lvl="0" marL="11430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a:p>
            <a:pPr indent="0" lvl="0" marL="11430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3. Write a program to enter two integers and perform all arithmetic operations on them. (Make a simple calculator)</a:t>
            </a:r>
            <a:endParaRPr b="0" i="0" sz="2800" u="none" cap="none" strike="noStrike">
              <a:solidFill>
                <a:schemeClr val="dk1"/>
              </a:solidFill>
              <a:latin typeface="Arial"/>
              <a:ea typeface="Arial"/>
              <a:cs typeface="Arial"/>
              <a:sym typeface="Arial"/>
            </a:endParaRPr>
          </a:p>
        </p:txBody>
      </p:sp>
      <p:sp>
        <p:nvSpPr>
          <p:cNvPr id="404" name="Google Shape;404;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8"/>
          <p:cNvSpPr txBox="1"/>
          <p:nvPr>
            <p:ph type="ctrTitle"/>
          </p:nvPr>
        </p:nvSpPr>
        <p:spPr>
          <a:xfrm>
            <a:off x="354600" y="572945"/>
            <a:ext cx="9627600" cy="939900"/>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chemeClr val="dk1"/>
              </a:buClr>
              <a:buSzPts val="5400"/>
              <a:buFont typeface="Calibri"/>
              <a:buNone/>
            </a:pPr>
            <a:r>
              <a:rPr b="1" lang="en-US" u="sng"/>
              <a:t>For You – Additional Questions</a:t>
            </a:r>
            <a:endParaRPr/>
          </a:p>
        </p:txBody>
      </p:sp>
      <p:sp>
        <p:nvSpPr>
          <p:cNvPr id="410" name="Google Shape;410;p38"/>
          <p:cNvSpPr/>
          <p:nvPr/>
        </p:nvSpPr>
        <p:spPr>
          <a:xfrm>
            <a:off x="218261" y="1704109"/>
            <a:ext cx="11884792" cy="4893607"/>
          </a:xfrm>
          <a:prstGeom prst="rect">
            <a:avLst/>
          </a:prstGeom>
          <a:noFill/>
          <a:ln>
            <a:noFill/>
          </a:ln>
        </p:spPr>
        <p:txBody>
          <a:bodyPr anchorCtr="0" anchor="t" bIns="45700" lIns="91425" spcFirstLastPara="1" rIns="91425" wrap="square" tIns="45700">
            <a:spAutoFit/>
          </a:bodyPr>
          <a:lstStyle/>
          <a:p>
            <a:pPr indent="-742950" lvl="0" marL="857250" marR="0" rtl="0" algn="l">
              <a:lnSpc>
                <a:spcPct val="100000"/>
              </a:lnSpc>
              <a:spcBef>
                <a:spcPts val="0"/>
              </a:spcBef>
              <a:spcAft>
                <a:spcPts val="0"/>
              </a:spcAft>
              <a:buClr>
                <a:schemeClr val="dk1"/>
              </a:buClr>
              <a:buSzPts val="2800"/>
              <a:buFont typeface="Calibri"/>
              <a:buAutoNum type="arabicPeriod"/>
            </a:pPr>
            <a:r>
              <a:rPr b="0" i="0" lang="en-US" sz="2400" u="none" cap="none" strike="noStrike">
                <a:solidFill>
                  <a:schemeClr val="dk1"/>
                </a:solidFill>
                <a:latin typeface="Arial"/>
                <a:ea typeface="Arial"/>
                <a:cs typeface="Arial"/>
                <a:sym typeface="Arial"/>
              </a:rPr>
              <a:t>Write a Python program to calculate the amount payable if money has been lent on simple interest. Principal or money lent = P, Rate of interest = R% per annum and Time = T years. Then Simple Interest</a:t>
            </a:r>
            <a:endParaRPr b="0" i="0" sz="2400" u="none" cap="none" strike="noStrike">
              <a:solidFill>
                <a:srgbClr val="000000"/>
              </a:solidFill>
              <a:latin typeface="Arial"/>
              <a:ea typeface="Arial"/>
              <a:cs typeface="Arial"/>
              <a:sym typeface="Arial"/>
            </a:endParaRPr>
          </a:p>
          <a:p>
            <a:pPr indent="0" lvl="0" marL="1143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	(SI) = (P x R x T)/ 100.</a:t>
            </a:r>
            <a:endParaRPr b="0" i="0" sz="2400" u="none" cap="none" strike="noStrike">
              <a:solidFill>
                <a:srgbClr val="000000"/>
              </a:solidFill>
              <a:latin typeface="Arial"/>
              <a:ea typeface="Arial"/>
              <a:cs typeface="Arial"/>
              <a:sym typeface="Arial"/>
            </a:endParaRPr>
          </a:p>
          <a:p>
            <a:pPr indent="0" lvl="0" marL="1143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	Amount payable = Principal + SI.</a:t>
            </a:r>
            <a:endParaRPr b="0" i="0" sz="2400" u="none" cap="none" strike="noStrike">
              <a:solidFill>
                <a:srgbClr val="000000"/>
              </a:solidFill>
              <a:latin typeface="Arial"/>
              <a:ea typeface="Arial"/>
              <a:cs typeface="Arial"/>
              <a:sym typeface="Arial"/>
            </a:endParaRPr>
          </a:p>
          <a:p>
            <a:pPr indent="0" lvl="0" marL="1143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	P, R and T are given as input to the program.</a:t>
            </a:r>
            <a:endParaRPr b="0" i="0" sz="2400" u="none" cap="none" strike="noStrike">
              <a:solidFill>
                <a:srgbClr val="000000"/>
              </a:solidFill>
              <a:latin typeface="Arial"/>
              <a:ea typeface="Arial"/>
              <a:cs typeface="Arial"/>
              <a:sym typeface="Arial"/>
            </a:endParaRPr>
          </a:p>
          <a:p>
            <a:pPr indent="0" lvl="0" marL="1143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	</a:t>
            </a:r>
            <a:endParaRPr b="0" i="0" sz="2400" u="none" cap="none" strike="noStrike">
              <a:solidFill>
                <a:srgbClr val="000000"/>
              </a:solidFill>
              <a:latin typeface="Arial"/>
              <a:ea typeface="Arial"/>
              <a:cs typeface="Arial"/>
              <a:sym typeface="Arial"/>
            </a:endParaRPr>
          </a:p>
          <a:p>
            <a:pPr indent="-457200" lvl="0" marL="571500" marR="0" rtl="0" algn="l">
              <a:lnSpc>
                <a:spcPct val="100000"/>
              </a:lnSpc>
              <a:spcBef>
                <a:spcPts val="0"/>
              </a:spcBef>
              <a:spcAft>
                <a:spcPts val="0"/>
              </a:spcAft>
              <a:buClr>
                <a:srgbClr val="000000"/>
              </a:buClr>
              <a:buSzPts val="2400"/>
              <a:buFont typeface="Arial"/>
              <a:buAutoNum type="arabicPeriod" startAt="2"/>
            </a:pPr>
            <a:r>
              <a:rPr b="0" i="0" lang="en-US" sz="2400" u="none" cap="none" strike="noStrike">
                <a:solidFill>
                  <a:schemeClr val="dk1"/>
                </a:solidFill>
                <a:latin typeface="Arial"/>
                <a:ea typeface="Arial"/>
                <a:cs typeface="Arial"/>
                <a:sym typeface="Arial"/>
              </a:rPr>
              <a:t>Write a Python program to convert temperature in degree Celsius to 	degree Fahrenheit. If water boils at 100 degree C and freezes as 0 degree 	C, use the program to find out what is the boiling point and freezing point 	of water on the Fahrenheit scale. </a:t>
            </a:r>
            <a:endParaRPr/>
          </a:p>
          <a:p>
            <a:pPr indent="-304800" lvl="0" marL="57150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114300" marR="0" rtl="0" algn="l">
              <a:lnSpc>
                <a:spcPct val="100000"/>
              </a:lnSpc>
              <a:spcBef>
                <a:spcPts val="0"/>
              </a:spcBef>
              <a:spcAft>
                <a:spcPts val="0"/>
              </a:spcAft>
              <a:buNone/>
            </a:pPr>
            <a:r>
              <a:rPr b="0" i="0" lang="en-US" sz="2400" u="none" cap="none" strike="noStrike">
                <a:solidFill>
                  <a:schemeClr val="dk1"/>
                </a:solidFill>
                <a:latin typeface="Arial"/>
                <a:ea typeface="Arial"/>
                <a:cs typeface="Arial"/>
                <a:sym typeface="Arial"/>
              </a:rPr>
              <a:t>                                     (Hint: T(°F) = T(°C) × 9/5 + 32) </a:t>
            </a:r>
            <a:endParaRPr b="0" i="0" sz="2400" u="none" cap="none" strike="noStrike">
              <a:solidFill>
                <a:schemeClr val="dk1"/>
              </a:solidFill>
              <a:latin typeface="Arial"/>
              <a:ea typeface="Arial"/>
              <a:cs typeface="Arial"/>
              <a:sym typeface="Arial"/>
            </a:endParaRPr>
          </a:p>
        </p:txBody>
      </p:sp>
      <p:sp>
        <p:nvSpPr>
          <p:cNvPr id="411" name="Google Shape;411;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
        <p:nvSpPr>
          <p:cNvPr id="417" name="Google Shape;417;p39"/>
          <p:cNvSpPr txBox="1"/>
          <p:nvPr/>
        </p:nvSpPr>
        <p:spPr>
          <a:xfrm>
            <a:off x="539896" y="1342336"/>
            <a:ext cx="10923300" cy="48936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Suppose we have a program that asks the user to enter their weight in pounds and their height in inches, and then calculates their body mass index (BMI) using the formula:</a:t>
            </a:r>
            <a:endParaRPr b="0" i="0" sz="2400" u="none" cap="none" strike="noStrike">
              <a:solidFill>
                <a:srgbClr val="000000"/>
              </a:solidFill>
              <a:latin typeface="Arial"/>
              <a:ea typeface="Arial"/>
              <a:cs typeface="Arial"/>
              <a:sym typeface="Arial"/>
            </a:endParaRPr>
          </a:p>
          <a:p>
            <a:pPr indent="-190500" lvl="0" marL="342900" marR="0" rtl="0" algn="just">
              <a:lnSpc>
                <a:spcPct val="100000"/>
              </a:lnSpc>
              <a:spcBef>
                <a:spcPts val="0"/>
              </a:spcBef>
              <a:spcAft>
                <a:spcPts val="0"/>
              </a:spcAft>
              <a:buClr>
                <a:srgbClr val="000000"/>
              </a:buClr>
              <a:buSzPts val="2400"/>
              <a:buFont typeface="Noto Sans Symbols"/>
              <a:buNone/>
            </a:pPr>
            <a:r>
              <a:t/>
            </a:r>
            <a:endParaRPr b="0" i="0" sz="2400" u="none" cap="none" strike="noStrike">
              <a:solidFill>
                <a:schemeClr val="dk1"/>
              </a:solidFill>
              <a:latin typeface="Arial"/>
              <a:ea typeface="Arial"/>
              <a:cs typeface="Arial"/>
              <a:sym typeface="Arial"/>
            </a:endParaRPr>
          </a:p>
          <a:p>
            <a:pPr indent="-342900" lvl="0" marL="342900" marR="0" rtl="0" algn="just">
              <a:lnSpc>
                <a:spcPct val="100000"/>
              </a:lnSpc>
              <a:spcBef>
                <a:spcPts val="0"/>
              </a:spcBef>
              <a:spcAft>
                <a:spcPts val="0"/>
              </a:spcAft>
              <a:buClr>
                <a:srgbClr val="000000"/>
              </a:buClr>
              <a:buSzPts val="2400"/>
              <a:buFont typeface="Noto Sans Symbols"/>
              <a:buChar char="▪"/>
            </a:pPr>
            <a:r>
              <a:rPr b="0" i="0" lang="en-US" sz="2400" u="none" cap="none" strike="noStrike">
                <a:solidFill>
                  <a:schemeClr val="dk1"/>
                </a:solidFill>
                <a:latin typeface="Arial"/>
                <a:ea typeface="Arial"/>
                <a:cs typeface="Arial"/>
                <a:sym typeface="Arial"/>
              </a:rPr>
              <a:t>	</a:t>
            </a:r>
            <a:r>
              <a:rPr b="1" i="0" lang="en-US" sz="2000" u="none" cap="none" strike="noStrike">
                <a:solidFill>
                  <a:schemeClr val="dk1"/>
                </a:solidFill>
                <a:latin typeface="Courier New"/>
                <a:ea typeface="Courier New"/>
                <a:cs typeface="Courier New"/>
                <a:sym typeface="Courier New"/>
              </a:rPr>
              <a:t>BMI = (weight in pounds * 703) / (height in inches)^2</a:t>
            </a:r>
            <a:endParaRPr b="1" i="0" sz="2000" u="none" cap="none" strike="noStrike">
              <a:solidFill>
                <a:srgbClr val="000000"/>
              </a:solidFill>
              <a:latin typeface="Courier New"/>
              <a:ea typeface="Courier New"/>
              <a:cs typeface="Courier New"/>
              <a:sym typeface="Courier New"/>
            </a:endParaRPr>
          </a:p>
          <a:p>
            <a:pPr indent="-190500" lvl="0" marL="342900" marR="0" rtl="0" algn="just">
              <a:lnSpc>
                <a:spcPct val="100000"/>
              </a:lnSpc>
              <a:spcBef>
                <a:spcPts val="0"/>
              </a:spcBef>
              <a:spcAft>
                <a:spcPts val="0"/>
              </a:spcAft>
              <a:buClr>
                <a:srgbClr val="000000"/>
              </a:buClr>
              <a:buSzPts val="2400"/>
              <a:buFont typeface="Noto Sans Symbols"/>
              <a:buNone/>
            </a:pPr>
            <a:r>
              <a:t/>
            </a:r>
            <a:endParaRPr b="0" i="0" sz="2400" u="none" cap="none" strike="noStrike">
              <a:solidFill>
                <a:schemeClr val="dk1"/>
              </a:solidFill>
              <a:latin typeface="Arial"/>
              <a:ea typeface="Arial"/>
              <a:cs typeface="Arial"/>
              <a:sym typeface="Arial"/>
            </a:endParaRPr>
          </a:p>
          <a:p>
            <a:pPr indent="-342900" lvl="0" marL="342900" marR="0" rtl="0" algn="just">
              <a:lnSpc>
                <a:spcPct val="100000"/>
              </a:lnSpc>
              <a:spcBef>
                <a:spcPts val="0"/>
              </a:spcBef>
              <a:spcAft>
                <a:spcPts val="0"/>
              </a:spcAft>
              <a:buClr>
                <a:srgbClr val="000000"/>
              </a:buClr>
              <a:buSzPts val="2400"/>
              <a:buFont typeface="Noto Sans Symbols"/>
              <a:buChar char="▪"/>
            </a:pPr>
            <a:r>
              <a:rPr b="0" i="0" lang="en-US" sz="2400" u="none" cap="none" strike="noStrike">
                <a:solidFill>
                  <a:schemeClr val="dk1"/>
                </a:solidFill>
                <a:latin typeface="Arial"/>
                <a:ea typeface="Arial"/>
                <a:cs typeface="Arial"/>
                <a:sym typeface="Arial"/>
              </a:rPr>
              <a:t>However, the program is designed to only accept weight and height inputs as floating-point numbers, but the user accidentally enters their weight as an </a:t>
            </a:r>
            <a:r>
              <a:rPr b="0" i="0" lang="en-US" sz="2400" u="none" cap="none" strike="noStrike">
                <a:solidFill>
                  <a:srgbClr val="FF0000"/>
                </a:solidFill>
                <a:latin typeface="Arial"/>
                <a:ea typeface="Arial"/>
                <a:cs typeface="Arial"/>
                <a:sym typeface="Arial"/>
              </a:rPr>
              <a:t>integer</a:t>
            </a:r>
            <a:r>
              <a:rPr b="0" i="0" lang="en-US" sz="2400" u="none" cap="none" strike="noStrike">
                <a:solidFill>
                  <a:schemeClr val="dk1"/>
                </a:solidFill>
                <a:latin typeface="Arial"/>
                <a:ea typeface="Arial"/>
                <a:cs typeface="Arial"/>
                <a:sym typeface="Arial"/>
              </a:rPr>
              <a:t> and their height as a </a:t>
            </a:r>
            <a:r>
              <a:rPr b="0" i="0" lang="en-US" sz="2400" u="none" cap="none" strike="noStrike">
                <a:solidFill>
                  <a:srgbClr val="FF0000"/>
                </a:solidFill>
                <a:latin typeface="Arial"/>
                <a:ea typeface="Arial"/>
                <a:cs typeface="Arial"/>
                <a:sym typeface="Arial"/>
              </a:rPr>
              <a:t>string</a:t>
            </a:r>
            <a:r>
              <a:rPr b="0" i="0" lang="en-US" sz="2400" u="none" cap="none" strike="noStrike">
                <a:solidFill>
                  <a:schemeClr val="dk1"/>
                </a:solidFill>
                <a:latin typeface="Arial"/>
                <a:ea typeface="Arial"/>
                <a:cs typeface="Arial"/>
                <a:sym typeface="Arial"/>
              </a:rPr>
              <a:t>.</a:t>
            </a:r>
            <a:endParaRPr b="0" i="0" sz="2400" u="none" cap="none" strike="noStrike">
              <a:solidFill>
                <a:srgbClr val="000000"/>
              </a:solidFill>
              <a:latin typeface="Arial"/>
              <a:ea typeface="Arial"/>
              <a:cs typeface="Arial"/>
              <a:sym typeface="Arial"/>
            </a:endParaRPr>
          </a:p>
          <a:p>
            <a:pPr indent="-190500" lvl="0" marL="342900" marR="0" rtl="0" algn="just">
              <a:lnSpc>
                <a:spcPct val="100000"/>
              </a:lnSpc>
              <a:spcBef>
                <a:spcPts val="0"/>
              </a:spcBef>
              <a:spcAft>
                <a:spcPts val="0"/>
              </a:spcAft>
              <a:buClr>
                <a:srgbClr val="000000"/>
              </a:buClr>
              <a:buSzPts val="2400"/>
              <a:buFont typeface="Noto Sans Symbols"/>
              <a:buNone/>
            </a:pPr>
            <a:r>
              <a:t/>
            </a:r>
            <a:endParaRPr b="0" i="0" sz="2400" u="none" cap="none" strike="noStrike">
              <a:solidFill>
                <a:schemeClr val="dk1"/>
              </a:solidFill>
              <a:latin typeface="Arial"/>
              <a:ea typeface="Arial"/>
              <a:cs typeface="Arial"/>
              <a:sym typeface="Arial"/>
            </a:endParaRPr>
          </a:p>
          <a:p>
            <a:pPr indent="-342900" lvl="0" marL="342900" marR="0" rtl="0" algn="just">
              <a:lnSpc>
                <a:spcPct val="100000"/>
              </a:lnSpc>
              <a:spcBef>
                <a:spcPts val="0"/>
              </a:spcBef>
              <a:spcAft>
                <a:spcPts val="0"/>
              </a:spcAft>
              <a:buClr>
                <a:srgbClr val="000000"/>
              </a:buClr>
              <a:buSzPts val="2400"/>
              <a:buFont typeface="Noto Sans Symbols"/>
              <a:buChar char="▪"/>
            </a:pPr>
            <a:r>
              <a:rPr b="0" i="0" lang="en-US" sz="2400" u="none" cap="none" strike="noStrike">
                <a:solidFill>
                  <a:schemeClr val="dk1"/>
                </a:solidFill>
                <a:latin typeface="Arial"/>
                <a:ea typeface="Arial"/>
                <a:cs typeface="Arial"/>
                <a:sym typeface="Arial"/>
              </a:rPr>
              <a:t>To handle this scenario, we can use implicit and explicit type conversion, as well as some simple operators, to convert the user's inputs to the correct data types and perform the necessary calculations.</a:t>
            </a:r>
            <a:endParaRPr b="0" i="0" sz="2400" u="none" cap="none" strike="noStrike">
              <a:solidFill>
                <a:srgbClr val="000000"/>
              </a:solidFill>
              <a:latin typeface="Arial"/>
              <a:ea typeface="Arial"/>
              <a:cs typeface="Arial"/>
              <a:sym typeface="Arial"/>
            </a:endParaRPr>
          </a:p>
        </p:txBody>
      </p:sp>
      <p:sp>
        <p:nvSpPr>
          <p:cNvPr id="418" name="Google Shape;418;p39"/>
          <p:cNvSpPr txBox="1"/>
          <p:nvPr/>
        </p:nvSpPr>
        <p:spPr>
          <a:xfrm>
            <a:off x="539896" y="402363"/>
            <a:ext cx="10375669" cy="939973"/>
          </a:xfrm>
          <a:prstGeom prst="rect">
            <a:avLst/>
          </a:prstGeom>
          <a:noFill/>
          <a:ln>
            <a:noFill/>
          </a:ln>
        </p:spPr>
        <p:txBody>
          <a:bodyPr anchorCtr="0" anchor="ctr" bIns="45700" lIns="91425" spcFirstLastPara="1" rIns="91425" wrap="square" tIns="45700">
            <a:normAutofit fontScale="97500"/>
          </a:bodyPr>
          <a:lstStyle/>
          <a:p>
            <a:pPr indent="0" lvl="0" marL="114300" marR="0" rtl="0" algn="l">
              <a:lnSpc>
                <a:spcPct val="90000"/>
              </a:lnSpc>
              <a:spcBef>
                <a:spcPts val="0"/>
              </a:spcBef>
              <a:spcAft>
                <a:spcPts val="0"/>
              </a:spcAft>
              <a:buClr>
                <a:schemeClr val="dk1"/>
              </a:buClr>
              <a:buSzPct val="100000"/>
              <a:buFont typeface="Calibri"/>
              <a:buNone/>
            </a:pPr>
            <a:r>
              <a:rPr b="1" i="1" lang="en-US" sz="4000" u="sng" cap="none" strike="noStrike">
                <a:solidFill>
                  <a:schemeClr val="dk1"/>
                </a:solidFill>
                <a:latin typeface="Arial"/>
                <a:ea typeface="Arial"/>
                <a:cs typeface="Arial"/>
                <a:sym typeface="Arial"/>
              </a:rPr>
              <a:t>For You – Home task  </a:t>
            </a:r>
            <a:endParaRPr b="1" i="1" sz="4000" u="sng" cap="none" strike="noStrike">
              <a:solidFill>
                <a:schemeClr val="dk1"/>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424" name="Google Shape;424;p40"/>
          <p:cNvPicPr preferRelativeResize="0"/>
          <p:nvPr/>
        </p:nvPicPr>
        <p:blipFill rotWithShape="1">
          <a:blip r:embed="rId3">
            <a:alphaModFix/>
          </a:blip>
          <a:srcRect b="0" l="0" r="0" t="0"/>
          <a:stretch/>
        </p:blipFill>
        <p:spPr>
          <a:xfrm rot="633546">
            <a:off x="2042160" y="2161499"/>
            <a:ext cx="8107680" cy="2535002"/>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430" name="Google Shape;430;p56"/>
          <p:cNvPicPr preferRelativeResize="0"/>
          <p:nvPr/>
        </p:nvPicPr>
        <p:blipFill rotWithShape="1">
          <a:blip r:embed="rId3">
            <a:alphaModFix/>
          </a:blip>
          <a:srcRect b="0" l="0" r="0" t="0"/>
          <a:stretch/>
        </p:blipFill>
        <p:spPr>
          <a:xfrm>
            <a:off x="3330690" y="1413817"/>
            <a:ext cx="5591577" cy="36791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2023-11-01T09:57:23Z</dcterms:created>
  <dc:creator>Yogesh Bikram Shah</dc:creator>
</cp:coreProperties>
</file>