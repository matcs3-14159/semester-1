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Lst>
  <p:sldSz cy="6858000" cx="12192000"/>
  <p:notesSz cx="6858000" cy="9144000"/>
  <p:embeddedFontLst>
    <p:embeddedFont>
      <p:font typeface="Teko"/>
      <p:regular r:id="rId71"/>
      <p:bold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17">
          <p15:clr>
            <a:srgbClr val="A4A3A4"/>
          </p15:clr>
        </p15:guide>
      </p15:sldGuideLst>
    </p:ext>
    <p:ext uri="GoogleSlidesCustomDataVersion2">
      <go:slidesCustomData xmlns:go="http://customooxmlschemas.google.com/" r:id="rId73" roundtripDataSignature="AMtx7mg2BsFRV5I70RRY6NnKmkwfC+RL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8AE4FB-B2AE-4D4A-9389-941CBE000BCD}">
  <a:tblStyle styleId="{218AE4FB-B2AE-4D4A-9389-941CBE000BCD}" styleName="Table_0">
    <a:wholeTbl>
      <a:tcTxStyle b="off" i="off">
        <a:font>
          <a:latin typeface="Calibri"/>
          <a:ea typeface="Calibri"/>
          <a:cs typeface="Calibri"/>
        </a:font>
        <a:schemeClr val="dk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chemeClr val="accent3"/>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3">
              <a:alpha val="40000"/>
            </a:schemeClr>
          </a:solidFill>
        </a:fill>
      </a:tcStyle>
    </a:band1H>
    <a:band2H>
      <a:tcTxStyle b="off" i="off"/>
    </a:band2H>
    <a:band1V>
      <a:tcTxStyle b="off" i="off"/>
      <a:tcStyle>
        <a:tcBdr>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tcBdr>
        <a:fill>
          <a:solidFill>
            <a:schemeClr val="accent3">
              <a:alpha val="40000"/>
            </a:schemeClr>
          </a:solidFill>
        </a:fill>
      </a:tcStyle>
    </a:band1V>
    <a:band2V>
      <a:tcTxStyle b="off" i="off"/>
    </a:band2V>
    <a:la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chemeClr val="accent3"/>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accent3"/>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Calibri"/>
          <a:ea typeface="Calibri"/>
          <a:cs typeface="Calibri"/>
        </a:font>
        <a:schemeClr val="lt1"/>
      </a:tcTxStyle>
      <a:tcStyle>
        <a:tcBdr>
          <a:left>
            <a:ln cap="flat" cmpd="sng" w="9525">
              <a:solidFill>
                <a:schemeClr val="accent3"/>
              </a:solidFill>
              <a:prstDash val="solid"/>
              <a:round/>
              <a:headEnd len="sm" w="sm" type="none"/>
              <a:tailEnd len="sm" w="sm" type="none"/>
            </a:ln>
          </a:left>
          <a:right>
            <a:ln cap="flat" cmpd="sng" w="9525">
              <a:solidFill>
                <a:schemeClr val="accent3"/>
              </a:solidFill>
              <a:prstDash val="solid"/>
              <a:round/>
              <a:headEnd len="sm" w="sm" type="none"/>
              <a:tailEnd len="sm" w="sm" type="none"/>
            </a:ln>
          </a:right>
          <a:top>
            <a:ln cap="flat" cmpd="sng" w="9525">
              <a:solidFill>
                <a:schemeClr val="accent3"/>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3"/>
          </a:solidFill>
        </a:fill>
      </a:tcStyle>
    </a:firstRow>
    <a:neCell>
      <a:tcTxStyle b="off" i="off"/>
    </a:neCell>
    <a:nwCell>
      <a:tcTxStyle b="off" i="off"/>
    </a:nwCell>
  </a:tblStyle>
  <a:tblStyle styleId="{517EBFEF-AE46-4249-8C86-2AD901888F10}" styleName="Table_1">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BF1E8"/>
          </a:solidFill>
        </a:fill>
      </a:tcStyle>
    </a:wholeTbl>
    <a:band1H>
      <a:tcTxStyle b="off" i="off"/>
      <a:tcStyle>
        <a:fill>
          <a:solidFill>
            <a:srgbClr val="D4E2CE"/>
          </a:solidFill>
        </a:fill>
      </a:tcStyle>
    </a:band1H>
    <a:band2H>
      <a:tcTxStyle b="off" i="off"/>
    </a:band2H>
    <a:band1V>
      <a:tcTxStyle b="off" i="off"/>
      <a:tcStyle>
        <a:fill>
          <a:solidFill>
            <a:srgbClr val="D4E2CE"/>
          </a:solidFill>
        </a:fill>
      </a:tcStyle>
    </a:band1V>
    <a:band2V>
      <a:tcTxStyle b="off" i="off"/>
    </a:band2V>
    <a:lastCol>
      <a:tcTxStyle b="on" i="off">
        <a:font>
          <a:latin typeface="Calibri"/>
          <a:ea typeface="Calibri"/>
          <a:cs typeface="Calibri"/>
        </a:font>
        <a:schemeClr val="lt1"/>
      </a:tcTxStyle>
      <a:tcStyle>
        <a:fill>
          <a:solidFill>
            <a:schemeClr val="accent6"/>
          </a:solidFill>
        </a:fill>
      </a:tcStyle>
    </a:lastCol>
    <a:firstCol>
      <a:tcTxStyle b="on" i="off">
        <a:font>
          <a:latin typeface="Calibri"/>
          <a:ea typeface="Calibri"/>
          <a:cs typeface="Calibri"/>
        </a:font>
        <a:schemeClr val="lt1"/>
      </a:tcTxStyle>
      <a:tcStyle>
        <a:fill>
          <a:solidFill>
            <a:schemeClr val="accent6"/>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6"/>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6"/>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17"/>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Teko-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Teko-regular.fntdata"/><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 name="Google Shape;9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6b01a5c7f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26b01a5c7f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26b01a5c7f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5" name="Google Shape;41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9" name="Google Shape;45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8" name="Google Shape;53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0" name="Google Shape;55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3" name="Google Shape;573;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4" name="Google Shape;58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7" name="Google Shape;60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2" name="Google Shape;61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3" name="Google Shape;63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0" name="Google Shape;680;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8" name="Google Shape;70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0" name="Google Shape;730;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6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6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6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6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7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7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72"/>
          <p:cNvSpPr/>
          <p:nvPr>
            <p:ph idx="2" type="pic"/>
          </p:nvPr>
        </p:nvSpPr>
        <p:spPr>
          <a:xfrm>
            <a:off x="5183188" y="987425"/>
            <a:ext cx="6172200" cy="4873625"/>
          </a:xfrm>
          <a:prstGeom prst="rect">
            <a:avLst/>
          </a:prstGeom>
          <a:noFill/>
          <a:ln>
            <a:noFill/>
          </a:ln>
        </p:spPr>
      </p:sp>
      <p:sp>
        <p:nvSpPr>
          <p:cNvPr id="71" name="Google Shape;71;p7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7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1.png"/><Relationship Id="rId2" Type="http://schemas.openxmlformats.org/officeDocument/2006/relationships/image" Target="../media/image8.jpg"/><Relationship Id="rId3" Type="http://schemas.openxmlformats.org/officeDocument/2006/relationships/image" Target="../media/image12.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theme" Target="../theme/theme2.xml"/><Relationship Id="rId14" Type="http://schemas.openxmlformats.org/officeDocument/2006/relationships/slideLayout" Target="../slideLayouts/slideLayout1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pic>
        <p:nvPicPr>
          <p:cNvPr id="15" name="Google Shape;15;p63"/>
          <p:cNvPicPr preferRelativeResize="0"/>
          <p:nvPr/>
        </p:nvPicPr>
        <p:blipFill rotWithShape="1">
          <a:blip r:embed="rId1">
            <a:alphaModFix amt="70000"/>
          </a:blip>
          <a:srcRect b="0" l="0" r="0" t="0"/>
          <a:stretch/>
        </p:blipFill>
        <p:spPr>
          <a:xfrm>
            <a:off x="9737468" y="278161"/>
            <a:ext cx="2344301" cy="822670"/>
          </a:xfrm>
          <a:prstGeom prst="rect">
            <a:avLst/>
          </a:prstGeom>
          <a:noFill/>
          <a:ln>
            <a:noFill/>
          </a:ln>
        </p:spPr>
      </p:pic>
      <p:pic>
        <p:nvPicPr>
          <p:cNvPr id="16" name="Google Shape;16;p63"/>
          <p:cNvPicPr preferRelativeResize="0"/>
          <p:nvPr/>
        </p:nvPicPr>
        <p:blipFill rotWithShape="1">
          <a:blip r:embed="rId2">
            <a:alphaModFix/>
          </a:blip>
          <a:srcRect b="0" l="0" r="0" t="0"/>
          <a:stretch/>
        </p:blipFill>
        <p:spPr>
          <a:xfrm>
            <a:off x="0" y="136525"/>
            <a:ext cx="2610036" cy="674702"/>
          </a:xfrm>
          <a:prstGeom prst="rect">
            <a:avLst/>
          </a:prstGeom>
          <a:noFill/>
          <a:ln>
            <a:noFill/>
          </a:ln>
        </p:spPr>
      </p:pic>
      <p:pic>
        <p:nvPicPr>
          <p:cNvPr id="17" name="Google Shape;17;p63"/>
          <p:cNvPicPr preferRelativeResize="0"/>
          <p:nvPr/>
        </p:nvPicPr>
        <p:blipFill rotWithShape="1">
          <a:blip r:embed="rId3">
            <a:alphaModFix amt="50000"/>
          </a:blip>
          <a:srcRect b="0" l="0" r="0" t="0"/>
          <a:stretch/>
        </p:blipFill>
        <p:spPr>
          <a:xfrm>
            <a:off x="10866436" y="4986336"/>
            <a:ext cx="1325564" cy="132556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explodingtopics.com/blog/data-generated-per-day"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0.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3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3.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8.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3.pn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8.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31.gif"/><Relationship Id="rId4" Type="http://schemas.openxmlformats.org/officeDocument/2006/relationships/image" Target="../media/image22.gi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3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8.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42.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nvSpPr>
        <p:spPr>
          <a:xfrm>
            <a:off x="1996925" y="1852802"/>
            <a:ext cx="8650627" cy="144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GB" sz="4400" u="none" cap="none" strike="noStrike">
                <a:solidFill>
                  <a:srgbClr val="132C4A"/>
                </a:solidFill>
                <a:latin typeface="Arial"/>
                <a:ea typeface="Arial"/>
                <a:cs typeface="Arial"/>
                <a:sym typeface="Arial"/>
              </a:rPr>
              <a:t>Introductory Programming and Problem-Solving Skills</a:t>
            </a:r>
            <a:endParaRPr b="0" i="0" sz="4400" u="none" cap="none" strike="noStrike">
              <a:solidFill>
                <a:schemeClr val="dk1"/>
              </a:solidFill>
              <a:latin typeface="Arial"/>
              <a:ea typeface="Arial"/>
              <a:cs typeface="Arial"/>
              <a:sym typeface="Arial"/>
            </a:endParaRPr>
          </a:p>
        </p:txBody>
      </p:sp>
      <p:sp>
        <p:nvSpPr>
          <p:cNvPr id="93" name="Google Shape;93;p1"/>
          <p:cNvSpPr txBox="1"/>
          <p:nvPr/>
        </p:nvSpPr>
        <p:spPr>
          <a:xfrm>
            <a:off x="5368310" y="4149824"/>
            <a:ext cx="1907855" cy="4308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0" lang="en-GB" sz="2200" u="none" cap="none" strike="noStrike">
                <a:solidFill>
                  <a:srgbClr val="132C4A"/>
                </a:solidFill>
                <a:latin typeface="Arial"/>
                <a:ea typeface="Arial"/>
                <a:cs typeface="Arial"/>
                <a:sym typeface="Arial"/>
              </a:rPr>
              <a:t>Week - 2</a:t>
            </a:r>
            <a:endParaRPr b="1" i="0" sz="2200" u="none" cap="none" strike="noStrike">
              <a:solidFill>
                <a:srgbClr val="132C4A"/>
              </a:solidFill>
              <a:latin typeface="Arial"/>
              <a:ea typeface="Arial"/>
              <a:cs typeface="Arial"/>
              <a:sym typeface="Arial"/>
            </a:endParaRPr>
          </a:p>
        </p:txBody>
      </p:sp>
      <p:sp>
        <p:nvSpPr>
          <p:cNvPr id="94" name="Google Shape;94;p1"/>
          <p:cNvSpPr txBox="1"/>
          <p:nvPr/>
        </p:nvSpPr>
        <p:spPr>
          <a:xfrm>
            <a:off x="3940367" y="5579876"/>
            <a:ext cx="431126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132C4A"/>
                </a:solidFill>
                <a:latin typeface="Arial"/>
                <a:ea typeface="Arial"/>
                <a:cs typeface="Arial"/>
                <a:sym typeface="Arial"/>
              </a:rPr>
              <a:t>Basanta Singh</a:t>
            </a:r>
            <a:endParaRPr b="1" i="0" sz="2400" u="none" cap="none" strike="noStrike">
              <a:solidFill>
                <a:srgbClr val="132C4A"/>
              </a:solidFill>
              <a:latin typeface="Arial"/>
              <a:ea typeface="Arial"/>
              <a:cs typeface="Arial"/>
              <a:sym typeface="Arial"/>
            </a:endParaRPr>
          </a:p>
        </p:txBody>
      </p:sp>
      <p:sp>
        <p:nvSpPr>
          <p:cNvPr id="95" name="Google Shape;95;p1"/>
          <p:cNvSpPr txBox="1"/>
          <p:nvPr>
            <p:ph idx="10" type="dt"/>
          </p:nvPr>
        </p:nvSpPr>
        <p:spPr>
          <a:xfrm>
            <a:off x="455818" y="6378402"/>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GB">
                <a:latin typeface="Arial"/>
                <a:ea typeface="Arial"/>
                <a:cs typeface="Arial"/>
                <a:sym typeface="Arial"/>
              </a:rPr>
              <a:t>24 November 2024</a:t>
            </a:r>
            <a:endParaRPr/>
          </a:p>
        </p:txBody>
      </p:sp>
      <p:sp>
        <p:nvSpPr>
          <p:cNvPr id="96" name="Google Shape;96;p1"/>
          <p:cNvSpPr txBox="1"/>
          <p:nvPr>
            <p:ph idx="11" type="ftr"/>
          </p:nvPr>
        </p:nvSpPr>
        <p:spPr>
          <a:xfrm>
            <a:off x="4034447" y="6380942"/>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lang="en-GB">
                <a:latin typeface="Arial"/>
                <a:ea typeface="Arial"/>
                <a:cs typeface="Arial"/>
                <a:sym typeface="Arial"/>
              </a:rPr>
              <a:t>Introductory Programming and Problem-Solving Skills</a:t>
            </a:r>
            <a:endParaRPr/>
          </a:p>
        </p:txBody>
      </p:sp>
      <p:sp>
        <p:nvSpPr>
          <p:cNvPr id="97" name="Google Shape;97;p1"/>
          <p:cNvSpPr txBox="1"/>
          <p:nvPr>
            <p:ph idx="12" type="sldNum"/>
          </p:nvPr>
        </p:nvSpPr>
        <p:spPr>
          <a:xfrm>
            <a:off x="8984676"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1" lang="en-GB">
                <a:latin typeface="Arial"/>
                <a:ea typeface="Arial"/>
                <a:cs typeface="Arial"/>
                <a:sym typeface="Arial"/>
              </a:rPr>
              <a:t>‹#›</a:t>
            </a:fld>
            <a:endParaRPr b="1">
              <a:latin typeface="Arial"/>
              <a:ea typeface="Arial"/>
              <a:cs typeface="Arial"/>
              <a:sym typeface="Arial"/>
            </a:endParaRPr>
          </a:p>
        </p:txBody>
      </p:sp>
      <p:sp>
        <p:nvSpPr>
          <p:cNvPr id="98" name="Google Shape;98;p1"/>
          <p:cNvSpPr txBox="1"/>
          <p:nvPr/>
        </p:nvSpPr>
        <p:spPr>
          <a:xfrm>
            <a:off x="3727119" y="3429000"/>
            <a:ext cx="5190236"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GB" sz="3200" u="none" cap="none" strike="noStrike">
                <a:solidFill>
                  <a:srgbClr val="00B050"/>
                </a:solidFill>
                <a:latin typeface="Arial"/>
                <a:ea typeface="Arial"/>
                <a:cs typeface="Arial"/>
                <a:sym typeface="Arial"/>
              </a:rPr>
              <a:t>DATA AND EXPRESSION</a:t>
            </a:r>
            <a:endParaRPr b="1" i="0" sz="3200" u="none" cap="none" strike="noStrike">
              <a:solidFill>
                <a:srgbClr val="00B05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idx="1" type="subTitle"/>
          </p:nvPr>
        </p:nvSpPr>
        <p:spPr>
          <a:xfrm>
            <a:off x="3176965" y="338117"/>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1. Let’s Recap</a:t>
            </a:r>
            <a:endParaRPr b="1" i="0" sz="4000">
              <a:solidFill>
                <a:srgbClr val="191919"/>
              </a:solidFill>
              <a:latin typeface="Arial"/>
              <a:ea typeface="Arial"/>
              <a:cs typeface="Arial"/>
              <a:sym typeface="Arial"/>
            </a:endParaRPr>
          </a:p>
        </p:txBody>
      </p:sp>
      <p:graphicFrame>
        <p:nvGraphicFramePr>
          <p:cNvPr id="105" name="Google Shape;105;p2"/>
          <p:cNvGraphicFramePr/>
          <p:nvPr/>
        </p:nvGraphicFramePr>
        <p:xfrm>
          <a:off x="-8792" y="8792"/>
          <a:ext cx="3000000" cy="3000000"/>
        </p:xfrm>
        <a:graphic>
          <a:graphicData uri="http://schemas.openxmlformats.org/drawingml/2006/table">
            <a:tbl>
              <a:tblPr>
                <a:gradFill>
                  <a:gsLst>
                    <a:gs pos="0">
                      <a:srgbClr val="D1D1D1"/>
                    </a:gs>
                    <a:gs pos="50000">
                      <a:srgbClr val="C7C7C7"/>
                    </a:gs>
                    <a:gs pos="100000">
                      <a:srgbClr val="C0C0C0"/>
                    </a:gs>
                  </a:gsLst>
                  <a:lin ang="5400000" scaled="0"/>
                </a:grad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1. Let’s Recap</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06" name="Google Shape;106;p2"/>
          <p:cNvSpPr/>
          <p:nvPr/>
        </p:nvSpPr>
        <p:spPr>
          <a:xfrm>
            <a:off x="2765536" y="1458886"/>
            <a:ext cx="8925569" cy="3970318"/>
          </a:xfrm>
          <a:prstGeom prst="rect">
            <a:avLst/>
          </a:prstGeom>
          <a:noFill/>
          <a:ln>
            <a:noFill/>
          </a:ln>
        </p:spPr>
        <p:txBody>
          <a:bodyPr anchorCtr="0" anchor="t" bIns="45700" lIns="91425" spcFirstLastPara="1" rIns="91425" wrap="square" tIns="45700">
            <a:spAutoFit/>
          </a:bodyPr>
          <a:lstStyle/>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Module Structure</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How to think like computer?</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Problem Solving Skills</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Algorithm, Flowchart and Pseudo code</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Introduction Python</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IDLE Editor</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Python Standard Library</a:t>
            </a:r>
            <a:endParaRPr b="0" i="0" sz="2400" u="none" cap="none" strike="noStrike">
              <a:solidFill>
                <a:schemeClr val="dk1"/>
              </a:solidFill>
              <a:latin typeface="Arial"/>
              <a:ea typeface="Arial"/>
              <a:cs typeface="Arial"/>
              <a:sym typeface="Arial"/>
            </a:endParaRPr>
          </a:p>
        </p:txBody>
      </p:sp>
      <p:cxnSp>
        <p:nvCxnSpPr>
          <p:cNvPr id="107" name="Google Shape;107;p2"/>
          <p:cNvCxnSpPr/>
          <p:nvPr/>
        </p:nvCxnSpPr>
        <p:spPr>
          <a:xfrm>
            <a:off x="3243467" y="1245030"/>
            <a:ext cx="7795835" cy="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idx="1" type="subTitle"/>
          </p:nvPr>
        </p:nvSpPr>
        <p:spPr>
          <a:xfrm>
            <a:off x="3176965" y="338117"/>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1.1 Researched?</a:t>
            </a:r>
            <a:endParaRPr b="1" i="0" sz="4000">
              <a:solidFill>
                <a:srgbClr val="191919"/>
              </a:solidFill>
              <a:latin typeface="Arial"/>
              <a:ea typeface="Arial"/>
              <a:cs typeface="Arial"/>
              <a:sym typeface="Arial"/>
            </a:endParaRPr>
          </a:p>
        </p:txBody>
      </p:sp>
      <p:graphicFrame>
        <p:nvGraphicFramePr>
          <p:cNvPr id="114" name="Google Shape;114;p3"/>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1.1 Researched?</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15" name="Google Shape;115;p3"/>
          <p:cNvSpPr/>
          <p:nvPr/>
        </p:nvSpPr>
        <p:spPr>
          <a:xfrm>
            <a:off x="2790474" y="1458886"/>
            <a:ext cx="8925569" cy="2308324"/>
          </a:xfrm>
          <a:prstGeom prst="rect">
            <a:avLst/>
          </a:prstGeom>
          <a:noFill/>
          <a:ln>
            <a:noFill/>
          </a:ln>
        </p:spPr>
        <p:txBody>
          <a:bodyPr anchorCtr="0" anchor="t" bIns="45700" lIns="91425" spcFirstLastPara="1" rIns="91425" wrap="square" tIns="45700">
            <a:spAutoFit/>
          </a:bodyPr>
          <a:lstStyle/>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What is variable?</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What is arithmetic operator?</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How To Take Input From User?</a:t>
            </a:r>
            <a:endParaRPr b="0" i="0" sz="1400" u="none" cap="none" strike="noStrike">
              <a:solidFill>
                <a:srgbClr val="000000"/>
              </a:solidFill>
              <a:latin typeface="Arial"/>
              <a:ea typeface="Arial"/>
              <a:cs typeface="Arial"/>
              <a:sym typeface="Arial"/>
            </a:endParaRPr>
          </a:p>
          <a:p>
            <a:pPr indent="-381000" lvl="0" marL="4572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How To Display Output To The User?</a:t>
            </a:r>
            <a:endParaRPr b="0" i="0" sz="1400" u="none" cap="none" strike="noStrike">
              <a:solidFill>
                <a:srgbClr val="000000"/>
              </a:solidFill>
              <a:latin typeface="Arial"/>
              <a:ea typeface="Arial"/>
              <a:cs typeface="Arial"/>
              <a:sym typeface="Arial"/>
            </a:endParaRPr>
          </a:p>
        </p:txBody>
      </p:sp>
      <p:cxnSp>
        <p:nvCxnSpPr>
          <p:cNvPr id="116" name="Google Shape;116;p3"/>
          <p:cNvCxnSpPr/>
          <p:nvPr/>
        </p:nvCxnSpPr>
        <p:spPr>
          <a:xfrm>
            <a:off x="3176965" y="1253344"/>
            <a:ext cx="7732800" cy="0"/>
          </a:xfrm>
          <a:prstGeom prst="straightConnector1">
            <a:avLst/>
          </a:prstGeom>
          <a:noFill/>
          <a:ln cap="flat" cmpd="sng" w="9525">
            <a:solidFill>
              <a:schemeClr val="dk1"/>
            </a:solidFill>
            <a:prstDash val="solid"/>
            <a:round/>
            <a:headEnd len="med" w="med" type="oval"/>
            <a:tailEnd len="med" w="med" type="oval"/>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idx="1" type="subTitle"/>
          </p:nvPr>
        </p:nvSpPr>
        <p:spPr>
          <a:xfrm>
            <a:off x="3176965" y="334505"/>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1.2 Let’s Discuss!!</a:t>
            </a:r>
            <a:endParaRPr b="1" i="0" sz="4000">
              <a:solidFill>
                <a:srgbClr val="191919"/>
              </a:solidFill>
              <a:latin typeface="Arial"/>
              <a:ea typeface="Arial"/>
              <a:cs typeface="Arial"/>
              <a:sym typeface="Arial"/>
            </a:endParaRPr>
          </a:p>
        </p:txBody>
      </p:sp>
      <p:graphicFrame>
        <p:nvGraphicFramePr>
          <p:cNvPr id="123" name="Google Shape;123;p4"/>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1.2 Variable</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24" name="Google Shape;124;p4"/>
          <p:cNvSpPr/>
          <p:nvPr/>
        </p:nvSpPr>
        <p:spPr>
          <a:xfrm>
            <a:off x="2765536" y="1458886"/>
            <a:ext cx="8925569" cy="646331"/>
          </a:xfrm>
          <a:prstGeom prst="rect">
            <a:avLst/>
          </a:prstGeom>
          <a:noFill/>
          <a:ln>
            <a:noFill/>
          </a:ln>
        </p:spPr>
        <p:txBody>
          <a:bodyPr anchorCtr="0" anchor="t" bIns="45700" lIns="91425" spcFirstLastPara="1" rIns="91425" wrap="square" tIns="45700">
            <a:spAutoFit/>
          </a:bodyPr>
          <a:lstStyle/>
          <a:p>
            <a:pPr indent="-381000" lvl="0" marL="457200" marR="0" rtl="0" algn="l">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What is variable?</a:t>
            </a:r>
            <a:endParaRPr b="0" i="0" sz="1400" u="none" cap="none" strike="noStrike">
              <a:solidFill>
                <a:srgbClr val="000000"/>
              </a:solidFill>
              <a:latin typeface="Arial"/>
              <a:ea typeface="Arial"/>
              <a:cs typeface="Arial"/>
              <a:sym typeface="Arial"/>
            </a:endParaRPr>
          </a:p>
        </p:txBody>
      </p:sp>
      <p:cxnSp>
        <p:nvCxnSpPr>
          <p:cNvPr id="125" name="Google Shape;125;p4"/>
          <p:cNvCxnSpPr/>
          <p:nvPr/>
        </p:nvCxnSpPr>
        <p:spPr>
          <a:xfrm>
            <a:off x="3176965" y="1195157"/>
            <a:ext cx="7870650" cy="0"/>
          </a:xfrm>
          <a:prstGeom prst="straightConnector1">
            <a:avLst/>
          </a:prstGeom>
          <a:noFill/>
          <a:ln cap="flat" cmpd="sng" w="9525">
            <a:solidFill>
              <a:schemeClr val="dk1"/>
            </a:solidFill>
            <a:prstDash val="solid"/>
            <a:round/>
            <a:headEnd len="med" w="med" type="oval"/>
            <a:tailEnd len="med" w="med" type="oval"/>
          </a:ln>
        </p:spPr>
      </p:cxnSp>
      <p:sp>
        <p:nvSpPr>
          <p:cNvPr id="126" name="Google Shape;126;p4"/>
          <p:cNvSpPr/>
          <p:nvPr/>
        </p:nvSpPr>
        <p:spPr>
          <a:xfrm>
            <a:off x="2765535" y="2093326"/>
            <a:ext cx="8925569"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 variable is “</a:t>
            </a:r>
            <a:r>
              <a:rPr b="1" i="0" lang="en-GB" sz="2400" u="none" cap="none" strike="noStrike">
                <a:solidFill>
                  <a:srgbClr val="00B0F0"/>
                </a:solidFill>
                <a:latin typeface="Arial"/>
                <a:ea typeface="Arial"/>
                <a:cs typeface="Arial"/>
                <a:sym typeface="Arial"/>
              </a:rPr>
              <a:t>a name that assigned to a value</a:t>
            </a:r>
            <a:r>
              <a:rPr b="0" i="0" lang="en-GB" sz="2400" u="none" cap="none" strike="noStrike">
                <a:solidFill>
                  <a:schemeClr val="dk1"/>
                </a:solidFill>
                <a:latin typeface="Arial"/>
                <a:ea typeface="Arial"/>
                <a:cs typeface="Arial"/>
                <a:sym typeface="Arial"/>
              </a:rPr>
              <a:t>”, as shown below.</a:t>
            </a:r>
            <a:endParaRPr b="0" i="0" sz="1400" u="none" cap="none" strike="noStrike">
              <a:solidFill>
                <a:srgbClr val="000000"/>
              </a:solidFill>
              <a:latin typeface="Arial"/>
              <a:ea typeface="Arial"/>
              <a:cs typeface="Arial"/>
              <a:sym typeface="Arial"/>
            </a:endParaRPr>
          </a:p>
        </p:txBody>
      </p:sp>
      <p:sp>
        <p:nvSpPr>
          <p:cNvPr id="127" name="Google Shape;127;p4"/>
          <p:cNvSpPr/>
          <p:nvPr/>
        </p:nvSpPr>
        <p:spPr>
          <a:xfrm>
            <a:off x="3646440" y="3452751"/>
            <a:ext cx="7163756"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n = 50                </a:t>
            </a:r>
            <a:r>
              <a:rPr b="0" i="0" lang="en-GB" sz="2400" u="none" cap="none" strike="noStrike">
                <a:solidFill>
                  <a:srgbClr val="D4650A"/>
                </a:solidFill>
                <a:latin typeface="Arial"/>
                <a:ea typeface="Arial"/>
                <a:cs typeface="Arial"/>
                <a:sym typeface="Arial"/>
              </a:rPr>
              <a:t>Variable n is assigned the value 50</a:t>
            </a:r>
            <a:endParaRPr b="0" i="0" sz="1800" u="none" cap="none" strike="noStrike">
              <a:solidFill>
                <a:srgbClr val="D4650A"/>
              </a:solidFill>
              <a:latin typeface="Arial"/>
              <a:ea typeface="Arial"/>
              <a:cs typeface="Arial"/>
              <a:sym typeface="Arial"/>
            </a:endParaRPr>
          </a:p>
        </p:txBody>
      </p:sp>
      <p:sp>
        <p:nvSpPr>
          <p:cNvPr id="128" name="Google Shape;128;p4"/>
          <p:cNvSpPr/>
          <p:nvPr/>
        </p:nvSpPr>
        <p:spPr>
          <a:xfrm>
            <a:off x="2765535" y="4267369"/>
            <a:ext cx="8925569"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Now, whenever variable n appears in a calculation, it is the value of n is that is used:</a:t>
            </a:r>
            <a:endParaRPr b="0" i="0" sz="1400" u="none" cap="none" strike="noStrike">
              <a:solidFill>
                <a:srgbClr val="000000"/>
              </a:solidFill>
              <a:latin typeface="Arial"/>
              <a:ea typeface="Arial"/>
              <a:cs typeface="Arial"/>
              <a:sym typeface="Arial"/>
            </a:endParaRPr>
          </a:p>
        </p:txBody>
      </p:sp>
      <p:sp>
        <p:nvSpPr>
          <p:cNvPr id="129" name="Google Shape;129;p4"/>
          <p:cNvSpPr/>
          <p:nvPr/>
        </p:nvSpPr>
        <p:spPr>
          <a:xfrm>
            <a:off x="3646440" y="5544080"/>
            <a:ext cx="3185487"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n + 20 </a:t>
            </a:r>
            <a:r>
              <a:rPr b="1" i="0" lang="en-GB" sz="2400" u="none" cap="none" strike="noStrike">
                <a:solidFill>
                  <a:srgbClr val="00B050"/>
                </a:solidFill>
                <a:latin typeface="Arial"/>
                <a:ea typeface="Arial"/>
                <a:cs typeface="Arial"/>
                <a:sym typeface="Arial"/>
              </a:rPr>
              <a:t>(50  + 20)</a:t>
            </a:r>
            <a:endParaRPr b="1" i="0" sz="1800" u="none" cap="none" strike="noStrike">
              <a:solidFill>
                <a:srgbClr val="00B05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txBox="1"/>
          <p:nvPr>
            <p:ph idx="1" type="subTitle"/>
          </p:nvPr>
        </p:nvSpPr>
        <p:spPr>
          <a:xfrm>
            <a:off x="3176965" y="338117"/>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1.2 Let’s Discuss!!</a:t>
            </a:r>
            <a:endParaRPr b="1" i="0" sz="4000">
              <a:solidFill>
                <a:srgbClr val="191919"/>
              </a:solidFill>
              <a:latin typeface="Arial"/>
              <a:ea typeface="Arial"/>
              <a:cs typeface="Arial"/>
              <a:sym typeface="Arial"/>
            </a:endParaRPr>
          </a:p>
        </p:txBody>
      </p:sp>
      <p:graphicFrame>
        <p:nvGraphicFramePr>
          <p:cNvPr id="136" name="Google Shape;136;p5"/>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1.2 Variable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1.3 Arithmetic Operator</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37" name="Google Shape;137;p5"/>
          <p:cNvSpPr/>
          <p:nvPr/>
        </p:nvSpPr>
        <p:spPr>
          <a:xfrm>
            <a:off x="2765536" y="1458886"/>
            <a:ext cx="8925569" cy="577850"/>
          </a:xfrm>
          <a:prstGeom prst="rect">
            <a:avLst/>
          </a:prstGeom>
          <a:noFill/>
          <a:ln>
            <a:noFill/>
          </a:ln>
        </p:spPr>
        <p:txBody>
          <a:bodyPr anchorCtr="0" anchor="t" bIns="45700" lIns="91425" spcFirstLastPara="1" rIns="91425" wrap="square" tIns="45700">
            <a:spAutoFit/>
          </a:bodyPr>
          <a:lstStyle/>
          <a:p>
            <a:pPr indent="-381000" lvl="0" marL="457200" marR="0" rtl="0" algn="l">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What is arithmetic operator?</a:t>
            </a:r>
            <a:endParaRPr b="0" i="0" sz="1400" u="none" cap="none" strike="noStrike">
              <a:solidFill>
                <a:srgbClr val="000000"/>
              </a:solidFill>
              <a:latin typeface="Arial"/>
              <a:ea typeface="Arial"/>
              <a:cs typeface="Arial"/>
              <a:sym typeface="Arial"/>
            </a:endParaRPr>
          </a:p>
        </p:txBody>
      </p:sp>
      <p:cxnSp>
        <p:nvCxnSpPr>
          <p:cNvPr id="138" name="Google Shape;138;p5"/>
          <p:cNvCxnSpPr/>
          <p:nvPr/>
        </p:nvCxnSpPr>
        <p:spPr>
          <a:xfrm>
            <a:off x="3176965" y="1195154"/>
            <a:ext cx="7862337" cy="0"/>
          </a:xfrm>
          <a:prstGeom prst="straightConnector1">
            <a:avLst/>
          </a:prstGeom>
          <a:noFill/>
          <a:ln cap="flat" cmpd="sng" w="9525">
            <a:solidFill>
              <a:schemeClr val="dk1"/>
            </a:solidFill>
            <a:prstDash val="solid"/>
            <a:round/>
            <a:headEnd len="med" w="med" type="oval"/>
            <a:tailEnd len="med" w="med" type="oval"/>
          </a:ln>
        </p:spPr>
      </p:cxnSp>
      <p:sp>
        <p:nvSpPr>
          <p:cNvPr id="139" name="Google Shape;139;p5"/>
          <p:cNvSpPr/>
          <p:nvPr/>
        </p:nvSpPr>
        <p:spPr>
          <a:xfrm>
            <a:off x="2765535" y="2093326"/>
            <a:ext cx="8925569"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Arithmetic Operators are </a:t>
            </a:r>
            <a:r>
              <a:rPr b="0" i="0" lang="en-GB" sz="2400" u="none" cap="none" strike="noStrike">
                <a:solidFill>
                  <a:srgbClr val="D4650A"/>
                </a:solidFill>
                <a:latin typeface="Arial"/>
                <a:ea typeface="Arial"/>
                <a:cs typeface="Arial"/>
                <a:sym typeface="Arial"/>
              </a:rPr>
              <a:t>operators</a:t>
            </a:r>
            <a:r>
              <a:rPr b="0" i="0" lang="en-GB" sz="2400" u="none" cap="none" strike="noStrike">
                <a:solidFill>
                  <a:schemeClr val="dk1"/>
                </a:solidFill>
                <a:latin typeface="Arial"/>
                <a:ea typeface="Arial"/>
                <a:cs typeface="Arial"/>
                <a:sym typeface="Arial"/>
              </a:rPr>
              <a:t> (</a:t>
            </a:r>
            <a:r>
              <a:rPr b="1" i="0" lang="en-GB" sz="2400" u="none" cap="none" strike="noStrike">
                <a:solidFill>
                  <a:srgbClr val="D4650A"/>
                </a:solidFill>
                <a:latin typeface="Arial"/>
                <a:ea typeface="Arial"/>
                <a:cs typeface="Arial"/>
                <a:sym typeface="Arial"/>
              </a:rPr>
              <a:t>symbols</a:t>
            </a:r>
            <a:r>
              <a:rPr b="0" i="0" lang="en-GB" sz="2400" u="none" cap="none" strike="noStrike">
                <a:solidFill>
                  <a:schemeClr val="dk1"/>
                </a:solidFill>
                <a:latin typeface="Arial"/>
                <a:ea typeface="Arial"/>
                <a:cs typeface="Arial"/>
                <a:sym typeface="Arial"/>
              </a:rPr>
              <a:t>) used to perform </a:t>
            </a:r>
            <a:r>
              <a:rPr b="1" i="0" lang="en-GB" sz="2400" u="none" cap="none" strike="noStrike">
                <a:solidFill>
                  <a:srgbClr val="00B0F0"/>
                </a:solidFill>
                <a:latin typeface="Arial"/>
                <a:ea typeface="Arial"/>
                <a:cs typeface="Arial"/>
                <a:sym typeface="Arial"/>
              </a:rPr>
              <a:t>mathematical calculations</a:t>
            </a:r>
            <a:r>
              <a:rPr b="0" i="0" lang="en-GB"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40" name="Google Shape;140;p5"/>
          <p:cNvSpPr/>
          <p:nvPr/>
        </p:nvSpPr>
        <p:spPr>
          <a:xfrm>
            <a:off x="2782583" y="3312528"/>
            <a:ext cx="8908521"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2400"/>
              <a:buFont typeface="Arial"/>
              <a:buChar char="•"/>
            </a:pPr>
            <a:r>
              <a:rPr b="0" i="0" lang="en-GB" sz="2400" u="none" cap="none" strike="noStrike">
                <a:solidFill>
                  <a:srgbClr val="D4650A"/>
                </a:solidFill>
                <a:latin typeface="Arial"/>
                <a:ea typeface="Arial"/>
                <a:cs typeface="Arial"/>
                <a:sym typeface="Arial"/>
              </a:rPr>
              <a:t>Addition</a:t>
            </a:r>
            <a:r>
              <a:rPr b="0" i="0" lang="en-GB" sz="2400" u="none" cap="none" strike="noStrike">
                <a:solidFill>
                  <a:schemeClr val="dk1"/>
                </a:solidFill>
                <a:latin typeface="Arial"/>
                <a:ea typeface="Arial"/>
                <a:cs typeface="Arial"/>
                <a:sym typeface="Arial"/>
              </a:rPr>
              <a:t>, </a:t>
            </a:r>
            <a:r>
              <a:rPr b="0" i="0" lang="en-GB" sz="2400" u="none" cap="none" strike="noStrike">
                <a:solidFill>
                  <a:srgbClr val="D4650A"/>
                </a:solidFill>
                <a:latin typeface="Arial"/>
                <a:ea typeface="Arial"/>
                <a:cs typeface="Arial"/>
                <a:sym typeface="Arial"/>
              </a:rPr>
              <a:t>subtraction</a:t>
            </a:r>
            <a:r>
              <a:rPr b="0" i="0" lang="en-GB" sz="2400" u="none" cap="none" strike="noStrike">
                <a:solidFill>
                  <a:schemeClr val="dk1"/>
                </a:solidFill>
                <a:latin typeface="Arial"/>
                <a:ea typeface="Arial"/>
                <a:cs typeface="Arial"/>
                <a:sym typeface="Arial"/>
              </a:rPr>
              <a:t>, and </a:t>
            </a:r>
            <a:r>
              <a:rPr b="0" i="0" lang="en-GB" sz="2400" u="none" cap="none" strike="noStrike">
                <a:solidFill>
                  <a:srgbClr val="D4650A"/>
                </a:solidFill>
                <a:latin typeface="Arial"/>
                <a:ea typeface="Arial"/>
                <a:cs typeface="Arial"/>
                <a:sym typeface="Arial"/>
              </a:rPr>
              <a:t>division</a:t>
            </a:r>
            <a:r>
              <a:rPr b="0" i="0" lang="en-GB" sz="2400" u="none" cap="none" strike="noStrike">
                <a:solidFill>
                  <a:schemeClr val="dk1"/>
                </a:solidFill>
                <a:latin typeface="Arial"/>
                <a:ea typeface="Arial"/>
                <a:cs typeface="Arial"/>
                <a:sym typeface="Arial"/>
              </a:rPr>
              <a:t> use standard mathematical notation. </a:t>
            </a:r>
            <a:r>
              <a:rPr b="0" i="0" lang="en-GB" sz="2400" u="none" cap="none" strike="noStrike">
                <a:solidFill>
                  <a:srgbClr val="00B0F0"/>
                </a:solidFill>
                <a:latin typeface="Arial"/>
                <a:ea typeface="Arial"/>
                <a:cs typeface="Arial"/>
                <a:sym typeface="Arial"/>
              </a:rPr>
              <a:t>For example, 2+5, 5-2, 4/2</a:t>
            </a:r>
            <a:r>
              <a:rPr b="0" i="0" lang="en-GB" sz="24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141" name="Google Shape;141;p5"/>
          <p:cNvSpPr/>
          <p:nvPr/>
        </p:nvSpPr>
        <p:spPr>
          <a:xfrm>
            <a:off x="2782583" y="4297404"/>
            <a:ext cx="8763795" cy="156962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2400"/>
              <a:buFont typeface="Arial"/>
              <a:buChar char="•"/>
            </a:pPr>
            <a:r>
              <a:rPr b="0" i="0" lang="en-GB" sz="2400" u="none" cap="none" strike="noStrike">
                <a:solidFill>
                  <a:srgbClr val="D4650A"/>
                </a:solidFill>
                <a:latin typeface="Arial"/>
                <a:ea typeface="Arial"/>
                <a:cs typeface="Arial"/>
                <a:sym typeface="Arial"/>
              </a:rPr>
              <a:t>Multiplication</a:t>
            </a:r>
            <a:r>
              <a:rPr b="0" i="0" lang="en-GB" sz="2400" u="none" cap="none" strike="noStrike">
                <a:solidFill>
                  <a:schemeClr val="dk1"/>
                </a:solidFill>
                <a:latin typeface="Arial"/>
                <a:ea typeface="Arial"/>
                <a:cs typeface="Arial"/>
                <a:sym typeface="Arial"/>
              </a:rPr>
              <a:t> and </a:t>
            </a:r>
            <a:r>
              <a:rPr b="0" i="0" lang="en-GB" sz="2400" u="none" cap="none" strike="noStrike">
                <a:solidFill>
                  <a:srgbClr val="D4650A"/>
                </a:solidFill>
                <a:latin typeface="Arial"/>
                <a:ea typeface="Arial"/>
                <a:cs typeface="Arial"/>
                <a:sym typeface="Arial"/>
              </a:rPr>
              <a:t>exponential</a:t>
            </a:r>
            <a:r>
              <a:rPr b="0" i="0" lang="en-GB" sz="2400" u="none" cap="none" strike="noStrike">
                <a:solidFill>
                  <a:schemeClr val="dk1"/>
                </a:solidFill>
                <a:latin typeface="Arial"/>
                <a:ea typeface="Arial"/>
                <a:cs typeface="Arial"/>
                <a:sym typeface="Arial"/>
              </a:rPr>
              <a:t> (*) can used. </a:t>
            </a:r>
            <a:endParaRPr/>
          </a:p>
          <a:p>
            <a:pPr indent="0" lvl="0" marL="0" marR="0" rtl="0" algn="just">
              <a:lnSpc>
                <a:spcPct val="100000"/>
              </a:lnSpc>
              <a:spcBef>
                <a:spcPts val="0"/>
              </a:spcBef>
              <a:spcAft>
                <a:spcPts val="0"/>
              </a:spcAft>
              <a:buNone/>
            </a:pPr>
            <a:r>
              <a:rPr b="0" i="0" lang="en-GB" sz="2400" u="none" cap="none" strike="noStrike">
                <a:solidFill>
                  <a:schemeClr val="dk1"/>
                </a:solidFill>
                <a:latin typeface="Arial"/>
                <a:ea typeface="Arial"/>
                <a:cs typeface="Arial"/>
                <a:sym typeface="Arial"/>
              </a:rPr>
              <a:t>For example, </a:t>
            </a:r>
            <a:endParaRPr/>
          </a:p>
          <a:p>
            <a:pPr indent="0" lvl="0" marL="0" marR="0" rtl="0" algn="just">
              <a:lnSpc>
                <a:spcPct val="100000"/>
              </a:lnSpc>
              <a:spcBef>
                <a:spcPts val="0"/>
              </a:spcBef>
              <a:spcAft>
                <a:spcPts val="0"/>
              </a:spcAft>
              <a:buNone/>
            </a:pPr>
            <a:r>
              <a:rPr b="0" i="0" lang="en-GB" sz="2400" u="none" cap="none" strike="noStrike">
                <a:solidFill>
                  <a:schemeClr val="dk1"/>
                </a:solidFill>
                <a:latin typeface="Arial"/>
                <a:ea typeface="Arial"/>
                <a:cs typeface="Arial"/>
                <a:sym typeface="Arial"/>
              </a:rPr>
              <a:t>5 * 10 (5 times 10),</a:t>
            </a:r>
            <a:endParaRPr/>
          </a:p>
          <a:p>
            <a:pPr indent="0" lvl="0" marL="0" marR="0" rtl="0" algn="just">
              <a:lnSpc>
                <a:spcPct val="100000"/>
              </a:lnSpc>
              <a:spcBef>
                <a:spcPts val="0"/>
              </a:spcBef>
              <a:spcAft>
                <a:spcPts val="0"/>
              </a:spcAft>
              <a:buNone/>
            </a:pPr>
            <a:r>
              <a:rPr b="0" i="0" lang="en-GB" sz="2400" u="none" cap="none" strike="noStrike">
                <a:solidFill>
                  <a:schemeClr val="dk1"/>
                </a:solidFill>
                <a:latin typeface="Arial"/>
                <a:ea typeface="Arial"/>
                <a:cs typeface="Arial"/>
                <a:sym typeface="Arial"/>
              </a:rPr>
              <a:t>2** 4 (2 to the 4</a:t>
            </a:r>
            <a:r>
              <a:rPr b="0" baseline="30000" i="0" lang="en-GB" sz="2400" u="none" cap="none" strike="noStrike">
                <a:solidFill>
                  <a:schemeClr val="dk1"/>
                </a:solidFill>
                <a:latin typeface="Arial"/>
                <a:ea typeface="Arial"/>
                <a:cs typeface="Arial"/>
                <a:sym typeface="Arial"/>
              </a:rPr>
              <a:t>th</a:t>
            </a:r>
            <a:r>
              <a:rPr b="0" i="0" lang="en-GB" sz="2400" u="none" cap="none" strike="noStrike">
                <a:solidFill>
                  <a:schemeClr val="dk1"/>
                </a:solidFill>
                <a:latin typeface="Arial"/>
                <a:ea typeface="Arial"/>
                <a:cs typeface="Arial"/>
                <a:sym typeface="Arial"/>
              </a:rPr>
              <a:t> power.)</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idx="1" type="subTitle"/>
          </p:nvPr>
        </p:nvSpPr>
        <p:spPr>
          <a:xfrm>
            <a:off x="3176965" y="338117"/>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1.4 Let’s Discuss!!</a:t>
            </a:r>
            <a:endParaRPr b="1" i="0" sz="4000">
              <a:solidFill>
                <a:srgbClr val="191919"/>
              </a:solidFill>
              <a:latin typeface="Arial"/>
              <a:ea typeface="Arial"/>
              <a:cs typeface="Arial"/>
              <a:sym typeface="Arial"/>
            </a:endParaRPr>
          </a:p>
        </p:txBody>
      </p:sp>
      <p:graphicFrame>
        <p:nvGraphicFramePr>
          <p:cNvPr id="148" name="Google Shape;148;p6"/>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1.2 Variable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1.3 Arithmetic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1.4 Basic Input</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49" name="Google Shape;149;p6"/>
          <p:cNvSpPr/>
          <p:nvPr/>
        </p:nvSpPr>
        <p:spPr>
          <a:xfrm>
            <a:off x="2765536" y="1458886"/>
            <a:ext cx="8925569" cy="57785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400"/>
              <a:buFont typeface="Noto Sans Symbols"/>
              <a:buChar char="⮚"/>
            </a:pPr>
            <a:r>
              <a:rPr b="1" i="0" lang="en-GB" sz="2400" u="none" cap="none" strike="noStrike">
                <a:solidFill>
                  <a:schemeClr val="dk1"/>
                </a:solidFill>
                <a:latin typeface="Arial"/>
                <a:ea typeface="Arial"/>
                <a:cs typeface="Arial"/>
                <a:sym typeface="Arial"/>
              </a:rPr>
              <a:t>How To Take Input From User?</a:t>
            </a:r>
            <a:endParaRPr b="0" i="0" sz="1400" u="none" cap="none" strike="noStrike">
              <a:solidFill>
                <a:srgbClr val="000000"/>
              </a:solidFill>
              <a:latin typeface="Arial"/>
              <a:ea typeface="Arial"/>
              <a:cs typeface="Arial"/>
              <a:sym typeface="Arial"/>
            </a:endParaRPr>
          </a:p>
        </p:txBody>
      </p:sp>
      <p:cxnSp>
        <p:nvCxnSpPr>
          <p:cNvPr id="150" name="Google Shape;150;p6"/>
          <p:cNvCxnSpPr/>
          <p:nvPr/>
        </p:nvCxnSpPr>
        <p:spPr>
          <a:xfrm>
            <a:off x="3176965" y="1220096"/>
            <a:ext cx="7732800" cy="0"/>
          </a:xfrm>
          <a:prstGeom prst="straightConnector1">
            <a:avLst/>
          </a:prstGeom>
          <a:noFill/>
          <a:ln cap="flat" cmpd="sng" w="9525">
            <a:solidFill>
              <a:schemeClr val="dk1"/>
            </a:solidFill>
            <a:prstDash val="solid"/>
            <a:round/>
            <a:headEnd len="med" w="med" type="oval"/>
            <a:tailEnd len="med" w="med" type="oval"/>
          </a:ln>
        </p:spPr>
      </p:cxnSp>
      <p:sp>
        <p:nvSpPr>
          <p:cNvPr id="151" name="Google Shape;151;p6"/>
          <p:cNvSpPr/>
          <p:nvPr/>
        </p:nvSpPr>
        <p:spPr>
          <a:xfrm>
            <a:off x="2765535" y="2093326"/>
            <a:ext cx="8925569"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program that we will </a:t>
            </a:r>
            <a:r>
              <a:rPr b="0" i="0" lang="en-GB" sz="2400" u="none" cap="none" strike="noStrike">
                <a:solidFill>
                  <a:srgbClr val="D4650A"/>
                </a:solidFill>
                <a:latin typeface="Arial"/>
                <a:ea typeface="Arial"/>
                <a:cs typeface="Arial"/>
                <a:sym typeface="Arial"/>
              </a:rPr>
              <a:t>request</a:t>
            </a:r>
            <a:r>
              <a:rPr b="0" i="0" lang="en-GB" sz="2400" u="none" cap="none" strike="noStrike">
                <a:solidFill>
                  <a:schemeClr val="dk1"/>
                </a:solidFill>
                <a:latin typeface="Arial"/>
                <a:ea typeface="Arial"/>
                <a:cs typeface="Arial"/>
                <a:sym typeface="Arial"/>
              </a:rPr>
              <a:t> and get </a:t>
            </a:r>
            <a:r>
              <a:rPr b="0" i="0" lang="en-GB" sz="2400" u="none" cap="none" strike="noStrike">
                <a:solidFill>
                  <a:srgbClr val="D4650A"/>
                </a:solidFill>
                <a:latin typeface="Arial"/>
                <a:ea typeface="Arial"/>
                <a:cs typeface="Arial"/>
                <a:sym typeface="Arial"/>
              </a:rPr>
              <a:t>information</a:t>
            </a:r>
            <a:r>
              <a:rPr b="0" i="0" lang="en-GB" sz="2400" u="none" cap="none" strike="noStrike">
                <a:solidFill>
                  <a:schemeClr val="dk1"/>
                </a:solidFill>
                <a:latin typeface="Arial"/>
                <a:ea typeface="Arial"/>
                <a:cs typeface="Arial"/>
                <a:sym typeface="Arial"/>
              </a:rPr>
              <a:t> from the user. In Python, the </a:t>
            </a:r>
            <a:r>
              <a:rPr b="1" i="0" lang="en-GB" sz="2400" u="none" cap="none" strike="noStrike">
                <a:solidFill>
                  <a:srgbClr val="D4650A"/>
                </a:solidFill>
                <a:latin typeface="Arial"/>
                <a:ea typeface="Arial"/>
                <a:cs typeface="Arial"/>
                <a:sym typeface="Arial"/>
              </a:rPr>
              <a:t>input function </a:t>
            </a:r>
            <a:r>
              <a:rPr b="0" i="0" lang="en-GB" sz="2400" u="none" cap="none" strike="noStrike">
                <a:solidFill>
                  <a:schemeClr val="dk1"/>
                </a:solidFill>
                <a:latin typeface="Arial"/>
                <a:ea typeface="Arial"/>
                <a:cs typeface="Arial"/>
                <a:sym typeface="Arial"/>
              </a:rPr>
              <a:t>is used for this purpose.</a:t>
            </a:r>
            <a:endParaRPr b="0" i="0" sz="1400" u="none" cap="none" strike="noStrike">
              <a:solidFill>
                <a:srgbClr val="000000"/>
              </a:solidFill>
              <a:latin typeface="Arial"/>
              <a:ea typeface="Arial"/>
              <a:cs typeface="Arial"/>
              <a:sym typeface="Arial"/>
            </a:endParaRPr>
          </a:p>
        </p:txBody>
      </p:sp>
      <p:sp>
        <p:nvSpPr>
          <p:cNvPr id="152" name="Google Shape;152;p6"/>
          <p:cNvSpPr/>
          <p:nvPr/>
        </p:nvSpPr>
        <p:spPr>
          <a:xfrm>
            <a:off x="4149784" y="3350245"/>
            <a:ext cx="555152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rgbClr val="00B0F0"/>
                </a:solidFill>
                <a:latin typeface="Arial"/>
                <a:ea typeface="Arial"/>
                <a:cs typeface="Arial"/>
                <a:sym typeface="Arial"/>
              </a:rPr>
              <a:t>name = input('What is your name?: ')</a:t>
            </a:r>
            <a:endParaRPr b="0" i="0" sz="1400" u="none" cap="none" strike="noStrike">
              <a:solidFill>
                <a:srgbClr val="000000"/>
              </a:solidFill>
              <a:latin typeface="Arial"/>
              <a:ea typeface="Arial"/>
              <a:cs typeface="Arial"/>
              <a:sym typeface="Arial"/>
            </a:endParaRPr>
          </a:p>
        </p:txBody>
      </p:sp>
      <p:sp>
        <p:nvSpPr>
          <p:cNvPr id="153" name="Google Shape;153;p6"/>
          <p:cNvSpPr/>
          <p:nvPr/>
        </p:nvSpPr>
        <p:spPr>
          <a:xfrm>
            <a:off x="2765535" y="3884599"/>
            <a:ext cx="8925569"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Characters within quotes are called</a:t>
            </a:r>
            <a:r>
              <a:rPr b="0" i="0" lang="en-GB" sz="2400" u="none" cap="none" strike="noStrike">
                <a:solidFill>
                  <a:srgbClr val="002FC4"/>
                </a:solidFill>
                <a:latin typeface="Arial"/>
                <a:ea typeface="Arial"/>
                <a:cs typeface="Arial"/>
                <a:sym typeface="Arial"/>
              </a:rPr>
              <a:t> </a:t>
            </a:r>
            <a:r>
              <a:rPr b="0" i="0" lang="en-GB" sz="2400" u="none" cap="none" strike="noStrike">
                <a:solidFill>
                  <a:srgbClr val="D4650A"/>
                </a:solidFill>
                <a:latin typeface="Arial"/>
                <a:ea typeface="Arial"/>
                <a:cs typeface="Arial"/>
                <a:sym typeface="Arial"/>
              </a:rPr>
              <a:t>Strings</a:t>
            </a:r>
            <a:r>
              <a:rPr b="0" i="1" lang="en-GB" sz="2400" u="none" cap="none" strike="noStrike">
                <a:solidFill>
                  <a:schemeClr val="dk1"/>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This particular use of a string, for requesting input from the user, is called a </a:t>
            </a:r>
            <a:r>
              <a:rPr b="0" i="0" lang="en-GB" sz="2400" u="none" cap="none" strike="noStrike">
                <a:solidFill>
                  <a:srgbClr val="D4650A"/>
                </a:solidFill>
                <a:latin typeface="Arial"/>
                <a:ea typeface="Arial"/>
                <a:cs typeface="Arial"/>
                <a:sym typeface="Arial"/>
              </a:rPr>
              <a:t>prompt</a:t>
            </a:r>
            <a:r>
              <a:rPr b="0" i="0" lang="en-GB"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54" name="Google Shape;154;p6"/>
          <p:cNvSpPr/>
          <p:nvPr/>
        </p:nvSpPr>
        <p:spPr>
          <a:xfrm>
            <a:off x="2765535" y="5210859"/>
            <a:ext cx="8925569"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input function displays the string on the screen to prompt the user for input,</a:t>
            </a:r>
            <a:endParaRPr b="0" i="0" sz="1400" u="none" cap="none" strike="noStrike">
              <a:solidFill>
                <a:srgbClr val="000000"/>
              </a:solidFill>
              <a:latin typeface="Arial"/>
              <a:ea typeface="Arial"/>
              <a:cs typeface="Arial"/>
              <a:sym typeface="Arial"/>
            </a:endParaRPr>
          </a:p>
        </p:txBody>
      </p:sp>
      <p:sp>
        <p:nvSpPr>
          <p:cNvPr id="155" name="Google Shape;155;p6"/>
          <p:cNvSpPr/>
          <p:nvPr/>
        </p:nvSpPr>
        <p:spPr>
          <a:xfrm>
            <a:off x="4890370" y="6160649"/>
            <a:ext cx="4305987"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rgbClr val="00B0F0"/>
                </a:solidFill>
                <a:latin typeface="Arial"/>
                <a:ea typeface="Arial"/>
                <a:cs typeface="Arial"/>
                <a:sym typeface="Arial"/>
              </a:rPr>
              <a:t>What is your name?: </a:t>
            </a:r>
            <a:r>
              <a:rPr b="1" i="0" lang="en-GB" sz="2400" u="sng" cap="none" strike="noStrike">
                <a:solidFill>
                  <a:srgbClr val="00B0F0"/>
                </a:solidFill>
                <a:latin typeface="Arial"/>
                <a:ea typeface="Arial"/>
                <a:cs typeface="Arial"/>
                <a:sym typeface="Arial"/>
              </a:rPr>
              <a:t>Jeffrey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 type="subTitle"/>
          </p:nvPr>
        </p:nvSpPr>
        <p:spPr>
          <a:xfrm>
            <a:off x="3176965" y="338117"/>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1.5 Let’s Discuss!!</a:t>
            </a:r>
            <a:endParaRPr b="1" i="0" sz="4000">
              <a:solidFill>
                <a:srgbClr val="191919"/>
              </a:solidFill>
              <a:latin typeface="Arial"/>
              <a:ea typeface="Arial"/>
              <a:cs typeface="Arial"/>
              <a:sym typeface="Arial"/>
            </a:endParaRPr>
          </a:p>
        </p:txBody>
      </p:sp>
      <p:graphicFrame>
        <p:nvGraphicFramePr>
          <p:cNvPr id="162" name="Google Shape;162;p7"/>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1.2 Variable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1.3 Arithmetic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1.4 Basic Input</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1.5 Basic Output</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63" name="Google Shape;163;p7"/>
          <p:cNvSpPr/>
          <p:nvPr/>
        </p:nvSpPr>
        <p:spPr>
          <a:xfrm>
            <a:off x="2765536" y="1458886"/>
            <a:ext cx="8925569" cy="577850"/>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400"/>
              <a:buFont typeface="Noto Sans Symbols"/>
              <a:buChar char="⮚"/>
            </a:pPr>
            <a:r>
              <a:rPr b="1" i="0" lang="en-GB" sz="2400" u="none" cap="none" strike="noStrike">
                <a:solidFill>
                  <a:schemeClr val="dk1"/>
                </a:solidFill>
                <a:latin typeface="Arial"/>
                <a:ea typeface="Arial"/>
                <a:cs typeface="Arial"/>
                <a:sym typeface="Arial"/>
              </a:rPr>
              <a:t>How To Display Output To The User?</a:t>
            </a:r>
            <a:endParaRPr b="0" i="0" sz="1400" u="none" cap="none" strike="noStrike">
              <a:solidFill>
                <a:srgbClr val="000000"/>
              </a:solidFill>
              <a:latin typeface="Arial"/>
              <a:ea typeface="Arial"/>
              <a:cs typeface="Arial"/>
              <a:sym typeface="Arial"/>
            </a:endParaRPr>
          </a:p>
        </p:txBody>
      </p:sp>
      <p:cxnSp>
        <p:nvCxnSpPr>
          <p:cNvPr id="164" name="Google Shape;164;p7"/>
          <p:cNvCxnSpPr/>
          <p:nvPr/>
        </p:nvCxnSpPr>
        <p:spPr>
          <a:xfrm>
            <a:off x="3176965" y="1195157"/>
            <a:ext cx="7732800" cy="0"/>
          </a:xfrm>
          <a:prstGeom prst="straightConnector1">
            <a:avLst/>
          </a:prstGeom>
          <a:noFill/>
          <a:ln cap="flat" cmpd="sng" w="9525">
            <a:solidFill>
              <a:schemeClr val="dk1"/>
            </a:solidFill>
            <a:prstDash val="solid"/>
            <a:round/>
            <a:headEnd len="med" w="med" type="oval"/>
            <a:tailEnd len="med" w="med" type="oval"/>
          </a:ln>
        </p:spPr>
      </p:cxnSp>
      <p:sp>
        <p:nvSpPr>
          <p:cNvPr id="165" name="Google Shape;165;p7"/>
          <p:cNvSpPr/>
          <p:nvPr/>
        </p:nvSpPr>
        <p:spPr>
          <a:xfrm>
            <a:off x="2765535" y="2093326"/>
            <a:ext cx="8925569" cy="120032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a:t>
            </a:r>
            <a:r>
              <a:rPr b="1" i="0" lang="en-GB" sz="2400" u="none" cap="none" strike="noStrike">
                <a:solidFill>
                  <a:srgbClr val="D4650A"/>
                </a:solidFill>
                <a:latin typeface="Arial"/>
                <a:ea typeface="Arial"/>
                <a:cs typeface="Arial"/>
                <a:sym typeface="Arial"/>
              </a:rPr>
              <a:t>print</a:t>
            </a:r>
            <a:r>
              <a:rPr b="0" i="0" lang="en-GB" sz="2400" u="none" cap="none" strike="noStrike">
                <a:solidFill>
                  <a:schemeClr val="dk1"/>
                </a:solidFill>
                <a:latin typeface="Arial"/>
                <a:ea typeface="Arial"/>
                <a:cs typeface="Arial"/>
                <a:sym typeface="Arial"/>
              </a:rPr>
              <a:t> function is used to display information on the screen in Python.</a:t>
            </a:r>
            <a:endParaRPr b="0" i="0" sz="1400" u="none" cap="none" strike="noStrike">
              <a:solidFill>
                <a:srgbClr val="000000"/>
              </a:solidFill>
              <a:latin typeface="Arial"/>
              <a:ea typeface="Arial"/>
              <a:cs typeface="Arial"/>
              <a:sym typeface="Arial"/>
            </a:endParaRPr>
          </a:p>
        </p:txBody>
      </p:sp>
      <p:sp>
        <p:nvSpPr>
          <p:cNvPr id="166" name="Google Shape;166;p7"/>
          <p:cNvSpPr/>
          <p:nvPr/>
        </p:nvSpPr>
        <p:spPr>
          <a:xfrm>
            <a:off x="4086838" y="3379053"/>
            <a:ext cx="6282961"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B0F0"/>
                </a:solidFill>
                <a:latin typeface="Arial"/>
                <a:ea typeface="Arial"/>
                <a:cs typeface="Arial"/>
                <a:sym typeface="Arial"/>
              </a:rPr>
              <a:t>&gt;&gt;&gt; print ('Welcome to My First Program!')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B0F0"/>
                </a:solidFill>
                <a:latin typeface="Arial"/>
                <a:ea typeface="Arial"/>
                <a:cs typeface="Arial"/>
                <a:sym typeface="Arial"/>
              </a:rPr>
              <a:t>Welcome to My First Program!</a:t>
            </a:r>
            <a:endParaRPr b="0" i="0" sz="1400" u="none" cap="none" strike="noStrike">
              <a:solidFill>
                <a:srgbClr val="000000"/>
              </a:solidFill>
              <a:latin typeface="Arial"/>
              <a:ea typeface="Arial"/>
              <a:cs typeface="Arial"/>
              <a:sym typeface="Arial"/>
            </a:endParaRPr>
          </a:p>
        </p:txBody>
      </p:sp>
      <p:sp>
        <p:nvSpPr>
          <p:cNvPr id="167" name="Google Shape;167;p7"/>
          <p:cNvSpPr/>
          <p:nvPr/>
        </p:nvSpPr>
        <p:spPr>
          <a:xfrm>
            <a:off x="2896750" y="4234939"/>
            <a:ext cx="8925569" cy="64629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or used to output the value of a variable you have defined:</a:t>
            </a:r>
            <a:endParaRPr b="0" i="0" sz="2400" u="none" cap="none" strike="noStrike">
              <a:solidFill>
                <a:schemeClr val="dk1"/>
              </a:solidFill>
              <a:latin typeface="Arial"/>
              <a:ea typeface="Arial"/>
              <a:cs typeface="Arial"/>
              <a:sym typeface="Arial"/>
            </a:endParaRPr>
          </a:p>
        </p:txBody>
      </p:sp>
      <p:sp>
        <p:nvSpPr>
          <p:cNvPr id="168" name="Google Shape;168;p7"/>
          <p:cNvSpPr/>
          <p:nvPr/>
        </p:nvSpPr>
        <p:spPr>
          <a:xfrm>
            <a:off x="4086838" y="4803934"/>
            <a:ext cx="1784463"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B0F0"/>
                </a:solidFill>
                <a:latin typeface="Arial"/>
                <a:ea typeface="Arial"/>
                <a:cs typeface="Arial"/>
                <a:sym typeface="Arial"/>
              </a:rPr>
              <a:t>&gt;&gt;&gt; n = 10</a:t>
            </a:r>
            <a:endParaRPr b="0" i="0" sz="24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B0F0"/>
                </a:solidFill>
                <a:latin typeface="Arial"/>
                <a:ea typeface="Arial"/>
                <a:cs typeface="Arial"/>
                <a:sym typeface="Arial"/>
              </a:rPr>
              <a:t>&gt;&gt;&gt; print(n)</a:t>
            </a:r>
            <a:endParaRPr b="0" i="0" sz="2400" u="none" cap="none" strike="noStrike">
              <a:solidFill>
                <a:srgbClr val="00B0F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B0F0"/>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169" name="Google Shape;169;p7"/>
          <p:cNvSpPr/>
          <p:nvPr/>
        </p:nvSpPr>
        <p:spPr>
          <a:xfrm>
            <a:off x="2510445" y="6198698"/>
            <a:ext cx="9698181"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GB" sz="1800" u="none" cap="none" strike="noStrike">
                <a:solidFill>
                  <a:srgbClr val="FF0000"/>
                </a:solidFill>
                <a:latin typeface="Arial"/>
                <a:ea typeface="Arial"/>
                <a:cs typeface="Arial"/>
                <a:sym typeface="Arial"/>
              </a:rPr>
              <a:t>We will learn more about variables, operators, and input/output in further slides.</a:t>
            </a:r>
            <a:endParaRPr b="1" i="0" sz="1800" u="none" cap="none" strike="noStrike">
              <a:solidFill>
                <a:srgbClr val="FF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txBox="1"/>
          <p:nvPr/>
        </p:nvSpPr>
        <p:spPr>
          <a:xfrm>
            <a:off x="1814047" y="2726417"/>
            <a:ext cx="8650627"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GB" sz="4400" u="none" cap="none" strike="noStrike">
                <a:solidFill>
                  <a:srgbClr val="132C4A"/>
                </a:solidFill>
                <a:latin typeface="Arial"/>
                <a:ea typeface="Arial"/>
                <a:cs typeface="Arial"/>
                <a:sym typeface="Arial"/>
              </a:rPr>
              <a:t>Data and Expression</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idx="1" type="subTitle"/>
          </p:nvPr>
        </p:nvSpPr>
        <p:spPr>
          <a:xfrm>
            <a:off x="3176965" y="338117"/>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2. Introduction</a:t>
            </a:r>
            <a:endParaRPr b="1" sz="4000">
              <a:solidFill>
                <a:srgbClr val="191919"/>
              </a:solidFill>
              <a:latin typeface="Arial"/>
              <a:ea typeface="Arial"/>
              <a:cs typeface="Arial"/>
              <a:sym typeface="Arial"/>
            </a:endParaRPr>
          </a:p>
        </p:txBody>
      </p:sp>
      <p:graphicFrame>
        <p:nvGraphicFramePr>
          <p:cNvPr id="180" name="Google Shape;180;p9"/>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2. Introduction</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181" name="Google Shape;181;p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182" name="Google Shape;182;p9"/>
          <p:cNvSpPr/>
          <p:nvPr/>
        </p:nvSpPr>
        <p:spPr>
          <a:xfrm>
            <a:off x="2423322" y="2508906"/>
            <a:ext cx="2437198"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FF0000"/>
                </a:solidFill>
                <a:latin typeface="Arial"/>
                <a:ea typeface="Arial"/>
                <a:cs typeface="Arial"/>
                <a:sym typeface="Arial"/>
              </a:rPr>
              <a:t>For instances</a:t>
            </a:r>
            <a:endParaRPr b="1" i="0" sz="2400" u="none" cap="none" strike="noStrike">
              <a:solidFill>
                <a:srgbClr val="FF0000"/>
              </a:solidFill>
              <a:latin typeface="Arial"/>
              <a:ea typeface="Arial"/>
              <a:cs typeface="Arial"/>
              <a:sym typeface="Arial"/>
            </a:endParaRPr>
          </a:p>
        </p:txBody>
      </p:sp>
      <p:cxnSp>
        <p:nvCxnSpPr>
          <p:cNvPr id="183" name="Google Shape;183;p9"/>
          <p:cNvCxnSpPr/>
          <p:nvPr/>
        </p:nvCxnSpPr>
        <p:spPr>
          <a:xfrm>
            <a:off x="3176965" y="1178531"/>
            <a:ext cx="7732800" cy="0"/>
          </a:xfrm>
          <a:prstGeom prst="straightConnector1">
            <a:avLst/>
          </a:prstGeom>
          <a:noFill/>
          <a:ln cap="flat" cmpd="sng" w="9525">
            <a:solidFill>
              <a:schemeClr val="dk1"/>
            </a:solidFill>
            <a:prstDash val="solid"/>
            <a:round/>
            <a:headEnd len="med" w="med" type="oval"/>
            <a:tailEnd len="med" w="med" type="oval"/>
          </a:ln>
        </p:spPr>
      </p:cxnSp>
      <p:sp>
        <p:nvSpPr>
          <p:cNvPr id="184" name="Google Shape;184;p9"/>
          <p:cNvSpPr/>
          <p:nvPr/>
        </p:nvSpPr>
        <p:spPr>
          <a:xfrm>
            <a:off x="2535441" y="2999664"/>
            <a:ext cx="9010995" cy="707886"/>
          </a:xfrm>
          <a:prstGeom prst="rect">
            <a:avLst/>
          </a:prstGeom>
          <a:noFill/>
          <a:ln>
            <a:noFill/>
          </a:ln>
        </p:spPr>
        <p:txBody>
          <a:bodyPr anchorCtr="0" anchor="t" bIns="45700" lIns="91425" spcFirstLastPara="1" rIns="91425" wrap="square" tIns="45700">
            <a:spAutoFit/>
          </a:bodyPr>
          <a:lstStyle/>
          <a:p>
            <a:pPr indent="0" lvl="1" marL="457200" marR="0" rtl="0" algn="just">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Arial"/>
                <a:ea typeface="Arial"/>
                <a:cs typeface="Arial"/>
                <a:sym typeface="Arial"/>
              </a:rPr>
              <a:t>- Chain stores generates terabytes of customer information, looking for                  shopping patterns</a:t>
            </a:r>
            <a:endParaRPr b="0" i="0" sz="2000" u="none" cap="none" strike="noStrike">
              <a:solidFill>
                <a:schemeClr val="dk1"/>
              </a:solidFill>
              <a:latin typeface="Arial"/>
              <a:ea typeface="Arial"/>
              <a:cs typeface="Arial"/>
              <a:sym typeface="Arial"/>
            </a:endParaRPr>
          </a:p>
        </p:txBody>
      </p:sp>
      <p:sp>
        <p:nvSpPr>
          <p:cNvPr id="185" name="Google Shape;185;p9"/>
          <p:cNvSpPr/>
          <p:nvPr/>
        </p:nvSpPr>
        <p:spPr>
          <a:xfrm>
            <a:off x="2635135" y="1308577"/>
            <a:ext cx="9010997"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a:t>
            </a:r>
            <a:r>
              <a:rPr b="0" i="0" lang="en-GB" sz="2400" u="none" cap="none" strike="noStrike">
                <a:solidFill>
                  <a:srgbClr val="D4650A"/>
                </a:solidFill>
                <a:latin typeface="Arial"/>
                <a:ea typeface="Arial"/>
                <a:cs typeface="Arial"/>
                <a:sym typeface="Arial"/>
              </a:rPr>
              <a:t>generation</a:t>
            </a:r>
            <a:r>
              <a:rPr b="0" i="0" lang="en-GB" sz="2400" u="none" cap="none" strike="noStrike">
                <a:solidFill>
                  <a:schemeClr val="dk1"/>
                </a:solidFill>
                <a:latin typeface="Arial"/>
                <a:ea typeface="Arial"/>
                <a:cs typeface="Arial"/>
                <a:sym typeface="Arial"/>
              </a:rPr>
              <a:t>, </a:t>
            </a:r>
            <a:r>
              <a:rPr b="0" i="0" lang="en-GB" sz="2400" u="none" cap="none" strike="noStrike">
                <a:solidFill>
                  <a:srgbClr val="D4650A"/>
                </a:solidFill>
                <a:latin typeface="Arial"/>
                <a:ea typeface="Arial"/>
                <a:cs typeface="Arial"/>
                <a:sym typeface="Arial"/>
              </a:rPr>
              <a:t>collection</a:t>
            </a:r>
            <a:r>
              <a:rPr b="0" i="0" lang="en-GB" sz="2400" u="none" cap="none" strike="noStrike">
                <a:solidFill>
                  <a:schemeClr val="dk1"/>
                </a:solidFill>
                <a:latin typeface="Arial"/>
                <a:ea typeface="Arial"/>
                <a:cs typeface="Arial"/>
                <a:sym typeface="Arial"/>
              </a:rPr>
              <a:t>, and </a:t>
            </a:r>
            <a:r>
              <a:rPr b="0" i="0" lang="en-GB" sz="2400" u="none" cap="none" strike="noStrike">
                <a:solidFill>
                  <a:srgbClr val="D4650A"/>
                </a:solidFill>
                <a:latin typeface="Arial"/>
                <a:ea typeface="Arial"/>
                <a:cs typeface="Arial"/>
                <a:sym typeface="Arial"/>
              </a:rPr>
              <a:t>analysis</a:t>
            </a:r>
            <a:r>
              <a:rPr b="0" i="0" lang="en-GB" sz="2400" u="none" cap="none" strike="noStrike">
                <a:solidFill>
                  <a:schemeClr val="dk1"/>
                </a:solidFill>
                <a:latin typeface="Arial"/>
                <a:ea typeface="Arial"/>
                <a:cs typeface="Arial"/>
                <a:sym typeface="Arial"/>
              </a:rPr>
              <a:t> of data is driving force in today’s world. </a:t>
            </a:r>
            <a:r>
              <a:rPr b="0" i="0" lang="en-GB" sz="2400" u="none" cap="none" strike="noStrike">
                <a:solidFill>
                  <a:srgbClr val="00B0F0"/>
                </a:solidFill>
                <a:latin typeface="Arial"/>
                <a:ea typeface="Arial"/>
                <a:cs typeface="Arial"/>
                <a:sym typeface="Arial"/>
              </a:rPr>
              <a:t>The sheer amount of data is being created is immense.</a:t>
            </a:r>
            <a:endParaRPr b="0" i="0" sz="2400" u="none" cap="none" strike="noStrike">
              <a:solidFill>
                <a:srgbClr val="00B0F0"/>
              </a:solidFill>
              <a:latin typeface="Arial"/>
              <a:ea typeface="Arial"/>
              <a:cs typeface="Arial"/>
              <a:sym typeface="Arial"/>
            </a:endParaRPr>
          </a:p>
        </p:txBody>
      </p:sp>
      <p:sp>
        <p:nvSpPr>
          <p:cNvPr id="186" name="Google Shape;186;p9"/>
          <p:cNvSpPr/>
          <p:nvPr/>
        </p:nvSpPr>
        <p:spPr>
          <a:xfrm>
            <a:off x="2535440" y="3736201"/>
            <a:ext cx="9010995" cy="707886"/>
          </a:xfrm>
          <a:prstGeom prst="rect">
            <a:avLst/>
          </a:prstGeom>
          <a:noFill/>
          <a:ln>
            <a:noFill/>
          </a:ln>
        </p:spPr>
        <p:txBody>
          <a:bodyPr anchorCtr="0" anchor="t" bIns="45700" lIns="91425" spcFirstLastPara="1" rIns="91425" wrap="square" tIns="45700">
            <a:spAutoFit/>
          </a:bodyPr>
          <a:lstStyle/>
          <a:p>
            <a:pPr indent="0" lvl="1" marL="457200" marR="0" rtl="0" algn="just">
              <a:lnSpc>
                <a:spcPct val="100000"/>
              </a:lnSpc>
              <a:spcBef>
                <a:spcPts val="0"/>
              </a:spcBef>
              <a:spcAft>
                <a:spcPts val="0"/>
              </a:spcAft>
              <a:buClr>
                <a:srgbClr val="000000"/>
              </a:buClr>
              <a:buSzPts val="2000"/>
              <a:buFont typeface="Arial"/>
              <a:buNone/>
            </a:pPr>
            <a:r>
              <a:rPr b="0" i="0" lang="en-GB" sz="2000" u="none" cap="none" strike="noStrike">
                <a:solidFill>
                  <a:schemeClr val="dk1"/>
                </a:solidFill>
                <a:latin typeface="Arial"/>
                <a:ea typeface="Arial"/>
                <a:cs typeface="Arial"/>
                <a:sym typeface="Arial"/>
              </a:rPr>
              <a:t>- Facebook users have created 40 billion photos requiring more than a petabyte of storage.</a:t>
            </a:r>
            <a:endParaRPr b="0" i="0" sz="2000" u="none" cap="none" strike="noStrike">
              <a:solidFill>
                <a:schemeClr val="dk1"/>
              </a:solidFill>
              <a:latin typeface="Arial"/>
              <a:ea typeface="Arial"/>
              <a:cs typeface="Arial"/>
              <a:sym typeface="Arial"/>
            </a:endParaRPr>
          </a:p>
        </p:txBody>
      </p:sp>
      <p:sp>
        <p:nvSpPr>
          <p:cNvPr id="187" name="Google Shape;187;p9"/>
          <p:cNvSpPr/>
          <p:nvPr/>
        </p:nvSpPr>
        <p:spPr>
          <a:xfrm>
            <a:off x="2635138" y="4468751"/>
            <a:ext cx="8911298" cy="156962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Interesting Fact</a:t>
            </a:r>
            <a:r>
              <a:rPr b="0" i="0" lang="en-GB" sz="2400" u="none" cap="none" strike="noStrike">
                <a:solidFill>
                  <a:schemeClr val="dk1"/>
                </a:solidFill>
                <a:latin typeface="Arial"/>
                <a:ea typeface="Arial"/>
                <a:cs typeface="Arial"/>
                <a:sym typeface="Arial"/>
              </a:rPr>
              <a:t>]: The amount of data created each year is estimated to be almost to zetabytes (</a:t>
            </a:r>
            <a:r>
              <a:rPr b="1" i="0" lang="en-GB" sz="2400" u="none" cap="none" strike="noStrike">
                <a:solidFill>
                  <a:srgbClr val="000000"/>
                </a:solidFill>
                <a:latin typeface="Arial"/>
                <a:ea typeface="Arial"/>
                <a:cs typeface="Arial"/>
                <a:sym typeface="Arial"/>
              </a:rPr>
              <a:t>10</a:t>
            </a:r>
            <a:r>
              <a:rPr b="1" baseline="30000" i="0" lang="en-GB" sz="2400" u="none" cap="none" strike="noStrike">
                <a:solidFill>
                  <a:srgbClr val="000000"/>
                </a:solidFill>
                <a:latin typeface="Arial"/>
                <a:ea typeface="Arial"/>
                <a:cs typeface="Arial"/>
                <a:sym typeface="Arial"/>
              </a:rPr>
              <a:t>21</a:t>
            </a:r>
            <a:r>
              <a:rPr b="1" i="0" lang="en-GB" sz="2400" u="none" cap="none" strike="noStrike">
                <a:solidFill>
                  <a:srgbClr val="000000"/>
                </a:solidFill>
                <a:latin typeface="Arial"/>
                <a:ea typeface="Arial"/>
                <a:cs typeface="Arial"/>
                <a:sym typeface="Arial"/>
              </a:rPr>
              <a:t>  or 1,000,000,000,000,000,000,000 bytes</a:t>
            </a:r>
            <a:r>
              <a:rPr b="0" i="0" lang="en-GB" sz="2400" u="none" cap="none" strike="noStrike">
                <a:solidFill>
                  <a:schemeClr val="dk1"/>
                </a:solidFill>
                <a:latin typeface="Arial"/>
                <a:ea typeface="Arial"/>
                <a:cs typeface="Arial"/>
                <a:sym typeface="Arial"/>
              </a:rPr>
              <a:t>), more than doubling every two years</a:t>
            </a:r>
            <a:endParaRPr b="0" i="0" sz="2400" u="none" cap="none" strike="noStrike">
              <a:solidFill>
                <a:schemeClr val="dk1"/>
              </a:solidFill>
              <a:latin typeface="Arial"/>
              <a:ea typeface="Arial"/>
              <a:cs typeface="Arial"/>
              <a:sym typeface="Arial"/>
            </a:endParaRPr>
          </a:p>
        </p:txBody>
      </p:sp>
      <p:sp>
        <p:nvSpPr>
          <p:cNvPr id="188" name="Google Shape;188;p9"/>
          <p:cNvSpPr/>
          <p:nvPr/>
        </p:nvSpPr>
        <p:spPr>
          <a:xfrm>
            <a:off x="2712225" y="6248150"/>
            <a:ext cx="8856815"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GB" sz="2000" u="none" cap="none" strike="noStrike">
                <a:solidFill>
                  <a:srgbClr val="FF0000"/>
                </a:solidFill>
                <a:latin typeface="Arial"/>
                <a:ea typeface="Arial"/>
                <a:cs typeface="Arial"/>
                <a:sym typeface="Arial"/>
              </a:rPr>
              <a:t>Today, we will explore how data is represented and manipulated in Python.</a:t>
            </a:r>
            <a:endParaRPr b="0" i="0" sz="20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26b01a5c7fe_0_0">
            <a:hlinkClick r:id="rId3"/>
          </p:cNvPr>
          <p:cNvPicPr preferRelativeResize="0"/>
          <p:nvPr/>
        </p:nvPicPr>
        <p:blipFill rotWithShape="1">
          <a:blip r:embed="rId4">
            <a:alphaModFix/>
          </a:blip>
          <a:srcRect b="0" l="0" r="0" t="0"/>
          <a:stretch/>
        </p:blipFill>
        <p:spPr>
          <a:xfrm>
            <a:off x="2069440" y="1188721"/>
            <a:ext cx="7689701" cy="566928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idx="1" type="subTitle"/>
          </p:nvPr>
        </p:nvSpPr>
        <p:spPr>
          <a:xfrm>
            <a:off x="3176965" y="332939"/>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3. Literals</a:t>
            </a:r>
            <a:endParaRPr b="1" sz="4000">
              <a:solidFill>
                <a:srgbClr val="191919"/>
              </a:solidFill>
              <a:latin typeface="Arial"/>
              <a:ea typeface="Arial"/>
              <a:cs typeface="Arial"/>
              <a:sym typeface="Arial"/>
            </a:endParaRPr>
          </a:p>
        </p:txBody>
      </p:sp>
      <p:graphicFrame>
        <p:nvGraphicFramePr>
          <p:cNvPr id="200" name="Google Shape;200;p10"/>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 Literals</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01" name="Google Shape;201;p1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02" name="Google Shape;202;p10"/>
          <p:cNvCxnSpPr/>
          <p:nvPr/>
        </p:nvCxnSpPr>
        <p:spPr>
          <a:xfrm>
            <a:off x="3176965" y="1186844"/>
            <a:ext cx="7732800" cy="0"/>
          </a:xfrm>
          <a:prstGeom prst="straightConnector1">
            <a:avLst/>
          </a:prstGeom>
          <a:noFill/>
          <a:ln cap="flat" cmpd="sng" w="9525">
            <a:solidFill>
              <a:schemeClr val="dk1"/>
            </a:solidFill>
            <a:prstDash val="solid"/>
            <a:round/>
            <a:headEnd len="med" w="med" type="oval"/>
            <a:tailEnd len="med" w="med" type="oval"/>
          </a:ln>
        </p:spPr>
      </p:cxnSp>
      <p:sp>
        <p:nvSpPr>
          <p:cNvPr id="203" name="Google Shape;203;p10"/>
          <p:cNvSpPr/>
          <p:nvPr/>
        </p:nvSpPr>
        <p:spPr>
          <a:xfrm>
            <a:off x="2635135" y="1308577"/>
            <a:ext cx="9010997" cy="83099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To take something </a:t>
            </a:r>
            <a:r>
              <a:rPr b="1" i="0" lang="en-GB" sz="2400" u="none" cap="none" strike="noStrike">
                <a:solidFill>
                  <a:srgbClr val="D4650A"/>
                </a:solidFill>
                <a:latin typeface="Arial"/>
                <a:ea typeface="Arial"/>
                <a:cs typeface="Arial"/>
                <a:sym typeface="Arial"/>
              </a:rPr>
              <a:t>literally</a:t>
            </a:r>
            <a:r>
              <a:rPr b="0" i="0" lang="en-GB" sz="2400" u="none" cap="none" strike="noStrike">
                <a:solidFill>
                  <a:srgbClr val="D4650A"/>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is to take it at “face value”. The same is true of literals in programming.</a:t>
            </a:r>
            <a:endParaRPr b="0" i="0" sz="2400" u="none" cap="none" strike="noStrike">
              <a:solidFill>
                <a:srgbClr val="00B0F0"/>
              </a:solidFill>
              <a:latin typeface="Arial"/>
              <a:ea typeface="Arial"/>
              <a:cs typeface="Arial"/>
              <a:sym typeface="Arial"/>
            </a:endParaRPr>
          </a:p>
        </p:txBody>
      </p:sp>
      <p:sp>
        <p:nvSpPr>
          <p:cNvPr id="204" name="Google Shape;204;p10"/>
          <p:cNvSpPr/>
          <p:nvPr/>
        </p:nvSpPr>
        <p:spPr>
          <a:xfrm>
            <a:off x="2605256" y="2455800"/>
            <a:ext cx="9010997" cy="83099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Literals [</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 literal is a </a:t>
            </a:r>
            <a:r>
              <a:rPr b="0" i="0" lang="en-GB" sz="2400" u="none" cap="none" strike="noStrike">
                <a:solidFill>
                  <a:srgbClr val="00B0F0"/>
                </a:solidFill>
                <a:latin typeface="Arial"/>
                <a:ea typeface="Arial"/>
                <a:cs typeface="Arial"/>
                <a:sym typeface="Arial"/>
              </a:rPr>
              <a:t>sequence of one or more characters</a:t>
            </a:r>
            <a:r>
              <a:rPr b="0" i="0" lang="en-GB" sz="2400" u="none" cap="none" strike="noStrike">
                <a:solidFill>
                  <a:schemeClr val="dk1"/>
                </a:solidFill>
                <a:latin typeface="Arial"/>
                <a:ea typeface="Arial"/>
                <a:cs typeface="Arial"/>
                <a:sym typeface="Arial"/>
              </a:rPr>
              <a:t> that </a:t>
            </a:r>
            <a:r>
              <a:rPr b="0" i="0" lang="en-GB" sz="2400" u="none" cap="none" strike="noStrike">
                <a:solidFill>
                  <a:srgbClr val="D4650A"/>
                </a:solidFill>
                <a:latin typeface="Arial"/>
                <a:ea typeface="Arial"/>
                <a:cs typeface="Arial"/>
                <a:sym typeface="Arial"/>
              </a:rPr>
              <a:t>stands for itself </a:t>
            </a:r>
            <a:r>
              <a:rPr b="0" i="0" lang="en-GB" sz="2400" u="none" cap="none" strike="noStrike">
                <a:solidFill>
                  <a:schemeClr val="dk1"/>
                </a:solidFill>
                <a:latin typeface="Arial"/>
                <a:ea typeface="Arial"/>
                <a:cs typeface="Arial"/>
                <a:sym typeface="Arial"/>
              </a:rPr>
              <a:t>such as the literal 12.</a:t>
            </a:r>
            <a:endParaRPr b="0" i="0" sz="2400" u="none" cap="none" strike="noStrike">
              <a:solidFill>
                <a:srgbClr val="00B0F0"/>
              </a:solidFill>
              <a:latin typeface="Arial"/>
              <a:ea typeface="Arial"/>
              <a:cs typeface="Arial"/>
              <a:sym typeface="Arial"/>
            </a:endParaRPr>
          </a:p>
        </p:txBody>
      </p:sp>
      <p:sp>
        <p:nvSpPr>
          <p:cNvPr id="205" name="Google Shape;205;p10"/>
          <p:cNvSpPr/>
          <p:nvPr/>
        </p:nvSpPr>
        <p:spPr>
          <a:xfrm>
            <a:off x="2605256" y="3603023"/>
            <a:ext cx="9010997" cy="83099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In Python, literals are the </a:t>
            </a:r>
            <a:r>
              <a:rPr b="0" i="0" lang="en-GB" sz="2400" u="none" cap="none" strike="noStrike">
                <a:solidFill>
                  <a:srgbClr val="D4650A"/>
                </a:solidFill>
                <a:latin typeface="Arial"/>
                <a:ea typeface="Arial"/>
                <a:cs typeface="Arial"/>
                <a:sym typeface="Arial"/>
              </a:rPr>
              <a:t>raw data </a:t>
            </a:r>
            <a:r>
              <a:rPr b="0" i="0" lang="en-GB" sz="2400" u="none" cap="none" strike="noStrike">
                <a:solidFill>
                  <a:schemeClr val="dk1"/>
                </a:solidFill>
                <a:latin typeface="Arial"/>
                <a:ea typeface="Arial"/>
                <a:cs typeface="Arial"/>
                <a:sym typeface="Arial"/>
              </a:rPr>
              <a:t>that is assigned to </a:t>
            </a:r>
            <a:r>
              <a:rPr b="0" i="0" lang="en-GB" sz="2400" u="none" cap="none" strike="noStrike">
                <a:solidFill>
                  <a:srgbClr val="D4650A"/>
                </a:solidFill>
                <a:latin typeface="Arial"/>
                <a:ea typeface="Arial"/>
                <a:cs typeface="Arial"/>
                <a:sym typeface="Arial"/>
              </a:rPr>
              <a:t>variables</a:t>
            </a:r>
            <a:r>
              <a:rPr b="0" i="0" lang="en-GB" sz="2400" u="none" cap="none" strike="noStrike">
                <a:solidFill>
                  <a:schemeClr val="dk1"/>
                </a:solidFill>
                <a:latin typeface="Arial"/>
                <a:ea typeface="Arial"/>
                <a:cs typeface="Arial"/>
                <a:sym typeface="Arial"/>
              </a:rPr>
              <a:t> or </a:t>
            </a:r>
            <a:r>
              <a:rPr b="0" i="0" lang="en-GB" sz="2400" u="none" cap="none" strike="noStrike">
                <a:solidFill>
                  <a:srgbClr val="D4650A"/>
                </a:solidFill>
                <a:latin typeface="Arial"/>
                <a:ea typeface="Arial"/>
                <a:cs typeface="Arial"/>
                <a:sym typeface="Arial"/>
              </a:rPr>
              <a:t>constants</a:t>
            </a:r>
            <a:r>
              <a:rPr b="0" i="0" lang="en-GB" sz="2400" u="none" cap="none" strike="noStrike">
                <a:solidFill>
                  <a:schemeClr val="dk1"/>
                </a:solidFill>
                <a:latin typeface="Arial"/>
                <a:ea typeface="Arial"/>
                <a:cs typeface="Arial"/>
                <a:sym typeface="Arial"/>
              </a:rPr>
              <a:t> during programming. </a:t>
            </a:r>
            <a:endParaRPr b="0" i="0" sz="2400" u="none" cap="none" strike="noStrike">
              <a:solidFill>
                <a:srgbClr val="00B0F0"/>
              </a:solidFill>
              <a:latin typeface="Arial"/>
              <a:ea typeface="Arial"/>
              <a:cs typeface="Arial"/>
              <a:sym typeface="Arial"/>
            </a:endParaRPr>
          </a:p>
        </p:txBody>
      </p:sp>
      <p:pic>
        <p:nvPicPr>
          <p:cNvPr descr="Literals in Python - Naukri Learning" id="206" name="Google Shape;206;p10"/>
          <p:cNvPicPr preferRelativeResize="0"/>
          <p:nvPr/>
        </p:nvPicPr>
        <p:blipFill rotWithShape="1">
          <a:blip r:embed="rId3">
            <a:alphaModFix/>
          </a:blip>
          <a:srcRect b="0" l="0" r="0" t="0"/>
          <a:stretch/>
        </p:blipFill>
        <p:spPr>
          <a:xfrm>
            <a:off x="4098560" y="4627435"/>
            <a:ext cx="6250785" cy="177697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1"/>
          <p:cNvSpPr txBox="1"/>
          <p:nvPr>
            <p:ph idx="1" type="subTitle"/>
          </p:nvPr>
        </p:nvSpPr>
        <p:spPr>
          <a:xfrm>
            <a:off x="3176965" y="309285"/>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3.1 Numeric Literals</a:t>
            </a:r>
            <a:endParaRPr b="1" sz="4000">
              <a:solidFill>
                <a:srgbClr val="191919"/>
              </a:solidFill>
              <a:latin typeface="Arial"/>
              <a:ea typeface="Arial"/>
              <a:cs typeface="Arial"/>
              <a:sym typeface="Arial"/>
            </a:endParaRPr>
          </a:p>
        </p:txBody>
      </p:sp>
      <p:graphicFrame>
        <p:nvGraphicFramePr>
          <p:cNvPr id="212" name="Google Shape;212;p11"/>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3.1 Numeric Literal</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13" name="Google Shape;213;p1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14" name="Google Shape;214;p11"/>
          <p:cNvCxnSpPr/>
          <p:nvPr/>
        </p:nvCxnSpPr>
        <p:spPr>
          <a:xfrm>
            <a:off x="3185278" y="1161905"/>
            <a:ext cx="7732800" cy="0"/>
          </a:xfrm>
          <a:prstGeom prst="straightConnector1">
            <a:avLst/>
          </a:prstGeom>
          <a:noFill/>
          <a:ln cap="flat" cmpd="sng" w="9525">
            <a:solidFill>
              <a:schemeClr val="dk1"/>
            </a:solidFill>
            <a:prstDash val="solid"/>
            <a:round/>
            <a:headEnd len="med" w="med" type="oval"/>
            <a:tailEnd len="med" w="med" type="oval"/>
          </a:ln>
        </p:spPr>
      </p:cxnSp>
      <p:sp>
        <p:nvSpPr>
          <p:cNvPr id="215" name="Google Shape;215;p11"/>
          <p:cNvSpPr/>
          <p:nvPr/>
        </p:nvSpPr>
        <p:spPr>
          <a:xfrm>
            <a:off x="2635135" y="1308577"/>
            <a:ext cx="9010997" cy="156966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 </a:t>
            </a:r>
            <a:r>
              <a:rPr b="0" i="0" lang="en-GB" sz="2400" u="none" cap="none" strike="noStrike">
                <a:solidFill>
                  <a:srgbClr val="D4650A"/>
                </a:solidFill>
                <a:latin typeface="Arial"/>
                <a:ea typeface="Arial"/>
                <a:cs typeface="Arial"/>
                <a:sym typeface="Arial"/>
              </a:rPr>
              <a:t>numeric literal </a:t>
            </a:r>
            <a:r>
              <a:rPr b="0" i="0" lang="en-GB" sz="2400" u="none" cap="none" strike="noStrike">
                <a:solidFill>
                  <a:schemeClr val="dk1"/>
                </a:solidFill>
                <a:latin typeface="Arial"/>
                <a:ea typeface="Arial"/>
                <a:cs typeface="Arial"/>
                <a:sym typeface="Arial"/>
              </a:rPr>
              <a:t>is a literal containing only the </a:t>
            </a:r>
            <a:r>
              <a:rPr b="1" i="0" lang="en-GB" sz="2400" u="none" cap="none" strike="noStrike">
                <a:solidFill>
                  <a:srgbClr val="D4650A"/>
                </a:solidFill>
                <a:latin typeface="Arial"/>
                <a:ea typeface="Arial"/>
                <a:cs typeface="Arial"/>
                <a:sym typeface="Arial"/>
              </a:rPr>
              <a:t>digit 0-9</a:t>
            </a:r>
            <a:r>
              <a:rPr b="0" i="0" lang="en-GB" sz="2400" u="none" cap="none" strike="noStrike">
                <a:solidFill>
                  <a:schemeClr val="dk1"/>
                </a:solidFill>
                <a:latin typeface="Arial"/>
                <a:ea typeface="Arial"/>
                <a:cs typeface="Arial"/>
                <a:sym typeface="Arial"/>
              </a:rPr>
              <a:t>, an optional sign characters </a:t>
            </a:r>
            <a:r>
              <a:rPr b="1" i="0" lang="en-GB" sz="2400" u="none" cap="none" strike="noStrike">
                <a:solidFill>
                  <a:srgbClr val="D4650A"/>
                </a:solidFill>
                <a:latin typeface="Arial"/>
                <a:ea typeface="Arial"/>
                <a:cs typeface="Arial"/>
                <a:sym typeface="Arial"/>
              </a:rPr>
              <a:t>(+ or -)</a:t>
            </a:r>
            <a:r>
              <a:rPr b="0" i="0" lang="en-GB" sz="2400" u="none" cap="none" strike="noStrike">
                <a:solidFill>
                  <a:schemeClr val="dk1"/>
                </a:solidFill>
                <a:latin typeface="Arial"/>
                <a:ea typeface="Arial"/>
                <a:cs typeface="Arial"/>
                <a:sym typeface="Arial"/>
              </a:rPr>
              <a:t>, and a possible </a:t>
            </a:r>
            <a:r>
              <a:rPr b="1" i="0" lang="en-GB" sz="2400" u="none" cap="none" strike="noStrike">
                <a:solidFill>
                  <a:srgbClr val="D4650A"/>
                </a:solidFill>
                <a:latin typeface="Arial"/>
                <a:ea typeface="Arial"/>
                <a:cs typeface="Arial"/>
                <a:sym typeface="Arial"/>
              </a:rPr>
              <a:t>decimal point</a:t>
            </a:r>
            <a:r>
              <a:rPr b="0" i="0" lang="en-GB" sz="2400" u="none" cap="none" strike="noStrike">
                <a:solidFill>
                  <a:schemeClr val="dk1"/>
                </a:solidFill>
                <a:latin typeface="Arial"/>
                <a:ea typeface="Arial"/>
                <a:cs typeface="Arial"/>
                <a:sym typeface="Arial"/>
              </a:rPr>
              <a:t>. (The letter </a:t>
            </a:r>
            <a:r>
              <a:rPr b="1" i="0" lang="en-GB" sz="2400" u="none" cap="none" strike="noStrike">
                <a:solidFill>
                  <a:srgbClr val="D4650A"/>
                </a:solidFill>
                <a:latin typeface="Arial"/>
                <a:ea typeface="Arial"/>
                <a:cs typeface="Arial"/>
                <a:sym typeface="Arial"/>
              </a:rPr>
              <a:t>e</a:t>
            </a:r>
            <a:r>
              <a:rPr b="0" i="0" lang="en-GB" sz="2400" u="none" cap="none" strike="noStrike">
                <a:solidFill>
                  <a:schemeClr val="dk1"/>
                </a:solidFill>
                <a:latin typeface="Arial"/>
                <a:ea typeface="Arial"/>
                <a:cs typeface="Arial"/>
                <a:sym typeface="Arial"/>
              </a:rPr>
              <a:t> is also used in </a:t>
            </a:r>
            <a:r>
              <a:rPr b="1" i="0" lang="en-GB" sz="2400" u="none" cap="none" strike="noStrike">
                <a:solidFill>
                  <a:srgbClr val="00B0F0"/>
                </a:solidFill>
                <a:latin typeface="Arial"/>
                <a:ea typeface="Arial"/>
                <a:cs typeface="Arial"/>
                <a:sym typeface="Arial"/>
              </a:rPr>
              <a:t>exponential notation</a:t>
            </a:r>
            <a:r>
              <a:rPr b="0" i="0" lang="en-GB" sz="2400" u="none" cap="none" strike="noStrike">
                <a:solidFill>
                  <a:schemeClr val="dk1"/>
                </a:solidFill>
                <a:latin typeface="Arial"/>
                <a:ea typeface="Arial"/>
                <a:cs typeface="Arial"/>
                <a:sym typeface="Arial"/>
              </a:rPr>
              <a:t>, shown next)</a:t>
            </a:r>
            <a:endParaRPr b="0" i="0" sz="2400" u="none" cap="none" strike="noStrike">
              <a:solidFill>
                <a:srgbClr val="00B0F0"/>
              </a:solidFill>
              <a:latin typeface="Arial"/>
              <a:ea typeface="Arial"/>
              <a:cs typeface="Arial"/>
              <a:sym typeface="Arial"/>
            </a:endParaRPr>
          </a:p>
        </p:txBody>
      </p:sp>
      <p:sp>
        <p:nvSpPr>
          <p:cNvPr id="216" name="Google Shape;216;p11"/>
          <p:cNvSpPr/>
          <p:nvPr/>
        </p:nvSpPr>
        <p:spPr>
          <a:xfrm>
            <a:off x="2793077" y="4644188"/>
            <a:ext cx="9010997" cy="83099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Integer</a:t>
            </a:r>
            <a:r>
              <a:rPr b="0" i="0" lang="en-GB" sz="2400" u="none" cap="none" strike="noStrike">
                <a:solidFill>
                  <a:schemeClr val="dk1"/>
                </a:solidFill>
                <a:latin typeface="Arial"/>
                <a:ea typeface="Arial"/>
                <a:cs typeface="Arial"/>
                <a:sym typeface="Arial"/>
              </a:rPr>
              <a:t> [</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If a numeric literal contains </a:t>
            </a:r>
            <a:r>
              <a:rPr b="0" i="0" lang="en-GB" sz="2400" u="none" cap="none" strike="noStrike">
                <a:solidFill>
                  <a:srgbClr val="D4650A"/>
                </a:solidFill>
                <a:latin typeface="Arial"/>
                <a:ea typeface="Arial"/>
                <a:cs typeface="Arial"/>
                <a:sym typeface="Arial"/>
              </a:rPr>
              <a:t>whole number</a:t>
            </a:r>
            <a:r>
              <a:rPr b="0" i="0" lang="en-GB" sz="2400" u="none" cap="none" strike="noStrike">
                <a:solidFill>
                  <a:schemeClr val="dk1"/>
                </a:solidFill>
                <a:latin typeface="Arial"/>
                <a:ea typeface="Arial"/>
                <a:cs typeface="Arial"/>
                <a:sym typeface="Arial"/>
              </a:rPr>
              <a:t> then it is known to be integer. </a:t>
            </a:r>
            <a:r>
              <a:rPr b="0" i="0" lang="en-GB" sz="2400" u="none" cap="none" strike="noStrike">
                <a:solidFill>
                  <a:srgbClr val="00B0F0"/>
                </a:solidFill>
                <a:latin typeface="Arial"/>
                <a:ea typeface="Arial"/>
                <a:cs typeface="Arial"/>
                <a:sym typeface="Arial"/>
              </a:rPr>
              <a:t>For example: 10</a:t>
            </a:r>
            <a:endParaRPr b="0" i="0" sz="2400" u="none" cap="none" strike="noStrike">
              <a:solidFill>
                <a:srgbClr val="00B0F0"/>
              </a:solidFill>
              <a:latin typeface="Arial"/>
              <a:ea typeface="Arial"/>
              <a:cs typeface="Arial"/>
              <a:sym typeface="Arial"/>
            </a:endParaRPr>
          </a:p>
        </p:txBody>
      </p:sp>
      <p:sp>
        <p:nvSpPr>
          <p:cNvPr id="217" name="Google Shape;217;p11"/>
          <p:cNvSpPr/>
          <p:nvPr/>
        </p:nvSpPr>
        <p:spPr>
          <a:xfrm>
            <a:off x="2605256" y="5909323"/>
            <a:ext cx="9010997"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n-GB" sz="2400" u="none" cap="none" strike="noStrike">
                <a:solidFill>
                  <a:srgbClr val="FF0000"/>
                </a:solidFill>
                <a:latin typeface="Arial"/>
                <a:ea typeface="Arial"/>
                <a:cs typeface="Arial"/>
                <a:sym typeface="Arial"/>
              </a:rPr>
              <a:t>Note: Commas are never used in numeric literals</a:t>
            </a:r>
            <a:endParaRPr b="0" i="0" sz="2400" u="none" cap="none" strike="noStrike">
              <a:solidFill>
                <a:srgbClr val="FF0000"/>
              </a:solidFill>
              <a:latin typeface="Arial"/>
              <a:ea typeface="Arial"/>
              <a:cs typeface="Arial"/>
              <a:sym typeface="Arial"/>
            </a:endParaRPr>
          </a:p>
        </p:txBody>
      </p:sp>
      <p:sp>
        <p:nvSpPr>
          <p:cNvPr id="218" name="Google Shape;218;p11"/>
          <p:cNvSpPr/>
          <p:nvPr/>
        </p:nvSpPr>
        <p:spPr>
          <a:xfrm>
            <a:off x="2722823" y="3206086"/>
            <a:ext cx="9010997"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Floating Point </a:t>
            </a: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If a numeric literal contains a </a:t>
            </a:r>
            <a:r>
              <a:rPr b="0" i="0" lang="en-GB" sz="2400" u="none" cap="none" strike="noStrike">
                <a:solidFill>
                  <a:srgbClr val="D4650A"/>
                </a:solidFill>
                <a:latin typeface="Arial"/>
                <a:ea typeface="Arial"/>
                <a:cs typeface="Arial"/>
                <a:sym typeface="Arial"/>
              </a:rPr>
              <a:t>decimal point</a:t>
            </a:r>
            <a:r>
              <a:rPr b="0" i="0" lang="en-GB" sz="2400" u="none" cap="none" strike="noStrike">
                <a:solidFill>
                  <a:schemeClr val="dk1"/>
                </a:solidFill>
                <a:latin typeface="Arial"/>
                <a:ea typeface="Arial"/>
                <a:cs typeface="Arial"/>
                <a:sym typeface="Arial"/>
              </a:rPr>
              <a:t>, then it denotes as floating-point values or commonly known as float. </a:t>
            </a:r>
            <a:r>
              <a:rPr b="0" i="0" lang="en-GB" sz="2400" u="none" cap="none" strike="noStrike">
                <a:solidFill>
                  <a:srgbClr val="00B0F0"/>
                </a:solidFill>
                <a:latin typeface="Arial"/>
                <a:ea typeface="Arial"/>
                <a:cs typeface="Arial"/>
                <a:sym typeface="Arial"/>
              </a:rPr>
              <a:t>For example: 10.24</a:t>
            </a:r>
            <a:endParaRPr b="0" i="0" sz="2400" u="none" cap="none" strike="noStrike">
              <a:solidFill>
                <a:srgbClr val="00B0F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idx="1" type="subTitle"/>
          </p:nvPr>
        </p:nvSpPr>
        <p:spPr>
          <a:xfrm>
            <a:off x="2664635" y="456547"/>
            <a:ext cx="9004963" cy="116825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3600">
                <a:solidFill>
                  <a:srgbClr val="191919"/>
                </a:solidFill>
                <a:latin typeface="Arial"/>
                <a:ea typeface="Arial"/>
                <a:cs typeface="Arial"/>
                <a:sym typeface="Arial"/>
              </a:rPr>
              <a:t>3.1.1 Let’s Understand Through Example</a:t>
            </a:r>
            <a:endParaRPr b="1" sz="3600">
              <a:solidFill>
                <a:srgbClr val="191919"/>
              </a:solidFill>
              <a:latin typeface="Arial"/>
              <a:ea typeface="Arial"/>
              <a:cs typeface="Arial"/>
              <a:sym typeface="Arial"/>
            </a:endParaRPr>
          </a:p>
        </p:txBody>
      </p:sp>
      <p:graphicFrame>
        <p:nvGraphicFramePr>
          <p:cNvPr id="224" name="Google Shape;224;p12"/>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3.1.1 Example</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25" name="Google Shape;225;p1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26" name="Google Shape;226;p12"/>
          <p:cNvCxnSpPr/>
          <p:nvPr/>
        </p:nvCxnSpPr>
        <p:spPr>
          <a:xfrm flipH="1" rot="10800000">
            <a:off x="2728855" y="1624803"/>
            <a:ext cx="8940743" cy="71372"/>
          </a:xfrm>
          <a:prstGeom prst="straightConnector1">
            <a:avLst/>
          </a:prstGeom>
          <a:noFill/>
          <a:ln cap="flat" cmpd="sng" w="9525">
            <a:solidFill>
              <a:schemeClr val="dk1"/>
            </a:solidFill>
            <a:prstDash val="solid"/>
            <a:round/>
            <a:headEnd len="med" w="med" type="oval"/>
            <a:tailEnd len="med" w="med" type="oval"/>
          </a:ln>
        </p:spPr>
      </p:cxnSp>
      <p:pic>
        <p:nvPicPr>
          <p:cNvPr descr="Fig 2-2.JPG" id="227" name="Google Shape;227;p12"/>
          <p:cNvPicPr preferRelativeResize="0"/>
          <p:nvPr/>
        </p:nvPicPr>
        <p:blipFill rotWithShape="1">
          <a:blip r:embed="rId3">
            <a:alphaModFix/>
          </a:blip>
          <a:srcRect b="0" l="0" r="0" t="0"/>
          <a:stretch/>
        </p:blipFill>
        <p:spPr>
          <a:xfrm>
            <a:off x="2606444" y="1730709"/>
            <a:ext cx="9505200" cy="52021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ph idx="1" type="subTitle"/>
          </p:nvPr>
        </p:nvSpPr>
        <p:spPr>
          <a:xfrm>
            <a:off x="3010297" y="380273"/>
            <a:ext cx="8576551"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B050"/>
              </a:buClr>
              <a:buSzPts val="4800"/>
              <a:buNone/>
            </a:pPr>
            <a:r>
              <a:rPr b="1" lang="en-GB" sz="4000">
                <a:solidFill>
                  <a:srgbClr val="00B050"/>
                </a:solidFill>
                <a:latin typeface="Arial"/>
                <a:ea typeface="Arial"/>
                <a:cs typeface="Arial"/>
                <a:sym typeface="Arial"/>
              </a:rPr>
              <a:t>3.1.2 Let’s Try!!</a:t>
            </a:r>
            <a:endParaRPr b="1" i="0" sz="4000">
              <a:solidFill>
                <a:srgbClr val="00B050"/>
              </a:solidFill>
              <a:latin typeface="Arial"/>
              <a:ea typeface="Arial"/>
              <a:cs typeface="Arial"/>
              <a:sym typeface="Arial"/>
            </a:endParaRPr>
          </a:p>
        </p:txBody>
      </p:sp>
      <p:graphicFrame>
        <p:nvGraphicFramePr>
          <p:cNvPr id="233" name="Google Shape;233;p13"/>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3.1.1 Example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3.1.2 Try Out</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34" name="Google Shape;234;p1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35" name="Google Shape;235;p13"/>
          <p:cNvCxnSpPr/>
          <p:nvPr/>
        </p:nvCxnSpPr>
        <p:spPr>
          <a:xfrm flipH="1" rot="10800000">
            <a:off x="2739041" y="1249347"/>
            <a:ext cx="9119061" cy="76056"/>
          </a:xfrm>
          <a:prstGeom prst="straightConnector1">
            <a:avLst/>
          </a:prstGeom>
          <a:noFill/>
          <a:ln cap="flat" cmpd="sng" w="9525">
            <a:solidFill>
              <a:schemeClr val="dk1"/>
            </a:solidFill>
            <a:prstDash val="solid"/>
            <a:round/>
            <a:headEnd len="med" w="med" type="oval"/>
            <a:tailEnd len="med" w="med" type="oval"/>
          </a:ln>
        </p:spPr>
      </p:cxnSp>
      <p:sp>
        <p:nvSpPr>
          <p:cNvPr id="236" name="Google Shape;236;p13"/>
          <p:cNvSpPr/>
          <p:nvPr/>
        </p:nvSpPr>
        <p:spPr>
          <a:xfrm>
            <a:off x="2739041" y="1480508"/>
            <a:ext cx="9001888" cy="9540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Arial"/>
                <a:ea typeface="Arial"/>
                <a:cs typeface="Arial"/>
                <a:sym typeface="Arial"/>
              </a:rPr>
              <a:t>Which of the following are valid numeric literals in Python?</a:t>
            </a:r>
            <a:endParaRPr b="0" i="0" sz="1400" u="none" cap="none" strike="noStrike">
              <a:solidFill>
                <a:srgbClr val="000000"/>
              </a:solidFill>
              <a:latin typeface="Arial"/>
              <a:ea typeface="Arial"/>
              <a:cs typeface="Arial"/>
              <a:sym typeface="Arial"/>
            </a:endParaRPr>
          </a:p>
        </p:txBody>
      </p:sp>
      <p:sp>
        <p:nvSpPr>
          <p:cNvPr id="237" name="Google Shape;237;p13"/>
          <p:cNvSpPr/>
          <p:nvPr/>
        </p:nvSpPr>
        <p:spPr>
          <a:xfrm>
            <a:off x="2739041" y="2589679"/>
            <a:ext cx="9119061" cy="2522648"/>
          </a:xfrm>
          <a:prstGeom prst="rect">
            <a:avLst/>
          </a:prstGeom>
          <a:solidFill>
            <a:srgbClr val="FEE599"/>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000000"/>
              </a:buClr>
              <a:buSzPts val="2800"/>
              <a:buFont typeface="Arial"/>
              <a:buNone/>
            </a:pPr>
            <a:r>
              <a:rPr b="0" i="0" lang="en-GB" sz="2800" u="none" cap="none" strike="noStrike">
                <a:solidFill>
                  <a:schemeClr val="dk1"/>
                </a:solidFill>
                <a:latin typeface="Arial"/>
                <a:ea typeface="Arial"/>
                <a:cs typeface="Arial"/>
                <a:sym typeface="Arial"/>
              </a:rPr>
              <a:t>&gt;&gt;&gt; 1024           &gt;&gt;&gt; -1024             &gt;&gt;&gt; .1024</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800"/>
              <a:buFont typeface="Arial"/>
              <a:buNone/>
            </a:pPr>
            <a:r>
              <a:rPr b="0" i="0" lang="en-GB" sz="2800" u="none" cap="none" strike="noStrike">
                <a:solidFill>
                  <a:schemeClr val="dk1"/>
                </a:solidFill>
                <a:latin typeface="Arial"/>
                <a:ea typeface="Arial"/>
                <a:cs typeface="Arial"/>
                <a:sym typeface="Arial"/>
              </a:rPr>
              <a:t>  </a:t>
            </a:r>
            <a:br>
              <a:rPr b="0" i="0" lang="en-GB" sz="2800" u="none" cap="none" strike="noStrike">
                <a:solidFill>
                  <a:schemeClr val="dk1"/>
                </a:solidFill>
                <a:latin typeface="Arial"/>
                <a:ea typeface="Arial"/>
                <a:cs typeface="Arial"/>
                <a:sym typeface="Arial"/>
              </a:rPr>
            </a:br>
            <a:r>
              <a:rPr b="0" i="0" lang="en-GB" sz="2800" u="none" cap="none" strike="noStrike">
                <a:solidFill>
                  <a:schemeClr val="dk1"/>
                </a:solidFill>
                <a:latin typeface="Arial"/>
                <a:ea typeface="Arial"/>
                <a:cs typeface="Arial"/>
                <a:sym typeface="Arial"/>
              </a:rPr>
              <a:t>&gt;&gt;&gt; 1,024          &gt;&gt;&gt; 0.01024         &gt;&gt;&gt; 1,024.46</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ph idx="1" type="subTitle"/>
          </p:nvPr>
        </p:nvSpPr>
        <p:spPr>
          <a:xfrm>
            <a:off x="3176965" y="309324"/>
            <a:ext cx="6688187"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3.2 String Literals</a:t>
            </a:r>
            <a:endParaRPr b="1" i="0" sz="4000">
              <a:solidFill>
                <a:srgbClr val="191919"/>
              </a:solidFill>
              <a:latin typeface="Arial"/>
              <a:ea typeface="Arial"/>
              <a:cs typeface="Arial"/>
              <a:sym typeface="Arial"/>
            </a:endParaRPr>
          </a:p>
        </p:txBody>
      </p:sp>
      <p:graphicFrame>
        <p:nvGraphicFramePr>
          <p:cNvPr id="243" name="Google Shape;243;p14"/>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3.2 String Literal</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44" name="Google Shape;244;p14"/>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45" name="Google Shape;245;p14"/>
          <p:cNvCxnSpPr/>
          <p:nvPr/>
        </p:nvCxnSpPr>
        <p:spPr>
          <a:xfrm>
            <a:off x="3176965" y="1220093"/>
            <a:ext cx="7732800" cy="0"/>
          </a:xfrm>
          <a:prstGeom prst="straightConnector1">
            <a:avLst/>
          </a:prstGeom>
          <a:noFill/>
          <a:ln cap="flat" cmpd="sng" w="9525">
            <a:solidFill>
              <a:schemeClr val="dk1"/>
            </a:solidFill>
            <a:prstDash val="solid"/>
            <a:round/>
            <a:headEnd len="med" w="med" type="oval"/>
            <a:tailEnd len="med" w="med" type="oval"/>
          </a:ln>
        </p:spPr>
      </p:cxnSp>
      <p:sp>
        <p:nvSpPr>
          <p:cNvPr id="246" name="Google Shape;246;p14"/>
          <p:cNvSpPr/>
          <p:nvPr/>
        </p:nvSpPr>
        <p:spPr>
          <a:xfrm>
            <a:off x="2635135" y="1308577"/>
            <a:ext cx="9010997" cy="83099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 </a:t>
            </a:r>
            <a:r>
              <a:rPr b="0" i="0" lang="en-GB" sz="2400" u="none" cap="none" strike="noStrike">
                <a:solidFill>
                  <a:srgbClr val="D4650A"/>
                </a:solidFill>
                <a:latin typeface="Arial"/>
                <a:ea typeface="Arial"/>
                <a:cs typeface="Arial"/>
                <a:sym typeface="Arial"/>
              </a:rPr>
              <a:t>string literal </a:t>
            </a:r>
            <a:r>
              <a:rPr b="0" i="0" lang="en-GB" sz="2400" u="none" cap="none" strike="noStrike">
                <a:solidFill>
                  <a:schemeClr val="dk1"/>
                </a:solidFill>
                <a:latin typeface="Arial"/>
                <a:ea typeface="Arial"/>
                <a:cs typeface="Arial"/>
                <a:sym typeface="Arial"/>
              </a:rPr>
              <a:t>or “string”, represent a sequence of characters:</a:t>
            </a:r>
            <a:endParaRPr b="0" i="0" sz="2400" u="none" cap="none" strike="noStrike">
              <a:solidFill>
                <a:srgbClr val="00B0F0"/>
              </a:solidFill>
              <a:latin typeface="Arial"/>
              <a:ea typeface="Arial"/>
              <a:cs typeface="Arial"/>
              <a:sym typeface="Arial"/>
            </a:endParaRPr>
          </a:p>
        </p:txBody>
      </p:sp>
      <p:sp>
        <p:nvSpPr>
          <p:cNvPr id="247" name="Google Shape;247;p14"/>
          <p:cNvSpPr/>
          <p:nvPr/>
        </p:nvSpPr>
        <p:spPr>
          <a:xfrm>
            <a:off x="2722823" y="3206086"/>
            <a:ext cx="9010997" cy="156966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In Python, string literals may be delimited (</a:t>
            </a:r>
            <a:r>
              <a:rPr b="1" i="0" lang="en-GB" sz="2400" u="none" cap="none" strike="noStrike">
                <a:solidFill>
                  <a:srgbClr val="D4650A"/>
                </a:solidFill>
                <a:latin typeface="Arial"/>
                <a:ea typeface="Arial"/>
                <a:cs typeface="Arial"/>
                <a:sym typeface="Arial"/>
              </a:rPr>
              <a:t>surrounded</a:t>
            </a:r>
            <a:r>
              <a:rPr b="0" i="0" lang="en-GB" sz="2400" u="none" cap="none" strike="noStrike">
                <a:solidFill>
                  <a:schemeClr val="dk1"/>
                </a:solidFill>
                <a:latin typeface="Arial"/>
                <a:ea typeface="Arial"/>
                <a:cs typeface="Arial"/>
                <a:sym typeface="Arial"/>
              </a:rPr>
              <a:t>) by a matching pair of either </a:t>
            </a:r>
            <a:r>
              <a:rPr b="1" i="0" lang="en-GB" sz="2400" u="none" cap="none" strike="noStrike">
                <a:solidFill>
                  <a:srgbClr val="D4650A"/>
                </a:solidFill>
                <a:latin typeface="Arial"/>
                <a:ea typeface="Arial"/>
                <a:cs typeface="Arial"/>
                <a:sym typeface="Arial"/>
              </a:rPr>
              <a:t>single(‘’) or double(“”) </a:t>
            </a:r>
            <a:r>
              <a:rPr b="0" i="0" lang="en-GB" sz="2400" u="none" cap="none" strike="noStrike">
                <a:solidFill>
                  <a:schemeClr val="dk1"/>
                </a:solidFill>
                <a:latin typeface="Arial"/>
                <a:ea typeface="Arial"/>
                <a:cs typeface="Arial"/>
                <a:sym typeface="Arial"/>
              </a:rPr>
              <a:t>quotes. String must be contained all on one line (except when delimited by triple quotes).</a:t>
            </a:r>
            <a:endParaRPr b="0" i="0" sz="2400" u="none" cap="none" strike="noStrike">
              <a:solidFill>
                <a:srgbClr val="00B0F0"/>
              </a:solidFill>
              <a:latin typeface="Arial"/>
              <a:ea typeface="Arial"/>
              <a:cs typeface="Arial"/>
              <a:sym typeface="Arial"/>
            </a:endParaRPr>
          </a:p>
        </p:txBody>
      </p:sp>
      <p:sp>
        <p:nvSpPr>
          <p:cNvPr id="248" name="Google Shape;248;p14"/>
          <p:cNvSpPr/>
          <p:nvPr/>
        </p:nvSpPr>
        <p:spPr>
          <a:xfrm>
            <a:off x="3791523" y="2429362"/>
            <a:ext cx="727557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B0F0"/>
                </a:solidFill>
                <a:latin typeface="Arial"/>
                <a:ea typeface="Arial"/>
                <a:cs typeface="Arial"/>
                <a:sym typeface="Arial"/>
              </a:rPr>
              <a:t>'Hello'   'Smith, John'   "Baltimore, Maryland 21210"</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5"/>
          <p:cNvSpPr txBox="1"/>
          <p:nvPr>
            <p:ph idx="1" type="subTitle"/>
          </p:nvPr>
        </p:nvSpPr>
        <p:spPr>
          <a:xfrm>
            <a:off x="3009894" y="336496"/>
            <a:ext cx="8261478"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3.2.1 What’s inside quotes?</a:t>
            </a:r>
            <a:endParaRPr b="1" i="0" sz="4000">
              <a:solidFill>
                <a:srgbClr val="191919"/>
              </a:solidFill>
              <a:latin typeface="Arial"/>
              <a:ea typeface="Arial"/>
              <a:cs typeface="Arial"/>
              <a:sym typeface="Arial"/>
            </a:endParaRPr>
          </a:p>
        </p:txBody>
      </p:sp>
      <p:graphicFrame>
        <p:nvGraphicFramePr>
          <p:cNvPr id="254" name="Google Shape;254;p15"/>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3.2.1 String, Quotes</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55" name="Google Shape;255;p1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56" name="Google Shape;256;p15"/>
          <p:cNvCxnSpPr/>
          <p:nvPr/>
        </p:nvCxnSpPr>
        <p:spPr>
          <a:xfrm>
            <a:off x="3176965" y="1203467"/>
            <a:ext cx="7732800" cy="0"/>
          </a:xfrm>
          <a:prstGeom prst="straightConnector1">
            <a:avLst/>
          </a:prstGeom>
          <a:noFill/>
          <a:ln cap="flat" cmpd="sng" w="9525">
            <a:solidFill>
              <a:schemeClr val="dk1"/>
            </a:solidFill>
            <a:prstDash val="solid"/>
            <a:round/>
            <a:headEnd len="med" w="med" type="oval"/>
            <a:tailEnd len="med" w="med" type="oval"/>
          </a:ln>
        </p:spPr>
      </p:cxnSp>
      <p:sp>
        <p:nvSpPr>
          <p:cNvPr id="257" name="Google Shape;257;p15"/>
          <p:cNvSpPr/>
          <p:nvPr/>
        </p:nvSpPr>
        <p:spPr>
          <a:xfrm>
            <a:off x="2635135" y="1308577"/>
            <a:ext cx="9010997" cy="83099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 </a:t>
            </a:r>
            <a:r>
              <a:rPr b="0" i="0" lang="en-GB" sz="2400" u="none" cap="none" strike="noStrike">
                <a:solidFill>
                  <a:srgbClr val="D4650A"/>
                </a:solidFill>
                <a:latin typeface="Arial"/>
                <a:ea typeface="Arial"/>
                <a:cs typeface="Arial"/>
                <a:sym typeface="Arial"/>
              </a:rPr>
              <a:t>string</a:t>
            </a:r>
            <a:r>
              <a:rPr b="0" i="0" lang="en-GB" sz="2400" u="none" cap="none" strike="noStrike">
                <a:solidFill>
                  <a:schemeClr val="dk1"/>
                </a:solidFill>
                <a:latin typeface="Arial"/>
                <a:ea typeface="Arial"/>
                <a:cs typeface="Arial"/>
                <a:sym typeface="Arial"/>
              </a:rPr>
              <a:t> may contain </a:t>
            </a:r>
            <a:r>
              <a:rPr b="1" i="0" lang="en-GB" sz="2400" u="none" cap="none" strike="noStrike">
                <a:solidFill>
                  <a:srgbClr val="D4650A"/>
                </a:solidFill>
                <a:latin typeface="Arial"/>
                <a:ea typeface="Arial"/>
                <a:cs typeface="Arial"/>
                <a:sym typeface="Arial"/>
              </a:rPr>
              <a:t>zero or more characters</a:t>
            </a:r>
            <a:r>
              <a:rPr b="0" i="0" lang="en-GB" sz="2400" u="none" cap="none" strike="noStrike">
                <a:solidFill>
                  <a:schemeClr val="dk1"/>
                </a:solidFill>
                <a:latin typeface="Arial"/>
                <a:ea typeface="Arial"/>
                <a:cs typeface="Arial"/>
                <a:sym typeface="Arial"/>
              </a:rPr>
              <a:t>, including </a:t>
            </a:r>
            <a:r>
              <a:rPr b="0" i="0" lang="en-GB" sz="2400" u="none" cap="none" strike="noStrike">
                <a:solidFill>
                  <a:srgbClr val="D4650A"/>
                </a:solidFill>
                <a:latin typeface="Arial"/>
                <a:ea typeface="Arial"/>
                <a:cs typeface="Arial"/>
                <a:sym typeface="Arial"/>
              </a:rPr>
              <a:t>letters</a:t>
            </a:r>
            <a:r>
              <a:rPr b="0" i="0" lang="en-GB" sz="2400" u="none" cap="none" strike="noStrike">
                <a:solidFill>
                  <a:schemeClr val="dk1"/>
                </a:solidFill>
                <a:latin typeface="Arial"/>
                <a:ea typeface="Arial"/>
                <a:cs typeface="Arial"/>
                <a:sym typeface="Arial"/>
              </a:rPr>
              <a:t>, </a:t>
            </a:r>
            <a:r>
              <a:rPr b="0" i="0" lang="en-GB" sz="2400" u="none" cap="none" strike="noStrike">
                <a:solidFill>
                  <a:srgbClr val="D4650A"/>
                </a:solidFill>
                <a:latin typeface="Arial"/>
                <a:ea typeface="Arial"/>
                <a:cs typeface="Arial"/>
                <a:sym typeface="Arial"/>
              </a:rPr>
              <a:t>digits, special characters, and blanks.</a:t>
            </a:r>
            <a:endParaRPr b="0" i="0" sz="2400" u="none" cap="none" strike="noStrike">
              <a:solidFill>
                <a:srgbClr val="D4650A"/>
              </a:solidFill>
              <a:latin typeface="Arial"/>
              <a:ea typeface="Arial"/>
              <a:cs typeface="Arial"/>
              <a:sym typeface="Arial"/>
            </a:endParaRPr>
          </a:p>
        </p:txBody>
      </p:sp>
      <p:sp>
        <p:nvSpPr>
          <p:cNvPr id="258" name="Google Shape;258;p15"/>
          <p:cNvSpPr/>
          <p:nvPr/>
        </p:nvSpPr>
        <p:spPr>
          <a:xfrm>
            <a:off x="2731136" y="4454204"/>
            <a:ext cx="9010997"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rgbClr val="FF0000"/>
                </a:solidFill>
                <a:latin typeface="Arial"/>
                <a:ea typeface="Arial"/>
                <a:cs typeface="Arial"/>
                <a:sym typeface="Arial"/>
              </a:rPr>
              <a:t>Note: String may also contain quote characters as long as different quotes (single vs. double) are used to delimit the string.</a:t>
            </a:r>
            <a:endParaRPr b="1" i="0" sz="2400" u="none" cap="none" strike="noStrike">
              <a:solidFill>
                <a:srgbClr val="FF0000"/>
              </a:solidFill>
              <a:latin typeface="Arial"/>
              <a:ea typeface="Arial"/>
              <a:cs typeface="Arial"/>
              <a:sym typeface="Arial"/>
            </a:endParaRPr>
          </a:p>
        </p:txBody>
      </p:sp>
      <p:sp>
        <p:nvSpPr>
          <p:cNvPr id="259" name="Google Shape;259;p15"/>
          <p:cNvSpPr/>
          <p:nvPr/>
        </p:nvSpPr>
        <p:spPr>
          <a:xfrm>
            <a:off x="2635135" y="2455800"/>
            <a:ext cx="9010997" cy="193899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 </a:t>
            </a:r>
            <a:r>
              <a:rPr b="0" i="0" lang="en-GB" sz="2400" u="none" cap="none" strike="noStrike">
                <a:solidFill>
                  <a:srgbClr val="D4650A"/>
                </a:solidFill>
                <a:latin typeface="Arial"/>
                <a:ea typeface="Arial"/>
                <a:cs typeface="Arial"/>
                <a:sym typeface="Arial"/>
              </a:rPr>
              <a:t>string</a:t>
            </a:r>
            <a:r>
              <a:rPr b="0" i="0" lang="en-GB" sz="2400" u="none" cap="none" strike="noStrike">
                <a:solidFill>
                  <a:schemeClr val="dk1"/>
                </a:solidFill>
                <a:latin typeface="Arial"/>
                <a:ea typeface="Arial"/>
                <a:cs typeface="Arial"/>
                <a:sym typeface="Arial"/>
              </a:rPr>
              <a:t> may also be </a:t>
            </a:r>
            <a:r>
              <a:rPr b="0" i="0" lang="en-GB" sz="2400" u="none" cap="none" strike="noStrike">
                <a:solidFill>
                  <a:srgbClr val="D4650A"/>
                </a:solidFill>
                <a:latin typeface="Arial"/>
                <a:ea typeface="Arial"/>
                <a:cs typeface="Arial"/>
                <a:sym typeface="Arial"/>
              </a:rPr>
              <a:t>empty</a:t>
            </a:r>
            <a:r>
              <a:rPr b="0" i="0" lang="en-GB" sz="2400" u="none" cap="none" strike="noStrike">
                <a:solidFill>
                  <a:schemeClr val="dk1"/>
                </a:solidFill>
                <a:latin typeface="Arial"/>
                <a:ea typeface="Arial"/>
                <a:cs typeface="Arial"/>
                <a:sym typeface="Arial"/>
              </a:rPr>
              <a:t> which is different from </a:t>
            </a:r>
            <a:r>
              <a:rPr b="0" i="0" lang="en-GB" sz="2400" u="none" cap="none" strike="noStrike">
                <a:solidFill>
                  <a:srgbClr val="D4650A"/>
                </a:solidFill>
                <a:latin typeface="Arial"/>
                <a:ea typeface="Arial"/>
                <a:cs typeface="Arial"/>
                <a:sym typeface="Arial"/>
              </a:rPr>
              <a:t>blank string</a:t>
            </a:r>
            <a:r>
              <a:rPr b="0" i="0" lang="en-GB" sz="2400" u="none" cap="none" strike="noStrike">
                <a:solidFill>
                  <a:schemeClr val="dk1"/>
                </a:solidFill>
                <a:latin typeface="Arial"/>
                <a:ea typeface="Arial"/>
                <a:cs typeface="Arial"/>
                <a:sym typeface="Arial"/>
              </a:rPr>
              <a:t>. </a:t>
            </a:r>
            <a:r>
              <a:rPr b="1" i="0" lang="en-GB" sz="2400" u="none" cap="none" strike="noStrike">
                <a:solidFill>
                  <a:srgbClr val="00B050"/>
                </a:solidFill>
                <a:latin typeface="Arial"/>
                <a:ea typeface="Arial"/>
                <a:cs typeface="Arial"/>
                <a:sym typeface="Arial"/>
              </a:rPr>
              <a:t>Empty strings </a:t>
            </a:r>
            <a:r>
              <a:rPr b="0" i="0" lang="en-GB" sz="2400" u="none" cap="none" strike="noStrike">
                <a:solidFill>
                  <a:schemeClr val="dk1"/>
                </a:solidFill>
                <a:latin typeface="Arial"/>
                <a:ea typeface="Arial"/>
                <a:cs typeface="Arial"/>
                <a:sym typeface="Arial"/>
              </a:rPr>
              <a:t>consists of only a pair of matching quotes (</a:t>
            </a:r>
            <a:r>
              <a:rPr b="1" i="0" lang="en-GB" sz="2400" u="none" cap="none" strike="noStrike">
                <a:solidFill>
                  <a:srgbClr val="D4650A"/>
                </a:solidFill>
                <a:latin typeface="Arial"/>
                <a:ea typeface="Arial"/>
                <a:cs typeface="Arial"/>
                <a:sym typeface="Arial"/>
              </a:rPr>
              <a:t>with nothing in between</a:t>
            </a:r>
            <a:r>
              <a:rPr b="0" i="0" lang="en-GB" sz="2400" u="none" cap="none" strike="noStrike">
                <a:solidFill>
                  <a:schemeClr val="dk1"/>
                </a:solidFill>
                <a:latin typeface="Arial"/>
                <a:ea typeface="Arial"/>
                <a:cs typeface="Arial"/>
                <a:sym typeface="Arial"/>
              </a:rPr>
              <a:t>) whereas </a:t>
            </a:r>
            <a:r>
              <a:rPr b="1" i="0" lang="en-GB" sz="2400" u="none" cap="none" strike="noStrike">
                <a:solidFill>
                  <a:srgbClr val="00B050"/>
                </a:solidFill>
                <a:latin typeface="Arial"/>
                <a:ea typeface="Arial"/>
                <a:cs typeface="Arial"/>
                <a:sym typeface="Arial"/>
              </a:rPr>
              <a:t>blank string </a:t>
            </a:r>
            <a:r>
              <a:rPr b="0" i="0" lang="en-GB" sz="2400" u="none" cap="none" strike="noStrike">
                <a:solidFill>
                  <a:schemeClr val="dk1"/>
                </a:solidFill>
                <a:latin typeface="Arial"/>
                <a:ea typeface="Arial"/>
                <a:cs typeface="Arial"/>
                <a:sym typeface="Arial"/>
              </a:rPr>
              <a:t>contains a </a:t>
            </a:r>
            <a:r>
              <a:rPr b="1" i="0" lang="en-GB" sz="2400" u="none" cap="none" strike="noStrike">
                <a:solidFill>
                  <a:srgbClr val="D4650A"/>
                </a:solidFill>
                <a:latin typeface="Arial"/>
                <a:ea typeface="Arial"/>
                <a:cs typeface="Arial"/>
                <a:sym typeface="Arial"/>
              </a:rPr>
              <a:t>space inside</a:t>
            </a:r>
            <a:r>
              <a:rPr b="0" i="0" lang="en-GB" sz="2400" u="none" cap="none" strike="noStrike">
                <a:solidFill>
                  <a:schemeClr val="dk1"/>
                </a:solidFill>
                <a:latin typeface="Arial"/>
                <a:ea typeface="Arial"/>
                <a:cs typeface="Arial"/>
                <a:sym typeface="Arial"/>
              </a:rPr>
              <a:t> matching quotes. Both empty and blank spaces have their own uses.</a:t>
            </a:r>
            <a:endParaRPr b="0" i="0" sz="2400" u="none" cap="none" strike="noStrike">
              <a:solidFill>
                <a:srgbClr val="00B0F0"/>
              </a:solidFill>
              <a:latin typeface="Arial"/>
              <a:ea typeface="Arial"/>
              <a:cs typeface="Arial"/>
              <a:sym typeface="Arial"/>
            </a:endParaRPr>
          </a:p>
        </p:txBody>
      </p:sp>
      <p:sp>
        <p:nvSpPr>
          <p:cNvPr id="260" name="Google Shape;260;p15"/>
          <p:cNvSpPr txBox="1"/>
          <p:nvPr/>
        </p:nvSpPr>
        <p:spPr>
          <a:xfrm>
            <a:off x="3526675" y="5713945"/>
            <a:ext cx="610569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2000" u="none" cap="none" strike="noStrike">
                <a:solidFill>
                  <a:srgbClr val="000000"/>
                </a:solidFill>
                <a:latin typeface="Arial"/>
                <a:ea typeface="Arial"/>
                <a:cs typeface="Arial"/>
                <a:sym typeface="Arial"/>
              </a:rPr>
              <a:t>'This is a "valid" string with single quotes.'</a:t>
            </a:r>
            <a:endParaRPr/>
          </a:p>
        </p:txBody>
      </p:sp>
      <p:sp>
        <p:nvSpPr>
          <p:cNvPr id="261" name="Google Shape;261;p15"/>
          <p:cNvSpPr txBox="1"/>
          <p:nvPr/>
        </p:nvSpPr>
        <p:spPr>
          <a:xfrm>
            <a:off x="3526675" y="6213727"/>
            <a:ext cx="6105698"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GB" sz="2000" u="none" cap="none" strike="noStrike">
                <a:solidFill>
                  <a:srgbClr val="000000"/>
                </a:solidFill>
                <a:latin typeface="Arial"/>
                <a:ea typeface="Arial"/>
                <a:cs typeface="Arial"/>
                <a:sym typeface="Arial"/>
              </a:rPr>
              <a:t>"This is a 'valid' string with double quotes."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6"/>
          <p:cNvSpPr txBox="1"/>
          <p:nvPr>
            <p:ph idx="1" type="subTitle"/>
          </p:nvPr>
        </p:nvSpPr>
        <p:spPr>
          <a:xfrm>
            <a:off x="2737713" y="458065"/>
            <a:ext cx="9079490" cy="11667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3600"/>
              <a:buNone/>
            </a:pPr>
            <a:r>
              <a:rPr b="1" lang="en-GB" sz="3600">
                <a:solidFill>
                  <a:srgbClr val="191919"/>
                </a:solidFill>
                <a:latin typeface="Arial"/>
                <a:ea typeface="Arial"/>
                <a:cs typeface="Arial"/>
                <a:sym typeface="Arial"/>
              </a:rPr>
              <a:t>3.2.2 Let’s Understand Through </a:t>
            </a:r>
            <a:endParaRPr/>
          </a:p>
          <a:p>
            <a:pPr indent="0" lvl="0" marL="0" rtl="0" algn="l">
              <a:lnSpc>
                <a:spcPct val="90000"/>
              </a:lnSpc>
              <a:spcBef>
                <a:spcPts val="0"/>
              </a:spcBef>
              <a:spcAft>
                <a:spcPts val="0"/>
              </a:spcAft>
              <a:buClr>
                <a:srgbClr val="191919"/>
              </a:buClr>
              <a:buSzPts val="3600"/>
              <a:buNone/>
            </a:pPr>
            <a:r>
              <a:rPr b="1" lang="en-GB" sz="3600">
                <a:solidFill>
                  <a:srgbClr val="191919"/>
                </a:solidFill>
                <a:latin typeface="Arial"/>
                <a:ea typeface="Arial"/>
                <a:cs typeface="Arial"/>
                <a:sym typeface="Arial"/>
              </a:rPr>
              <a:t>Example</a:t>
            </a:r>
            <a:endParaRPr b="1" i="0" sz="3600">
              <a:solidFill>
                <a:srgbClr val="191919"/>
              </a:solidFill>
              <a:latin typeface="Arial"/>
              <a:ea typeface="Arial"/>
              <a:cs typeface="Arial"/>
              <a:sym typeface="Arial"/>
            </a:endParaRPr>
          </a:p>
        </p:txBody>
      </p:sp>
      <p:graphicFrame>
        <p:nvGraphicFramePr>
          <p:cNvPr id="267" name="Google Shape;267;p16"/>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3.2.1 String, Quotes</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3.2.2 Example</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68" name="Google Shape;268;p1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69" name="Google Shape;269;p16"/>
          <p:cNvCxnSpPr/>
          <p:nvPr/>
        </p:nvCxnSpPr>
        <p:spPr>
          <a:xfrm>
            <a:off x="2876460" y="1624803"/>
            <a:ext cx="8940743" cy="0"/>
          </a:xfrm>
          <a:prstGeom prst="straightConnector1">
            <a:avLst/>
          </a:prstGeom>
          <a:noFill/>
          <a:ln cap="flat" cmpd="sng" w="9525">
            <a:solidFill>
              <a:schemeClr val="dk1"/>
            </a:solidFill>
            <a:prstDash val="solid"/>
            <a:round/>
            <a:headEnd len="med" w="med" type="oval"/>
            <a:tailEnd len="med" w="med" type="oval"/>
          </a:ln>
        </p:spPr>
      </p:cxnSp>
      <p:pic>
        <p:nvPicPr>
          <p:cNvPr id="270" name="Google Shape;270;p16"/>
          <p:cNvPicPr preferRelativeResize="0"/>
          <p:nvPr/>
        </p:nvPicPr>
        <p:blipFill rotWithShape="1">
          <a:blip r:embed="rId3">
            <a:alphaModFix/>
          </a:blip>
          <a:srcRect b="0" l="0" r="0" t="0"/>
          <a:stretch/>
        </p:blipFill>
        <p:spPr>
          <a:xfrm>
            <a:off x="2709693" y="2446249"/>
            <a:ext cx="9107510" cy="22771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7"/>
          <p:cNvSpPr txBox="1"/>
          <p:nvPr>
            <p:ph idx="1" type="subTitle"/>
          </p:nvPr>
        </p:nvSpPr>
        <p:spPr>
          <a:xfrm>
            <a:off x="2910250" y="359039"/>
            <a:ext cx="8576551"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B050"/>
              </a:buClr>
              <a:buSzPts val="4800"/>
              <a:buNone/>
            </a:pPr>
            <a:r>
              <a:rPr b="1" lang="en-GB" sz="4000">
                <a:solidFill>
                  <a:srgbClr val="00B050"/>
                </a:solidFill>
                <a:latin typeface="Arial"/>
                <a:ea typeface="Arial"/>
                <a:cs typeface="Arial"/>
                <a:sym typeface="Arial"/>
              </a:rPr>
              <a:t>3.2.3 Let’s Try!!</a:t>
            </a:r>
            <a:endParaRPr b="1" i="0" sz="4000">
              <a:solidFill>
                <a:srgbClr val="00B050"/>
              </a:solidFill>
              <a:latin typeface="Arial"/>
              <a:ea typeface="Arial"/>
              <a:cs typeface="Arial"/>
              <a:sym typeface="Arial"/>
            </a:endParaRPr>
          </a:p>
        </p:txBody>
      </p:sp>
      <p:graphicFrame>
        <p:nvGraphicFramePr>
          <p:cNvPr id="276" name="Google Shape;276;p17"/>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342900" lvl="0" marL="342900" marR="0" rtl="0" algn="ctr">
                        <a:lnSpc>
                          <a:spcPct val="150000"/>
                        </a:lnSpc>
                        <a:spcBef>
                          <a:spcPts val="0"/>
                        </a:spcBef>
                        <a:spcAft>
                          <a:spcPts val="0"/>
                        </a:spcAft>
                        <a:buClr>
                          <a:schemeClr val="dk1"/>
                        </a:buClr>
                        <a:buSzPts val="1600"/>
                        <a:buFont typeface="Arial"/>
                        <a:buAutoNum type="arabicPeriod"/>
                      </a:pPr>
                      <a:r>
                        <a:rPr b="1" lang="en-GB" sz="1600" u="none" cap="none" strike="noStrike">
                          <a:solidFill>
                            <a:schemeClr val="dk1"/>
                          </a:solidFill>
                          <a:latin typeface="Arial"/>
                          <a:ea typeface="Arial"/>
                          <a:cs typeface="Arial"/>
                          <a:sym typeface="Arial"/>
                        </a:rPr>
                        <a:t>Let’s Recap</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1.1 Researched?</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2. Introduction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3.2.1 String, Quotes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3.2.2 Example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3.2.3 Try Out</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277" name="Google Shape;277;p1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78" name="Google Shape;278;p17"/>
          <p:cNvCxnSpPr/>
          <p:nvPr/>
        </p:nvCxnSpPr>
        <p:spPr>
          <a:xfrm flipH="1" rot="10800000">
            <a:off x="2869779" y="1221247"/>
            <a:ext cx="9119061" cy="76056"/>
          </a:xfrm>
          <a:prstGeom prst="straightConnector1">
            <a:avLst/>
          </a:prstGeom>
          <a:noFill/>
          <a:ln cap="flat" cmpd="sng" w="9525">
            <a:solidFill>
              <a:schemeClr val="dk1"/>
            </a:solidFill>
            <a:prstDash val="solid"/>
            <a:round/>
            <a:headEnd len="med" w="med" type="oval"/>
            <a:tailEnd len="med" w="med" type="oval"/>
          </a:ln>
        </p:spPr>
      </p:cxnSp>
      <p:sp>
        <p:nvSpPr>
          <p:cNvPr id="279" name="Google Shape;279;p17"/>
          <p:cNvSpPr/>
          <p:nvPr/>
        </p:nvSpPr>
        <p:spPr>
          <a:xfrm>
            <a:off x="2910250" y="1810450"/>
            <a:ext cx="8727568" cy="73862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1" i="0" lang="en-GB" sz="2800" u="none" cap="none" strike="noStrike">
                <a:solidFill>
                  <a:schemeClr val="dk1"/>
                </a:solidFill>
                <a:latin typeface="Arial"/>
                <a:ea typeface="Arial"/>
                <a:cs typeface="Arial"/>
                <a:sym typeface="Arial"/>
              </a:rPr>
              <a:t>What will be displayed by each of the following?</a:t>
            </a:r>
            <a:endParaRPr b="1" i="0" sz="2800" u="none" cap="none" strike="noStrike">
              <a:solidFill>
                <a:schemeClr val="dk1"/>
              </a:solidFill>
              <a:latin typeface="Arial"/>
              <a:ea typeface="Arial"/>
              <a:cs typeface="Arial"/>
              <a:sym typeface="Arial"/>
            </a:endParaRPr>
          </a:p>
        </p:txBody>
      </p:sp>
      <p:pic>
        <p:nvPicPr>
          <p:cNvPr id="280" name="Google Shape;280;p17"/>
          <p:cNvPicPr preferRelativeResize="0"/>
          <p:nvPr/>
        </p:nvPicPr>
        <p:blipFill rotWithShape="1">
          <a:blip r:embed="rId3">
            <a:alphaModFix/>
          </a:blip>
          <a:srcRect b="0" l="0" r="0" t="0"/>
          <a:stretch/>
        </p:blipFill>
        <p:spPr>
          <a:xfrm>
            <a:off x="2635135" y="2611304"/>
            <a:ext cx="9556865" cy="404594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8"/>
          <p:cNvSpPr txBox="1"/>
          <p:nvPr>
            <p:ph idx="1" type="subTitle"/>
          </p:nvPr>
        </p:nvSpPr>
        <p:spPr>
          <a:xfrm>
            <a:off x="2678849" y="101953"/>
            <a:ext cx="9169193" cy="132783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600"/>
              <a:buNone/>
            </a:pPr>
            <a:r>
              <a:rPr b="1" lang="en-GB" sz="3000">
                <a:latin typeface="Arial"/>
                <a:ea typeface="Arial"/>
                <a:cs typeface="Arial"/>
                <a:sym typeface="Arial"/>
              </a:rPr>
              <a:t>How will computer understand the </a:t>
            </a:r>
            <a:endParaRPr/>
          </a:p>
          <a:p>
            <a:pPr indent="0" lvl="0" marL="0" rtl="0" algn="l">
              <a:lnSpc>
                <a:spcPct val="100000"/>
              </a:lnSpc>
              <a:spcBef>
                <a:spcPts val="0"/>
              </a:spcBef>
              <a:spcAft>
                <a:spcPts val="0"/>
              </a:spcAft>
              <a:buClr>
                <a:schemeClr val="dk1"/>
              </a:buClr>
              <a:buSzPts val="3600"/>
              <a:buNone/>
            </a:pPr>
            <a:r>
              <a:rPr b="1" lang="en-GB" sz="3000">
                <a:latin typeface="Arial"/>
                <a:ea typeface="Arial"/>
                <a:cs typeface="Arial"/>
                <a:sym typeface="Arial"/>
              </a:rPr>
              <a:t>characters?</a:t>
            </a:r>
            <a:endParaRPr sz="3000">
              <a:latin typeface="Arial"/>
              <a:ea typeface="Arial"/>
              <a:cs typeface="Arial"/>
              <a:sym typeface="Arial"/>
            </a:endParaRPr>
          </a:p>
        </p:txBody>
      </p:sp>
      <p:graphicFrame>
        <p:nvGraphicFramePr>
          <p:cNvPr id="286" name="Google Shape;286;p18"/>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txBody>
                  <a:tcPr marT="45725" marB="45725" marR="91450" marL="91450"/>
                </a:tc>
              </a:tr>
            </a:tbl>
          </a:graphicData>
        </a:graphic>
      </p:graphicFrame>
      <p:sp>
        <p:nvSpPr>
          <p:cNvPr id="287" name="Google Shape;287;p1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88" name="Google Shape;288;p18"/>
          <p:cNvCxnSpPr/>
          <p:nvPr/>
        </p:nvCxnSpPr>
        <p:spPr>
          <a:xfrm>
            <a:off x="2793072" y="1232533"/>
            <a:ext cx="8354295" cy="0"/>
          </a:xfrm>
          <a:prstGeom prst="straightConnector1">
            <a:avLst/>
          </a:prstGeom>
          <a:noFill/>
          <a:ln cap="flat" cmpd="sng" w="9525">
            <a:solidFill>
              <a:schemeClr val="dk1"/>
            </a:solidFill>
            <a:prstDash val="solid"/>
            <a:round/>
            <a:headEnd len="med" w="med" type="oval"/>
            <a:tailEnd len="med" w="med" type="oval"/>
          </a:ln>
        </p:spPr>
      </p:cxnSp>
      <p:sp>
        <p:nvSpPr>
          <p:cNvPr id="289" name="Google Shape;289;p18"/>
          <p:cNvSpPr/>
          <p:nvPr/>
        </p:nvSpPr>
        <p:spPr>
          <a:xfrm>
            <a:off x="2859578" y="1370399"/>
            <a:ext cx="7922029" cy="73862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800"/>
              <a:buFont typeface="Arial"/>
              <a:buNone/>
            </a:pPr>
            <a:r>
              <a:rPr b="1" i="0" lang="en-GB" sz="2800" u="none" cap="none" strike="noStrike">
                <a:solidFill>
                  <a:srgbClr val="FF0000"/>
                </a:solidFill>
                <a:latin typeface="Arial"/>
                <a:ea typeface="Arial"/>
                <a:cs typeface="Arial"/>
                <a:sym typeface="Arial"/>
              </a:rPr>
              <a:t>The answer is Unicode encoding scheme</a:t>
            </a:r>
            <a:endParaRPr b="1" i="0" sz="2800" u="none" cap="none" strike="noStrike">
              <a:solidFill>
                <a:srgbClr val="FF0000"/>
              </a:solidFill>
              <a:latin typeface="Arial"/>
              <a:ea typeface="Arial"/>
              <a:cs typeface="Arial"/>
              <a:sym typeface="Arial"/>
            </a:endParaRPr>
          </a:p>
        </p:txBody>
      </p:sp>
      <p:sp>
        <p:nvSpPr>
          <p:cNvPr id="290" name="Google Shape;290;p18"/>
          <p:cNvSpPr/>
          <p:nvPr/>
        </p:nvSpPr>
        <p:spPr>
          <a:xfrm>
            <a:off x="2638882" y="2098158"/>
            <a:ext cx="9169193" cy="193895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Unicode [</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Unicode is actually a collection of different </a:t>
            </a:r>
            <a:r>
              <a:rPr b="0" i="0" lang="en-GB" sz="2400" u="none" cap="none" strike="noStrike">
                <a:solidFill>
                  <a:srgbClr val="D4650A"/>
                </a:solidFill>
                <a:latin typeface="Arial"/>
                <a:ea typeface="Arial"/>
                <a:cs typeface="Arial"/>
                <a:sym typeface="Arial"/>
              </a:rPr>
              <a:t>encoding schemes </a:t>
            </a:r>
            <a:r>
              <a:rPr b="0" i="0" lang="en-GB" sz="2400" u="none" cap="none" strike="noStrike">
                <a:solidFill>
                  <a:schemeClr val="dk1"/>
                </a:solidFill>
                <a:latin typeface="Arial"/>
                <a:ea typeface="Arial"/>
                <a:cs typeface="Arial"/>
                <a:sym typeface="Arial"/>
              </a:rPr>
              <a:t>utilizing between </a:t>
            </a:r>
            <a:r>
              <a:rPr b="0" i="0" lang="en-GB" sz="2400" u="none" cap="none" strike="noStrike">
                <a:solidFill>
                  <a:srgbClr val="D4650A"/>
                </a:solidFill>
                <a:latin typeface="Arial"/>
                <a:ea typeface="Arial"/>
                <a:cs typeface="Arial"/>
                <a:sym typeface="Arial"/>
              </a:rPr>
              <a:t>8 and 32 </a:t>
            </a:r>
            <a:r>
              <a:rPr b="0" i="0" lang="en-GB" sz="2400" u="none" cap="none" strike="noStrike">
                <a:solidFill>
                  <a:schemeClr val="dk1"/>
                </a:solidFill>
                <a:latin typeface="Arial"/>
                <a:ea typeface="Arial"/>
                <a:cs typeface="Arial"/>
                <a:sym typeface="Arial"/>
              </a:rPr>
              <a:t>bits for each character. The default encoding </a:t>
            </a:r>
            <a:r>
              <a:rPr b="1" i="0" lang="en-GB" sz="2400" u="none" cap="none" strike="noStrike">
                <a:solidFill>
                  <a:srgbClr val="D4650A"/>
                </a:solidFill>
                <a:latin typeface="Arial"/>
                <a:ea typeface="Arial"/>
                <a:cs typeface="Arial"/>
                <a:sym typeface="Arial"/>
              </a:rPr>
              <a:t>Python</a:t>
            </a:r>
            <a:r>
              <a:rPr b="0" i="0" lang="en-GB" sz="2400" u="none" cap="none" strike="noStrike">
                <a:solidFill>
                  <a:schemeClr val="dk1"/>
                </a:solidFill>
                <a:latin typeface="Arial"/>
                <a:ea typeface="Arial"/>
                <a:cs typeface="Arial"/>
                <a:sym typeface="Arial"/>
              </a:rPr>
              <a:t> uses </a:t>
            </a:r>
            <a:r>
              <a:rPr b="1" i="0" lang="en-GB" sz="2400" u="none" cap="none" strike="noStrike">
                <a:solidFill>
                  <a:schemeClr val="dk1"/>
                </a:solidFill>
                <a:latin typeface="Arial"/>
                <a:ea typeface="Arial"/>
                <a:cs typeface="Arial"/>
                <a:sym typeface="Arial"/>
              </a:rPr>
              <a:t>UTF-8</a:t>
            </a:r>
            <a:r>
              <a:rPr b="0" i="0" lang="en-GB" sz="2400" u="none" cap="none" strike="noStrike">
                <a:solidFill>
                  <a:schemeClr val="dk1"/>
                </a:solidFill>
                <a:latin typeface="Arial"/>
                <a:ea typeface="Arial"/>
                <a:cs typeface="Arial"/>
                <a:sym typeface="Arial"/>
              </a:rPr>
              <a:t>, an </a:t>
            </a:r>
            <a:r>
              <a:rPr b="0" i="0" lang="en-GB" sz="2400" u="none" cap="none" strike="noStrike">
                <a:solidFill>
                  <a:srgbClr val="D4650A"/>
                </a:solidFill>
                <a:latin typeface="Arial"/>
                <a:ea typeface="Arial"/>
                <a:cs typeface="Arial"/>
                <a:sym typeface="Arial"/>
              </a:rPr>
              <a:t>8-bit encoding compatible with ASCII</a:t>
            </a:r>
            <a:r>
              <a:rPr b="0" i="0" lang="en-GB" sz="2400" u="none" cap="none" strike="noStrike">
                <a:solidFill>
                  <a:schemeClr val="dk1"/>
                </a:solidFill>
                <a:latin typeface="Arial"/>
                <a:ea typeface="Arial"/>
                <a:cs typeface="Arial"/>
                <a:sym typeface="Arial"/>
              </a:rPr>
              <a:t>, an older, still widely used encoding scheme.</a:t>
            </a:r>
            <a:endParaRPr b="0" i="0" sz="2400" u="none" cap="none" strike="noStrike">
              <a:solidFill>
                <a:schemeClr val="dk1"/>
              </a:solidFill>
              <a:latin typeface="Arial"/>
              <a:ea typeface="Arial"/>
              <a:cs typeface="Arial"/>
              <a:sym typeface="Arial"/>
            </a:endParaRPr>
          </a:p>
        </p:txBody>
      </p:sp>
      <p:sp>
        <p:nvSpPr>
          <p:cNvPr id="291" name="Google Shape;291;p18"/>
          <p:cNvSpPr/>
          <p:nvPr/>
        </p:nvSpPr>
        <p:spPr>
          <a:xfrm>
            <a:off x="2678849" y="4448387"/>
            <a:ext cx="9129226" cy="156962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Currently, there are over 100,000 Unicode-defined characters for many of the languages around the world. Unicode is capable of defining more than 4 billion characters. Thus, every languages can encoded in Unicode.</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9"/>
          <p:cNvSpPr txBox="1"/>
          <p:nvPr>
            <p:ph idx="1" type="subTitle"/>
          </p:nvPr>
        </p:nvSpPr>
        <p:spPr>
          <a:xfrm>
            <a:off x="2567748" y="278457"/>
            <a:ext cx="9624252" cy="1284336"/>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4400"/>
              <a:buNone/>
            </a:pPr>
            <a:r>
              <a:rPr b="1" lang="en-GB" sz="4000">
                <a:latin typeface="Arial"/>
                <a:ea typeface="Arial"/>
                <a:cs typeface="Arial"/>
                <a:sym typeface="Arial"/>
              </a:rPr>
              <a:t>3.3.1 Representing Character </a:t>
            </a:r>
            <a:endParaRPr/>
          </a:p>
          <a:p>
            <a:pPr indent="0" lvl="0" marL="0" rtl="0" algn="l">
              <a:lnSpc>
                <a:spcPct val="100000"/>
              </a:lnSpc>
              <a:spcBef>
                <a:spcPts val="0"/>
              </a:spcBef>
              <a:spcAft>
                <a:spcPts val="0"/>
              </a:spcAft>
              <a:buClr>
                <a:schemeClr val="dk1"/>
              </a:buClr>
              <a:buSzPts val="4400"/>
              <a:buNone/>
            </a:pPr>
            <a:r>
              <a:rPr b="1" lang="en-GB" sz="4000">
                <a:latin typeface="Arial"/>
                <a:ea typeface="Arial"/>
                <a:cs typeface="Arial"/>
                <a:sym typeface="Arial"/>
              </a:rPr>
              <a:t>Values</a:t>
            </a:r>
            <a:endParaRPr b="1" sz="4000">
              <a:latin typeface="Arial"/>
              <a:ea typeface="Arial"/>
              <a:cs typeface="Arial"/>
              <a:sym typeface="Arial"/>
            </a:endParaRPr>
          </a:p>
        </p:txBody>
      </p:sp>
      <p:graphicFrame>
        <p:nvGraphicFramePr>
          <p:cNvPr id="297" name="Google Shape;297;p19"/>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3.3.1 UTF Table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txBody>
                  <a:tcPr marT="45725" marB="45725" marR="91450" marL="91450"/>
                </a:tc>
              </a:tr>
            </a:tbl>
          </a:graphicData>
        </a:graphic>
      </p:graphicFrame>
      <p:sp>
        <p:nvSpPr>
          <p:cNvPr id="298" name="Google Shape;298;p1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299" name="Google Shape;299;p19"/>
          <p:cNvCxnSpPr/>
          <p:nvPr/>
        </p:nvCxnSpPr>
        <p:spPr>
          <a:xfrm>
            <a:off x="2793072" y="1672184"/>
            <a:ext cx="8944499" cy="0"/>
          </a:xfrm>
          <a:prstGeom prst="straightConnector1">
            <a:avLst/>
          </a:prstGeom>
          <a:noFill/>
          <a:ln cap="flat" cmpd="sng" w="9525">
            <a:solidFill>
              <a:schemeClr val="dk1"/>
            </a:solidFill>
            <a:prstDash val="solid"/>
            <a:round/>
            <a:headEnd len="med" w="med" type="oval"/>
            <a:tailEnd len="med" w="med" type="oval"/>
          </a:ln>
        </p:spPr>
      </p:cxnSp>
      <p:sp>
        <p:nvSpPr>
          <p:cNvPr id="300" name="Google Shape;300;p19"/>
          <p:cNvSpPr/>
          <p:nvPr/>
        </p:nvSpPr>
        <p:spPr>
          <a:xfrm>
            <a:off x="2653909" y="4551901"/>
            <a:ext cx="9202445" cy="156962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UTF-8 encoded characters that have an ordering with sequential numerical values.</a:t>
            </a:r>
            <a:endParaRPr b="0" i="0" sz="24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 For example, ‘A’ is encoded as 010000001 (65). This is also true for digit characters, ‘0’ is encoded as 48, ‘1’ as 49, etc.</a:t>
            </a:r>
            <a:endParaRPr b="0" i="0" sz="2400" u="none" cap="none" strike="noStrike">
              <a:solidFill>
                <a:schemeClr val="dk1"/>
              </a:solidFill>
              <a:latin typeface="Arial"/>
              <a:ea typeface="Arial"/>
              <a:cs typeface="Arial"/>
              <a:sym typeface="Arial"/>
            </a:endParaRPr>
          </a:p>
        </p:txBody>
      </p:sp>
      <p:pic>
        <p:nvPicPr>
          <p:cNvPr descr="Fig 2-4.JPG" id="301" name="Google Shape;301;p19"/>
          <p:cNvPicPr preferRelativeResize="0"/>
          <p:nvPr/>
        </p:nvPicPr>
        <p:blipFill rotWithShape="1">
          <a:blip r:embed="rId3">
            <a:alphaModFix/>
          </a:blip>
          <a:srcRect b="0" l="0" r="0" t="0"/>
          <a:stretch/>
        </p:blipFill>
        <p:spPr>
          <a:xfrm>
            <a:off x="4184135" y="1963506"/>
            <a:ext cx="5267436" cy="244224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0"/>
          <p:cNvSpPr txBox="1"/>
          <p:nvPr>
            <p:ph idx="1" type="subTitle"/>
          </p:nvPr>
        </p:nvSpPr>
        <p:spPr>
          <a:xfrm>
            <a:off x="2784765" y="254496"/>
            <a:ext cx="9236810" cy="106667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4000"/>
              <a:buNone/>
            </a:pPr>
            <a:r>
              <a:rPr b="1" lang="en-GB" sz="3500">
                <a:latin typeface="Arial"/>
                <a:ea typeface="Arial"/>
                <a:cs typeface="Arial"/>
                <a:sym typeface="Arial"/>
              </a:rPr>
              <a:t>3.3.2 Numeric Representation </a:t>
            </a:r>
            <a:endParaRPr/>
          </a:p>
          <a:p>
            <a:pPr indent="0" lvl="0" marL="0" rtl="0" algn="l">
              <a:lnSpc>
                <a:spcPct val="100000"/>
              </a:lnSpc>
              <a:spcBef>
                <a:spcPts val="0"/>
              </a:spcBef>
              <a:spcAft>
                <a:spcPts val="0"/>
              </a:spcAft>
              <a:buClr>
                <a:schemeClr val="dk1"/>
              </a:buClr>
              <a:buSzPts val="4000"/>
              <a:buNone/>
            </a:pPr>
            <a:r>
              <a:rPr b="1" lang="en-GB" sz="3500">
                <a:latin typeface="Arial"/>
                <a:ea typeface="Arial"/>
                <a:cs typeface="Arial"/>
                <a:sym typeface="Arial"/>
              </a:rPr>
              <a:t>Vs. String</a:t>
            </a:r>
            <a:endParaRPr b="1" sz="3500">
              <a:latin typeface="Arial"/>
              <a:ea typeface="Arial"/>
              <a:cs typeface="Arial"/>
              <a:sym typeface="Arial"/>
            </a:endParaRPr>
          </a:p>
        </p:txBody>
      </p:sp>
      <p:graphicFrame>
        <p:nvGraphicFramePr>
          <p:cNvPr id="307" name="Google Shape;307;p20"/>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3.3.1 UTF Table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3.3.2 Numeric Representation vs. String</a:t>
                      </a:r>
                      <a:endParaRPr sz="1400" u="none" cap="none" strike="noStrike"/>
                    </a:p>
                  </a:txBody>
                  <a:tcPr marT="45725" marB="45725" marR="91450" marL="91450"/>
                </a:tc>
              </a:tr>
            </a:tbl>
          </a:graphicData>
        </a:graphic>
      </p:graphicFrame>
      <p:sp>
        <p:nvSpPr>
          <p:cNvPr id="308" name="Google Shape;308;p2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09" name="Google Shape;309;p20"/>
          <p:cNvCxnSpPr/>
          <p:nvPr/>
        </p:nvCxnSpPr>
        <p:spPr>
          <a:xfrm>
            <a:off x="2908670" y="1521014"/>
            <a:ext cx="8180508" cy="0"/>
          </a:xfrm>
          <a:prstGeom prst="straightConnector1">
            <a:avLst/>
          </a:prstGeom>
          <a:noFill/>
          <a:ln cap="flat" cmpd="sng" w="9525">
            <a:solidFill>
              <a:schemeClr val="dk1"/>
            </a:solidFill>
            <a:prstDash val="solid"/>
            <a:round/>
            <a:headEnd len="med" w="med" type="oval"/>
            <a:tailEnd len="med" w="med" type="oval"/>
          </a:ln>
        </p:spPr>
      </p:cxnSp>
      <p:sp>
        <p:nvSpPr>
          <p:cNvPr id="310" name="Google Shape;310;p20"/>
          <p:cNvSpPr/>
          <p:nvPr/>
        </p:nvSpPr>
        <p:spPr>
          <a:xfrm>
            <a:off x="2662225" y="1611028"/>
            <a:ext cx="9202445" cy="156962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Note the difference between a numeric representation (</a:t>
            </a:r>
            <a:r>
              <a:rPr b="1" i="0" lang="en-GB" sz="2400" u="none" cap="none" strike="noStrike">
                <a:solidFill>
                  <a:srgbClr val="D4650A"/>
                </a:solidFill>
                <a:latin typeface="Arial"/>
                <a:ea typeface="Arial"/>
                <a:cs typeface="Arial"/>
                <a:sym typeface="Arial"/>
              </a:rPr>
              <a:t>that can be used in arithmetic calculations</a:t>
            </a:r>
            <a:r>
              <a:rPr b="0" i="0" lang="en-GB" sz="2400" u="none" cap="none" strike="noStrike">
                <a:solidFill>
                  <a:schemeClr val="dk1"/>
                </a:solidFill>
                <a:latin typeface="Arial"/>
                <a:ea typeface="Arial"/>
                <a:cs typeface="Arial"/>
                <a:sym typeface="Arial"/>
              </a:rPr>
              <a:t>) vs. a number represented as a string of digit characters (</a:t>
            </a:r>
            <a:r>
              <a:rPr b="1" i="0" lang="en-GB" sz="2400" u="none" cap="none" strike="noStrike">
                <a:solidFill>
                  <a:srgbClr val="D4650A"/>
                </a:solidFill>
                <a:latin typeface="Arial"/>
                <a:ea typeface="Arial"/>
                <a:cs typeface="Arial"/>
                <a:sym typeface="Arial"/>
              </a:rPr>
              <a:t>note used in calculation</a:t>
            </a:r>
            <a:r>
              <a:rPr b="0" i="0" lang="en-GB"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p:txBody>
      </p:sp>
      <p:pic>
        <p:nvPicPr>
          <p:cNvPr descr="Fig 2-5.JPG" id="311" name="Google Shape;311;p20"/>
          <p:cNvPicPr preferRelativeResize="0"/>
          <p:nvPr/>
        </p:nvPicPr>
        <p:blipFill rotWithShape="1">
          <a:blip r:embed="rId3">
            <a:alphaModFix/>
          </a:blip>
          <a:srcRect b="0" l="0" r="0" t="0"/>
          <a:stretch/>
        </p:blipFill>
        <p:spPr>
          <a:xfrm>
            <a:off x="4041021" y="3284968"/>
            <a:ext cx="6139467" cy="1796917"/>
          </a:xfrm>
          <a:prstGeom prst="rect">
            <a:avLst/>
          </a:prstGeom>
          <a:noFill/>
          <a:ln>
            <a:noFill/>
          </a:ln>
        </p:spPr>
      </p:pic>
      <p:sp>
        <p:nvSpPr>
          <p:cNvPr id="312" name="Google Shape;312;p20"/>
          <p:cNvSpPr/>
          <p:nvPr/>
        </p:nvSpPr>
        <p:spPr>
          <a:xfrm>
            <a:off x="2793077" y="4937226"/>
            <a:ext cx="9202445" cy="156962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1" i="0" lang="en-GB" sz="2400" u="none" cap="none" strike="noStrike">
                <a:solidFill>
                  <a:schemeClr val="dk1"/>
                </a:solidFill>
                <a:latin typeface="Arial"/>
                <a:ea typeface="Arial"/>
                <a:cs typeface="Arial"/>
                <a:sym typeface="Arial"/>
              </a:rPr>
              <a:t>Explanation:</a:t>
            </a:r>
            <a:r>
              <a:rPr b="0" i="0" lang="en-GB" sz="2400" u="none" cap="none" strike="noStrike">
                <a:solidFill>
                  <a:schemeClr val="dk1"/>
                </a:solidFill>
                <a:latin typeface="Arial"/>
                <a:ea typeface="Arial"/>
                <a:cs typeface="Arial"/>
                <a:sym typeface="Arial"/>
              </a:rPr>
              <a:t> Here, the binary representation of 124 is the binary number for that value. The string representation ‘124’ consists of longer sequences of bits, eight bits (one byte) for each digit.</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1"/>
          <p:cNvSpPr txBox="1"/>
          <p:nvPr>
            <p:ph idx="1" type="subTitle"/>
          </p:nvPr>
        </p:nvSpPr>
        <p:spPr>
          <a:xfrm>
            <a:off x="3017520" y="149622"/>
            <a:ext cx="8021628" cy="86392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4000"/>
              <a:buNone/>
            </a:pPr>
            <a:r>
              <a:rPr b="1" lang="en-GB" sz="4000">
                <a:latin typeface="Arial"/>
                <a:ea typeface="Arial"/>
                <a:cs typeface="Arial"/>
                <a:sym typeface="Arial"/>
              </a:rPr>
              <a:t>3.3.3 </a:t>
            </a:r>
            <a:r>
              <a:rPr b="1" lang="en-GB" sz="4000">
                <a:latin typeface="Teko"/>
                <a:ea typeface="Teko"/>
                <a:cs typeface="Teko"/>
                <a:sym typeface="Teko"/>
              </a:rPr>
              <a:t>ord</a:t>
            </a:r>
            <a:r>
              <a:rPr b="1" lang="en-GB" sz="4000">
                <a:latin typeface="Arial"/>
                <a:ea typeface="Arial"/>
                <a:cs typeface="Arial"/>
                <a:sym typeface="Arial"/>
              </a:rPr>
              <a:t> and </a:t>
            </a:r>
            <a:r>
              <a:rPr b="1" lang="en-GB" sz="4000">
                <a:latin typeface="Teko"/>
                <a:ea typeface="Teko"/>
                <a:cs typeface="Teko"/>
                <a:sym typeface="Teko"/>
              </a:rPr>
              <a:t>chr</a:t>
            </a:r>
            <a:r>
              <a:rPr b="1" lang="en-GB" sz="4000">
                <a:latin typeface="Arial"/>
                <a:ea typeface="Arial"/>
                <a:cs typeface="Arial"/>
                <a:sym typeface="Arial"/>
              </a:rPr>
              <a:t> Function</a:t>
            </a:r>
            <a:endParaRPr b="1" sz="4000">
              <a:latin typeface="Arial"/>
              <a:ea typeface="Arial"/>
              <a:cs typeface="Arial"/>
              <a:sym typeface="Arial"/>
            </a:endParaRPr>
          </a:p>
        </p:txBody>
      </p:sp>
      <p:graphicFrame>
        <p:nvGraphicFramePr>
          <p:cNvPr id="318" name="Google Shape;318;p21"/>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3.3.1 UTF Table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3.3.2 Numeric Representation vs. String</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3.3.3 ord and chr</a:t>
                      </a:r>
                      <a:endParaRPr b="1" sz="1600" u="none" cap="none" strike="noStrike">
                        <a:solidFill>
                          <a:srgbClr val="00B050"/>
                        </a:solidFill>
                        <a:latin typeface="Arial"/>
                        <a:ea typeface="Arial"/>
                        <a:cs typeface="Arial"/>
                        <a:sym typeface="Arial"/>
                      </a:endParaRPr>
                    </a:p>
                  </a:txBody>
                  <a:tcPr marT="45725" marB="45725" marR="91450" marL="91450"/>
                </a:tc>
              </a:tr>
            </a:tbl>
          </a:graphicData>
        </a:graphic>
      </p:graphicFrame>
      <p:sp>
        <p:nvSpPr>
          <p:cNvPr id="319" name="Google Shape;319;p2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20" name="Google Shape;320;p21"/>
          <p:cNvCxnSpPr/>
          <p:nvPr/>
        </p:nvCxnSpPr>
        <p:spPr>
          <a:xfrm>
            <a:off x="3017520" y="1262822"/>
            <a:ext cx="8121535" cy="0"/>
          </a:xfrm>
          <a:prstGeom prst="straightConnector1">
            <a:avLst/>
          </a:prstGeom>
          <a:noFill/>
          <a:ln cap="flat" cmpd="sng" w="9525">
            <a:solidFill>
              <a:schemeClr val="dk1"/>
            </a:solidFill>
            <a:prstDash val="solid"/>
            <a:round/>
            <a:headEnd len="med" w="med" type="oval"/>
            <a:tailEnd len="med" w="med" type="oval"/>
          </a:ln>
        </p:spPr>
      </p:cxnSp>
      <p:sp>
        <p:nvSpPr>
          <p:cNvPr id="321" name="Google Shape;321;p21"/>
          <p:cNvSpPr/>
          <p:nvPr/>
        </p:nvSpPr>
        <p:spPr>
          <a:xfrm>
            <a:off x="2662225" y="1361198"/>
            <a:ext cx="9202445" cy="83095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Python has means of converting between a character and its encoding:</a:t>
            </a:r>
            <a:endParaRPr b="0" i="0" sz="2400" u="none" cap="none" strike="noStrike">
              <a:solidFill>
                <a:schemeClr val="dk1"/>
              </a:solidFill>
              <a:latin typeface="Arial"/>
              <a:ea typeface="Arial"/>
              <a:cs typeface="Arial"/>
              <a:sym typeface="Arial"/>
            </a:endParaRPr>
          </a:p>
        </p:txBody>
      </p:sp>
      <p:sp>
        <p:nvSpPr>
          <p:cNvPr id="322" name="Google Shape;322;p21"/>
          <p:cNvSpPr/>
          <p:nvPr/>
        </p:nvSpPr>
        <p:spPr>
          <a:xfrm>
            <a:off x="2662225" y="3992903"/>
            <a:ext cx="9202445" cy="83095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The </a:t>
            </a:r>
            <a:r>
              <a:rPr b="1" i="0" lang="en-GB" sz="2400" u="none" cap="none" strike="noStrike">
                <a:solidFill>
                  <a:srgbClr val="D4650A"/>
                </a:solidFill>
                <a:latin typeface="Arial"/>
                <a:ea typeface="Arial"/>
                <a:cs typeface="Arial"/>
                <a:sym typeface="Arial"/>
              </a:rPr>
              <a:t>chr</a:t>
            </a:r>
            <a:r>
              <a:rPr b="0" i="0" lang="en-GB" sz="2400" u="none" cap="none" strike="noStrike">
                <a:solidFill>
                  <a:schemeClr val="dk1"/>
                </a:solidFill>
                <a:latin typeface="Arial"/>
                <a:ea typeface="Arial"/>
                <a:cs typeface="Arial"/>
                <a:sym typeface="Arial"/>
              </a:rPr>
              <a:t> function: gives the character for a given encoding value, thus </a:t>
            </a:r>
            <a:endParaRPr b="0" i="0" sz="2400" u="none" cap="none" strike="noStrike">
              <a:solidFill>
                <a:schemeClr val="dk1"/>
              </a:solidFill>
              <a:latin typeface="Arial"/>
              <a:ea typeface="Arial"/>
              <a:cs typeface="Arial"/>
              <a:sym typeface="Arial"/>
            </a:endParaRPr>
          </a:p>
        </p:txBody>
      </p:sp>
      <p:sp>
        <p:nvSpPr>
          <p:cNvPr id="323" name="Google Shape;323;p21"/>
          <p:cNvSpPr/>
          <p:nvPr/>
        </p:nvSpPr>
        <p:spPr>
          <a:xfrm>
            <a:off x="2662225" y="2484355"/>
            <a:ext cx="9202445" cy="83095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The </a:t>
            </a:r>
            <a:r>
              <a:rPr b="1" i="0" lang="en-GB" sz="2400" u="none" cap="none" strike="noStrike">
                <a:solidFill>
                  <a:srgbClr val="D4650A"/>
                </a:solidFill>
                <a:latin typeface="Arial"/>
                <a:ea typeface="Arial"/>
                <a:cs typeface="Arial"/>
                <a:sym typeface="Arial"/>
              </a:rPr>
              <a:t>ord </a:t>
            </a:r>
            <a:r>
              <a:rPr b="0" i="0" lang="en-GB" sz="2400" u="none" cap="none" strike="noStrike">
                <a:solidFill>
                  <a:schemeClr val="dk1"/>
                </a:solidFill>
                <a:latin typeface="Arial"/>
                <a:ea typeface="Arial"/>
                <a:cs typeface="Arial"/>
                <a:sym typeface="Arial"/>
              </a:rPr>
              <a:t>function: gives the UTF-8 (ASCII) encoding of a given character. For example, </a:t>
            </a:r>
            <a:endParaRPr b="0" i="0" sz="2400" u="none" cap="none" strike="noStrike">
              <a:solidFill>
                <a:schemeClr val="dk1"/>
              </a:solidFill>
              <a:latin typeface="Arial"/>
              <a:ea typeface="Arial"/>
              <a:cs typeface="Arial"/>
              <a:sym typeface="Arial"/>
            </a:endParaRPr>
          </a:p>
        </p:txBody>
      </p:sp>
      <p:sp>
        <p:nvSpPr>
          <p:cNvPr id="324" name="Google Shape;324;p21"/>
          <p:cNvSpPr/>
          <p:nvPr/>
        </p:nvSpPr>
        <p:spPr>
          <a:xfrm>
            <a:off x="5822222" y="3495346"/>
            <a:ext cx="1939955"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rgbClr val="00B050"/>
                </a:solidFill>
                <a:latin typeface="Arial"/>
                <a:ea typeface="Arial"/>
                <a:cs typeface="Arial"/>
                <a:sym typeface="Arial"/>
              </a:rPr>
              <a:t>ord('A')is 65</a:t>
            </a:r>
            <a:endParaRPr b="0" i="0" sz="1400" u="none" cap="none" strike="noStrike">
              <a:solidFill>
                <a:srgbClr val="000000"/>
              </a:solidFill>
              <a:latin typeface="Arial"/>
              <a:ea typeface="Arial"/>
              <a:cs typeface="Arial"/>
              <a:sym typeface="Arial"/>
            </a:endParaRPr>
          </a:p>
        </p:txBody>
      </p:sp>
      <p:sp>
        <p:nvSpPr>
          <p:cNvPr id="325" name="Google Shape;325;p21"/>
          <p:cNvSpPr/>
          <p:nvPr/>
        </p:nvSpPr>
        <p:spPr>
          <a:xfrm>
            <a:off x="5827512" y="4716177"/>
            <a:ext cx="1929374" cy="46166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rgbClr val="00B050"/>
                </a:solidFill>
                <a:latin typeface="Arial"/>
                <a:ea typeface="Arial"/>
                <a:cs typeface="Arial"/>
                <a:sym typeface="Arial"/>
              </a:rPr>
              <a:t>chr(65)is ‘A’</a:t>
            </a:r>
            <a:endParaRPr b="1" i="0" sz="2400" u="none" cap="none" strike="noStrike">
              <a:solidFill>
                <a:srgbClr val="00B050"/>
              </a:solidFill>
              <a:latin typeface="Arial"/>
              <a:ea typeface="Arial"/>
              <a:cs typeface="Arial"/>
              <a:sym typeface="Arial"/>
            </a:endParaRPr>
          </a:p>
        </p:txBody>
      </p:sp>
      <p:sp>
        <p:nvSpPr>
          <p:cNvPr id="326" name="Google Shape;326;p21"/>
          <p:cNvSpPr/>
          <p:nvPr/>
        </p:nvSpPr>
        <p:spPr>
          <a:xfrm>
            <a:off x="2662224" y="5256932"/>
            <a:ext cx="9202445" cy="120028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However, in general there is no need to know the specific encoding of a given character, there are times when such knowledge can be useful.</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txBox="1"/>
          <p:nvPr>
            <p:ph idx="1" type="subTitle"/>
          </p:nvPr>
        </p:nvSpPr>
        <p:spPr>
          <a:xfrm>
            <a:off x="2974665" y="337324"/>
            <a:ext cx="8272179" cy="888881"/>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chemeClr val="dk1"/>
              </a:buClr>
              <a:buSzPts val="4000"/>
              <a:buNone/>
            </a:pPr>
            <a:r>
              <a:rPr b="1" lang="en-GB" sz="3500">
                <a:latin typeface="Arial"/>
                <a:ea typeface="Arial"/>
                <a:cs typeface="Arial"/>
                <a:sym typeface="Arial"/>
              </a:rPr>
              <a:t>3.3.4 What are Control Characters?</a:t>
            </a:r>
            <a:endParaRPr b="1" sz="3500">
              <a:latin typeface="Arial"/>
              <a:ea typeface="Arial"/>
              <a:cs typeface="Arial"/>
              <a:sym typeface="Arial"/>
            </a:endParaRPr>
          </a:p>
        </p:txBody>
      </p:sp>
      <p:graphicFrame>
        <p:nvGraphicFramePr>
          <p:cNvPr id="332" name="Google Shape;332;p22"/>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3.3.1 UTF Table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3.3.2 Numeric Representation vs. String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3.3.3 ord and chr</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3.3.4 Escape Character</a:t>
                      </a:r>
                      <a:endParaRPr sz="1400" u="none" cap="none" strike="noStrike"/>
                    </a:p>
                  </a:txBody>
                  <a:tcPr marT="45725" marB="45725" marR="91450" marL="91450"/>
                </a:tc>
              </a:tr>
            </a:tbl>
          </a:graphicData>
        </a:graphic>
      </p:graphicFrame>
      <p:sp>
        <p:nvSpPr>
          <p:cNvPr id="333" name="Google Shape;333;p2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34" name="Google Shape;334;p22"/>
          <p:cNvCxnSpPr/>
          <p:nvPr/>
        </p:nvCxnSpPr>
        <p:spPr>
          <a:xfrm>
            <a:off x="3108959" y="1242351"/>
            <a:ext cx="7955280" cy="0"/>
          </a:xfrm>
          <a:prstGeom prst="straightConnector1">
            <a:avLst/>
          </a:prstGeom>
          <a:noFill/>
          <a:ln cap="flat" cmpd="sng" w="9525">
            <a:solidFill>
              <a:schemeClr val="dk1"/>
            </a:solidFill>
            <a:prstDash val="solid"/>
            <a:round/>
            <a:headEnd len="med" w="med" type="oval"/>
            <a:tailEnd len="med" w="med" type="oval"/>
          </a:ln>
        </p:spPr>
      </p:cxnSp>
      <p:sp>
        <p:nvSpPr>
          <p:cNvPr id="335" name="Google Shape;335;p22"/>
          <p:cNvSpPr/>
          <p:nvPr/>
        </p:nvSpPr>
        <p:spPr>
          <a:xfrm>
            <a:off x="2662225" y="1325271"/>
            <a:ext cx="8655923" cy="230828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1" i="0" lang="en-GB" sz="2400" u="none" cap="none" strike="noStrike">
                <a:solidFill>
                  <a:schemeClr val="dk1"/>
                </a:solidFill>
                <a:latin typeface="Arial"/>
                <a:ea typeface="Arial"/>
                <a:cs typeface="Arial"/>
                <a:sym typeface="Arial"/>
              </a:rPr>
              <a:t>Control characters </a:t>
            </a: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t>
            </a:r>
            <a:r>
              <a:rPr b="1" i="0" lang="en-GB" sz="2400" u="none" cap="none" strike="noStrike">
                <a:solidFill>
                  <a:srgbClr val="D4650A"/>
                </a:solidFill>
                <a:latin typeface="Arial"/>
                <a:ea typeface="Arial"/>
                <a:cs typeface="Arial"/>
                <a:sym typeface="Arial"/>
              </a:rPr>
              <a:t>Special characters</a:t>
            </a:r>
            <a:r>
              <a:rPr b="0" i="0" lang="en-GB" sz="2400" u="none" cap="none" strike="noStrike">
                <a:solidFill>
                  <a:schemeClr val="dk1"/>
                </a:solidFill>
                <a:latin typeface="Arial"/>
                <a:ea typeface="Arial"/>
                <a:cs typeface="Arial"/>
                <a:sym typeface="Arial"/>
              </a:rPr>
              <a:t> which are </a:t>
            </a:r>
            <a:r>
              <a:rPr b="1" i="0" lang="en-GB" sz="2400" u="none" cap="none" strike="noStrike">
                <a:solidFill>
                  <a:srgbClr val="D4650A"/>
                </a:solidFill>
                <a:latin typeface="Arial"/>
                <a:ea typeface="Arial"/>
                <a:cs typeface="Arial"/>
                <a:sym typeface="Arial"/>
              </a:rPr>
              <a:t>not displayed </a:t>
            </a:r>
            <a:r>
              <a:rPr b="0" i="0" lang="en-GB" sz="2400" u="none" cap="none" strike="noStrike">
                <a:solidFill>
                  <a:schemeClr val="dk1"/>
                </a:solidFill>
                <a:latin typeface="Arial"/>
                <a:ea typeface="Arial"/>
                <a:cs typeface="Arial"/>
                <a:sym typeface="Arial"/>
              </a:rPr>
              <a:t>but, rather </a:t>
            </a:r>
            <a:r>
              <a:rPr b="1" i="0" lang="en-GB" sz="2400" u="none" cap="none" strike="noStrike">
                <a:solidFill>
                  <a:srgbClr val="D4650A"/>
                </a:solidFill>
                <a:latin typeface="Arial"/>
                <a:ea typeface="Arial"/>
                <a:cs typeface="Arial"/>
                <a:sym typeface="Arial"/>
              </a:rPr>
              <a:t>control</a:t>
            </a:r>
            <a:r>
              <a:rPr b="0" i="0" lang="en-GB" sz="2400" u="none" cap="none" strike="noStrike">
                <a:solidFill>
                  <a:schemeClr val="dk1"/>
                </a:solidFill>
                <a:latin typeface="Arial"/>
                <a:ea typeface="Arial"/>
                <a:cs typeface="Arial"/>
                <a:sym typeface="Arial"/>
              </a:rPr>
              <a:t> the display of </a:t>
            </a:r>
            <a:r>
              <a:rPr b="1" i="0" lang="en-GB" sz="2400" u="none" cap="none" strike="noStrike">
                <a:solidFill>
                  <a:srgbClr val="D4650A"/>
                </a:solidFill>
                <a:latin typeface="Arial"/>
                <a:ea typeface="Arial"/>
                <a:cs typeface="Arial"/>
                <a:sym typeface="Arial"/>
              </a:rPr>
              <a:t>output</a:t>
            </a:r>
            <a:r>
              <a:rPr b="0" i="0" lang="en-GB" sz="2400" u="none" cap="none" strike="noStrike">
                <a:solidFill>
                  <a:schemeClr val="dk1"/>
                </a:solidFill>
                <a:latin typeface="Arial"/>
                <a:ea typeface="Arial"/>
                <a:cs typeface="Arial"/>
                <a:sym typeface="Arial"/>
              </a:rPr>
              <a:t> (among other things.) Control characters do not have corresponding keyboard character, and thus are represented by a combination of characters called escape sequence.</a:t>
            </a:r>
            <a:endParaRPr b="0" i="0" sz="2400" u="none" cap="none" strike="noStrike">
              <a:solidFill>
                <a:schemeClr val="dk1"/>
              </a:solidFill>
              <a:latin typeface="Arial"/>
              <a:ea typeface="Arial"/>
              <a:cs typeface="Arial"/>
              <a:sym typeface="Arial"/>
            </a:endParaRPr>
          </a:p>
        </p:txBody>
      </p:sp>
      <p:sp>
        <p:nvSpPr>
          <p:cNvPr id="336" name="Google Shape;336;p22"/>
          <p:cNvSpPr/>
          <p:nvPr/>
        </p:nvSpPr>
        <p:spPr>
          <a:xfrm>
            <a:off x="2662225" y="3684904"/>
            <a:ext cx="8655923" cy="156962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D4650A"/>
              </a:buClr>
              <a:buSzPts val="2800"/>
              <a:buFont typeface="Arial"/>
              <a:buChar char="•"/>
            </a:pPr>
            <a:r>
              <a:rPr b="1" i="0" lang="en-GB" sz="2400" u="none" cap="none" strike="noStrike">
                <a:solidFill>
                  <a:srgbClr val="D4650A"/>
                </a:solidFill>
                <a:latin typeface="Arial"/>
                <a:ea typeface="Arial"/>
                <a:cs typeface="Arial"/>
                <a:sym typeface="Arial"/>
              </a:rPr>
              <a:t>Escape sequence </a:t>
            </a:r>
            <a:r>
              <a:rPr b="0" i="0" lang="en-GB" sz="2400" u="none" cap="none" strike="noStrike">
                <a:solidFill>
                  <a:schemeClr val="dk1"/>
                </a:solidFill>
                <a:latin typeface="Arial"/>
                <a:ea typeface="Arial"/>
                <a:cs typeface="Arial"/>
                <a:sym typeface="Arial"/>
              </a:rPr>
              <a:t>begin with an escape character that causes the characters following to “escape” their normal meaning. The backslash (\) serves as the escape character in Python. </a:t>
            </a:r>
            <a:endParaRPr b="0" i="0" sz="2400" u="none" cap="none" strike="noStrike">
              <a:solidFill>
                <a:schemeClr val="dk1"/>
              </a:solidFill>
              <a:latin typeface="Arial"/>
              <a:ea typeface="Arial"/>
              <a:cs typeface="Arial"/>
              <a:sym typeface="Arial"/>
            </a:endParaRPr>
          </a:p>
        </p:txBody>
      </p:sp>
      <p:sp>
        <p:nvSpPr>
          <p:cNvPr id="337" name="Google Shape;337;p22"/>
          <p:cNvSpPr/>
          <p:nvPr/>
        </p:nvSpPr>
        <p:spPr>
          <a:xfrm>
            <a:off x="3375844" y="5295545"/>
            <a:ext cx="4296803" cy="4616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rgbClr val="000080"/>
                </a:solidFill>
                <a:latin typeface="Arial"/>
                <a:ea typeface="Arial"/>
                <a:cs typeface="Arial"/>
                <a:sym typeface="Arial"/>
              </a:rPr>
              <a:t>print </a:t>
            </a:r>
            <a:r>
              <a:rPr b="0" i="0" lang="en-GB" sz="2400" u="none" cap="none" strike="noStrike">
                <a:solidFill>
                  <a:srgbClr val="080808"/>
                </a:solidFill>
                <a:latin typeface="Arial"/>
                <a:ea typeface="Arial"/>
                <a:cs typeface="Arial"/>
                <a:sym typeface="Arial"/>
              </a:rPr>
              <a:t>(</a:t>
            </a:r>
            <a:r>
              <a:rPr b="0" i="0" lang="en-GB" sz="2400" u="none" cap="none" strike="noStrike">
                <a:solidFill>
                  <a:srgbClr val="067D17"/>
                </a:solidFill>
                <a:latin typeface="Arial"/>
                <a:ea typeface="Arial"/>
                <a:cs typeface="Arial"/>
                <a:sym typeface="Arial"/>
              </a:rPr>
              <a:t>'Hello </a:t>
            </a:r>
            <a:r>
              <a:rPr b="0" i="0" lang="en-GB" sz="2400" u="none" cap="none" strike="noStrike">
                <a:solidFill>
                  <a:srgbClr val="0037A6"/>
                </a:solidFill>
                <a:latin typeface="Arial"/>
                <a:ea typeface="Arial"/>
                <a:cs typeface="Arial"/>
                <a:sym typeface="Arial"/>
              </a:rPr>
              <a:t>\n</a:t>
            </a:r>
            <a:r>
              <a:rPr b="0" i="0" lang="en-GB" sz="2400" u="none" cap="none" strike="noStrike">
                <a:solidFill>
                  <a:srgbClr val="067D17"/>
                </a:solidFill>
                <a:latin typeface="Arial"/>
                <a:ea typeface="Arial"/>
                <a:cs typeface="Arial"/>
                <a:sym typeface="Arial"/>
              </a:rPr>
              <a:t> Basanta Singh'</a:t>
            </a:r>
            <a:r>
              <a:rPr b="0" i="0" lang="en-GB" sz="2400" u="none" cap="none" strike="noStrike">
                <a:solidFill>
                  <a:srgbClr val="080808"/>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cxnSp>
        <p:nvCxnSpPr>
          <p:cNvPr id="338" name="Google Shape;338;p22"/>
          <p:cNvCxnSpPr>
            <a:stCxn id="337" idx="3"/>
          </p:cNvCxnSpPr>
          <p:nvPr/>
        </p:nvCxnSpPr>
        <p:spPr>
          <a:xfrm flipH="1" rot="10800000">
            <a:off x="7672647" y="5480157"/>
            <a:ext cx="1080600" cy="46200"/>
          </a:xfrm>
          <a:prstGeom prst="straightConnector1">
            <a:avLst/>
          </a:prstGeom>
          <a:noFill/>
          <a:ln cap="flat" cmpd="sng" w="19050">
            <a:solidFill>
              <a:srgbClr val="FF0000"/>
            </a:solidFill>
            <a:prstDash val="solid"/>
            <a:miter lim="800000"/>
            <a:headEnd len="sm" w="sm" type="none"/>
            <a:tailEnd len="med" w="med" type="triangle"/>
          </a:ln>
        </p:spPr>
      </p:cxnSp>
      <p:sp>
        <p:nvSpPr>
          <p:cNvPr id="339" name="Google Shape;339;p22"/>
          <p:cNvSpPr/>
          <p:nvPr/>
        </p:nvSpPr>
        <p:spPr>
          <a:xfrm>
            <a:off x="8753248" y="5073033"/>
            <a:ext cx="2104344" cy="1183687"/>
          </a:xfrm>
          <a:prstGeom prst="rect">
            <a:avLst/>
          </a:prstGeom>
          <a:solidFill>
            <a:srgbClr val="FFD96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Hello </a:t>
            </a:r>
            <a:endParaRPr/>
          </a:p>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Basanta Singh</a:t>
            </a:r>
            <a:endParaRPr b="0"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3"/>
          <p:cNvSpPr txBox="1"/>
          <p:nvPr>
            <p:ph idx="1" type="subTitle"/>
          </p:nvPr>
        </p:nvSpPr>
        <p:spPr>
          <a:xfrm>
            <a:off x="3233651" y="424867"/>
            <a:ext cx="5798376" cy="722279"/>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6"/>
              </a:buClr>
              <a:buSzPts val="4800"/>
              <a:buNone/>
            </a:pPr>
            <a:r>
              <a:rPr b="1" lang="en-GB" sz="4000">
                <a:solidFill>
                  <a:schemeClr val="accent6"/>
                </a:solidFill>
              </a:rPr>
              <a:t>Let’s Try!!</a:t>
            </a:r>
            <a:endParaRPr b="1" sz="4000">
              <a:solidFill>
                <a:schemeClr val="accent6"/>
              </a:solidFill>
            </a:endParaRPr>
          </a:p>
        </p:txBody>
      </p:sp>
      <p:graphicFrame>
        <p:nvGraphicFramePr>
          <p:cNvPr id="345" name="Google Shape;345;p23"/>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3.3.1 UTF Table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3.3.2 Numeric Representation vs. String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3.3.3 ord and chr</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3.3.4 Escape Character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Tryout</a:t>
                      </a:r>
                      <a:endParaRPr sz="1400" u="none" cap="none" strike="noStrike"/>
                    </a:p>
                  </a:txBody>
                  <a:tcPr marT="45725" marB="45725" marR="91450" marL="91450"/>
                </a:tc>
              </a:tr>
            </a:tbl>
          </a:graphicData>
        </a:graphic>
      </p:graphicFrame>
      <p:sp>
        <p:nvSpPr>
          <p:cNvPr id="346" name="Google Shape;346;p2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347" name="Google Shape;347;p23"/>
          <p:cNvCxnSpPr/>
          <p:nvPr/>
        </p:nvCxnSpPr>
        <p:spPr>
          <a:xfrm>
            <a:off x="3233651" y="1310149"/>
            <a:ext cx="7897091" cy="0"/>
          </a:xfrm>
          <a:prstGeom prst="straightConnector1">
            <a:avLst/>
          </a:prstGeom>
          <a:noFill/>
          <a:ln cap="flat" cmpd="sng" w="9525">
            <a:solidFill>
              <a:schemeClr val="dk1"/>
            </a:solidFill>
            <a:prstDash val="solid"/>
            <a:round/>
            <a:headEnd len="med" w="med" type="oval"/>
            <a:tailEnd len="med" w="med" type="oval"/>
          </a:ln>
        </p:spPr>
      </p:cxnSp>
      <p:sp>
        <p:nvSpPr>
          <p:cNvPr id="348" name="Google Shape;348;p23"/>
          <p:cNvSpPr/>
          <p:nvPr/>
        </p:nvSpPr>
        <p:spPr>
          <a:xfrm>
            <a:off x="2801671" y="2098158"/>
            <a:ext cx="8923551" cy="304742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ourier New"/>
                <a:ea typeface="Courier New"/>
                <a:cs typeface="Courier New"/>
                <a:sym typeface="Courier New"/>
              </a:rPr>
              <a:t>&gt;&gt;&gt; print(’Hello World’)		&gt;&gt;&gt; print(‘Hello\nWorld’)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ourier New"/>
                <a:ea typeface="Courier New"/>
                <a:cs typeface="Courier New"/>
                <a:sym typeface="Courier New"/>
              </a:rPr>
              <a:t>&gt;&gt;&gt; print(‘Hello World\n’)		&gt;&gt;&gt; print(‘Hello\n\nWorld’)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ourier New"/>
                <a:ea typeface="Courier New"/>
                <a:cs typeface="Courier New"/>
                <a:sym typeface="Courier New"/>
              </a:rPr>
              <a:t>&gt;&gt;&gt; print (‘Hello World\n\n\’)	&gt;&gt;&gt; </a:t>
            </a:r>
            <a:r>
              <a:rPr b="1" i="0" lang="en-GB" sz="1800" u="none" cap="none" strike="noStrike">
                <a:solidFill>
                  <a:schemeClr val="dk1"/>
                </a:solidFill>
                <a:latin typeface="Courier New"/>
                <a:ea typeface="Courier New"/>
                <a:cs typeface="Courier New"/>
                <a:sym typeface="Courier New"/>
              </a:rPr>
              <a:t>print(1, ‘\n’, 2, ‘\n’, 3)</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ourier New"/>
                <a:ea typeface="Courier New"/>
                <a:cs typeface="Courier New"/>
                <a:sym typeface="Courier New"/>
              </a:rPr>
              <a:t>&gt;&gt;&gt; print (‘\nHello World’)	&gt;&gt;&gt; </a:t>
            </a:r>
            <a:r>
              <a:rPr b="1" i="0" lang="en-GB" sz="1800" u="none" cap="none" strike="noStrike">
                <a:solidFill>
                  <a:schemeClr val="dk1"/>
                </a:solidFill>
                <a:latin typeface="Courier New"/>
                <a:ea typeface="Courier New"/>
                <a:cs typeface="Courier New"/>
                <a:sym typeface="Courier New"/>
              </a:rPr>
              <a:t>print(‘\n’, 1, ‘\n’, 2)</a:t>
            </a:r>
            <a:endParaRPr b="1" i="0" sz="1800" u="none" cap="none" strike="noStrike">
              <a:solidFill>
                <a:schemeClr val="dk1"/>
              </a:solidFill>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4"/>
          <p:cNvSpPr txBox="1"/>
          <p:nvPr/>
        </p:nvSpPr>
        <p:spPr>
          <a:xfrm>
            <a:off x="99753" y="3044279"/>
            <a:ext cx="12192000"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GB" sz="4400" u="none" cap="none" strike="noStrike">
                <a:solidFill>
                  <a:srgbClr val="132C4A"/>
                </a:solidFill>
                <a:latin typeface="Arial"/>
                <a:ea typeface="Arial"/>
                <a:cs typeface="Arial"/>
                <a:sym typeface="Arial"/>
              </a:rPr>
              <a:t>Variables and Identifiers</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5"/>
          <p:cNvSpPr txBox="1"/>
          <p:nvPr>
            <p:ph idx="1" type="subTitle"/>
          </p:nvPr>
        </p:nvSpPr>
        <p:spPr>
          <a:xfrm>
            <a:off x="3000210" y="300251"/>
            <a:ext cx="8221089"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4 Variable, True Usefulness</a:t>
            </a:r>
            <a:endParaRPr b="1" i="0" sz="4000">
              <a:solidFill>
                <a:srgbClr val="191919"/>
              </a:solidFill>
              <a:latin typeface="Arial"/>
              <a:ea typeface="Arial"/>
              <a:cs typeface="Arial"/>
              <a:sym typeface="Arial"/>
            </a:endParaRPr>
          </a:p>
        </p:txBody>
      </p:sp>
      <p:graphicFrame>
        <p:nvGraphicFramePr>
          <p:cNvPr id="359" name="Google Shape;359;p25"/>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3.1 Numeric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3.2 String Literal</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3.3 Unicode encoding scheme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 Variable</a:t>
                      </a:r>
                      <a:endParaRPr sz="1400" u="none" cap="none" strike="noStrike"/>
                    </a:p>
                  </a:txBody>
                  <a:tcPr marT="45725" marB="45725" marR="91450" marL="91450"/>
                </a:tc>
              </a:tr>
            </a:tbl>
          </a:graphicData>
        </a:graphic>
      </p:graphicFrame>
      <p:sp>
        <p:nvSpPr>
          <p:cNvPr id="360" name="Google Shape;360;p2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361" name="Google Shape;361;p25"/>
          <p:cNvSpPr/>
          <p:nvPr/>
        </p:nvSpPr>
        <p:spPr>
          <a:xfrm>
            <a:off x="2638903" y="1363193"/>
            <a:ext cx="9327125" cy="156962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So far, we have only looked at literal values in programs. However, the </a:t>
            </a:r>
            <a:r>
              <a:rPr b="1" i="0" lang="en-GB" sz="2400" u="none" cap="none" strike="noStrike">
                <a:solidFill>
                  <a:srgbClr val="D4650A"/>
                </a:solidFill>
                <a:latin typeface="Arial"/>
                <a:ea typeface="Arial"/>
                <a:cs typeface="Arial"/>
                <a:sym typeface="Arial"/>
              </a:rPr>
              <a:t>true usefulness </a:t>
            </a:r>
            <a:r>
              <a:rPr b="0" i="0" lang="en-GB" sz="2400" u="none" cap="none" strike="noStrike">
                <a:solidFill>
                  <a:schemeClr val="dk1"/>
                </a:solidFill>
                <a:latin typeface="Arial"/>
                <a:ea typeface="Arial"/>
                <a:cs typeface="Arial"/>
                <a:sym typeface="Arial"/>
              </a:rPr>
              <a:t>of a computer program is the </a:t>
            </a:r>
            <a:r>
              <a:rPr b="0" i="0" lang="en-GB" sz="2400" u="none" cap="none" strike="noStrike">
                <a:solidFill>
                  <a:srgbClr val="00B0F0"/>
                </a:solidFill>
                <a:latin typeface="Arial"/>
                <a:ea typeface="Arial"/>
                <a:cs typeface="Arial"/>
                <a:sym typeface="Arial"/>
              </a:rPr>
              <a:t>ability to operate on different values each time the program is executed</a:t>
            </a:r>
            <a:r>
              <a:rPr b="0" i="0" lang="en-GB" sz="2400" u="none" cap="none" strike="noStrike">
                <a:solidFill>
                  <a:schemeClr val="dk1"/>
                </a:solidFill>
                <a:latin typeface="Arial"/>
                <a:ea typeface="Arial"/>
                <a:cs typeface="Arial"/>
                <a:sym typeface="Arial"/>
              </a:rPr>
              <a:t>. This is provided by the notion of variable.</a:t>
            </a:r>
            <a:endParaRPr b="0" i="0" sz="2400" u="none" cap="none" strike="noStrike">
              <a:solidFill>
                <a:schemeClr val="dk1"/>
              </a:solidFill>
              <a:latin typeface="Arial"/>
              <a:ea typeface="Arial"/>
              <a:cs typeface="Arial"/>
              <a:sym typeface="Arial"/>
            </a:endParaRPr>
          </a:p>
        </p:txBody>
      </p:sp>
      <p:cxnSp>
        <p:nvCxnSpPr>
          <p:cNvPr id="362" name="Google Shape;362;p25"/>
          <p:cNvCxnSpPr/>
          <p:nvPr/>
        </p:nvCxnSpPr>
        <p:spPr>
          <a:xfrm>
            <a:off x="3193591" y="1220093"/>
            <a:ext cx="7937151" cy="0"/>
          </a:xfrm>
          <a:prstGeom prst="straightConnector1">
            <a:avLst/>
          </a:prstGeom>
          <a:noFill/>
          <a:ln cap="flat" cmpd="sng" w="9525">
            <a:solidFill>
              <a:schemeClr val="dk1"/>
            </a:solidFill>
            <a:prstDash val="solid"/>
            <a:round/>
            <a:headEnd len="med" w="med" type="oval"/>
            <a:tailEnd len="med" w="med" type="oval"/>
          </a:ln>
        </p:spPr>
      </p:cxnSp>
      <p:sp>
        <p:nvSpPr>
          <p:cNvPr id="363" name="Google Shape;363;p25"/>
          <p:cNvSpPr/>
          <p:nvPr/>
        </p:nvSpPr>
        <p:spPr>
          <a:xfrm>
            <a:off x="2575480" y="5692009"/>
            <a:ext cx="945397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GB" sz="2800" u="none" cap="none" strike="noStrike">
                <a:solidFill>
                  <a:srgbClr val="FF0000"/>
                </a:solidFill>
                <a:latin typeface="Arial"/>
                <a:ea typeface="Arial"/>
                <a:cs typeface="Arial"/>
                <a:sym typeface="Arial"/>
              </a:rPr>
              <a:t>Note: We will look at variables and identifiers next.</a:t>
            </a:r>
            <a:endParaRPr b="0" i="0" sz="2800" u="none" cap="none" strike="noStrike">
              <a:solidFill>
                <a:srgbClr val="FF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6"/>
          <p:cNvSpPr txBox="1"/>
          <p:nvPr>
            <p:ph idx="1" type="subTitle"/>
          </p:nvPr>
        </p:nvSpPr>
        <p:spPr>
          <a:xfrm>
            <a:off x="3176965" y="378750"/>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4.1 </a:t>
            </a:r>
            <a:r>
              <a:rPr b="1" i="0" lang="en-GB" sz="4000">
                <a:solidFill>
                  <a:srgbClr val="191919"/>
                </a:solidFill>
                <a:latin typeface="Arial"/>
                <a:ea typeface="Arial"/>
                <a:cs typeface="Arial"/>
                <a:sym typeface="Arial"/>
              </a:rPr>
              <a:t>What is Variable?</a:t>
            </a:r>
            <a:endParaRPr b="1" i="0" sz="4000">
              <a:solidFill>
                <a:srgbClr val="191919"/>
              </a:solidFill>
              <a:latin typeface="Arial"/>
              <a:ea typeface="Arial"/>
              <a:cs typeface="Arial"/>
              <a:sym typeface="Arial"/>
            </a:endParaRPr>
          </a:p>
        </p:txBody>
      </p:sp>
      <p:graphicFrame>
        <p:nvGraphicFramePr>
          <p:cNvPr id="369" name="Google Shape;369;p26"/>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 Variable, True Usefulness</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4.1 Variable?</a:t>
                      </a:r>
                      <a:endParaRPr sz="1400" u="none" cap="none" strike="noStrike"/>
                    </a:p>
                  </a:txBody>
                  <a:tcPr marT="45725" marB="45725" marR="91450" marL="91450"/>
                </a:tc>
              </a:tr>
            </a:tbl>
          </a:graphicData>
        </a:graphic>
      </p:graphicFrame>
      <p:sp>
        <p:nvSpPr>
          <p:cNvPr id="370" name="Google Shape;370;p2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371" name="Google Shape;371;p26"/>
          <p:cNvSpPr/>
          <p:nvPr/>
        </p:nvSpPr>
        <p:spPr>
          <a:xfrm>
            <a:off x="2638903" y="1363193"/>
            <a:ext cx="9327125" cy="120028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A variable is a </a:t>
            </a:r>
            <a:r>
              <a:rPr b="1" i="0" lang="en-GB" sz="2400" u="none" cap="none" strike="noStrike">
                <a:solidFill>
                  <a:srgbClr val="D4650A"/>
                </a:solidFill>
                <a:latin typeface="Arial"/>
                <a:ea typeface="Arial"/>
                <a:cs typeface="Arial"/>
                <a:sym typeface="Arial"/>
              </a:rPr>
              <a:t>name</a:t>
            </a:r>
            <a:r>
              <a:rPr b="0" i="0" lang="en-GB" sz="2400" u="none" cap="none" strike="noStrike">
                <a:solidFill>
                  <a:schemeClr val="dk1"/>
                </a:solidFill>
                <a:latin typeface="Arial"/>
                <a:ea typeface="Arial"/>
                <a:cs typeface="Arial"/>
                <a:sym typeface="Arial"/>
              </a:rPr>
              <a:t> (identifier) that is </a:t>
            </a:r>
            <a:r>
              <a:rPr b="1" i="0" lang="en-GB" sz="2400" u="none" cap="none" strike="noStrike">
                <a:solidFill>
                  <a:srgbClr val="D4650A"/>
                </a:solidFill>
                <a:latin typeface="Arial"/>
                <a:ea typeface="Arial"/>
                <a:cs typeface="Arial"/>
                <a:sym typeface="Arial"/>
              </a:rPr>
              <a:t>associated </a:t>
            </a:r>
            <a:r>
              <a:rPr b="0" i="0" lang="en-GB" sz="2400" u="none" cap="none" strike="noStrike">
                <a:solidFill>
                  <a:schemeClr val="dk1"/>
                </a:solidFill>
                <a:latin typeface="Arial"/>
                <a:ea typeface="Arial"/>
                <a:cs typeface="Arial"/>
                <a:sym typeface="Arial"/>
              </a:rPr>
              <a:t>with a </a:t>
            </a:r>
            <a:r>
              <a:rPr b="1" i="0" lang="en-GB" sz="2400" u="none" cap="none" strike="noStrike">
                <a:solidFill>
                  <a:srgbClr val="D4650A"/>
                </a:solidFill>
                <a:latin typeface="Arial"/>
                <a:ea typeface="Arial"/>
                <a:cs typeface="Arial"/>
                <a:sym typeface="Arial"/>
              </a:rPr>
              <a:t>value </a:t>
            </a:r>
            <a:r>
              <a:rPr b="0" i="0" lang="en-GB" sz="2400" u="none" cap="none" strike="noStrike">
                <a:solidFill>
                  <a:schemeClr val="dk1"/>
                </a:solidFill>
                <a:latin typeface="Arial"/>
                <a:ea typeface="Arial"/>
                <a:cs typeface="Arial"/>
                <a:sym typeface="Arial"/>
              </a:rPr>
              <a:t>and can be </a:t>
            </a:r>
            <a:r>
              <a:rPr b="0" i="0" lang="en-GB" sz="2400" u="none" cap="none" strike="noStrike">
                <a:solidFill>
                  <a:srgbClr val="00B0F0"/>
                </a:solidFill>
                <a:latin typeface="Arial"/>
                <a:ea typeface="Arial"/>
                <a:cs typeface="Arial"/>
                <a:sym typeface="Arial"/>
              </a:rPr>
              <a:t>used to store data</a:t>
            </a:r>
            <a:r>
              <a:rPr b="0" i="0" lang="en-GB"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cxnSp>
        <p:nvCxnSpPr>
          <p:cNvPr id="372" name="Google Shape;372;p26"/>
          <p:cNvCxnSpPr/>
          <p:nvPr/>
        </p:nvCxnSpPr>
        <p:spPr>
          <a:xfrm>
            <a:off x="3176965" y="1203470"/>
            <a:ext cx="7970402" cy="0"/>
          </a:xfrm>
          <a:prstGeom prst="straightConnector1">
            <a:avLst/>
          </a:prstGeom>
          <a:noFill/>
          <a:ln cap="flat" cmpd="sng" w="9525">
            <a:solidFill>
              <a:schemeClr val="dk1"/>
            </a:solidFill>
            <a:prstDash val="solid"/>
            <a:round/>
            <a:headEnd len="med" w="med" type="oval"/>
            <a:tailEnd len="med" w="med" type="oval"/>
          </a:ln>
        </p:spPr>
      </p:cxnSp>
      <p:sp>
        <p:nvSpPr>
          <p:cNvPr id="373" name="Google Shape;373;p26"/>
          <p:cNvSpPr/>
          <p:nvPr/>
        </p:nvSpPr>
        <p:spPr>
          <a:xfrm>
            <a:off x="2638902" y="2879662"/>
            <a:ext cx="9327125" cy="64629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Each variable must have a </a:t>
            </a:r>
            <a:r>
              <a:rPr b="1" i="0" lang="en-GB" sz="2400" u="none" cap="none" strike="noStrike">
                <a:solidFill>
                  <a:srgbClr val="D4650A"/>
                </a:solidFill>
                <a:latin typeface="Arial"/>
                <a:ea typeface="Arial"/>
                <a:cs typeface="Arial"/>
                <a:sym typeface="Arial"/>
              </a:rPr>
              <a:t>unique identifier </a:t>
            </a:r>
            <a:r>
              <a:rPr b="0" i="0" lang="en-GB" sz="2400" u="none" cap="none" strike="noStrike">
                <a:solidFill>
                  <a:schemeClr val="dk1"/>
                </a:solidFill>
                <a:latin typeface="Arial"/>
                <a:ea typeface="Arial"/>
                <a:cs typeface="Arial"/>
                <a:sym typeface="Arial"/>
              </a:rPr>
              <a:t>value.</a:t>
            </a:r>
            <a:endParaRPr b="0" i="0" sz="2400" u="none" cap="none" strike="noStrike">
              <a:solidFill>
                <a:schemeClr val="dk1"/>
              </a:solidFill>
              <a:latin typeface="Arial"/>
              <a:ea typeface="Arial"/>
              <a:cs typeface="Arial"/>
              <a:sym typeface="Arial"/>
            </a:endParaRPr>
          </a:p>
        </p:txBody>
      </p:sp>
      <p:sp>
        <p:nvSpPr>
          <p:cNvPr id="374" name="Google Shape;374;p26"/>
          <p:cNvSpPr/>
          <p:nvPr/>
        </p:nvSpPr>
        <p:spPr>
          <a:xfrm>
            <a:off x="2638901" y="3669971"/>
            <a:ext cx="9327125" cy="120028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Arial"/>
              <a:buChar char="•"/>
            </a:pPr>
            <a:r>
              <a:rPr b="0" i="0" lang="en-GB" sz="2400" u="none" cap="none" strike="noStrike">
                <a:solidFill>
                  <a:schemeClr val="dk1"/>
                </a:solidFill>
                <a:latin typeface="Arial"/>
                <a:ea typeface="Arial"/>
                <a:cs typeface="Arial"/>
                <a:sym typeface="Arial"/>
              </a:rPr>
              <a:t>A variable can be assigned different values during program’s execution, hence the num = 10.</a:t>
            </a:r>
            <a:endParaRPr b="0" i="0" sz="2400" u="none" cap="none" strike="noStrike">
              <a:solidFill>
                <a:schemeClr val="dk1"/>
              </a:solidFill>
              <a:latin typeface="Arial"/>
              <a:ea typeface="Arial"/>
              <a:cs typeface="Arial"/>
              <a:sym typeface="Arial"/>
            </a:endParaRPr>
          </a:p>
        </p:txBody>
      </p:sp>
      <p:pic>
        <p:nvPicPr>
          <p:cNvPr id="375" name="Google Shape;375;p26"/>
          <p:cNvPicPr preferRelativeResize="0"/>
          <p:nvPr/>
        </p:nvPicPr>
        <p:blipFill rotWithShape="1">
          <a:blip r:embed="rId3">
            <a:alphaModFix/>
          </a:blip>
          <a:srcRect b="0" l="0" r="0" t="0"/>
          <a:stretch/>
        </p:blipFill>
        <p:spPr>
          <a:xfrm>
            <a:off x="5258675" y="5233197"/>
            <a:ext cx="3067050" cy="876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7"/>
          <p:cNvSpPr txBox="1"/>
          <p:nvPr>
            <p:ph idx="1" type="subTitle"/>
          </p:nvPr>
        </p:nvSpPr>
        <p:spPr>
          <a:xfrm>
            <a:off x="3176965" y="313236"/>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4.2 Variable Assignment</a:t>
            </a:r>
            <a:endParaRPr b="1" i="0" sz="4000">
              <a:solidFill>
                <a:srgbClr val="191919"/>
              </a:solidFill>
              <a:latin typeface="Arial"/>
              <a:ea typeface="Arial"/>
              <a:cs typeface="Arial"/>
              <a:sym typeface="Arial"/>
            </a:endParaRPr>
          </a:p>
        </p:txBody>
      </p:sp>
      <p:graphicFrame>
        <p:nvGraphicFramePr>
          <p:cNvPr id="381" name="Google Shape;381;p27"/>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 Variable, True Usefulness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4.1 Variable?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4.2 Variable Assignment</a:t>
                      </a:r>
                      <a:endParaRPr sz="1400" u="none" cap="none" strike="noStrike"/>
                    </a:p>
                  </a:txBody>
                  <a:tcPr marT="45725" marB="45725" marR="91450" marL="91450"/>
                </a:tc>
              </a:tr>
            </a:tbl>
          </a:graphicData>
        </a:graphic>
      </p:graphicFrame>
      <p:sp>
        <p:nvSpPr>
          <p:cNvPr id="382" name="Google Shape;382;p2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383" name="Google Shape;383;p27"/>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When a variable is appears in a program </a:t>
            </a:r>
            <a:r>
              <a:rPr b="1" i="0" lang="en-GB" sz="2400" u="none" cap="none" strike="noStrike">
                <a:solidFill>
                  <a:srgbClr val="D4650A"/>
                </a:solidFill>
                <a:latin typeface="Arial"/>
                <a:ea typeface="Arial"/>
                <a:cs typeface="Arial"/>
                <a:sym typeface="Arial"/>
              </a:rPr>
              <a:t>(except on the left-hand side of an assignment statement</a:t>
            </a:r>
            <a:r>
              <a:rPr b="0" i="0" lang="en-GB" sz="2400" u="none" cap="none" strike="noStrike">
                <a:solidFill>
                  <a:schemeClr val="dk1"/>
                </a:solidFill>
                <a:latin typeface="Arial"/>
                <a:ea typeface="Arial"/>
                <a:cs typeface="Arial"/>
                <a:sym typeface="Arial"/>
              </a:rPr>
              <a:t>), it is the value associated with the variable used, and not the variable’s name.</a:t>
            </a:r>
            <a:endParaRPr b="0" i="0" sz="2400" u="none" cap="none" strike="noStrike">
              <a:solidFill>
                <a:schemeClr val="dk1"/>
              </a:solidFill>
              <a:latin typeface="Arial"/>
              <a:ea typeface="Arial"/>
              <a:cs typeface="Arial"/>
              <a:sym typeface="Arial"/>
            </a:endParaRPr>
          </a:p>
        </p:txBody>
      </p:sp>
      <p:cxnSp>
        <p:nvCxnSpPr>
          <p:cNvPr id="384" name="Google Shape;384;p27"/>
          <p:cNvCxnSpPr/>
          <p:nvPr/>
        </p:nvCxnSpPr>
        <p:spPr>
          <a:xfrm>
            <a:off x="3176965" y="1203470"/>
            <a:ext cx="7945464" cy="0"/>
          </a:xfrm>
          <a:prstGeom prst="straightConnector1">
            <a:avLst/>
          </a:prstGeom>
          <a:noFill/>
          <a:ln cap="flat" cmpd="sng" w="9525">
            <a:solidFill>
              <a:schemeClr val="dk1"/>
            </a:solidFill>
            <a:prstDash val="solid"/>
            <a:round/>
            <a:headEnd len="med" w="med" type="oval"/>
            <a:tailEnd len="med" w="med" type="oval"/>
          </a:ln>
        </p:spPr>
      </p:cxnSp>
      <p:pic>
        <p:nvPicPr>
          <p:cNvPr id="385" name="Google Shape;385;p27"/>
          <p:cNvPicPr preferRelativeResize="0"/>
          <p:nvPr/>
        </p:nvPicPr>
        <p:blipFill rotWithShape="1">
          <a:blip r:embed="rId3">
            <a:alphaModFix/>
          </a:blip>
          <a:srcRect b="0" l="0" r="0" t="0"/>
          <a:stretch/>
        </p:blipFill>
        <p:spPr>
          <a:xfrm>
            <a:off x="4759719" y="3342355"/>
            <a:ext cx="4800957" cy="717751"/>
          </a:xfrm>
          <a:prstGeom prst="rect">
            <a:avLst/>
          </a:prstGeom>
          <a:noFill/>
          <a:ln>
            <a:noFill/>
          </a:ln>
        </p:spPr>
      </p:pic>
      <p:sp>
        <p:nvSpPr>
          <p:cNvPr id="386" name="Google Shape;386;p27"/>
          <p:cNvSpPr/>
          <p:nvPr/>
        </p:nvSpPr>
        <p:spPr>
          <a:xfrm>
            <a:off x="2638902" y="4060106"/>
            <a:ext cx="9327125"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Variables are assigned values by use of the assignment operator, =</a:t>
            </a:r>
            <a:endParaRPr b="0" i="0" sz="2400" u="none" cap="none" strike="noStrike">
              <a:solidFill>
                <a:schemeClr val="dk1"/>
              </a:solidFill>
              <a:latin typeface="Arial"/>
              <a:ea typeface="Arial"/>
              <a:cs typeface="Arial"/>
              <a:sym typeface="Arial"/>
            </a:endParaRPr>
          </a:p>
        </p:txBody>
      </p:sp>
      <p:pic>
        <p:nvPicPr>
          <p:cNvPr id="387" name="Google Shape;387;p27"/>
          <p:cNvPicPr preferRelativeResize="0"/>
          <p:nvPr/>
        </p:nvPicPr>
        <p:blipFill rotWithShape="1">
          <a:blip r:embed="rId4">
            <a:alphaModFix/>
          </a:blip>
          <a:srcRect b="0" l="0" r="0" t="0"/>
          <a:stretch/>
        </p:blipFill>
        <p:spPr>
          <a:xfrm>
            <a:off x="4575870" y="5536900"/>
            <a:ext cx="5458222" cy="59328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8"/>
          <p:cNvSpPr txBox="1"/>
          <p:nvPr>
            <p:ph idx="1" type="subTitle"/>
          </p:nvPr>
        </p:nvSpPr>
        <p:spPr>
          <a:xfrm>
            <a:off x="3176965" y="292045"/>
            <a:ext cx="7702722"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i="0" lang="en-GB" sz="4000">
                <a:solidFill>
                  <a:srgbClr val="191919"/>
                </a:solidFill>
                <a:latin typeface="Arial"/>
                <a:ea typeface="Arial"/>
                <a:cs typeface="Arial"/>
                <a:sym typeface="Arial"/>
              </a:rPr>
              <a:t>4.3 Does Not Make Sense!!</a:t>
            </a:r>
            <a:endParaRPr b="1" i="0" sz="4000">
              <a:solidFill>
                <a:srgbClr val="191919"/>
              </a:solidFill>
              <a:latin typeface="Arial"/>
              <a:ea typeface="Arial"/>
              <a:cs typeface="Arial"/>
              <a:sym typeface="Arial"/>
            </a:endParaRPr>
          </a:p>
        </p:txBody>
      </p:sp>
      <p:graphicFrame>
        <p:nvGraphicFramePr>
          <p:cNvPr id="393" name="Google Shape;393;p28"/>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 Variable, True Usefulness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4.1 Variable?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4.2 Variable Assignment</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4.3 Does Not Make Sense!!</a:t>
                      </a:r>
                      <a:endParaRPr sz="1400" u="none" cap="none" strike="noStrike"/>
                    </a:p>
                  </a:txBody>
                  <a:tcPr marT="45725" marB="45725" marR="91450" marL="91450"/>
                </a:tc>
              </a:tr>
            </a:tbl>
          </a:graphicData>
        </a:graphic>
      </p:graphicFrame>
      <p:sp>
        <p:nvSpPr>
          <p:cNvPr id="394" name="Google Shape;394;p2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395" name="Google Shape;395;p28"/>
          <p:cNvSpPr/>
          <p:nvPr/>
        </p:nvSpPr>
        <p:spPr>
          <a:xfrm>
            <a:off x="2638903" y="1363193"/>
            <a:ext cx="9327125" cy="113184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Assignment statements often looks wrong to new programmers.</a:t>
            </a:r>
            <a:endParaRPr b="1" i="0" sz="2400" u="none" cap="none" strike="noStrike">
              <a:solidFill>
                <a:schemeClr val="dk1"/>
              </a:solidFill>
              <a:latin typeface="Arial"/>
              <a:ea typeface="Arial"/>
              <a:cs typeface="Arial"/>
              <a:sym typeface="Arial"/>
            </a:endParaRPr>
          </a:p>
        </p:txBody>
      </p:sp>
      <p:cxnSp>
        <p:nvCxnSpPr>
          <p:cNvPr id="396" name="Google Shape;396;p28"/>
          <p:cNvCxnSpPr/>
          <p:nvPr/>
        </p:nvCxnSpPr>
        <p:spPr>
          <a:xfrm>
            <a:off x="3176965" y="1228409"/>
            <a:ext cx="7970402" cy="0"/>
          </a:xfrm>
          <a:prstGeom prst="straightConnector1">
            <a:avLst/>
          </a:prstGeom>
          <a:noFill/>
          <a:ln cap="flat" cmpd="sng" w="9525">
            <a:solidFill>
              <a:schemeClr val="dk1"/>
            </a:solidFill>
            <a:prstDash val="solid"/>
            <a:round/>
            <a:headEnd len="med" w="med" type="oval"/>
            <a:tailEnd len="med" w="med" type="oval"/>
          </a:ln>
        </p:spPr>
      </p:cxnSp>
      <p:pic>
        <p:nvPicPr>
          <p:cNvPr descr="Confused Emoji Images – Browse 216 Stock Photos, Vectors ..." id="397" name="Google Shape;397;p28"/>
          <p:cNvPicPr preferRelativeResize="0"/>
          <p:nvPr/>
        </p:nvPicPr>
        <p:blipFill rotWithShape="1">
          <a:blip r:embed="rId3">
            <a:alphaModFix/>
          </a:blip>
          <a:srcRect b="0" l="0" r="0" t="0"/>
          <a:stretch/>
        </p:blipFill>
        <p:spPr>
          <a:xfrm>
            <a:off x="9677947" y="1941043"/>
            <a:ext cx="2051598" cy="2051599"/>
          </a:xfrm>
          <a:prstGeom prst="rect">
            <a:avLst/>
          </a:prstGeom>
          <a:noFill/>
          <a:ln>
            <a:noFill/>
          </a:ln>
        </p:spPr>
      </p:pic>
      <p:sp>
        <p:nvSpPr>
          <p:cNvPr id="398" name="Google Shape;398;p28"/>
          <p:cNvSpPr/>
          <p:nvPr/>
        </p:nvSpPr>
        <p:spPr>
          <a:xfrm>
            <a:off x="2765747" y="2387083"/>
            <a:ext cx="9327125" cy="230832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Mathematically, </a:t>
            </a:r>
            <a:endParaRPr b="0" i="0" sz="1400" u="none" cap="none" strike="noStrike">
              <a:solidFill>
                <a:srgbClr val="000000"/>
              </a:solidFill>
              <a:latin typeface="Arial"/>
              <a:ea typeface="Arial"/>
              <a:cs typeface="Arial"/>
              <a:sym typeface="Arial"/>
            </a:endParaRPr>
          </a:p>
          <a:p>
            <a:pPr indent="0" lvl="1" marL="457200" marR="0" rtl="0" algn="just">
              <a:lnSpc>
                <a:spcPct val="15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	num = num + 1 </a:t>
            </a:r>
            <a:endParaRPr b="0" i="0" sz="1400" u="none" cap="none" strike="noStrike">
              <a:solidFill>
                <a:srgbClr val="000000"/>
              </a:solidFill>
              <a:latin typeface="Arial"/>
              <a:ea typeface="Arial"/>
              <a:cs typeface="Arial"/>
              <a:sym typeface="Arial"/>
            </a:endParaRPr>
          </a:p>
          <a:p>
            <a:pPr indent="0" lvl="1" marL="457200" marR="0" rtl="0" algn="just">
              <a:lnSpc>
                <a:spcPct val="15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	10 = 10 + 1</a:t>
            </a:r>
            <a:endParaRPr b="0" i="0" sz="1400" u="none" cap="none" strike="noStrike">
              <a:solidFill>
                <a:srgbClr val="000000"/>
              </a:solidFill>
              <a:latin typeface="Arial"/>
              <a:ea typeface="Arial"/>
              <a:cs typeface="Arial"/>
              <a:sym typeface="Arial"/>
            </a:endParaRPr>
          </a:p>
          <a:p>
            <a:pPr indent="0" lvl="1" marL="457200" marR="0" rtl="0" algn="just">
              <a:lnSpc>
                <a:spcPct val="15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	10 = 11???</a:t>
            </a:r>
            <a:endParaRPr b="0" i="0" sz="1400" u="none" cap="none" strike="noStrike">
              <a:solidFill>
                <a:srgbClr val="000000"/>
              </a:solidFill>
              <a:latin typeface="Arial"/>
              <a:ea typeface="Arial"/>
              <a:cs typeface="Arial"/>
              <a:sym typeface="Arial"/>
            </a:endParaRPr>
          </a:p>
        </p:txBody>
      </p:sp>
      <p:sp>
        <p:nvSpPr>
          <p:cNvPr id="399" name="Google Shape;399;p28"/>
          <p:cNvSpPr/>
          <p:nvPr/>
        </p:nvSpPr>
        <p:spPr>
          <a:xfrm>
            <a:off x="2638902" y="445734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Mathematically, it does not make sense. However, in programming it is used to increase value by 1 and assigned to the num variable. </a:t>
            </a:r>
            <a:endParaRPr b="0" i="0" sz="2400" u="none" cap="none" strike="noStrike">
              <a:solidFill>
                <a:schemeClr val="dk1"/>
              </a:solidFill>
              <a:latin typeface="Arial"/>
              <a:ea typeface="Arial"/>
              <a:cs typeface="Arial"/>
              <a:sym typeface="Arial"/>
            </a:endParaRPr>
          </a:p>
        </p:txBody>
      </p:sp>
      <p:sp>
        <p:nvSpPr>
          <p:cNvPr id="400" name="Google Shape;400;p28"/>
          <p:cNvSpPr/>
          <p:nvPr/>
        </p:nvSpPr>
        <p:spPr>
          <a:xfrm>
            <a:off x="4038077" y="6105911"/>
            <a:ext cx="6782464" cy="57785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400"/>
              <a:buFont typeface="Arial"/>
              <a:buNone/>
            </a:pPr>
            <a:r>
              <a:rPr b="1" i="0" lang="en-GB" sz="2400" u="none" cap="none" strike="noStrike">
                <a:solidFill>
                  <a:srgbClr val="FF0000"/>
                </a:solidFill>
                <a:latin typeface="Arial"/>
                <a:ea typeface="Arial"/>
                <a:cs typeface="Arial"/>
                <a:sym typeface="Arial"/>
              </a:rPr>
              <a:t>Note: This can be said to increment variable</a:t>
            </a:r>
            <a:endParaRPr b="1" i="0" sz="24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9"/>
          <p:cNvSpPr txBox="1"/>
          <p:nvPr>
            <p:ph idx="1" type="subTitle"/>
          </p:nvPr>
        </p:nvSpPr>
        <p:spPr>
          <a:xfrm>
            <a:off x="3176965" y="302678"/>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4.4 Assignment Operator</a:t>
            </a:r>
            <a:endParaRPr b="1" i="0" sz="4000">
              <a:solidFill>
                <a:srgbClr val="191919"/>
              </a:solidFill>
              <a:latin typeface="Arial"/>
              <a:ea typeface="Arial"/>
              <a:cs typeface="Arial"/>
              <a:sym typeface="Arial"/>
            </a:endParaRPr>
          </a:p>
        </p:txBody>
      </p:sp>
      <p:graphicFrame>
        <p:nvGraphicFramePr>
          <p:cNvPr id="406" name="Google Shape;406;p29"/>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 Variable, True Usefulness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4.1 Variable?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4.2 Variable Assignment</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Note Make Sense!!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4.4 Assignment Operator</a:t>
                      </a:r>
                      <a:endParaRPr sz="1400" u="none" cap="none" strike="noStrike"/>
                    </a:p>
                  </a:txBody>
                  <a:tcPr marT="45725" marB="45725" marR="91450" marL="91450"/>
                </a:tc>
              </a:tr>
            </a:tbl>
          </a:graphicData>
        </a:graphic>
      </p:graphicFrame>
      <p:sp>
        <p:nvSpPr>
          <p:cNvPr id="407" name="Google Shape;407;p2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408" name="Google Shape;408;p29"/>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Let think this in steps: </a:t>
            </a:r>
            <a:endParaRPr b="0" i="0" sz="1400" u="none" cap="none" strike="noStrike">
              <a:solidFill>
                <a:srgbClr val="000000"/>
              </a:solidFill>
              <a:latin typeface="Arial"/>
              <a:ea typeface="Arial"/>
              <a:cs typeface="Arial"/>
              <a:sym typeface="Arial"/>
            </a:endParaRPr>
          </a:p>
          <a:p>
            <a:pPr indent="0" lvl="1" marL="457200" marR="0" rtl="0" algn="just">
              <a:lnSpc>
                <a:spcPct val="15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 The </a:t>
            </a:r>
            <a:r>
              <a:rPr b="0" i="0" lang="en-GB" sz="2400" u="none" cap="none" strike="noStrike">
                <a:solidFill>
                  <a:srgbClr val="D4650A"/>
                </a:solidFill>
                <a:latin typeface="Arial"/>
                <a:ea typeface="Arial"/>
                <a:cs typeface="Arial"/>
                <a:sym typeface="Arial"/>
              </a:rPr>
              <a:t>right side </a:t>
            </a:r>
            <a:r>
              <a:rPr b="0" i="0" lang="en-GB" sz="2400" u="none" cap="none" strike="noStrike">
                <a:solidFill>
                  <a:schemeClr val="dk1"/>
                </a:solidFill>
                <a:latin typeface="Arial"/>
                <a:ea typeface="Arial"/>
                <a:cs typeface="Arial"/>
                <a:sym typeface="Arial"/>
              </a:rPr>
              <a:t>of the assignment is </a:t>
            </a:r>
            <a:r>
              <a:rPr b="0" i="0" lang="en-GB" sz="2400" u="none" cap="none" strike="noStrike">
                <a:solidFill>
                  <a:srgbClr val="D4650A"/>
                </a:solidFill>
                <a:latin typeface="Arial"/>
                <a:ea typeface="Arial"/>
                <a:cs typeface="Arial"/>
                <a:sym typeface="Arial"/>
              </a:rPr>
              <a:t>evaluated first</a:t>
            </a:r>
            <a:r>
              <a:rPr b="0" i="0" lang="en-GB"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1" marL="457200" marR="0" rtl="0" algn="just">
              <a:lnSpc>
                <a:spcPct val="15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 The result is </a:t>
            </a:r>
            <a:r>
              <a:rPr b="0" i="0" lang="en-GB" sz="2400" u="none" cap="none" strike="noStrike">
                <a:solidFill>
                  <a:srgbClr val="D4650A"/>
                </a:solidFill>
                <a:latin typeface="Arial"/>
                <a:ea typeface="Arial"/>
                <a:cs typeface="Arial"/>
                <a:sym typeface="Arial"/>
              </a:rPr>
              <a:t>assigned</a:t>
            </a:r>
            <a:r>
              <a:rPr b="0" i="0" lang="en-GB" sz="2400" u="none" cap="none" strike="noStrike">
                <a:solidFill>
                  <a:schemeClr val="dk1"/>
                </a:solidFill>
                <a:latin typeface="Arial"/>
                <a:ea typeface="Arial"/>
                <a:cs typeface="Arial"/>
                <a:sym typeface="Arial"/>
              </a:rPr>
              <a:t> to variable on the </a:t>
            </a:r>
            <a:r>
              <a:rPr b="0" i="0" lang="en-GB" sz="2400" u="none" cap="none" strike="noStrike">
                <a:solidFill>
                  <a:srgbClr val="D4650A"/>
                </a:solidFill>
                <a:latin typeface="Arial"/>
                <a:ea typeface="Arial"/>
                <a:cs typeface="Arial"/>
                <a:sym typeface="Arial"/>
              </a:rPr>
              <a:t>left</a:t>
            </a:r>
            <a:r>
              <a:rPr b="0" i="0" lang="en-GB"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p:txBody>
      </p:sp>
      <p:cxnSp>
        <p:nvCxnSpPr>
          <p:cNvPr id="409" name="Google Shape;409;p29"/>
          <p:cNvCxnSpPr/>
          <p:nvPr/>
        </p:nvCxnSpPr>
        <p:spPr>
          <a:xfrm>
            <a:off x="3176965" y="1203470"/>
            <a:ext cx="7978715" cy="0"/>
          </a:xfrm>
          <a:prstGeom prst="straightConnector1">
            <a:avLst/>
          </a:prstGeom>
          <a:noFill/>
          <a:ln cap="flat" cmpd="sng" w="9525">
            <a:solidFill>
              <a:schemeClr val="dk1"/>
            </a:solidFill>
            <a:prstDash val="solid"/>
            <a:round/>
            <a:headEnd len="med" w="med" type="oval"/>
            <a:tailEnd len="med" w="med" type="oval"/>
          </a:ln>
        </p:spPr>
      </p:cxnSp>
      <p:pic>
        <p:nvPicPr>
          <p:cNvPr id="410" name="Google Shape;410;p29"/>
          <p:cNvPicPr preferRelativeResize="0"/>
          <p:nvPr/>
        </p:nvPicPr>
        <p:blipFill rotWithShape="1">
          <a:blip r:embed="rId3">
            <a:alphaModFix/>
          </a:blip>
          <a:srcRect b="0" l="0" r="0" t="0"/>
          <a:stretch/>
        </p:blipFill>
        <p:spPr>
          <a:xfrm>
            <a:off x="4344962" y="3117519"/>
            <a:ext cx="5396805" cy="1433905"/>
          </a:xfrm>
          <a:prstGeom prst="rect">
            <a:avLst/>
          </a:prstGeom>
          <a:noFill/>
          <a:ln>
            <a:noFill/>
          </a:ln>
        </p:spPr>
      </p:pic>
      <p:sp>
        <p:nvSpPr>
          <p:cNvPr id="411" name="Google Shape;411;p29"/>
          <p:cNvSpPr/>
          <p:nvPr/>
        </p:nvSpPr>
        <p:spPr>
          <a:xfrm>
            <a:off x="2638903" y="4558216"/>
            <a:ext cx="9327125"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An arrow symbol is not used simply because there is no such characters on a standard computer keyboard.</a:t>
            </a:r>
            <a:endParaRPr b="0" i="0" sz="2400" u="none" cap="none" strike="noStrike">
              <a:solidFill>
                <a:schemeClr val="dk1"/>
              </a:solidFill>
              <a:latin typeface="Arial"/>
              <a:ea typeface="Arial"/>
              <a:cs typeface="Arial"/>
              <a:sym typeface="Arial"/>
            </a:endParaRPr>
          </a:p>
        </p:txBody>
      </p:sp>
      <p:sp>
        <p:nvSpPr>
          <p:cNvPr id="412" name="Google Shape;412;p29"/>
          <p:cNvSpPr/>
          <p:nvPr/>
        </p:nvSpPr>
        <p:spPr>
          <a:xfrm>
            <a:off x="2638903" y="5655958"/>
            <a:ext cx="9327125" cy="1131848"/>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There are other assignment operators as well which we use to increase or decrease the variable. </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0"/>
          <p:cNvSpPr txBox="1"/>
          <p:nvPr>
            <p:ph idx="1" type="subTitle"/>
          </p:nvPr>
        </p:nvSpPr>
        <p:spPr>
          <a:xfrm>
            <a:off x="3176965" y="320664"/>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4.5 Variable as Value</a:t>
            </a:r>
            <a:endParaRPr b="1" i="0" sz="4000">
              <a:solidFill>
                <a:srgbClr val="191919"/>
              </a:solidFill>
              <a:latin typeface="Arial"/>
              <a:ea typeface="Arial"/>
              <a:cs typeface="Arial"/>
              <a:sym typeface="Arial"/>
            </a:endParaRPr>
          </a:p>
        </p:txBody>
      </p:sp>
      <p:graphicFrame>
        <p:nvGraphicFramePr>
          <p:cNvPr id="418" name="Google Shape;418;p30"/>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3. Literals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 Variable, True Usefulness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4.1 Variable?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4.2 Variable Assignment</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4.5 Variable as Value</a:t>
                      </a:r>
                      <a:endParaRPr sz="1400" u="none" cap="none" strike="noStrike"/>
                    </a:p>
                  </a:txBody>
                  <a:tcPr marT="45725" marB="45725" marR="91450" marL="91450"/>
                </a:tc>
              </a:tr>
            </a:tbl>
          </a:graphicData>
        </a:graphic>
      </p:graphicFrame>
      <p:sp>
        <p:nvSpPr>
          <p:cNvPr id="419" name="Google Shape;419;p3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420" name="Google Shape;420;p30"/>
          <p:cNvSpPr/>
          <p:nvPr/>
        </p:nvSpPr>
        <p:spPr>
          <a:xfrm>
            <a:off x="2638903" y="1363193"/>
            <a:ext cx="9327125" cy="57785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Variables may also be assigned to the value of another variable:</a:t>
            </a:r>
            <a:endParaRPr b="0" i="0" sz="2400" u="none" cap="none" strike="noStrike">
              <a:solidFill>
                <a:schemeClr val="dk1"/>
              </a:solidFill>
              <a:latin typeface="Arial"/>
              <a:ea typeface="Arial"/>
              <a:cs typeface="Arial"/>
              <a:sym typeface="Arial"/>
            </a:endParaRPr>
          </a:p>
        </p:txBody>
      </p:sp>
      <p:cxnSp>
        <p:nvCxnSpPr>
          <p:cNvPr id="421" name="Google Shape;421;p30"/>
          <p:cNvCxnSpPr/>
          <p:nvPr/>
        </p:nvCxnSpPr>
        <p:spPr>
          <a:xfrm>
            <a:off x="3176965" y="1184139"/>
            <a:ext cx="7937151" cy="0"/>
          </a:xfrm>
          <a:prstGeom prst="straightConnector1">
            <a:avLst/>
          </a:prstGeom>
          <a:noFill/>
          <a:ln cap="flat" cmpd="sng" w="9525">
            <a:solidFill>
              <a:schemeClr val="dk1"/>
            </a:solidFill>
            <a:prstDash val="solid"/>
            <a:round/>
            <a:headEnd len="med" w="med" type="oval"/>
            <a:tailEnd len="med" w="med" type="oval"/>
          </a:ln>
        </p:spPr>
      </p:cxnSp>
      <p:sp>
        <p:nvSpPr>
          <p:cNvPr id="422" name="Google Shape;422;p30"/>
          <p:cNvSpPr/>
          <p:nvPr/>
        </p:nvSpPr>
        <p:spPr>
          <a:xfrm>
            <a:off x="2765747" y="4993203"/>
            <a:ext cx="9327125" cy="1131848"/>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Variables num and k are both associated with the same literal value 10 in memory. </a:t>
            </a:r>
            <a:endParaRPr b="0" i="0" sz="2400" u="none" cap="none" strike="noStrike">
              <a:solidFill>
                <a:schemeClr val="dk1"/>
              </a:solidFill>
              <a:latin typeface="Arial"/>
              <a:ea typeface="Arial"/>
              <a:cs typeface="Arial"/>
              <a:sym typeface="Arial"/>
            </a:endParaRPr>
          </a:p>
        </p:txBody>
      </p:sp>
      <p:pic>
        <p:nvPicPr>
          <p:cNvPr descr="https://lh5.googleusercontent.com/R9egIlFabpR3Pnsm6u-KKh7q74hv0KsOnYlJQqn-smt2X-uC2oH_jjreCZ9Ml3Q3UZ1hFcVxC7-wHBpxKrMhUPflTocVL5rUFk-FpcIV0_HsUTMdyRHMPp0Xko42aukYwSjSt-e9ytoGp6PELVhoUWFpgKFaYeNEWn1PDYnGxlw9QLRlutSXQlq1EscY_5rwKWTp94meEw" id="423" name="Google Shape;423;p30"/>
          <p:cNvPicPr preferRelativeResize="0"/>
          <p:nvPr/>
        </p:nvPicPr>
        <p:blipFill rotWithShape="1">
          <a:blip r:embed="rId3">
            <a:alphaModFix/>
          </a:blip>
          <a:srcRect b="0" l="0" r="0" t="0"/>
          <a:stretch/>
        </p:blipFill>
        <p:spPr>
          <a:xfrm>
            <a:off x="3410501" y="2070088"/>
            <a:ext cx="7031402" cy="23872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1"/>
          <p:cNvSpPr txBox="1"/>
          <p:nvPr>
            <p:ph idx="1" type="subTitle"/>
          </p:nvPr>
        </p:nvSpPr>
        <p:spPr>
          <a:xfrm>
            <a:off x="3226841" y="320664"/>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4.6 Dynamic Typing</a:t>
            </a:r>
            <a:endParaRPr b="1" i="0" sz="4000">
              <a:solidFill>
                <a:srgbClr val="191919"/>
              </a:solidFill>
              <a:latin typeface="Arial"/>
              <a:ea typeface="Arial"/>
              <a:cs typeface="Arial"/>
              <a:sym typeface="Arial"/>
            </a:endParaRPr>
          </a:p>
        </p:txBody>
      </p:sp>
      <p:graphicFrame>
        <p:nvGraphicFramePr>
          <p:cNvPr id="429" name="Google Shape;429;p31"/>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4.5 Variable as Value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4.6 Dynamic Typing</a:t>
                      </a:r>
                      <a:endParaRPr sz="1400" u="none" cap="none" strike="noStrike"/>
                    </a:p>
                  </a:txBody>
                  <a:tcPr marT="45725" marB="45725" marR="91450" marL="91450"/>
                </a:tc>
              </a:tr>
            </a:tbl>
          </a:graphicData>
        </a:graphic>
      </p:graphicFrame>
      <p:sp>
        <p:nvSpPr>
          <p:cNvPr id="430" name="Google Shape;430;p3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431" name="Google Shape;431;p31"/>
          <p:cNvSpPr/>
          <p:nvPr/>
        </p:nvSpPr>
        <p:spPr>
          <a:xfrm>
            <a:off x="2638903" y="1363193"/>
            <a:ext cx="9327125"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Finally, in Python the </a:t>
            </a:r>
            <a:r>
              <a:rPr b="0" i="0" lang="en-GB" sz="2400" u="none" cap="none" strike="noStrike">
                <a:solidFill>
                  <a:srgbClr val="D4650A"/>
                </a:solidFill>
                <a:latin typeface="Arial"/>
                <a:ea typeface="Arial"/>
                <a:cs typeface="Arial"/>
                <a:sym typeface="Arial"/>
              </a:rPr>
              <a:t>same variable </a:t>
            </a:r>
            <a:r>
              <a:rPr b="0" i="0" lang="en-GB" sz="2400" u="none" cap="none" strike="noStrike">
                <a:solidFill>
                  <a:schemeClr val="dk1"/>
                </a:solidFill>
                <a:latin typeface="Arial"/>
                <a:ea typeface="Arial"/>
                <a:cs typeface="Arial"/>
                <a:sym typeface="Arial"/>
              </a:rPr>
              <a:t>can be associated with the </a:t>
            </a:r>
            <a:r>
              <a:rPr b="0" i="0" lang="en-GB" sz="2400" u="none" cap="none" strike="noStrike">
                <a:solidFill>
                  <a:srgbClr val="D4650A"/>
                </a:solidFill>
                <a:latin typeface="Arial"/>
                <a:ea typeface="Arial"/>
                <a:cs typeface="Arial"/>
                <a:sym typeface="Arial"/>
              </a:rPr>
              <a:t>values of different </a:t>
            </a:r>
            <a:r>
              <a:rPr b="0" i="0" lang="en-GB" sz="2400" u="none" cap="none" strike="noStrike">
                <a:solidFill>
                  <a:schemeClr val="dk1"/>
                </a:solidFill>
                <a:latin typeface="Arial"/>
                <a:ea typeface="Arial"/>
                <a:cs typeface="Arial"/>
                <a:sym typeface="Arial"/>
              </a:rPr>
              <a:t>type during program execution:</a:t>
            </a:r>
            <a:endParaRPr b="0" i="0" sz="2400" u="none" cap="none" strike="noStrike">
              <a:solidFill>
                <a:schemeClr val="dk1"/>
              </a:solidFill>
              <a:latin typeface="Arial"/>
              <a:ea typeface="Arial"/>
              <a:cs typeface="Arial"/>
              <a:sym typeface="Arial"/>
            </a:endParaRPr>
          </a:p>
        </p:txBody>
      </p:sp>
      <p:cxnSp>
        <p:nvCxnSpPr>
          <p:cNvPr id="432" name="Google Shape;432;p31"/>
          <p:cNvCxnSpPr/>
          <p:nvPr/>
        </p:nvCxnSpPr>
        <p:spPr>
          <a:xfrm>
            <a:off x="3226841" y="1220093"/>
            <a:ext cx="7903901" cy="0"/>
          </a:xfrm>
          <a:prstGeom prst="straightConnector1">
            <a:avLst/>
          </a:prstGeom>
          <a:noFill/>
          <a:ln cap="flat" cmpd="sng" w="9525">
            <a:solidFill>
              <a:schemeClr val="dk1"/>
            </a:solidFill>
            <a:prstDash val="solid"/>
            <a:round/>
            <a:headEnd len="med" w="med" type="oval"/>
            <a:tailEnd len="med" w="med" type="oval"/>
          </a:ln>
        </p:spPr>
      </p:cxnSp>
      <p:pic>
        <p:nvPicPr>
          <p:cNvPr descr="https://lh6.googleusercontent.com/37EhJ0xarPSbb_j7-VJ2OhLs3_LIuagkb8J0y0Gk7LFWxjCbQ4jN6nr5GoUtIUcmkj-vekMo7wfU23N_A0csojax6hepN3g-l3FSfeCa0bqT7_7P3_7NPv-ww6mK-SZRZngLdJEN7lqzombHru1NPfOatusJpyvc6A1AiIH-TY8VuuY2pPDWrrKCwW4CWiijLK_-x5mQ4A" id="433" name="Google Shape;433;p31"/>
          <p:cNvPicPr preferRelativeResize="0"/>
          <p:nvPr/>
        </p:nvPicPr>
        <p:blipFill rotWithShape="1">
          <a:blip r:embed="rId3">
            <a:alphaModFix/>
          </a:blip>
          <a:srcRect b="0" l="0" r="0" t="0"/>
          <a:stretch/>
        </p:blipFill>
        <p:spPr>
          <a:xfrm>
            <a:off x="4426348" y="2563522"/>
            <a:ext cx="4609588" cy="1025398"/>
          </a:xfrm>
          <a:prstGeom prst="rect">
            <a:avLst/>
          </a:prstGeom>
          <a:noFill/>
          <a:ln>
            <a:noFill/>
          </a:ln>
        </p:spPr>
      </p:pic>
      <p:sp>
        <p:nvSpPr>
          <p:cNvPr id="434" name="Google Shape;434;p31"/>
          <p:cNvSpPr/>
          <p:nvPr/>
        </p:nvSpPr>
        <p:spPr>
          <a:xfrm>
            <a:off x="2633072" y="3429000"/>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a:t>
            </a:r>
            <a:r>
              <a:rPr b="1" i="0" lang="en-GB" sz="2400" u="none" cap="none" strike="noStrike">
                <a:solidFill>
                  <a:srgbClr val="D4650A"/>
                </a:solidFill>
                <a:latin typeface="Arial"/>
                <a:ea typeface="Arial"/>
                <a:cs typeface="Arial"/>
                <a:sym typeface="Arial"/>
              </a:rPr>
              <a:t>ability</a:t>
            </a:r>
            <a:r>
              <a:rPr b="0" i="0" lang="en-GB" sz="2400" u="none" cap="none" strike="noStrike">
                <a:solidFill>
                  <a:schemeClr val="dk1"/>
                </a:solidFill>
                <a:latin typeface="Arial"/>
                <a:ea typeface="Arial"/>
                <a:cs typeface="Arial"/>
                <a:sym typeface="Arial"/>
              </a:rPr>
              <a:t> of a variable to be assigned values of </a:t>
            </a:r>
            <a:r>
              <a:rPr b="1" i="0" lang="en-GB" sz="2400" u="none" cap="none" strike="noStrike">
                <a:solidFill>
                  <a:srgbClr val="D4650A"/>
                </a:solidFill>
                <a:latin typeface="Arial"/>
                <a:ea typeface="Arial"/>
                <a:cs typeface="Arial"/>
                <a:sym typeface="Arial"/>
              </a:rPr>
              <a:t>different type </a:t>
            </a:r>
            <a:r>
              <a:rPr b="0" i="0" lang="en-GB" sz="2400" u="none" cap="none" strike="noStrike">
                <a:solidFill>
                  <a:schemeClr val="dk1"/>
                </a:solidFill>
                <a:latin typeface="Arial"/>
                <a:ea typeface="Arial"/>
                <a:cs typeface="Arial"/>
                <a:sym typeface="Arial"/>
              </a:rPr>
              <a:t>is referred as </a:t>
            </a:r>
            <a:r>
              <a:rPr b="1" i="0" lang="en-GB" sz="2400" u="none" cap="none" strike="noStrike">
                <a:solidFill>
                  <a:srgbClr val="D4650A"/>
                </a:solidFill>
                <a:latin typeface="Arial"/>
                <a:ea typeface="Arial"/>
                <a:cs typeface="Arial"/>
                <a:sym typeface="Arial"/>
              </a:rPr>
              <a:t>dynamic typing</a:t>
            </a:r>
            <a:r>
              <a:rPr b="0" i="0" lang="en-GB" sz="2400" u="none" cap="none" strike="noStrike">
                <a:solidFill>
                  <a:schemeClr val="dk1"/>
                </a:solidFill>
                <a:latin typeface="Arial"/>
                <a:ea typeface="Arial"/>
                <a:cs typeface="Arial"/>
                <a:sym typeface="Arial"/>
              </a:rPr>
              <a:t>, introduced later in a discussion on data types</a:t>
            </a:r>
            <a:endParaRPr b="0" i="0" sz="2400" u="none" cap="none" strike="noStrike">
              <a:solidFill>
                <a:schemeClr val="dk1"/>
              </a:solidFill>
              <a:latin typeface="Arial"/>
              <a:ea typeface="Arial"/>
              <a:cs typeface="Arial"/>
              <a:sym typeface="Arial"/>
            </a:endParaRPr>
          </a:p>
        </p:txBody>
      </p:sp>
      <p:sp>
        <p:nvSpPr>
          <p:cNvPr id="435" name="Google Shape;435;p31"/>
          <p:cNvSpPr/>
          <p:nvPr/>
        </p:nvSpPr>
        <p:spPr>
          <a:xfrm>
            <a:off x="2633072" y="5087213"/>
            <a:ext cx="9327125" cy="168584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Many other programming languages such as Java use static typing, in which variable must be defined at a compile time and cannot be changed at runtime.</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2"/>
          <p:cNvSpPr txBox="1"/>
          <p:nvPr>
            <p:ph idx="1" type="subTitle"/>
          </p:nvPr>
        </p:nvSpPr>
        <p:spPr>
          <a:xfrm>
            <a:off x="3176965" y="527769"/>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5. What is an Identifier?</a:t>
            </a:r>
            <a:endParaRPr b="1" i="0" sz="4000">
              <a:solidFill>
                <a:srgbClr val="191919"/>
              </a:solidFill>
              <a:latin typeface="Arial"/>
              <a:ea typeface="Arial"/>
              <a:cs typeface="Arial"/>
              <a:sym typeface="Arial"/>
            </a:endParaRPr>
          </a:p>
        </p:txBody>
      </p:sp>
      <p:graphicFrame>
        <p:nvGraphicFramePr>
          <p:cNvPr id="441" name="Google Shape;441;p32"/>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4.5 Variable as Value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4.6 Dynamic Typing</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5. Identifier</a:t>
                      </a:r>
                      <a:endParaRPr sz="1400" u="none" cap="none" strike="noStrike"/>
                    </a:p>
                  </a:txBody>
                  <a:tcPr marT="45725" marB="45725" marR="91450" marL="91450"/>
                </a:tc>
              </a:tr>
            </a:tbl>
          </a:graphicData>
        </a:graphic>
      </p:graphicFrame>
      <p:sp>
        <p:nvSpPr>
          <p:cNvPr id="442" name="Google Shape;442;p3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443" name="Google Shape;443;p32"/>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An identifier is a </a:t>
            </a:r>
            <a:r>
              <a:rPr b="1" i="0" lang="en-GB" sz="2400" u="none" cap="none" strike="noStrike">
                <a:solidFill>
                  <a:srgbClr val="D4650A"/>
                </a:solidFill>
                <a:latin typeface="Arial"/>
                <a:ea typeface="Arial"/>
                <a:cs typeface="Arial"/>
                <a:sym typeface="Arial"/>
              </a:rPr>
              <a:t>sequence</a:t>
            </a:r>
            <a:r>
              <a:rPr b="0" i="0" lang="en-GB" sz="2400" u="none" cap="none" strike="noStrike">
                <a:solidFill>
                  <a:schemeClr val="dk1"/>
                </a:solidFill>
                <a:latin typeface="Arial"/>
                <a:ea typeface="Arial"/>
                <a:cs typeface="Arial"/>
                <a:sym typeface="Arial"/>
              </a:rPr>
              <a:t> of one or more </a:t>
            </a:r>
            <a:r>
              <a:rPr b="1" i="0" lang="en-GB" sz="2400" u="none" cap="none" strike="noStrike">
                <a:solidFill>
                  <a:srgbClr val="D4650A"/>
                </a:solidFill>
                <a:latin typeface="Arial"/>
                <a:ea typeface="Arial"/>
                <a:cs typeface="Arial"/>
                <a:sym typeface="Arial"/>
              </a:rPr>
              <a:t>characters</a:t>
            </a:r>
            <a:r>
              <a:rPr b="0" i="0" lang="en-GB" sz="2400" u="none" cap="none" strike="noStrike">
                <a:solidFill>
                  <a:schemeClr val="dk1"/>
                </a:solidFill>
                <a:latin typeface="Arial"/>
                <a:ea typeface="Arial"/>
                <a:cs typeface="Arial"/>
                <a:sym typeface="Arial"/>
              </a:rPr>
              <a:t> used to provide a name for a given program element. Variable names </a:t>
            </a:r>
            <a:r>
              <a:rPr b="1" i="1" lang="en-GB" sz="2400" u="none" cap="none" strike="noStrike">
                <a:solidFill>
                  <a:srgbClr val="D4650A"/>
                </a:solidFill>
                <a:latin typeface="Arial"/>
                <a:ea typeface="Arial"/>
                <a:cs typeface="Arial"/>
                <a:sym typeface="Arial"/>
              </a:rPr>
              <a:t>line</a:t>
            </a:r>
            <a:r>
              <a:rPr b="0" i="0" lang="en-GB" sz="2400" u="none" cap="none" strike="noStrike">
                <a:solidFill>
                  <a:schemeClr val="dk1"/>
                </a:solidFill>
                <a:latin typeface="Arial"/>
                <a:ea typeface="Arial"/>
                <a:cs typeface="Arial"/>
                <a:sym typeface="Arial"/>
              </a:rPr>
              <a:t> and </a:t>
            </a:r>
            <a:r>
              <a:rPr b="1" i="1" lang="en-GB" sz="2400" u="none" cap="none" strike="noStrike">
                <a:solidFill>
                  <a:srgbClr val="D4650A"/>
                </a:solidFill>
                <a:latin typeface="Arial"/>
                <a:ea typeface="Arial"/>
                <a:cs typeface="Arial"/>
                <a:sym typeface="Arial"/>
              </a:rPr>
              <a:t>num_credits</a:t>
            </a:r>
            <a:r>
              <a:rPr b="0" i="0" lang="en-GB" sz="2400" u="none" cap="none" strike="noStrike">
                <a:solidFill>
                  <a:srgbClr val="D4650A"/>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are identifiers.</a:t>
            </a:r>
            <a:endParaRPr b="0" i="0" sz="2400" u="none" cap="none" strike="noStrike">
              <a:solidFill>
                <a:schemeClr val="dk1"/>
              </a:solidFill>
              <a:latin typeface="Arial"/>
              <a:ea typeface="Arial"/>
              <a:cs typeface="Arial"/>
              <a:sym typeface="Arial"/>
            </a:endParaRPr>
          </a:p>
        </p:txBody>
      </p:sp>
      <p:cxnSp>
        <p:nvCxnSpPr>
          <p:cNvPr id="444" name="Google Shape;444;p32"/>
          <p:cNvCxnSpPr/>
          <p:nvPr/>
        </p:nvCxnSpPr>
        <p:spPr>
          <a:xfrm>
            <a:off x="3176965" y="1245035"/>
            <a:ext cx="7953777" cy="0"/>
          </a:xfrm>
          <a:prstGeom prst="straightConnector1">
            <a:avLst/>
          </a:prstGeom>
          <a:noFill/>
          <a:ln cap="flat" cmpd="sng" w="9525">
            <a:solidFill>
              <a:schemeClr val="dk1"/>
            </a:solidFill>
            <a:prstDash val="solid"/>
            <a:round/>
            <a:headEnd len="med" w="med" type="oval"/>
            <a:tailEnd len="med" w="med" type="oval"/>
          </a:ln>
        </p:spPr>
      </p:cxnSp>
      <p:sp>
        <p:nvSpPr>
          <p:cNvPr id="445" name="Google Shape;445;p32"/>
          <p:cNvSpPr/>
          <p:nvPr/>
        </p:nvSpPr>
        <p:spPr>
          <a:xfrm>
            <a:off x="2633075" y="3097852"/>
            <a:ext cx="9327000" cy="9501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Python is </a:t>
            </a:r>
            <a:r>
              <a:rPr b="1" i="0" lang="en-GB" sz="2400" u="none" cap="none" strike="noStrike">
                <a:solidFill>
                  <a:srgbClr val="D4650A"/>
                </a:solidFill>
                <a:latin typeface="Arial"/>
                <a:ea typeface="Arial"/>
                <a:cs typeface="Arial"/>
                <a:sym typeface="Arial"/>
              </a:rPr>
              <a:t>case sensitive</a:t>
            </a:r>
            <a:r>
              <a:rPr b="0" i="0" lang="en-GB" sz="2400" u="none" cap="none" strike="noStrike">
                <a:solidFill>
                  <a:schemeClr val="dk1"/>
                </a:solidFill>
                <a:latin typeface="Arial"/>
                <a:ea typeface="Arial"/>
                <a:cs typeface="Arial"/>
                <a:sym typeface="Arial"/>
              </a:rPr>
              <a:t>, thus </a:t>
            </a:r>
            <a:r>
              <a:rPr b="1" i="0" lang="en-GB" sz="2400" u="none" cap="none" strike="noStrike">
                <a:solidFill>
                  <a:srgbClr val="00B050"/>
                </a:solidFill>
                <a:latin typeface="Arial"/>
                <a:ea typeface="Arial"/>
                <a:cs typeface="Arial"/>
                <a:sym typeface="Arial"/>
              </a:rPr>
              <a:t>Line</a:t>
            </a:r>
            <a:r>
              <a:rPr b="1" i="0" lang="en-GB" sz="2400" u="none" cap="none" strike="noStrike">
                <a:solidFill>
                  <a:srgbClr val="00B0F0"/>
                </a:solidFill>
                <a:latin typeface="Arial"/>
                <a:ea typeface="Arial"/>
                <a:cs typeface="Arial"/>
                <a:sym typeface="Arial"/>
              </a:rPr>
              <a:t> is different from </a:t>
            </a:r>
            <a:r>
              <a:rPr b="1" i="0" lang="en-GB" sz="2400" u="none" cap="none" strike="noStrike">
                <a:solidFill>
                  <a:srgbClr val="00B050"/>
                </a:solidFill>
                <a:latin typeface="Arial"/>
                <a:ea typeface="Arial"/>
                <a:cs typeface="Arial"/>
                <a:sym typeface="Arial"/>
              </a:rPr>
              <a:t>line</a:t>
            </a:r>
            <a:r>
              <a:rPr b="0" i="0" lang="en-GB"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p:txBody>
      </p:sp>
      <p:sp>
        <p:nvSpPr>
          <p:cNvPr id="446" name="Google Shape;446;p32"/>
          <p:cNvSpPr/>
          <p:nvPr/>
        </p:nvSpPr>
        <p:spPr>
          <a:xfrm>
            <a:off x="2633007" y="4047938"/>
            <a:ext cx="9327000" cy="2308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a:t>
            </a:r>
            <a:r>
              <a:rPr b="0" i="0" lang="en-GB" sz="2400" u="none" cap="none" strike="noStrike">
                <a:solidFill>
                  <a:srgbClr val="D4650A"/>
                </a:solidFill>
                <a:latin typeface="Arial"/>
                <a:ea typeface="Arial"/>
                <a:cs typeface="Arial"/>
                <a:sym typeface="Arial"/>
              </a:rPr>
              <a:t>underscore character</a:t>
            </a:r>
            <a:r>
              <a:rPr b="0" i="0" lang="en-GB" sz="2400" u="none" cap="none" strike="noStrike">
                <a:solidFill>
                  <a:schemeClr val="dk1"/>
                </a:solidFill>
                <a:latin typeface="Arial"/>
                <a:ea typeface="Arial"/>
                <a:cs typeface="Arial"/>
                <a:sym typeface="Arial"/>
              </a:rPr>
              <a:t>, </a:t>
            </a:r>
            <a:r>
              <a:rPr b="0" i="0" lang="en-GB" sz="2400" u="none" cap="none" strike="noStrike">
                <a:solidFill>
                  <a:srgbClr val="D4650A"/>
                </a:solidFill>
                <a:latin typeface="Arial"/>
                <a:ea typeface="Arial"/>
                <a:cs typeface="Arial"/>
                <a:sym typeface="Arial"/>
              </a:rPr>
              <a:t>_</a:t>
            </a:r>
            <a:r>
              <a:rPr b="0" i="0" lang="en-GB" sz="2400" u="none" cap="none" strike="noStrike">
                <a:solidFill>
                  <a:schemeClr val="dk1"/>
                </a:solidFill>
                <a:latin typeface="Arial"/>
                <a:ea typeface="Arial"/>
                <a:cs typeface="Arial"/>
                <a:sym typeface="Arial"/>
              </a:rPr>
              <a:t>, can be used to aid in the </a:t>
            </a:r>
            <a:r>
              <a:rPr b="1" i="0" lang="en-GB" sz="2400" u="none" cap="none" strike="noStrike">
                <a:solidFill>
                  <a:srgbClr val="D4650A"/>
                </a:solidFill>
                <a:latin typeface="Arial"/>
                <a:ea typeface="Arial"/>
                <a:cs typeface="Arial"/>
                <a:sym typeface="Arial"/>
              </a:rPr>
              <a:t>readability </a:t>
            </a:r>
            <a:r>
              <a:rPr b="0" i="0" lang="en-GB" sz="2400" u="none" cap="none" strike="noStrike">
                <a:solidFill>
                  <a:schemeClr val="dk1"/>
                </a:solidFill>
                <a:latin typeface="Arial"/>
                <a:ea typeface="Arial"/>
                <a:cs typeface="Arial"/>
                <a:sym typeface="Arial"/>
              </a:rPr>
              <a:t>of long identifier names. It should not be used as the first character, </a:t>
            </a:r>
            <a:r>
              <a:rPr b="0" i="0" lang="en-GB" sz="2400" u="none" cap="none" strike="noStrike">
                <a:solidFill>
                  <a:srgbClr val="FF0000"/>
                </a:solidFill>
                <a:latin typeface="Arial"/>
                <a:ea typeface="Arial"/>
                <a:cs typeface="Arial"/>
                <a:sym typeface="Arial"/>
              </a:rPr>
              <a:t>however as identifiers beginning with an underscore have a special meaning in Python</a:t>
            </a:r>
            <a:r>
              <a:rPr b="0" i="0" lang="en-GB"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3"/>
          <p:cNvSpPr txBox="1"/>
          <p:nvPr>
            <p:ph idx="1" type="subTitle"/>
          </p:nvPr>
        </p:nvSpPr>
        <p:spPr>
          <a:xfrm>
            <a:off x="3135384" y="339626"/>
            <a:ext cx="8816832"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5.1 Identifier Example</a:t>
            </a:r>
            <a:endParaRPr b="1" i="0" sz="4000">
              <a:solidFill>
                <a:srgbClr val="191919"/>
              </a:solidFill>
              <a:latin typeface="Arial"/>
              <a:ea typeface="Arial"/>
              <a:cs typeface="Arial"/>
              <a:sym typeface="Arial"/>
            </a:endParaRPr>
          </a:p>
        </p:txBody>
      </p:sp>
      <p:graphicFrame>
        <p:nvGraphicFramePr>
          <p:cNvPr id="452" name="Google Shape;452;p33"/>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4.5 Variable as Value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4.6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5.1 Example</a:t>
                      </a:r>
                      <a:endParaRPr sz="1400" u="none" cap="none" strike="noStrike"/>
                    </a:p>
                    <a:p>
                      <a:pPr indent="0" lvl="0" marL="0" marR="0" rtl="0" algn="l">
                        <a:lnSpc>
                          <a:spcPct val="150000"/>
                        </a:lnSpc>
                        <a:spcBef>
                          <a:spcPts val="0"/>
                        </a:spcBef>
                        <a:spcAft>
                          <a:spcPts val="0"/>
                        </a:spcAft>
                        <a:buClr>
                          <a:schemeClr val="dk1"/>
                        </a:buClr>
                        <a:buSzPts val="1600"/>
                        <a:buFont typeface="Arial"/>
                        <a:buNone/>
                      </a:pPr>
                      <a:r>
                        <a:t/>
                      </a:r>
                      <a:endParaRPr b="1" sz="1600" u="none" cap="none" strike="noStrike">
                        <a:solidFill>
                          <a:srgbClr val="222A35"/>
                        </a:solidFill>
                        <a:latin typeface="Arial"/>
                        <a:ea typeface="Arial"/>
                        <a:cs typeface="Arial"/>
                        <a:sym typeface="Arial"/>
                      </a:endParaRPr>
                    </a:p>
                  </a:txBody>
                  <a:tcPr marT="45725" marB="45725" marR="91450" marL="91450"/>
                </a:tc>
              </a:tr>
            </a:tbl>
          </a:graphicData>
        </a:graphic>
      </p:graphicFrame>
      <p:sp>
        <p:nvSpPr>
          <p:cNvPr id="453" name="Google Shape;453;p3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454" name="Google Shape;454;p33"/>
          <p:cNvCxnSpPr/>
          <p:nvPr/>
        </p:nvCxnSpPr>
        <p:spPr>
          <a:xfrm>
            <a:off x="3208713" y="1178531"/>
            <a:ext cx="7946967" cy="0"/>
          </a:xfrm>
          <a:prstGeom prst="straightConnector1">
            <a:avLst/>
          </a:prstGeom>
          <a:noFill/>
          <a:ln cap="flat" cmpd="sng" w="9525">
            <a:solidFill>
              <a:schemeClr val="dk1"/>
            </a:solidFill>
            <a:prstDash val="solid"/>
            <a:round/>
            <a:headEnd len="med" w="med" type="oval"/>
            <a:tailEnd len="med" w="med" type="oval"/>
          </a:ln>
        </p:spPr>
      </p:cxnSp>
      <p:sp>
        <p:nvSpPr>
          <p:cNvPr id="455" name="Google Shape;455;p33"/>
          <p:cNvSpPr/>
          <p:nvPr/>
        </p:nvSpPr>
        <p:spPr>
          <a:xfrm>
            <a:off x="2641530" y="4210050"/>
            <a:ext cx="9412177" cy="2308324"/>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2400"/>
              <a:buFont typeface="Arial"/>
              <a:buChar char="•"/>
            </a:pPr>
            <a:r>
              <a:rPr b="1" i="0" lang="en-GB" sz="2400" u="none" cap="none" strike="noStrike">
                <a:solidFill>
                  <a:srgbClr val="D4650A"/>
                </a:solidFill>
                <a:latin typeface="Arial"/>
                <a:ea typeface="Arial"/>
                <a:cs typeface="Arial"/>
                <a:sym typeface="Arial"/>
              </a:rPr>
              <a:t>Spaces are not allowed as part of an identifier. </a:t>
            </a:r>
            <a:r>
              <a:rPr b="0" i="0" lang="en-GB" sz="2400" u="none" cap="none" strike="noStrike">
                <a:solidFill>
                  <a:schemeClr val="dk1"/>
                </a:solidFill>
                <a:latin typeface="Arial"/>
                <a:ea typeface="Arial"/>
                <a:cs typeface="Arial"/>
                <a:sym typeface="Arial"/>
              </a:rPr>
              <a:t>This is a common error since some operating system allows spaces within the file names. In Python, however, </a:t>
            </a:r>
            <a:r>
              <a:rPr b="1" i="0" lang="en-GB" sz="2400" u="none" cap="none" strike="noStrike">
                <a:solidFill>
                  <a:srgbClr val="D4650A"/>
                </a:solidFill>
                <a:latin typeface="Arial"/>
                <a:ea typeface="Arial"/>
                <a:cs typeface="Arial"/>
                <a:sym typeface="Arial"/>
              </a:rPr>
              <a:t>spaces are used to delimit (separate) distinct syntactic entities.</a:t>
            </a:r>
            <a:r>
              <a:rPr b="0" i="0" lang="en-GB" sz="2400" u="none" cap="none" strike="noStrike">
                <a:solidFill>
                  <a:schemeClr val="dk1"/>
                </a:solidFill>
                <a:latin typeface="Arial"/>
                <a:ea typeface="Arial"/>
                <a:cs typeface="Arial"/>
                <a:sym typeface="Arial"/>
              </a:rPr>
              <a:t> Thus, any identifier containing a space character would be considered two separate identifiers.</a:t>
            </a:r>
            <a:endParaRPr b="0" i="0" sz="2400" u="none" cap="none" strike="noStrike">
              <a:solidFill>
                <a:schemeClr val="dk1"/>
              </a:solidFill>
              <a:latin typeface="Arial"/>
              <a:ea typeface="Arial"/>
              <a:cs typeface="Arial"/>
              <a:sym typeface="Arial"/>
            </a:endParaRPr>
          </a:p>
        </p:txBody>
      </p:sp>
      <p:pic>
        <p:nvPicPr>
          <p:cNvPr id="456" name="Google Shape;456;p33"/>
          <p:cNvPicPr preferRelativeResize="0"/>
          <p:nvPr/>
        </p:nvPicPr>
        <p:blipFill rotWithShape="1">
          <a:blip r:embed="rId3">
            <a:alphaModFix/>
          </a:blip>
          <a:srcRect b="0" l="0" r="0" t="0"/>
          <a:stretch/>
        </p:blipFill>
        <p:spPr>
          <a:xfrm>
            <a:off x="2931686" y="1346574"/>
            <a:ext cx="8831863" cy="25957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4"/>
          <p:cNvSpPr txBox="1"/>
          <p:nvPr>
            <p:ph idx="1" type="subTitle"/>
          </p:nvPr>
        </p:nvSpPr>
        <p:spPr>
          <a:xfrm>
            <a:off x="3010299" y="456547"/>
            <a:ext cx="8576551"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B050"/>
              </a:buClr>
              <a:buSzPts val="3800"/>
              <a:buNone/>
            </a:pPr>
            <a:r>
              <a:rPr b="1" lang="en-GB" sz="3800">
                <a:solidFill>
                  <a:srgbClr val="00B050"/>
                </a:solidFill>
                <a:latin typeface="Arial"/>
                <a:ea typeface="Arial"/>
                <a:cs typeface="Arial"/>
                <a:sym typeface="Arial"/>
              </a:rPr>
              <a:t>3.3 Let’s Try!!</a:t>
            </a:r>
            <a:endParaRPr b="1" i="0" sz="3800">
              <a:solidFill>
                <a:srgbClr val="00B050"/>
              </a:solidFill>
              <a:latin typeface="Arial"/>
              <a:ea typeface="Arial"/>
              <a:cs typeface="Arial"/>
              <a:sym typeface="Arial"/>
            </a:endParaRPr>
          </a:p>
        </p:txBody>
      </p:sp>
      <p:graphicFrame>
        <p:nvGraphicFramePr>
          <p:cNvPr id="462" name="Google Shape;462;p34"/>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4.5 Variable as Value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4.6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5.1 Example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Tryout</a:t>
                      </a:r>
                      <a:endParaRPr sz="1400" u="none" cap="none" strike="noStrike"/>
                    </a:p>
                  </a:txBody>
                  <a:tcPr marT="45725" marB="45725" marR="91450" marL="91450"/>
                </a:tc>
              </a:tr>
            </a:tbl>
          </a:graphicData>
        </a:graphic>
      </p:graphicFrame>
      <p:sp>
        <p:nvSpPr>
          <p:cNvPr id="463" name="Google Shape;463;p34"/>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464" name="Google Shape;464;p34"/>
          <p:cNvCxnSpPr/>
          <p:nvPr/>
        </p:nvCxnSpPr>
        <p:spPr>
          <a:xfrm>
            <a:off x="3192088" y="1234219"/>
            <a:ext cx="7930341" cy="0"/>
          </a:xfrm>
          <a:prstGeom prst="straightConnector1">
            <a:avLst/>
          </a:prstGeom>
          <a:noFill/>
          <a:ln cap="flat" cmpd="sng" w="9525">
            <a:solidFill>
              <a:schemeClr val="dk1"/>
            </a:solidFill>
            <a:prstDash val="solid"/>
            <a:round/>
            <a:headEnd len="med" w="med" type="oval"/>
            <a:tailEnd len="med" w="med" type="oval"/>
          </a:ln>
        </p:spPr>
      </p:cxnSp>
      <p:sp>
        <p:nvSpPr>
          <p:cNvPr id="465" name="Google Shape;465;p34"/>
          <p:cNvSpPr/>
          <p:nvPr/>
        </p:nvSpPr>
        <p:spPr>
          <a:xfrm>
            <a:off x="2793076" y="1699433"/>
            <a:ext cx="8412479"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GB" sz="2800" u="none" cap="none" strike="noStrike">
                <a:solidFill>
                  <a:schemeClr val="dk1"/>
                </a:solidFill>
                <a:latin typeface="Calibri"/>
                <a:ea typeface="Calibri"/>
                <a:cs typeface="Calibri"/>
                <a:sym typeface="Calibri"/>
              </a:rPr>
              <a:t>What is </a:t>
            </a:r>
            <a:r>
              <a:rPr b="1" i="0" lang="en-GB" sz="2800" u="none" cap="none" strike="noStrike">
                <a:solidFill>
                  <a:schemeClr val="dk1"/>
                </a:solidFill>
                <a:latin typeface="Arial"/>
                <a:ea typeface="Arial"/>
                <a:cs typeface="Arial"/>
                <a:sym typeface="Arial"/>
              </a:rPr>
              <a:t>displayed</a:t>
            </a:r>
            <a:r>
              <a:rPr b="1" i="0" lang="en-GB" sz="2800" u="none" cap="none" strike="noStrike">
                <a:solidFill>
                  <a:schemeClr val="dk1"/>
                </a:solidFill>
                <a:latin typeface="Calibri"/>
                <a:ea typeface="Calibri"/>
                <a:cs typeface="Calibri"/>
                <a:sym typeface="Calibri"/>
              </a:rPr>
              <a:t> by each of the following?</a:t>
            </a:r>
            <a:endParaRPr b="1" i="0" sz="2800" u="none" cap="none" strike="noStrike">
              <a:solidFill>
                <a:schemeClr val="dk1"/>
              </a:solidFill>
              <a:latin typeface="Calibri"/>
              <a:ea typeface="Calibri"/>
              <a:cs typeface="Calibri"/>
              <a:sym typeface="Calibri"/>
            </a:endParaRPr>
          </a:p>
        </p:txBody>
      </p:sp>
      <p:pic>
        <p:nvPicPr>
          <p:cNvPr id="466" name="Google Shape;466;p34"/>
          <p:cNvPicPr preferRelativeResize="0"/>
          <p:nvPr/>
        </p:nvPicPr>
        <p:blipFill rotWithShape="1">
          <a:blip r:embed="rId3">
            <a:alphaModFix/>
          </a:blip>
          <a:srcRect b="0" l="0" r="0" t="0"/>
          <a:stretch/>
        </p:blipFill>
        <p:spPr>
          <a:xfrm>
            <a:off x="2793075" y="2687825"/>
            <a:ext cx="8720050" cy="371362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5"/>
          <p:cNvSpPr txBox="1"/>
          <p:nvPr>
            <p:ph idx="1" type="subTitle"/>
          </p:nvPr>
        </p:nvSpPr>
        <p:spPr>
          <a:xfrm>
            <a:off x="3209939" y="276698"/>
            <a:ext cx="7732800"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Can we use </a:t>
            </a:r>
            <a:r>
              <a:rPr b="1" lang="en-GB" sz="4000">
                <a:solidFill>
                  <a:srgbClr val="D4650A"/>
                </a:solidFill>
                <a:latin typeface="Arial"/>
                <a:ea typeface="Arial"/>
                <a:cs typeface="Arial"/>
                <a:sym typeface="Arial"/>
              </a:rPr>
              <a:t>and</a:t>
            </a:r>
            <a:r>
              <a:rPr b="1" lang="en-GB" sz="4000">
                <a:solidFill>
                  <a:srgbClr val="191919"/>
                </a:solidFill>
                <a:latin typeface="Arial"/>
                <a:ea typeface="Arial"/>
                <a:cs typeface="Arial"/>
                <a:sym typeface="Arial"/>
              </a:rPr>
              <a:t> as variable?</a:t>
            </a:r>
            <a:endParaRPr b="1" i="0" sz="4000">
              <a:solidFill>
                <a:srgbClr val="191919"/>
              </a:solidFill>
              <a:latin typeface="Arial"/>
              <a:ea typeface="Arial"/>
              <a:cs typeface="Arial"/>
              <a:sym typeface="Arial"/>
            </a:endParaRPr>
          </a:p>
        </p:txBody>
      </p:sp>
      <p:graphicFrame>
        <p:nvGraphicFramePr>
          <p:cNvPr id="472" name="Google Shape;472;p35"/>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4.5 Variable as Value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4.6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5.1 Example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5.2 Predefined words as variable identifier</a:t>
                      </a:r>
                      <a:endParaRPr sz="1400" u="none" cap="none" strike="noStrike"/>
                    </a:p>
                  </a:txBody>
                  <a:tcPr marT="45725" marB="45725" marR="91450" marL="91450"/>
                </a:tc>
              </a:tr>
            </a:tbl>
          </a:graphicData>
        </a:graphic>
      </p:graphicFrame>
      <p:sp>
        <p:nvSpPr>
          <p:cNvPr id="473" name="Google Shape;473;p3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474" name="Google Shape;474;p35"/>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In Python, there are various words which are </a:t>
            </a:r>
            <a:r>
              <a:rPr b="1" i="0" lang="en-GB" sz="2400" u="none" cap="none" strike="noStrike">
                <a:solidFill>
                  <a:srgbClr val="D4650A"/>
                </a:solidFill>
                <a:latin typeface="Arial"/>
                <a:ea typeface="Arial"/>
                <a:cs typeface="Arial"/>
                <a:sym typeface="Arial"/>
              </a:rPr>
              <a:t>predefined</a:t>
            </a:r>
            <a:r>
              <a:rPr b="0" i="0" lang="en-GB" sz="2400" u="none" cap="none" strike="noStrike">
                <a:solidFill>
                  <a:schemeClr val="dk1"/>
                </a:solidFill>
                <a:latin typeface="Arial"/>
                <a:ea typeface="Arial"/>
                <a:cs typeface="Arial"/>
                <a:sym typeface="Arial"/>
              </a:rPr>
              <a:t> and </a:t>
            </a:r>
            <a:r>
              <a:rPr b="0" i="0" lang="en-GB" sz="2400" u="none" cap="none" strike="noStrike">
                <a:solidFill>
                  <a:srgbClr val="00B0F0"/>
                </a:solidFill>
                <a:latin typeface="Arial"/>
                <a:ea typeface="Arial"/>
                <a:cs typeface="Arial"/>
                <a:sym typeface="Arial"/>
              </a:rPr>
              <a:t>have a special meaning to that name</a:t>
            </a:r>
            <a:r>
              <a:rPr b="0" i="0" lang="en-GB" sz="2400" u="none" cap="none" strike="noStrike">
                <a:solidFill>
                  <a:schemeClr val="dk1"/>
                </a:solidFill>
                <a:latin typeface="Arial"/>
                <a:ea typeface="Arial"/>
                <a:cs typeface="Arial"/>
                <a:sym typeface="Arial"/>
              </a:rPr>
              <a:t>. Such words are said to be keywords and cannot be used as regular identifiers. </a:t>
            </a:r>
            <a:endParaRPr b="0" i="0" sz="2400" u="none" cap="none" strike="noStrike">
              <a:solidFill>
                <a:schemeClr val="dk1"/>
              </a:solidFill>
              <a:latin typeface="Arial"/>
              <a:ea typeface="Arial"/>
              <a:cs typeface="Arial"/>
              <a:sym typeface="Arial"/>
            </a:endParaRPr>
          </a:p>
        </p:txBody>
      </p:sp>
      <p:cxnSp>
        <p:nvCxnSpPr>
          <p:cNvPr id="475" name="Google Shape;475;p35"/>
          <p:cNvCxnSpPr/>
          <p:nvPr/>
        </p:nvCxnSpPr>
        <p:spPr>
          <a:xfrm>
            <a:off x="3209939" y="1278282"/>
            <a:ext cx="7962366" cy="0"/>
          </a:xfrm>
          <a:prstGeom prst="straightConnector1">
            <a:avLst/>
          </a:prstGeom>
          <a:noFill/>
          <a:ln cap="flat" cmpd="sng" w="9525">
            <a:solidFill>
              <a:schemeClr val="dk1"/>
            </a:solidFill>
            <a:prstDash val="solid"/>
            <a:round/>
            <a:headEnd len="med" w="med" type="oval"/>
            <a:tailEnd len="med" w="med" type="oval"/>
          </a:ln>
        </p:spPr>
      </p:cxnSp>
      <p:sp>
        <p:nvSpPr>
          <p:cNvPr id="476" name="Google Shape;476;p35"/>
          <p:cNvSpPr/>
          <p:nvPr/>
        </p:nvSpPr>
        <p:spPr>
          <a:xfrm>
            <a:off x="3649868" y="3709913"/>
            <a:ext cx="6921773" cy="76944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B05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400"/>
              <a:buFont typeface="Arial"/>
              <a:buNone/>
            </a:pPr>
            <a:r>
              <a:rPr b="0" i="0" lang="en-GB" sz="2400" u="none" cap="none" strike="noStrike">
                <a:solidFill>
                  <a:srgbClr val="00B050"/>
                </a:solidFill>
                <a:latin typeface="Courier New"/>
                <a:ea typeface="Courier New"/>
                <a:cs typeface="Courier New"/>
                <a:sym typeface="Courier New"/>
              </a:rPr>
              <a:t>	</a:t>
            </a:r>
            <a:r>
              <a:rPr b="1" i="0" lang="en-GB" sz="2400" u="none" cap="none" strike="noStrike">
                <a:solidFill>
                  <a:srgbClr val="FF0000"/>
                </a:solidFill>
                <a:latin typeface="Courier New"/>
                <a:ea typeface="Courier New"/>
                <a:cs typeface="Courier New"/>
                <a:sym typeface="Courier New"/>
              </a:rPr>
              <a:t>SyntaxError: invalid syntax</a:t>
            </a:r>
            <a:endParaRPr b="0" i="0" sz="1400" u="none" cap="none" strike="noStrike">
              <a:solidFill>
                <a:srgbClr val="000000"/>
              </a:solidFill>
              <a:latin typeface="Arial"/>
              <a:ea typeface="Arial"/>
              <a:cs typeface="Arial"/>
              <a:sym typeface="Arial"/>
            </a:endParaRPr>
          </a:p>
        </p:txBody>
      </p:sp>
      <p:sp>
        <p:nvSpPr>
          <p:cNvPr id="477" name="Google Shape;477;p35"/>
          <p:cNvSpPr/>
          <p:nvPr/>
        </p:nvSpPr>
        <p:spPr>
          <a:xfrm>
            <a:off x="2638903" y="4748658"/>
            <a:ext cx="9327125"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Since, </a:t>
            </a:r>
            <a:r>
              <a:rPr b="1" i="1" lang="en-GB" sz="2400" u="none" cap="none" strike="noStrike">
                <a:solidFill>
                  <a:srgbClr val="D4650A"/>
                </a:solidFill>
                <a:latin typeface="Arial"/>
                <a:ea typeface="Arial"/>
                <a:cs typeface="Arial"/>
                <a:sym typeface="Arial"/>
              </a:rPr>
              <a:t>and</a:t>
            </a:r>
            <a:r>
              <a:rPr b="0" i="0" lang="en-GB" sz="2400" u="none" cap="none" strike="noStrike">
                <a:solidFill>
                  <a:schemeClr val="dk1"/>
                </a:solidFill>
                <a:latin typeface="Arial"/>
                <a:ea typeface="Arial"/>
                <a:cs typeface="Arial"/>
                <a:sym typeface="Arial"/>
              </a:rPr>
              <a:t> is a </a:t>
            </a:r>
            <a:r>
              <a:rPr b="1" i="0" lang="en-GB" sz="2400" u="none" cap="none" strike="noStrike">
                <a:solidFill>
                  <a:srgbClr val="D4650A"/>
                </a:solidFill>
                <a:latin typeface="Arial"/>
                <a:ea typeface="Arial"/>
                <a:cs typeface="Arial"/>
                <a:sym typeface="Arial"/>
              </a:rPr>
              <a:t>logical operator </a:t>
            </a:r>
            <a:r>
              <a:rPr b="0" i="0" lang="en-GB" sz="2400" u="none" cap="none" strike="noStrike">
                <a:solidFill>
                  <a:schemeClr val="dk1"/>
                </a:solidFill>
                <a:latin typeface="Arial"/>
                <a:ea typeface="Arial"/>
                <a:cs typeface="Arial"/>
                <a:sym typeface="Arial"/>
              </a:rPr>
              <a:t>and has a special meaning in python, so when attempt to assign the identifier as and then a syntax error is thrown.</a:t>
            </a:r>
            <a:endParaRPr b="1" i="0" sz="2400" u="none" cap="none" strike="noStrike">
              <a:solidFill>
                <a:schemeClr val="dk1"/>
              </a:solidFill>
              <a:latin typeface="Arial"/>
              <a:ea typeface="Arial"/>
              <a:cs typeface="Arial"/>
              <a:sym typeface="Arial"/>
            </a:endParaRPr>
          </a:p>
        </p:txBody>
      </p:sp>
      <p:sp>
        <p:nvSpPr>
          <p:cNvPr id="478" name="Google Shape;478;p35"/>
          <p:cNvSpPr/>
          <p:nvPr/>
        </p:nvSpPr>
        <p:spPr>
          <a:xfrm>
            <a:off x="4732380" y="3360371"/>
            <a:ext cx="1838965"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GB" sz="1800" u="none" cap="none" strike="noStrike">
                <a:solidFill>
                  <a:srgbClr val="00B050"/>
                </a:solidFill>
                <a:latin typeface="Courier New"/>
                <a:ea typeface="Courier New"/>
                <a:cs typeface="Courier New"/>
                <a:sym typeface="Courier New"/>
              </a:rPr>
              <a:t>&gt;&gt;&gt; and = 10</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36"/>
          <p:cNvSpPr txBox="1"/>
          <p:nvPr>
            <p:ph idx="1" type="subTitle"/>
          </p:nvPr>
        </p:nvSpPr>
        <p:spPr>
          <a:xfrm>
            <a:off x="3361518" y="308259"/>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Python Keywords</a:t>
            </a:r>
            <a:endParaRPr b="1" i="0" sz="4000">
              <a:solidFill>
                <a:srgbClr val="191919"/>
              </a:solidFill>
              <a:latin typeface="Arial"/>
              <a:ea typeface="Arial"/>
              <a:cs typeface="Arial"/>
              <a:sym typeface="Arial"/>
            </a:endParaRPr>
          </a:p>
        </p:txBody>
      </p:sp>
      <p:graphicFrame>
        <p:nvGraphicFramePr>
          <p:cNvPr id="484" name="Google Shape;484;p36"/>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4.3 Does </a:t>
                      </a:r>
                      <a:r>
                        <a:rPr b="1" lang="en-GB" sz="1600" u="none" cap="none" strike="noStrike">
                          <a:latin typeface="Arial"/>
                          <a:ea typeface="Arial"/>
                          <a:cs typeface="Arial"/>
                          <a:sym typeface="Arial"/>
                        </a:rPr>
                        <a:t>Not</a:t>
                      </a:r>
                      <a:r>
                        <a:rPr b="1" lang="en-GB" sz="1600" u="none" cap="none" strike="noStrike">
                          <a:solidFill>
                            <a:schemeClr val="dk1"/>
                          </a:solidFill>
                          <a:latin typeface="Arial"/>
                          <a:ea typeface="Arial"/>
                          <a:cs typeface="Arial"/>
                          <a:sym typeface="Arial"/>
                        </a:rPr>
                        <a:t> Make Sense!!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4.4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4.5 Variable as Value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4.6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5.1 Example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5.2 </a:t>
                      </a:r>
                      <a:r>
                        <a:rPr b="1" lang="en-GB" sz="1600" u="none" cap="none" strike="noStrike">
                          <a:latin typeface="Arial"/>
                          <a:ea typeface="Arial"/>
                          <a:cs typeface="Arial"/>
                          <a:sym typeface="Arial"/>
                        </a:rPr>
                        <a:t>Predefined</a:t>
                      </a:r>
                      <a:r>
                        <a:rPr b="1" lang="en-GB" sz="1600" u="none" cap="none" strike="noStrike">
                          <a:solidFill>
                            <a:schemeClr val="dk1"/>
                          </a:solidFill>
                          <a:latin typeface="Arial"/>
                          <a:ea typeface="Arial"/>
                          <a:cs typeface="Arial"/>
                          <a:sym typeface="Arial"/>
                        </a:rPr>
                        <a:t> words as variable identifier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5.3 Python Keywords</a:t>
                      </a:r>
                      <a:endParaRPr sz="1400" u="none" cap="none" strike="noStrike"/>
                    </a:p>
                  </a:txBody>
                  <a:tcPr marT="45725" marB="45725" marR="91450" marL="91450"/>
                </a:tc>
              </a:tr>
            </a:tbl>
          </a:graphicData>
        </a:graphic>
      </p:graphicFrame>
      <p:sp>
        <p:nvSpPr>
          <p:cNvPr id="485" name="Google Shape;485;p3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486" name="Google Shape;486;p36"/>
          <p:cNvSpPr/>
          <p:nvPr/>
        </p:nvSpPr>
        <p:spPr>
          <a:xfrm>
            <a:off x="2638903" y="1363193"/>
            <a:ext cx="9327125" cy="57785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keywords in Python are listed below:</a:t>
            </a:r>
            <a:endParaRPr b="0" i="0" sz="2400" u="none" cap="none" strike="noStrike">
              <a:solidFill>
                <a:schemeClr val="dk1"/>
              </a:solidFill>
              <a:latin typeface="Arial"/>
              <a:ea typeface="Arial"/>
              <a:cs typeface="Arial"/>
              <a:sym typeface="Arial"/>
            </a:endParaRPr>
          </a:p>
        </p:txBody>
      </p:sp>
      <p:cxnSp>
        <p:nvCxnSpPr>
          <p:cNvPr id="487" name="Google Shape;487;p36"/>
          <p:cNvCxnSpPr/>
          <p:nvPr/>
        </p:nvCxnSpPr>
        <p:spPr>
          <a:xfrm>
            <a:off x="3176965" y="1261661"/>
            <a:ext cx="7987028" cy="0"/>
          </a:xfrm>
          <a:prstGeom prst="straightConnector1">
            <a:avLst/>
          </a:prstGeom>
          <a:noFill/>
          <a:ln cap="flat" cmpd="sng" w="9525">
            <a:solidFill>
              <a:schemeClr val="dk1"/>
            </a:solidFill>
            <a:prstDash val="solid"/>
            <a:round/>
            <a:headEnd len="med" w="med" type="oval"/>
            <a:tailEnd len="med" w="med" type="oval"/>
          </a:ln>
        </p:spPr>
      </p:cxnSp>
      <p:sp>
        <p:nvSpPr>
          <p:cNvPr id="488" name="Google Shape;488;p36"/>
          <p:cNvSpPr/>
          <p:nvPr/>
        </p:nvSpPr>
        <p:spPr>
          <a:xfrm>
            <a:off x="2638903" y="3828558"/>
            <a:ext cx="9327125"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To display the keywords in python, </a:t>
            </a:r>
            <a:r>
              <a:rPr b="1" i="0" lang="en-GB" sz="2400" u="none" cap="none" strike="noStrike">
                <a:solidFill>
                  <a:srgbClr val="D4650A"/>
                </a:solidFill>
                <a:latin typeface="Arial"/>
                <a:ea typeface="Arial"/>
                <a:cs typeface="Arial"/>
                <a:sym typeface="Arial"/>
              </a:rPr>
              <a:t>type help()</a:t>
            </a:r>
            <a:r>
              <a:rPr b="0" i="0" lang="en-GB" sz="2400" u="none" cap="none" strike="noStrike">
                <a:solidFill>
                  <a:schemeClr val="dk1"/>
                </a:solidFill>
                <a:latin typeface="Arial"/>
                <a:ea typeface="Arial"/>
                <a:cs typeface="Arial"/>
                <a:sym typeface="Arial"/>
              </a:rPr>
              <a:t> in the Python shell, then type words.</a:t>
            </a:r>
            <a:endParaRPr b="1" i="0" sz="2400" u="none" cap="none" strike="noStrike">
              <a:solidFill>
                <a:schemeClr val="dk1"/>
              </a:solidFill>
              <a:latin typeface="Arial"/>
              <a:ea typeface="Arial"/>
              <a:cs typeface="Arial"/>
              <a:sym typeface="Arial"/>
            </a:endParaRPr>
          </a:p>
        </p:txBody>
      </p:sp>
      <p:pic>
        <p:nvPicPr>
          <p:cNvPr id="489" name="Google Shape;489;p36"/>
          <p:cNvPicPr preferRelativeResize="0"/>
          <p:nvPr/>
        </p:nvPicPr>
        <p:blipFill rotWithShape="1">
          <a:blip r:embed="rId3">
            <a:alphaModFix/>
          </a:blip>
          <a:srcRect b="0" l="0" r="0" t="0"/>
          <a:stretch/>
        </p:blipFill>
        <p:spPr>
          <a:xfrm>
            <a:off x="2845079" y="2221446"/>
            <a:ext cx="6834949" cy="1326709"/>
          </a:xfrm>
          <a:prstGeom prst="rect">
            <a:avLst/>
          </a:prstGeom>
          <a:noFill/>
          <a:ln>
            <a:noFill/>
          </a:ln>
        </p:spPr>
      </p:pic>
      <p:sp>
        <p:nvSpPr>
          <p:cNvPr id="490" name="Google Shape;490;p36"/>
          <p:cNvSpPr/>
          <p:nvPr/>
        </p:nvSpPr>
        <p:spPr>
          <a:xfrm>
            <a:off x="2638902" y="4927780"/>
            <a:ext cx="9327125" cy="830997"/>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 simple way to check whether a specific identifier is keyword in Python is as follows:</a:t>
            </a:r>
            <a:endParaRPr b="1" i="0" sz="2400" u="none" cap="none" strike="noStrike">
              <a:solidFill>
                <a:schemeClr val="dk1"/>
              </a:solidFill>
              <a:latin typeface="Arial"/>
              <a:ea typeface="Arial"/>
              <a:cs typeface="Arial"/>
              <a:sym typeface="Arial"/>
            </a:endParaRPr>
          </a:p>
        </p:txBody>
      </p:sp>
      <p:sp>
        <p:nvSpPr>
          <p:cNvPr id="491" name="Google Shape;491;p36"/>
          <p:cNvSpPr/>
          <p:nvPr/>
        </p:nvSpPr>
        <p:spPr>
          <a:xfrm>
            <a:off x="2978318" y="5874322"/>
            <a:ext cx="432414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&gt;&gt;&gt; 'exit' in dir(__builtins__)</a:t>
            </a:r>
            <a:br>
              <a:rPr b="0" i="0" lang="en-GB" sz="2400" u="none" cap="none" strike="noStrike">
                <a:solidFill>
                  <a:schemeClr val="dk1"/>
                </a:solidFill>
                <a:latin typeface="Arial"/>
                <a:ea typeface="Arial"/>
                <a:cs typeface="Arial"/>
                <a:sym typeface="Arial"/>
              </a:rPr>
            </a:br>
            <a:r>
              <a:rPr b="0" i="0" lang="en-GB" sz="2400" u="none" cap="none" strike="noStrike">
                <a:solidFill>
                  <a:schemeClr val="dk1"/>
                </a:solidFill>
                <a:latin typeface="Arial"/>
                <a:ea typeface="Arial"/>
                <a:cs typeface="Arial"/>
                <a:sym typeface="Arial"/>
              </a:rPr>
              <a:t>	True </a:t>
            </a:r>
            <a:endParaRPr b="0" i="0" sz="2400" u="none" cap="none" strike="noStrike">
              <a:solidFill>
                <a:schemeClr val="dk1"/>
              </a:solidFill>
              <a:latin typeface="Arial"/>
              <a:ea typeface="Arial"/>
              <a:cs typeface="Arial"/>
              <a:sym typeface="Arial"/>
            </a:endParaRPr>
          </a:p>
        </p:txBody>
      </p:sp>
      <p:pic>
        <p:nvPicPr>
          <p:cNvPr id="492" name="Google Shape;492;p36"/>
          <p:cNvPicPr preferRelativeResize="0"/>
          <p:nvPr/>
        </p:nvPicPr>
        <p:blipFill rotWithShape="1">
          <a:blip r:embed="rId4">
            <a:alphaModFix/>
          </a:blip>
          <a:srcRect b="0" l="0" r="0" t="0"/>
          <a:stretch/>
        </p:blipFill>
        <p:spPr>
          <a:xfrm>
            <a:off x="9860482" y="1801954"/>
            <a:ext cx="1999020" cy="185476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Most Affordable UK University Degree in Nepal | UK Degree in Kathmandu" id="497" name="Google Shape;497;p37"/>
          <p:cNvPicPr preferRelativeResize="0"/>
          <p:nvPr/>
        </p:nvPicPr>
        <p:blipFill rotWithShape="1">
          <a:blip r:embed="rId3">
            <a:alphaModFix amt="10000"/>
          </a:blip>
          <a:srcRect b="0" l="0" r="0" t="0"/>
          <a:stretch/>
        </p:blipFill>
        <p:spPr>
          <a:xfrm>
            <a:off x="10647554" y="142004"/>
            <a:ext cx="1428750" cy="800100"/>
          </a:xfrm>
          <a:prstGeom prst="rect">
            <a:avLst/>
          </a:prstGeom>
          <a:noFill/>
          <a:ln>
            <a:noFill/>
          </a:ln>
        </p:spPr>
      </p:pic>
      <p:pic>
        <p:nvPicPr>
          <p:cNvPr id="498" name="Google Shape;498;p37"/>
          <p:cNvPicPr preferRelativeResize="0"/>
          <p:nvPr/>
        </p:nvPicPr>
        <p:blipFill rotWithShape="1">
          <a:blip r:embed="rId4">
            <a:alphaModFix/>
          </a:blip>
          <a:srcRect b="0" l="0" r="0" t="0"/>
          <a:stretch/>
        </p:blipFill>
        <p:spPr>
          <a:xfrm>
            <a:off x="0" y="0"/>
            <a:ext cx="12192000" cy="6858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98"/>
                                        </p:tgtEl>
                                        <p:attrNameLst>
                                          <p:attrName>style.visibility</p:attrName>
                                        </p:attrNameLst>
                                      </p:cBhvr>
                                      <p:to>
                                        <p:strVal val="visible"/>
                                      </p:to>
                                    </p:set>
                                    <p:anim calcmode="lin" valueType="num">
                                      <p:cBhvr additive="base">
                                        <p:cTn dur="500"/>
                                        <p:tgtEl>
                                          <p:spTgt spid="498"/>
                                        </p:tgtEl>
                                        <p:attrNameLst>
                                          <p:attrName>ppt_w</p:attrName>
                                        </p:attrNameLst>
                                      </p:cBhvr>
                                      <p:tavLst>
                                        <p:tav fmla="" tm="0">
                                          <p:val>
                                            <p:strVal val="0"/>
                                          </p:val>
                                        </p:tav>
                                        <p:tav fmla="" tm="100000">
                                          <p:val>
                                            <p:strVal val="#ppt_w"/>
                                          </p:val>
                                        </p:tav>
                                      </p:tavLst>
                                    </p:anim>
                                    <p:anim calcmode="lin" valueType="num">
                                      <p:cBhvr additive="base">
                                        <p:cTn dur="500"/>
                                        <p:tgtEl>
                                          <p:spTgt spid="49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8"/>
          <p:cNvSpPr txBox="1"/>
          <p:nvPr/>
        </p:nvSpPr>
        <p:spPr>
          <a:xfrm>
            <a:off x="0" y="2969464"/>
            <a:ext cx="12192000"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GB" sz="4400" u="none" cap="none" strike="noStrike">
                <a:solidFill>
                  <a:srgbClr val="132C4A"/>
                </a:solidFill>
                <a:latin typeface="Arial"/>
                <a:ea typeface="Arial"/>
                <a:cs typeface="Arial"/>
                <a:sym typeface="Arial"/>
              </a:rPr>
              <a:t>Operators</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9"/>
          <p:cNvSpPr txBox="1"/>
          <p:nvPr>
            <p:ph idx="1" type="subTitle"/>
          </p:nvPr>
        </p:nvSpPr>
        <p:spPr>
          <a:xfrm>
            <a:off x="3361518" y="308259"/>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6. Operators</a:t>
            </a:r>
            <a:endParaRPr b="1" i="0" sz="4000">
              <a:solidFill>
                <a:srgbClr val="191919"/>
              </a:solidFill>
              <a:latin typeface="Arial"/>
              <a:ea typeface="Arial"/>
              <a:cs typeface="Arial"/>
              <a:sym typeface="Arial"/>
            </a:endParaRPr>
          </a:p>
        </p:txBody>
      </p:sp>
      <p:graphicFrame>
        <p:nvGraphicFramePr>
          <p:cNvPr id="509" name="Google Shape;509;p39"/>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accent6"/>
                        </a:buClr>
                        <a:buSzPts val="1600"/>
                        <a:buFont typeface="Arial"/>
                        <a:buNone/>
                      </a:pPr>
                      <a:r>
                        <a:rPr b="1" lang="en-GB" sz="1600" u="none" cap="none" strike="noStrike">
                          <a:solidFill>
                            <a:schemeClr val="accent6"/>
                          </a:solidFill>
                          <a:latin typeface="Arial"/>
                          <a:ea typeface="Arial"/>
                          <a:cs typeface="Arial"/>
                          <a:sym typeface="Arial"/>
                        </a:rPr>
                        <a:t>6. Operators</a:t>
                      </a:r>
                      <a:endParaRPr sz="1400" u="none" cap="none" strike="noStrike"/>
                    </a:p>
                  </a:txBody>
                  <a:tcPr marT="45725" marB="45725" marR="91450" marL="91450"/>
                </a:tc>
              </a:tr>
            </a:tbl>
          </a:graphicData>
        </a:graphic>
      </p:graphicFrame>
      <p:sp>
        <p:nvSpPr>
          <p:cNvPr id="510" name="Google Shape;510;p3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511" name="Google Shape;511;p39"/>
          <p:cNvSpPr/>
          <p:nvPr/>
        </p:nvSpPr>
        <p:spPr>
          <a:xfrm>
            <a:off x="2638903" y="1363193"/>
            <a:ext cx="9327125"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Operator</a:t>
            </a:r>
            <a:r>
              <a:rPr b="0" i="0" lang="en-GB" sz="2400" u="none" cap="none" strike="noStrike">
                <a:solidFill>
                  <a:schemeClr val="dk1"/>
                </a:solidFill>
                <a:latin typeface="Arial"/>
                <a:ea typeface="Arial"/>
                <a:cs typeface="Arial"/>
                <a:sym typeface="Arial"/>
              </a:rPr>
              <a:t> [</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An operators is a </a:t>
            </a:r>
            <a:r>
              <a:rPr b="0" i="0" lang="en-GB" sz="2400" u="none" cap="none" strike="noStrike">
                <a:solidFill>
                  <a:srgbClr val="D4650A"/>
                </a:solidFill>
                <a:latin typeface="Arial"/>
                <a:ea typeface="Arial"/>
                <a:cs typeface="Arial"/>
                <a:sym typeface="Arial"/>
              </a:rPr>
              <a:t>symbol</a:t>
            </a:r>
            <a:r>
              <a:rPr b="0" i="0" lang="en-GB" sz="2400" u="none" cap="none" strike="noStrike">
                <a:solidFill>
                  <a:schemeClr val="dk1"/>
                </a:solidFill>
                <a:latin typeface="Arial"/>
                <a:ea typeface="Arial"/>
                <a:cs typeface="Arial"/>
                <a:sym typeface="Arial"/>
              </a:rPr>
              <a:t> that represents an operation that may be performed on one or more </a:t>
            </a:r>
            <a:r>
              <a:rPr b="1" i="0" lang="en-GB" sz="2400" u="none" cap="none" strike="noStrike">
                <a:solidFill>
                  <a:srgbClr val="D4650A"/>
                </a:solidFill>
                <a:latin typeface="Arial"/>
                <a:ea typeface="Arial"/>
                <a:cs typeface="Arial"/>
                <a:sym typeface="Arial"/>
              </a:rPr>
              <a:t>operands</a:t>
            </a:r>
            <a:r>
              <a:rPr b="0" i="0" lang="en-GB"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cxnSp>
        <p:nvCxnSpPr>
          <p:cNvPr id="512" name="Google Shape;512;p39"/>
          <p:cNvCxnSpPr/>
          <p:nvPr/>
        </p:nvCxnSpPr>
        <p:spPr>
          <a:xfrm>
            <a:off x="3251779" y="1253344"/>
            <a:ext cx="7895588" cy="0"/>
          </a:xfrm>
          <a:prstGeom prst="straightConnector1">
            <a:avLst/>
          </a:prstGeom>
          <a:noFill/>
          <a:ln cap="flat" cmpd="sng" w="9525">
            <a:solidFill>
              <a:schemeClr val="dk1"/>
            </a:solidFill>
            <a:prstDash val="solid"/>
            <a:round/>
            <a:headEnd len="med" w="med" type="oval"/>
            <a:tailEnd len="med" w="med" type="oval"/>
          </a:ln>
        </p:spPr>
      </p:cxnSp>
      <p:sp>
        <p:nvSpPr>
          <p:cNvPr id="513" name="Google Shape;513;p39"/>
          <p:cNvSpPr/>
          <p:nvPr/>
        </p:nvSpPr>
        <p:spPr>
          <a:xfrm>
            <a:off x="3114959" y="3202721"/>
            <a:ext cx="3677241" cy="33239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rgbClr val="D4650A"/>
              </a:buClr>
              <a:buSzPts val="2000"/>
              <a:buFont typeface="Calibri"/>
              <a:buAutoNum type="arabicPeriod"/>
            </a:pPr>
            <a:r>
              <a:rPr b="0" i="0" lang="en-GB" sz="2000" u="none" cap="none" strike="noStrike">
                <a:solidFill>
                  <a:srgbClr val="D4650A"/>
                </a:solidFill>
                <a:latin typeface="Arial"/>
                <a:ea typeface="Arial"/>
                <a:cs typeface="Arial"/>
                <a:sym typeface="Arial"/>
              </a:rPr>
              <a:t>Arithmetic Operator</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D4650A"/>
              </a:buClr>
              <a:buSzPts val="2000"/>
              <a:buFont typeface="Calibri"/>
              <a:buAutoNum type="arabicPeriod"/>
            </a:pPr>
            <a:r>
              <a:rPr b="0" i="0" lang="en-GB" sz="2000" u="none" cap="none" strike="noStrike">
                <a:solidFill>
                  <a:srgbClr val="D4650A"/>
                </a:solidFill>
                <a:latin typeface="Arial"/>
                <a:ea typeface="Arial"/>
                <a:cs typeface="Arial"/>
                <a:sym typeface="Arial"/>
              </a:rPr>
              <a:t>Assignment Operator </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D4650A"/>
              </a:buClr>
              <a:buSzPts val="2000"/>
              <a:buFont typeface="Calibri"/>
              <a:buAutoNum type="arabicPeriod"/>
            </a:pPr>
            <a:r>
              <a:rPr b="0" i="0" lang="en-GB" sz="2000" u="none" cap="none" strike="noStrike">
                <a:solidFill>
                  <a:srgbClr val="D4650A"/>
                </a:solidFill>
                <a:latin typeface="Arial"/>
                <a:ea typeface="Arial"/>
                <a:cs typeface="Arial"/>
                <a:sym typeface="Arial"/>
              </a:rPr>
              <a:t>Comparison Operator </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D4650A"/>
              </a:buClr>
              <a:buSzPts val="2000"/>
              <a:buFont typeface="Calibri"/>
              <a:buAutoNum type="arabicPeriod"/>
            </a:pPr>
            <a:r>
              <a:rPr b="0" i="0" lang="en-GB" sz="2000" u="none" cap="none" strike="noStrike">
                <a:solidFill>
                  <a:srgbClr val="D4650A"/>
                </a:solidFill>
                <a:latin typeface="Arial"/>
                <a:ea typeface="Arial"/>
                <a:cs typeface="Arial"/>
                <a:sym typeface="Arial"/>
              </a:rPr>
              <a:t>Logical Operator </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0000"/>
              </a:buClr>
              <a:buSzPts val="2000"/>
              <a:buFont typeface="Calibri"/>
              <a:buAutoNum type="arabicPeriod"/>
            </a:pPr>
            <a:r>
              <a:rPr b="0" i="0" lang="en-GB" sz="2000" u="none" cap="none" strike="noStrike">
                <a:solidFill>
                  <a:srgbClr val="FF0000"/>
                </a:solidFill>
                <a:latin typeface="Arial"/>
                <a:ea typeface="Arial"/>
                <a:cs typeface="Arial"/>
                <a:sym typeface="Arial"/>
              </a:rPr>
              <a:t>Identity Operator </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0000"/>
              </a:buClr>
              <a:buSzPts val="2000"/>
              <a:buFont typeface="Calibri"/>
              <a:buAutoNum type="arabicPeriod"/>
            </a:pPr>
            <a:r>
              <a:rPr b="0" i="0" lang="en-GB" sz="2000" u="none" cap="none" strike="noStrike">
                <a:solidFill>
                  <a:srgbClr val="FF0000"/>
                </a:solidFill>
                <a:latin typeface="Arial"/>
                <a:ea typeface="Arial"/>
                <a:cs typeface="Arial"/>
                <a:sym typeface="Arial"/>
              </a:rPr>
              <a:t>Membership Operator</a:t>
            </a:r>
            <a:endParaRPr b="0" i="0" sz="1400" u="none" cap="none" strike="noStrike">
              <a:solidFill>
                <a:srgbClr val="000000"/>
              </a:solidFill>
              <a:latin typeface="Arial"/>
              <a:ea typeface="Arial"/>
              <a:cs typeface="Arial"/>
              <a:sym typeface="Arial"/>
            </a:endParaRPr>
          </a:p>
          <a:p>
            <a:pPr indent="-457200" lvl="0" marL="457200" marR="0" rtl="0" algn="just">
              <a:lnSpc>
                <a:spcPct val="150000"/>
              </a:lnSpc>
              <a:spcBef>
                <a:spcPts val="0"/>
              </a:spcBef>
              <a:spcAft>
                <a:spcPts val="0"/>
              </a:spcAft>
              <a:buClr>
                <a:srgbClr val="FF0000"/>
              </a:buClr>
              <a:buSzPts val="2000"/>
              <a:buFont typeface="Calibri"/>
              <a:buAutoNum type="arabicPeriod"/>
            </a:pPr>
            <a:r>
              <a:rPr b="0" i="0" lang="en-GB" sz="2000" u="none" cap="none" strike="noStrike">
                <a:solidFill>
                  <a:srgbClr val="FF0000"/>
                </a:solidFill>
                <a:latin typeface="Arial"/>
                <a:ea typeface="Arial"/>
                <a:cs typeface="Arial"/>
                <a:sym typeface="Arial"/>
              </a:rPr>
              <a:t>Bitwise Operator</a:t>
            </a:r>
            <a:endParaRPr b="0" i="0" sz="2000" u="none" cap="none" strike="noStrike">
              <a:solidFill>
                <a:srgbClr val="FF0000"/>
              </a:solidFill>
              <a:latin typeface="Arial"/>
              <a:ea typeface="Arial"/>
              <a:cs typeface="Arial"/>
              <a:sym typeface="Arial"/>
            </a:endParaRPr>
          </a:p>
        </p:txBody>
      </p:sp>
      <p:sp>
        <p:nvSpPr>
          <p:cNvPr id="514" name="Google Shape;514;p39"/>
          <p:cNvSpPr/>
          <p:nvPr/>
        </p:nvSpPr>
        <p:spPr>
          <a:xfrm>
            <a:off x="3007637" y="2556390"/>
            <a:ext cx="7569126" cy="64633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2400"/>
              <a:buFont typeface="Arial"/>
              <a:buNone/>
            </a:pPr>
            <a:r>
              <a:rPr b="1" i="0" lang="en-GB" sz="2400" u="none" cap="none" strike="noStrike">
                <a:solidFill>
                  <a:schemeClr val="dk1"/>
                </a:solidFill>
                <a:latin typeface="Arial"/>
                <a:ea typeface="Arial"/>
                <a:cs typeface="Arial"/>
                <a:sym typeface="Arial"/>
              </a:rPr>
              <a:t>Some of the operators of python are listed below: </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0"/>
          <p:cNvSpPr txBox="1"/>
          <p:nvPr>
            <p:ph idx="1" type="subTitle"/>
          </p:nvPr>
        </p:nvSpPr>
        <p:spPr>
          <a:xfrm>
            <a:off x="3361518" y="308259"/>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6.1 Arithmetic Operators</a:t>
            </a:r>
            <a:endParaRPr b="1" i="0" sz="4000">
              <a:solidFill>
                <a:srgbClr val="191919"/>
              </a:solidFill>
              <a:latin typeface="Arial"/>
              <a:ea typeface="Arial"/>
              <a:cs typeface="Arial"/>
              <a:sym typeface="Arial"/>
            </a:endParaRPr>
          </a:p>
        </p:txBody>
      </p:sp>
      <p:graphicFrame>
        <p:nvGraphicFramePr>
          <p:cNvPr id="520" name="Google Shape;520;p40"/>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accent6"/>
                        </a:buClr>
                        <a:buSzPts val="1600"/>
                        <a:buFont typeface="Arial"/>
                        <a:buNone/>
                      </a:pPr>
                      <a:r>
                        <a:rPr b="1" lang="en-GB" sz="1600" u="none" cap="none" strike="noStrike">
                          <a:solidFill>
                            <a:schemeClr val="accent6"/>
                          </a:solidFill>
                          <a:latin typeface="Arial"/>
                          <a:ea typeface="Arial"/>
                          <a:cs typeface="Arial"/>
                          <a:sym typeface="Arial"/>
                        </a:rPr>
                        <a:t>6.1 Arithmetic Operator</a:t>
                      </a:r>
                      <a:endParaRPr sz="1400" u="none" cap="none" strike="noStrike"/>
                    </a:p>
                  </a:txBody>
                  <a:tcPr marT="45725" marB="45725" marR="91450" marL="91450"/>
                </a:tc>
              </a:tr>
            </a:tbl>
          </a:graphicData>
        </a:graphic>
      </p:graphicFrame>
      <p:sp>
        <p:nvSpPr>
          <p:cNvPr id="521" name="Google Shape;521;p4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522" name="Google Shape;522;p40"/>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Arithmetic Operator </a:t>
            </a: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Arithmetic operators are binary operators which are used with numeric values to perform common </a:t>
            </a:r>
            <a:r>
              <a:rPr b="1" i="0" lang="en-GB" sz="2400" u="none" cap="none" strike="noStrike">
                <a:solidFill>
                  <a:srgbClr val="D4650A"/>
                </a:solidFill>
                <a:latin typeface="Arial"/>
                <a:ea typeface="Arial"/>
                <a:cs typeface="Arial"/>
                <a:sym typeface="Arial"/>
              </a:rPr>
              <a:t>mathematical operations</a:t>
            </a:r>
            <a:r>
              <a:rPr b="0" i="0" lang="en-GB"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cxnSp>
        <p:nvCxnSpPr>
          <p:cNvPr id="523" name="Google Shape;523;p40"/>
          <p:cNvCxnSpPr/>
          <p:nvPr/>
        </p:nvCxnSpPr>
        <p:spPr>
          <a:xfrm>
            <a:off x="3260093" y="1203467"/>
            <a:ext cx="7854023" cy="0"/>
          </a:xfrm>
          <a:prstGeom prst="straightConnector1">
            <a:avLst/>
          </a:prstGeom>
          <a:noFill/>
          <a:ln cap="flat" cmpd="sng" w="9525">
            <a:solidFill>
              <a:schemeClr val="dk1"/>
            </a:solidFill>
            <a:prstDash val="solid"/>
            <a:round/>
            <a:headEnd len="med" w="med" type="oval"/>
            <a:tailEnd len="med" w="med" type="oval"/>
          </a:ln>
        </p:spPr>
      </p:cxnSp>
      <p:graphicFrame>
        <p:nvGraphicFramePr>
          <p:cNvPr id="524" name="Google Shape;524;p40"/>
          <p:cNvGraphicFramePr/>
          <p:nvPr/>
        </p:nvGraphicFramePr>
        <p:xfrm>
          <a:off x="3361518" y="3293993"/>
          <a:ext cx="3000000" cy="3000000"/>
        </p:xfrm>
        <a:graphic>
          <a:graphicData uri="http://schemas.openxmlformats.org/drawingml/2006/table">
            <a:tbl>
              <a:tblPr bandRow="1">
                <a:noFill/>
                <a:tableStyleId>{517EBFEF-AE46-4249-8C86-2AD901888F10}</a:tableStyleId>
              </a:tblPr>
              <a:tblGrid>
                <a:gridCol w="1986300"/>
                <a:gridCol w="2224400"/>
                <a:gridCol w="1548050"/>
                <a:gridCol w="1980500"/>
              </a:tblGrid>
              <a:tr h="203200">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t>Arithmetic Operators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t>Description</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t>Example</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b="1" lang="en-GB" sz="1600" u="none" cap="none" strike="noStrike"/>
                        <a:t>Result</a:t>
                      </a:r>
                      <a:endParaRPr b="1" sz="1600" u="none" cap="none" strike="noStrike"/>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 X</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Negation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a:t>
                      </a:r>
                      <a:endParaRPr sz="1400" u="none" cap="none" strike="noStrike">
                        <a:latin typeface="Courier New"/>
                        <a:ea typeface="Courier New"/>
                        <a:cs typeface="Courier New"/>
                        <a:sym typeface="Courier New"/>
                      </a:endParaRPr>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Addition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 + 25</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35</a:t>
                      </a:r>
                      <a:endParaRPr sz="1400" u="none" cap="none" strike="noStrike">
                        <a:latin typeface="Courier New"/>
                        <a:ea typeface="Courier New"/>
                        <a:cs typeface="Courier New"/>
                        <a:sym typeface="Courier New"/>
                      </a:endParaRPr>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Subtraction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10 - 25</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-15</a:t>
                      </a:r>
                      <a:endParaRPr sz="1400" u="none" cap="none" strike="noStrike">
                        <a:latin typeface="Courier New"/>
                        <a:ea typeface="Courier New"/>
                        <a:cs typeface="Courier New"/>
                        <a:sym typeface="Courier New"/>
                      </a:endParaRPr>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Multiplication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 * 5</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50</a:t>
                      </a:r>
                      <a:endParaRPr sz="1400" u="none" cap="none" strike="noStrike">
                        <a:latin typeface="Courier New"/>
                        <a:ea typeface="Courier New"/>
                        <a:cs typeface="Courier New"/>
                        <a:sym typeface="Courier New"/>
                      </a:endParaRPr>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Division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25 / 10</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2.5</a:t>
                      </a:r>
                      <a:endParaRPr sz="1400" u="none" cap="none" strike="noStrike">
                        <a:latin typeface="Courier New"/>
                        <a:ea typeface="Courier New"/>
                        <a:cs typeface="Courier New"/>
                        <a:sym typeface="Courier New"/>
                      </a:endParaRPr>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Truncating Division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25 // 10</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a:t>
                      </a:r>
                      <a:endParaRPr sz="1400" u="none" cap="none" strike="noStrike">
                        <a:latin typeface="Courier New"/>
                        <a:ea typeface="Courier New"/>
                        <a:cs typeface="Courier New"/>
                        <a:sym typeface="Courier New"/>
                      </a:endParaRPr>
                    </a:p>
                  </a:txBody>
                  <a:tcPr marT="45725" marB="45725" marR="91450" marL="91450"/>
                </a:tc>
              </a:tr>
              <a:tr h="30292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Modulus</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25 % 10</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5</a:t>
                      </a:r>
                      <a:endParaRPr sz="1400" u="none" cap="none" strike="noStrike">
                        <a:latin typeface="Courier New"/>
                        <a:ea typeface="Courier New"/>
                        <a:cs typeface="Courier New"/>
                        <a:sym typeface="Courier New"/>
                      </a:endParaRPr>
                    </a:p>
                  </a:txBody>
                  <a:tcPr marT="45725" marB="45725" marR="91450" marL="91450"/>
                </a:tc>
              </a:tr>
              <a:tr h="1778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X ** Y</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Exponentiation</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 ** 2</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100</a:t>
                      </a:r>
                      <a:endParaRPr sz="1400" u="none" cap="none" strike="noStrike">
                        <a:latin typeface="Courier New"/>
                        <a:ea typeface="Courier New"/>
                        <a:cs typeface="Courier New"/>
                        <a:sym typeface="Courier New"/>
                      </a:endParaRPr>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1"/>
          <p:cNvSpPr txBox="1"/>
          <p:nvPr>
            <p:ph idx="1" type="subTitle"/>
          </p:nvPr>
        </p:nvSpPr>
        <p:spPr>
          <a:xfrm>
            <a:off x="2867892" y="208907"/>
            <a:ext cx="8661861" cy="116825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3600"/>
              <a:buNone/>
            </a:pPr>
            <a:r>
              <a:rPr b="1" lang="en-GB" sz="4000">
                <a:solidFill>
                  <a:srgbClr val="191919"/>
                </a:solidFill>
                <a:latin typeface="Arial"/>
                <a:ea typeface="Arial"/>
                <a:cs typeface="Arial"/>
                <a:sym typeface="Arial"/>
              </a:rPr>
              <a:t>Let’s Understand Through Example</a:t>
            </a:r>
            <a:endParaRPr b="1" i="0" sz="4000">
              <a:solidFill>
                <a:srgbClr val="191919"/>
              </a:solidFill>
              <a:latin typeface="Arial"/>
              <a:ea typeface="Arial"/>
              <a:cs typeface="Arial"/>
              <a:sym typeface="Arial"/>
            </a:endParaRPr>
          </a:p>
        </p:txBody>
      </p:sp>
      <p:graphicFrame>
        <p:nvGraphicFramePr>
          <p:cNvPr id="530" name="Google Shape;530;p41"/>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chemeClr val="accent6"/>
                        </a:buClr>
                        <a:buSzPts val="1600"/>
                        <a:buFont typeface="Arial"/>
                        <a:buNone/>
                      </a:pPr>
                      <a:r>
                        <a:rPr b="1" lang="en-GB" sz="1600" u="none" cap="none" strike="noStrike">
                          <a:solidFill>
                            <a:schemeClr val="accent6"/>
                          </a:solidFill>
                          <a:latin typeface="Arial"/>
                          <a:ea typeface="Arial"/>
                          <a:cs typeface="Arial"/>
                          <a:sym typeface="Arial"/>
                        </a:rPr>
                        <a:t>Example</a:t>
                      </a:r>
                      <a:endParaRPr sz="1400" u="none" cap="none" strike="noStrike"/>
                    </a:p>
                  </a:txBody>
                  <a:tcPr marT="45725" marB="45725" marR="91450" marL="91450"/>
                </a:tc>
              </a:tr>
            </a:tbl>
          </a:graphicData>
        </a:graphic>
      </p:graphicFrame>
      <p:sp>
        <p:nvSpPr>
          <p:cNvPr id="531" name="Google Shape;531;p4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32" name="Google Shape;532;p41"/>
          <p:cNvCxnSpPr/>
          <p:nvPr/>
        </p:nvCxnSpPr>
        <p:spPr>
          <a:xfrm flipH="1" rot="10800000">
            <a:off x="2793795" y="1470625"/>
            <a:ext cx="8354290" cy="33565"/>
          </a:xfrm>
          <a:prstGeom prst="straightConnector1">
            <a:avLst/>
          </a:prstGeom>
          <a:noFill/>
          <a:ln cap="flat" cmpd="sng" w="9525">
            <a:solidFill>
              <a:schemeClr val="dk1"/>
            </a:solidFill>
            <a:prstDash val="solid"/>
            <a:round/>
            <a:headEnd len="med" w="med" type="oval"/>
            <a:tailEnd len="med" w="med" type="oval"/>
          </a:ln>
        </p:spPr>
      </p:cxnSp>
      <p:pic>
        <p:nvPicPr>
          <p:cNvPr id="533" name="Google Shape;533;p41"/>
          <p:cNvPicPr preferRelativeResize="0"/>
          <p:nvPr/>
        </p:nvPicPr>
        <p:blipFill rotWithShape="1">
          <a:blip r:embed="rId3">
            <a:alphaModFix/>
          </a:blip>
          <a:srcRect b="0" l="0" r="0" t="0"/>
          <a:stretch/>
        </p:blipFill>
        <p:spPr>
          <a:xfrm>
            <a:off x="2793795" y="1861480"/>
            <a:ext cx="5962229" cy="3841051"/>
          </a:xfrm>
          <a:prstGeom prst="rect">
            <a:avLst/>
          </a:prstGeom>
          <a:noFill/>
          <a:ln>
            <a:noFill/>
          </a:ln>
        </p:spPr>
      </p:pic>
      <p:pic>
        <p:nvPicPr>
          <p:cNvPr id="534" name="Google Shape;534;p41"/>
          <p:cNvPicPr preferRelativeResize="0"/>
          <p:nvPr/>
        </p:nvPicPr>
        <p:blipFill rotWithShape="1">
          <a:blip r:embed="rId4">
            <a:alphaModFix/>
          </a:blip>
          <a:srcRect b="0" l="0" r="0" t="0"/>
          <a:stretch/>
        </p:blipFill>
        <p:spPr>
          <a:xfrm>
            <a:off x="7960105" y="4816887"/>
            <a:ext cx="3773715" cy="1481627"/>
          </a:xfrm>
          <a:prstGeom prst="rect">
            <a:avLst/>
          </a:prstGeom>
          <a:noFill/>
          <a:ln>
            <a:noFill/>
          </a:ln>
        </p:spPr>
      </p:pic>
      <p:sp>
        <p:nvSpPr>
          <p:cNvPr id="535" name="Google Shape;535;p41"/>
          <p:cNvSpPr/>
          <p:nvPr/>
        </p:nvSpPr>
        <p:spPr>
          <a:xfrm>
            <a:off x="9405292" y="3956233"/>
            <a:ext cx="2328528" cy="860654"/>
          </a:xfrm>
          <a:prstGeom prst="rect">
            <a:avLst/>
          </a:prstGeom>
          <a:solidFill>
            <a:srgbClr val="F5F4F4"/>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2"/>
          <p:cNvSpPr txBox="1"/>
          <p:nvPr>
            <p:ph idx="1" type="subTitle"/>
          </p:nvPr>
        </p:nvSpPr>
        <p:spPr>
          <a:xfrm>
            <a:off x="3176965" y="279927"/>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Assignment Operators</a:t>
            </a:r>
            <a:endParaRPr b="1" i="0" sz="4000">
              <a:solidFill>
                <a:srgbClr val="191919"/>
              </a:solidFill>
              <a:latin typeface="Arial"/>
              <a:ea typeface="Arial"/>
              <a:cs typeface="Arial"/>
              <a:sym typeface="Arial"/>
            </a:endParaRPr>
          </a:p>
        </p:txBody>
      </p:sp>
      <p:graphicFrame>
        <p:nvGraphicFramePr>
          <p:cNvPr id="541" name="Google Shape;541;p42"/>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6.2 Assignment Operator</a:t>
                      </a:r>
                      <a:endParaRPr sz="1400" u="none" cap="none" strike="noStrike"/>
                    </a:p>
                  </a:txBody>
                  <a:tcPr marT="45725" marB="45725" marR="91450" marL="91450"/>
                </a:tc>
              </a:tr>
            </a:tbl>
          </a:graphicData>
        </a:graphic>
      </p:graphicFrame>
      <p:sp>
        <p:nvSpPr>
          <p:cNvPr id="542" name="Google Shape;542;p4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543" name="Google Shape;543;p42"/>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Assignment Operator </a:t>
            </a: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Assignment operators are binary operators which are used to </a:t>
            </a:r>
            <a:r>
              <a:rPr b="1" i="0" lang="en-GB" sz="2400" u="none" cap="none" strike="noStrike">
                <a:solidFill>
                  <a:srgbClr val="D4650A"/>
                </a:solidFill>
                <a:latin typeface="Arial"/>
                <a:ea typeface="Arial"/>
                <a:cs typeface="Arial"/>
                <a:sym typeface="Arial"/>
              </a:rPr>
              <a:t>assign the value </a:t>
            </a:r>
            <a:r>
              <a:rPr b="0" i="0" lang="en-GB" sz="2400" u="none" cap="none" strike="noStrike">
                <a:solidFill>
                  <a:schemeClr val="dk1"/>
                </a:solidFill>
                <a:latin typeface="Arial"/>
                <a:ea typeface="Arial"/>
                <a:cs typeface="Arial"/>
                <a:sym typeface="Arial"/>
              </a:rPr>
              <a:t>to the variable.</a:t>
            </a:r>
            <a:endParaRPr b="0" i="0" sz="2400" u="none" cap="none" strike="noStrike">
              <a:solidFill>
                <a:schemeClr val="dk1"/>
              </a:solidFill>
              <a:latin typeface="Arial"/>
              <a:ea typeface="Arial"/>
              <a:cs typeface="Arial"/>
              <a:sym typeface="Arial"/>
            </a:endParaRPr>
          </a:p>
        </p:txBody>
      </p:sp>
      <p:cxnSp>
        <p:nvCxnSpPr>
          <p:cNvPr id="544" name="Google Shape;544;p42"/>
          <p:cNvCxnSpPr/>
          <p:nvPr/>
        </p:nvCxnSpPr>
        <p:spPr>
          <a:xfrm>
            <a:off x="3176965" y="1253344"/>
            <a:ext cx="7962090" cy="0"/>
          </a:xfrm>
          <a:prstGeom prst="straightConnector1">
            <a:avLst/>
          </a:prstGeom>
          <a:noFill/>
          <a:ln cap="flat" cmpd="sng" w="9525">
            <a:solidFill>
              <a:schemeClr val="dk1"/>
            </a:solidFill>
            <a:prstDash val="solid"/>
            <a:round/>
            <a:headEnd len="med" w="med" type="oval"/>
            <a:tailEnd len="med" w="med" type="oval"/>
          </a:ln>
        </p:spPr>
      </p:cxnSp>
      <p:pic>
        <p:nvPicPr>
          <p:cNvPr id="545" name="Google Shape;545;p42"/>
          <p:cNvPicPr preferRelativeResize="0"/>
          <p:nvPr/>
        </p:nvPicPr>
        <p:blipFill rotWithShape="1">
          <a:blip r:embed="rId3">
            <a:alphaModFix/>
          </a:blip>
          <a:srcRect b="0" l="0" r="0" t="0"/>
          <a:stretch/>
        </p:blipFill>
        <p:spPr>
          <a:xfrm>
            <a:off x="4403209" y="3291891"/>
            <a:ext cx="7233216" cy="3225241"/>
          </a:xfrm>
          <a:prstGeom prst="rect">
            <a:avLst/>
          </a:prstGeom>
          <a:noFill/>
          <a:ln>
            <a:noFill/>
          </a:ln>
        </p:spPr>
      </p:pic>
      <p:sp>
        <p:nvSpPr>
          <p:cNvPr id="546" name="Google Shape;546;p42"/>
          <p:cNvSpPr/>
          <p:nvPr/>
        </p:nvSpPr>
        <p:spPr>
          <a:xfrm>
            <a:off x="3047140" y="3511135"/>
            <a:ext cx="1229556" cy="503068"/>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42"/>
          <p:cNvSpPr/>
          <p:nvPr/>
        </p:nvSpPr>
        <p:spPr>
          <a:xfrm>
            <a:off x="2920627" y="4072393"/>
            <a:ext cx="1482582" cy="133882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Some assignment operators</a:t>
            </a:r>
            <a:endParaRPr b="1" i="0" sz="1800" u="none" cap="none" strike="noStrike">
              <a:solidFill>
                <a:srgbClr val="FF0000"/>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3"/>
          <p:cNvSpPr txBox="1"/>
          <p:nvPr>
            <p:ph idx="1" type="subTitle"/>
          </p:nvPr>
        </p:nvSpPr>
        <p:spPr>
          <a:xfrm>
            <a:off x="2859579" y="477780"/>
            <a:ext cx="8727272" cy="56967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191919"/>
              </a:buClr>
              <a:buSzPts val="3600"/>
              <a:buNone/>
            </a:pPr>
            <a:r>
              <a:rPr b="1" lang="en-GB" sz="3600">
                <a:solidFill>
                  <a:srgbClr val="191919"/>
                </a:solidFill>
                <a:latin typeface="Arial"/>
                <a:ea typeface="Arial"/>
                <a:cs typeface="Arial"/>
                <a:sym typeface="Arial"/>
              </a:rPr>
              <a:t>3.2 Let’s Understand Through Example</a:t>
            </a:r>
            <a:endParaRPr b="1" i="0" sz="3600">
              <a:solidFill>
                <a:srgbClr val="191919"/>
              </a:solidFill>
              <a:latin typeface="Arial"/>
              <a:ea typeface="Arial"/>
              <a:cs typeface="Arial"/>
              <a:sym typeface="Arial"/>
            </a:endParaRPr>
          </a:p>
        </p:txBody>
      </p:sp>
      <p:graphicFrame>
        <p:nvGraphicFramePr>
          <p:cNvPr id="553" name="Google Shape;553;p43"/>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6.2 Assignment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Example</a:t>
                      </a:r>
                      <a:endParaRPr sz="1400" u="none" cap="none" strike="noStrike"/>
                    </a:p>
                  </a:txBody>
                  <a:tcPr marT="45725" marB="45725" marR="91450" marL="91450"/>
                </a:tc>
              </a:tr>
            </a:tbl>
          </a:graphicData>
        </a:graphic>
      </p:graphicFrame>
      <p:sp>
        <p:nvSpPr>
          <p:cNvPr id="554" name="Google Shape;554;p4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55" name="Google Shape;555;p43"/>
          <p:cNvCxnSpPr/>
          <p:nvPr/>
        </p:nvCxnSpPr>
        <p:spPr>
          <a:xfrm>
            <a:off x="2926080" y="1346745"/>
            <a:ext cx="8185575" cy="0"/>
          </a:xfrm>
          <a:prstGeom prst="straightConnector1">
            <a:avLst/>
          </a:prstGeom>
          <a:noFill/>
          <a:ln cap="flat" cmpd="sng" w="9525">
            <a:solidFill>
              <a:schemeClr val="dk1"/>
            </a:solidFill>
            <a:prstDash val="solid"/>
            <a:round/>
            <a:headEnd len="med" w="med" type="oval"/>
            <a:tailEnd len="med" w="med" type="oval"/>
          </a:ln>
        </p:spPr>
      </p:cxnSp>
      <p:pic>
        <p:nvPicPr>
          <p:cNvPr id="556" name="Google Shape;556;p43"/>
          <p:cNvPicPr preferRelativeResize="0"/>
          <p:nvPr/>
        </p:nvPicPr>
        <p:blipFill rotWithShape="1">
          <a:blip r:embed="rId3">
            <a:alphaModFix/>
          </a:blip>
          <a:srcRect b="0" l="0" r="0" t="0"/>
          <a:stretch/>
        </p:blipFill>
        <p:spPr>
          <a:xfrm>
            <a:off x="2859579" y="1595897"/>
            <a:ext cx="6921406" cy="3747836"/>
          </a:xfrm>
          <a:prstGeom prst="rect">
            <a:avLst/>
          </a:prstGeom>
          <a:noFill/>
          <a:ln>
            <a:noFill/>
          </a:ln>
        </p:spPr>
      </p:pic>
      <p:pic>
        <p:nvPicPr>
          <p:cNvPr id="557" name="Google Shape;557;p43"/>
          <p:cNvPicPr preferRelativeResize="0"/>
          <p:nvPr/>
        </p:nvPicPr>
        <p:blipFill rotWithShape="1">
          <a:blip r:embed="rId4">
            <a:alphaModFix/>
          </a:blip>
          <a:srcRect b="0" l="0" r="0" t="0"/>
          <a:stretch/>
        </p:blipFill>
        <p:spPr>
          <a:xfrm>
            <a:off x="6615294" y="5210614"/>
            <a:ext cx="4496361" cy="1401699"/>
          </a:xfrm>
          <a:prstGeom prst="rect">
            <a:avLst/>
          </a:prstGeom>
          <a:noFill/>
          <a:ln>
            <a:noFill/>
          </a:ln>
        </p:spPr>
      </p:pic>
      <p:sp>
        <p:nvSpPr>
          <p:cNvPr id="558" name="Google Shape;558;p43"/>
          <p:cNvSpPr/>
          <p:nvPr/>
        </p:nvSpPr>
        <p:spPr>
          <a:xfrm>
            <a:off x="8783127" y="4349960"/>
            <a:ext cx="2328528" cy="860654"/>
          </a:xfrm>
          <a:prstGeom prst="rect">
            <a:avLst/>
          </a:prstGeom>
          <a:solidFill>
            <a:srgbClr val="F5F4F4"/>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4"/>
          <p:cNvSpPr txBox="1"/>
          <p:nvPr>
            <p:ph idx="1" type="subTitle"/>
          </p:nvPr>
        </p:nvSpPr>
        <p:spPr>
          <a:xfrm>
            <a:off x="3176965" y="269023"/>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6.3 Comparison Operators</a:t>
            </a:r>
            <a:endParaRPr b="1" i="0" sz="4000">
              <a:solidFill>
                <a:srgbClr val="191919"/>
              </a:solidFill>
              <a:latin typeface="Arial"/>
              <a:ea typeface="Arial"/>
              <a:cs typeface="Arial"/>
              <a:sym typeface="Arial"/>
            </a:endParaRPr>
          </a:p>
        </p:txBody>
      </p:sp>
      <p:graphicFrame>
        <p:nvGraphicFramePr>
          <p:cNvPr id="564" name="Google Shape;564;p44"/>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6.2 Assignment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6.3 Comparison Operator</a:t>
                      </a:r>
                      <a:endParaRPr sz="1400" u="none" cap="none" strike="noStrike"/>
                    </a:p>
                  </a:txBody>
                  <a:tcPr marT="45725" marB="45725" marR="91450" marL="91450"/>
                </a:tc>
              </a:tr>
            </a:tbl>
          </a:graphicData>
        </a:graphic>
      </p:graphicFrame>
      <p:sp>
        <p:nvSpPr>
          <p:cNvPr id="565" name="Google Shape;565;p44"/>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566" name="Google Shape;566;p44"/>
          <p:cNvSpPr/>
          <p:nvPr/>
        </p:nvSpPr>
        <p:spPr>
          <a:xfrm>
            <a:off x="2638903" y="1363193"/>
            <a:ext cx="9327125" cy="175432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Comparison Operator </a:t>
            </a: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Comparison operators are binary operators which are used to </a:t>
            </a:r>
            <a:r>
              <a:rPr b="0" i="0" lang="en-GB" sz="2400" u="none" cap="none" strike="noStrike">
                <a:solidFill>
                  <a:srgbClr val="D4650A"/>
                </a:solidFill>
                <a:latin typeface="Arial"/>
                <a:ea typeface="Arial"/>
                <a:cs typeface="Arial"/>
                <a:sym typeface="Arial"/>
              </a:rPr>
              <a:t>check the relationship between two operands.</a:t>
            </a:r>
            <a:endParaRPr b="0" i="0" sz="2400" u="none" cap="none" strike="noStrike">
              <a:solidFill>
                <a:srgbClr val="D4650A"/>
              </a:solidFill>
              <a:latin typeface="Arial"/>
              <a:ea typeface="Arial"/>
              <a:cs typeface="Arial"/>
              <a:sym typeface="Arial"/>
            </a:endParaRPr>
          </a:p>
        </p:txBody>
      </p:sp>
      <p:cxnSp>
        <p:nvCxnSpPr>
          <p:cNvPr id="567" name="Google Shape;567;p44"/>
          <p:cNvCxnSpPr/>
          <p:nvPr/>
        </p:nvCxnSpPr>
        <p:spPr>
          <a:xfrm>
            <a:off x="3176965" y="1286595"/>
            <a:ext cx="7928839" cy="0"/>
          </a:xfrm>
          <a:prstGeom prst="straightConnector1">
            <a:avLst/>
          </a:prstGeom>
          <a:noFill/>
          <a:ln cap="flat" cmpd="sng" w="9525">
            <a:solidFill>
              <a:schemeClr val="dk1"/>
            </a:solidFill>
            <a:prstDash val="solid"/>
            <a:round/>
            <a:headEnd len="med" w="med" type="oval"/>
            <a:tailEnd len="med" w="med" type="oval"/>
          </a:ln>
        </p:spPr>
      </p:cxnSp>
      <p:sp>
        <p:nvSpPr>
          <p:cNvPr id="568" name="Google Shape;568;p44"/>
          <p:cNvSpPr/>
          <p:nvPr/>
        </p:nvSpPr>
        <p:spPr>
          <a:xfrm>
            <a:off x="3047140" y="3511135"/>
            <a:ext cx="1229556" cy="503068"/>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44"/>
          <p:cNvSpPr/>
          <p:nvPr/>
        </p:nvSpPr>
        <p:spPr>
          <a:xfrm>
            <a:off x="2920627" y="4072393"/>
            <a:ext cx="1482582" cy="129586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Some comparison operators</a:t>
            </a:r>
            <a:endParaRPr b="1" i="0" sz="1800" u="none" cap="none" strike="noStrike">
              <a:solidFill>
                <a:srgbClr val="FF0000"/>
              </a:solidFill>
              <a:latin typeface="Calibri"/>
              <a:ea typeface="Calibri"/>
              <a:cs typeface="Calibri"/>
              <a:sym typeface="Calibri"/>
            </a:endParaRPr>
          </a:p>
        </p:txBody>
      </p:sp>
      <p:pic>
        <p:nvPicPr>
          <p:cNvPr id="570" name="Google Shape;570;p44"/>
          <p:cNvPicPr preferRelativeResize="0"/>
          <p:nvPr/>
        </p:nvPicPr>
        <p:blipFill rotWithShape="1">
          <a:blip r:embed="rId3">
            <a:alphaModFix/>
          </a:blip>
          <a:srcRect b="0" l="0" r="0" t="0"/>
          <a:stretch/>
        </p:blipFill>
        <p:spPr>
          <a:xfrm>
            <a:off x="4937374" y="3186613"/>
            <a:ext cx="6686859" cy="311038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5"/>
          <p:cNvSpPr txBox="1"/>
          <p:nvPr>
            <p:ph idx="1" type="subTitle"/>
          </p:nvPr>
        </p:nvSpPr>
        <p:spPr>
          <a:xfrm>
            <a:off x="2859579" y="456547"/>
            <a:ext cx="8686799" cy="1292126"/>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3600"/>
              <a:buNone/>
            </a:pPr>
            <a:r>
              <a:rPr b="1" lang="en-GB" sz="4000">
                <a:solidFill>
                  <a:srgbClr val="191919"/>
                </a:solidFill>
                <a:latin typeface="Arial"/>
                <a:ea typeface="Arial"/>
                <a:cs typeface="Arial"/>
                <a:sym typeface="Arial"/>
              </a:rPr>
              <a:t>3.2 Let’s Understand Through Example</a:t>
            </a:r>
            <a:endParaRPr b="1" i="0" sz="4000">
              <a:solidFill>
                <a:srgbClr val="191919"/>
              </a:solidFill>
              <a:latin typeface="Arial"/>
              <a:ea typeface="Arial"/>
              <a:cs typeface="Arial"/>
              <a:sym typeface="Arial"/>
            </a:endParaRPr>
          </a:p>
        </p:txBody>
      </p:sp>
      <p:graphicFrame>
        <p:nvGraphicFramePr>
          <p:cNvPr id="576" name="Google Shape;576;p45"/>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6.2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6.3 Comparison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Example</a:t>
                      </a:r>
                      <a:endParaRPr sz="1400" u="none" cap="none" strike="noStrike"/>
                    </a:p>
                  </a:txBody>
                  <a:tcPr marT="45725" marB="45725" marR="91450" marL="91450"/>
                </a:tc>
              </a:tr>
            </a:tbl>
          </a:graphicData>
        </a:graphic>
      </p:graphicFrame>
      <p:sp>
        <p:nvSpPr>
          <p:cNvPr id="577" name="Google Shape;577;p4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578" name="Google Shape;578;p45"/>
          <p:cNvCxnSpPr/>
          <p:nvPr/>
        </p:nvCxnSpPr>
        <p:spPr>
          <a:xfrm flipH="1" rot="10800000">
            <a:off x="2793077" y="1748673"/>
            <a:ext cx="8345978" cy="35688"/>
          </a:xfrm>
          <a:prstGeom prst="straightConnector1">
            <a:avLst/>
          </a:prstGeom>
          <a:noFill/>
          <a:ln cap="flat" cmpd="sng" w="9525">
            <a:solidFill>
              <a:schemeClr val="dk1"/>
            </a:solidFill>
            <a:prstDash val="solid"/>
            <a:round/>
            <a:headEnd len="med" w="med" type="oval"/>
            <a:tailEnd len="med" w="med" type="oval"/>
          </a:ln>
        </p:spPr>
      </p:cxnSp>
      <p:pic>
        <p:nvPicPr>
          <p:cNvPr id="579" name="Google Shape;579;p45"/>
          <p:cNvPicPr preferRelativeResize="0"/>
          <p:nvPr/>
        </p:nvPicPr>
        <p:blipFill rotWithShape="1">
          <a:blip r:embed="rId3">
            <a:alphaModFix/>
          </a:blip>
          <a:srcRect b="0" l="0" r="0" t="0"/>
          <a:stretch/>
        </p:blipFill>
        <p:spPr>
          <a:xfrm>
            <a:off x="2793077" y="2098158"/>
            <a:ext cx="6483174" cy="3833412"/>
          </a:xfrm>
          <a:prstGeom prst="rect">
            <a:avLst/>
          </a:prstGeom>
          <a:noFill/>
          <a:ln>
            <a:noFill/>
          </a:ln>
        </p:spPr>
      </p:pic>
      <p:pic>
        <p:nvPicPr>
          <p:cNvPr id="580" name="Google Shape;580;p45"/>
          <p:cNvPicPr preferRelativeResize="0"/>
          <p:nvPr/>
        </p:nvPicPr>
        <p:blipFill rotWithShape="1">
          <a:blip r:embed="rId4">
            <a:alphaModFix/>
          </a:blip>
          <a:srcRect b="0" l="0" r="0" t="0"/>
          <a:stretch/>
        </p:blipFill>
        <p:spPr>
          <a:xfrm>
            <a:off x="8937429" y="3429000"/>
            <a:ext cx="2974711" cy="1616068"/>
          </a:xfrm>
          <a:prstGeom prst="rect">
            <a:avLst/>
          </a:prstGeom>
          <a:noFill/>
          <a:ln>
            <a:noFill/>
          </a:ln>
        </p:spPr>
      </p:pic>
      <p:sp>
        <p:nvSpPr>
          <p:cNvPr id="581" name="Google Shape;581;p45"/>
          <p:cNvSpPr/>
          <p:nvPr/>
        </p:nvSpPr>
        <p:spPr>
          <a:xfrm>
            <a:off x="9276251" y="2542498"/>
            <a:ext cx="1924222" cy="694520"/>
          </a:xfrm>
          <a:prstGeom prst="rect">
            <a:avLst/>
          </a:prstGeom>
          <a:solidFill>
            <a:srgbClr val="F5F4F4"/>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graphicFrame>
        <p:nvGraphicFramePr>
          <p:cNvPr id="586" name="Google Shape;586;p46"/>
          <p:cNvGraphicFramePr/>
          <p:nvPr/>
        </p:nvGraphicFramePr>
        <p:xfrm>
          <a:off x="4793647" y="3671517"/>
          <a:ext cx="3000000" cy="3000000"/>
        </p:xfrm>
        <a:graphic>
          <a:graphicData uri="http://schemas.openxmlformats.org/drawingml/2006/table">
            <a:tbl>
              <a:tblPr bandRow="1">
                <a:noFill/>
                <a:tableStyleId>{517EBFEF-AE46-4249-8C86-2AD901888F10}</a:tableStyleId>
              </a:tblPr>
              <a:tblGrid>
                <a:gridCol w="2542800"/>
                <a:gridCol w="2607675"/>
                <a:gridCol w="2021900"/>
              </a:tblGrid>
              <a:tr h="573800">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t>Logical Operators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t>Description</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GB" sz="1600" u="none" cap="none" strike="noStrike"/>
                        <a:t>Example</a:t>
                      </a:r>
                      <a:endParaRPr b="1" sz="1600" u="none" cap="none" strike="noStrike"/>
                    </a:p>
                  </a:txBody>
                  <a:tcPr marT="45725" marB="45725" marR="91450" marL="91450"/>
                </a:tc>
              </a:tr>
              <a:tr h="886775">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and</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ourier New"/>
                          <a:ea typeface="Courier New"/>
                          <a:cs typeface="Courier New"/>
                          <a:sym typeface="Courier New"/>
                        </a:rPr>
                        <a:t>Returns true when both condition is true</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alibri"/>
                          <a:ea typeface="Calibri"/>
                          <a:cs typeface="Calibri"/>
                          <a:sym typeface="Calibri"/>
                        </a:rPr>
                        <a:t>x  &lt;  5 and x &lt; 10 </a:t>
                      </a:r>
                      <a:endParaRPr sz="1400" u="none" cap="none" strike="noStrike">
                        <a:latin typeface="Courier New"/>
                        <a:ea typeface="Courier New"/>
                        <a:cs typeface="Courier New"/>
                        <a:sym typeface="Courier New"/>
                      </a:endParaRPr>
                    </a:p>
                  </a:txBody>
                  <a:tcPr marT="45725" marB="45725" marR="91450" marL="91450"/>
                </a:tc>
              </a:tr>
              <a:tr h="70550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or</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latin typeface="Courier New"/>
                          <a:ea typeface="Courier New"/>
                          <a:cs typeface="Courier New"/>
                          <a:sym typeface="Courier New"/>
                        </a:rPr>
                        <a:t>Return true when any one condition is true</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lang="en-GB" sz="1400" u="none" cap="none" strike="noStrike">
                          <a:latin typeface="Calibri"/>
                          <a:ea typeface="Calibri"/>
                          <a:cs typeface="Calibri"/>
                          <a:sym typeface="Calibri"/>
                        </a:rPr>
                        <a:t>x  &lt;  5 or x &lt; 10 </a:t>
                      </a:r>
                      <a:endParaRPr sz="1400" u="none" cap="none" strike="noStrike">
                        <a:latin typeface="Courier New"/>
                        <a:ea typeface="Courier New"/>
                        <a:cs typeface="Courier New"/>
                        <a:sym typeface="Courier New"/>
                      </a:endParaRPr>
                    </a:p>
                  </a:txBody>
                  <a:tcPr marT="45725" marB="45725" marR="91450" marL="91450"/>
                </a:tc>
              </a:tr>
              <a:tr h="521650">
                <a:tc>
                  <a:txBody>
                    <a:bodyPr/>
                    <a:lstStyle/>
                    <a:p>
                      <a:pPr indent="0" lvl="0" marL="0" marR="0" rtl="0" algn="l">
                        <a:lnSpc>
                          <a:spcPct val="100000"/>
                        </a:lnSpc>
                        <a:spcBef>
                          <a:spcPts val="0"/>
                        </a:spcBef>
                        <a:spcAft>
                          <a:spcPts val="0"/>
                        </a:spcAft>
                        <a:buClr>
                          <a:srgbClr val="000000"/>
                        </a:buClr>
                        <a:buSzPts val="1400"/>
                        <a:buFont typeface="Arial"/>
                        <a:buNone/>
                      </a:pPr>
                      <a:r>
                        <a:rPr lang="en-GB" sz="1400" u="none" cap="none" strike="noStrike"/>
                        <a:t>not</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ourier New"/>
                        <a:buNone/>
                      </a:pPr>
                      <a:r>
                        <a:rPr lang="en-GB" sz="1400" u="none" cap="none" strike="noStrike">
                          <a:latin typeface="Courier New"/>
                          <a:ea typeface="Courier New"/>
                          <a:cs typeface="Courier New"/>
                          <a:sym typeface="Courier New"/>
                        </a:rPr>
                        <a:t>Reverse the condition result</a:t>
                      </a:r>
                      <a:endParaRPr sz="1400" u="none" cap="none" strike="noStrike">
                        <a:latin typeface="Courier New"/>
                        <a:ea typeface="Courier New"/>
                        <a:cs typeface="Courier New"/>
                        <a:sym typeface="Courier New"/>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400"/>
                        <a:buFont typeface="Calibri"/>
                        <a:buNone/>
                      </a:pPr>
                      <a:r>
                        <a:rPr lang="en-GB" sz="1400" u="none" cap="none" strike="noStrike"/>
                        <a:t>not(</a:t>
                      </a:r>
                      <a:r>
                        <a:rPr lang="en-GB" sz="1400" u="none" cap="none" strike="noStrike">
                          <a:latin typeface="Calibri"/>
                          <a:ea typeface="Calibri"/>
                          <a:cs typeface="Calibri"/>
                          <a:sym typeface="Calibri"/>
                        </a:rPr>
                        <a:t>x  &lt;  5 and x &lt; 10</a:t>
                      </a:r>
                      <a:r>
                        <a:rPr lang="en-GB" sz="1400" u="none" cap="none" strike="noStrike"/>
                        <a:t>)</a:t>
                      </a:r>
                      <a:endParaRPr sz="1400" u="none" cap="none" strike="noStrike">
                        <a:latin typeface="Courier New"/>
                        <a:ea typeface="Courier New"/>
                        <a:cs typeface="Courier New"/>
                        <a:sym typeface="Courier New"/>
                      </a:endParaRPr>
                    </a:p>
                  </a:txBody>
                  <a:tcPr marT="45725" marB="45725" marR="91450" marL="91450"/>
                </a:tc>
              </a:tr>
            </a:tbl>
          </a:graphicData>
        </a:graphic>
      </p:graphicFrame>
      <p:sp>
        <p:nvSpPr>
          <p:cNvPr id="587" name="Google Shape;587;p46"/>
          <p:cNvSpPr txBox="1"/>
          <p:nvPr>
            <p:ph idx="1" type="subTitle"/>
          </p:nvPr>
        </p:nvSpPr>
        <p:spPr>
          <a:xfrm>
            <a:off x="3361518" y="308259"/>
            <a:ext cx="749847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Logical Operators</a:t>
            </a:r>
            <a:endParaRPr b="1" i="0" sz="4000">
              <a:solidFill>
                <a:srgbClr val="191919"/>
              </a:solidFill>
              <a:latin typeface="Arial"/>
              <a:ea typeface="Arial"/>
              <a:cs typeface="Arial"/>
              <a:sym typeface="Arial"/>
            </a:endParaRPr>
          </a:p>
        </p:txBody>
      </p:sp>
      <p:graphicFrame>
        <p:nvGraphicFramePr>
          <p:cNvPr id="588" name="Google Shape;588;p46"/>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6.2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6.3 Comparison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6.4 Logical Operator</a:t>
                      </a:r>
                      <a:endParaRPr sz="1400" u="none" cap="none" strike="noStrike"/>
                    </a:p>
                  </a:txBody>
                  <a:tcPr marT="45725" marB="45725" marR="91450" marL="91450"/>
                </a:tc>
              </a:tr>
            </a:tbl>
          </a:graphicData>
        </a:graphic>
      </p:graphicFrame>
      <p:sp>
        <p:nvSpPr>
          <p:cNvPr id="589" name="Google Shape;589;p4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590" name="Google Shape;590;p46"/>
          <p:cNvSpPr/>
          <p:nvPr/>
        </p:nvSpPr>
        <p:spPr>
          <a:xfrm>
            <a:off x="2638903" y="1363193"/>
            <a:ext cx="9327125" cy="230832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Logical Operator </a:t>
            </a:r>
            <a:r>
              <a:rPr b="0" i="0" lang="en-GB" sz="2400" u="none" cap="none" strike="noStrike">
                <a:solidFill>
                  <a:schemeClr val="dk1"/>
                </a:solidFill>
                <a:latin typeface="Arial"/>
                <a:ea typeface="Arial"/>
                <a:cs typeface="Arial"/>
                <a:sym typeface="Arial"/>
              </a:rPr>
              <a:t>[</a:t>
            </a:r>
            <a:r>
              <a:rPr b="1" i="0" lang="en-GB" sz="2400" u="none" cap="none" strike="noStrike">
                <a:solidFill>
                  <a:srgbClr val="D4650A"/>
                </a:solidFill>
                <a:latin typeface="Arial"/>
                <a:ea typeface="Arial"/>
                <a:cs typeface="Arial"/>
                <a:sym typeface="Arial"/>
              </a:rPr>
              <a:t>Definition</a:t>
            </a:r>
            <a:r>
              <a:rPr b="0" i="0" lang="en-GB" sz="2400" u="none" cap="none" strike="noStrike">
                <a:solidFill>
                  <a:schemeClr val="dk1"/>
                </a:solidFill>
                <a:latin typeface="Arial"/>
                <a:ea typeface="Arial"/>
                <a:cs typeface="Arial"/>
                <a:sym typeface="Arial"/>
              </a:rPr>
              <a:t>]: Logical operators are binary operators which are used to </a:t>
            </a:r>
            <a:r>
              <a:rPr b="1" i="0" lang="en-GB" sz="2400" u="none" cap="none" strike="noStrike">
                <a:solidFill>
                  <a:srgbClr val="00B0F0"/>
                </a:solidFill>
                <a:latin typeface="Arial"/>
                <a:ea typeface="Arial"/>
                <a:cs typeface="Arial"/>
                <a:sym typeface="Arial"/>
              </a:rPr>
              <a:t>check either the expression is true or false</a:t>
            </a:r>
            <a:r>
              <a:rPr b="0" i="0" lang="en-GB" sz="2400" u="none" cap="none" strike="noStrike">
                <a:solidFill>
                  <a:schemeClr val="dk1"/>
                </a:solidFill>
                <a:latin typeface="Arial"/>
                <a:ea typeface="Arial"/>
                <a:cs typeface="Arial"/>
                <a:sym typeface="Arial"/>
              </a:rPr>
              <a:t>. Basically, they are used during the decision making scenario</a:t>
            </a:r>
            <a:endParaRPr b="0" i="0" sz="2400" u="none" cap="none" strike="noStrike">
              <a:solidFill>
                <a:schemeClr val="dk1"/>
              </a:solidFill>
              <a:latin typeface="Arial"/>
              <a:ea typeface="Arial"/>
              <a:cs typeface="Arial"/>
              <a:sym typeface="Arial"/>
            </a:endParaRPr>
          </a:p>
        </p:txBody>
      </p:sp>
      <p:cxnSp>
        <p:nvCxnSpPr>
          <p:cNvPr id="591" name="Google Shape;591;p46"/>
          <p:cNvCxnSpPr/>
          <p:nvPr/>
        </p:nvCxnSpPr>
        <p:spPr>
          <a:xfrm>
            <a:off x="3218528" y="1269970"/>
            <a:ext cx="7970403" cy="0"/>
          </a:xfrm>
          <a:prstGeom prst="straightConnector1">
            <a:avLst/>
          </a:prstGeom>
          <a:noFill/>
          <a:ln cap="flat" cmpd="sng" w="9525">
            <a:solidFill>
              <a:schemeClr val="dk1"/>
            </a:solidFill>
            <a:prstDash val="solid"/>
            <a:round/>
            <a:headEnd len="med" w="med" type="oval"/>
            <a:tailEnd len="med" w="med" type="oval"/>
          </a:ln>
        </p:spPr>
      </p:cxnSp>
      <p:sp>
        <p:nvSpPr>
          <p:cNvPr id="592" name="Google Shape;592;p46"/>
          <p:cNvSpPr/>
          <p:nvPr/>
        </p:nvSpPr>
        <p:spPr>
          <a:xfrm>
            <a:off x="3072078" y="3914369"/>
            <a:ext cx="1229556" cy="503068"/>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3" name="Google Shape;593;p46"/>
          <p:cNvSpPr/>
          <p:nvPr/>
        </p:nvSpPr>
        <p:spPr>
          <a:xfrm>
            <a:off x="2945565" y="4475627"/>
            <a:ext cx="1482582" cy="88036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GB" sz="1800" u="none" cap="none" strike="noStrike">
                <a:solidFill>
                  <a:schemeClr val="dk1"/>
                </a:solidFill>
                <a:latin typeface="Calibri"/>
                <a:ea typeface="Calibri"/>
                <a:cs typeface="Calibri"/>
                <a:sym typeface="Calibri"/>
              </a:rPr>
              <a:t>logical operators</a:t>
            </a:r>
            <a:endParaRPr b="1" i="0" sz="1800" u="none" cap="none" strike="noStrike">
              <a:solidFill>
                <a:srgbClr val="FF0000"/>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7"/>
          <p:cNvSpPr txBox="1"/>
          <p:nvPr>
            <p:ph idx="1" type="subTitle"/>
          </p:nvPr>
        </p:nvSpPr>
        <p:spPr>
          <a:xfrm>
            <a:off x="2859579" y="456547"/>
            <a:ext cx="8727272"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3600"/>
              <a:buNone/>
            </a:pPr>
            <a:r>
              <a:rPr b="1" lang="en-GB" sz="4000">
                <a:solidFill>
                  <a:srgbClr val="191919"/>
                </a:solidFill>
                <a:latin typeface="Arial"/>
                <a:ea typeface="Arial"/>
                <a:cs typeface="Arial"/>
                <a:sym typeface="Arial"/>
              </a:rPr>
              <a:t>Let’s Understand Through Example</a:t>
            </a:r>
            <a:endParaRPr b="1" i="0" sz="4000">
              <a:solidFill>
                <a:srgbClr val="191919"/>
              </a:solidFill>
              <a:latin typeface="Arial"/>
              <a:ea typeface="Arial"/>
              <a:cs typeface="Arial"/>
              <a:sym typeface="Arial"/>
            </a:endParaRPr>
          </a:p>
        </p:txBody>
      </p:sp>
      <p:graphicFrame>
        <p:nvGraphicFramePr>
          <p:cNvPr id="599" name="Google Shape;599;p47"/>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5. Identifier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6.1 Arithmetic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6.2 Assignment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6.3 Comparison Operator</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6.4 Logical Operator</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Example</a:t>
                      </a:r>
                      <a:endParaRPr sz="1400" u="none" cap="none" strike="noStrike"/>
                    </a:p>
                  </a:txBody>
                  <a:tcPr marT="45725" marB="45725" marR="91450" marL="91450"/>
                </a:tc>
              </a:tr>
            </a:tbl>
          </a:graphicData>
        </a:graphic>
      </p:graphicFrame>
      <p:sp>
        <p:nvSpPr>
          <p:cNvPr id="600" name="Google Shape;600;p4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01" name="Google Shape;601;p47"/>
          <p:cNvCxnSpPr/>
          <p:nvPr/>
        </p:nvCxnSpPr>
        <p:spPr>
          <a:xfrm flipH="1" rot="10800000">
            <a:off x="2958938" y="1555817"/>
            <a:ext cx="8940743" cy="71372"/>
          </a:xfrm>
          <a:prstGeom prst="straightConnector1">
            <a:avLst/>
          </a:prstGeom>
          <a:noFill/>
          <a:ln cap="flat" cmpd="sng" w="9525">
            <a:solidFill>
              <a:schemeClr val="dk1"/>
            </a:solidFill>
            <a:prstDash val="solid"/>
            <a:round/>
            <a:headEnd len="med" w="med" type="oval"/>
            <a:tailEnd len="med" w="med" type="oval"/>
          </a:ln>
        </p:spPr>
      </p:cxnSp>
      <p:pic>
        <p:nvPicPr>
          <p:cNvPr id="602" name="Google Shape;602;p47"/>
          <p:cNvPicPr preferRelativeResize="0"/>
          <p:nvPr/>
        </p:nvPicPr>
        <p:blipFill rotWithShape="1">
          <a:blip r:embed="rId3">
            <a:alphaModFix/>
          </a:blip>
          <a:srcRect b="0" l="0" r="0" t="0"/>
          <a:stretch/>
        </p:blipFill>
        <p:spPr>
          <a:xfrm>
            <a:off x="3493103" y="1683691"/>
            <a:ext cx="5185663" cy="3301982"/>
          </a:xfrm>
          <a:prstGeom prst="rect">
            <a:avLst/>
          </a:prstGeom>
          <a:noFill/>
          <a:ln>
            <a:noFill/>
          </a:ln>
        </p:spPr>
      </p:pic>
      <p:pic>
        <p:nvPicPr>
          <p:cNvPr id="603" name="Google Shape;603;p47"/>
          <p:cNvPicPr preferRelativeResize="0"/>
          <p:nvPr/>
        </p:nvPicPr>
        <p:blipFill rotWithShape="1">
          <a:blip r:embed="rId4">
            <a:alphaModFix/>
          </a:blip>
          <a:srcRect b="0" l="0" r="0" t="0"/>
          <a:stretch/>
        </p:blipFill>
        <p:spPr>
          <a:xfrm>
            <a:off x="8678766" y="4501772"/>
            <a:ext cx="2287697" cy="2064506"/>
          </a:xfrm>
          <a:prstGeom prst="rect">
            <a:avLst/>
          </a:prstGeom>
          <a:noFill/>
          <a:ln>
            <a:noFill/>
          </a:ln>
        </p:spPr>
      </p:pic>
      <p:sp>
        <p:nvSpPr>
          <p:cNvPr id="604" name="Google Shape;604;p47"/>
          <p:cNvSpPr/>
          <p:nvPr/>
        </p:nvSpPr>
        <p:spPr>
          <a:xfrm>
            <a:off x="8598565" y="3844303"/>
            <a:ext cx="1924222" cy="694520"/>
          </a:xfrm>
          <a:prstGeom prst="rect">
            <a:avLst/>
          </a:prstGeom>
          <a:solidFill>
            <a:srgbClr val="F5F4F4"/>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Output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48"/>
          <p:cNvSpPr txBox="1"/>
          <p:nvPr/>
        </p:nvSpPr>
        <p:spPr>
          <a:xfrm>
            <a:off x="2181497" y="3044279"/>
            <a:ext cx="8194766"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GB" sz="4400" u="none" cap="none" strike="noStrike">
                <a:solidFill>
                  <a:srgbClr val="132C4A"/>
                </a:solidFill>
                <a:latin typeface="Arial"/>
                <a:ea typeface="Arial"/>
                <a:cs typeface="Arial"/>
                <a:sym typeface="Arial"/>
              </a:rPr>
              <a:t>Expression and Data Types</a:t>
            </a:r>
            <a:endParaRPr b="0" i="0" sz="4400" u="none" cap="none" strike="noStrik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49"/>
          <p:cNvSpPr txBox="1"/>
          <p:nvPr>
            <p:ph idx="1" type="subTitle"/>
          </p:nvPr>
        </p:nvSpPr>
        <p:spPr>
          <a:xfrm>
            <a:off x="3216798" y="338117"/>
            <a:ext cx="778791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7. What is an Expression?</a:t>
            </a:r>
            <a:endParaRPr b="1" i="0" sz="4000">
              <a:solidFill>
                <a:srgbClr val="191919"/>
              </a:solidFill>
              <a:latin typeface="Arial"/>
              <a:ea typeface="Arial"/>
              <a:cs typeface="Arial"/>
              <a:sym typeface="Arial"/>
            </a:endParaRPr>
          </a:p>
        </p:txBody>
      </p:sp>
      <p:graphicFrame>
        <p:nvGraphicFramePr>
          <p:cNvPr id="615" name="Google Shape;615;p49"/>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txBody>
                  <a:tcPr marT="45725" marB="45725" marR="91450" marL="91450"/>
                </a:tc>
              </a:tr>
            </a:tbl>
          </a:graphicData>
        </a:graphic>
      </p:graphicFrame>
      <p:sp>
        <p:nvSpPr>
          <p:cNvPr id="616" name="Google Shape;616;p49"/>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sp>
        <p:nvSpPr>
          <p:cNvPr id="617" name="Google Shape;617;p49"/>
          <p:cNvSpPr/>
          <p:nvPr/>
        </p:nvSpPr>
        <p:spPr>
          <a:xfrm>
            <a:off x="2638903" y="1363193"/>
            <a:ext cx="9327125" cy="168584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An expression is a </a:t>
            </a:r>
            <a:r>
              <a:rPr b="1" i="0" lang="en-GB" sz="2400" u="none" cap="none" strike="noStrike">
                <a:solidFill>
                  <a:srgbClr val="D4650A"/>
                </a:solidFill>
                <a:latin typeface="Arial"/>
                <a:ea typeface="Arial"/>
                <a:cs typeface="Arial"/>
                <a:sym typeface="Arial"/>
              </a:rPr>
              <a:t>combination</a:t>
            </a:r>
            <a:r>
              <a:rPr b="0" i="0" lang="en-GB" sz="2400" u="none" cap="none" strike="noStrike">
                <a:solidFill>
                  <a:schemeClr val="dk1"/>
                </a:solidFill>
                <a:latin typeface="Arial"/>
                <a:ea typeface="Arial"/>
                <a:cs typeface="Arial"/>
                <a:sym typeface="Arial"/>
              </a:rPr>
              <a:t> of symbols that evaluates to a value. Expression, most commonly, consist of a combination of operators and operands. </a:t>
            </a:r>
            <a:r>
              <a:rPr b="1" i="0" lang="en-GB" sz="2400" u="none" cap="none" strike="noStrike">
                <a:solidFill>
                  <a:srgbClr val="D4650A"/>
                </a:solidFill>
                <a:latin typeface="Arial"/>
                <a:ea typeface="Arial"/>
                <a:cs typeface="Arial"/>
                <a:sym typeface="Arial"/>
              </a:rPr>
              <a:t>E.g. 4 + (3 * k)</a:t>
            </a:r>
            <a:endParaRPr b="1" i="0" sz="2400" u="none" cap="none" strike="noStrike">
              <a:solidFill>
                <a:srgbClr val="D4650A"/>
              </a:solidFill>
              <a:latin typeface="Arial"/>
              <a:ea typeface="Arial"/>
              <a:cs typeface="Arial"/>
              <a:sym typeface="Arial"/>
            </a:endParaRPr>
          </a:p>
        </p:txBody>
      </p:sp>
      <p:cxnSp>
        <p:nvCxnSpPr>
          <p:cNvPr id="618" name="Google Shape;618;p49"/>
          <p:cNvCxnSpPr/>
          <p:nvPr/>
        </p:nvCxnSpPr>
        <p:spPr>
          <a:xfrm>
            <a:off x="3216798" y="1261657"/>
            <a:ext cx="7913944" cy="0"/>
          </a:xfrm>
          <a:prstGeom prst="straightConnector1">
            <a:avLst/>
          </a:prstGeom>
          <a:noFill/>
          <a:ln cap="flat" cmpd="sng" w="9525">
            <a:solidFill>
              <a:schemeClr val="dk1"/>
            </a:solidFill>
            <a:prstDash val="solid"/>
            <a:round/>
            <a:headEnd len="med" w="med" type="oval"/>
            <a:tailEnd len="med" w="med" type="oval"/>
          </a:ln>
        </p:spPr>
      </p:cxnSp>
      <p:sp>
        <p:nvSpPr>
          <p:cNvPr id="619" name="Google Shape;619;p49"/>
          <p:cNvSpPr/>
          <p:nvPr/>
        </p:nvSpPr>
        <p:spPr>
          <a:xfrm>
            <a:off x="2638903" y="3190689"/>
            <a:ext cx="9327125" cy="2239844"/>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An expression can also consist of a single literal or variable. Thus 4, 3 and k are each expression. This expression has two subexpression, 4 and (3 * k). Subexpression (3 * k) itself has two sub expression, 3 and k.</a:t>
            </a:r>
            <a:endParaRPr b="0" i="0" sz="1400" u="none" cap="none" strike="noStrike">
              <a:solidFill>
                <a:srgbClr val="000000"/>
              </a:solidFill>
              <a:latin typeface="Arial"/>
              <a:ea typeface="Arial"/>
              <a:cs typeface="Arial"/>
              <a:sym typeface="Arial"/>
            </a:endParaRPr>
          </a:p>
        </p:txBody>
      </p:sp>
      <p:sp>
        <p:nvSpPr>
          <p:cNvPr id="620" name="Google Shape;620;p49"/>
          <p:cNvSpPr/>
          <p:nvPr/>
        </p:nvSpPr>
        <p:spPr>
          <a:xfrm>
            <a:off x="2638902" y="5431974"/>
            <a:ext cx="9327125" cy="113184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400"/>
              <a:buFont typeface="Arial"/>
              <a:buNone/>
            </a:pPr>
            <a:r>
              <a:rPr b="1" i="0" lang="en-GB" sz="2400" u="none" cap="none" strike="noStrike">
                <a:solidFill>
                  <a:srgbClr val="FF0000"/>
                </a:solidFill>
                <a:latin typeface="Arial"/>
                <a:ea typeface="Arial"/>
                <a:cs typeface="Arial"/>
                <a:sym typeface="Arial"/>
              </a:rPr>
              <a:t>Note: Expression that evaluates to a numeric type are called arithmetic expression.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0"/>
          <p:cNvSpPr txBox="1"/>
          <p:nvPr>
            <p:ph idx="1" type="subTitle"/>
          </p:nvPr>
        </p:nvSpPr>
        <p:spPr>
          <a:xfrm>
            <a:off x="3010299" y="456547"/>
            <a:ext cx="8576551"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00B050"/>
              </a:buClr>
              <a:buSzPts val="3800"/>
              <a:buNone/>
            </a:pPr>
            <a:r>
              <a:rPr b="1" lang="en-GB" sz="4000">
                <a:solidFill>
                  <a:srgbClr val="00B050"/>
                </a:solidFill>
                <a:latin typeface="Arial"/>
                <a:ea typeface="Arial"/>
                <a:cs typeface="Arial"/>
                <a:sym typeface="Arial"/>
              </a:rPr>
              <a:t>Let’s Try!!</a:t>
            </a:r>
            <a:endParaRPr b="1" i="0" sz="4000">
              <a:solidFill>
                <a:srgbClr val="00B050"/>
              </a:solidFill>
              <a:latin typeface="Arial"/>
              <a:ea typeface="Arial"/>
              <a:cs typeface="Arial"/>
              <a:sym typeface="Arial"/>
            </a:endParaRPr>
          </a:p>
        </p:txBody>
      </p:sp>
      <p:graphicFrame>
        <p:nvGraphicFramePr>
          <p:cNvPr id="626" name="Google Shape;626;p50"/>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Tryouts</a:t>
                      </a:r>
                      <a:endParaRPr sz="1400" u="none" cap="none" strike="noStrike"/>
                    </a:p>
                  </a:txBody>
                  <a:tcPr marT="45725" marB="45725" marR="91450" marL="91450"/>
                </a:tc>
              </a:tr>
            </a:tbl>
          </a:graphicData>
        </a:graphic>
      </p:graphicFrame>
      <p:sp>
        <p:nvSpPr>
          <p:cNvPr id="627" name="Google Shape;627;p5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28" name="Google Shape;628;p50"/>
          <p:cNvCxnSpPr/>
          <p:nvPr/>
        </p:nvCxnSpPr>
        <p:spPr>
          <a:xfrm>
            <a:off x="2945537" y="1326809"/>
            <a:ext cx="8226768" cy="0"/>
          </a:xfrm>
          <a:prstGeom prst="straightConnector1">
            <a:avLst/>
          </a:prstGeom>
          <a:noFill/>
          <a:ln cap="flat" cmpd="sng" w="9525">
            <a:solidFill>
              <a:schemeClr val="dk1"/>
            </a:solidFill>
            <a:prstDash val="solid"/>
            <a:round/>
            <a:headEnd len="med" w="med" type="oval"/>
            <a:tailEnd len="med" w="med" type="oval"/>
          </a:ln>
        </p:spPr>
      </p:cxnSp>
      <p:sp>
        <p:nvSpPr>
          <p:cNvPr id="629" name="Google Shape;629;p50"/>
          <p:cNvSpPr/>
          <p:nvPr/>
        </p:nvSpPr>
        <p:spPr>
          <a:xfrm>
            <a:off x="2793077" y="1445575"/>
            <a:ext cx="8793773" cy="83095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Arial"/>
                <a:ea typeface="Arial"/>
                <a:cs typeface="Arial"/>
                <a:sym typeface="Arial"/>
              </a:rPr>
              <a:t>Translate the following into Python algebraic or Boolean expressions and then evaluate them:</a:t>
            </a:r>
            <a:endParaRPr b="1" i="0" sz="2400" u="none" cap="none" strike="noStrike">
              <a:solidFill>
                <a:schemeClr val="dk1"/>
              </a:solidFill>
              <a:latin typeface="Arial"/>
              <a:ea typeface="Arial"/>
              <a:cs typeface="Arial"/>
              <a:sym typeface="Arial"/>
            </a:endParaRPr>
          </a:p>
        </p:txBody>
      </p:sp>
      <p:sp>
        <p:nvSpPr>
          <p:cNvPr id="630" name="Google Shape;630;p50"/>
          <p:cNvSpPr/>
          <p:nvPr/>
        </p:nvSpPr>
        <p:spPr>
          <a:xfrm>
            <a:off x="2643447" y="2436859"/>
            <a:ext cx="8967545" cy="1938952"/>
          </a:xfrm>
          <a:prstGeom prst="rect">
            <a:avLst/>
          </a:prstGeom>
          <a:noFill/>
          <a:ln>
            <a:noFill/>
          </a:ln>
        </p:spPr>
        <p:txBody>
          <a:bodyPr anchorCtr="0" anchor="t" bIns="45700" lIns="91425" spcFirstLastPara="1" rIns="91425" wrap="square" tIns="45700">
            <a:spAutoFit/>
          </a:bodyPr>
          <a:lstStyle/>
          <a:p>
            <a:pPr indent="-457200" lvl="0" marL="621792" marR="0" rtl="0" algn="l">
              <a:lnSpc>
                <a:spcPct val="100000"/>
              </a:lnSpc>
              <a:spcBef>
                <a:spcPts val="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The difference between Annie’s age (25) and Ellie’s (21)</a:t>
            </a:r>
            <a:endParaRPr b="0" i="0" sz="1400" u="none" cap="none" strike="noStrike">
              <a:solidFill>
                <a:srgbClr val="000000"/>
              </a:solidFill>
              <a:latin typeface="Arial"/>
              <a:ea typeface="Arial"/>
              <a:cs typeface="Arial"/>
              <a:sym typeface="Arial"/>
            </a:endParaRPr>
          </a:p>
          <a:p>
            <a:pPr indent="-457200" lvl="0" marL="621792" marR="0" rtl="0" algn="l">
              <a:lnSpc>
                <a:spcPct val="100000"/>
              </a:lnSpc>
              <a:spcBef>
                <a:spcPts val="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The total of £14.99, £27.95, and £19.83</a:t>
            </a:r>
            <a:endParaRPr b="0" i="0" sz="1400" u="none" cap="none" strike="noStrike">
              <a:solidFill>
                <a:srgbClr val="000000"/>
              </a:solidFill>
              <a:latin typeface="Arial"/>
              <a:ea typeface="Arial"/>
              <a:cs typeface="Arial"/>
              <a:sym typeface="Arial"/>
            </a:endParaRPr>
          </a:p>
          <a:p>
            <a:pPr indent="-457200" lvl="0" marL="621792" marR="0" rtl="0" algn="l">
              <a:lnSpc>
                <a:spcPct val="100000"/>
              </a:lnSpc>
              <a:spcBef>
                <a:spcPts val="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The area of a rectangle of length 20 and width 15</a:t>
            </a:r>
            <a:endParaRPr b="0" i="0" sz="1400" u="none" cap="none" strike="noStrike">
              <a:solidFill>
                <a:srgbClr val="000000"/>
              </a:solidFill>
              <a:latin typeface="Arial"/>
              <a:ea typeface="Arial"/>
              <a:cs typeface="Arial"/>
              <a:sym typeface="Arial"/>
            </a:endParaRPr>
          </a:p>
          <a:p>
            <a:pPr indent="-457200" lvl="0" marL="621792" marR="0" rtl="0" algn="l">
              <a:lnSpc>
                <a:spcPct val="100000"/>
              </a:lnSpc>
              <a:spcBef>
                <a:spcPts val="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2 to the 10</a:t>
            </a:r>
            <a:r>
              <a:rPr b="0" baseline="30000" i="0" lang="en-GB" sz="2400" u="none" cap="none" strike="noStrike">
                <a:solidFill>
                  <a:schemeClr val="dk1"/>
                </a:solidFill>
                <a:latin typeface="Arial"/>
                <a:ea typeface="Arial"/>
                <a:cs typeface="Arial"/>
                <a:sym typeface="Arial"/>
              </a:rPr>
              <a:t>th</a:t>
            </a:r>
            <a:r>
              <a:rPr b="0" i="0" lang="en-GB" sz="2400" u="none" cap="none" strike="noStrike">
                <a:solidFill>
                  <a:schemeClr val="dk1"/>
                </a:solidFill>
                <a:latin typeface="Arial"/>
                <a:ea typeface="Arial"/>
                <a:cs typeface="Arial"/>
                <a:sym typeface="Arial"/>
              </a:rPr>
              <a:t> power</a:t>
            </a:r>
            <a:endParaRPr b="0" i="0" sz="1400" u="none" cap="none" strike="noStrike">
              <a:solidFill>
                <a:srgbClr val="000000"/>
              </a:solidFill>
              <a:latin typeface="Arial"/>
              <a:ea typeface="Arial"/>
              <a:cs typeface="Arial"/>
              <a:sym typeface="Arial"/>
            </a:endParaRPr>
          </a:p>
          <a:p>
            <a:pPr indent="-457200" lvl="0" marL="621792" marR="0" rtl="0" algn="l">
              <a:lnSpc>
                <a:spcPct val="100000"/>
              </a:lnSpc>
              <a:spcBef>
                <a:spcPts val="0"/>
              </a:spcBef>
              <a:spcAft>
                <a:spcPts val="0"/>
              </a:spcAft>
              <a:buClr>
                <a:schemeClr val="dk1"/>
              </a:buClr>
              <a:buSzPts val="2400"/>
              <a:buFont typeface="Calibri"/>
              <a:buAutoNum type="alphaUcPeriod"/>
            </a:pPr>
            <a:r>
              <a:rPr b="0" i="0" lang="en-GB" sz="2400" u="none" cap="none" strike="noStrike">
                <a:solidFill>
                  <a:schemeClr val="dk1"/>
                </a:solidFill>
                <a:latin typeface="Arial"/>
                <a:ea typeface="Arial"/>
                <a:cs typeface="Arial"/>
                <a:sym typeface="Arial"/>
              </a:rPr>
              <a:t>The minimum of 3, 1, 8, -2, 5, -3, and 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51"/>
          <p:cNvSpPr txBox="1"/>
          <p:nvPr>
            <p:ph idx="1" type="subTitle"/>
          </p:nvPr>
        </p:nvSpPr>
        <p:spPr>
          <a:xfrm>
            <a:off x="3216798" y="338117"/>
            <a:ext cx="778791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7.1 Operator Precedence</a:t>
            </a:r>
            <a:endParaRPr b="1" i="0" sz="4000">
              <a:solidFill>
                <a:srgbClr val="191919"/>
              </a:solidFill>
              <a:latin typeface="Arial"/>
              <a:ea typeface="Arial"/>
              <a:cs typeface="Arial"/>
              <a:sym typeface="Arial"/>
            </a:endParaRPr>
          </a:p>
        </p:txBody>
      </p:sp>
      <p:graphicFrame>
        <p:nvGraphicFramePr>
          <p:cNvPr id="636" name="Google Shape;636;p51"/>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t/>
                      </a:r>
                      <a:endParaRPr b="1" sz="1600" u="none" cap="none" strike="noStrike">
                        <a:solidFill>
                          <a:schemeClr val="dk1"/>
                        </a:solidFill>
                        <a:latin typeface="Arial"/>
                        <a:ea typeface="Arial"/>
                        <a:cs typeface="Arial"/>
                        <a:sym typeface="Arial"/>
                      </a:endParaRPr>
                    </a:p>
                  </a:txBody>
                  <a:tcPr marT="45725" marB="45725" marR="91450" marL="91450"/>
                </a:tc>
              </a:tr>
            </a:tbl>
          </a:graphicData>
        </a:graphic>
      </p:graphicFrame>
      <p:sp>
        <p:nvSpPr>
          <p:cNvPr id="637" name="Google Shape;637;p5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38" name="Google Shape;638;p51"/>
          <p:cNvCxnSpPr/>
          <p:nvPr/>
        </p:nvCxnSpPr>
        <p:spPr>
          <a:xfrm>
            <a:off x="3216798" y="1253344"/>
            <a:ext cx="7905631" cy="0"/>
          </a:xfrm>
          <a:prstGeom prst="straightConnector1">
            <a:avLst/>
          </a:prstGeom>
          <a:noFill/>
          <a:ln cap="flat" cmpd="sng" w="9525">
            <a:solidFill>
              <a:schemeClr val="dk1"/>
            </a:solidFill>
            <a:prstDash val="solid"/>
            <a:round/>
            <a:headEnd len="med" w="med" type="oval"/>
            <a:tailEnd len="med" w="med" type="oval"/>
          </a:ln>
        </p:spPr>
      </p:cxnSp>
      <p:sp>
        <p:nvSpPr>
          <p:cNvPr id="639" name="Google Shape;639;p51"/>
          <p:cNvSpPr/>
          <p:nvPr/>
        </p:nvSpPr>
        <p:spPr>
          <a:xfrm>
            <a:off x="2623215" y="1436758"/>
            <a:ext cx="9327125" cy="2308284"/>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The way we commonly represent expressions, in which operators appear between their operands, is referred to as </a:t>
            </a:r>
            <a:r>
              <a:rPr b="1" i="0" lang="en-GB" sz="2400" u="none" cap="none" strike="noStrike">
                <a:solidFill>
                  <a:srgbClr val="D4650A"/>
                </a:solidFill>
                <a:latin typeface="Arial"/>
                <a:ea typeface="Arial"/>
                <a:cs typeface="Arial"/>
                <a:sym typeface="Arial"/>
              </a:rPr>
              <a:t>infix notation</a:t>
            </a:r>
            <a:r>
              <a:rPr b="0" i="0" lang="en-GB" sz="2400" u="none" cap="none" strike="noStrike">
                <a:solidFill>
                  <a:schemeClr val="dk1"/>
                </a:solidFill>
                <a:latin typeface="Arial"/>
                <a:ea typeface="Arial"/>
                <a:cs typeface="Arial"/>
                <a:sym typeface="Arial"/>
              </a:rPr>
              <a:t>. For example, the expression 4 + 3 is in infix notation since the + operator appears between its two operands, 4 and 3. There are other ways of representing expressions called </a:t>
            </a:r>
            <a:r>
              <a:rPr b="1" i="0" lang="en-GB" sz="2400" u="none" cap="none" strike="noStrike">
                <a:solidFill>
                  <a:srgbClr val="D4650A"/>
                </a:solidFill>
                <a:latin typeface="Arial"/>
                <a:ea typeface="Arial"/>
                <a:cs typeface="Arial"/>
                <a:sym typeface="Arial"/>
              </a:rPr>
              <a:t>prefix</a:t>
            </a:r>
            <a:r>
              <a:rPr b="0" i="0" lang="en-GB" sz="2400" u="none" cap="none" strike="noStrike">
                <a:solidFill>
                  <a:schemeClr val="dk1"/>
                </a:solidFill>
                <a:latin typeface="Arial"/>
                <a:ea typeface="Arial"/>
                <a:cs typeface="Arial"/>
                <a:sym typeface="Arial"/>
              </a:rPr>
              <a:t> and </a:t>
            </a:r>
            <a:r>
              <a:rPr b="1" i="0" lang="en-GB" sz="2400" u="none" cap="none" strike="noStrike">
                <a:solidFill>
                  <a:srgbClr val="D4650A"/>
                </a:solidFill>
                <a:latin typeface="Arial"/>
                <a:ea typeface="Arial"/>
                <a:cs typeface="Arial"/>
                <a:sym typeface="Arial"/>
              </a:rPr>
              <a:t>postfix</a:t>
            </a:r>
            <a:r>
              <a:rPr b="0" i="0" lang="en-GB" sz="2400" u="none" cap="none" strike="noStrike">
                <a:solidFill>
                  <a:schemeClr val="dk1"/>
                </a:solidFill>
                <a:latin typeface="Arial"/>
                <a:ea typeface="Arial"/>
                <a:cs typeface="Arial"/>
                <a:sym typeface="Arial"/>
              </a:rPr>
              <a:t> </a:t>
            </a:r>
            <a:r>
              <a:rPr b="1" i="0" lang="en-GB" sz="2400" u="none" cap="none" strike="noStrike">
                <a:solidFill>
                  <a:srgbClr val="D4650A"/>
                </a:solidFill>
                <a:latin typeface="Arial"/>
                <a:ea typeface="Arial"/>
                <a:cs typeface="Arial"/>
                <a:sym typeface="Arial"/>
              </a:rPr>
              <a:t>notation</a:t>
            </a:r>
            <a:r>
              <a:rPr b="0" i="0" lang="en-GB" sz="24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40" name="Google Shape;640;p51"/>
          <p:cNvSpPr/>
          <p:nvPr/>
        </p:nvSpPr>
        <p:spPr>
          <a:xfrm>
            <a:off x="2623214" y="3771615"/>
            <a:ext cx="9327125" cy="193895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00B050"/>
              </a:buClr>
              <a:buSzPts val="2400"/>
              <a:buFont typeface="Arial"/>
              <a:buChar char="•"/>
            </a:pPr>
            <a:r>
              <a:rPr b="1" i="0" lang="en-GB" sz="2400" u="none" cap="none" strike="noStrike">
                <a:solidFill>
                  <a:srgbClr val="00B050"/>
                </a:solidFill>
                <a:latin typeface="Arial"/>
                <a:ea typeface="Arial"/>
                <a:cs typeface="Arial"/>
                <a:sym typeface="Arial"/>
              </a:rPr>
              <a:t>The expression 4 + (3 * 5) is also in infix notation. </a:t>
            </a:r>
            <a:r>
              <a:rPr b="0" i="0" lang="en-GB" sz="2400" u="none" cap="none" strike="noStrike">
                <a:solidFill>
                  <a:schemeClr val="dk1"/>
                </a:solidFill>
                <a:latin typeface="Arial"/>
                <a:ea typeface="Arial"/>
                <a:cs typeface="Arial"/>
                <a:sym typeface="Arial"/>
              </a:rPr>
              <a:t>It contains two operators,+ and *.  The parentheses denote that (3 * 5) is a subexpression. Therefore, 4 and (3 * 5) are the operands of the addition operator, and thus the overall expression evaluates to 19.</a:t>
            </a:r>
            <a:endParaRPr b="0" i="0" sz="1400" u="none" cap="none" strike="noStrike">
              <a:solidFill>
                <a:srgbClr val="000000"/>
              </a:solidFill>
              <a:latin typeface="Arial"/>
              <a:ea typeface="Arial"/>
              <a:cs typeface="Arial"/>
              <a:sym typeface="Arial"/>
            </a:endParaRPr>
          </a:p>
        </p:txBody>
      </p:sp>
      <p:sp>
        <p:nvSpPr>
          <p:cNvPr id="641" name="Google Shape;641;p51"/>
          <p:cNvSpPr/>
          <p:nvPr/>
        </p:nvSpPr>
        <p:spPr>
          <a:xfrm>
            <a:off x="8572620" y="5741844"/>
            <a:ext cx="1596138" cy="686989"/>
          </a:xfrm>
          <a:prstGeom prst="rect">
            <a:avLst/>
          </a:prstGeom>
          <a:solidFill>
            <a:srgbClr val="FFD96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4 + 3 * 5</a:t>
            </a:r>
            <a:endParaRPr b="0" i="0" sz="1200" u="none" cap="none" strike="noStrike">
              <a:solidFill>
                <a:schemeClr val="dk1"/>
              </a:solidFill>
              <a:latin typeface="Arial"/>
              <a:ea typeface="Arial"/>
              <a:cs typeface="Arial"/>
              <a:sym typeface="Arial"/>
            </a:endParaRPr>
          </a:p>
        </p:txBody>
      </p:sp>
      <p:sp>
        <p:nvSpPr>
          <p:cNvPr id="642" name="Google Shape;642;p51"/>
          <p:cNvSpPr/>
          <p:nvPr/>
        </p:nvSpPr>
        <p:spPr>
          <a:xfrm>
            <a:off x="6091946" y="5844689"/>
            <a:ext cx="2180976" cy="503068"/>
          </a:xfrm>
          <a:prstGeom prst="rightArrow">
            <a:avLst>
              <a:gd fmla="val 50000" name="adj1"/>
              <a:gd fmla="val 50000" name="adj2"/>
            </a:avLst>
          </a:prstGeom>
          <a:solidFill>
            <a:srgbClr val="FFFF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3" name="Google Shape;643;p51"/>
          <p:cNvSpPr/>
          <p:nvPr/>
        </p:nvSpPr>
        <p:spPr>
          <a:xfrm>
            <a:off x="3839546" y="5529319"/>
            <a:ext cx="225239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What if the parentheses were omitted, as given below?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2"/>
          <p:cNvSpPr txBox="1"/>
          <p:nvPr>
            <p:ph idx="1" type="subTitle"/>
          </p:nvPr>
        </p:nvSpPr>
        <p:spPr>
          <a:xfrm>
            <a:off x="3216798" y="338117"/>
            <a:ext cx="7787914" cy="78222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800"/>
              <a:buNone/>
            </a:pPr>
            <a:r>
              <a:rPr b="1" lang="en-GB" sz="4000">
                <a:solidFill>
                  <a:srgbClr val="191919"/>
                </a:solidFill>
                <a:latin typeface="Arial"/>
                <a:ea typeface="Arial"/>
                <a:cs typeface="Arial"/>
                <a:sym typeface="Arial"/>
              </a:rPr>
              <a:t>Two Possibilities!!</a:t>
            </a:r>
            <a:endParaRPr b="1" i="0" sz="4000">
              <a:solidFill>
                <a:srgbClr val="191919"/>
              </a:solidFill>
              <a:latin typeface="Arial"/>
              <a:ea typeface="Arial"/>
              <a:cs typeface="Arial"/>
              <a:sym typeface="Arial"/>
            </a:endParaRPr>
          </a:p>
        </p:txBody>
      </p:sp>
      <p:graphicFrame>
        <p:nvGraphicFramePr>
          <p:cNvPr id="649" name="Google Shape;649;p52"/>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7.2 Two Possibilities</a:t>
                      </a:r>
                      <a:endParaRPr sz="1400" u="none" cap="none" strike="noStrike"/>
                    </a:p>
                  </a:txBody>
                  <a:tcPr marT="45725" marB="45725" marR="91450" marL="91450"/>
                </a:tc>
              </a:tr>
            </a:tbl>
          </a:graphicData>
        </a:graphic>
      </p:graphicFrame>
      <p:sp>
        <p:nvSpPr>
          <p:cNvPr id="650" name="Google Shape;650;p52"/>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51" name="Google Shape;651;p52"/>
          <p:cNvCxnSpPr/>
          <p:nvPr/>
        </p:nvCxnSpPr>
        <p:spPr>
          <a:xfrm>
            <a:off x="3176965" y="1120340"/>
            <a:ext cx="7732800" cy="0"/>
          </a:xfrm>
          <a:prstGeom prst="straightConnector1">
            <a:avLst/>
          </a:prstGeom>
          <a:noFill/>
          <a:ln cap="flat" cmpd="sng" w="9525">
            <a:solidFill>
              <a:schemeClr val="dk1"/>
            </a:solidFill>
            <a:prstDash val="solid"/>
            <a:round/>
            <a:headEnd len="med" w="med" type="oval"/>
            <a:tailEnd len="med" w="med" type="oval"/>
          </a:ln>
        </p:spPr>
      </p:cxnSp>
      <p:sp>
        <p:nvSpPr>
          <p:cNvPr id="652" name="Google Shape;652;p52"/>
          <p:cNvSpPr/>
          <p:nvPr/>
        </p:nvSpPr>
        <p:spPr>
          <a:xfrm>
            <a:off x="2623215" y="2182042"/>
            <a:ext cx="9327125" cy="193899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Some might say that the first version is the correct one by the conventions mathematics. However, each programming language has its own rules for the order that operators are applied, called operator precedence. This may or may not be same as in mathematics.</a:t>
            </a:r>
            <a:endParaRPr b="0" i="0" sz="2400" u="none" cap="none" strike="noStrike">
              <a:solidFill>
                <a:schemeClr val="dk1"/>
              </a:solidFill>
              <a:latin typeface="Arial"/>
              <a:ea typeface="Arial"/>
              <a:cs typeface="Arial"/>
              <a:sym typeface="Arial"/>
            </a:endParaRPr>
          </a:p>
        </p:txBody>
      </p:sp>
      <p:sp>
        <p:nvSpPr>
          <p:cNvPr id="653" name="Google Shape;653;p52"/>
          <p:cNvSpPr/>
          <p:nvPr/>
        </p:nvSpPr>
        <p:spPr>
          <a:xfrm>
            <a:off x="3560532" y="1291527"/>
            <a:ext cx="7636712" cy="722747"/>
          </a:xfrm>
          <a:prstGeom prst="rect">
            <a:avLst/>
          </a:prstGeom>
          <a:solidFill>
            <a:srgbClr val="FFD966"/>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1"/>
                </a:solidFill>
                <a:latin typeface="Arial"/>
                <a:ea typeface="Arial"/>
                <a:cs typeface="Arial"/>
                <a:sym typeface="Arial"/>
              </a:rPr>
              <a:t>4 + 3 * 5 -&gt; 4 + 15 -&gt; 19            4 + 3 * 5 -&gt; 7 * 5 -&gt; 35</a:t>
            </a:r>
            <a:endParaRPr b="0" i="0" sz="2400" u="none" cap="none" strike="noStrike">
              <a:solidFill>
                <a:schemeClr val="dk1"/>
              </a:solidFill>
              <a:latin typeface="Arial"/>
              <a:ea typeface="Arial"/>
              <a:cs typeface="Arial"/>
              <a:sym typeface="Arial"/>
            </a:endParaRPr>
          </a:p>
        </p:txBody>
      </p:sp>
      <p:sp>
        <p:nvSpPr>
          <p:cNvPr id="654" name="Google Shape;654;p52"/>
          <p:cNvSpPr/>
          <p:nvPr/>
        </p:nvSpPr>
        <p:spPr>
          <a:xfrm>
            <a:off x="2974861" y="4204918"/>
            <a:ext cx="8623831" cy="40011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n-GB" sz="2000" u="none" cap="none" strike="noStrike">
                <a:solidFill>
                  <a:srgbClr val="FF0000"/>
                </a:solidFill>
                <a:latin typeface="Arial"/>
                <a:ea typeface="Arial"/>
                <a:cs typeface="Arial"/>
                <a:sym typeface="Arial"/>
              </a:rPr>
              <a:t>Below the operator precedence table or Python operators discussed so far</a:t>
            </a:r>
            <a:endParaRPr b="0" i="0" sz="2000" u="none" cap="none" strike="noStrike">
              <a:solidFill>
                <a:srgbClr val="FF0000"/>
              </a:solidFill>
              <a:latin typeface="Arial"/>
              <a:ea typeface="Arial"/>
              <a:cs typeface="Arial"/>
              <a:sym typeface="Arial"/>
            </a:endParaRPr>
          </a:p>
        </p:txBody>
      </p:sp>
      <p:pic>
        <p:nvPicPr>
          <p:cNvPr id="655" name="Google Shape;655;p52"/>
          <p:cNvPicPr preferRelativeResize="0"/>
          <p:nvPr/>
        </p:nvPicPr>
        <p:blipFill rotWithShape="1">
          <a:blip r:embed="rId3">
            <a:alphaModFix/>
          </a:blip>
          <a:srcRect b="0" l="0" r="0" t="0"/>
          <a:stretch/>
        </p:blipFill>
        <p:spPr>
          <a:xfrm>
            <a:off x="3878397" y="4688912"/>
            <a:ext cx="6329935" cy="18358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53"/>
          <p:cNvSpPr txBox="1"/>
          <p:nvPr>
            <p:ph idx="1" type="subTitle"/>
          </p:nvPr>
        </p:nvSpPr>
        <p:spPr>
          <a:xfrm>
            <a:off x="3010299" y="456547"/>
            <a:ext cx="8576551"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800"/>
              <a:buNone/>
            </a:pPr>
            <a:r>
              <a:rPr b="1" lang="en-GB" sz="4000">
                <a:latin typeface="Arial"/>
                <a:ea typeface="Arial"/>
                <a:cs typeface="Arial"/>
                <a:sym typeface="Arial"/>
              </a:rPr>
              <a:t>7.3 Data Types</a:t>
            </a:r>
            <a:endParaRPr b="1" i="0" sz="4000">
              <a:latin typeface="Arial"/>
              <a:ea typeface="Arial"/>
              <a:cs typeface="Arial"/>
              <a:sym typeface="Arial"/>
            </a:endParaRPr>
          </a:p>
        </p:txBody>
      </p:sp>
      <p:graphicFrame>
        <p:nvGraphicFramePr>
          <p:cNvPr id="661" name="Google Shape;661;p53"/>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7.3 Data Types</a:t>
                      </a:r>
                      <a:endParaRPr sz="1400" u="none" cap="none" strike="noStrike"/>
                    </a:p>
                  </a:txBody>
                  <a:tcPr marT="45725" marB="45725" marR="91450" marL="91450"/>
                </a:tc>
              </a:tr>
            </a:tbl>
          </a:graphicData>
        </a:graphic>
      </p:graphicFrame>
      <p:sp>
        <p:nvSpPr>
          <p:cNvPr id="662" name="Google Shape;662;p53"/>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63" name="Google Shape;663;p53"/>
          <p:cNvCxnSpPr/>
          <p:nvPr/>
        </p:nvCxnSpPr>
        <p:spPr>
          <a:xfrm flipH="1" rot="10800000">
            <a:off x="2793077" y="1021538"/>
            <a:ext cx="9119061" cy="76056"/>
          </a:xfrm>
          <a:prstGeom prst="straightConnector1">
            <a:avLst/>
          </a:prstGeom>
          <a:noFill/>
          <a:ln cap="flat" cmpd="sng" w="9525">
            <a:solidFill>
              <a:schemeClr val="dk1"/>
            </a:solidFill>
            <a:prstDash val="solid"/>
            <a:round/>
            <a:headEnd len="med" w="med" type="oval"/>
            <a:tailEnd len="med" w="med" type="oval"/>
          </a:ln>
        </p:spPr>
      </p:cxnSp>
      <p:sp>
        <p:nvSpPr>
          <p:cNvPr id="664" name="Google Shape;664;p53"/>
          <p:cNvSpPr/>
          <p:nvPr/>
        </p:nvSpPr>
        <p:spPr>
          <a:xfrm>
            <a:off x="2585013" y="1529495"/>
            <a:ext cx="9327125" cy="156966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A data type is a set of values, and a set of operators that may be applied to those values</a:t>
            </a:r>
            <a:r>
              <a:rPr b="0" i="0" lang="en-GB" sz="2400" u="none" cap="none" strike="noStrike">
                <a:solidFill>
                  <a:schemeClr val="dk1"/>
                </a:solidFill>
                <a:latin typeface="Arial"/>
                <a:ea typeface="Arial"/>
                <a:cs typeface="Arial"/>
                <a:sym typeface="Arial"/>
              </a:rPr>
              <a:t>. For example, </a:t>
            </a:r>
            <a:r>
              <a:rPr b="1" i="0" lang="en-GB" sz="2400" u="none" cap="none" strike="noStrike">
                <a:solidFill>
                  <a:srgbClr val="D4650A"/>
                </a:solidFill>
                <a:latin typeface="Arial"/>
                <a:ea typeface="Arial"/>
                <a:cs typeface="Arial"/>
                <a:sym typeface="Arial"/>
              </a:rPr>
              <a:t>integer data </a:t>
            </a:r>
            <a:r>
              <a:rPr b="0" i="0" lang="en-GB" sz="2400" u="none" cap="none" strike="noStrike">
                <a:solidFill>
                  <a:schemeClr val="dk1"/>
                </a:solidFill>
                <a:latin typeface="Arial"/>
                <a:ea typeface="Arial"/>
                <a:cs typeface="Arial"/>
                <a:sym typeface="Arial"/>
              </a:rPr>
              <a:t>type </a:t>
            </a:r>
            <a:r>
              <a:rPr b="1" i="0" lang="en-GB" sz="2400" u="none" cap="none" strike="noStrike">
                <a:solidFill>
                  <a:srgbClr val="D4650A"/>
                </a:solidFill>
                <a:latin typeface="Arial"/>
                <a:ea typeface="Arial"/>
                <a:cs typeface="Arial"/>
                <a:sym typeface="Arial"/>
              </a:rPr>
              <a:t>consist</a:t>
            </a:r>
            <a:r>
              <a:rPr b="0" i="0" lang="en-GB" sz="2400" u="none" cap="none" strike="noStrike">
                <a:solidFill>
                  <a:schemeClr val="dk1"/>
                </a:solidFill>
                <a:latin typeface="Arial"/>
                <a:ea typeface="Arial"/>
                <a:cs typeface="Arial"/>
                <a:sym typeface="Arial"/>
              </a:rPr>
              <a:t> of the set of </a:t>
            </a:r>
            <a:r>
              <a:rPr b="1" i="0" lang="en-GB" sz="2400" u="none" cap="none" strike="noStrike">
                <a:solidFill>
                  <a:srgbClr val="00B0F0"/>
                </a:solidFill>
                <a:latin typeface="Arial"/>
                <a:ea typeface="Arial"/>
                <a:cs typeface="Arial"/>
                <a:sym typeface="Arial"/>
              </a:rPr>
              <a:t>integers</a:t>
            </a:r>
            <a:r>
              <a:rPr b="0" i="0" lang="en-GB" sz="2400" u="none" cap="none" strike="noStrike">
                <a:solidFill>
                  <a:schemeClr val="dk1"/>
                </a:solidFill>
                <a:latin typeface="Arial"/>
                <a:ea typeface="Arial"/>
                <a:cs typeface="Arial"/>
                <a:sym typeface="Arial"/>
              </a:rPr>
              <a:t>, and </a:t>
            </a:r>
            <a:r>
              <a:rPr b="1" i="0" lang="en-GB" sz="2400" u="none" cap="none" strike="noStrike">
                <a:solidFill>
                  <a:srgbClr val="00B0F0"/>
                </a:solidFill>
                <a:latin typeface="Arial"/>
                <a:ea typeface="Arial"/>
                <a:cs typeface="Arial"/>
                <a:sym typeface="Arial"/>
              </a:rPr>
              <a:t>operators</a:t>
            </a:r>
            <a:r>
              <a:rPr b="0" i="0" lang="en-GB" sz="2400" u="none" cap="none" strike="noStrike">
                <a:solidFill>
                  <a:srgbClr val="00B0F0"/>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for addition, subtraction, multiplication, and division among others. </a:t>
            </a:r>
            <a:endParaRPr b="0" i="0" sz="2400" u="none" cap="none" strike="noStrike">
              <a:solidFill>
                <a:schemeClr val="dk1"/>
              </a:solidFill>
              <a:latin typeface="Arial"/>
              <a:ea typeface="Arial"/>
              <a:cs typeface="Arial"/>
              <a:sym typeface="Arial"/>
            </a:endParaRPr>
          </a:p>
        </p:txBody>
      </p:sp>
      <p:sp>
        <p:nvSpPr>
          <p:cNvPr id="665" name="Google Shape;665;p53"/>
          <p:cNvSpPr/>
          <p:nvPr/>
        </p:nvSpPr>
        <p:spPr>
          <a:xfrm>
            <a:off x="2585010" y="4579382"/>
            <a:ext cx="9327125"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For example, it does not make sense to try to divide a string by two, </a:t>
            </a:r>
            <a:r>
              <a:rPr b="1" i="0" lang="en-GB" sz="2400" u="none" cap="none" strike="noStrike">
                <a:solidFill>
                  <a:srgbClr val="002FC4"/>
                </a:solidFill>
                <a:latin typeface="Arial"/>
                <a:ea typeface="Arial"/>
                <a:cs typeface="Arial"/>
                <a:sym typeface="Arial"/>
              </a:rPr>
              <a:t>'Hello' / 2</a:t>
            </a:r>
            <a:r>
              <a:rPr b="0" i="0" lang="en-GB" sz="2400" u="none" cap="none" strike="noStrike">
                <a:solidFill>
                  <a:schemeClr val="dk1"/>
                </a:solidFill>
                <a:latin typeface="Arial"/>
                <a:ea typeface="Arial"/>
                <a:cs typeface="Arial"/>
                <a:sym typeface="Arial"/>
              </a:rPr>
              <a:t>. The programmer knows this by common sense. Python knows it because </a:t>
            </a:r>
            <a:r>
              <a:rPr b="0" i="0" lang="en-GB" sz="2400" u="none" cap="none" strike="noStrike">
                <a:solidFill>
                  <a:srgbClr val="002FC4"/>
                </a:solidFill>
                <a:latin typeface="Arial"/>
                <a:ea typeface="Arial"/>
                <a:cs typeface="Arial"/>
                <a:sym typeface="Arial"/>
              </a:rPr>
              <a:t>'Hello</a:t>
            </a:r>
            <a:r>
              <a:rPr b="0" i="0" lang="en-GB" sz="2400" u="none" cap="none" strike="noStrike">
                <a:solidFill>
                  <a:schemeClr val="dk1"/>
                </a:solidFill>
                <a:latin typeface="Arial"/>
                <a:ea typeface="Arial"/>
                <a:cs typeface="Arial"/>
                <a:sym typeface="Arial"/>
              </a:rPr>
              <a:t>' belongs to the string data type, which does not include the division operation.</a:t>
            </a:r>
            <a:endParaRPr b="0" i="0" sz="1400" u="none" cap="none" strike="noStrike">
              <a:solidFill>
                <a:srgbClr val="000000"/>
              </a:solidFill>
              <a:latin typeface="Arial"/>
              <a:ea typeface="Arial"/>
              <a:cs typeface="Arial"/>
              <a:sym typeface="Arial"/>
            </a:endParaRPr>
          </a:p>
        </p:txBody>
      </p:sp>
      <p:sp>
        <p:nvSpPr>
          <p:cNvPr id="666" name="Google Shape;666;p53"/>
          <p:cNvSpPr/>
          <p:nvPr/>
        </p:nvSpPr>
        <p:spPr>
          <a:xfrm>
            <a:off x="2585011" y="3239104"/>
            <a:ext cx="9327125" cy="1200329"/>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1" i="0" lang="en-GB" sz="2400" u="none" cap="none" strike="noStrike">
                <a:solidFill>
                  <a:srgbClr val="00B050"/>
                </a:solidFill>
                <a:latin typeface="Arial"/>
                <a:ea typeface="Arial"/>
                <a:cs typeface="Arial"/>
                <a:sym typeface="Arial"/>
              </a:rPr>
              <a:t>Integer, floats </a:t>
            </a:r>
            <a:r>
              <a:rPr b="0" i="0" lang="en-GB" sz="2400" u="none" cap="none" strike="noStrike">
                <a:solidFill>
                  <a:schemeClr val="dk1"/>
                </a:solidFill>
                <a:latin typeface="Arial"/>
                <a:ea typeface="Arial"/>
                <a:cs typeface="Arial"/>
                <a:sym typeface="Arial"/>
              </a:rPr>
              <a:t>and strings are part of a set of predefined data types in Python called the </a:t>
            </a:r>
            <a:r>
              <a:rPr b="1" i="0" lang="en-GB" sz="2400" u="none" cap="none" strike="noStrike">
                <a:solidFill>
                  <a:srgbClr val="00B050"/>
                </a:solidFill>
                <a:latin typeface="Arial"/>
                <a:ea typeface="Arial"/>
                <a:cs typeface="Arial"/>
                <a:sym typeface="Arial"/>
              </a:rPr>
              <a:t>built-in-types</a:t>
            </a:r>
            <a:r>
              <a:rPr b="0" i="0" lang="en-GB" sz="2400" u="none" cap="none" strike="noStrike">
                <a:solidFill>
                  <a:schemeClr val="dk1"/>
                </a:solidFill>
                <a:latin typeface="Arial"/>
                <a:ea typeface="Arial"/>
                <a:cs typeface="Arial"/>
                <a:sym typeface="Arial"/>
              </a:rPr>
              <a:t>. There are other built-in data types as well such Boolean,  Collections and so on.</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54"/>
          <p:cNvSpPr txBox="1"/>
          <p:nvPr>
            <p:ph idx="1" type="subTitle"/>
          </p:nvPr>
        </p:nvSpPr>
        <p:spPr>
          <a:xfrm>
            <a:off x="2867891" y="456547"/>
            <a:ext cx="8718959"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800"/>
              <a:buNone/>
            </a:pPr>
            <a:r>
              <a:rPr b="1" lang="en-GB" sz="4000">
                <a:latin typeface="Arial"/>
                <a:ea typeface="Arial"/>
                <a:cs typeface="Arial"/>
                <a:sym typeface="Arial"/>
              </a:rPr>
              <a:t>7.4 Static Typing Vs. Dynamic Typing</a:t>
            </a:r>
            <a:endParaRPr b="1" i="0" sz="4000">
              <a:latin typeface="Arial"/>
              <a:ea typeface="Arial"/>
              <a:cs typeface="Arial"/>
              <a:sym typeface="Arial"/>
            </a:endParaRPr>
          </a:p>
        </p:txBody>
      </p:sp>
      <p:graphicFrame>
        <p:nvGraphicFramePr>
          <p:cNvPr id="672" name="Google Shape;672;p54"/>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7.4 static vs. dynamic typing</a:t>
                      </a:r>
                      <a:endParaRPr sz="1400" u="none" cap="none" strike="noStrike"/>
                    </a:p>
                  </a:txBody>
                  <a:tcPr marT="45725" marB="45725" marR="91450" marL="91450"/>
                </a:tc>
              </a:tr>
            </a:tbl>
          </a:graphicData>
        </a:graphic>
      </p:graphicFrame>
      <p:sp>
        <p:nvSpPr>
          <p:cNvPr id="673" name="Google Shape;673;p54"/>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74" name="Google Shape;674;p54"/>
          <p:cNvCxnSpPr/>
          <p:nvPr/>
        </p:nvCxnSpPr>
        <p:spPr>
          <a:xfrm>
            <a:off x="2867891" y="1699843"/>
            <a:ext cx="8956242" cy="0"/>
          </a:xfrm>
          <a:prstGeom prst="straightConnector1">
            <a:avLst/>
          </a:prstGeom>
          <a:noFill/>
          <a:ln cap="flat" cmpd="sng" w="9525">
            <a:solidFill>
              <a:schemeClr val="dk1"/>
            </a:solidFill>
            <a:prstDash val="solid"/>
            <a:round/>
            <a:headEnd len="med" w="med" type="oval"/>
            <a:tailEnd len="med" w="med" type="oval"/>
          </a:ln>
        </p:spPr>
      </p:cxnSp>
      <p:sp>
        <p:nvSpPr>
          <p:cNvPr id="675" name="Google Shape;675;p54"/>
          <p:cNvSpPr/>
          <p:nvPr/>
        </p:nvSpPr>
        <p:spPr>
          <a:xfrm>
            <a:off x="2585012" y="1978320"/>
            <a:ext cx="9327125" cy="156966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As we discussed, there are </a:t>
            </a:r>
            <a:r>
              <a:rPr b="1" i="0" lang="en-GB" sz="2400" u="none" cap="none" strike="noStrike">
                <a:solidFill>
                  <a:srgbClr val="D4650A"/>
                </a:solidFill>
                <a:latin typeface="Arial"/>
                <a:ea typeface="Arial"/>
                <a:cs typeface="Arial"/>
                <a:sym typeface="Arial"/>
              </a:rPr>
              <a:t>two approaches </a:t>
            </a:r>
            <a:r>
              <a:rPr b="0" i="0" lang="en-GB" sz="2400" u="none" cap="none" strike="noStrike">
                <a:solidFill>
                  <a:schemeClr val="dk1"/>
                </a:solidFill>
                <a:latin typeface="Arial"/>
                <a:ea typeface="Arial"/>
                <a:cs typeface="Arial"/>
                <a:sym typeface="Arial"/>
              </a:rPr>
              <a:t>to data typing in programming language. In </a:t>
            </a:r>
            <a:r>
              <a:rPr b="1" i="0" lang="en-GB" sz="2400" u="none" cap="none" strike="noStrike">
                <a:solidFill>
                  <a:srgbClr val="D4650A"/>
                </a:solidFill>
                <a:latin typeface="Arial"/>
                <a:ea typeface="Arial"/>
                <a:cs typeface="Arial"/>
                <a:sym typeface="Arial"/>
              </a:rPr>
              <a:t>static typing</a:t>
            </a:r>
            <a:r>
              <a:rPr b="0" i="0" lang="en-GB" sz="2400" u="none" cap="none" strike="noStrike">
                <a:solidFill>
                  <a:schemeClr val="dk1"/>
                </a:solidFill>
                <a:latin typeface="Arial"/>
                <a:ea typeface="Arial"/>
                <a:cs typeface="Arial"/>
                <a:sym typeface="Arial"/>
              </a:rPr>
              <a:t>, a variable is declared as a certain types before it is used, and can only be assigned values of that type. </a:t>
            </a:r>
            <a:endParaRPr b="0" i="0" sz="2400" u="none" cap="none" strike="noStrike">
              <a:solidFill>
                <a:schemeClr val="dk1"/>
              </a:solidFill>
              <a:latin typeface="Arial"/>
              <a:ea typeface="Arial"/>
              <a:cs typeface="Arial"/>
              <a:sym typeface="Arial"/>
            </a:endParaRPr>
          </a:p>
        </p:txBody>
      </p:sp>
      <p:sp>
        <p:nvSpPr>
          <p:cNvPr id="676" name="Google Shape;676;p54"/>
          <p:cNvSpPr/>
          <p:nvPr/>
        </p:nvSpPr>
        <p:spPr>
          <a:xfrm>
            <a:off x="2585012" y="3968697"/>
            <a:ext cx="9327125"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1" lang="en-GB" sz="2400" u="none" cap="none" strike="noStrike">
                <a:solidFill>
                  <a:schemeClr val="dk1"/>
                </a:solidFill>
                <a:latin typeface="Arial"/>
                <a:ea typeface="Arial"/>
                <a:cs typeface="Arial"/>
                <a:sym typeface="Arial"/>
              </a:rPr>
              <a:t>In </a:t>
            </a:r>
            <a:r>
              <a:rPr b="1" i="1" lang="en-GB" sz="2400" u="none" cap="none" strike="noStrike">
                <a:solidFill>
                  <a:srgbClr val="D4650A"/>
                </a:solidFill>
                <a:latin typeface="Arial"/>
                <a:ea typeface="Arial"/>
                <a:cs typeface="Arial"/>
                <a:sym typeface="Arial"/>
              </a:rPr>
              <a:t>dynamic typing</a:t>
            </a:r>
            <a:r>
              <a:rPr b="0" i="0" lang="en-GB" sz="2400" u="none" cap="none" strike="noStrike">
                <a:solidFill>
                  <a:schemeClr val="dk1"/>
                </a:solidFill>
                <a:latin typeface="Arial"/>
                <a:ea typeface="Arial"/>
                <a:cs typeface="Arial"/>
                <a:sym typeface="Arial"/>
              </a:rPr>
              <a:t>,</a:t>
            </a:r>
            <a:r>
              <a:rPr b="1" i="1" lang="en-GB" sz="2400" u="none" cap="none" strike="noStrike">
                <a:solidFill>
                  <a:schemeClr val="dk1"/>
                </a:solidFill>
                <a:latin typeface="Arial"/>
                <a:ea typeface="Arial"/>
                <a:cs typeface="Arial"/>
                <a:sym typeface="Arial"/>
              </a:rPr>
              <a:t> the data type of a variable depends only </a:t>
            </a:r>
            <a:r>
              <a:rPr b="1" i="0" lang="en-GB" sz="2400" u="none" cap="none" strike="noStrike">
                <a:solidFill>
                  <a:schemeClr val="dk1"/>
                </a:solidFill>
                <a:latin typeface="Arial"/>
                <a:ea typeface="Arial"/>
                <a:cs typeface="Arial"/>
                <a:sym typeface="Arial"/>
              </a:rPr>
              <a:t>on the type of value that the variable is currently holding</a:t>
            </a:r>
            <a:r>
              <a:rPr b="0" i="0" lang="en-GB" sz="2400" u="none" cap="none" strike="noStrike">
                <a:solidFill>
                  <a:schemeClr val="dk1"/>
                </a:solidFill>
                <a:latin typeface="Arial"/>
                <a:ea typeface="Arial"/>
                <a:cs typeface="Arial"/>
                <a:sym typeface="Arial"/>
              </a:rPr>
              <a:t>. Thus, the same variable may be assigned values of different type during the execution of a program.</a:t>
            </a:r>
            <a:endParaRPr b="0" i="0" sz="1400" u="none" cap="none" strike="noStrike">
              <a:solidFill>
                <a:srgbClr val="000000"/>
              </a:solidFill>
              <a:latin typeface="Arial"/>
              <a:ea typeface="Arial"/>
              <a:cs typeface="Arial"/>
              <a:sym typeface="Arial"/>
            </a:endParaRPr>
          </a:p>
        </p:txBody>
      </p:sp>
      <p:sp>
        <p:nvSpPr>
          <p:cNvPr id="677" name="Google Shape;677;p54"/>
          <p:cNvSpPr/>
          <p:nvPr/>
        </p:nvSpPr>
        <p:spPr>
          <a:xfrm>
            <a:off x="4201279" y="5959074"/>
            <a:ext cx="4439037" cy="57785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400"/>
              <a:buFont typeface="Arial"/>
              <a:buNone/>
            </a:pPr>
            <a:r>
              <a:rPr b="1" i="0" lang="en-GB" sz="2400" u="none" cap="none" strike="noStrike">
                <a:solidFill>
                  <a:srgbClr val="FF0000"/>
                </a:solidFill>
                <a:latin typeface="Arial"/>
                <a:ea typeface="Arial"/>
                <a:cs typeface="Arial"/>
                <a:sym typeface="Arial"/>
              </a:rPr>
              <a:t>Python uses dynamic typing.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1" name="Shape 681"/>
        <p:cNvGrpSpPr/>
        <p:nvPr/>
      </p:nvGrpSpPr>
      <p:grpSpPr>
        <a:xfrm>
          <a:off x="0" y="0"/>
          <a:ext cx="0" cy="0"/>
          <a:chOff x="0" y="0"/>
          <a:chExt cx="0" cy="0"/>
        </a:xfrm>
      </p:grpSpPr>
      <p:sp>
        <p:nvSpPr>
          <p:cNvPr id="682" name="Google Shape;682;p55"/>
          <p:cNvSpPr txBox="1"/>
          <p:nvPr>
            <p:ph idx="1" type="subTitle"/>
          </p:nvPr>
        </p:nvSpPr>
        <p:spPr>
          <a:xfrm>
            <a:off x="3010299" y="456547"/>
            <a:ext cx="8576551"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800"/>
              <a:buNone/>
            </a:pPr>
            <a:r>
              <a:rPr b="1" lang="en-GB" sz="4000">
                <a:latin typeface="Arial"/>
                <a:ea typeface="Arial"/>
                <a:cs typeface="Arial"/>
                <a:sym typeface="Arial"/>
              </a:rPr>
              <a:t>7.5 Mixed Type Expression</a:t>
            </a:r>
            <a:endParaRPr b="1" i="0" sz="4000">
              <a:latin typeface="Arial"/>
              <a:ea typeface="Arial"/>
              <a:cs typeface="Arial"/>
              <a:sym typeface="Arial"/>
            </a:endParaRPr>
          </a:p>
        </p:txBody>
      </p:sp>
      <p:graphicFrame>
        <p:nvGraphicFramePr>
          <p:cNvPr id="683" name="Google Shape;683;p55"/>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7.4 static vs. dynamic typing</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7.5 Mixed Type Expression?</a:t>
                      </a:r>
                      <a:endParaRPr sz="1400" u="none" cap="none" strike="noStrike"/>
                    </a:p>
                  </a:txBody>
                  <a:tcPr marT="45725" marB="45725" marR="91450" marL="91450"/>
                </a:tc>
              </a:tr>
            </a:tbl>
          </a:graphicData>
        </a:graphic>
      </p:graphicFrame>
      <p:sp>
        <p:nvSpPr>
          <p:cNvPr id="684" name="Google Shape;684;p55"/>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85" name="Google Shape;685;p55"/>
          <p:cNvCxnSpPr/>
          <p:nvPr/>
        </p:nvCxnSpPr>
        <p:spPr>
          <a:xfrm>
            <a:off x="2793075" y="1255686"/>
            <a:ext cx="9085812" cy="11270"/>
          </a:xfrm>
          <a:prstGeom prst="straightConnector1">
            <a:avLst/>
          </a:prstGeom>
          <a:noFill/>
          <a:ln cap="flat" cmpd="sng" w="9525">
            <a:solidFill>
              <a:schemeClr val="dk1"/>
            </a:solidFill>
            <a:prstDash val="solid"/>
            <a:round/>
            <a:headEnd len="med" w="med" type="oval"/>
            <a:tailEnd len="med" w="med" type="oval"/>
          </a:ln>
        </p:spPr>
      </p:cxnSp>
      <p:sp>
        <p:nvSpPr>
          <p:cNvPr id="686" name="Google Shape;686;p55"/>
          <p:cNvSpPr/>
          <p:nvPr/>
        </p:nvSpPr>
        <p:spPr>
          <a:xfrm>
            <a:off x="2864875" y="1522287"/>
            <a:ext cx="9327125" cy="83099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A </a:t>
            </a:r>
            <a:r>
              <a:rPr b="1" i="0" lang="en-GB" sz="2400" u="none" cap="none" strike="noStrike">
                <a:solidFill>
                  <a:srgbClr val="D4650A"/>
                </a:solidFill>
                <a:latin typeface="Arial"/>
                <a:ea typeface="Arial"/>
                <a:cs typeface="Arial"/>
                <a:sym typeface="Arial"/>
              </a:rPr>
              <a:t>mixed-type expression </a:t>
            </a:r>
            <a:r>
              <a:rPr b="1" i="0" lang="en-GB" sz="2400" u="none" cap="none" strike="noStrike">
                <a:solidFill>
                  <a:schemeClr val="dk1"/>
                </a:solidFill>
                <a:latin typeface="Arial"/>
                <a:ea typeface="Arial"/>
                <a:cs typeface="Arial"/>
                <a:sym typeface="Arial"/>
              </a:rPr>
              <a:t>is an expression containing operands of different type</a:t>
            </a:r>
            <a:r>
              <a:rPr b="0" i="0" lang="en-GB" sz="2400" u="none" cap="none" strike="noStrike">
                <a:solidFill>
                  <a:schemeClr val="dk1"/>
                </a:solidFill>
                <a:latin typeface="Arial"/>
                <a:ea typeface="Arial"/>
                <a:cs typeface="Arial"/>
                <a:sym typeface="Arial"/>
              </a:rPr>
              <a:t>.</a:t>
            </a:r>
            <a:r>
              <a:rPr b="1" i="0" lang="en-GB" sz="2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687" name="Google Shape;687;p55"/>
          <p:cNvSpPr/>
          <p:nvPr/>
        </p:nvSpPr>
        <p:spPr>
          <a:xfrm>
            <a:off x="2887587" y="2654017"/>
            <a:ext cx="8721975"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CPU can only perform operations on values with the same internal representation scheme, and thus only on operands of the same type. </a:t>
            </a:r>
            <a:endParaRPr b="0" i="0" sz="1400" u="none" cap="none" strike="noStrike">
              <a:solidFill>
                <a:srgbClr val="000000"/>
              </a:solidFill>
              <a:latin typeface="Arial"/>
              <a:ea typeface="Arial"/>
              <a:cs typeface="Arial"/>
              <a:sym typeface="Arial"/>
            </a:endParaRPr>
          </a:p>
        </p:txBody>
      </p:sp>
      <p:sp>
        <p:nvSpPr>
          <p:cNvPr id="688" name="Google Shape;688;p55"/>
          <p:cNvSpPr/>
          <p:nvPr/>
        </p:nvSpPr>
        <p:spPr>
          <a:xfrm>
            <a:off x="2887587" y="4109677"/>
            <a:ext cx="8826007" cy="83099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Operands of mixed-type expressions therefore must be converted to a common type. </a:t>
            </a:r>
            <a:endParaRPr b="0" i="0" sz="1400" u="none" cap="none" strike="noStrike">
              <a:solidFill>
                <a:srgbClr val="000000"/>
              </a:solidFill>
              <a:latin typeface="Arial"/>
              <a:ea typeface="Arial"/>
              <a:cs typeface="Arial"/>
              <a:sym typeface="Arial"/>
            </a:endParaRPr>
          </a:p>
        </p:txBody>
      </p:sp>
      <p:sp>
        <p:nvSpPr>
          <p:cNvPr id="689" name="Google Shape;689;p55"/>
          <p:cNvSpPr/>
          <p:nvPr/>
        </p:nvSpPr>
        <p:spPr>
          <a:xfrm>
            <a:off x="2991619" y="5118526"/>
            <a:ext cx="8721975"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Values can be converted in one of two ways</a:t>
            </a:r>
            <a:r>
              <a:rPr b="0" i="0" lang="en-GB" sz="2400" u="none" cap="none" strike="noStrike">
                <a:solidFill>
                  <a:schemeClr val="dk1"/>
                </a:solidFill>
                <a:latin typeface="Arial"/>
                <a:ea typeface="Arial"/>
                <a:cs typeface="Arial"/>
                <a:sym typeface="Arial"/>
              </a:rPr>
              <a:t>—</a:t>
            </a:r>
            <a:r>
              <a:rPr b="0" i="0" lang="en-GB" sz="2400" u="none" cap="none" strike="noStrike">
                <a:solidFill>
                  <a:srgbClr val="002FC4"/>
                </a:solidFill>
                <a:latin typeface="Arial"/>
                <a:ea typeface="Arial"/>
                <a:cs typeface="Arial"/>
                <a:sym typeface="Arial"/>
              </a:rPr>
              <a:t>by</a:t>
            </a:r>
            <a:r>
              <a:rPr b="0" i="0" lang="en-GB" sz="2400" u="none" cap="none" strike="noStrike">
                <a:solidFill>
                  <a:schemeClr val="dk1"/>
                </a:solidFill>
                <a:latin typeface="Arial"/>
                <a:ea typeface="Arial"/>
                <a:cs typeface="Arial"/>
                <a:sym typeface="Arial"/>
              </a:rPr>
              <a:t> </a:t>
            </a:r>
            <a:r>
              <a:rPr b="0" i="0" lang="en-GB" sz="2400" u="none" cap="none" strike="noStrike">
                <a:solidFill>
                  <a:srgbClr val="002FC4"/>
                </a:solidFill>
                <a:latin typeface="Arial"/>
                <a:ea typeface="Arial"/>
                <a:cs typeface="Arial"/>
                <a:sym typeface="Arial"/>
              </a:rPr>
              <a:t>implicit</a:t>
            </a:r>
            <a:r>
              <a:rPr b="0" i="0" lang="en-GB" sz="2400" u="none" cap="none" strike="noStrike">
                <a:solidFill>
                  <a:schemeClr val="dk1"/>
                </a:solidFill>
                <a:latin typeface="Arial"/>
                <a:ea typeface="Arial"/>
                <a:cs typeface="Arial"/>
                <a:sym typeface="Arial"/>
              </a:rPr>
              <a:t> (</a:t>
            </a:r>
            <a:r>
              <a:rPr b="0" i="0" lang="en-GB" sz="2400" u="none" cap="none" strike="noStrike">
                <a:solidFill>
                  <a:srgbClr val="002FC4"/>
                </a:solidFill>
                <a:latin typeface="Arial"/>
                <a:ea typeface="Arial"/>
                <a:cs typeface="Arial"/>
                <a:sym typeface="Arial"/>
              </a:rPr>
              <a:t>automatic</a:t>
            </a:r>
            <a:r>
              <a:rPr b="0" i="0" lang="en-GB" sz="2400" u="none" cap="none" strike="noStrike">
                <a:solidFill>
                  <a:schemeClr val="dk1"/>
                </a:solidFill>
                <a:latin typeface="Arial"/>
                <a:ea typeface="Arial"/>
                <a:cs typeface="Arial"/>
                <a:sym typeface="Arial"/>
              </a:rPr>
              <a:t>) </a:t>
            </a:r>
            <a:r>
              <a:rPr b="0" i="0" lang="en-GB" sz="2400" u="none" cap="none" strike="noStrike">
                <a:solidFill>
                  <a:srgbClr val="002FC4"/>
                </a:solidFill>
                <a:latin typeface="Arial"/>
                <a:ea typeface="Arial"/>
                <a:cs typeface="Arial"/>
                <a:sym typeface="Arial"/>
              </a:rPr>
              <a:t>conversion</a:t>
            </a:r>
            <a:r>
              <a:rPr b="0" i="0" lang="en-GB" sz="2400" u="none" cap="none" strike="noStrike">
                <a:solidFill>
                  <a:schemeClr val="dk1"/>
                </a:solidFill>
                <a:latin typeface="Arial"/>
                <a:ea typeface="Arial"/>
                <a:cs typeface="Arial"/>
                <a:sym typeface="Arial"/>
              </a:rPr>
              <a:t>, called </a:t>
            </a:r>
            <a:r>
              <a:rPr b="1" i="1" lang="en-GB" sz="2400" u="none" cap="none" strike="noStrike">
                <a:solidFill>
                  <a:srgbClr val="D4650A"/>
                </a:solidFill>
                <a:latin typeface="Arial"/>
                <a:ea typeface="Arial"/>
                <a:cs typeface="Arial"/>
                <a:sym typeface="Arial"/>
              </a:rPr>
              <a:t>coercion</a:t>
            </a:r>
            <a:r>
              <a:rPr b="0" i="1" lang="en-GB" sz="2400" u="none" cap="none" strike="noStrike">
                <a:solidFill>
                  <a:schemeClr val="dk1"/>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or </a:t>
            </a:r>
            <a:r>
              <a:rPr b="0" i="0" lang="en-GB" sz="2400" u="none" cap="none" strike="noStrike">
                <a:solidFill>
                  <a:srgbClr val="002FC4"/>
                </a:solidFill>
                <a:latin typeface="Arial"/>
                <a:ea typeface="Arial"/>
                <a:cs typeface="Arial"/>
                <a:sym typeface="Arial"/>
              </a:rPr>
              <a:t>by explicit </a:t>
            </a:r>
            <a:r>
              <a:rPr b="1" i="1" lang="en-GB" sz="2400" u="none" cap="none" strike="noStrike">
                <a:solidFill>
                  <a:srgbClr val="D4650A"/>
                </a:solidFill>
                <a:latin typeface="Arial"/>
                <a:ea typeface="Arial"/>
                <a:cs typeface="Arial"/>
                <a:sym typeface="Arial"/>
              </a:rPr>
              <a:t>type conversion</a:t>
            </a:r>
            <a:r>
              <a:rPr b="0" i="1" lang="en-GB"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56"/>
          <p:cNvSpPr txBox="1"/>
          <p:nvPr>
            <p:ph idx="1" type="subTitle"/>
          </p:nvPr>
        </p:nvSpPr>
        <p:spPr>
          <a:xfrm>
            <a:off x="2635011" y="489891"/>
            <a:ext cx="8734617"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800"/>
              <a:buNone/>
            </a:pPr>
            <a:r>
              <a:rPr b="1" lang="en-GB" sz="3800">
                <a:latin typeface="Arial"/>
                <a:ea typeface="Arial"/>
                <a:cs typeface="Arial"/>
                <a:sym typeface="Arial"/>
              </a:rPr>
              <a:t>7.6 Implicit </a:t>
            </a:r>
            <a:r>
              <a:rPr b="1" lang="en-GB" sz="4000">
                <a:latin typeface="Arial"/>
                <a:ea typeface="Arial"/>
                <a:cs typeface="Arial"/>
                <a:sym typeface="Arial"/>
              </a:rPr>
              <a:t>Conversion</a:t>
            </a:r>
            <a:r>
              <a:rPr b="1" lang="en-GB" sz="3800">
                <a:latin typeface="Arial"/>
                <a:ea typeface="Arial"/>
                <a:cs typeface="Arial"/>
                <a:sym typeface="Arial"/>
              </a:rPr>
              <a:t> (Coercion)</a:t>
            </a:r>
            <a:endParaRPr b="1" i="0" sz="3800">
              <a:latin typeface="Arial"/>
              <a:ea typeface="Arial"/>
              <a:cs typeface="Arial"/>
              <a:sym typeface="Arial"/>
            </a:endParaRPr>
          </a:p>
        </p:txBody>
      </p:sp>
      <p:graphicFrame>
        <p:nvGraphicFramePr>
          <p:cNvPr id="695" name="Google Shape;695;p56"/>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6. Operators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7.4 static vs.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7.5 Mixed Type Expression?</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7.6 Implicit</a:t>
                      </a:r>
                      <a:endParaRPr sz="1400" u="none" cap="none" strike="noStrike"/>
                    </a:p>
                  </a:txBody>
                  <a:tcPr marT="45725" marB="45725" marR="91450" marL="91450"/>
                </a:tc>
              </a:tr>
            </a:tbl>
          </a:graphicData>
        </a:graphic>
      </p:graphicFrame>
      <p:sp>
        <p:nvSpPr>
          <p:cNvPr id="696" name="Google Shape;696;p56"/>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697" name="Google Shape;697;p56"/>
          <p:cNvCxnSpPr/>
          <p:nvPr/>
        </p:nvCxnSpPr>
        <p:spPr>
          <a:xfrm flipH="1" rot="10800000">
            <a:off x="2793077" y="1144732"/>
            <a:ext cx="9119061" cy="76056"/>
          </a:xfrm>
          <a:prstGeom prst="straightConnector1">
            <a:avLst/>
          </a:prstGeom>
          <a:noFill/>
          <a:ln cap="flat" cmpd="sng" w="9525">
            <a:solidFill>
              <a:schemeClr val="dk1"/>
            </a:solidFill>
            <a:prstDash val="solid"/>
            <a:round/>
            <a:headEnd len="med" w="med" type="oval"/>
            <a:tailEnd len="med" w="med" type="oval"/>
          </a:ln>
        </p:spPr>
      </p:cxnSp>
      <p:sp>
        <p:nvSpPr>
          <p:cNvPr id="698" name="Google Shape;698;p56"/>
          <p:cNvSpPr/>
          <p:nvPr/>
        </p:nvSpPr>
        <p:spPr>
          <a:xfrm>
            <a:off x="2635011" y="1501609"/>
            <a:ext cx="9327125" cy="156966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2400"/>
              <a:buFont typeface="Arial"/>
              <a:buChar char="•"/>
            </a:pPr>
            <a:r>
              <a:rPr b="1" i="0" lang="en-GB" sz="2400" u="none" cap="none" strike="noStrike">
                <a:solidFill>
                  <a:srgbClr val="D4650A"/>
                </a:solidFill>
                <a:latin typeface="Arial"/>
                <a:ea typeface="Arial"/>
                <a:cs typeface="Arial"/>
                <a:sym typeface="Arial"/>
              </a:rPr>
              <a:t>Coercion</a:t>
            </a:r>
            <a:r>
              <a:rPr b="1" i="0" lang="en-GB" sz="2400" u="none" cap="none" strike="noStrike">
                <a:solidFill>
                  <a:schemeClr val="dk1"/>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is the </a:t>
            </a:r>
            <a:r>
              <a:rPr b="0" i="1" lang="en-GB" sz="2400" u="none" cap="none" strike="noStrike">
                <a:solidFill>
                  <a:schemeClr val="dk1"/>
                </a:solidFill>
                <a:latin typeface="Arial"/>
                <a:ea typeface="Arial"/>
                <a:cs typeface="Arial"/>
                <a:sym typeface="Arial"/>
              </a:rPr>
              <a:t>implicit</a:t>
            </a:r>
            <a:r>
              <a:rPr b="0" i="0" lang="en-GB" sz="2400" u="none" cap="none" strike="noStrike">
                <a:solidFill>
                  <a:schemeClr val="dk1"/>
                </a:solidFill>
                <a:latin typeface="Arial"/>
                <a:ea typeface="Arial"/>
                <a:cs typeface="Arial"/>
                <a:sym typeface="Arial"/>
              </a:rPr>
              <a:t> (automatic) conversion of operands to a common type. </a:t>
            </a:r>
            <a:r>
              <a:rPr b="1" i="0" lang="en-GB" sz="2400" u="none" cap="none" strike="noStrike">
                <a:solidFill>
                  <a:schemeClr val="dk1"/>
                </a:solidFill>
                <a:latin typeface="Arial"/>
                <a:ea typeface="Arial"/>
                <a:cs typeface="Arial"/>
                <a:sym typeface="Arial"/>
              </a:rPr>
              <a:t>Coercion is automatically performed on mixed-type expressions only if the operands can be safely converted</a:t>
            </a:r>
            <a:r>
              <a:rPr b="0" i="0" lang="en-GB" sz="2400" u="none" cap="none" strike="noStrike">
                <a:solidFill>
                  <a:schemeClr val="dk1"/>
                </a:solidFill>
                <a:latin typeface="Arial"/>
                <a:ea typeface="Arial"/>
                <a:cs typeface="Arial"/>
                <a:sym typeface="Arial"/>
              </a:rPr>
              <a:t>, that is, if no loss of information will result. </a:t>
            </a:r>
            <a:endParaRPr b="0" i="0" sz="1400" u="none" cap="none" strike="noStrike">
              <a:solidFill>
                <a:srgbClr val="000000"/>
              </a:solidFill>
              <a:latin typeface="Arial"/>
              <a:ea typeface="Arial"/>
              <a:cs typeface="Arial"/>
              <a:sym typeface="Arial"/>
            </a:endParaRPr>
          </a:p>
        </p:txBody>
      </p:sp>
      <p:sp>
        <p:nvSpPr>
          <p:cNvPr id="699" name="Google Shape;699;p56"/>
          <p:cNvSpPr/>
          <p:nvPr/>
        </p:nvSpPr>
        <p:spPr>
          <a:xfrm>
            <a:off x="2697751" y="3231060"/>
            <a:ext cx="9214387" cy="120032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b="0" i="0" lang="en-GB" sz="2400" u="none" cap="none" strike="noStrike">
                <a:solidFill>
                  <a:schemeClr val="dk1"/>
                </a:solidFill>
                <a:latin typeface="Arial"/>
                <a:ea typeface="Arial"/>
                <a:cs typeface="Arial"/>
                <a:sym typeface="Arial"/>
              </a:rPr>
              <a:t>The conversion of integer 2 to floating-point 2.0 below is a safe conversion—the conversion of 4.5 to integer 4 is not, since the decimal digit would be lost,</a:t>
            </a:r>
            <a:endParaRPr b="0" i="0" sz="1400" u="none" cap="none" strike="noStrike">
              <a:solidFill>
                <a:srgbClr val="000000"/>
              </a:solidFill>
              <a:latin typeface="Arial"/>
              <a:ea typeface="Arial"/>
              <a:cs typeface="Arial"/>
              <a:sym typeface="Arial"/>
            </a:endParaRPr>
          </a:p>
        </p:txBody>
      </p:sp>
      <p:sp>
        <p:nvSpPr>
          <p:cNvPr id="700" name="Google Shape;700;p56"/>
          <p:cNvSpPr/>
          <p:nvPr/>
        </p:nvSpPr>
        <p:spPr>
          <a:xfrm>
            <a:off x="2950988" y="4729655"/>
            <a:ext cx="8368653"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Calibri"/>
                <a:ea typeface="Calibri"/>
                <a:cs typeface="Calibri"/>
                <a:sym typeface="Calibri"/>
              </a:rPr>
              <a:t>2    +    4.5   ➝   2.0     +     4.5   ➝   </a:t>
            </a:r>
            <a:r>
              <a:rPr b="1" i="0" lang="en-GB" sz="1800" u="none" cap="none" strike="noStrike">
                <a:solidFill>
                  <a:srgbClr val="002FC4"/>
                </a:solidFill>
                <a:latin typeface="Calibri"/>
                <a:ea typeface="Calibri"/>
                <a:cs typeface="Calibri"/>
                <a:sym typeface="Calibri"/>
              </a:rPr>
              <a:t>6.5</a:t>
            </a:r>
            <a:r>
              <a:rPr b="0" i="0" lang="en-GB" sz="1800" u="none" cap="none" strike="noStrike">
                <a:solidFill>
                  <a:schemeClr val="dk1"/>
                </a:solidFill>
                <a:latin typeface="Calibri"/>
                <a:ea typeface="Calibri"/>
                <a:cs typeface="Calibri"/>
                <a:sym typeface="Calibri"/>
              </a:rPr>
              <a:t>    </a:t>
            </a:r>
            <a:r>
              <a:rPr b="1" i="0" lang="en-GB" sz="1800" u="none" cap="none" strike="noStrike">
                <a:solidFill>
                  <a:schemeClr val="dk1"/>
                </a:solidFill>
                <a:latin typeface="Calibri"/>
                <a:ea typeface="Calibri"/>
                <a:cs typeface="Calibri"/>
                <a:sym typeface="Calibri"/>
              </a:rPr>
              <a:t>safe</a:t>
            </a:r>
            <a:r>
              <a:rPr b="0" i="0" lang="en-GB" sz="1800" u="none" cap="none" strike="noStrike">
                <a:solidFill>
                  <a:schemeClr val="dk1"/>
                </a:solidFill>
                <a:latin typeface="Calibri"/>
                <a:ea typeface="Calibri"/>
                <a:cs typeface="Calibri"/>
                <a:sym typeface="Calibri"/>
              </a:rPr>
              <a:t>   (</a:t>
            </a:r>
            <a:r>
              <a:rPr b="0" i="0" lang="en-GB" sz="1600" u="none" cap="none" strike="noStrike">
                <a:solidFill>
                  <a:srgbClr val="002FC4"/>
                </a:solidFill>
                <a:latin typeface="Calibri"/>
                <a:ea typeface="Calibri"/>
                <a:cs typeface="Calibri"/>
                <a:sym typeface="Calibri"/>
              </a:rPr>
              <a:t>automatic conversion of </a:t>
            </a:r>
            <a:r>
              <a:rPr b="0" i="0" lang="en-GB" sz="1600" u="none" cap="none" strike="noStrike">
                <a:solidFill>
                  <a:srgbClr val="D4650A"/>
                </a:solidFill>
                <a:latin typeface="Calibri"/>
                <a:ea typeface="Calibri"/>
                <a:cs typeface="Calibri"/>
                <a:sym typeface="Calibri"/>
              </a:rPr>
              <a:t>int</a:t>
            </a:r>
            <a:r>
              <a:rPr b="0" i="0" lang="en-GB" sz="1600" u="none" cap="none" strike="noStrike">
                <a:solidFill>
                  <a:srgbClr val="002FC4"/>
                </a:solidFill>
                <a:latin typeface="Calibri"/>
                <a:ea typeface="Calibri"/>
                <a:cs typeface="Calibri"/>
                <a:sym typeface="Calibri"/>
              </a:rPr>
              <a:t> to </a:t>
            </a:r>
            <a:r>
              <a:rPr b="0" i="0" lang="en-GB" sz="1600" u="none" cap="none" strike="noStrike">
                <a:solidFill>
                  <a:srgbClr val="D4650A"/>
                </a:solidFill>
                <a:latin typeface="Calibri"/>
                <a:ea typeface="Calibri"/>
                <a:cs typeface="Calibri"/>
                <a:sym typeface="Calibri"/>
              </a:rPr>
              <a:t>float</a:t>
            </a:r>
            <a:r>
              <a:rPr b="0" i="0" lang="en-GB"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01" name="Google Shape;701;p56"/>
          <p:cNvSpPr/>
          <p:nvPr/>
        </p:nvSpPr>
        <p:spPr>
          <a:xfrm>
            <a:off x="2697751" y="5133394"/>
            <a:ext cx="860612" cy="35500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D4650A"/>
                </a:solidFill>
                <a:latin typeface="Arial"/>
                <a:ea typeface="Arial"/>
                <a:cs typeface="Arial"/>
                <a:sym typeface="Arial"/>
              </a:rPr>
              <a:t>int</a:t>
            </a:r>
            <a:endParaRPr b="1" i="0" sz="1600" u="none" cap="none" strike="noStrike">
              <a:solidFill>
                <a:srgbClr val="D4650A"/>
              </a:solidFill>
              <a:latin typeface="Arial"/>
              <a:ea typeface="Arial"/>
              <a:cs typeface="Arial"/>
              <a:sym typeface="Arial"/>
            </a:endParaRPr>
          </a:p>
        </p:txBody>
      </p:sp>
      <p:sp>
        <p:nvSpPr>
          <p:cNvPr id="702" name="Google Shape;702;p56"/>
          <p:cNvSpPr/>
          <p:nvPr/>
        </p:nvSpPr>
        <p:spPr>
          <a:xfrm>
            <a:off x="3495623" y="5167801"/>
            <a:ext cx="753036" cy="35500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D4650A"/>
                </a:solidFill>
                <a:latin typeface="Arial"/>
                <a:ea typeface="Arial"/>
                <a:cs typeface="Arial"/>
                <a:sym typeface="Arial"/>
              </a:rPr>
              <a:t>float</a:t>
            </a:r>
            <a:endParaRPr b="0" i="0" sz="1400" u="none" cap="none" strike="noStrike">
              <a:solidFill>
                <a:srgbClr val="000000"/>
              </a:solidFill>
              <a:latin typeface="Arial"/>
              <a:ea typeface="Arial"/>
              <a:cs typeface="Arial"/>
              <a:sym typeface="Arial"/>
            </a:endParaRPr>
          </a:p>
        </p:txBody>
      </p:sp>
      <p:sp>
        <p:nvSpPr>
          <p:cNvPr id="703" name="Google Shape;703;p56"/>
          <p:cNvSpPr/>
          <p:nvPr/>
        </p:nvSpPr>
        <p:spPr>
          <a:xfrm>
            <a:off x="4248659" y="5167801"/>
            <a:ext cx="753036" cy="35500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D4650A"/>
                </a:solidFill>
                <a:latin typeface="Arial"/>
                <a:ea typeface="Arial"/>
                <a:cs typeface="Arial"/>
                <a:sym typeface="Arial"/>
              </a:rPr>
              <a:t>float</a:t>
            </a:r>
            <a:endParaRPr b="0" i="0" sz="1400" u="none" cap="none" strike="noStrike">
              <a:solidFill>
                <a:srgbClr val="000000"/>
              </a:solidFill>
              <a:latin typeface="Arial"/>
              <a:ea typeface="Arial"/>
              <a:cs typeface="Arial"/>
              <a:sym typeface="Arial"/>
            </a:endParaRPr>
          </a:p>
        </p:txBody>
      </p:sp>
      <p:sp>
        <p:nvSpPr>
          <p:cNvPr id="704" name="Google Shape;704;p56"/>
          <p:cNvSpPr/>
          <p:nvPr/>
        </p:nvSpPr>
        <p:spPr>
          <a:xfrm>
            <a:off x="5195221" y="5183895"/>
            <a:ext cx="753036" cy="35500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D4650A"/>
                </a:solidFill>
                <a:latin typeface="Arial"/>
                <a:ea typeface="Arial"/>
                <a:cs typeface="Arial"/>
                <a:sym typeface="Arial"/>
              </a:rPr>
              <a:t>float</a:t>
            </a:r>
            <a:endParaRPr b="0" i="0" sz="1400" u="none" cap="none" strike="noStrike">
              <a:solidFill>
                <a:srgbClr val="000000"/>
              </a:solidFill>
              <a:latin typeface="Arial"/>
              <a:ea typeface="Arial"/>
              <a:cs typeface="Arial"/>
              <a:sym typeface="Arial"/>
            </a:endParaRPr>
          </a:p>
        </p:txBody>
      </p:sp>
      <p:sp>
        <p:nvSpPr>
          <p:cNvPr id="705" name="Google Shape;705;p56"/>
          <p:cNvSpPr/>
          <p:nvPr/>
        </p:nvSpPr>
        <p:spPr>
          <a:xfrm>
            <a:off x="6054868" y="5172784"/>
            <a:ext cx="753036" cy="35500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GB" sz="1600" u="none" cap="none" strike="noStrike">
                <a:solidFill>
                  <a:srgbClr val="D4650A"/>
                </a:solidFill>
                <a:latin typeface="Arial"/>
                <a:ea typeface="Arial"/>
                <a:cs typeface="Arial"/>
                <a:sym typeface="Arial"/>
              </a:rPr>
              <a:t>float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7"/>
          <p:cNvSpPr txBox="1"/>
          <p:nvPr>
            <p:ph idx="1" type="subTitle"/>
          </p:nvPr>
        </p:nvSpPr>
        <p:spPr>
          <a:xfrm>
            <a:off x="2635011" y="558094"/>
            <a:ext cx="9393392" cy="569675"/>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3600"/>
              <a:buNone/>
            </a:pPr>
            <a:r>
              <a:rPr b="1" lang="en-GB" sz="3600">
                <a:latin typeface="Arial"/>
                <a:ea typeface="Arial"/>
                <a:cs typeface="Arial"/>
                <a:sym typeface="Arial"/>
              </a:rPr>
              <a:t>7.7 Explicit Conversion (Type Conversion)</a:t>
            </a:r>
            <a:endParaRPr b="1" i="0" sz="3600">
              <a:latin typeface="Arial"/>
              <a:ea typeface="Arial"/>
              <a:cs typeface="Arial"/>
              <a:sym typeface="Arial"/>
            </a:endParaRPr>
          </a:p>
        </p:txBody>
      </p:sp>
      <p:graphicFrame>
        <p:nvGraphicFramePr>
          <p:cNvPr id="711" name="Google Shape;711;p57"/>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7.4 static vs.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7.5 Mixed Type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7.6 Implicit</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7.7 Explicit</a:t>
                      </a:r>
                      <a:endParaRPr sz="1400" u="none" cap="none" strike="noStrike"/>
                    </a:p>
                  </a:txBody>
                  <a:tcPr marT="45725" marB="45725" marR="91450" marL="91450"/>
                </a:tc>
              </a:tr>
            </a:tbl>
          </a:graphicData>
        </a:graphic>
      </p:graphicFrame>
      <p:sp>
        <p:nvSpPr>
          <p:cNvPr id="712" name="Google Shape;712;p57"/>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713" name="Google Shape;713;p57"/>
          <p:cNvCxnSpPr/>
          <p:nvPr/>
        </p:nvCxnSpPr>
        <p:spPr>
          <a:xfrm flipH="1" rot="10800000">
            <a:off x="2793076" y="1329778"/>
            <a:ext cx="9119061" cy="76056"/>
          </a:xfrm>
          <a:prstGeom prst="straightConnector1">
            <a:avLst/>
          </a:prstGeom>
          <a:noFill/>
          <a:ln cap="flat" cmpd="sng" w="9525">
            <a:solidFill>
              <a:schemeClr val="dk1"/>
            </a:solidFill>
            <a:prstDash val="solid"/>
            <a:round/>
            <a:headEnd len="med" w="med" type="oval"/>
            <a:tailEnd len="med" w="med" type="oval"/>
          </a:ln>
        </p:spPr>
      </p:cxnSp>
      <p:sp>
        <p:nvSpPr>
          <p:cNvPr id="714" name="Google Shape;714;p57"/>
          <p:cNvSpPr/>
          <p:nvPr/>
        </p:nvSpPr>
        <p:spPr>
          <a:xfrm>
            <a:off x="2635011" y="1501609"/>
            <a:ext cx="9327125" cy="1938952"/>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D4650A"/>
              </a:buClr>
              <a:buSzPts val="2400"/>
              <a:buFont typeface="Arial"/>
              <a:buChar char="•"/>
            </a:pPr>
            <a:r>
              <a:rPr b="1" i="0" lang="en-GB" sz="2400" u="none" cap="none" strike="noStrike">
                <a:solidFill>
                  <a:srgbClr val="D4650A"/>
                </a:solidFill>
                <a:latin typeface="Arial"/>
                <a:ea typeface="Arial"/>
                <a:cs typeface="Arial"/>
                <a:sym typeface="Arial"/>
              </a:rPr>
              <a:t>Type conversion</a:t>
            </a:r>
            <a:r>
              <a:rPr b="1" i="0" lang="en-GB" sz="2400" u="none" cap="none" strike="noStrike">
                <a:solidFill>
                  <a:srgbClr val="3F3F3F"/>
                </a:solidFill>
                <a:latin typeface="Arial"/>
                <a:ea typeface="Arial"/>
                <a:cs typeface="Arial"/>
                <a:sym typeface="Arial"/>
              </a:rPr>
              <a:t> </a:t>
            </a:r>
            <a:r>
              <a:rPr b="0" i="0" lang="en-GB" sz="2400" u="none" cap="none" strike="noStrike">
                <a:solidFill>
                  <a:srgbClr val="3F3F3F"/>
                </a:solidFill>
                <a:latin typeface="Arial"/>
                <a:ea typeface="Arial"/>
                <a:cs typeface="Arial"/>
                <a:sym typeface="Arial"/>
              </a:rPr>
              <a:t>is the </a:t>
            </a:r>
            <a:r>
              <a:rPr b="0" i="1" lang="en-GB" sz="2400" u="none" cap="none" strike="noStrike">
                <a:solidFill>
                  <a:srgbClr val="3F3F3F"/>
                </a:solidFill>
                <a:latin typeface="Arial"/>
                <a:ea typeface="Arial"/>
                <a:cs typeface="Arial"/>
                <a:sym typeface="Arial"/>
              </a:rPr>
              <a:t>explicit </a:t>
            </a:r>
            <a:r>
              <a:rPr b="0" i="0" lang="en-GB" sz="2400" u="none" cap="none" strike="noStrike">
                <a:solidFill>
                  <a:srgbClr val="3F3F3F"/>
                </a:solidFill>
                <a:latin typeface="Arial"/>
                <a:ea typeface="Arial"/>
                <a:cs typeface="Arial"/>
                <a:sym typeface="Arial"/>
              </a:rPr>
              <a:t>conversion of operands to a specific type. </a:t>
            </a:r>
            <a:r>
              <a:rPr b="1" i="0" lang="en-GB" sz="2400" u="none" cap="none" strike="noStrike">
                <a:solidFill>
                  <a:srgbClr val="3F3F3F"/>
                </a:solidFill>
                <a:latin typeface="Arial"/>
                <a:ea typeface="Arial"/>
                <a:cs typeface="Arial"/>
                <a:sym typeface="Arial"/>
              </a:rPr>
              <a:t>Type conversion can be applied even if loss of information results</a:t>
            </a:r>
            <a:r>
              <a:rPr b="0" i="0" lang="en-GB" sz="2400" u="none" cap="none" strike="noStrike">
                <a:solidFill>
                  <a:srgbClr val="3F3F3F"/>
                </a:solidFill>
                <a:latin typeface="Arial"/>
                <a:ea typeface="Arial"/>
                <a:cs typeface="Arial"/>
                <a:sym typeface="Arial"/>
              </a:rPr>
              <a:t>. Python provides built-in </a:t>
            </a:r>
            <a:r>
              <a:rPr b="1" i="0" lang="en-GB" sz="2400" u="none" cap="none" strike="noStrike">
                <a:solidFill>
                  <a:srgbClr val="3F3F3F"/>
                </a:solidFill>
                <a:latin typeface="Arial"/>
                <a:ea typeface="Arial"/>
                <a:cs typeface="Arial"/>
                <a:sym typeface="Arial"/>
              </a:rPr>
              <a:t>type conversion functions </a:t>
            </a:r>
            <a:r>
              <a:rPr b="1" i="0" lang="en-GB" sz="2400" u="none" cap="none" strike="noStrike">
                <a:solidFill>
                  <a:srgbClr val="D4650A"/>
                </a:solidFill>
                <a:latin typeface="Arial"/>
                <a:ea typeface="Arial"/>
                <a:cs typeface="Arial"/>
                <a:sym typeface="Arial"/>
              </a:rPr>
              <a:t>int() </a:t>
            </a:r>
            <a:r>
              <a:rPr b="0" i="0" lang="en-GB" sz="2400" u="none" cap="none" strike="noStrike">
                <a:solidFill>
                  <a:srgbClr val="3F3F3F"/>
                </a:solidFill>
                <a:latin typeface="Arial"/>
                <a:ea typeface="Arial"/>
                <a:cs typeface="Arial"/>
                <a:sym typeface="Arial"/>
              </a:rPr>
              <a:t>and </a:t>
            </a:r>
            <a:r>
              <a:rPr b="1" i="0" lang="en-GB" sz="2400" u="none" cap="none" strike="noStrike">
                <a:solidFill>
                  <a:srgbClr val="D4650A"/>
                </a:solidFill>
                <a:latin typeface="Arial"/>
                <a:ea typeface="Arial"/>
                <a:cs typeface="Arial"/>
                <a:sym typeface="Arial"/>
              </a:rPr>
              <a:t>float()</a:t>
            </a:r>
            <a:r>
              <a:rPr b="0" i="0" lang="en-GB" sz="2400" u="none" cap="none" strike="noStrike">
                <a:solidFill>
                  <a:srgbClr val="3F3F3F"/>
                </a:solidFill>
                <a:latin typeface="Arial"/>
                <a:ea typeface="Arial"/>
                <a:cs typeface="Arial"/>
                <a:sym typeface="Arial"/>
              </a:rPr>
              <a:t>, with the </a:t>
            </a:r>
            <a:r>
              <a:rPr b="1" i="0" lang="en-GB" sz="2400" u="none" cap="none" strike="noStrike">
                <a:solidFill>
                  <a:srgbClr val="D4650A"/>
                </a:solidFill>
                <a:latin typeface="Arial"/>
                <a:ea typeface="Arial"/>
                <a:cs typeface="Arial"/>
                <a:sym typeface="Arial"/>
              </a:rPr>
              <a:t>int() </a:t>
            </a:r>
            <a:r>
              <a:rPr b="0" i="0" lang="en-GB" sz="2400" u="none" cap="none" strike="noStrike">
                <a:solidFill>
                  <a:srgbClr val="3F3F3F"/>
                </a:solidFill>
                <a:latin typeface="Arial"/>
                <a:ea typeface="Arial"/>
                <a:cs typeface="Arial"/>
                <a:sym typeface="Arial"/>
              </a:rPr>
              <a:t>function truncating results.</a:t>
            </a:r>
            <a:endParaRPr b="0" i="0" sz="2400" u="none" cap="none" strike="noStrike">
              <a:solidFill>
                <a:schemeClr val="dk1"/>
              </a:solidFill>
              <a:latin typeface="Arial"/>
              <a:ea typeface="Arial"/>
              <a:cs typeface="Arial"/>
              <a:sym typeface="Arial"/>
            </a:endParaRPr>
          </a:p>
        </p:txBody>
      </p:sp>
      <p:pic>
        <p:nvPicPr>
          <p:cNvPr id="715" name="Google Shape;715;p57"/>
          <p:cNvPicPr preferRelativeResize="0"/>
          <p:nvPr/>
        </p:nvPicPr>
        <p:blipFill rotWithShape="1">
          <a:blip r:embed="rId3">
            <a:alphaModFix/>
          </a:blip>
          <a:srcRect b="0" l="0" r="0" t="0"/>
          <a:stretch/>
        </p:blipFill>
        <p:spPr>
          <a:xfrm>
            <a:off x="3497475" y="3848166"/>
            <a:ext cx="7400510" cy="15717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8"/>
          <p:cNvSpPr txBox="1"/>
          <p:nvPr>
            <p:ph idx="1" type="subTitle"/>
          </p:nvPr>
        </p:nvSpPr>
        <p:spPr>
          <a:xfrm>
            <a:off x="2798608" y="141964"/>
            <a:ext cx="9163528"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800"/>
              <a:buNone/>
            </a:pPr>
            <a:r>
              <a:rPr b="1" lang="en-GB" sz="3800">
                <a:latin typeface="Arial"/>
                <a:ea typeface="Arial"/>
                <a:cs typeface="Arial"/>
                <a:sym typeface="Arial"/>
              </a:rPr>
              <a:t>Explicit </a:t>
            </a:r>
            <a:r>
              <a:rPr b="1" lang="en-GB" sz="4000">
                <a:latin typeface="Arial"/>
                <a:ea typeface="Arial"/>
                <a:cs typeface="Arial"/>
                <a:sym typeface="Arial"/>
              </a:rPr>
              <a:t>Conversion</a:t>
            </a:r>
            <a:r>
              <a:rPr b="1" lang="en-GB" sz="3800">
                <a:latin typeface="Arial"/>
                <a:ea typeface="Arial"/>
                <a:cs typeface="Arial"/>
                <a:sym typeface="Arial"/>
              </a:rPr>
              <a:t> (Type Conversion)</a:t>
            </a:r>
            <a:endParaRPr b="1" i="0" sz="3800">
              <a:latin typeface="Arial"/>
              <a:ea typeface="Arial"/>
              <a:cs typeface="Arial"/>
              <a:sym typeface="Arial"/>
            </a:endParaRPr>
          </a:p>
        </p:txBody>
      </p:sp>
      <p:graphicFrame>
        <p:nvGraphicFramePr>
          <p:cNvPr id="721" name="Google Shape;721;p58"/>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7.4 static vs.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7.5 Mixed Type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7.6 Implicit</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7.7 Explicit</a:t>
                      </a:r>
                      <a:endParaRPr sz="1400" u="none" cap="none" strike="noStrike"/>
                    </a:p>
                    <a:p>
                      <a:pPr indent="0" lvl="0" marL="0" marR="0" rtl="0" algn="ctr">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txBody>
                  <a:tcPr marT="45725" marB="45725" marR="91450" marL="91450"/>
                </a:tc>
              </a:tr>
            </a:tbl>
          </a:graphicData>
        </a:graphic>
      </p:graphicFrame>
      <p:sp>
        <p:nvSpPr>
          <p:cNvPr id="722" name="Google Shape;722;p58"/>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723" name="Google Shape;723;p58"/>
          <p:cNvCxnSpPr/>
          <p:nvPr/>
        </p:nvCxnSpPr>
        <p:spPr>
          <a:xfrm flipH="1" rot="10800000">
            <a:off x="2798608" y="1293226"/>
            <a:ext cx="9059495" cy="11929"/>
          </a:xfrm>
          <a:prstGeom prst="straightConnector1">
            <a:avLst/>
          </a:prstGeom>
          <a:noFill/>
          <a:ln cap="flat" cmpd="sng" w="9525">
            <a:solidFill>
              <a:schemeClr val="dk1"/>
            </a:solidFill>
            <a:prstDash val="solid"/>
            <a:round/>
            <a:headEnd len="med" w="med" type="oval"/>
            <a:tailEnd len="med" w="med" type="oval"/>
          </a:ln>
        </p:spPr>
      </p:cxnSp>
      <p:sp>
        <p:nvSpPr>
          <p:cNvPr id="724" name="Google Shape;724;p58"/>
          <p:cNvSpPr/>
          <p:nvPr/>
        </p:nvSpPr>
        <p:spPr>
          <a:xfrm>
            <a:off x="2635011" y="1501609"/>
            <a:ext cx="9327125" cy="64629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b="1" i="0" lang="en-GB" sz="2400" u="none" cap="none" strike="noStrike">
                <a:solidFill>
                  <a:schemeClr val="dk1"/>
                </a:solidFill>
                <a:latin typeface="Arial"/>
                <a:ea typeface="Arial"/>
                <a:cs typeface="Arial"/>
                <a:sym typeface="Arial"/>
              </a:rPr>
              <a:t>Type conversion functions </a:t>
            </a:r>
            <a:r>
              <a:rPr b="1" i="0" lang="en-GB" sz="2400" u="none" cap="none" strike="noStrike">
                <a:solidFill>
                  <a:srgbClr val="D4650A"/>
                </a:solidFill>
                <a:latin typeface="Arial"/>
                <a:ea typeface="Arial"/>
                <a:cs typeface="Arial"/>
                <a:sym typeface="Arial"/>
              </a:rPr>
              <a:t>int() </a:t>
            </a:r>
            <a:r>
              <a:rPr b="1" i="0" lang="en-GB" sz="2400" u="none" cap="none" strike="noStrike">
                <a:solidFill>
                  <a:schemeClr val="dk1"/>
                </a:solidFill>
                <a:latin typeface="Arial"/>
                <a:ea typeface="Arial"/>
                <a:cs typeface="Arial"/>
                <a:sym typeface="Arial"/>
              </a:rPr>
              <a:t>and </a:t>
            </a:r>
            <a:r>
              <a:rPr b="1" i="0" lang="en-GB" sz="2400" u="none" cap="none" strike="noStrike">
                <a:solidFill>
                  <a:srgbClr val="D4650A"/>
                </a:solidFill>
                <a:latin typeface="Arial"/>
                <a:ea typeface="Arial"/>
                <a:cs typeface="Arial"/>
                <a:sym typeface="Arial"/>
              </a:rPr>
              <a:t>float()</a:t>
            </a:r>
            <a:endParaRPr b="0" i="0" sz="2400" u="none" cap="none" strike="noStrike">
              <a:solidFill>
                <a:srgbClr val="D4650A"/>
              </a:solidFill>
              <a:latin typeface="Arial"/>
              <a:ea typeface="Arial"/>
              <a:cs typeface="Arial"/>
              <a:sym typeface="Arial"/>
            </a:endParaRPr>
          </a:p>
        </p:txBody>
      </p:sp>
      <p:pic>
        <p:nvPicPr>
          <p:cNvPr descr="https://lh6.googleusercontent.com/Eru0iHmVZHalNxxzSXYJnlSULyER8xJidu8YfrJVOniSy9lm2TgXnjCBNI_2q3QdRpr9fZZ2yxho53n4lTCg5mXWF8c1zzrn0aLWYKqXKfO6QhKopXt_lCeubfSSovvEFm9k27KzNlb3V6v3CT-sv6HQ0P3uCNo-IXdS4cYOV1LK-68sXEIKQzcBZLM2gMduAshJUIU" id="725" name="Google Shape;725;p58"/>
          <p:cNvPicPr preferRelativeResize="0"/>
          <p:nvPr/>
        </p:nvPicPr>
        <p:blipFill rotWithShape="1">
          <a:blip r:embed="rId3">
            <a:alphaModFix/>
          </a:blip>
          <a:srcRect b="0" l="0" r="0" t="0"/>
          <a:stretch/>
        </p:blipFill>
        <p:spPr>
          <a:xfrm>
            <a:off x="3084326" y="2570752"/>
            <a:ext cx="8689967" cy="1715354"/>
          </a:xfrm>
          <a:prstGeom prst="rect">
            <a:avLst/>
          </a:prstGeom>
          <a:noFill/>
          <a:ln>
            <a:noFill/>
          </a:ln>
        </p:spPr>
      </p:pic>
      <p:sp>
        <p:nvSpPr>
          <p:cNvPr id="726" name="Google Shape;726;p58"/>
          <p:cNvSpPr/>
          <p:nvPr/>
        </p:nvSpPr>
        <p:spPr>
          <a:xfrm>
            <a:off x="2739042" y="4486685"/>
            <a:ext cx="9119061"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Arial"/>
                <a:ea typeface="Arial"/>
                <a:cs typeface="Arial"/>
                <a:sym typeface="Arial"/>
              </a:rPr>
              <a:t>Note that numeric strings can also be converted to a numeric type.</a:t>
            </a:r>
            <a:r>
              <a:rPr b="0" i="0" lang="en-GB" sz="2400" u="none" cap="none" strike="noStrike">
                <a:solidFill>
                  <a:schemeClr val="dk1"/>
                </a:solidFill>
                <a:latin typeface="Arial"/>
                <a:ea typeface="Arial"/>
                <a:cs typeface="Arial"/>
                <a:sym typeface="Arial"/>
              </a:rPr>
              <a:t> In fact, we have already been doing this when using </a:t>
            </a:r>
            <a:r>
              <a:rPr b="1" i="0" lang="en-GB" sz="2400" u="none" cap="none" strike="noStrike">
                <a:solidFill>
                  <a:srgbClr val="D4650A"/>
                </a:solidFill>
                <a:latin typeface="Arial"/>
                <a:ea typeface="Arial"/>
                <a:cs typeface="Arial"/>
                <a:sym typeface="Arial"/>
              </a:rPr>
              <a:t>int</a:t>
            </a:r>
            <a:r>
              <a:rPr b="0" i="0" lang="en-GB" sz="2400" u="none" cap="none" strike="noStrike">
                <a:solidFill>
                  <a:srgbClr val="D4650A"/>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or </a:t>
            </a:r>
            <a:r>
              <a:rPr b="1" i="0" lang="en-GB" sz="2400" u="none" cap="none" strike="noStrike">
                <a:solidFill>
                  <a:srgbClr val="D4650A"/>
                </a:solidFill>
                <a:latin typeface="Arial"/>
                <a:ea typeface="Arial"/>
                <a:cs typeface="Arial"/>
                <a:sym typeface="Arial"/>
              </a:rPr>
              <a:t>float</a:t>
            </a:r>
            <a:r>
              <a:rPr b="0" i="0" lang="en-GB" sz="2400" u="none" cap="none" strike="noStrike">
                <a:solidFill>
                  <a:srgbClr val="D4650A"/>
                </a:solidFill>
                <a:latin typeface="Arial"/>
                <a:ea typeface="Arial"/>
                <a:cs typeface="Arial"/>
                <a:sym typeface="Arial"/>
              </a:rPr>
              <a:t> </a:t>
            </a:r>
            <a:r>
              <a:rPr b="0" i="0" lang="en-GB" sz="2400" u="none" cap="none" strike="noStrike">
                <a:solidFill>
                  <a:schemeClr val="dk1"/>
                </a:solidFill>
                <a:latin typeface="Arial"/>
                <a:ea typeface="Arial"/>
                <a:cs typeface="Arial"/>
                <a:sym typeface="Arial"/>
              </a:rPr>
              <a:t>with the input function, </a:t>
            </a:r>
            <a:endParaRPr b="0" i="0" sz="1400" u="none" cap="none" strike="noStrike">
              <a:solidFill>
                <a:srgbClr val="000000"/>
              </a:solidFill>
              <a:latin typeface="Arial"/>
              <a:ea typeface="Arial"/>
              <a:cs typeface="Arial"/>
              <a:sym typeface="Arial"/>
            </a:endParaRPr>
          </a:p>
        </p:txBody>
      </p:sp>
      <p:sp>
        <p:nvSpPr>
          <p:cNvPr id="727" name="Google Shape;727;p58"/>
          <p:cNvSpPr/>
          <p:nvPr/>
        </p:nvSpPr>
        <p:spPr>
          <a:xfrm>
            <a:off x="3840690" y="6018591"/>
            <a:ext cx="6540129" cy="507831"/>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1800"/>
              <a:buFont typeface="Arial"/>
              <a:buNone/>
            </a:pPr>
            <a:r>
              <a:rPr b="1" i="0" lang="en-GB" sz="1800" u="none" cap="none" strike="noStrike">
                <a:solidFill>
                  <a:srgbClr val="D4650A"/>
                </a:solidFill>
                <a:latin typeface="Calibri"/>
                <a:ea typeface="Calibri"/>
                <a:cs typeface="Calibri"/>
                <a:sym typeface="Calibri"/>
              </a:rPr>
              <a:t>    &gt;&gt;&gt; num_credits =  int(input('How many credits do you have?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pic>
        <p:nvPicPr>
          <p:cNvPr id="732" name="Google Shape;732;p59"/>
          <p:cNvPicPr preferRelativeResize="0"/>
          <p:nvPr/>
        </p:nvPicPr>
        <p:blipFill rotWithShape="1">
          <a:blip r:embed="rId3">
            <a:alphaModFix/>
          </a:blip>
          <a:srcRect b="0" l="0" r="0" t="0"/>
          <a:stretch/>
        </p:blipFill>
        <p:spPr>
          <a:xfrm>
            <a:off x="2067098" y="1027764"/>
            <a:ext cx="8382000" cy="4476750"/>
          </a:xfrm>
          <a:prstGeom prst="rect">
            <a:avLst/>
          </a:prstGeom>
          <a:noFill/>
          <a:ln>
            <a:noFill/>
          </a:ln>
        </p:spPr>
      </p:pic>
      <p:pic>
        <p:nvPicPr>
          <p:cNvPr id="733" name="Google Shape;733;p59"/>
          <p:cNvPicPr preferRelativeResize="0"/>
          <p:nvPr/>
        </p:nvPicPr>
        <p:blipFill rotWithShape="1">
          <a:blip r:embed="rId4">
            <a:alphaModFix/>
          </a:blip>
          <a:srcRect b="0" l="0" r="0" t="0"/>
          <a:stretch/>
        </p:blipFill>
        <p:spPr>
          <a:xfrm>
            <a:off x="6599071" y="2232400"/>
            <a:ext cx="1905000" cy="13906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60"/>
          <p:cNvSpPr txBox="1"/>
          <p:nvPr>
            <p:ph idx="1" type="subTitle"/>
          </p:nvPr>
        </p:nvSpPr>
        <p:spPr>
          <a:xfrm>
            <a:off x="2772455" y="451387"/>
            <a:ext cx="8676600"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000"/>
              <a:buNone/>
            </a:pPr>
            <a:r>
              <a:rPr b="1" lang="en-GB" sz="4000">
                <a:solidFill>
                  <a:srgbClr val="191919"/>
                </a:solidFill>
                <a:latin typeface="Arial"/>
                <a:ea typeface="Arial"/>
                <a:cs typeface="Arial"/>
                <a:sym typeface="Arial"/>
              </a:rPr>
              <a:t>8. Types of Errors</a:t>
            </a:r>
            <a:endParaRPr b="1" sz="4000">
              <a:solidFill>
                <a:srgbClr val="191919"/>
              </a:solidFill>
              <a:latin typeface="Arial"/>
              <a:ea typeface="Arial"/>
              <a:cs typeface="Arial"/>
              <a:sym typeface="Arial"/>
            </a:endParaRPr>
          </a:p>
        </p:txBody>
      </p:sp>
      <p:graphicFrame>
        <p:nvGraphicFramePr>
          <p:cNvPr id="739" name="Google Shape;739;p60"/>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7.4 static vs.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7.5 Mixed Type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7.6 Implicit</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7.7 Explicit</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8. Bonus Topic</a:t>
                      </a:r>
                      <a:endParaRPr sz="1400" u="none" cap="none" strike="noStrike"/>
                    </a:p>
                  </a:txBody>
                  <a:tcPr marT="45725" marB="45725" marR="91450" marL="91450"/>
                </a:tc>
              </a:tr>
            </a:tbl>
          </a:graphicData>
        </a:graphic>
      </p:graphicFrame>
      <p:sp>
        <p:nvSpPr>
          <p:cNvPr id="740" name="Google Shape;740;p60"/>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741" name="Google Shape;741;p60"/>
          <p:cNvCxnSpPr/>
          <p:nvPr/>
        </p:nvCxnSpPr>
        <p:spPr>
          <a:xfrm flipH="1" rot="10800000">
            <a:off x="2772455" y="1128276"/>
            <a:ext cx="9119061" cy="76056"/>
          </a:xfrm>
          <a:prstGeom prst="straightConnector1">
            <a:avLst/>
          </a:prstGeom>
          <a:noFill/>
          <a:ln cap="flat" cmpd="sng" w="9525">
            <a:solidFill>
              <a:schemeClr val="dk1"/>
            </a:solidFill>
            <a:prstDash val="solid"/>
            <a:round/>
            <a:headEnd len="med" w="med" type="oval"/>
            <a:tailEnd len="med" w="med" type="oval"/>
          </a:ln>
        </p:spPr>
      </p:cxnSp>
      <p:sp>
        <p:nvSpPr>
          <p:cNvPr id="742" name="Google Shape;742;p60"/>
          <p:cNvSpPr/>
          <p:nvPr/>
        </p:nvSpPr>
        <p:spPr>
          <a:xfrm>
            <a:off x="2704202" y="1256271"/>
            <a:ext cx="3721536"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GB" sz="2800" u="none" cap="none" strike="noStrike">
                <a:solidFill>
                  <a:srgbClr val="FF0000"/>
                </a:solidFill>
                <a:latin typeface="Arial"/>
                <a:ea typeface="Arial"/>
                <a:cs typeface="Arial"/>
                <a:sym typeface="Arial"/>
              </a:rPr>
              <a:t>Compile Time Error</a:t>
            </a:r>
            <a:endParaRPr b="1" i="0" sz="2800" u="none" cap="none" strike="noStrike">
              <a:solidFill>
                <a:srgbClr val="FF0000"/>
              </a:solidFill>
              <a:latin typeface="Arial"/>
              <a:ea typeface="Arial"/>
              <a:cs typeface="Arial"/>
              <a:sym typeface="Arial"/>
            </a:endParaRPr>
          </a:p>
        </p:txBody>
      </p:sp>
      <p:sp>
        <p:nvSpPr>
          <p:cNvPr id="743" name="Google Shape;743;p60"/>
          <p:cNvSpPr/>
          <p:nvPr/>
        </p:nvSpPr>
        <p:spPr>
          <a:xfrm>
            <a:off x="2500219" y="1785949"/>
            <a:ext cx="5089302" cy="3385502"/>
          </a:xfrm>
          <a:prstGeom prst="rect">
            <a:avLst/>
          </a:prstGeom>
          <a:noFill/>
          <a:ln>
            <a:noFill/>
          </a:ln>
        </p:spPr>
        <p:txBody>
          <a:bodyPr anchorCtr="0" anchor="t" bIns="45700" lIns="91425" spcFirstLastPara="1" rIns="91425" wrap="square" tIns="45700">
            <a:spAutoFit/>
          </a:bodyPr>
          <a:lstStyle/>
          <a:p>
            <a:pPr indent="-285750" lvl="1" marL="486918" marR="0" rtl="0" algn="l">
              <a:lnSpc>
                <a:spcPct val="170000"/>
              </a:lnSpc>
              <a:spcBef>
                <a:spcPts val="0"/>
              </a:spcBef>
              <a:spcAft>
                <a:spcPts val="0"/>
              </a:spcAft>
              <a:buClr>
                <a:schemeClr val="dk1"/>
              </a:buClr>
              <a:buSzPts val="1800"/>
              <a:buFont typeface="Arial"/>
              <a:buChar char="•"/>
            </a:pPr>
            <a:r>
              <a:rPr b="0" i="0" lang="en-GB" sz="2000" u="none" cap="none" strike="noStrike">
                <a:solidFill>
                  <a:schemeClr val="dk1"/>
                </a:solidFill>
                <a:latin typeface="Arial"/>
                <a:ea typeface="Arial"/>
                <a:cs typeface="Arial"/>
                <a:sym typeface="Arial"/>
              </a:rPr>
              <a:t>Syntax Errors</a:t>
            </a:r>
            <a:endParaRPr b="0" i="0" sz="2000" u="none" cap="none" strike="noStrike">
              <a:solidFill>
                <a:srgbClr val="000000"/>
              </a:solidFill>
              <a:latin typeface="Arial"/>
              <a:ea typeface="Arial"/>
              <a:cs typeface="Arial"/>
              <a:sym typeface="Arial"/>
            </a:endParaRPr>
          </a:p>
          <a:p>
            <a:pPr indent="-285750" lvl="1" marL="486918" marR="0" rtl="0" algn="l">
              <a:lnSpc>
                <a:spcPct val="170000"/>
              </a:lnSpc>
              <a:spcBef>
                <a:spcPts val="400"/>
              </a:spcBef>
              <a:spcAft>
                <a:spcPts val="0"/>
              </a:spcAft>
              <a:buClr>
                <a:schemeClr val="dk1"/>
              </a:buClr>
              <a:buSzPts val="1800"/>
              <a:buFont typeface="Arial"/>
              <a:buChar char="•"/>
            </a:pPr>
            <a:r>
              <a:rPr b="0" i="0" lang="en-GB" sz="2000" u="none" cap="none" strike="noStrike">
                <a:solidFill>
                  <a:schemeClr val="dk1"/>
                </a:solidFill>
                <a:latin typeface="Arial"/>
                <a:ea typeface="Arial"/>
                <a:cs typeface="Arial"/>
                <a:sym typeface="Arial"/>
              </a:rPr>
              <a:t> Spelling, Capitalization, punctuation</a:t>
            </a:r>
            <a:endParaRPr b="0" i="0" sz="2000" u="none" cap="none" strike="noStrike">
              <a:solidFill>
                <a:srgbClr val="000000"/>
              </a:solidFill>
              <a:latin typeface="Arial"/>
              <a:ea typeface="Arial"/>
              <a:cs typeface="Arial"/>
              <a:sym typeface="Arial"/>
            </a:endParaRPr>
          </a:p>
          <a:p>
            <a:pPr indent="-285750" lvl="1" marL="486918" marR="0" rtl="0" algn="l">
              <a:lnSpc>
                <a:spcPct val="170000"/>
              </a:lnSpc>
              <a:spcBef>
                <a:spcPts val="400"/>
              </a:spcBef>
              <a:spcAft>
                <a:spcPts val="0"/>
              </a:spcAft>
              <a:buClr>
                <a:schemeClr val="dk1"/>
              </a:buClr>
              <a:buSzPts val="1800"/>
              <a:buFont typeface="Arial"/>
              <a:buChar char="•"/>
            </a:pPr>
            <a:r>
              <a:rPr b="0" i="0" lang="en-GB" sz="2000" u="none" cap="none" strike="noStrike">
                <a:solidFill>
                  <a:schemeClr val="dk1"/>
                </a:solidFill>
                <a:latin typeface="Arial"/>
                <a:ea typeface="Arial"/>
                <a:cs typeface="Arial"/>
                <a:sym typeface="Arial"/>
              </a:rPr>
              <a:t> Ordering of statements, matching of braces/parenthesis…</a:t>
            </a:r>
            <a:endParaRPr b="0" i="0" sz="2000" u="none" cap="none" strike="noStrike">
              <a:solidFill>
                <a:srgbClr val="000000"/>
              </a:solidFill>
              <a:latin typeface="Arial"/>
              <a:ea typeface="Arial"/>
              <a:cs typeface="Arial"/>
              <a:sym typeface="Arial"/>
            </a:endParaRPr>
          </a:p>
          <a:p>
            <a:pPr indent="-285750" lvl="1" marL="486918" marR="0" rtl="0" algn="l">
              <a:lnSpc>
                <a:spcPct val="170000"/>
              </a:lnSpc>
              <a:spcBef>
                <a:spcPts val="400"/>
              </a:spcBef>
              <a:spcAft>
                <a:spcPts val="0"/>
              </a:spcAft>
              <a:buClr>
                <a:schemeClr val="dk1"/>
              </a:buClr>
              <a:buSzPts val="1800"/>
              <a:buFont typeface="Arial"/>
              <a:buChar char="•"/>
            </a:pPr>
            <a:r>
              <a:rPr b="0" i="0" lang="en-GB" sz="2000" u="none" cap="none" strike="noStrike">
                <a:solidFill>
                  <a:schemeClr val="dk1"/>
                </a:solidFill>
                <a:latin typeface="Arial"/>
                <a:ea typeface="Arial"/>
                <a:cs typeface="Arial"/>
                <a:sym typeface="Arial"/>
              </a:rPr>
              <a:t>Correct first error listed, then compile again</a:t>
            </a:r>
            <a:endParaRPr b="0" i="0" sz="2000" u="none" cap="none" strike="noStrike">
              <a:solidFill>
                <a:srgbClr val="000000"/>
              </a:solidFill>
              <a:latin typeface="Arial"/>
              <a:ea typeface="Arial"/>
              <a:cs typeface="Arial"/>
              <a:sym typeface="Arial"/>
            </a:endParaRPr>
          </a:p>
        </p:txBody>
      </p:sp>
      <p:pic>
        <p:nvPicPr>
          <p:cNvPr id="744" name="Google Shape;744;p60"/>
          <p:cNvPicPr preferRelativeResize="0"/>
          <p:nvPr/>
        </p:nvPicPr>
        <p:blipFill rotWithShape="1">
          <a:blip r:embed="rId3">
            <a:alphaModFix/>
          </a:blip>
          <a:srcRect b="0" l="0" r="0" t="0"/>
          <a:stretch/>
        </p:blipFill>
        <p:spPr>
          <a:xfrm>
            <a:off x="5186136" y="1736249"/>
            <a:ext cx="6484933" cy="4381918"/>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61"/>
          <p:cNvSpPr txBox="1"/>
          <p:nvPr>
            <p:ph idx="1" type="subTitle"/>
          </p:nvPr>
        </p:nvSpPr>
        <p:spPr>
          <a:xfrm>
            <a:off x="2781351" y="332785"/>
            <a:ext cx="8676600" cy="5696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191919"/>
              </a:buClr>
              <a:buSzPts val="4000"/>
              <a:buNone/>
            </a:pPr>
            <a:r>
              <a:rPr b="1" lang="en-GB" sz="4000">
                <a:solidFill>
                  <a:srgbClr val="191919"/>
                </a:solidFill>
                <a:latin typeface="Arial"/>
                <a:ea typeface="Arial"/>
                <a:cs typeface="Arial"/>
                <a:sym typeface="Arial"/>
              </a:rPr>
              <a:t>8. Types of Errors</a:t>
            </a:r>
            <a:endParaRPr b="1" sz="4000">
              <a:solidFill>
                <a:srgbClr val="191919"/>
              </a:solidFill>
              <a:latin typeface="Arial"/>
              <a:ea typeface="Arial"/>
              <a:cs typeface="Arial"/>
              <a:sym typeface="Arial"/>
            </a:endParaRPr>
          </a:p>
        </p:txBody>
      </p:sp>
      <p:graphicFrame>
        <p:nvGraphicFramePr>
          <p:cNvPr id="750" name="Google Shape;750;p61"/>
          <p:cNvGraphicFramePr/>
          <p:nvPr/>
        </p:nvGraphicFramePr>
        <p:xfrm>
          <a:off x="-8792" y="8792"/>
          <a:ext cx="3000000" cy="3000000"/>
        </p:xfrm>
        <a:graphic>
          <a:graphicData uri="http://schemas.openxmlformats.org/drawingml/2006/table">
            <a:tbl>
              <a:tblPr>
                <a:noFill/>
                <a:tableStyleId>{218AE4FB-B2AE-4D4A-9389-941CBE000BCD}</a:tableStyleId>
              </a:tblPr>
              <a:tblGrid>
                <a:gridCol w="2505800"/>
              </a:tblGrid>
              <a:tr h="6849200">
                <a:tc>
                  <a:txBody>
                    <a:bodyPr/>
                    <a:lstStyle/>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none"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sz="1600" u="sng" cap="none" strike="noStrike">
                        <a:solidFill>
                          <a:srgbClr val="222A35"/>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600"/>
                        <a:buFont typeface="Arial"/>
                        <a:buNone/>
                      </a:pPr>
                      <a:r>
                        <a:rPr b="1" lang="en-GB" sz="1600" u="sng" cap="none" strike="noStrike">
                          <a:solidFill>
                            <a:srgbClr val="222A35"/>
                          </a:solidFill>
                          <a:latin typeface="Arial"/>
                          <a:ea typeface="Arial"/>
                          <a:cs typeface="Arial"/>
                          <a:sym typeface="Arial"/>
                        </a:rPr>
                        <a:t>Navigation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7.1 Operator Precedence</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7.2 Two Possibilities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7.3 Data Types</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7.4 static vs. dynamic typing</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7.5 Mixed Type Expression?</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7.6 Implicit</a:t>
                      </a:r>
                      <a:endParaRPr sz="1400" u="none" cap="none" strike="noStrike"/>
                    </a:p>
                    <a:p>
                      <a:pPr indent="0" lvl="0" marL="0" marR="0" rtl="0" algn="ctr">
                        <a:lnSpc>
                          <a:spcPct val="150000"/>
                        </a:lnSpc>
                        <a:spcBef>
                          <a:spcPts val="0"/>
                        </a:spcBef>
                        <a:spcAft>
                          <a:spcPts val="0"/>
                        </a:spcAft>
                        <a:buClr>
                          <a:schemeClr val="dk1"/>
                        </a:buClr>
                        <a:buSzPts val="1600"/>
                        <a:buFont typeface="Arial"/>
                        <a:buNone/>
                      </a:pPr>
                      <a:r>
                        <a:rPr b="1" lang="en-GB" sz="1600" u="none" cap="none" strike="noStrike">
                          <a:solidFill>
                            <a:schemeClr val="dk1"/>
                          </a:solidFill>
                          <a:latin typeface="Arial"/>
                          <a:ea typeface="Arial"/>
                          <a:cs typeface="Arial"/>
                          <a:sym typeface="Arial"/>
                        </a:rPr>
                        <a:t>7.7 Explicit</a:t>
                      </a:r>
                      <a:endParaRPr sz="1400" u="none" cap="none" strike="noStrike"/>
                    </a:p>
                    <a:p>
                      <a:pPr indent="0" lvl="0" marL="0" marR="0" rtl="0" algn="ctr">
                        <a:lnSpc>
                          <a:spcPct val="150000"/>
                        </a:lnSpc>
                        <a:spcBef>
                          <a:spcPts val="0"/>
                        </a:spcBef>
                        <a:spcAft>
                          <a:spcPts val="0"/>
                        </a:spcAft>
                        <a:buClr>
                          <a:srgbClr val="00B050"/>
                        </a:buClr>
                        <a:buSzPts val="1600"/>
                        <a:buFont typeface="Arial"/>
                        <a:buNone/>
                      </a:pPr>
                      <a:r>
                        <a:rPr b="1" lang="en-GB" sz="1600" u="none" cap="none" strike="noStrike">
                          <a:solidFill>
                            <a:srgbClr val="00B050"/>
                          </a:solidFill>
                          <a:latin typeface="Arial"/>
                          <a:ea typeface="Arial"/>
                          <a:cs typeface="Arial"/>
                          <a:sym typeface="Arial"/>
                        </a:rPr>
                        <a:t>8. Bonus Topic</a:t>
                      </a:r>
                      <a:endParaRPr sz="1400" u="none" cap="none" strike="noStrike"/>
                    </a:p>
                  </a:txBody>
                  <a:tcPr marT="45725" marB="45725" marR="91450" marL="91450"/>
                </a:tc>
              </a:tr>
            </a:tbl>
          </a:graphicData>
        </a:graphic>
      </p:graphicFrame>
      <p:sp>
        <p:nvSpPr>
          <p:cNvPr id="751" name="Google Shape;751;p61"/>
          <p:cNvSpPr txBox="1"/>
          <p:nvPr/>
        </p:nvSpPr>
        <p:spPr>
          <a:xfrm>
            <a:off x="6792200" y="1624803"/>
            <a:ext cx="637110" cy="47335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Playfair Display ExtraBold"/>
              <a:buNone/>
            </a:pPr>
            <a:r>
              <a:rPr b="1" i="0" lang="en-GB" sz="3000" u="none" cap="none" strike="noStrike">
                <a:solidFill>
                  <a:schemeClr val="lt1"/>
                </a:solidFill>
                <a:latin typeface="Arial"/>
                <a:ea typeface="Arial"/>
                <a:cs typeface="Arial"/>
                <a:sym typeface="Arial"/>
              </a:rPr>
              <a:t>01</a:t>
            </a:r>
            <a:endParaRPr b="1" i="0" sz="3000" u="none" cap="none" strike="noStrike">
              <a:solidFill>
                <a:schemeClr val="lt1"/>
              </a:solidFill>
              <a:latin typeface="Arial"/>
              <a:ea typeface="Arial"/>
              <a:cs typeface="Arial"/>
              <a:sym typeface="Arial"/>
            </a:endParaRPr>
          </a:p>
        </p:txBody>
      </p:sp>
      <p:cxnSp>
        <p:nvCxnSpPr>
          <p:cNvPr id="752" name="Google Shape;752;p61"/>
          <p:cNvCxnSpPr/>
          <p:nvPr/>
        </p:nvCxnSpPr>
        <p:spPr>
          <a:xfrm>
            <a:off x="2781351" y="1229378"/>
            <a:ext cx="9047660" cy="0"/>
          </a:xfrm>
          <a:prstGeom prst="straightConnector1">
            <a:avLst/>
          </a:prstGeom>
          <a:noFill/>
          <a:ln cap="flat" cmpd="sng" w="9525">
            <a:solidFill>
              <a:schemeClr val="dk1"/>
            </a:solidFill>
            <a:prstDash val="solid"/>
            <a:round/>
            <a:headEnd len="med" w="med" type="oval"/>
            <a:tailEnd len="med" w="med" type="oval"/>
          </a:ln>
        </p:spPr>
      </p:cxnSp>
      <p:sp>
        <p:nvSpPr>
          <p:cNvPr id="753" name="Google Shape;753;p61"/>
          <p:cNvSpPr/>
          <p:nvPr/>
        </p:nvSpPr>
        <p:spPr>
          <a:xfrm>
            <a:off x="2910251" y="1487887"/>
            <a:ext cx="3008073"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0" lang="en-GB" sz="2800" u="none" cap="none" strike="noStrike">
                <a:solidFill>
                  <a:srgbClr val="FF0000"/>
                </a:solidFill>
                <a:latin typeface="Arial"/>
                <a:ea typeface="Arial"/>
                <a:cs typeface="Arial"/>
                <a:sym typeface="Arial"/>
              </a:rPr>
              <a:t>Run Time Error</a:t>
            </a:r>
            <a:endParaRPr b="1" i="0" sz="2800" u="none" cap="none" strike="noStrike">
              <a:solidFill>
                <a:srgbClr val="FF0000"/>
              </a:solidFill>
              <a:latin typeface="Arial"/>
              <a:ea typeface="Arial"/>
              <a:cs typeface="Arial"/>
              <a:sym typeface="Arial"/>
            </a:endParaRPr>
          </a:p>
        </p:txBody>
      </p:sp>
      <p:sp>
        <p:nvSpPr>
          <p:cNvPr id="754" name="Google Shape;754;p61"/>
          <p:cNvSpPr/>
          <p:nvPr/>
        </p:nvSpPr>
        <p:spPr>
          <a:xfrm>
            <a:off x="2575033" y="2086468"/>
            <a:ext cx="6111767" cy="2706382"/>
          </a:xfrm>
          <a:prstGeom prst="rect">
            <a:avLst/>
          </a:prstGeom>
          <a:noFill/>
          <a:ln>
            <a:noFill/>
          </a:ln>
        </p:spPr>
        <p:txBody>
          <a:bodyPr anchorCtr="0" anchor="t" bIns="45700" lIns="91425" spcFirstLastPara="1" rIns="91425" wrap="square" tIns="45700">
            <a:spAutoFit/>
          </a:bodyPr>
          <a:lstStyle/>
          <a:p>
            <a:pPr indent="-285750" lvl="1" marL="486918" marR="0" rtl="0" algn="l">
              <a:lnSpc>
                <a:spcPct val="170000"/>
              </a:lnSpc>
              <a:spcBef>
                <a:spcPts val="0"/>
              </a:spcBef>
              <a:spcAft>
                <a:spcPts val="0"/>
              </a:spcAft>
              <a:buClr>
                <a:schemeClr val="dk1"/>
              </a:buClr>
              <a:buSzPts val="1800"/>
              <a:buFont typeface="Arial"/>
              <a:buChar char="•"/>
            </a:pPr>
            <a:r>
              <a:rPr b="0" i="0" lang="en-GB" sz="2400" u="none" cap="none" strike="noStrike">
                <a:solidFill>
                  <a:schemeClr val="dk1"/>
                </a:solidFill>
                <a:latin typeface="Arial"/>
                <a:ea typeface="Arial"/>
                <a:cs typeface="Arial"/>
                <a:sym typeface="Arial"/>
              </a:rPr>
              <a:t>Logical Errors.</a:t>
            </a:r>
            <a:endParaRPr b="0" i="0" sz="1400" u="none" cap="none" strike="noStrike">
              <a:solidFill>
                <a:srgbClr val="000000"/>
              </a:solidFill>
              <a:latin typeface="Arial"/>
              <a:ea typeface="Arial"/>
              <a:cs typeface="Arial"/>
              <a:sym typeface="Arial"/>
            </a:endParaRPr>
          </a:p>
          <a:p>
            <a:pPr indent="-285750" lvl="1" marL="486918" marR="0" rtl="0" algn="l">
              <a:lnSpc>
                <a:spcPct val="170000"/>
              </a:lnSpc>
              <a:spcBef>
                <a:spcPts val="400"/>
              </a:spcBef>
              <a:spcAft>
                <a:spcPts val="0"/>
              </a:spcAft>
              <a:buClr>
                <a:schemeClr val="dk1"/>
              </a:buClr>
              <a:buSzPts val="1800"/>
              <a:buFont typeface="Arial"/>
              <a:buChar char="•"/>
            </a:pPr>
            <a:r>
              <a:rPr b="0" i="0" lang="en-GB" sz="2400" u="none" cap="none" strike="noStrike">
                <a:solidFill>
                  <a:schemeClr val="dk1"/>
                </a:solidFill>
                <a:latin typeface="Arial"/>
                <a:ea typeface="Arial"/>
                <a:cs typeface="Arial"/>
                <a:sym typeface="Arial"/>
              </a:rPr>
              <a:t> Program runs, but produces unintended results. </a:t>
            </a:r>
            <a:endParaRPr b="0" i="0" sz="1400" u="none" cap="none" strike="noStrike">
              <a:solidFill>
                <a:srgbClr val="000000"/>
              </a:solidFill>
              <a:latin typeface="Arial"/>
              <a:ea typeface="Arial"/>
              <a:cs typeface="Arial"/>
              <a:sym typeface="Arial"/>
            </a:endParaRPr>
          </a:p>
          <a:p>
            <a:pPr indent="-285750" lvl="1" marL="486918" marR="0" rtl="0" algn="l">
              <a:lnSpc>
                <a:spcPct val="170000"/>
              </a:lnSpc>
              <a:spcBef>
                <a:spcPts val="400"/>
              </a:spcBef>
              <a:spcAft>
                <a:spcPts val="0"/>
              </a:spcAft>
              <a:buClr>
                <a:schemeClr val="dk1"/>
              </a:buClr>
              <a:buSzPts val="1800"/>
              <a:buFont typeface="Arial"/>
              <a:buChar char="•"/>
            </a:pPr>
            <a:r>
              <a:rPr b="0" i="0" lang="en-GB" sz="2400" u="none" cap="none" strike="noStrike">
                <a:solidFill>
                  <a:schemeClr val="dk1"/>
                </a:solidFill>
                <a:latin typeface="Arial"/>
                <a:ea typeface="Arial"/>
                <a:cs typeface="Arial"/>
                <a:sym typeface="Arial"/>
              </a:rPr>
              <a:t> Program may crash.</a:t>
            </a:r>
            <a:endParaRPr b="0" i="0" sz="1400" u="none" cap="none" strike="noStrike">
              <a:solidFill>
                <a:srgbClr val="000000"/>
              </a:solidFill>
              <a:latin typeface="Arial"/>
              <a:ea typeface="Arial"/>
              <a:cs typeface="Arial"/>
              <a:sym typeface="Arial"/>
            </a:endParaRPr>
          </a:p>
        </p:txBody>
      </p:sp>
      <p:pic>
        <p:nvPicPr>
          <p:cNvPr id="755" name="Google Shape;755;p61"/>
          <p:cNvPicPr preferRelativeResize="0"/>
          <p:nvPr/>
        </p:nvPicPr>
        <p:blipFill rotWithShape="1">
          <a:blip r:embed="rId3">
            <a:alphaModFix/>
          </a:blip>
          <a:srcRect b="0" l="0" r="0" t="0"/>
          <a:stretch/>
        </p:blipFill>
        <p:spPr>
          <a:xfrm>
            <a:off x="7597449" y="1556297"/>
            <a:ext cx="4049028" cy="3435539"/>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761" name="Google Shape;761;p75"/>
          <p:cNvPicPr preferRelativeResize="0"/>
          <p:nvPr/>
        </p:nvPicPr>
        <p:blipFill rotWithShape="1">
          <a:blip r:embed="rId3">
            <a:alphaModFix/>
          </a:blip>
          <a:srcRect b="0" l="0" r="0" t="0"/>
          <a:stretch/>
        </p:blipFill>
        <p:spPr>
          <a:xfrm rot="592447">
            <a:off x="1315489" y="1934293"/>
            <a:ext cx="9561022" cy="2989413"/>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pic>
        <p:nvPicPr>
          <p:cNvPr id="766" name="Google Shape;766;p62"/>
          <p:cNvPicPr preferRelativeResize="0"/>
          <p:nvPr/>
        </p:nvPicPr>
        <p:blipFill rotWithShape="1">
          <a:blip r:embed="rId3">
            <a:alphaModFix/>
          </a:blip>
          <a:srcRect b="0" l="0" r="0" t="0"/>
          <a:stretch/>
        </p:blipFill>
        <p:spPr>
          <a:xfrm>
            <a:off x="3305752" y="1580072"/>
            <a:ext cx="5591577" cy="36791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2023-02-13T14:18:17Z</dcterms:created>
  <dc:creator>Sujan Aryal</dc:creator>
</cp:coreProperties>
</file>