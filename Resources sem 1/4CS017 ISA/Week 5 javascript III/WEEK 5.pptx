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Roboto"/>
      <p:regular r:id="rId57"/>
      <p:bold r:id="rId58"/>
      <p:italic r:id="rId59"/>
      <p:boldItalic r:id="rId60"/>
    </p:embeddedFont>
    <p:embeddedFont>
      <p:font typeface="Arvo"/>
      <p:regular r:id="rId61"/>
      <p:bold r:id="rId62"/>
      <p:italic r:id="rId63"/>
      <p:boldItalic r:id="rId64"/>
    </p:embeddedFont>
    <p:embeddedFont>
      <p:font typeface="Lato Black"/>
      <p:bold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Arvo-bold.fntdata"/><Relationship Id="rId61" Type="http://schemas.openxmlformats.org/officeDocument/2006/relationships/font" Target="fonts/Arvo-regular.fntdata"/><Relationship Id="rId20" Type="http://schemas.openxmlformats.org/officeDocument/2006/relationships/slide" Target="slides/slide14.xml"/><Relationship Id="rId64" Type="http://schemas.openxmlformats.org/officeDocument/2006/relationships/font" Target="fonts/Arvo-boldItalic.fntdata"/><Relationship Id="rId63" Type="http://schemas.openxmlformats.org/officeDocument/2006/relationships/font" Target="fonts/Arvo-italic.fntdata"/><Relationship Id="rId22" Type="http://schemas.openxmlformats.org/officeDocument/2006/relationships/slide" Target="slides/slide16.xml"/><Relationship Id="rId66" Type="http://schemas.openxmlformats.org/officeDocument/2006/relationships/font" Target="fonts/LatoBlack-boldItalic.fntdata"/><Relationship Id="rId21" Type="http://schemas.openxmlformats.org/officeDocument/2006/relationships/slide" Target="slides/slide15.xml"/><Relationship Id="rId65" Type="http://schemas.openxmlformats.org/officeDocument/2006/relationships/font" Target="fonts/LatoBlack-bold.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italic.fntdata"/><Relationship Id="rId14" Type="http://schemas.openxmlformats.org/officeDocument/2006/relationships/slide" Target="slides/slide8.xml"/><Relationship Id="rId58" Type="http://schemas.openxmlformats.org/officeDocument/2006/relationships/font" Target="fonts/Roboto-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a1ff923f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1a1ff923f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1bf5a2dd5d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31bf5a2dd5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1bf5a2dd5d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1bf5a2dd5d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1bf5a2dd5d_0_19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31bf5a2dd5d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bf5a2dd5d_0_3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1bf5a2dd5d_0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1bf5a2dd5d_0_4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1bf5a2dd5d_0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bf5a2dd5d_0_4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1bf5a2dd5d_0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1bf5a2dd5d_0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1bf5a2dd5d_0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1f614a2bb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1f614a2bb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1f614a2bb6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1f614a2bb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1f614a2bb6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31f614a2bb6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1f614a2bb6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31f614a2bb6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1f614a2bb6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31f614a2bb6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1f614a2bb6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31f614a2bb6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1f614a2bb6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31f614a2bb6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1f614a2bb6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31f614a2bb6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1f614a2bb6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g31f614a2bb6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1f614a2bb6_0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31f614a2bb6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1f614a2bb6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31f614a2bb6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1f614a2bb6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1f614a2bb6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1f614a2bb6_0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31f614a2bb6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1f614a2bb6_0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31f614a2bb6_0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1f614a2bb6_0_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g31f614a2bb6_0_1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1f614a2bb6_0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31f614a2bb6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1f614a2bb6_0_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g31f614a2bb6_0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1f614a2bb6_0_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1f614a2bb6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1f614a2bb6_0_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g31f614a2bb6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1f614a2bb6_0_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1f614a2bb6_0_2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1f614a2bb6_0_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31f614a2bb6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1f614a2bb6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1f614a2bb6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1f614a2bb6_0_2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31f614a2bb6_0_2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1f614a2bb6_0_2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1f614a2bb6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1f614a2bb6_0_2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g31f614a2bb6_0_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1f614a2bb6_0_2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g31f614a2bb6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1f614a2bb6_0_2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g31f614a2bb6_0_2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1f614a2bb6_0_2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31f614a2bb6_0_2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1f614a2bb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1f614a2bb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1f614a2bb6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1f614a2bb6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1f614a2bb6_0_3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2" name="Google Shape;512;g31f614a2bb6_0_3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1f614a2bb6_0_3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g31f614a2bb6_0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1f614a2bb6_0_3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g31f614a2bb6_0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1f614a2bb6_0_3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g31f614a2bb6_0_3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1f614a2bb6_0_3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g31f614a2bb6_0_3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1f614a2bb6_0_3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4" name="Google Shape;564;g31f614a2bb6_0_3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1f614a2bb6_0_3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4" name="Google Shape;574;g31f614a2bb6_0_3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1f614a2bb6_0_3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g31f614a2bb6_0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1f614a2bb6_0_4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4" name="Google Shape;594;g31f614a2bb6_0_4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1f614a2bb6_0_4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g31f614a2bb6_0_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1f614a2bb6_0_4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g31f614a2bb6_0_4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1f614a2bb6_0_4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6" name="Google Shape;626;g31f614a2bb6_0_4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_1">
    <p:spTree>
      <p:nvGrpSpPr>
        <p:cNvPr id="50" name="Shape 50"/>
        <p:cNvGrpSpPr/>
        <p:nvPr/>
      </p:nvGrpSpPr>
      <p:grpSpPr>
        <a:xfrm>
          <a:off x="0" y="0"/>
          <a:ext cx="0" cy="0"/>
          <a:chOff x="0" y="0"/>
          <a:chExt cx="0" cy="0"/>
        </a:xfrm>
      </p:grpSpPr>
      <p:sp>
        <p:nvSpPr>
          <p:cNvPr id="51" name="Google Shape;51;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2" name="Google Shape;52;p13"/>
          <p:cNvSpPr txBox="1"/>
          <p:nvPr>
            <p:ph idx="2" type="title"/>
          </p:nvPr>
        </p:nvSpPr>
        <p:spPr>
          <a:xfrm>
            <a:off x="937625" y="2368396"/>
            <a:ext cx="21753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3" name="Google Shape;53;p13"/>
          <p:cNvSpPr txBox="1"/>
          <p:nvPr>
            <p:ph idx="1" type="subTitle"/>
          </p:nvPr>
        </p:nvSpPr>
        <p:spPr>
          <a:xfrm>
            <a:off x="937625" y="2746761"/>
            <a:ext cx="2175300" cy="124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1600"/>
              </a:spcBef>
              <a:spcAft>
                <a:spcPts val="0"/>
              </a:spcAft>
              <a:buSzPts val="1100"/>
              <a:buNone/>
              <a:defRPr sz="1100"/>
            </a:lvl3pPr>
            <a:lvl4pPr lvl="3" algn="ctr">
              <a:lnSpc>
                <a:spcPct val="100000"/>
              </a:lnSpc>
              <a:spcBef>
                <a:spcPts val="1600"/>
              </a:spcBef>
              <a:spcAft>
                <a:spcPts val="0"/>
              </a:spcAft>
              <a:buSzPts val="1100"/>
              <a:buNone/>
              <a:defRPr sz="1100"/>
            </a:lvl4pPr>
            <a:lvl5pPr lvl="4" algn="ctr">
              <a:lnSpc>
                <a:spcPct val="100000"/>
              </a:lnSpc>
              <a:spcBef>
                <a:spcPts val="1600"/>
              </a:spcBef>
              <a:spcAft>
                <a:spcPts val="0"/>
              </a:spcAft>
              <a:buSzPts val="1100"/>
              <a:buNone/>
              <a:defRPr sz="1100"/>
            </a:lvl5pPr>
            <a:lvl6pPr lvl="5" algn="ctr">
              <a:lnSpc>
                <a:spcPct val="100000"/>
              </a:lnSpc>
              <a:spcBef>
                <a:spcPts val="1600"/>
              </a:spcBef>
              <a:spcAft>
                <a:spcPts val="0"/>
              </a:spcAft>
              <a:buSzPts val="1100"/>
              <a:buNone/>
              <a:defRPr sz="1100"/>
            </a:lvl6pPr>
            <a:lvl7pPr lvl="6" algn="ctr">
              <a:lnSpc>
                <a:spcPct val="100000"/>
              </a:lnSpc>
              <a:spcBef>
                <a:spcPts val="1600"/>
              </a:spcBef>
              <a:spcAft>
                <a:spcPts val="0"/>
              </a:spcAft>
              <a:buSzPts val="1100"/>
              <a:buNone/>
              <a:defRPr sz="1100"/>
            </a:lvl7pPr>
            <a:lvl8pPr lvl="7" algn="ctr">
              <a:lnSpc>
                <a:spcPct val="100000"/>
              </a:lnSpc>
              <a:spcBef>
                <a:spcPts val="1600"/>
              </a:spcBef>
              <a:spcAft>
                <a:spcPts val="0"/>
              </a:spcAft>
              <a:buSzPts val="1100"/>
              <a:buNone/>
              <a:defRPr sz="1100"/>
            </a:lvl8pPr>
            <a:lvl9pPr lvl="8" algn="ctr">
              <a:lnSpc>
                <a:spcPct val="100000"/>
              </a:lnSpc>
              <a:spcBef>
                <a:spcPts val="1600"/>
              </a:spcBef>
              <a:spcAft>
                <a:spcPts val="1600"/>
              </a:spcAft>
              <a:buSzPts val="1100"/>
              <a:buNone/>
              <a:defRPr sz="1100"/>
            </a:lvl9pPr>
          </a:lstStyle>
          <a:p/>
        </p:txBody>
      </p:sp>
      <p:sp>
        <p:nvSpPr>
          <p:cNvPr id="54" name="Google Shape;54;p13"/>
          <p:cNvSpPr txBox="1"/>
          <p:nvPr>
            <p:ph idx="3" type="title"/>
          </p:nvPr>
        </p:nvSpPr>
        <p:spPr>
          <a:xfrm>
            <a:off x="3484346" y="2368396"/>
            <a:ext cx="21753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5" name="Google Shape;55;p13"/>
          <p:cNvSpPr txBox="1"/>
          <p:nvPr>
            <p:ph idx="4" type="subTitle"/>
          </p:nvPr>
        </p:nvSpPr>
        <p:spPr>
          <a:xfrm>
            <a:off x="3484346" y="2746761"/>
            <a:ext cx="2175300" cy="124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1600"/>
              </a:spcBef>
              <a:spcAft>
                <a:spcPts val="0"/>
              </a:spcAft>
              <a:buSzPts val="1100"/>
              <a:buNone/>
              <a:defRPr sz="1100"/>
            </a:lvl3pPr>
            <a:lvl4pPr lvl="3" algn="ctr">
              <a:lnSpc>
                <a:spcPct val="100000"/>
              </a:lnSpc>
              <a:spcBef>
                <a:spcPts val="1600"/>
              </a:spcBef>
              <a:spcAft>
                <a:spcPts val="0"/>
              </a:spcAft>
              <a:buSzPts val="1100"/>
              <a:buNone/>
              <a:defRPr sz="1100"/>
            </a:lvl4pPr>
            <a:lvl5pPr lvl="4" algn="ctr">
              <a:lnSpc>
                <a:spcPct val="100000"/>
              </a:lnSpc>
              <a:spcBef>
                <a:spcPts val="1600"/>
              </a:spcBef>
              <a:spcAft>
                <a:spcPts val="0"/>
              </a:spcAft>
              <a:buSzPts val="1100"/>
              <a:buNone/>
              <a:defRPr sz="1100"/>
            </a:lvl5pPr>
            <a:lvl6pPr lvl="5" algn="ctr">
              <a:lnSpc>
                <a:spcPct val="100000"/>
              </a:lnSpc>
              <a:spcBef>
                <a:spcPts val="1600"/>
              </a:spcBef>
              <a:spcAft>
                <a:spcPts val="0"/>
              </a:spcAft>
              <a:buSzPts val="1100"/>
              <a:buNone/>
              <a:defRPr sz="1100"/>
            </a:lvl6pPr>
            <a:lvl7pPr lvl="6" algn="ctr">
              <a:lnSpc>
                <a:spcPct val="100000"/>
              </a:lnSpc>
              <a:spcBef>
                <a:spcPts val="1600"/>
              </a:spcBef>
              <a:spcAft>
                <a:spcPts val="0"/>
              </a:spcAft>
              <a:buSzPts val="1100"/>
              <a:buNone/>
              <a:defRPr sz="1100"/>
            </a:lvl7pPr>
            <a:lvl8pPr lvl="7" algn="ctr">
              <a:lnSpc>
                <a:spcPct val="100000"/>
              </a:lnSpc>
              <a:spcBef>
                <a:spcPts val="1600"/>
              </a:spcBef>
              <a:spcAft>
                <a:spcPts val="0"/>
              </a:spcAft>
              <a:buSzPts val="1100"/>
              <a:buNone/>
              <a:defRPr sz="1100"/>
            </a:lvl8pPr>
            <a:lvl9pPr lvl="8" algn="ctr">
              <a:lnSpc>
                <a:spcPct val="100000"/>
              </a:lnSpc>
              <a:spcBef>
                <a:spcPts val="1600"/>
              </a:spcBef>
              <a:spcAft>
                <a:spcPts val="1600"/>
              </a:spcAft>
              <a:buSzPts val="1100"/>
              <a:buNone/>
              <a:defRPr sz="1100"/>
            </a:lvl9pPr>
          </a:lstStyle>
          <a:p/>
        </p:txBody>
      </p:sp>
      <p:sp>
        <p:nvSpPr>
          <p:cNvPr id="56" name="Google Shape;56;p13"/>
          <p:cNvSpPr txBox="1"/>
          <p:nvPr>
            <p:ph idx="5" type="title"/>
          </p:nvPr>
        </p:nvSpPr>
        <p:spPr>
          <a:xfrm>
            <a:off x="6031073" y="2368396"/>
            <a:ext cx="21753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7" name="Google Shape;57;p13"/>
          <p:cNvSpPr txBox="1"/>
          <p:nvPr>
            <p:ph idx="6" type="subTitle"/>
          </p:nvPr>
        </p:nvSpPr>
        <p:spPr>
          <a:xfrm>
            <a:off x="6031073" y="2746761"/>
            <a:ext cx="2175300" cy="1246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1600"/>
              </a:spcBef>
              <a:spcAft>
                <a:spcPts val="0"/>
              </a:spcAft>
              <a:buSzPts val="1100"/>
              <a:buNone/>
              <a:defRPr sz="1100"/>
            </a:lvl3pPr>
            <a:lvl4pPr lvl="3" algn="ctr">
              <a:lnSpc>
                <a:spcPct val="100000"/>
              </a:lnSpc>
              <a:spcBef>
                <a:spcPts val="1600"/>
              </a:spcBef>
              <a:spcAft>
                <a:spcPts val="0"/>
              </a:spcAft>
              <a:buSzPts val="1100"/>
              <a:buNone/>
              <a:defRPr sz="1100"/>
            </a:lvl4pPr>
            <a:lvl5pPr lvl="4" algn="ctr">
              <a:lnSpc>
                <a:spcPct val="100000"/>
              </a:lnSpc>
              <a:spcBef>
                <a:spcPts val="1600"/>
              </a:spcBef>
              <a:spcAft>
                <a:spcPts val="0"/>
              </a:spcAft>
              <a:buSzPts val="1100"/>
              <a:buNone/>
              <a:defRPr sz="1100"/>
            </a:lvl5pPr>
            <a:lvl6pPr lvl="5" algn="ctr">
              <a:lnSpc>
                <a:spcPct val="100000"/>
              </a:lnSpc>
              <a:spcBef>
                <a:spcPts val="1600"/>
              </a:spcBef>
              <a:spcAft>
                <a:spcPts val="0"/>
              </a:spcAft>
              <a:buSzPts val="1100"/>
              <a:buNone/>
              <a:defRPr sz="1100"/>
            </a:lvl6pPr>
            <a:lvl7pPr lvl="6" algn="ctr">
              <a:lnSpc>
                <a:spcPct val="100000"/>
              </a:lnSpc>
              <a:spcBef>
                <a:spcPts val="1600"/>
              </a:spcBef>
              <a:spcAft>
                <a:spcPts val="0"/>
              </a:spcAft>
              <a:buSzPts val="1100"/>
              <a:buNone/>
              <a:defRPr sz="1100"/>
            </a:lvl7pPr>
            <a:lvl8pPr lvl="7" algn="ctr">
              <a:lnSpc>
                <a:spcPct val="100000"/>
              </a:lnSpc>
              <a:spcBef>
                <a:spcPts val="1600"/>
              </a:spcBef>
              <a:spcAft>
                <a:spcPts val="0"/>
              </a:spcAft>
              <a:buSzPts val="1100"/>
              <a:buNone/>
              <a:defRPr sz="1100"/>
            </a:lvl8pPr>
            <a:lvl9pPr lvl="8" algn="ctr">
              <a:lnSpc>
                <a:spcPct val="100000"/>
              </a:lnSpc>
              <a:spcBef>
                <a:spcPts val="1600"/>
              </a:spcBef>
              <a:spcAft>
                <a:spcPts val="1600"/>
              </a:spcAft>
              <a:buSzPts val="1100"/>
              <a:buNone/>
              <a:defRPr sz="1100"/>
            </a:lvl9pPr>
          </a:lstStyle>
          <a:p/>
        </p:txBody>
      </p:sp>
      <p:sp>
        <p:nvSpPr>
          <p:cNvPr id="58" name="Google Shape;58;p13"/>
          <p:cNvSpPr txBox="1"/>
          <p:nvPr>
            <p:ph idx="7" type="title"/>
          </p:nvPr>
        </p:nvSpPr>
        <p:spPr>
          <a:xfrm>
            <a:off x="1657925" y="1774771"/>
            <a:ext cx="734700" cy="4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latin typeface="Roboto"/>
                <a:ea typeface="Roboto"/>
                <a:cs typeface="Roboto"/>
                <a:sym typeface="Roboto"/>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9" name="Google Shape;59;p13"/>
          <p:cNvSpPr txBox="1"/>
          <p:nvPr>
            <p:ph idx="8" type="title"/>
          </p:nvPr>
        </p:nvSpPr>
        <p:spPr>
          <a:xfrm>
            <a:off x="4204646" y="1774771"/>
            <a:ext cx="734700" cy="4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latin typeface="Roboto"/>
                <a:ea typeface="Roboto"/>
                <a:cs typeface="Roboto"/>
                <a:sym typeface="Roboto"/>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0" name="Google Shape;60;p13"/>
          <p:cNvSpPr txBox="1"/>
          <p:nvPr>
            <p:ph idx="9" type="title"/>
          </p:nvPr>
        </p:nvSpPr>
        <p:spPr>
          <a:xfrm>
            <a:off x="6751373" y="1774771"/>
            <a:ext cx="734700" cy="4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b="1" sz="3000">
                <a:latin typeface="Roboto"/>
                <a:ea typeface="Roboto"/>
                <a:cs typeface="Roboto"/>
                <a:sym typeface="Roboto"/>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5" name="Shape 65"/>
        <p:cNvGrpSpPr/>
        <p:nvPr/>
      </p:nvGrpSpPr>
      <p:grpSpPr>
        <a:xfrm>
          <a:off x="0" y="0"/>
          <a:ext cx="0" cy="0"/>
          <a:chOff x="0" y="0"/>
          <a:chExt cx="0" cy="0"/>
        </a:xfrm>
      </p:grpSpPr>
      <p:sp>
        <p:nvSpPr>
          <p:cNvPr id="66" name="Google Shape;66;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7" name="Google Shape;67;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8" name="Google Shape;6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9" name="Shape 69"/>
        <p:cNvGrpSpPr/>
        <p:nvPr/>
      </p:nvGrpSpPr>
      <p:grpSpPr>
        <a:xfrm>
          <a:off x="0" y="0"/>
          <a:ext cx="0" cy="0"/>
          <a:chOff x="0" y="0"/>
          <a:chExt cx="0" cy="0"/>
        </a:xfrm>
      </p:grpSpPr>
      <p:sp>
        <p:nvSpPr>
          <p:cNvPr id="70" name="Google Shape;70;p1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 name="Google Shape;71;p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72" name="Google Shape;72;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3" name="Google Shape;73;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4" name="Google Shape;74;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sp>
        <p:nvSpPr>
          <p:cNvPr id="76" name="Google Shape;76;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7" name="Google Shape;7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8" name="Shape 78"/>
        <p:cNvGrpSpPr/>
        <p:nvPr/>
      </p:nvGrpSpPr>
      <p:grpSpPr>
        <a:xfrm>
          <a:off x="0" y="0"/>
          <a:ext cx="0" cy="0"/>
          <a:chOff x="0" y="0"/>
          <a:chExt cx="0" cy="0"/>
        </a:xfrm>
      </p:grpSpPr>
      <p:sp>
        <p:nvSpPr>
          <p:cNvPr id="79" name="Google Shape;79;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0" name="Google Shape;80;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1" name="Google Shape;8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2" name="Shape 82"/>
        <p:cNvGrpSpPr/>
        <p:nvPr/>
      </p:nvGrpSpPr>
      <p:grpSpPr>
        <a:xfrm>
          <a:off x="0" y="0"/>
          <a:ext cx="0" cy="0"/>
          <a:chOff x="0" y="0"/>
          <a:chExt cx="0" cy="0"/>
        </a:xfrm>
      </p:grpSpPr>
      <p:sp>
        <p:nvSpPr>
          <p:cNvPr id="83" name="Google Shape;8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4" name="Google Shape;84;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5" name="Google Shape;85;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9" name="Google Shape;8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0" name="Shape 90"/>
        <p:cNvGrpSpPr/>
        <p:nvPr/>
      </p:nvGrpSpPr>
      <p:grpSpPr>
        <a:xfrm>
          <a:off x="0" y="0"/>
          <a:ext cx="0" cy="0"/>
          <a:chOff x="0" y="0"/>
          <a:chExt cx="0" cy="0"/>
        </a:xfrm>
      </p:grpSpPr>
      <p:sp>
        <p:nvSpPr>
          <p:cNvPr id="91" name="Google Shape;91;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2" name="Google Shape;92;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3" name="Google Shape;9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4" name="Shape 94"/>
        <p:cNvGrpSpPr/>
        <p:nvPr/>
      </p:nvGrpSpPr>
      <p:grpSpPr>
        <a:xfrm>
          <a:off x="0" y="0"/>
          <a:ext cx="0" cy="0"/>
          <a:chOff x="0" y="0"/>
          <a:chExt cx="0" cy="0"/>
        </a:xfrm>
      </p:grpSpPr>
      <p:sp>
        <p:nvSpPr>
          <p:cNvPr id="95" name="Google Shape;95;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6" name="Google Shape;9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7" name="Shape 97"/>
        <p:cNvGrpSpPr/>
        <p:nvPr/>
      </p:nvGrpSpPr>
      <p:grpSpPr>
        <a:xfrm>
          <a:off x="0" y="0"/>
          <a:ext cx="0" cy="0"/>
          <a:chOff x="0" y="0"/>
          <a:chExt cx="0" cy="0"/>
        </a:xfrm>
      </p:grpSpPr>
      <p:sp>
        <p:nvSpPr>
          <p:cNvPr id="98" name="Google Shape;98;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00" name="Google Shape;100;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1" name="Google Shape;101;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2" name="Google Shape;10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 name="Shape 103"/>
        <p:cNvGrpSpPr/>
        <p:nvPr/>
      </p:nvGrpSpPr>
      <p:grpSpPr>
        <a:xfrm>
          <a:off x="0" y="0"/>
          <a:ext cx="0" cy="0"/>
          <a:chOff x="0" y="0"/>
          <a:chExt cx="0" cy="0"/>
        </a:xfrm>
      </p:grpSpPr>
      <p:sp>
        <p:nvSpPr>
          <p:cNvPr id="104" name="Google Shape;104;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05" name="Google Shape;105;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6" name="Shape 106"/>
        <p:cNvGrpSpPr/>
        <p:nvPr/>
      </p:nvGrpSpPr>
      <p:grpSpPr>
        <a:xfrm>
          <a:off x="0" y="0"/>
          <a:ext cx="0" cy="0"/>
          <a:chOff x="0" y="0"/>
          <a:chExt cx="0" cy="0"/>
        </a:xfrm>
      </p:grpSpPr>
      <p:sp>
        <p:nvSpPr>
          <p:cNvPr id="107" name="Google Shape;107;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8" name="Google Shape;108;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9" name="Google Shape;10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0" name="Shape 110"/>
        <p:cNvGrpSpPr/>
        <p:nvPr/>
      </p:nvGrpSpPr>
      <p:grpSpPr>
        <a:xfrm>
          <a:off x="0" y="0"/>
          <a:ext cx="0" cy="0"/>
          <a:chOff x="0" y="0"/>
          <a:chExt cx="0" cy="0"/>
        </a:xfrm>
      </p:grpSpPr>
      <p:sp>
        <p:nvSpPr>
          <p:cNvPr id="111" name="Google Shape;111;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3" name="Google Shape;63;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4" name="Google Shape;6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7.png"/><Relationship Id="rId6"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4.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4.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hyperlink" Target="https://developer.mozilla.org/en-US/docs/Learn/JavaScript/Objects/JSON" TargetMode="External"/><Relationship Id="rId5" Type="http://schemas.openxmlformats.org/officeDocument/2006/relationships/hyperlink" Target="https://www.geeksforgeeks.org/working-with-apis-in-javascript/" TargetMode="External"/><Relationship Id="rId6" Type="http://schemas.openxmlformats.org/officeDocument/2006/relationships/hyperlink" Target="https://www.w3schools.com/js/js_api_intro.asp" TargetMode="External"/><Relationship Id="rId7" Type="http://schemas.openxmlformats.org/officeDocument/2006/relationships/hyperlink" Target="https://www.w3schools.com/js/js_json_intro.asp" TargetMode="External"/><Relationship Id="rId8" Type="http://schemas.openxmlformats.org/officeDocument/2006/relationships/hyperlink" Target="https://www.json.org/json-en.htm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hyperlink" Target="https://www.w3schools.com/jsref/dom_obj_event.asp/" TargetMode="External"/><Relationship Id="rId6" Type="http://schemas.openxmlformats.org/officeDocument/2006/relationships/hyperlink" Target="https://www.w3schools.com/jsref/dom_obj_all.asp/" TargetMode="External"/><Relationship Id="rId7" Type="http://schemas.openxmlformats.org/officeDocument/2006/relationships/hyperlink" Target="https://developer.mozilla.org/en-US/docs/Web/JavaScript/Reference/Global_Objects/Promise/" TargetMode="External"/><Relationship Id="rId8" Type="http://schemas.openxmlformats.org/officeDocument/2006/relationships/hyperlink" Target="https://bitsofco.de/javascript-promises-10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7"/>
          <p:cNvSpPr/>
          <p:nvPr/>
        </p:nvSpPr>
        <p:spPr>
          <a:xfrm>
            <a:off x="3142500" y="834697"/>
            <a:ext cx="2859000" cy="2759100"/>
          </a:xfrm>
          <a:prstGeom prst="ellipse">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 name="Google Shape;117;p27"/>
          <p:cNvSpPr txBox="1"/>
          <p:nvPr>
            <p:ph type="ctrTitle"/>
          </p:nvPr>
        </p:nvSpPr>
        <p:spPr>
          <a:xfrm>
            <a:off x="3142500" y="1499096"/>
            <a:ext cx="2859000" cy="1118100"/>
          </a:xfrm>
          <a:prstGeom prst="rect">
            <a:avLst/>
          </a:prstGeom>
          <a:noFill/>
          <a:ln>
            <a:noFill/>
          </a:ln>
        </p:spPr>
        <p:txBody>
          <a:bodyPr anchorCtr="0" anchor="b" bIns="91425" lIns="91425" spcFirstLastPara="1" rIns="91425" wrap="square" tIns="91425">
            <a:noAutofit/>
          </a:bodyPr>
          <a:lstStyle/>
          <a:p>
            <a:pPr indent="0" lvl="0" marL="0" rtl="0" algn="ctr">
              <a:lnSpc>
                <a:spcPct val="80000"/>
              </a:lnSpc>
              <a:spcBef>
                <a:spcPts val="0"/>
              </a:spcBef>
              <a:spcAft>
                <a:spcPts val="0"/>
              </a:spcAft>
              <a:buClr>
                <a:srgbClr val="191919"/>
              </a:buClr>
              <a:buSzPts val="5200"/>
              <a:buNone/>
            </a:pPr>
            <a:r>
              <a:rPr lang="en" sz="4800">
                <a:solidFill>
                  <a:schemeClr val="lt1"/>
                </a:solidFill>
                <a:latin typeface="Arial"/>
                <a:ea typeface="Arial"/>
                <a:cs typeface="Arial"/>
                <a:sym typeface="Arial"/>
              </a:rPr>
              <a:t>WEE</a:t>
            </a:r>
            <a:r>
              <a:rPr lang="en" sz="4800">
                <a:solidFill>
                  <a:schemeClr val="lt1"/>
                </a:solidFill>
              </a:rPr>
              <a:t>K 5</a:t>
            </a:r>
            <a:endParaRPr sz="4800">
              <a:solidFill>
                <a:schemeClr val="lt1"/>
              </a:solidFill>
            </a:endParaRPr>
          </a:p>
        </p:txBody>
      </p:sp>
      <p:grpSp>
        <p:nvGrpSpPr>
          <p:cNvPr id="118" name="Google Shape;118;p27"/>
          <p:cNvGrpSpPr/>
          <p:nvPr/>
        </p:nvGrpSpPr>
        <p:grpSpPr>
          <a:xfrm>
            <a:off x="6407875" y="359340"/>
            <a:ext cx="2582400" cy="289350"/>
            <a:chOff x="6967625" y="394825"/>
            <a:chExt cx="2582400" cy="289350"/>
          </a:xfrm>
        </p:grpSpPr>
        <p:sp>
          <p:nvSpPr>
            <p:cNvPr id="119" name="Google Shape;119;p27"/>
            <p:cNvSpPr/>
            <p:nvPr/>
          </p:nvSpPr>
          <p:spPr>
            <a:xfrm rot="-5400000">
              <a:off x="6967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0" name="Google Shape;120;p27"/>
            <p:cNvSpPr/>
            <p:nvPr/>
          </p:nvSpPr>
          <p:spPr>
            <a:xfrm rot="-5400000">
              <a:off x="6967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1" name="Google Shape;121;p27"/>
            <p:cNvSpPr/>
            <p:nvPr/>
          </p:nvSpPr>
          <p:spPr>
            <a:xfrm rot="-5400000">
              <a:off x="7158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2" name="Google Shape;122;p27"/>
            <p:cNvSpPr/>
            <p:nvPr/>
          </p:nvSpPr>
          <p:spPr>
            <a:xfrm rot="-5400000">
              <a:off x="7158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3" name="Google Shape;123;p27"/>
            <p:cNvSpPr/>
            <p:nvPr/>
          </p:nvSpPr>
          <p:spPr>
            <a:xfrm rot="-5400000">
              <a:off x="7348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4" name="Google Shape;124;p27"/>
            <p:cNvSpPr/>
            <p:nvPr/>
          </p:nvSpPr>
          <p:spPr>
            <a:xfrm rot="-5400000">
              <a:off x="7348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5" name="Google Shape;125;p27"/>
            <p:cNvSpPr/>
            <p:nvPr/>
          </p:nvSpPr>
          <p:spPr>
            <a:xfrm rot="-5400000">
              <a:off x="7539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6" name="Google Shape;126;p27"/>
            <p:cNvSpPr/>
            <p:nvPr/>
          </p:nvSpPr>
          <p:spPr>
            <a:xfrm rot="-5400000">
              <a:off x="7539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7" name="Google Shape;127;p27"/>
            <p:cNvSpPr/>
            <p:nvPr/>
          </p:nvSpPr>
          <p:spPr>
            <a:xfrm rot="-5400000">
              <a:off x="7729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8" name="Google Shape;128;p27"/>
            <p:cNvSpPr/>
            <p:nvPr/>
          </p:nvSpPr>
          <p:spPr>
            <a:xfrm rot="-5400000">
              <a:off x="7729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29" name="Google Shape;129;p27"/>
            <p:cNvSpPr/>
            <p:nvPr/>
          </p:nvSpPr>
          <p:spPr>
            <a:xfrm rot="-5400000">
              <a:off x="7920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0" name="Google Shape;130;p27"/>
            <p:cNvSpPr/>
            <p:nvPr/>
          </p:nvSpPr>
          <p:spPr>
            <a:xfrm rot="-5400000">
              <a:off x="7920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1" name="Google Shape;131;p27"/>
            <p:cNvSpPr/>
            <p:nvPr/>
          </p:nvSpPr>
          <p:spPr>
            <a:xfrm rot="-5400000">
              <a:off x="8110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2" name="Google Shape;132;p27"/>
            <p:cNvSpPr/>
            <p:nvPr/>
          </p:nvSpPr>
          <p:spPr>
            <a:xfrm rot="-5400000">
              <a:off x="8110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3" name="Google Shape;133;p27"/>
            <p:cNvSpPr/>
            <p:nvPr/>
          </p:nvSpPr>
          <p:spPr>
            <a:xfrm rot="-5400000">
              <a:off x="8301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4" name="Google Shape;134;p27"/>
            <p:cNvSpPr/>
            <p:nvPr/>
          </p:nvSpPr>
          <p:spPr>
            <a:xfrm rot="-5400000">
              <a:off x="8301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5" name="Google Shape;135;p27"/>
            <p:cNvSpPr/>
            <p:nvPr/>
          </p:nvSpPr>
          <p:spPr>
            <a:xfrm rot="-5400000">
              <a:off x="8491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6" name="Google Shape;136;p27"/>
            <p:cNvSpPr/>
            <p:nvPr/>
          </p:nvSpPr>
          <p:spPr>
            <a:xfrm rot="-5400000">
              <a:off x="8491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7" name="Google Shape;137;p27"/>
            <p:cNvSpPr/>
            <p:nvPr/>
          </p:nvSpPr>
          <p:spPr>
            <a:xfrm rot="-5400000">
              <a:off x="8682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8" name="Google Shape;138;p27"/>
            <p:cNvSpPr/>
            <p:nvPr/>
          </p:nvSpPr>
          <p:spPr>
            <a:xfrm rot="-5400000">
              <a:off x="8682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39" name="Google Shape;139;p27"/>
            <p:cNvSpPr/>
            <p:nvPr/>
          </p:nvSpPr>
          <p:spPr>
            <a:xfrm rot="-5400000">
              <a:off x="8872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40" name="Google Shape;140;p27"/>
            <p:cNvSpPr/>
            <p:nvPr/>
          </p:nvSpPr>
          <p:spPr>
            <a:xfrm rot="-5400000">
              <a:off x="8872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41" name="Google Shape;141;p27"/>
            <p:cNvSpPr/>
            <p:nvPr/>
          </p:nvSpPr>
          <p:spPr>
            <a:xfrm rot="-5400000">
              <a:off x="9063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42" name="Google Shape;142;p27"/>
            <p:cNvSpPr/>
            <p:nvPr/>
          </p:nvSpPr>
          <p:spPr>
            <a:xfrm rot="-5400000">
              <a:off x="9063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43" name="Google Shape;143;p27"/>
            <p:cNvSpPr/>
            <p:nvPr/>
          </p:nvSpPr>
          <p:spPr>
            <a:xfrm rot="-5400000">
              <a:off x="9253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44" name="Google Shape;144;p27"/>
            <p:cNvSpPr/>
            <p:nvPr/>
          </p:nvSpPr>
          <p:spPr>
            <a:xfrm rot="-5400000">
              <a:off x="9253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45" name="Google Shape;145;p27"/>
            <p:cNvSpPr/>
            <p:nvPr/>
          </p:nvSpPr>
          <p:spPr>
            <a:xfrm rot="-5400000">
              <a:off x="9444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146" name="Google Shape;146;p27"/>
            <p:cNvSpPr/>
            <p:nvPr/>
          </p:nvSpPr>
          <p:spPr>
            <a:xfrm rot="-5400000">
              <a:off x="9444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grpSp>
      <p:sp>
        <p:nvSpPr>
          <p:cNvPr id="147" name="Google Shape;147;p27"/>
          <p:cNvSpPr txBox="1"/>
          <p:nvPr>
            <p:ph type="ctrTitle"/>
          </p:nvPr>
        </p:nvSpPr>
        <p:spPr>
          <a:xfrm>
            <a:off x="814500" y="3845916"/>
            <a:ext cx="7515000" cy="1541400"/>
          </a:xfrm>
          <a:prstGeom prst="rect">
            <a:avLst/>
          </a:prstGeom>
          <a:solidFill>
            <a:srgbClr val="FFFFFF"/>
          </a:solidFill>
          <a:ln>
            <a:noFill/>
          </a:ln>
        </p:spPr>
        <p:txBody>
          <a:bodyPr anchorCtr="0" anchor="b" bIns="91425" lIns="91425" spcFirstLastPara="1" rIns="91425" wrap="square" tIns="91425">
            <a:noAutofit/>
          </a:bodyPr>
          <a:lstStyle/>
          <a:p>
            <a:pPr indent="0" lvl="0" marL="0" rtl="0" algn="ctr">
              <a:lnSpc>
                <a:spcPct val="80000"/>
              </a:lnSpc>
              <a:spcBef>
                <a:spcPts val="0"/>
              </a:spcBef>
              <a:spcAft>
                <a:spcPts val="0"/>
              </a:spcAft>
              <a:buClr>
                <a:srgbClr val="191919"/>
              </a:buClr>
              <a:buSzPts val="5200"/>
              <a:buNone/>
            </a:pPr>
            <a:br>
              <a:rPr b="1" lang="en" sz="1600">
                <a:solidFill>
                  <a:srgbClr val="EC1C24"/>
                </a:solidFill>
                <a:latin typeface="Arial"/>
                <a:ea typeface="Arial"/>
                <a:cs typeface="Arial"/>
                <a:sym typeface="Arial"/>
              </a:rPr>
            </a:br>
            <a:r>
              <a:rPr b="1" lang="en" sz="3200">
                <a:solidFill>
                  <a:srgbClr val="073763"/>
                </a:solidFill>
              </a:rPr>
              <a:t>JavaScript Basic III</a:t>
            </a:r>
            <a:br>
              <a:rPr b="1" lang="en" sz="3200">
                <a:solidFill>
                  <a:srgbClr val="073763"/>
                </a:solidFill>
                <a:latin typeface="Arial"/>
                <a:ea typeface="Arial"/>
                <a:cs typeface="Arial"/>
                <a:sym typeface="Arial"/>
              </a:rPr>
            </a:br>
            <a:br>
              <a:rPr b="1" lang="en" sz="1600">
                <a:solidFill>
                  <a:srgbClr val="EC1C24"/>
                </a:solidFill>
                <a:latin typeface="Arial"/>
                <a:ea typeface="Arial"/>
                <a:cs typeface="Arial"/>
                <a:sym typeface="Arial"/>
              </a:rPr>
            </a:br>
            <a:r>
              <a:rPr b="1" lang="en" sz="1600">
                <a:solidFill>
                  <a:srgbClr val="EC1C24"/>
                </a:solidFill>
                <a:latin typeface="Arial"/>
                <a:ea typeface="Arial"/>
                <a:cs typeface="Arial"/>
                <a:sym typeface="Arial"/>
              </a:rPr>
              <a:t>Level 4</a:t>
            </a:r>
            <a:br>
              <a:rPr b="1" lang="en" sz="1600">
                <a:solidFill>
                  <a:srgbClr val="EC1C24"/>
                </a:solidFill>
                <a:latin typeface="Arial"/>
                <a:ea typeface="Arial"/>
                <a:cs typeface="Arial"/>
                <a:sym typeface="Arial"/>
              </a:rPr>
            </a:br>
            <a:br>
              <a:rPr b="1" lang="en" sz="1600">
                <a:solidFill>
                  <a:srgbClr val="EC1C24"/>
                </a:solidFill>
                <a:latin typeface="Arial"/>
                <a:ea typeface="Arial"/>
                <a:cs typeface="Arial"/>
                <a:sym typeface="Arial"/>
              </a:rPr>
            </a:br>
            <a:r>
              <a:rPr b="1" lang="en" sz="2000">
                <a:solidFill>
                  <a:srgbClr val="EC1C24"/>
                </a:solidFill>
              </a:rPr>
              <a:t>Introduction to Internet Software Architecture</a:t>
            </a:r>
            <a:br>
              <a:rPr b="1" lang="en" sz="3000">
                <a:solidFill>
                  <a:srgbClr val="073763"/>
                </a:solidFill>
                <a:latin typeface="Arial"/>
                <a:ea typeface="Arial"/>
                <a:cs typeface="Arial"/>
                <a:sym typeface="Arial"/>
              </a:rPr>
            </a:br>
            <a:endParaRPr sz="3000">
              <a:solidFill>
                <a:srgbClr val="073763"/>
              </a:solidFill>
            </a:endParaRPr>
          </a:p>
        </p:txBody>
      </p:sp>
      <p:pic>
        <p:nvPicPr>
          <p:cNvPr id="148" name="Google Shape;148;p27"/>
          <p:cNvPicPr preferRelativeResize="0"/>
          <p:nvPr/>
        </p:nvPicPr>
        <p:blipFill rotWithShape="1">
          <a:blip r:embed="rId3">
            <a:alphaModFix/>
          </a:blip>
          <a:srcRect b="0" l="0" r="0" t="0"/>
          <a:stretch/>
        </p:blipFill>
        <p:spPr>
          <a:xfrm>
            <a:off x="579577" y="111260"/>
            <a:ext cx="2491151" cy="133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Previous week</a:t>
            </a:r>
            <a:endParaRPr sz="2100">
              <a:latin typeface="Lato Black"/>
              <a:ea typeface="Lato Black"/>
              <a:cs typeface="Lato Black"/>
              <a:sym typeface="Lato Black"/>
            </a:endParaRPr>
          </a:p>
        </p:txBody>
      </p:sp>
      <p:sp>
        <p:nvSpPr>
          <p:cNvPr id="154" name="Google Shape;154;p28"/>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fontScale="70000" lnSpcReduction="20000"/>
          </a:bodyPr>
          <a:lstStyle/>
          <a:p>
            <a:pPr indent="-219075" lvl="0" marL="254000" rtl="0" algn="l">
              <a:lnSpc>
                <a:spcPct val="150000"/>
              </a:lnSpc>
              <a:spcBef>
                <a:spcPts val="0"/>
              </a:spcBef>
              <a:spcAft>
                <a:spcPts val="0"/>
              </a:spcAft>
              <a:buClr>
                <a:schemeClr val="dk1"/>
              </a:buClr>
              <a:buSzPct val="100000"/>
              <a:buFont typeface="Arial"/>
              <a:buChar char="•"/>
            </a:pPr>
            <a:r>
              <a:rPr lang="en" sz="1500">
                <a:latin typeface="Arvo"/>
                <a:ea typeface="Arvo"/>
                <a:cs typeface="Arvo"/>
                <a:sym typeface="Arvo"/>
              </a:rPr>
              <a:t>Arrow Function</a:t>
            </a:r>
            <a:endParaRPr/>
          </a:p>
          <a:p>
            <a:pPr indent="-219075" lvl="0" marL="254000" rtl="0" algn="l">
              <a:lnSpc>
                <a:spcPct val="150000"/>
              </a:lnSpc>
              <a:spcBef>
                <a:spcPts val="800"/>
              </a:spcBef>
              <a:spcAft>
                <a:spcPts val="0"/>
              </a:spcAft>
              <a:buClr>
                <a:schemeClr val="dk1"/>
              </a:buClr>
              <a:buSzPct val="100000"/>
              <a:buFont typeface="Arial"/>
              <a:buChar char="•"/>
            </a:pPr>
            <a:r>
              <a:rPr lang="en" sz="1500">
                <a:latin typeface="Arvo"/>
                <a:ea typeface="Arvo"/>
                <a:cs typeface="Arvo"/>
                <a:sym typeface="Arvo"/>
              </a:rPr>
              <a:t>Anonymous Function</a:t>
            </a:r>
            <a:endParaRPr sz="1500">
              <a:latin typeface="Arvo"/>
              <a:ea typeface="Arvo"/>
              <a:cs typeface="Arvo"/>
              <a:sym typeface="Arvo"/>
            </a:endParaRPr>
          </a:p>
          <a:p>
            <a:pPr indent="-219075" lvl="0" marL="254000" rtl="0" algn="l">
              <a:lnSpc>
                <a:spcPct val="150000"/>
              </a:lnSpc>
              <a:spcBef>
                <a:spcPts val="800"/>
              </a:spcBef>
              <a:spcAft>
                <a:spcPts val="0"/>
              </a:spcAft>
              <a:buClr>
                <a:schemeClr val="dk1"/>
              </a:buClr>
              <a:buSzPct val="100000"/>
              <a:buFont typeface="Arial"/>
              <a:buChar char="•"/>
            </a:pPr>
            <a:r>
              <a:rPr lang="en" sz="1500">
                <a:latin typeface="Arvo"/>
                <a:ea typeface="Arvo"/>
                <a:cs typeface="Arvo"/>
                <a:sym typeface="Arvo"/>
              </a:rPr>
              <a:t>IIFE (Immediately Invoked Function Expression)</a:t>
            </a:r>
            <a:endParaRPr/>
          </a:p>
          <a:p>
            <a:pPr indent="-219075" lvl="0" marL="254000" rtl="0" algn="l">
              <a:lnSpc>
                <a:spcPct val="150000"/>
              </a:lnSpc>
              <a:spcBef>
                <a:spcPts val="800"/>
              </a:spcBef>
              <a:spcAft>
                <a:spcPts val="0"/>
              </a:spcAft>
              <a:buClr>
                <a:schemeClr val="dk1"/>
              </a:buClr>
              <a:buSzPct val="100000"/>
              <a:buFont typeface="Arial"/>
              <a:buChar char="•"/>
            </a:pPr>
            <a:r>
              <a:rPr lang="en" sz="1500">
                <a:latin typeface="Arvo"/>
                <a:ea typeface="Arvo"/>
                <a:cs typeface="Arvo"/>
                <a:sym typeface="Arvo"/>
              </a:rPr>
              <a:t>Higher Order Function</a:t>
            </a:r>
            <a:endParaRPr/>
          </a:p>
          <a:p>
            <a:pPr indent="-231140" lvl="1" marL="596900" rtl="0" algn="l">
              <a:lnSpc>
                <a:spcPct val="150000"/>
              </a:lnSpc>
              <a:spcBef>
                <a:spcPts val="400"/>
              </a:spcBef>
              <a:spcAft>
                <a:spcPts val="0"/>
              </a:spcAft>
              <a:buClr>
                <a:schemeClr val="dk1"/>
              </a:buClr>
              <a:buSzPct val="100000"/>
              <a:buFont typeface="Arial"/>
              <a:buChar char="•"/>
            </a:pPr>
            <a:r>
              <a:rPr lang="en" sz="1200">
                <a:latin typeface="Arvo"/>
                <a:ea typeface="Arvo"/>
                <a:cs typeface="Arvo"/>
                <a:sym typeface="Arvo"/>
              </a:rPr>
              <a:t>Map</a:t>
            </a:r>
            <a:endParaRPr sz="1200">
              <a:latin typeface="Arvo"/>
              <a:ea typeface="Arvo"/>
              <a:cs typeface="Arvo"/>
              <a:sym typeface="Arvo"/>
            </a:endParaRPr>
          </a:p>
          <a:p>
            <a:pPr indent="-231140" lvl="1" marL="596900" rtl="0" algn="l">
              <a:lnSpc>
                <a:spcPct val="150000"/>
              </a:lnSpc>
              <a:spcBef>
                <a:spcPts val="400"/>
              </a:spcBef>
              <a:spcAft>
                <a:spcPts val="0"/>
              </a:spcAft>
              <a:buClr>
                <a:schemeClr val="dk1"/>
              </a:buClr>
              <a:buSzPct val="100000"/>
              <a:buFont typeface="Arial"/>
              <a:buChar char="•"/>
            </a:pPr>
            <a:r>
              <a:rPr lang="en" sz="1200">
                <a:latin typeface="Arvo"/>
                <a:ea typeface="Arvo"/>
                <a:cs typeface="Arvo"/>
                <a:sym typeface="Arvo"/>
              </a:rPr>
              <a:t>Reduce</a:t>
            </a:r>
            <a:endParaRPr sz="1200">
              <a:latin typeface="Arvo"/>
              <a:ea typeface="Arvo"/>
              <a:cs typeface="Arvo"/>
              <a:sym typeface="Arvo"/>
            </a:endParaRPr>
          </a:p>
          <a:p>
            <a:pPr indent="-231140" lvl="1" marL="596900" rtl="0" algn="l">
              <a:lnSpc>
                <a:spcPct val="150000"/>
              </a:lnSpc>
              <a:spcBef>
                <a:spcPts val="400"/>
              </a:spcBef>
              <a:spcAft>
                <a:spcPts val="0"/>
              </a:spcAft>
              <a:buClr>
                <a:schemeClr val="dk1"/>
              </a:buClr>
              <a:buSzPct val="100000"/>
              <a:buFont typeface="Arial"/>
              <a:buChar char="•"/>
            </a:pPr>
            <a:r>
              <a:rPr lang="en" sz="1200">
                <a:latin typeface="Arvo"/>
                <a:ea typeface="Arvo"/>
                <a:cs typeface="Arvo"/>
                <a:sym typeface="Arvo"/>
              </a:rPr>
              <a:t>Filter</a:t>
            </a:r>
            <a:endParaRPr sz="1200">
              <a:latin typeface="Arvo"/>
              <a:ea typeface="Arvo"/>
              <a:cs typeface="Arvo"/>
              <a:sym typeface="Arvo"/>
            </a:endParaRPr>
          </a:p>
          <a:p>
            <a:pPr indent="-219075" lvl="0" marL="254000" rtl="0" algn="l">
              <a:lnSpc>
                <a:spcPct val="150000"/>
              </a:lnSpc>
              <a:spcBef>
                <a:spcPts val="800"/>
              </a:spcBef>
              <a:spcAft>
                <a:spcPts val="0"/>
              </a:spcAft>
              <a:buClr>
                <a:schemeClr val="dk1"/>
              </a:buClr>
              <a:buSzPct val="100000"/>
              <a:buFont typeface="Arial"/>
              <a:buChar char="•"/>
            </a:pPr>
            <a:r>
              <a:rPr lang="en" sz="1500">
                <a:latin typeface="Arvo"/>
                <a:ea typeface="Arvo"/>
                <a:cs typeface="Arvo"/>
                <a:sym typeface="Arvo"/>
              </a:rPr>
              <a:t>ForEach Iteration</a:t>
            </a:r>
            <a:endParaRPr sz="1500">
              <a:latin typeface="Arvo"/>
              <a:ea typeface="Arvo"/>
              <a:cs typeface="Arvo"/>
              <a:sym typeface="Arvo"/>
            </a:endParaRPr>
          </a:p>
          <a:p>
            <a:pPr indent="-219075" lvl="0" marL="254000" rtl="0" algn="l">
              <a:lnSpc>
                <a:spcPct val="150000"/>
              </a:lnSpc>
              <a:spcBef>
                <a:spcPts val="800"/>
              </a:spcBef>
              <a:spcAft>
                <a:spcPts val="0"/>
              </a:spcAft>
              <a:buSzPct val="100000"/>
              <a:buFont typeface="Arvo"/>
              <a:buChar char="•"/>
            </a:pPr>
            <a:r>
              <a:rPr lang="en" sz="1500">
                <a:latin typeface="Arvo"/>
                <a:ea typeface="Arvo"/>
                <a:cs typeface="Arvo"/>
                <a:sym typeface="Arvo"/>
              </a:rPr>
              <a:t>HTML DOM</a:t>
            </a:r>
            <a:endParaRPr sz="1500">
              <a:latin typeface="Arvo"/>
              <a:ea typeface="Arvo"/>
              <a:cs typeface="Arvo"/>
              <a:sym typeface="Arvo"/>
            </a:endParaRPr>
          </a:p>
          <a:p>
            <a:pPr indent="-219075" lvl="0" marL="254000" rtl="0" algn="l">
              <a:lnSpc>
                <a:spcPct val="150000"/>
              </a:lnSpc>
              <a:spcBef>
                <a:spcPts val="800"/>
              </a:spcBef>
              <a:spcAft>
                <a:spcPts val="0"/>
              </a:spcAft>
              <a:buSzPct val="100000"/>
              <a:buFont typeface="Arvo"/>
              <a:buChar char="•"/>
            </a:pPr>
            <a:r>
              <a:rPr lang="en" sz="1500">
                <a:latin typeface="Arvo"/>
                <a:ea typeface="Arvo"/>
                <a:cs typeface="Arvo"/>
                <a:sym typeface="Arvo"/>
              </a:rPr>
              <a:t>Virtual DOM</a:t>
            </a:r>
            <a:endParaRPr sz="1500">
              <a:latin typeface="Arvo"/>
              <a:ea typeface="Arvo"/>
              <a:cs typeface="Arvo"/>
              <a:sym typeface="Arvo"/>
            </a:endParaRPr>
          </a:p>
          <a:p>
            <a:pPr indent="-219075" lvl="0" marL="254000" rtl="0" algn="l">
              <a:lnSpc>
                <a:spcPct val="150000"/>
              </a:lnSpc>
              <a:spcBef>
                <a:spcPts val="800"/>
              </a:spcBef>
              <a:spcAft>
                <a:spcPts val="0"/>
              </a:spcAft>
              <a:buSzPct val="83333"/>
              <a:buFont typeface="Arvo"/>
              <a:buChar char="•"/>
            </a:pPr>
            <a:r>
              <a:rPr lang="en" sz="1800">
                <a:latin typeface="Arvo"/>
                <a:ea typeface="Arvo"/>
                <a:cs typeface="Arvo"/>
                <a:sym typeface="Arvo"/>
              </a:rPr>
              <a:t>JavaScript Selectors</a:t>
            </a:r>
            <a:endParaRPr sz="1800"/>
          </a:p>
          <a:p>
            <a:pPr indent="-219075" lvl="0" marL="254000" rtl="0" algn="l">
              <a:lnSpc>
                <a:spcPct val="150000"/>
              </a:lnSpc>
              <a:spcBef>
                <a:spcPts val="800"/>
              </a:spcBef>
              <a:spcAft>
                <a:spcPts val="0"/>
              </a:spcAft>
              <a:buSzPct val="83333"/>
              <a:buFont typeface="Arvo"/>
              <a:buChar char="•"/>
            </a:pPr>
            <a:r>
              <a:rPr lang="en" sz="1800">
                <a:latin typeface="Arvo"/>
                <a:ea typeface="Arvo"/>
                <a:cs typeface="Arvo"/>
                <a:sym typeface="Arvo"/>
              </a:rPr>
              <a:t>Exploring JavaScript Events and event handlers</a:t>
            </a:r>
            <a:endParaRPr sz="1500">
              <a:latin typeface="Arvo"/>
              <a:ea typeface="Arvo"/>
              <a:cs typeface="Arvo"/>
              <a:sym typeface="Arvo"/>
            </a:endParaRPr>
          </a:p>
        </p:txBody>
      </p:sp>
      <p:pic>
        <p:nvPicPr>
          <p:cNvPr id="155" name="Google Shape;155;p28"/>
          <p:cNvPicPr preferRelativeResize="0"/>
          <p:nvPr/>
        </p:nvPicPr>
        <p:blipFill rotWithShape="1">
          <a:blip r:embed="rId3">
            <a:alphaModFix/>
          </a:blip>
          <a:srcRect b="0" l="0" r="0" t="0"/>
          <a:stretch/>
        </p:blipFill>
        <p:spPr>
          <a:xfrm>
            <a:off x="6377702" y="137960"/>
            <a:ext cx="2491151" cy="1331925"/>
          </a:xfrm>
          <a:prstGeom prst="rect">
            <a:avLst/>
          </a:prstGeom>
          <a:noFill/>
          <a:ln>
            <a:noFill/>
          </a:ln>
        </p:spPr>
      </p:pic>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720000" y="203852"/>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latin typeface="Arial"/>
                <a:ea typeface="Arial"/>
                <a:cs typeface="Arial"/>
                <a:sym typeface="Arial"/>
              </a:rPr>
              <a:t>Week</a:t>
            </a:r>
            <a:r>
              <a:rPr lang="en"/>
              <a:t> 4</a:t>
            </a:r>
            <a:r>
              <a:rPr lang="en">
                <a:latin typeface="Arial"/>
                <a:ea typeface="Arial"/>
                <a:cs typeface="Arial"/>
                <a:sym typeface="Arial"/>
              </a:rPr>
              <a:t> Lecture Topic</a:t>
            </a:r>
            <a:endParaRPr>
              <a:latin typeface="Arial"/>
              <a:ea typeface="Arial"/>
              <a:cs typeface="Arial"/>
              <a:sym typeface="Arial"/>
            </a:endParaRPr>
          </a:p>
        </p:txBody>
      </p:sp>
      <p:cxnSp>
        <p:nvCxnSpPr>
          <p:cNvPr id="161" name="Google Shape;161;p29"/>
          <p:cNvCxnSpPr/>
          <p:nvPr/>
        </p:nvCxnSpPr>
        <p:spPr>
          <a:xfrm>
            <a:off x="780124" y="959283"/>
            <a:ext cx="7732800" cy="0"/>
          </a:xfrm>
          <a:prstGeom prst="straightConnector1">
            <a:avLst/>
          </a:prstGeom>
          <a:noFill/>
          <a:ln cap="flat" cmpd="sng" w="9525">
            <a:solidFill>
              <a:schemeClr val="dk1"/>
            </a:solidFill>
            <a:prstDash val="solid"/>
            <a:round/>
            <a:headEnd len="med" w="med" type="oval"/>
            <a:tailEnd len="med" w="med" type="oval"/>
          </a:ln>
        </p:spPr>
      </p:cxnSp>
      <p:sp>
        <p:nvSpPr>
          <p:cNvPr id="162" name="Google Shape;162;p29"/>
          <p:cNvSpPr txBox="1"/>
          <p:nvPr/>
        </p:nvSpPr>
        <p:spPr>
          <a:xfrm>
            <a:off x="1217527" y="1141998"/>
            <a:ext cx="6858000" cy="3451200"/>
          </a:xfrm>
          <a:prstGeom prst="rect">
            <a:avLst/>
          </a:prstGeom>
          <a:noFill/>
          <a:ln>
            <a:noFill/>
          </a:ln>
        </p:spPr>
        <p:txBody>
          <a:bodyPr anchorCtr="0" anchor="t" bIns="34275" lIns="68575" spcFirstLastPara="1" rIns="68575" wrap="square" tIns="34275">
            <a:normAutofit/>
          </a:bodyPr>
          <a:lstStyle/>
          <a:p>
            <a:pPr indent="-342900" lvl="0" marL="457200" rtl="0" algn="l">
              <a:lnSpc>
                <a:spcPct val="150000"/>
              </a:lnSpc>
              <a:spcBef>
                <a:spcPts val="800"/>
              </a:spcBef>
              <a:spcAft>
                <a:spcPts val="0"/>
              </a:spcAft>
              <a:buClr>
                <a:schemeClr val="dk2"/>
              </a:buClr>
              <a:buSzPts val="1800"/>
              <a:buFont typeface="Arvo"/>
              <a:buChar char="•"/>
            </a:pPr>
            <a:r>
              <a:rPr lang="en" sz="1800">
                <a:solidFill>
                  <a:schemeClr val="dk2"/>
                </a:solidFill>
                <a:latin typeface="Arvo"/>
                <a:ea typeface="Arvo"/>
                <a:cs typeface="Arvo"/>
                <a:sym typeface="Arvo"/>
              </a:rPr>
              <a:t>Understanding Asynchronous Scripting</a:t>
            </a:r>
            <a:endParaRPr sz="1800">
              <a:solidFill>
                <a:schemeClr val="dk2"/>
              </a:solidFill>
              <a:latin typeface="Arvo"/>
              <a:ea typeface="Arvo"/>
              <a:cs typeface="Arvo"/>
              <a:sym typeface="Arvo"/>
            </a:endParaRPr>
          </a:p>
          <a:p>
            <a:pPr indent="-342900" lvl="0" marL="457200" rtl="0" algn="l">
              <a:lnSpc>
                <a:spcPct val="150000"/>
              </a:lnSpc>
              <a:spcBef>
                <a:spcPts val="0"/>
              </a:spcBef>
              <a:spcAft>
                <a:spcPts val="0"/>
              </a:spcAft>
              <a:buClr>
                <a:schemeClr val="dk2"/>
              </a:buClr>
              <a:buSzPts val="1800"/>
              <a:buFont typeface="Arvo"/>
              <a:buChar char="•"/>
            </a:pPr>
            <a:r>
              <a:rPr lang="en" sz="1800">
                <a:solidFill>
                  <a:schemeClr val="dk2"/>
                </a:solidFill>
                <a:latin typeface="Arvo"/>
                <a:ea typeface="Arvo"/>
                <a:cs typeface="Arvo"/>
                <a:sym typeface="Arvo"/>
              </a:rPr>
              <a:t>Callback functions and Callback Hell</a:t>
            </a:r>
            <a:endParaRPr sz="1800">
              <a:solidFill>
                <a:schemeClr val="dk2"/>
              </a:solidFill>
              <a:latin typeface="Arvo"/>
              <a:ea typeface="Arvo"/>
              <a:cs typeface="Arvo"/>
              <a:sym typeface="Arvo"/>
            </a:endParaRPr>
          </a:p>
          <a:p>
            <a:pPr indent="-342900" lvl="0" marL="457200" rtl="0" algn="l">
              <a:lnSpc>
                <a:spcPct val="150000"/>
              </a:lnSpc>
              <a:spcBef>
                <a:spcPts val="0"/>
              </a:spcBef>
              <a:spcAft>
                <a:spcPts val="0"/>
              </a:spcAft>
              <a:buClr>
                <a:schemeClr val="dk2"/>
              </a:buClr>
              <a:buSzPts val="1800"/>
              <a:buFont typeface="Arvo"/>
              <a:buChar char="•"/>
            </a:pPr>
            <a:r>
              <a:rPr lang="en" sz="1800">
                <a:solidFill>
                  <a:schemeClr val="dk2"/>
                </a:solidFill>
                <a:latin typeface="Arvo"/>
                <a:ea typeface="Arvo"/>
                <a:cs typeface="Arvo"/>
                <a:sym typeface="Arvo"/>
              </a:rPr>
              <a:t>JavaScript Promises</a:t>
            </a:r>
            <a:endParaRPr sz="1800">
              <a:solidFill>
                <a:schemeClr val="dk2"/>
              </a:solidFill>
              <a:latin typeface="Arvo"/>
              <a:ea typeface="Arvo"/>
              <a:cs typeface="Arvo"/>
              <a:sym typeface="Arvo"/>
            </a:endParaRPr>
          </a:p>
          <a:p>
            <a:pPr indent="-342900" lvl="0" marL="457200" rtl="0" algn="l">
              <a:lnSpc>
                <a:spcPct val="150000"/>
              </a:lnSpc>
              <a:spcBef>
                <a:spcPts val="0"/>
              </a:spcBef>
              <a:spcAft>
                <a:spcPts val="0"/>
              </a:spcAft>
              <a:buClr>
                <a:schemeClr val="dk2"/>
              </a:buClr>
              <a:buSzPts val="1800"/>
              <a:buFont typeface="Arvo"/>
              <a:buChar char="•"/>
            </a:pPr>
            <a:r>
              <a:rPr lang="en" sz="1800">
                <a:solidFill>
                  <a:schemeClr val="dk2"/>
                </a:solidFill>
                <a:latin typeface="Arvo"/>
                <a:ea typeface="Arvo"/>
                <a:cs typeface="Arvo"/>
                <a:sym typeface="Arvo"/>
              </a:rPr>
              <a:t>Fetch Method</a:t>
            </a:r>
            <a:endParaRPr sz="1800">
              <a:solidFill>
                <a:schemeClr val="dk2"/>
              </a:solidFill>
              <a:latin typeface="Arvo"/>
              <a:ea typeface="Arvo"/>
              <a:cs typeface="Arvo"/>
              <a:sym typeface="Arvo"/>
            </a:endParaRPr>
          </a:p>
          <a:p>
            <a:pPr indent="-342900" lvl="0" marL="457200" rtl="0" algn="l">
              <a:lnSpc>
                <a:spcPct val="150000"/>
              </a:lnSpc>
              <a:spcBef>
                <a:spcPts val="0"/>
              </a:spcBef>
              <a:spcAft>
                <a:spcPts val="0"/>
              </a:spcAft>
              <a:buClr>
                <a:schemeClr val="dk2"/>
              </a:buClr>
              <a:buSzPts val="1800"/>
              <a:buFont typeface="Arvo"/>
              <a:buChar char="•"/>
            </a:pPr>
            <a:r>
              <a:rPr lang="en" sz="1800">
                <a:solidFill>
                  <a:schemeClr val="dk2"/>
                </a:solidFill>
                <a:latin typeface="Arvo"/>
                <a:ea typeface="Arvo"/>
                <a:cs typeface="Arvo"/>
                <a:sym typeface="Arvo"/>
              </a:rPr>
              <a:t>Axios</a:t>
            </a:r>
            <a:endParaRPr sz="1800">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30"/>
          <p:cNvPicPr preferRelativeResize="0"/>
          <p:nvPr/>
        </p:nvPicPr>
        <p:blipFill rotWithShape="1">
          <a:blip r:embed="rId3">
            <a:alphaModFix/>
          </a:blip>
          <a:srcRect b="0" l="0" r="0" t="0"/>
          <a:stretch/>
        </p:blipFill>
        <p:spPr>
          <a:xfrm>
            <a:off x="0" y="-762"/>
            <a:ext cx="9144000" cy="5145024"/>
          </a:xfrm>
          <a:prstGeom prst="rect">
            <a:avLst/>
          </a:prstGeom>
          <a:noFill/>
          <a:ln>
            <a:noFill/>
          </a:ln>
        </p:spPr>
      </p:pic>
      <p:sp>
        <p:nvSpPr>
          <p:cNvPr id="168" name="Google Shape;168;p30"/>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9" name="Google Shape;169;p30"/>
          <p:cNvSpPr txBox="1"/>
          <p:nvPr/>
        </p:nvSpPr>
        <p:spPr>
          <a:xfrm>
            <a:off x="506950" y="3854625"/>
            <a:ext cx="3000000" cy="7665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2100"/>
              <a:buFont typeface="Arial"/>
              <a:buNone/>
            </a:pPr>
            <a:r>
              <a:rPr b="0" i="0" lang="en" sz="2100" u="none" cap="none" strike="noStrike">
                <a:solidFill>
                  <a:schemeClr val="lt1"/>
                </a:solidFill>
                <a:latin typeface="Lato Black"/>
                <a:ea typeface="Lato Black"/>
                <a:cs typeface="Lato Black"/>
                <a:sym typeface="Lato Black"/>
              </a:rPr>
              <a:t>4. Asynchronous JavaScript…</a:t>
            </a:r>
            <a:endParaRPr b="0" i="0" sz="2100" u="none" cap="none" strike="noStrike">
              <a:solidFill>
                <a:schemeClr val="lt1"/>
              </a:solidFill>
              <a:latin typeface="Lato Black"/>
              <a:ea typeface="Lato Black"/>
              <a:cs typeface="Lato Black"/>
              <a:sym typeface="Lato Black"/>
            </a:endParaRPr>
          </a:p>
        </p:txBody>
      </p:sp>
      <p:pic>
        <p:nvPicPr>
          <p:cNvPr id="170" name="Google Shape;170;p30"/>
          <p:cNvPicPr preferRelativeResize="0"/>
          <p:nvPr/>
        </p:nvPicPr>
        <p:blipFill rotWithShape="1">
          <a:blip r:embed="rId4">
            <a:alphaModFix/>
          </a:blip>
          <a:srcRect b="0" l="0" r="0" t="0"/>
          <a:stretch/>
        </p:blipFill>
        <p:spPr>
          <a:xfrm>
            <a:off x="6377702" y="137960"/>
            <a:ext cx="2491151" cy="1331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Introduction</a:t>
            </a:r>
            <a:endParaRPr sz="2300"/>
          </a:p>
        </p:txBody>
      </p:sp>
      <p:sp>
        <p:nvSpPr>
          <p:cNvPr id="176" name="Google Shape;176;p31"/>
          <p:cNvSpPr/>
          <p:nvPr/>
        </p:nvSpPr>
        <p:spPr>
          <a:xfrm>
            <a:off x="1875599" y="1033275"/>
            <a:ext cx="6637200" cy="3905100"/>
          </a:xfrm>
          <a:prstGeom prst="rect">
            <a:avLst/>
          </a:prstGeom>
          <a:noFill/>
          <a:ln>
            <a:noFill/>
          </a:ln>
        </p:spPr>
        <p:txBody>
          <a:bodyPr anchorCtr="0" anchor="t" bIns="45700" lIns="91425" spcFirstLastPara="1" rIns="91425" wrap="square" tIns="45700">
            <a:noAutofit/>
          </a:bodyPr>
          <a:lstStyle/>
          <a:p>
            <a:pPr indent="0" lvl="0" marL="127000" marR="0" rtl="0" algn="just">
              <a:lnSpc>
                <a:spcPct val="11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77" name="Google Shape;177;p31"/>
          <p:cNvSpPr/>
          <p:nvPr/>
        </p:nvSpPr>
        <p:spPr>
          <a:xfrm>
            <a:off x="1453175" y="2457225"/>
            <a:ext cx="7728000" cy="1057200"/>
          </a:xfrm>
          <a:prstGeom prst="rect">
            <a:avLst/>
          </a:prstGeom>
          <a:noFill/>
          <a:ln>
            <a:noFill/>
          </a:ln>
        </p:spPr>
        <p:txBody>
          <a:bodyPr anchorCtr="0" anchor="t" bIns="45700" lIns="91425" spcFirstLastPara="1" rIns="91425" wrap="square" tIns="45700">
            <a:noAutofit/>
          </a:bodyPr>
          <a:lstStyle/>
          <a:p>
            <a:pPr indent="0" lvl="0" marL="457200" marR="0" rtl="0" algn="ctr">
              <a:lnSpc>
                <a:spcPct val="100000"/>
              </a:lnSpc>
              <a:spcBef>
                <a:spcPts val="0"/>
              </a:spcBef>
              <a:spcAft>
                <a:spcPts val="0"/>
              </a:spcAft>
              <a:buNone/>
            </a:pPr>
            <a:r>
              <a:rPr b="1" lang="en" sz="5400"/>
              <a:t>JavaScript Basics III</a:t>
            </a:r>
            <a:endParaRPr b="0" i="0" sz="5200" u="none" cap="none" strike="noStrike">
              <a:solidFill>
                <a:srgbClr val="EC1C24"/>
              </a:solidFill>
              <a:latin typeface="Times New Roman"/>
              <a:ea typeface="Times New Roman"/>
              <a:cs typeface="Times New Roman"/>
              <a:sym typeface="Times New Roman"/>
            </a:endParaRPr>
          </a:p>
        </p:txBody>
      </p:sp>
      <p:sp>
        <p:nvSpPr>
          <p:cNvPr id="178" name="Google Shape;178;p31"/>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1</a:t>
            </a:r>
            <a:r>
              <a:rPr b="1" lang="en" sz="1000">
                <a:solidFill>
                  <a:schemeClr val="dk1"/>
                </a:solidFill>
              </a:rPr>
              <a:t>. Asynchronous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7.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79" name="Google Shape;179;p31"/>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80" name="Google Shape;180;p31"/>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81" name="Google Shape;181;p31"/>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Asynchronous</a:t>
            </a:r>
            <a:endParaRPr sz="2300"/>
          </a:p>
        </p:txBody>
      </p:sp>
      <p:sp>
        <p:nvSpPr>
          <p:cNvPr id="187" name="Google Shape;187;p32"/>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1</a:t>
            </a:r>
            <a:r>
              <a:rPr b="1" lang="en" sz="1000">
                <a:solidFill>
                  <a:schemeClr val="dk1"/>
                </a:solidFill>
              </a:rPr>
              <a:t>. Asynchronous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b="1"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88" name="Google Shape;188;p32"/>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89" name="Google Shape;189;p32"/>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190" name="Google Shape;190;p32"/>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191" name="Google Shape;191;p32"/>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fontScale="85000" lnSpcReduction="20000"/>
          </a:bodyPr>
          <a:lstStyle/>
          <a:p>
            <a:pPr indent="-249555" lvl="0" marL="254000" rtl="0" algn="l">
              <a:lnSpc>
                <a:spcPct val="150000"/>
              </a:lnSpc>
              <a:spcBef>
                <a:spcPts val="0"/>
              </a:spcBef>
              <a:spcAft>
                <a:spcPts val="0"/>
              </a:spcAft>
              <a:buClr>
                <a:schemeClr val="dk1"/>
              </a:buClr>
              <a:buSzPct val="100000"/>
              <a:buChar char="•"/>
            </a:pPr>
            <a:r>
              <a:rPr lang="en" sz="1800">
                <a:solidFill>
                  <a:schemeClr val="dk2"/>
                </a:solidFill>
              </a:rPr>
              <a:t>JavaScript is a single-threaded programming language, which means only one thing can happen at a time.</a:t>
            </a:r>
            <a:endParaRPr sz="1800">
              <a:solidFill>
                <a:schemeClr val="dk2"/>
              </a:solidFill>
            </a:endParaRPr>
          </a:p>
          <a:p>
            <a:pPr indent="-249555" lvl="0" marL="254000" rtl="0" algn="l">
              <a:lnSpc>
                <a:spcPct val="150000"/>
              </a:lnSpc>
              <a:spcBef>
                <a:spcPts val="800"/>
              </a:spcBef>
              <a:spcAft>
                <a:spcPts val="0"/>
              </a:spcAft>
              <a:buClr>
                <a:schemeClr val="dk1"/>
              </a:buClr>
              <a:buSzPct val="100000"/>
              <a:buChar char="•"/>
            </a:pPr>
            <a:r>
              <a:rPr lang="en" sz="1800">
                <a:solidFill>
                  <a:schemeClr val="dk2"/>
                </a:solidFill>
              </a:rPr>
              <a:t>JavaScript engine can only process one statement at a time in a single thread.</a:t>
            </a:r>
            <a:endParaRPr sz="1800">
              <a:solidFill>
                <a:schemeClr val="dk2"/>
              </a:solidFill>
            </a:endParaRPr>
          </a:p>
          <a:p>
            <a:pPr indent="-249555" lvl="0" marL="254000" rtl="0" algn="l">
              <a:lnSpc>
                <a:spcPct val="150000"/>
              </a:lnSpc>
              <a:spcBef>
                <a:spcPts val="800"/>
              </a:spcBef>
              <a:spcAft>
                <a:spcPts val="0"/>
              </a:spcAft>
              <a:buClr>
                <a:schemeClr val="dk1"/>
              </a:buClr>
              <a:buSzPct val="100000"/>
              <a:buChar char="•"/>
            </a:pPr>
            <a:r>
              <a:rPr lang="en" sz="1800">
                <a:solidFill>
                  <a:schemeClr val="dk2"/>
                </a:solidFill>
              </a:rPr>
              <a:t>While single-threaded languages simplify writing codes because you don’t have to worry about the concurrency issues, this also means you cannot perform long operations such as network access without blocking the main thread.</a:t>
            </a:r>
            <a:endParaRPr sz="1800">
              <a:solidFill>
                <a:schemeClr val="dk2"/>
              </a:solidFill>
            </a:endParaRPr>
          </a:p>
          <a:p>
            <a:pPr indent="-249555" lvl="0" marL="254000" rtl="0" algn="l">
              <a:lnSpc>
                <a:spcPct val="150000"/>
              </a:lnSpc>
              <a:spcBef>
                <a:spcPts val="800"/>
              </a:spcBef>
              <a:spcAft>
                <a:spcPts val="0"/>
              </a:spcAft>
              <a:buClr>
                <a:schemeClr val="dk1"/>
              </a:buClr>
              <a:buSzPct val="100000"/>
              <a:buChar char="•"/>
            </a:pPr>
            <a:r>
              <a:rPr lang="en" sz="1800">
                <a:solidFill>
                  <a:schemeClr val="dk2"/>
                </a:solidFill>
              </a:rPr>
              <a:t>A good example of this happening is the window alert function </a:t>
            </a:r>
            <a:r>
              <a:rPr b="1" lang="en" sz="1800">
                <a:solidFill>
                  <a:schemeClr val="dk2"/>
                </a:solidFill>
              </a:rPr>
              <a:t>alert("Hello World")</a:t>
            </a:r>
            <a:endParaRPr b="1"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Asynchronous</a:t>
            </a:r>
            <a:endParaRPr sz="2300"/>
          </a:p>
        </p:txBody>
      </p:sp>
      <p:sp>
        <p:nvSpPr>
          <p:cNvPr id="197" name="Google Shape;197;p33"/>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1</a:t>
            </a:r>
            <a:r>
              <a:rPr b="1" lang="en" sz="1000">
                <a:solidFill>
                  <a:schemeClr val="dk1"/>
                </a:solidFill>
              </a:rPr>
              <a:t>. Asynchronous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b="1"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198" name="Google Shape;198;p33"/>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199" name="Google Shape;199;p33"/>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00" name="Google Shape;200;p33"/>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01" name="Google Shape;201;p33"/>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a:bodyPr>
          <a:lstStyle/>
          <a:p>
            <a:pPr indent="-4381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Using Asynchronous JavaScript (AJAX, Callback, Promises, async-await), you can perform long network requests without blocking the main thread. </a:t>
            </a:r>
            <a:endParaRPr sz="2800">
              <a:solidFill>
                <a:schemeClr val="dk2"/>
              </a:solidFill>
            </a:endParaRPr>
          </a:p>
          <a:p>
            <a:pPr indent="-4381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Let's take an example of a synchronous programming in JavaScript:</a:t>
            </a:r>
            <a:endParaRPr sz="1800">
              <a:solidFill>
                <a:schemeClr val="dk2"/>
              </a:solidFill>
            </a:endParaRPr>
          </a:p>
        </p:txBody>
      </p:sp>
      <p:pic>
        <p:nvPicPr>
          <p:cNvPr id="202" name="Google Shape;202;p33"/>
          <p:cNvPicPr preferRelativeResize="0"/>
          <p:nvPr/>
        </p:nvPicPr>
        <p:blipFill rotWithShape="1">
          <a:blip r:embed="rId5">
            <a:alphaModFix/>
          </a:blip>
          <a:srcRect b="0" l="0" r="0" t="0"/>
          <a:stretch/>
        </p:blipFill>
        <p:spPr>
          <a:xfrm>
            <a:off x="3590710" y="2941678"/>
            <a:ext cx="3354898" cy="20860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Asynchronous</a:t>
            </a:r>
            <a:endParaRPr sz="2300"/>
          </a:p>
        </p:txBody>
      </p:sp>
      <p:sp>
        <p:nvSpPr>
          <p:cNvPr id="208" name="Google Shape;208;p34"/>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1</a:t>
            </a:r>
            <a:r>
              <a:rPr b="1" lang="en" sz="1000">
                <a:solidFill>
                  <a:schemeClr val="dk1"/>
                </a:solidFill>
              </a:rPr>
              <a:t>. Asynchronous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b="1"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09" name="Google Shape;209;p34"/>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10" name="Google Shape;210;p34"/>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11" name="Google Shape;211;p34"/>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12" name="Google Shape;212;p34"/>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fontScale="92500" lnSpcReduction="20000"/>
          </a:bodyPr>
          <a:lstStyle/>
          <a:p>
            <a:pPr indent="-258127" lvl="0" marL="254000" rtl="0" algn="l">
              <a:lnSpc>
                <a:spcPct val="150000"/>
              </a:lnSpc>
              <a:spcBef>
                <a:spcPts val="0"/>
              </a:spcBef>
              <a:spcAft>
                <a:spcPts val="0"/>
              </a:spcAft>
              <a:buClr>
                <a:schemeClr val="dk1"/>
              </a:buClr>
              <a:buSzPct val="100000"/>
              <a:buChar char="•"/>
            </a:pPr>
            <a:r>
              <a:rPr lang="en" sz="1800">
                <a:solidFill>
                  <a:schemeClr val="dk2"/>
                </a:solidFill>
              </a:rPr>
              <a:t>From the above example, the console will log, “Hi There!”,  “Hello There!” and “The End!” sequentially.</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As you can see, JavaScript logs the later statements only after the above statement is completed.</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Now, let's take a look at how a basic asynchronous programming works.</a:t>
            </a:r>
            <a:endParaRPr sz="1800">
              <a:solidFill>
                <a:schemeClr val="dk2"/>
              </a:solidFill>
            </a:endParaRPr>
          </a:p>
          <a:p>
            <a:pPr indent="-258127" lvl="0" marL="254000" rtl="0" algn="l">
              <a:lnSpc>
                <a:spcPct val="150000"/>
              </a:lnSpc>
              <a:spcBef>
                <a:spcPts val="800"/>
              </a:spcBef>
              <a:spcAft>
                <a:spcPts val="0"/>
              </a:spcAft>
              <a:buClr>
                <a:schemeClr val="dk1"/>
              </a:buClr>
              <a:buSzPct val="100000"/>
              <a:buChar char="•"/>
            </a:pPr>
            <a:r>
              <a:rPr lang="en" sz="1800">
                <a:solidFill>
                  <a:schemeClr val="dk2"/>
                </a:solidFill>
              </a:rPr>
              <a:t>We will use a </a:t>
            </a:r>
            <a:r>
              <a:rPr b="1" lang="en" sz="1800">
                <a:solidFill>
                  <a:schemeClr val="dk2"/>
                </a:solidFill>
              </a:rPr>
              <a:t>setTimeout() </a:t>
            </a:r>
            <a:r>
              <a:rPr lang="en" sz="1800">
                <a:solidFill>
                  <a:schemeClr val="dk2"/>
                </a:solidFill>
              </a:rPr>
              <a:t>function to achieve that. Remember this function is not a JavaScript function but rather a Web API (browser-function).</a:t>
            </a:r>
            <a:endParaRPr b="1"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Asynchronous</a:t>
            </a:r>
            <a:endParaRPr sz="2300"/>
          </a:p>
        </p:txBody>
      </p:sp>
      <p:sp>
        <p:nvSpPr>
          <p:cNvPr id="218" name="Google Shape;218;p35"/>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1</a:t>
            </a:r>
            <a:r>
              <a:rPr b="1" lang="en" sz="1000">
                <a:solidFill>
                  <a:schemeClr val="dk1"/>
                </a:solidFill>
              </a:rPr>
              <a:t>. Asynchronous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b="1"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19" name="Google Shape;219;p35"/>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20" name="Google Shape;220;p35"/>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21" name="Google Shape;221;p35"/>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22" name="Google Shape;222;p35"/>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fontScale="92500" lnSpcReduction="10000"/>
          </a:bodyPr>
          <a:lstStyle/>
          <a:p>
            <a:pPr indent="-152400" lvl="0" marL="254000" rtl="0" algn="l">
              <a:lnSpc>
                <a:spcPct val="150000"/>
              </a:lnSpc>
              <a:spcBef>
                <a:spcPts val="0"/>
              </a:spcBef>
              <a:spcAft>
                <a:spcPts val="0"/>
              </a:spcAft>
              <a:buNone/>
            </a:pPr>
            <a:r>
              <a:t/>
            </a:r>
            <a:endParaRPr sz="1500">
              <a:solidFill>
                <a:schemeClr val="dk2"/>
              </a:solidFill>
              <a:latin typeface="Arvo"/>
              <a:ea typeface="Arvo"/>
              <a:cs typeface="Arvo"/>
              <a:sym typeface="Arvo"/>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152400" lvl="0" marL="254000" rtl="0" algn="l">
              <a:lnSpc>
                <a:spcPct val="150000"/>
              </a:lnSpc>
              <a:spcBef>
                <a:spcPts val="800"/>
              </a:spcBef>
              <a:spcAft>
                <a:spcPts val="0"/>
              </a:spcAft>
              <a:buNone/>
            </a:pPr>
            <a:r>
              <a:t/>
            </a:r>
            <a:endParaRPr sz="1500">
              <a:solidFill>
                <a:schemeClr val="dk2"/>
              </a:solidFill>
              <a:latin typeface="Arvo"/>
              <a:ea typeface="Arvo"/>
              <a:cs typeface="Arvo"/>
              <a:sym typeface="Arvo"/>
            </a:endParaRPr>
          </a:p>
          <a:p>
            <a:pPr indent="-240506" lvl="0" marL="254000" rtl="0" algn="l">
              <a:lnSpc>
                <a:spcPct val="150000"/>
              </a:lnSpc>
              <a:spcBef>
                <a:spcPts val="800"/>
              </a:spcBef>
              <a:spcAft>
                <a:spcPts val="0"/>
              </a:spcAft>
              <a:buClr>
                <a:schemeClr val="dk1"/>
              </a:buClr>
              <a:buSzPct val="100000"/>
              <a:buChar char="•"/>
            </a:pPr>
            <a:r>
              <a:rPr lang="en" sz="1500">
                <a:solidFill>
                  <a:schemeClr val="dk2"/>
                </a:solidFill>
                <a:latin typeface="Arvo"/>
                <a:ea typeface="Arvo"/>
                <a:cs typeface="Arvo"/>
                <a:sym typeface="Arvo"/>
              </a:rPr>
              <a:t>Now, if you try this code in your browser, this will log “Hi There!”, “The End!” and then wait 2 seconds to log “Hello There!”.</a:t>
            </a:r>
            <a:endParaRPr sz="2800">
              <a:solidFill>
                <a:schemeClr val="dk2"/>
              </a:solidFill>
            </a:endParaRPr>
          </a:p>
          <a:p>
            <a:pPr indent="-240506" lvl="0" marL="254000" rtl="0" algn="l">
              <a:lnSpc>
                <a:spcPct val="150000"/>
              </a:lnSpc>
              <a:spcBef>
                <a:spcPts val="800"/>
              </a:spcBef>
              <a:spcAft>
                <a:spcPts val="0"/>
              </a:spcAft>
              <a:buClr>
                <a:schemeClr val="dk1"/>
              </a:buClr>
              <a:buSzPct val="100000"/>
              <a:buChar char="•"/>
            </a:pPr>
            <a:r>
              <a:rPr lang="en" sz="1500">
                <a:solidFill>
                  <a:schemeClr val="dk2"/>
                </a:solidFill>
                <a:latin typeface="Arvo"/>
                <a:ea typeface="Arvo"/>
                <a:cs typeface="Arvo"/>
                <a:sym typeface="Arvo"/>
              </a:rPr>
              <a:t>This way the code worked on two different thread without blocking the main thread.</a:t>
            </a:r>
            <a:endParaRPr sz="1800">
              <a:solidFill>
                <a:schemeClr val="dk2"/>
              </a:solidFill>
            </a:endParaRPr>
          </a:p>
        </p:txBody>
      </p:sp>
      <p:pic>
        <p:nvPicPr>
          <p:cNvPr id="223" name="Google Shape;223;p35"/>
          <p:cNvPicPr preferRelativeResize="0"/>
          <p:nvPr/>
        </p:nvPicPr>
        <p:blipFill rotWithShape="1">
          <a:blip r:embed="rId5">
            <a:alphaModFix/>
          </a:blip>
          <a:srcRect b="0" l="0" r="0" t="0"/>
          <a:stretch/>
        </p:blipFill>
        <p:spPr>
          <a:xfrm>
            <a:off x="2426701" y="1146788"/>
            <a:ext cx="2490256" cy="20703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Asynchronous</a:t>
            </a:r>
            <a:endParaRPr sz="2300"/>
          </a:p>
        </p:txBody>
      </p:sp>
      <p:sp>
        <p:nvSpPr>
          <p:cNvPr id="229" name="Google Shape;229;p36"/>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900">
                <a:solidFill>
                  <a:schemeClr val="dk1"/>
                </a:solidFill>
              </a:rPr>
              <a:t>1</a:t>
            </a:r>
            <a:r>
              <a:rPr b="1" lang="en" sz="1000">
                <a:solidFill>
                  <a:schemeClr val="dk1"/>
                </a:solidFill>
              </a:rPr>
              <a:t>. Asynchronous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b="1"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30" name="Google Shape;230;p36"/>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31" name="Google Shape;231;p36"/>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32" name="Google Shape;232;p36"/>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33" name="Google Shape;233;p36"/>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a:bodyPr>
          <a:lstStyle/>
          <a:p>
            <a:pPr indent="-4381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Although </a:t>
            </a:r>
            <a:r>
              <a:rPr b="1" lang="en" sz="1500">
                <a:solidFill>
                  <a:schemeClr val="dk2"/>
                </a:solidFill>
                <a:latin typeface="Arvo"/>
                <a:ea typeface="Arvo"/>
                <a:cs typeface="Arvo"/>
                <a:sym typeface="Arvo"/>
              </a:rPr>
              <a:t>setTimeout() </a:t>
            </a:r>
            <a:r>
              <a:rPr lang="en" sz="1500">
                <a:solidFill>
                  <a:schemeClr val="dk2"/>
                </a:solidFill>
                <a:latin typeface="Arvo"/>
                <a:ea typeface="Arvo"/>
                <a:cs typeface="Arvo"/>
                <a:sym typeface="Arvo"/>
              </a:rPr>
              <a:t>is not the best way to achieve all asynchronous programming, but is enough to help you understand how asynchronous JavaScript works.</a:t>
            </a:r>
            <a:endParaRPr sz="2800">
              <a:solidFill>
                <a:schemeClr val="dk2"/>
              </a:solidFill>
            </a:endParaRPr>
          </a:p>
          <a:p>
            <a:pPr indent="-4381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We will now move more into the asynchronous JavaScript. Lets have a look at </a:t>
            </a:r>
            <a:r>
              <a:rPr b="1" lang="en" sz="1500">
                <a:solidFill>
                  <a:schemeClr val="dk2"/>
                </a:solidFill>
                <a:latin typeface="Arvo"/>
                <a:ea typeface="Arvo"/>
                <a:cs typeface="Arvo"/>
                <a:sym typeface="Arvo"/>
              </a:rPr>
              <a:t>Ajax</a:t>
            </a:r>
            <a:r>
              <a:rPr lang="en" sz="1500">
                <a:solidFill>
                  <a:schemeClr val="dk2"/>
                </a:solidFill>
                <a:latin typeface="Arvo"/>
                <a:ea typeface="Arvo"/>
                <a:cs typeface="Arvo"/>
                <a:sym typeface="Arvo"/>
              </a:rPr>
              <a:t>, </a:t>
            </a:r>
            <a:r>
              <a:rPr b="1" lang="en" sz="1500">
                <a:solidFill>
                  <a:schemeClr val="dk2"/>
                </a:solidFill>
                <a:latin typeface="Arvo"/>
                <a:ea typeface="Arvo"/>
                <a:cs typeface="Arvo"/>
                <a:sym typeface="Arvo"/>
              </a:rPr>
              <a:t>Callback functions</a:t>
            </a:r>
            <a:r>
              <a:rPr lang="en" sz="1500">
                <a:solidFill>
                  <a:schemeClr val="dk2"/>
                </a:solidFill>
                <a:latin typeface="Arvo"/>
                <a:ea typeface="Arvo"/>
                <a:cs typeface="Arvo"/>
                <a:sym typeface="Arvo"/>
              </a:rPr>
              <a:t> and </a:t>
            </a:r>
            <a:r>
              <a:rPr b="1" lang="en" sz="1500">
                <a:solidFill>
                  <a:schemeClr val="dk2"/>
                </a:solidFill>
                <a:latin typeface="Arvo"/>
                <a:ea typeface="Arvo"/>
                <a:cs typeface="Arvo"/>
                <a:sym typeface="Arvo"/>
              </a:rPr>
              <a:t>Promises</a:t>
            </a:r>
            <a:r>
              <a:rPr lang="en" sz="1500">
                <a:solidFill>
                  <a:schemeClr val="dk2"/>
                </a:solidFill>
                <a:latin typeface="Arvo"/>
                <a:ea typeface="Arvo"/>
                <a:cs typeface="Arvo"/>
                <a:sym typeface="Arvo"/>
              </a:rPr>
              <a:t>.</a:t>
            </a:r>
            <a:endParaRPr sz="1500">
              <a:solidFill>
                <a:schemeClr val="dk2"/>
              </a:solidFill>
              <a:latin typeface="Arvo"/>
              <a:ea typeface="Arvo"/>
              <a:cs typeface="Arvo"/>
              <a:sym typeface="Arv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a:t>
            </a:r>
            <a:endParaRPr sz="2300"/>
          </a:p>
        </p:txBody>
      </p:sp>
      <p:sp>
        <p:nvSpPr>
          <p:cNvPr id="239" name="Google Shape;239;p37"/>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40" name="Google Shape;240;p37"/>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41" name="Google Shape;241;p37"/>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42" name="Google Shape;242;p37"/>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43" name="Google Shape;243;p37"/>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lnSpcReduction="10000"/>
          </a:bodyPr>
          <a:lstStyle/>
          <a:p>
            <a:pPr indent="-4381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A callback function is a function that is passed as an argument to another function, to be “called back” at a later time.</a:t>
            </a:r>
            <a:endParaRPr sz="2800">
              <a:solidFill>
                <a:schemeClr val="dk2"/>
              </a:solidFill>
            </a:endParaRPr>
          </a:p>
          <a:p>
            <a:pPr indent="-4381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A callback function can either be a general function or an anonymous function.</a:t>
            </a:r>
            <a:endParaRPr sz="1500">
              <a:solidFill>
                <a:schemeClr val="dk2"/>
              </a:solidFill>
              <a:latin typeface="Arvo"/>
              <a:ea typeface="Arvo"/>
              <a:cs typeface="Arvo"/>
              <a:sym typeface="Arvo"/>
            </a:endParaRPr>
          </a:p>
          <a:p>
            <a:pPr indent="-4381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Callback functions are great way to </a:t>
            </a:r>
            <a:r>
              <a:rPr b="1" lang="en" sz="1500">
                <a:solidFill>
                  <a:schemeClr val="dk2"/>
                </a:solidFill>
                <a:latin typeface="Arvo"/>
                <a:ea typeface="Arvo"/>
                <a:cs typeface="Arvo"/>
                <a:sym typeface="Arvo"/>
              </a:rPr>
              <a:t>handle something</a:t>
            </a:r>
            <a:r>
              <a:rPr lang="en" sz="1500">
                <a:solidFill>
                  <a:schemeClr val="dk2"/>
                </a:solidFill>
                <a:latin typeface="Arvo"/>
                <a:ea typeface="Arvo"/>
                <a:cs typeface="Arvo"/>
                <a:sym typeface="Arvo"/>
              </a:rPr>
              <a:t> after </a:t>
            </a:r>
            <a:r>
              <a:rPr b="1" lang="en" sz="1500">
                <a:solidFill>
                  <a:schemeClr val="dk2"/>
                </a:solidFill>
                <a:latin typeface="Arvo"/>
                <a:ea typeface="Arvo"/>
                <a:cs typeface="Arvo"/>
                <a:sym typeface="Arvo"/>
              </a:rPr>
              <a:t>something else </a:t>
            </a:r>
            <a:r>
              <a:rPr lang="en" sz="1500">
                <a:solidFill>
                  <a:schemeClr val="dk2"/>
                </a:solidFill>
                <a:latin typeface="Arvo"/>
                <a:ea typeface="Arvo"/>
                <a:cs typeface="Arvo"/>
                <a:sym typeface="Arvo"/>
              </a:rPr>
              <a:t>has been completed. By something here we mean a </a:t>
            </a:r>
            <a:r>
              <a:rPr b="1" lang="en" sz="1500">
                <a:solidFill>
                  <a:schemeClr val="dk2"/>
                </a:solidFill>
                <a:latin typeface="Arvo"/>
                <a:ea typeface="Arvo"/>
                <a:cs typeface="Arvo"/>
                <a:sym typeface="Arvo"/>
              </a:rPr>
              <a:t>function execution</a:t>
            </a:r>
            <a:r>
              <a:rPr lang="en" sz="1500">
                <a:solidFill>
                  <a:schemeClr val="dk2"/>
                </a:solidFill>
                <a:latin typeface="Arvo"/>
                <a:ea typeface="Arvo"/>
                <a:cs typeface="Arvo"/>
                <a:sym typeface="Arvo"/>
              </a:rPr>
              <a:t>.</a:t>
            </a:r>
            <a:endParaRPr sz="2800">
              <a:solidFill>
                <a:schemeClr val="dk2"/>
              </a:solidFill>
            </a:endParaRPr>
          </a:p>
          <a:p>
            <a:pPr indent="-4381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If we want to execute a function right after the return of some other function, then callback can be used.</a:t>
            </a:r>
            <a:endParaRPr sz="1500">
              <a:solidFill>
                <a:schemeClr val="dk2"/>
              </a:solidFill>
              <a:latin typeface="Arvo"/>
              <a:ea typeface="Arvo"/>
              <a:cs typeface="Arvo"/>
              <a:sym typeface="Arv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8"/>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a:t>
            </a:r>
            <a:endParaRPr sz="2300"/>
          </a:p>
        </p:txBody>
      </p:sp>
      <p:sp>
        <p:nvSpPr>
          <p:cNvPr id="249" name="Google Shape;249;p38"/>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50" name="Google Shape;250;p38"/>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51" name="Google Shape;251;p38"/>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52" name="Google Shape;252;p38"/>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53" name="Google Shape;253;p38"/>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800"/>
              </a:spcBef>
              <a:spcAft>
                <a:spcPts val="0"/>
              </a:spcAft>
              <a:buNone/>
            </a:pPr>
            <a:r>
              <a:rPr b="1" lang="en" sz="1200">
                <a:solidFill>
                  <a:schemeClr val="dk2"/>
                </a:solidFill>
                <a:latin typeface="Arvo"/>
                <a:ea typeface="Arvo"/>
                <a:cs typeface="Arvo"/>
                <a:sym typeface="Arvo"/>
              </a:rPr>
              <a:t>Example:</a:t>
            </a:r>
            <a:endParaRPr b="1" sz="1200">
              <a:solidFill>
                <a:schemeClr val="dk2"/>
              </a:solidFill>
              <a:latin typeface="Arvo"/>
              <a:ea typeface="Arvo"/>
              <a:cs typeface="Arvo"/>
              <a:sym typeface="Arvo"/>
            </a:endParaRPr>
          </a:p>
          <a:p>
            <a:pPr indent="-304800" lvl="0" marL="457200" rtl="0" algn="just">
              <a:lnSpc>
                <a:spcPct val="150000"/>
              </a:lnSpc>
              <a:spcBef>
                <a:spcPts val="800"/>
              </a:spcBef>
              <a:spcAft>
                <a:spcPts val="0"/>
              </a:spcAft>
              <a:buClr>
                <a:schemeClr val="dk1"/>
              </a:buClr>
              <a:buSzPts val="1200"/>
              <a:buChar char="●"/>
            </a:pPr>
            <a:r>
              <a:rPr lang="en" sz="1200">
                <a:solidFill>
                  <a:schemeClr val="dk2"/>
                </a:solidFill>
                <a:latin typeface="Arvo"/>
                <a:ea typeface="Arvo"/>
                <a:cs typeface="Arvo"/>
                <a:sym typeface="Arvo"/>
              </a:rPr>
              <a:t>We have taken two functions: </a:t>
            </a:r>
            <a:r>
              <a:rPr b="1" lang="en" sz="1200">
                <a:solidFill>
                  <a:schemeClr val="dk2"/>
                </a:solidFill>
                <a:latin typeface="Arvo"/>
                <a:ea typeface="Arvo"/>
                <a:cs typeface="Arvo"/>
                <a:sym typeface="Arvo"/>
              </a:rPr>
              <a:t>greet</a:t>
            </a:r>
            <a:r>
              <a:rPr lang="en" sz="1200">
                <a:solidFill>
                  <a:schemeClr val="dk2"/>
                </a:solidFill>
                <a:latin typeface="Arvo"/>
                <a:ea typeface="Arvo"/>
                <a:cs typeface="Arvo"/>
                <a:sym typeface="Arvo"/>
              </a:rPr>
              <a:t> and </a:t>
            </a:r>
            <a:r>
              <a:rPr b="1" lang="en" sz="1200">
                <a:solidFill>
                  <a:schemeClr val="dk2"/>
                </a:solidFill>
                <a:latin typeface="Arvo"/>
                <a:ea typeface="Arvo"/>
                <a:cs typeface="Arvo"/>
                <a:sym typeface="Arvo"/>
              </a:rPr>
              <a:t>sayGoodbye</a:t>
            </a:r>
            <a:r>
              <a:rPr lang="en" sz="1200">
                <a:solidFill>
                  <a:schemeClr val="dk2"/>
                </a:solidFill>
                <a:latin typeface="Arvo"/>
                <a:ea typeface="Arvo"/>
                <a:cs typeface="Arvo"/>
                <a:sym typeface="Arvo"/>
              </a:rPr>
              <a:t>.</a:t>
            </a:r>
            <a:endParaRPr sz="1200">
              <a:solidFill>
                <a:schemeClr val="dk2"/>
              </a:solidFill>
              <a:latin typeface="Arvo"/>
              <a:ea typeface="Arvo"/>
              <a:cs typeface="Arvo"/>
              <a:sym typeface="Arvo"/>
            </a:endParaRPr>
          </a:p>
          <a:p>
            <a:pPr indent="0" lvl="0" marL="457200" rtl="0" algn="just">
              <a:lnSpc>
                <a:spcPct val="150000"/>
              </a:lnSpc>
              <a:spcBef>
                <a:spcPts val="800"/>
              </a:spcBef>
              <a:spcAft>
                <a:spcPts val="0"/>
              </a:spcAft>
              <a:buNone/>
            </a:pPr>
            <a:r>
              <a:rPr lang="en" sz="1200">
                <a:solidFill>
                  <a:schemeClr val="dk2"/>
                </a:solidFill>
                <a:latin typeface="Arvo"/>
                <a:ea typeface="Arvo"/>
                <a:cs typeface="Arvo"/>
                <a:sym typeface="Arvo"/>
              </a:rPr>
              <a:t>The greet takes two </a:t>
            </a:r>
            <a:r>
              <a:rPr b="1" lang="en" sz="1200">
                <a:solidFill>
                  <a:schemeClr val="dk2"/>
                </a:solidFill>
                <a:latin typeface="Arvo"/>
                <a:ea typeface="Arvo"/>
                <a:cs typeface="Arvo"/>
                <a:sym typeface="Arvo"/>
              </a:rPr>
              <a:t>parameters</a:t>
            </a:r>
            <a:r>
              <a:rPr lang="en" sz="1200">
                <a:solidFill>
                  <a:schemeClr val="dk2"/>
                </a:solidFill>
                <a:latin typeface="Arvo"/>
                <a:ea typeface="Arvo"/>
                <a:cs typeface="Arvo"/>
                <a:sym typeface="Arvo"/>
              </a:rPr>
              <a:t>:</a:t>
            </a:r>
            <a:r>
              <a:rPr b="1" lang="en" sz="1200">
                <a:solidFill>
                  <a:schemeClr val="dk2"/>
                </a:solidFill>
                <a:latin typeface="Arvo"/>
                <a:ea typeface="Arvo"/>
                <a:cs typeface="Arvo"/>
                <a:sym typeface="Arvo"/>
              </a:rPr>
              <a:t>name(String)</a:t>
            </a:r>
            <a:r>
              <a:rPr lang="en" sz="1200">
                <a:solidFill>
                  <a:schemeClr val="dk2"/>
                </a:solidFill>
                <a:latin typeface="Arvo"/>
                <a:ea typeface="Arvo"/>
                <a:cs typeface="Arvo"/>
                <a:sym typeface="Arvo"/>
              </a:rPr>
              <a:t> and </a:t>
            </a:r>
            <a:endParaRPr sz="1200">
              <a:solidFill>
                <a:schemeClr val="dk2"/>
              </a:solidFill>
              <a:latin typeface="Arvo"/>
              <a:ea typeface="Arvo"/>
              <a:cs typeface="Arvo"/>
              <a:sym typeface="Arvo"/>
            </a:endParaRPr>
          </a:p>
          <a:p>
            <a:pPr indent="0" lvl="0" marL="457200" rtl="0" algn="just">
              <a:lnSpc>
                <a:spcPct val="150000"/>
              </a:lnSpc>
              <a:spcBef>
                <a:spcPts val="800"/>
              </a:spcBef>
              <a:spcAft>
                <a:spcPts val="0"/>
              </a:spcAft>
              <a:buNone/>
            </a:pPr>
            <a:r>
              <a:rPr b="1" lang="en" sz="1200">
                <a:solidFill>
                  <a:schemeClr val="dk2"/>
                </a:solidFill>
                <a:latin typeface="Arvo"/>
                <a:ea typeface="Arvo"/>
                <a:cs typeface="Arvo"/>
                <a:sym typeface="Arvo"/>
              </a:rPr>
              <a:t>callback(a function)</a:t>
            </a:r>
            <a:r>
              <a:rPr lang="en" sz="1200">
                <a:solidFill>
                  <a:schemeClr val="dk2"/>
                </a:solidFill>
                <a:latin typeface="Arvo"/>
                <a:ea typeface="Arvo"/>
                <a:cs typeface="Arvo"/>
                <a:sym typeface="Arvo"/>
              </a:rPr>
              <a:t>.It logs a greeting message using</a:t>
            </a:r>
            <a:endParaRPr sz="1200">
              <a:solidFill>
                <a:schemeClr val="dk2"/>
              </a:solidFill>
              <a:latin typeface="Arvo"/>
              <a:ea typeface="Arvo"/>
              <a:cs typeface="Arvo"/>
              <a:sym typeface="Arvo"/>
            </a:endParaRPr>
          </a:p>
          <a:p>
            <a:pPr indent="0" lvl="0" marL="457200" rtl="0" algn="just">
              <a:lnSpc>
                <a:spcPct val="150000"/>
              </a:lnSpc>
              <a:spcBef>
                <a:spcPts val="800"/>
              </a:spcBef>
              <a:spcAft>
                <a:spcPts val="0"/>
              </a:spcAft>
              <a:buNone/>
            </a:pPr>
            <a:r>
              <a:rPr lang="en" sz="1200">
                <a:solidFill>
                  <a:schemeClr val="dk2"/>
                </a:solidFill>
                <a:latin typeface="Arvo"/>
                <a:ea typeface="Arvo"/>
                <a:cs typeface="Arvo"/>
                <a:sym typeface="Arvo"/>
              </a:rPr>
              <a:t> the provided name and then calls the </a:t>
            </a:r>
            <a:r>
              <a:rPr b="1" lang="en" sz="1200">
                <a:solidFill>
                  <a:schemeClr val="dk2"/>
                </a:solidFill>
                <a:latin typeface="Arvo"/>
                <a:ea typeface="Arvo"/>
                <a:cs typeface="Arvo"/>
                <a:sym typeface="Arvo"/>
              </a:rPr>
              <a:t>callback</a:t>
            </a:r>
            <a:r>
              <a:rPr lang="en" sz="1200">
                <a:solidFill>
                  <a:schemeClr val="dk2"/>
                </a:solidFill>
                <a:latin typeface="Arvo"/>
                <a:ea typeface="Arvo"/>
                <a:cs typeface="Arvo"/>
                <a:sym typeface="Arvo"/>
              </a:rPr>
              <a:t> </a:t>
            </a:r>
            <a:endParaRPr sz="1200">
              <a:solidFill>
                <a:schemeClr val="dk2"/>
              </a:solidFill>
              <a:latin typeface="Arvo"/>
              <a:ea typeface="Arvo"/>
              <a:cs typeface="Arvo"/>
              <a:sym typeface="Arvo"/>
            </a:endParaRPr>
          </a:p>
          <a:p>
            <a:pPr indent="0" lvl="0" marL="457200" rtl="0" algn="just">
              <a:lnSpc>
                <a:spcPct val="150000"/>
              </a:lnSpc>
              <a:spcBef>
                <a:spcPts val="800"/>
              </a:spcBef>
              <a:spcAft>
                <a:spcPts val="0"/>
              </a:spcAft>
              <a:buNone/>
            </a:pPr>
            <a:r>
              <a:rPr lang="en" sz="1200">
                <a:solidFill>
                  <a:schemeClr val="dk2"/>
                </a:solidFill>
                <a:latin typeface="Arvo"/>
                <a:ea typeface="Arvo"/>
                <a:cs typeface="Arvo"/>
                <a:sym typeface="Arvo"/>
              </a:rPr>
              <a:t>function.</a:t>
            </a:r>
            <a:endParaRPr sz="1200">
              <a:solidFill>
                <a:schemeClr val="dk2"/>
              </a:solidFill>
              <a:latin typeface="Arvo"/>
              <a:ea typeface="Arvo"/>
              <a:cs typeface="Arvo"/>
              <a:sym typeface="Arvo"/>
            </a:endParaRPr>
          </a:p>
          <a:p>
            <a:pPr indent="-304800" lvl="0" marL="457200" rtl="0" algn="just">
              <a:lnSpc>
                <a:spcPct val="150000"/>
              </a:lnSpc>
              <a:spcBef>
                <a:spcPts val="800"/>
              </a:spcBef>
              <a:spcAft>
                <a:spcPts val="0"/>
              </a:spcAft>
              <a:buClr>
                <a:schemeClr val="dk1"/>
              </a:buClr>
              <a:buSzPts val="1200"/>
              <a:buChar char="●"/>
            </a:pPr>
            <a:r>
              <a:rPr lang="en" sz="1200">
                <a:solidFill>
                  <a:schemeClr val="dk2"/>
                </a:solidFill>
                <a:latin typeface="Arvo"/>
                <a:ea typeface="Arvo"/>
                <a:cs typeface="Arvo"/>
                <a:sym typeface="Arvo"/>
              </a:rPr>
              <a:t>When we call </a:t>
            </a:r>
            <a:r>
              <a:rPr b="1" lang="en" sz="1200">
                <a:solidFill>
                  <a:schemeClr val="dk2"/>
                </a:solidFill>
                <a:latin typeface="Arvo"/>
                <a:ea typeface="Arvo"/>
                <a:cs typeface="Arvo"/>
                <a:sym typeface="Arvo"/>
              </a:rPr>
              <a:t>greet</a:t>
            </a:r>
            <a:endParaRPr b="1" sz="1200">
              <a:solidFill>
                <a:schemeClr val="dk2"/>
              </a:solidFill>
              <a:latin typeface="Arvo"/>
              <a:ea typeface="Arvo"/>
              <a:cs typeface="Arvo"/>
              <a:sym typeface="Arvo"/>
            </a:endParaRPr>
          </a:p>
          <a:p>
            <a:pPr indent="0" lvl="0" marL="457200" rtl="0" algn="just">
              <a:lnSpc>
                <a:spcPct val="150000"/>
              </a:lnSpc>
              <a:spcBef>
                <a:spcPts val="800"/>
              </a:spcBef>
              <a:spcAft>
                <a:spcPts val="0"/>
              </a:spcAft>
              <a:buNone/>
            </a:pPr>
            <a:r>
              <a:rPr b="1" lang="en" sz="1200">
                <a:solidFill>
                  <a:schemeClr val="dk2"/>
                </a:solidFill>
                <a:latin typeface="Arvo"/>
                <a:ea typeface="Arvo"/>
                <a:cs typeface="Arvo"/>
                <a:sym typeface="Arvo"/>
              </a:rPr>
              <a:t>(“Kendall”, sayGoodbye)</a:t>
            </a:r>
            <a:r>
              <a:rPr lang="en" sz="1200">
                <a:solidFill>
                  <a:schemeClr val="dk2"/>
                </a:solidFill>
                <a:latin typeface="Arvo"/>
                <a:ea typeface="Arvo"/>
                <a:cs typeface="Arvo"/>
                <a:sym typeface="Arvo"/>
              </a:rPr>
              <a:t>, it will output:</a:t>
            </a:r>
            <a:endParaRPr sz="1500">
              <a:solidFill>
                <a:schemeClr val="dk2"/>
              </a:solidFill>
              <a:latin typeface="Arvo"/>
              <a:ea typeface="Arvo"/>
              <a:cs typeface="Arvo"/>
              <a:sym typeface="Arvo"/>
            </a:endParaRPr>
          </a:p>
        </p:txBody>
      </p:sp>
      <p:pic>
        <p:nvPicPr>
          <p:cNvPr id="254" name="Google Shape;254;p38"/>
          <p:cNvPicPr preferRelativeResize="0"/>
          <p:nvPr/>
        </p:nvPicPr>
        <p:blipFill>
          <a:blip r:embed="rId5">
            <a:alphaModFix/>
          </a:blip>
          <a:stretch>
            <a:fillRect/>
          </a:stretch>
        </p:blipFill>
        <p:spPr>
          <a:xfrm>
            <a:off x="2655388" y="4128775"/>
            <a:ext cx="2466975" cy="657225"/>
          </a:xfrm>
          <a:prstGeom prst="rect">
            <a:avLst/>
          </a:prstGeom>
          <a:noFill/>
          <a:ln>
            <a:noFill/>
          </a:ln>
        </p:spPr>
      </p:pic>
      <p:pic>
        <p:nvPicPr>
          <p:cNvPr id="255" name="Google Shape;255;p38"/>
          <p:cNvPicPr preferRelativeResize="0"/>
          <p:nvPr/>
        </p:nvPicPr>
        <p:blipFill>
          <a:blip r:embed="rId6">
            <a:alphaModFix/>
          </a:blip>
          <a:stretch>
            <a:fillRect/>
          </a:stretch>
        </p:blipFill>
        <p:spPr>
          <a:xfrm>
            <a:off x="5845100" y="2884875"/>
            <a:ext cx="3399050" cy="1960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a:t>
            </a:r>
            <a:endParaRPr sz="2300"/>
          </a:p>
        </p:txBody>
      </p:sp>
      <p:sp>
        <p:nvSpPr>
          <p:cNvPr id="261" name="Google Shape;261;p39"/>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62" name="Google Shape;262;p39"/>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63" name="Google Shape;263;p39"/>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64" name="Google Shape;264;p39"/>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65" name="Google Shape;265;p39"/>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a:bodyPr>
          <a:lstStyle/>
          <a:p>
            <a:pPr indent="-247650" lvl="0" marL="2540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For JavaScript to know when an asynchronous operation has a result, it points to a function that will be executed once the result is ready. That function is called a callback function.</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Here the result can either be the </a:t>
            </a:r>
            <a:r>
              <a:rPr b="1" lang="en" sz="1500">
                <a:solidFill>
                  <a:schemeClr val="dk2"/>
                </a:solidFill>
                <a:latin typeface="Arvo"/>
                <a:ea typeface="Arvo"/>
                <a:cs typeface="Arvo"/>
                <a:sym typeface="Arvo"/>
              </a:rPr>
              <a:t>data</a:t>
            </a:r>
            <a:r>
              <a:rPr lang="en" sz="1500">
                <a:solidFill>
                  <a:schemeClr val="dk2"/>
                </a:solidFill>
                <a:latin typeface="Arvo"/>
                <a:ea typeface="Arvo"/>
                <a:cs typeface="Arvo"/>
                <a:sym typeface="Arvo"/>
              </a:rPr>
              <a:t> or an </a:t>
            </a:r>
            <a:r>
              <a:rPr b="1" lang="en" sz="1500">
                <a:solidFill>
                  <a:schemeClr val="dk2"/>
                </a:solidFill>
                <a:latin typeface="Arvo"/>
                <a:ea typeface="Arvo"/>
                <a:cs typeface="Arvo"/>
                <a:sym typeface="Arvo"/>
              </a:rPr>
              <a:t>error</a:t>
            </a:r>
            <a:r>
              <a:rPr lang="en" sz="1500">
                <a:solidFill>
                  <a:schemeClr val="dk2"/>
                </a:solidFill>
                <a:latin typeface="Arvo"/>
                <a:ea typeface="Arvo"/>
                <a:cs typeface="Arvo"/>
                <a:sym typeface="Arvo"/>
              </a:rPr>
              <a:t> that occurred during the process. </a:t>
            </a:r>
            <a:endParaRPr b="1" sz="1200">
              <a:solidFill>
                <a:schemeClr val="dk2"/>
              </a:solidFill>
              <a:latin typeface="Arvo"/>
              <a:ea typeface="Arvo"/>
              <a:cs typeface="Arvo"/>
              <a:sym typeface="Arv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a:t>
            </a:r>
            <a:endParaRPr sz="2300"/>
          </a:p>
        </p:txBody>
      </p:sp>
      <p:sp>
        <p:nvSpPr>
          <p:cNvPr id="271" name="Google Shape;271;p40"/>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72" name="Google Shape;272;p40"/>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73" name="Google Shape;273;p40"/>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74" name="Google Shape;274;p40"/>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75" name="Google Shape;275;p40"/>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a:bodyPr>
          <a:lstStyle/>
          <a:p>
            <a:pPr indent="-4381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Here is a simple example of callback function.</a:t>
            </a:r>
            <a:endParaRPr b="1" sz="1200">
              <a:solidFill>
                <a:schemeClr val="dk2"/>
              </a:solidFill>
              <a:latin typeface="Arvo"/>
              <a:ea typeface="Arvo"/>
              <a:cs typeface="Arvo"/>
              <a:sym typeface="Arvo"/>
            </a:endParaRPr>
          </a:p>
        </p:txBody>
      </p:sp>
      <p:pic>
        <p:nvPicPr>
          <p:cNvPr id="276" name="Google Shape;276;p40"/>
          <p:cNvPicPr preferRelativeResize="0"/>
          <p:nvPr/>
        </p:nvPicPr>
        <p:blipFill rotWithShape="1">
          <a:blip r:embed="rId5">
            <a:alphaModFix/>
          </a:blip>
          <a:srcRect b="0" l="0" r="0" t="0"/>
          <a:stretch/>
        </p:blipFill>
        <p:spPr>
          <a:xfrm>
            <a:off x="2419670" y="1827452"/>
            <a:ext cx="6062062" cy="24158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1"/>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a:t>
            </a:r>
            <a:endParaRPr sz="2300"/>
          </a:p>
        </p:txBody>
      </p:sp>
      <p:sp>
        <p:nvSpPr>
          <p:cNvPr id="282" name="Google Shape;282;p41"/>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83" name="Google Shape;283;p41"/>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84" name="Google Shape;284;p41"/>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85" name="Google Shape;285;p41"/>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86" name="Google Shape;286;p41"/>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None/>
            </a:pPr>
            <a:r>
              <a:rPr b="1" lang="en">
                <a:solidFill>
                  <a:schemeClr val="dk2"/>
                </a:solidFill>
              </a:rPr>
              <a:t>Example:</a:t>
            </a:r>
            <a:endParaRPr b="1">
              <a:solidFill>
                <a:schemeClr val="dk2"/>
              </a:solidFill>
            </a:endParaRPr>
          </a:p>
          <a:p>
            <a:pPr indent="0" lvl="0" marL="0" rtl="0" algn="l">
              <a:lnSpc>
                <a:spcPct val="90000"/>
              </a:lnSpc>
              <a:spcBef>
                <a:spcPts val="0"/>
              </a:spcBef>
              <a:spcAft>
                <a:spcPts val="0"/>
              </a:spcAft>
              <a:buNone/>
            </a:pPr>
            <a:r>
              <a:t/>
            </a:r>
            <a:endParaRPr>
              <a:solidFill>
                <a:schemeClr val="dk2"/>
              </a:solidFill>
              <a:latin typeface="Arvo"/>
              <a:ea typeface="Arvo"/>
              <a:cs typeface="Arvo"/>
              <a:sym typeface="Arvo"/>
            </a:endParaRPr>
          </a:p>
          <a:p>
            <a:pPr indent="-317500" lvl="0" marL="457200" rtl="0" algn="just">
              <a:lnSpc>
                <a:spcPct val="150000"/>
              </a:lnSpc>
              <a:spcBef>
                <a:spcPts val="0"/>
              </a:spcBef>
              <a:spcAft>
                <a:spcPts val="0"/>
              </a:spcAft>
              <a:buClr>
                <a:schemeClr val="dk1"/>
              </a:buClr>
              <a:buSzPts val="1400"/>
              <a:buChar char="●"/>
            </a:pPr>
            <a:r>
              <a:rPr lang="en">
                <a:solidFill>
                  <a:schemeClr val="dk2"/>
                </a:solidFill>
                <a:latin typeface="Arvo"/>
                <a:ea typeface="Arvo"/>
                <a:cs typeface="Arvo"/>
                <a:sym typeface="Arvo"/>
              </a:rPr>
              <a:t>The </a:t>
            </a:r>
            <a:r>
              <a:rPr b="1" lang="en">
                <a:solidFill>
                  <a:schemeClr val="dk2"/>
                </a:solidFill>
                <a:latin typeface="Arvo"/>
                <a:ea typeface="Arvo"/>
                <a:cs typeface="Arvo"/>
                <a:sym typeface="Arvo"/>
              </a:rPr>
              <a:t>asyncOperation </a:t>
            </a:r>
            <a:r>
              <a:rPr lang="en">
                <a:solidFill>
                  <a:schemeClr val="dk2"/>
                </a:solidFill>
                <a:latin typeface="Arvo"/>
                <a:ea typeface="Arvo"/>
                <a:cs typeface="Arvo"/>
                <a:sym typeface="Arvo"/>
              </a:rPr>
              <a:t>function uses </a:t>
            </a:r>
            <a:endParaRPr>
              <a:solidFill>
                <a:schemeClr val="dk2"/>
              </a:solidFill>
              <a:latin typeface="Arvo"/>
              <a:ea typeface="Arvo"/>
              <a:cs typeface="Arvo"/>
              <a:sym typeface="Arvo"/>
            </a:endParaRPr>
          </a:p>
          <a:p>
            <a:pPr indent="0" lvl="0" marL="457200" rtl="0" algn="just">
              <a:lnSpc>
                <a:spcPct val="150000"/>
              </a:lnSpc>
              <a:spcBef>
                <a:spcPts val="0"/>
              </a:spcBef>
              <a:spcAft>
                <a:spcPts val="0"/>
              </a:spcAft>
              <a:buNone/>
            </a:pPr>
            <a:r>
              <a:rPr b="1" lang="en">
                <a:solidFill>
                  <a:schemeClr val="dk2"/>
                </a:solidFill>
                <a:latin typeface="Arvo"/>
                <a:ea typeface="Arvo"/>
                <a:cs typeface="Arvo"/>
                <a:sym typeface="Arvo"/>
              </a:rPr>
              <a:t>setTimeOut</a:t>
            </a:r>
            <a:r>
              <a:rPr lang="en">
                <a:solidFill>
                  <a:schemeClr val="dk2"/>
                </a:solidFill>
                <a:latin typeface="Arvo"/>
                <a:ea typeface="Arvo"/>
                <a:cs typeface="Arvo"/>
                <a:sym typeface="Arvo"/>
              </a:rPr>
              <a:t> to stimulate asynchronous task.</a:t>
            </a:r>
            <a:endParaRPr>
              <a:solidFill>
                <a:schemeClr val="dk2"/>
              </a:solidFill>
              <a:latin typeface="Arvo"/>
              <a:ea typeface="Arvo"/>
              <a:cs typeface="Arvo"/>
              <a:sym typeface="Arvo"/>
            </a:endParaRPr>
          </a:p>
          <a:p>
            <a:pPr indent="0" lvl="0" marL="457200" rtl="0" algn="just">
              <a:lnSpc>
                <a:spcPct val="150000"/>
              </a:lnSpc>
              <a:spcBef>
                <a:spcPts val="0"/>
              </a:spcBef>
              <a:spcAft>
                <a:spcPts val="0"/>
              </a:spcAft>
              <a:buNone/>
            </a:pPr>
            <a:r>
              <a:rPr lang="en">
                <a:solidFill>
                  <a:schemeClr val="dk2"/>
                </a:solidFill>
                <a:latin typeface="Arvo"/>
                <a:ea typeface="Arvo"/>
                <a:cs typeface="Arvo"/>
                <a:sym typeface="Arvo"/>
              </a:rPr>
              <a:t> The callback is executed after a </a:t>
            </a:r>
            <a:r>
              <a:rPr b="1" lang="en">
                <a:solidFill>
                  <a:schemeClr val="dk2"/>
                </a:solidFill>
                <a:latin typeface="Arvo"/>
                <a:ea typeface="Arvo"/>
                <a:cs typeface="Arvo"/>
                <a:sym typeface="Arvo"/>
              </a:rPr>
              <a:t>delay of</a:t>
            </a:r>
            <a:endParaRPr b="1">
              <a:solidFill>
                <a:schemeClr val="dk2"/>
              </a:solidFill>
              <a:latin typeface="Arvo"/>
              <a:ea typeface="Arvo"/>
              <a:cs typeface="Arvo"/>
              <a:sym typeface="Arvo"/>
            </a:endParaRPr>
          </a:p>
          <a:p>
            <a:pPr indent="0" lvl="0" marL="457200" rtl="0" algn="just">
              <a:lnSpc>
                <a:spcPct val="150000"/>
              </a:lnSpc>
              <a:spcBef>
                <a:spcPts val="0"/>
              </a:spcBef>
              <a:spcAft>
                <a:spcPts val="0"/>
              </a:spcAft>
              <a:buNone/>
            </a:pPr>
            <a:r>
              <a:rPr b="1" lang="en">
                <a:solidFill>
                  <a:schemeClr val="dk2"/>
                </a:solidFill>
                <a:latin typeface="Arvo"/>
                <a:ea typeface="Arvo"/>
                <a:cs typeface="Arvo"/>
                <a:sym typeface="Arvo"/>
              </a:rPr>
              <a:t> 1 second</a:t>
            </a:r>
            <a:r>
              <a:rPr lang="en">
                <a:solidFill>
                  <a:schemeClr val="dk2"/>
                </a:solidFill>
                <a:latin typeface="Arvo"/>
                <a:ea typeface="Arvo"/>
                <a:cs typeface="Arvo"/>
                <a:sym typeface="Arvo"/>
              </a:rPr>
              <a:t>.</a:t>
            </a:r>
            <a:endParaRPr>
              <a:solidFill>
                <a:schemeClr val="dk2"/>
              </a:solidFill>
              <a:latin typeface="Arvo"/>
              <a:ea typeface="Arvo"/>
              <a:cs typeface="Arvo"/>
              <a:sym typeface="Arvo"/>
            </a:endParaRPr>
          </a:p>
          <a:p>
            <a:pPr indent="0" lvl="0" marL="457200" rtl="0" algn="just">
              <a:lnSpc>
                <a:spcPct val="150000"/>
              </a:lnSpc>
              <a:spcBef>
                <a:spcPts val="0"/>
              </a:spcBef>
              <a:spcAft>
                <a:spcPts val="0"/>
              </a:spcAft>
              <a:buNone/>
            </a:pPr>
            <a:r>
              <a:t/>
            </a:r>
            <a:endParaRPr>
              <a:solidFill>
                <a:schemeClr val="dk2"/>
              </a:solidFill>
            </a:endParaRPr>
          </a:p>
          <a:p>
            <a:pPr indent="0" lvl="0" marL="457200" rtl="0" algn="just">
              <a:lnSpc>
                <a:spcPct val="150000"/>
              </a:lnSpc>
              <a:spcBef>
                <a:spcPts val="0"/>
              </a:spcBef>
              <a:spcAft>
                <a:spcPts val="0"/>
              </a:spcAft>
              <a:buNone/>
            </a:pPr>
            <a:r>
              <a:rPr b="1" lang="en">
                <a:solidFill>
                  <a:schemeClr val="dk2"/>
                </a:solidFill>
              </a:rPr>
              <a:t>Output:</a:t>
            </a:r>
            <a:endParaRPr b="1">
              <a:solidFill>
                <a:schemeClr val="dk2"/>
              </a:solidFill>
            </a:endParaRPr>
          </a:p>
          <a:p>
            <a:pPr indent="0" lvl="0" marL="457200" rtl="0" algn="just">
              <a:lnSpc>
                <a:spcPct val="150000"/>
              </a:lnSpc>
              <a:spcBef>
                <a:spcPts val="0"/>
              </a:spcBef>
              <a:spcAft>
                <a:spcPts val="0"/>
              </a:spcAft>
              <a:buNone/>
            </a:pPr>
            <a:r>
              <a:t/>
            </a:r>
            <a:endParaRPr>
              <a:solidFill>
                <a:schemeClr val="dk2"/>
              </a:solidFill>
            </a:endParaRPr>
          </a:p>
          <a:p>
            <a:pPr indent="0" lvl="0" marL="457200" rtl="0" algn="l">
              <a:lnSpc>
                <a:spcPct val="90000"/>
              </a:lnSpc>
              <a:spcBef>
                <a:spcPts val="0"/>
              </a:spcBef>
              <a:spcAft>
                <a:spcPts val="0"/>
              </a:spcAft>
              <a:buNone/>
            </a:pPr>
            <a:r>
              <a:rPr lang="en">
                <a:solidFill>
                  <a:schemeClr val="dk2"/>
                </a:solidFill>
              </a:rPr>
              <a:t> </a:t>
            </a:r>
            <a:endParaRPr>
              <a:solidFill>
                <a:schemeClr val="dk2"/>
              </a:solidFill>
            </a:endParaRPr>
          </a:p>
          <a:p>
            <a:pPr indent="0" lvl="0" marL="0" rtl="0" algn="l">
              <a:lnSpc>
                <a:spcPct val="150000"/>
              </a:lnSpc>
              <a:spcBef>
                <a:spcPts val="0"/>
              </a:spcBef>
              <a:spcAft>
                <a:spcPts val="0"/>
              </a:spcAft>
              <a:buNone/>
            </a:pPr>
            <a:r>
              <a:t/>
            </a:r>
            <a:endParaRPr sz="1500">
              <a:solidFill>
                <a:schemeClr val="dk2"/>
              </a:solidFill>
              <a:latin typeface="Arvo"/>
              <a:ea typeface="Arvo"/>
              <a:cs typeface="Arvo"/>
              <a:sym typeface="Arvo"/>
            </a:endParaRPr>
          </a:p>
        </p:txBody>
      </p:sp>
      <p:pic>
        <p:nvPicPr>
          <p:cNvPr id="287" name="Google Shape;287;p41"/>
          <p:cNvPicPr preferRelativeResize="0"/>
          <p:nvPr/>
        </p:nvPicPr>
        <p:blipFill>
          <a:blip r:embed="rId5">
            <a:alphaModFix/>
          </a:blip>
          <a:stretch>
            <a:fillRect/>
          </a:stretch>
        </p:blipFill>
        <p:spPr>
          <a:xfrm>
            <a:off x="2506875" y="3646100"/>
            <a:ext cx="3028950" cy="952500"/>
          </a:xfrm>
          <a:prstGeom prst="rect">
            <a:avLst/>
          </a:prstGeom>
          <a:noFill/>
          <a:ln>
            <a:noFill/>
          </a:ln>
        </p:spPr>
      </p:pic>
      <p:pic>
        <p:nvPicPr>
          <p:cNvPr id="288" name="Google Shape;288;p41"/>
          <p:cNvPicPr preferRelativeResize="0"/>
          <p:nvPr/>
        </p:nvPicPr>
        <p:blipFill>
          <a:blip r:embed="rId6">
            <a:alphaModFix/>
          </a:blip>
          <a:stretch>
            <a:fillRect/>
          </a:stretch>
        </p:blipFill>
        <p:spPr>
          <a:xfrm>
            <a:off x="5634800" y="2498750"/>
            <a:ext cx="3116225" cy="2509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Functions/Callback hell</a:t>
            </a:r>
            <a:endParaRPr sz="2300"/>
          </a:p>
        </p:txBody>
      </p:sp>
      <p:sp>
        <p:nvSpPr>
          <p:cNvPr id="294" name="Google Shape;294;p42"/>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295" name="Google Shape;295;p42"/>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296" name="Google Shape;296;p42"/>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297" name="Google Shape;297;p42"/>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298" name="Google Shape;298;p42"/>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a:bodyPr>
          <a:lstStyle/>
          <a:p>
            <a:pPr indent="-247650" lvl="0" marL="2540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Callbacks are a good way to declare what will happen once an I/O operation has a result, but what if you want to use that data in order to make another request?</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You can only handle the result of the request within the callback function provided.</a:t>
            </a:r>
            <a:endParaRPr sz="2800">
              <a:solidFill>
                <a:schemeClr val="dk2"/>
              </a:solidFill>
            </a:endParaRPr>
          </a:p>
          <a:p>
            <a:pPr indent="0" lvl="0" marL="457200" rtl="0" algn="just">
              <a:lnSpc>
                <a:spcPct val="150000"/>
              </a:lnSpc>
              <a:spcBef>
                <a:spcPts val="0"/>
              </a:spcBef>
              <a:spcAft>
                <a:spcPts val="0"/>
              </a:spcAft>
              <a:buNone/>
            </a:pPr>
            <a:r>
              <a:t/>
            </a:r>
            <a:endParaRPr b="1">
              <a:solidFill>
                <a:schemeClr val="dk2"/>
              </a:solidFill>
            </a:endParaRPr>
          </a:p>
          <a:p>
            <a:pPr indent="0" lvl="0" marL="457200" rtl="0" algn="just">
              <a:lnSpc>
                <a:spcPct val="150000"/>
              </a:lnSpc>
              <a:spcBef>
                <a:spcPts val="0"/>
              </a:spcBef>
              <a:spcAft>
                <a:spcPts val="0"/>
              </a:spcAft>
              <a:buNone/>
            </a:pPr>
            <a:r>
              <a:t/>
            </a:r>
            <a:endParaRPr>
              <a:solidFill>
                <a:schemeClr val="dk2"/>
              </a:solidFill>
            </a:endParaRPr>
          </a:p>
          <a:p>
            <a:pPr indent="0" lvl="0" marL="457200" rtl="0" algn="l">
              <a:lnSpc>
                <a:spcPct val="90000"/>
              </a:lnSpc>
              <a:spcBef>
                <a:spcPts val="0"/>
              </a:spcBef>
              <a:spcAft>
                <a:spcPts val="0"/>
              </a:spcAft>
              <a:buNone/>
            </a:pPr>
            <a:r>
              <a:rPr lang="en">
                <a:solidFill>
                  <a:schemeClr val="dk2"/>
                </a:solidFill>
              </a:rPr>
              <a:t> </a:t>
            </a:r>
            <a:endParaRPr>
              <a:solidFill>
                <a:schemeClr val="dk2"/>
              </a:solidFill>
            </a:endParaRPr>
          </a:p>
          <a:p>
            <a:pPr indent="0" lvl="0" marL="0" rtl="0" algn="l">
              <a:lnSpc>
                <a:spcPct val="150000"/>
              </a:lnSpc>
              <a:spcBef>
                <a:spcPts val="0"/>
              </a:spcBef>
              <a:spcAft>
                <a:spcPts val="0"/>
              </a:spcAft>
              <a:buNone/>
            </a:pPr>
            <a:r>
              <a:t/>
            </a:r>
            <a:endParaRPr sz="1500">
              <a:solidFill>
                <a:schemeClr val="dk2"/>
              </a:solidFill>
              <a:latin typeface="Arvo"/>
              <a:ea typeface="Arvo"/>
              <a:cs typeface="Arvo"/>
              <a:sym typeface="Arv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3"/>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Functions/Callback hell</a:t>
            </a:r>
            <a:endParaRPr sz="2300"/>
          </a:p>
        </p:txBody>
      </p:sp>
      <p:sp>
        <p:nvSpPr>
          <p:cNvPr id="304" name="Google Shape;304;p43"/>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05" name="Google Shape;305;p43"/>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06" name="Google Shape;306;p43"/>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07" name="Google Shape;307;p43"/>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08" name="Google Shape;308;p43"/>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a:bodyPr>
          <a:lstStyle/>
          <a:p>
            <a:pPr indent="-247650" lvl="0" marL="2540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In this example the variable “</a:t>
            </a:r>
            <a:r>
              <a:rPr b="1" lang="en" sz="1500">
                <a:solidFill>
                  <a:schemeClr val="dk2"/>
                </a:solidFill>
                <a:latin typeface="Arvo"/>
                <a:ea typeface="Arvo"/>
                <a:cs typeface="Arvo"/>
                <a:sym typeface="Arvo"/>
              </a:rPr>
              <a:t>result</a:t>
            </a:r>
            <a:r>
              <a:rPr lang="en" sz="1500">
                <a:solidFill>
                  <a:schemeClr val="dk2"/>
                </a:solidFill>
                <a:latin typeface="Arvo"/>
                <a:ea typeface="Arvo"/>
                <a:cs typeface="Arvo"/>
                <a:sym typeface="Arvo"/>
              </a:rPr>
              <a:t>” will not have a value when printed to the console at the last line. With it we are unable to continue with our second request.</a:t>
            </a:r>
            <a:endParaRPr b="1" sz="1500">
              <a:solidFill>
                <a:schemeClr val="dk2"/>
              </a:solidFill>
              <a:latin typeface="Arvo"/>
              <a:ea typeface="Arvo"/>
              <a:cs typeface="Arvo"/>
              <a:sym typeface="Arvo"/>
            </a:endParaRPr>
          </a:p>
          <a:p>
            <a:pPr indent="0" lvl="0" marL="0" rtl="0" algn="l">
              <a:lnSpc>
                <a:spcPct val="150000"/>
              </a:lnSpc>
              <a:spcBef>
                <a:spcPts val="0"/>
              </a:spcBef>
              <a:spcAft>
                <a:spcPts val="0"/>
              </a:spcAft>
              <a:buNone/>
            </a:pPr>
            <a:r>
              <a:t/>
            </a:r>
            <a:endParaRPr sz="1500">
              <a:solidFill>
                <a:schemeClr val="dk2"/>
              </a:solidFill>
              <a:latin typeface="Arvo"/>
              <a:ea typeface="Arvo"/>
              <a:cs typeface="Arvo"/>
              <a:sym typeface="Arvo"/>
            </a:endParaRPr>
          </a:p>
        </p:txBody>
      </p:sp>
      <p:pic>
        <p:nvPicPr>
          <p:cNvPr id="309" name="Google Shape;309;p43"/>
          <p:cNvPicPr preferRelativeResize="0"/>
          <p:nvPr/>
        </p:nvPicPr>
        <p:blipFill rotWithShape="1">
          <a:blip r:embed="rId5">
            <a:alphaModFix/>
          </a:blip>
          <a:srcRect b="0" l="0" r="0" t="0"/>
          <a:stretch/>
        </p:blipFill>
        <p:spPr>
          <a:xfrm>
            <a:off x="2575709" y="2720035"/>
            <a:ext cx="5384882" cy="175981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4"/>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Functions/Callback hell</a:t>
            </a:r>
            <a:endParaRPr sz="2300"/>
          </a:p>
        </p:txBody>
      </p:sp>
      <p:sp>
        <p:nvSpPr>
          <p:cNvPr id="315" name="Google Shape;315;p44"/>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16" name="Google Shape;316;p44"/>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17" name="Google Shape;317;p44"/>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18" name="Google Shape;318;p44"/>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19" name="Google Shape;319;p44"/>
          <p:cNvSpPr txBox="1"/>
          <p:nvPr/>
        </p:nvSpPr>
        <p:spPr>
          <a:xfrm>
            <a:off x="2240700" y="1146800"/>
            <a:ext cx="6420000" cy="3451800"/>
          </a:xfrm>
          <a:prstGeom prst="rect">
            <a:avLst/>
          </a:prstGeom>
          <a:noFill/>
          <a:ln>
            <a:noFill/>
          </a:ln>
        </p:spPr>
        <p:txBody>
          <a:bodyPr anchorCtr="0" anchor="t" bIns="91425" lIns="91425" spcFirstLastPara="1" rIns="91425" wrap="square" tIns="91425">
            <a:normAutofit/>
          </a:bodyPr>
          <a:lstStyle/>
          <a:p>
            <a:pPr indent="-247650" lvl="0" marL="2540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To continue with our second request, we need to create another callback function inside our previous callback function.</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This will make our code messy to read and very difficult to understand.</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With that pattern, it means we need to check for errors in every callback. Which just adds to the mess when dealing with multiple requests and callbacks.</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This anti-pattern is what we call </a:t>
            </a:r>
            <a:r>
              <a:rPr b="1" lang="en" sz="1500">
                <a:solidFill>
                  <a:schemeClr val="dk2"/>
                </a:solidFill>
                <a:latin typeface="Arvo"/>
                <a:ea typeface="Arvo"/>
                <a:cs typeface="Arvo"/>
                <a:sym typeface="Arvo"/>
              </a:rPr>
              <a:t>Callback Hell</a:t>
            </a:r>
            <a:r>
              <a:rPr lang="en" sz="1500">
                <a:solidFill>
                  <a:schemeClr val="dk2"/>
                </a:solidFill>
                <a:latin typeface="Arvo"/>
                <a:ea typeface="Arvo"/>
                <a:cs typeface="Arvo"/>
                <a:sym typeface="Arvo"/>
              </a:rPr>
              <a:t>.</a:t>
            </a:r>
            <a:endParaRPr sz="1500">
              <a:solidFill>
                <a:schemeClr val="dk2"/>
              </a:solidFill>
              <a:latin typeface="Arvo"/>
              <a:ea typeface="Arvo"/>
              <a:cs typeface="Arvo"/>
              <a:sym typeface="Arv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5"/>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Functions/Callback hell</a:t>
            </a:r>
            <a:endParaRPr sz="2300"/>
          </a:p>
        </p:txBody>
      </p:sp>
      <p:sp>
        <p:nvSpPr>
          <p:cNvPr id="325" name="Google Shape;325;p45"/>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26" name="Google Shape;326;p45"/>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27" name="Google Shape;327;p45"/>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28" name="Google Shape;328;p45"/>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pic>
        <p:nvPicPr>
          <p:cNvPr id="329" name="Google Shape;329;p45"/>
          <p:cNvPicPr preferRelativeResize="0"/>
          <p:nvPr/>
        </p:nvPicPr>
        <p:blipFill rotWithShape="1">
          <a:blip r:embed="rId5">
            <a:alphaModFix/>
          </a:blip>
          <a:srcRect b="0" l="0" r="0" t="0"/>
          <a:stretch/>
        </p:blipFill>
        <p:spPr>
          <a:xfrm>
            <a:off x="2240825" y="1486798"/>
            <a:ext cx="6785100" cy="2289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46"/>
          <p:cNvPicPr preferRelativeResize="0"/>
          <p:nvPr/>
        </p:nvPicPr>
        <p:blipFill rotWithShape="1">
          <a:blip r:embed="rId3">
            <a:alphaModFix/>
          </a:blip>
          <a:srcRect b="0" l="0" r="0" t="0"/>
          <a:stretch/>
        </p:blipFill>
        <p:spPr>
          <a:xfrm>
            <a:off x="717201" y="977537"/>
            <a:ext cx="7709598" cy="33408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7"/>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Callback Functions/Callback hell</a:t>
            </a:r>
            <a:endParaRPr sz="2300"/>
          </a:p>
        </p:txBody>
      </p:sp>
      <p:sp>
        <p:nvSpPr>
          <p:cNvPr id="340" name="Google Shape;340;p47"/>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2. Call back functions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41" name="Google Shape;341;p47"/>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42" name="Google Shape;342;p47"/>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43" name="Google Shape;343;p47"/>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44" name="Google Shape;344;p47"/>
          <p:cNvSpPr txBox="1"/>
          <p:nvPr/>
        </p:nvSpPr>
        <p:spPr>
          <a:xfrm>
            <a:off x="2240825" y="1146800"/>
            <a:ext cx="6272100" cy="3825600"/>
          </a:xfrm>
          <a:prstGeom prst="rect">
            <a:avLst/>
          </a:prstGeom>
          <a:noFill/>
          <a:ln>
            <a:noFill/>
          </a:ln>
        </p:spPr>
        <p:txBody>
          <a:bodyPr anchorCtr="0" anchor="t" bIns="91425" lIns="91425" spcFirstLastPara="1" rIns="91425" wrap="square" tIns="91425">
            <a:normAutofit lnSpcReduction="20000"/>
          </a:bodyPr>
          <a:lstStyle/>
          <a:p>
            <a:pPr indent="-304800" lvl="0" marL="457200" rtl="0" algn="just">
              <a:lnSpc>
                <a:spcPct val="150000"/>
              </a:lnSpc>
              <a:spcBef>
                <a:spcPts val="1200"/>
              </a:spcBef>
              <a:spcAft>
                <a:spcPts val="0"/>
              </a:spcAft>
              <a:buClr>
                <a:schemeClr val="dk1"/>
              </a:buClr>
              <a:buSzPts val="1200"/>
              <a:buFont typeface="Arvo"/>
              <a:buChar char="●"/>
            </a:pPr>
            <a:r>
              <a:rPr lang="en" sz="1200">
                <a:solidFill>
                  <a:schemeClr val="dk2"/>
                </a:solidFill>
                <a:latin typeface="Arvo"/>
                <a:ea typeface="Arvo"/>
                <a:cs typeface="Arvo"/>
                <a:sym typeface="Arvo"/>
              </a:rPr>
              <a:t>We</a:t>
            </a:r>
            <a:r>
              <a:rPr b="1" lang="en" sz="1200">
                <a:solidFill>
                  <a:schemeClr val="dk2"/>
                </a:solidFill>
                <a:latin typeface="Arvo"/>
                <a:ea typeface="Arvo"/>
                <a:cs typeface="Arvo"/>
                <a:sym typeface="Arvo"/>
              </a:rPr>
              <a:t> nested</a:t>
            </a:r>
            <a:r>
              <a:rPr lang="en" sz="1200">
                <a:solidFill>
                  <a:schemeClr val="dk2"/>
                </a:solidFill>
                <a:latin typeface="Arvo"/>
                <a:ea typeface="Arvo"/>
                <a:cs typeface="Arvo"/>
                <a:sym typeface="Arvo"/>
              </a:rPr>
              <a:t> and called the </a:t>
            </a:r>
            <a:r>
              <a:rPr b="1" lang="en" sz="1200">
                <a:solidFill>
                  <a:schemeClr val="dk2"/>
                </a:solidFill>
                <a:latin typeface="Arvo"/>
                <a:ea typeface="Arvo"/>
                <a:cs typeface="Arvo"/>
                <a:sym typeface="Arvo"/>
              </a:rPr>
              <a:t>Callback</a:t>
            </a:r>
            <a:r>
              <a:rPr lang="en" sz="1200">
                <a:solidFill>
                  <a:schemeClr val="dk2"/>
                </a:solidFill>
                <a:latin typeface="Arvo"/>
                <a:ea typeface="Arvo"/>
                <a:cs typeface="Arvo"/>
                <a:sym typeface="Arvo"/>
              </a:rPr>
              <a:t> inside the </a:t>
            </a:r>
            <a:endParaRPr sz="1200">
              <a:solidFill>
                <a:schemeClr val="dk2"/>
              </a:solidFill>
              <a:latin typeface="Arvo"/>
              <a:ea typeface="Arvo"/>
              <a:cs typeface="Arvo"/>
              <a:sym typeface="Arvo"/>
            </a:endParaRPr>
          </a:p>
          <a:p>
            <a:pPr indent="0" lvl="0" marL="457200" rtl="0" algn="just">
              <a:lnSpc>
                <a:spcPct val="150000"/>
              </a:lnSpc>
              <a:spcBef>
                <a:spcPts val="1200"/>
              </a:spcBef>
              <a:spcAft>
                <a:spcPts val="0"/>
              </a:spcAft>
              <a:buNone/>
            </a:pPr>
            <a:r>
              <a:rPr b="1" lang="en" sz="1200">
                <a:solidFill>
                  <a:schemeClr val="dk2"/>
                </a:solidFill>
                <a:latin typeface="Arvo"/>
                <a:ea typeface="Arvo"/>
                <a:cs typeface="Arvo"/>
                <a:sym typeface="Arvo"/>
              </a:rPr>
              <a:t>setTimeout()</a:t>
            </a:r>
            <a:r>
              <a:rPr lang="en" sz="1200">
                <a:solidFill>
                  <a:schemeClr val="dk2"/>
                </a:solidFill>
                <a:latin typeface="Arvo"/>
                <a:ea typeface="Arvo"/>
                <a:cs typeface="Arvo"/>
                <a:sym typeface="Arvo"/>
              </a:rPr>
              <a:t> method. The Callback will execute </a:t>
            </a:r>
            <a:endParaRPr sz="1200">
              <a:solidFill>
                <a:schemeClr val="dk2"/>
              </a:solidFill>
              <a:latin typeface="Arvo"/>
              <a:ea typeface="Arvo"/>
              <a:cs typeface="Arvo"/>
              <a:sym typeface="Arvo"/>
            </a:endParaRPr>
          </a:p>
          <a:p>
            <a:pPr indent="0" lvl="0" marL="457200" rtl="0" algn="just">
              <a:lnSpc>
                <a:spcPct val="150000"/>
              </a:lnSpc>
              <a:spcBef>
                <a:spcPts val="1200"/>
              </a:spcBef>
              <a:spcAft>
                <a:spcPts val="0"/>
              </a:spcAft>
              <a:buNone/>
            </a:pPr>
            <a:r>
              <a:rPr lang="en" sz="1200">
                <a:solidFill>
                  <a:schemeClr val="dk2"/>
                </a:solidFill>
                <a:latin typeface="Arvo"/>
                <a:ea typeface="Arvo"/>
                <a:cs typeface="Arvo"/>
                <a:sym typeface="Arvo"/>
              </a:rPr>
              <a:t>all calls to the </a:t>
            </a:r>
            <a:r>
              <a:rPr b="1" lang="en" sz="1200">
                <a:solidFill>
                  <a:schemeClr val="dk2"/>
                </a:solidFill>
                <a:latin typeface="Arvo"/>
                <a:ea typeface="Arvo"/>
                <a:cs typeface="Arvo"/>
                <a:sym typeface="Arvo"/>
              </a:rPr>
              <a:t>print()</a:t>
            </a:r>
            <a:r>
              <a:rPr lang="en" sz="1200">
                <a:solidFill>
                  <a:schemeClr val="dk2"/>
                </a:solidFill>
                <a:latin typeface="Arvo"/>
                <a:ea typeface="Arvo"/>
                <a:cs typeface="Arvo"/>
                <a:sym typeface="Arvo"/>
              </a:rPr>
              <a:t> function in its specified time.</a:t>
            </a:r>
            <a:endParaRPr sz="1200">
              <a:solidFill>
                <a:schemeClr val="dk2"/>
              </a:solidFill>
              <a:latin typeface="Arvo"/>
              <a:ea typeface="Arvo"/>
              <a:cs typeface="Arvo"/>
              <a:sym typeface="Arvo"/>
            </a:endParaRPr>
          </a:p>
          <a:p>
            <a:pPr indent="-304800" lvl="0" marL="457200" rtl="0" algn="just">
              <a:lnSpc>
                <a:spcPct val="150000"/>
              </a:lnSpc>
              <a:spcBef>
                <a:spcPts val="1200"/>
              </a:spcBef>
              <a:spcAft>
                <a:spcPts val="0"/>
              </a:spcAft>
              <a:buClr>
                <a:schemeClr val="dk1"/>
              </a:buClr>
              <a:buSzPts val="1200"/>
              <a:buFont typeface="Arvo"/>
              <a:buChar char="●"/>
            </a:pPr>
            <a:r>
              <a:rPr lang="en" sz="1200">
                <a:solidFill>
                  <a:schemeClr val="dk2"/>
                </a:solidFill>
                <a:latin typeface="Arvo"/>
                <a:ea typeface="Arvo"/>
                <a:cs typeface="Arvo"/>
                <a:sym typeface="Arvo"/>
              </a:rPr>
              <a:t>Here, we can see the </a:t>
            </a:r>
            <a:r>
              <a:rPr b="1" lang="en" sz="1200">
                <a:solidFill>
                  <a:schemeClr val="dk2"/>
                </a:solidFill>
                <a:latin typeface="Arvo"/>
                <a:ea typeface="Arvo"/>
                <a:cs typeface="Arvo"/>
                <a:sym typeface="Arvo"/>
              </a:rPr>
              <a:t>complexity</a:t>
            </a:r>
            <a:r>
              <a:rPr lang="en" sz="1200">
                <a:solidFill>
                  <a:schemeClr val="dk2"/>
                </a:solidFill>
                <a:latin typeface="Arvo"/>
                <a:ea typeface="Arvo"/>
                <a:cs typeface="Arvo"/>
                <a:sym typeface="Arvo"/>
              </a:rPr>
              <a:t> of calling the </a:t>
            </a:r>
            <a:endParaRPr sz="1200">
              <a:solidFill>
                <a:schemeClr val="dk2"/>
              </a:solidFill>
              <a:latin typeface="Arvo"/>
              <a:ea typeface="Arvo"/>
              <a:cs typeface="Arvo"/>
              <a:sym typeface="Arvo"/>
            </a:endParaRPr>
          </a:p>
          <a:p>
            <a:pPr indent="0" lvl="0" marL="457200" rtl="0" algn="just">
              <a:lnSpc>
                <a:spcPct val="150000"/>
              </a:lnSpc>
              <a:spcBef>
                <a:spcPts val="1200"/>
              </a:spcBef>
              <a:spcAft>
                <a:spcPts val="0"/>
              </a:spcAft>
              <a:buNone/>
            </a:pPr>
            <a:r>
              <a:rPr lang="en" sz="1200">
                <a:solidFill>
                  <a:schemeClr val="dk2"/>
                </a:solidFill>
                <a:latin typeface="Arvo"/>
                <a:ea typeface="Arvo"/>
                <a:cs typeface="Arvo"/>
                <a:sym typeface="Arvo"/>
              </a:rPr>
              <a:t>Callback method in a </a:t>
            </a:r>
            <a:r>
              <a:rPr b="1" lang="en" sz="1200">
                <a:solidFill>
                  <a:schemeClr val="dk2"/>
                </a:solidFill>
                <a:latin typeface="Arvo"/>
                <a:ea typeface="Arvo"/>
                <a:cs typeface="Arvo"/>
                <a:sym typeface="Arvo"/>
              </a:rPr>
              <a:t>nesting</a:t>
            </a:r>
            <a:r>
              <a:rPr lang="en" sz="1200">
                <a:solidFill>
                  <a:schemeClr val="dk2"/>
                </a:solidFill>
                <a:latin typeface="Arvo"/>
                <a:ea typeface="Arvo"/>
                <a:cs typeface="Arvo"/>
                <a:sym typeface="Arvo"/>
              </a:rPr>
              <a:t> method. The code</a:t>
            </a:r>
            <a:endParaRPr sz="1200">
              <a:solidFill>
                <a:schemeClr val="dk2"/>
              </a:solidFill>
              <a:latin typeface="Arvo"/>
              <a:ea typeface="Arvo"/>
              <a:cs typeface="Arvo"/>
              <a:sym typeface="Arvo"/>
            </a:endParaRPr>
          </a:p>
          <a:p>
            <a:pPr indent="0" lvl="0" marL="457200" rtl="0" algn="just">
              <a:lnSpc>
                <a:spcPct val="150000"/>
              </a:lnSpc>
              <a:spcBef>
                <a:spcPts val="1200"/>
              </a:spcBef>
              <a:spcAft>
                <a:spcPts val="0"/>
              </a:spcAft>
              <a:buNone/>
            </a:pPr>
            <a:r>
              <a:rPr lang="en" sz="1200">
                <a:solidFill>
                  <a:schemeClr val="dk2"/>
                </a:solidFill>
                <a:latin typeface="Arvo"/>
                <a:ea typeface="Arvo"/>
                <a:cs typeface="Arvo"/>
                <a:sym typeface="Arvo"/>
              </a:rPr>
              <a:t> becomes </a:t>
            </a:r>
            <a:r>
              <a:rPr b="1" lang="en" sz="1200">
                <a:solidFill>
                  <a:schemeClr val="dk2"/>
                </a:solidFill>
                <a:latin typeface="Arvo"/>
                <a:ea typeface="Arvo"/>
                <a:cs typeface="Arvo"/>
                <a:sym typeface="Arvo"/>
              </a:rPr>
              <a:t>difficult to comprehend and debug</a:t>
            </a:r>
            <a:r>
              <a:rPr lang="en" sz="1200">
                <a:solidFill>
                  <a:schemeClr val="dk2"/>
                </a:solidFill>
                <a:latin typeface="Arvo"/>
                <a:ea typeface="Arvo"/>
                <a:cs typeface="Arvo"/>
                <a:sym typeface="Arvo"/>
              </a:rPr>
              <a:t>.</a:t>
            </a:r>
            <a:endParaRPr sz="1200">
              <a:solidFill>
                <a:schemeClr val="dk2"/>
              </a:solidFill>
              <a:latin typeface="Arvo"/>
              <a:ea typeface="Arvo"/>
              <a:cs typeface="Arvo"/>
              <a:sym typeface="Arvo"/>
            </a:endParaRPr>
          </a:p>
          <a:p>
            <a:pPr indent="0" lvl="0" marL="457200" rtl="0" algn="just">
              <a:lnSpc>
                <a:spcPct val="150000"/>
              </a:lnSpc>
              <a:spcBef>
                <a:spcPts val="1200"/>
              </a:spcBef>
              <a:spcAft>
                <a:spcPts val="0"/>
              </a:spcAft>
              <a:buNone/>
            </a:pPr>
            <a:r>
              <a:rPr b="1" lang="en" sz="1200">
                <a:solidFill>
                  <a:schemeClr val="dk2"/>
                </a:solidFill>
                <a:latin typeface="Arvo"/>
                <a:ea typeface="Arvo"/>
                <a:cs typeface="Arvo"/>
                <a:sym typeface="Arvo"/>
              </a:rPr>
              <a:t>Output:</a:t>
            </a:r>
            <a:endParaRPr b="1" sz="1200">
              <a:solidFill>
                <a:schemeClr val="dk2"/>
              </a:solidFill>
              <a:latin typeface="Arvo"/>
              <a:ea typeface="Arvo"/>
              <a:cs typeface="Arvo"/>
              <a:sym typeface="Arvo"/>
            </a:endParaRPr>
          </a:p>
          <a:p>
            <a:pPr indent="0" lvl="0" marL="457200" rtl="0" algn="just">
              <a:lnSpc>
                <a:spcPct val="150000"/>
              </a:lnSpc>
              <a:spcBef>
                <a:spcPts val="1200"/>
              </a:spcBef>
              <a:spcAft>
                <a:spcPts val="0"/>
              </a:spcAft>
              <a:buNone/>
            </a:pPr>
            <a:r>
              <a:t/>
            </a:r>
            <a:endParaRPr sz="1200">
              <a:solidFill>
                <a:schemeClr val="dk2"/>
              </a:solidFill>
              <a:latin typeface="Arvo"/>
              <a:ea typeface="Arvo"/>
              <a:cs typeface="Arvo"/>
              <a:sym typeface="Arvo"/>
            </a:endParaRPr>
          </a:p>
          <a:p>
            <a:pPr indent="0" lvl="0" marL="457200" rtl="0" algn="just">
              <a:lnSpc>
                <a:spcPct val="150000"/>
              </a:lnSpc>
              <a:spcBef>
                <a:spcPts val="1200"/>
              </a:spcBef>
              <a:spcAft>
                <a:spcPts val="0"/>
              </a:spcAft>
              <a:buNone/>
            </a:pPr>
            <a:r>
              <a:t/>
            </a:r>
            <a:endParaRPr sz="1200">
              <a:solidFill>
                <a:schemeClr val="dk2"/>
              </a:solidFill>
              <a:latin typeface="Arvo"/>
              <a:ea typeface="Arvo"/>
              <a:cs typeface="Arvo"/>
              <a:sym typeface="Arvo"/>
            </a:endParaRPr>
          </a:p>
          <a:p>
            <a:pPr indent="0" lvl="0" marL="0" rtl="0" algn="l">
              <a:lnSpc>
                <a:spcPct val="90000"/>
              </a:lnSpc>
              <a:spcBef>
                <a:spcPts val="1200"/>
              </a:spcBef>
              <a:spcAft>
                <a:spcPts val="0"/>
              </a:spcAft>
              <a:buNone/>
            </a:pPr>
            <a:r>
              <a:t/>
            </a:r>
            <a:endParaRPr sz="1200">
              <a:solidFill>
                <a:schemeClr val="dk2"/>
              </a:solidFill>
              <a:latin typeface="Arvo"/>
              <a:ea typeface="Arvo"/>
              <a:cs typeface="Arvo"/>
              <a:sym typeface="Arvo"/>
            </a:endParaRPr>
          </a:p>
        </p:txBody>
      </p:sp>
      <p:pic>
        <p:nvPicPr>
          <p:cNvPr id="345" name="Google Shape;345;p47"/>
          <p:cNvPicPr preferRelativeResize="0"/>
          <p:nvPr/>
        </p:nvPicPr>
        <p:blipFill>
          <a:blip r:embed="rId5">
            <a:alphaModFix/>
          </a:blip>
          <a:stretch>
            <a:fillRect/>
          </a:stretch>
        </p:blipFill>
        <p:spPr>
          <a:xfrm>
            <a:off x="2453525" y="3547375"/>
            <a:ext cx="3791600" cy="1298025"/>
          </a:xfrm>
          <a:prstGeom prst="rect">
            <a:avLst/>
          </a:prstGeom>
          <a:noFill/>
          <a:ln>
            <a:noFill/>
          </a:ln>
        </p:spPr>
      </p:pic>
      <p:pic>
        <p:nvPicPr>
          <p:cNvPr id="346" name="Google Shape;346;p47"/>
          <p:cNvPicPr preferRelativeResize="0"/>
          <p:nvPr/>
        </p:nvPicPr>
        <p:blipFill>
          <a:blip r:embed="rId6">
            <a:alphaModFix/>
          </a:blip>
          <a:stretch>
            <a:fillRect/>
          </a:stretch>
        </p:blipFill>
        <p:spPr>
          <a:xfrm>
            <a:off x="6595500" y="1146800"/>
            <a:ext cx="2733850" cy="36652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8"/>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Promises</a:t>
            </a:r>
            <a:endParaRPr sz="2300"/>
          </a:p>
        </p:txBody>
      </p:sp>
      <p:sp>
        <p:nvSpPr>
          <p:cNvPr id="352" name="Google Shape;352;p48"/>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3. Promises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lnSpc>
                <a:spcPct val="115000"/>
              </a:lnSpc>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53" name="Google Shape;353;p48"/>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54" name="Google Shape;354;p48"/>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55" name="Google Shape;355;p48"/>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56" name="Google Shape;356;p48"/>
          <p:cNvSpPr txBox="1"/>
          <p:nvPr/>
        </p:nvSpPr>
        <p:spPr>
          <a:xfrm>
            <a:off x="2240825" y="1071725"/>
            <a:ext cx="6272100" cy="3825600"/>
          </a:xfrm>
          <a:prstGeom prst="rect">
            <a:avLst/>
          </a:prstGeom>
          <a:noFill/>
          <a:ln>
            <a:noFill/>
          </a:ln>
        </p:spPr>
        <p:txBody>
          <a:bodyPr anchorCtr="0" anchor="t" bIns="91425" lIns="91425" spcFirstLastPara="1" rIns="91425" wrap="square" tIns="91425">
            <a:normAutofit/>
          </a:bodyPr>
          <a:lstStyle/>
          <a:p>
            <a:pPr indent="-247650" lvl="0" marL="2540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A promise is an object that wraps an asynchronous operation and notifies when its done.</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They are easy to manage when dealing with multiple asynchronous operations where callbacks can create callback hell leading to unmanageable codes.</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Promises are the ideal choice for handling asynchronous operations in the simplest manner. They can handle multiple asynchronous operations easily and provide better error handling than callbacks.</a:t>
            </a:r>
            <a:endParaRPr sz="2800">
              <a:solidFill>
                <a:schemeClr val="dk2"/>
              </a:solidFill>
            </a:endParaRPr>
          </a:p>
          <a:p>
            <a:pPr indent="-247650" lvl="0" marL="2540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Promise always returns a response.</a:t>
            </a:r>
            <a:endParaRPr sz="2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9"/>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Promises</a:t>
            </a:r>
            <a:endParaRPr sz="2300"/>
          </a:p>
        </p:txBody>
      </p:sp>
      <p:sp>
        <p:nvSpPr>
          <p:cNvPr id="362" name="Google Shape;362;p49"/>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3. Promises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63" name="Google Shape;363;p49"/>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64" name="Google Shape;364;p49"/>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65" name="Google Shape;365;p49"/>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66" name="Google Shape;366;p49"/>
          <p:cNvSpPr txBox="1"/>
          <p:nvPr/>
        </p:nvSpPr>
        <p:spPr>
          <a:xfrm>
            <a:off x="2240825" y="1071725"/>
            <a:ext cx="6272100" cy="3825600"/>
          </a:xfrm>
          <a:prstGeom prst="rect">
            <a:avLst/>
          </a:prstGeom>
          <a:noFill/>
          <a:ln>
            <a:noFill/>
          </a:ln>
        </p:spPr>
        <p:txBody>
          <a:bodyPr anchorCtr="0" anchor="t" bIns="91425" lIns="91425" spcFirstLastPara="1" rIns="91425" wrap="square" tIns="91425">
            <a:normAutofit/>
          </a:bodyPr>
          <a:lstStyle/>
          <a:p>
            <a:pPr indent="-438150" lvl="0" marL="457200" rtl="0" algn="l">
              <a:lnSpc>
                <a:spcPct val="150000"/>
              </a:lnSpc>
              <a:spcBef>
                <a:spcPts val="0"/>
              </a:spcBef>
              <a:spcAft>
                <a:spcPts val="0"/>
              </a:spcAft>
              <a:buClr>
                <a:schemeClr val="dk1"/>
              </a:buClr>
              <a:buSzPts val="1500"/>
              <a:buChar char="•"/>
            </a:pPr>
            <a:r>
              <a:rPr lang="en" sz="1500">
                <a:solidFill>
                  <a:schemeClr val="dk2"/>
                </a:solidFill>
                <a:latin typeface="Arvo"/>
                <a:ea typeface="Arvo"/>
                <a:cs typeface="Arvo"/>
                <a:sym typeface="Arvo"/>
              </a:rPr>
              <a:t>Instead of providing a callback, promises has its own method which you call to tell the promise what will happen if it is successful or when it fails.</a:t>
            </a:r>
            <a:endParaRPr sz="2800">
              <a:solidFill>
                <a:schemeClr val="dk2"/>
              </a:solidFill>
            </a:endParaRPr>
          </a:p>
          <a:p>
            <a:pPr indent="-4381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The methods a promise provides are “then(…)” for when a successful result is available and “catch(…)” for when something went wrong.</a:t>
            </a:r>
            <a:endParaRPr sz="2800">
              <a:solidFill>
                <a:schemeClr val="dk2"/>
              </a:solidFill>
            </a:endParaRPr>
          </a:p>
          <a:p>
            <a:pPr indent="-438150" lvl="0" marL="457200" rtl="0" algn="l">
              <a:lnSpc>
                <a:spcPct val="150000"/>
              </a:lnSpc>
              <a:spcBef>
                <a:spcPts val="800"/>
              </a:spcBef>
              <a:spcAft>
                <a:spcPts val="0"/>
              </a:spcAft>
              <a:buClr>
                <a:schemeClr val="dk1"/>
              </a:buClr>
              <a:buSzPts val="1500"/>
              <a:buChar char="•"/>
            </a:pPr>
            <a:r>
              <a:rPr lang="en" sz="1500">
                <a:solidFill>
                  <a:schemeClr val="dk2"/>
                </a:solidFill>
                <a:latin typeface="Arvo"/>
                <a:ea typeface="Arvo"/>
                <a:cs typeface="Arvo"/>
                <a:sym typeface="Arvo"/>
              </a:rPr>
              <a:t>The next example uses the native Promises as introduced in ES6. </a:t>
            </a:r>
            <a:endParaRPr sz="1500">
              <a:solidFill>
                <a:schemeClr val="dk2"/>
              </a:solidFill>
              <a:latin typeface="Arvo"/>
              <a:ea typeface="Arvo"/>
              <a:cs typeface="Arvo"/>
              <a:sym typeface="Arv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0"/>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Promises</a:t>
            </a:r>
            <a:endParaRPr sz="2300"/>
          </a:p>
        </p:txBody>
      </p:sp>
      <p:sp>
        <p:nvSpPr>
          <p:cNvPr id="372" name="Google Shape;372;p50"/>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3. Promises</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73" name="Google Shape;373;p50"/>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74" name="Google Shape;374;p50"/>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75" name="Google Shape;375;p50"/>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76" name="Google Shape;376;p50"/>
          <p:cNvSpPr txBox="1"/>
          <p:nvPr/>
        </p:nvSpPr>
        <p:spPr>
          <a:xfrm>
            <a:off x="2240825" y="1071725"/>
            <a:ext cx="6272100" cy="3825600"/>
          </a:xfrm>
          <a:prstGeom prst="rect">
            <a:avLst/>
          </a:prstGeom>
          <a:noFill/>
          <a:ln>
            <a:noFill/>
          </a:ln>
        </p:spPr>
        <p:txBody>
          <a:bodyPr anchorCtr="0" anchor="t" bIns="91425" lIns="91425" spcFirstLastPara="1" rIns="91425" wrap="square" tIns="91425">
            <a:normAutofit/>
          </a:bodyPr>
          <a:lstStyle/>
          <a:p>
            <a:pPr indent="-438150" lvl="0" marL="457200" rtl="0" algn="l">
              <a:spcBef>
                <a:spcPts val="0"/>
              </a:spcBef>
              <a:spcAft>
                <a:spcPts val="0"/>
              </a:spcAft>
              <a:buClr>
                <a:schemeClr val="dk1"/>
              </a:buClr>
              <a:buSzPts val="1500"/>
              <a:buChar char="•"/>
            </a:pPr>
            <a:r>
              <a:rPr lang="en">
                <a:solidFill>
                  <a:schemeClr val="dk1"/>
                </a:solidFill>
                <a:latin typeface="Arvo"/>
                <a:ea typeface="Arvo"/>
                <a:cs typeface="Arvo"/>
                <a:sym typeface="Arvo"/>
              </a:rPr>
              <a:t>A side note here, variable “</a:t>
            </a:r>
            <a:r>
              <a:rPr b="1" lang="en">
                <a:solidFill>
                  <a:schemeClr val="dk1"/>
                </a:solidFill>
                <a:latin typeface="Arvo"/>
                <a:ea typeface="Arvo"/>
                <a:cs typeface="Arvo"/>
                <a:sym typeface="Arvo"/>
              </a:rPr>
              <a:t>promise</a:t>
            </a:r>
            <a:r>
              <a:rPr lang="en">
                <a:solidFill>
                  <a:schemeClr val="dk1"/>
                </a:solidFill>
                <a:latin typeface="Arvo"/>
                <a:ea typeface="Arvo"/>
                <a:cs typeface="Arvo"/>
                <a:sym typeface="Arvo"/>
              </a:rPr>
              <a:t>” itself is not a promise but a function that returns a promise.</a:t>
            </a:r>
            <a:endParaRPr sz="1500">
              <a:solidFill>
                <a:schemeClr val="dk2"/>
              </a:solidFill>
              <a:latin typeface="Arvo"/>
              <a:ea typeface="Arvo"/>
              <a:cs typeface="Arvo"/>
              <a:sym typeface="Arvo"/>
            </a:endParaRPr>
          </a:p>
        </p:txBody>
      </p:sp>
      <p:pic>
        <p:nvPicPr>
          <p:cNvPr id="377" name="Google Shape;377;p50"/>
          <p:cNvPicPr preferRelativeResize="0"/>
          <p:nvPr/>
        </p:nvPicPr>
        <p:blipFill rotWithShape="1">
          <a:blip r:embed="rId5">
            <a:alphaModFix/>
          </a:blip>
          <a:srcRect b="0" l="0" r="0" t="0"/>
          <a:stretch/>
        </p:blipFill>
        <p:spPr>
          <a:xfrm>
            <a:off x="2865802" y="1808400"/>
            <a:ext cx="5443851" cy="30889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1"/>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Fetch Method</a:t>
            </a:r>
            <a:endParaRPr sz="2300"/>
          </a:p>
        </p:txBody>
      </p:sp>
      <p:sp>
        <p:nvSpPr>
          <p:cNvPr id="383" name="Google Shape;383;p51"/>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4 Fetch Method</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84" name="Google Shape;384;p51"/>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85" name="Google Shape;385;p51"/>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86" name="Google Shape;386;p51"/>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87" name="Google Shape;387;p51"/>
          <p:cNvSpPr txBox="1"/>
          <p:nvPr/>
        </p:nvSpPr>
        <p:spPr>
          <a:xfrm>
            <a:off x="2406975" y="1071725"/>
            <a:ext cx="6105900" cy="2178000"/>
          </a:xfrm>
          <a:prstGeom prst="rect">
            <a:avLst/>
          </a:prstGeom>
          <a:noFill/>
          <a:ln>
            <a:noFill/>
          </a:ln>
        </p:spPr>
        <p:txBody>
          <a:bodyPr anchorCtr="0" anchor="t" bIns="91425" lIns="91425" spcFirstLastPara="1" rIns="91425" wrap="square" tIns="91425">
            <a:normAutofit fontScale="92500" lnSpcReduction="20000"/>
          </a:bodyPr>
          <a:lstStyle/>
          <a:p>
            <a:pPr indent="-425132" lvl="0" marL="457200" rtl="0" algn="just">
              <a:lnSpc>
                <a:spcPct val="150000"/>
              </a:lnSpc>
              <a:spcBef>
                <a:spcPts val="800"/>
              </a:spcBef>
              <a:spcAft>
                <a:spcPts val="0"/>
              </a:spcAft>
              <a:buClr>
                <a:schemeClr val="dk1"/>
              </a:buClr>
              <a:buSzPct val="77777"/>
              <a:buChar char="•"/>
            </a:pPr>
            <a:r>
              <a:rPr lang="en" sz="1800">
                <a:solidFill>
                  <a:schemeClr val="dk2"/>
                </a:solidFill>
                <a:latin typeface="Arvo"/>
                <a:ea typeface="Arvo"/>
                <a:cs typeface="Arvo"/>
                <a:sym typeface="Arvo"/>
              </a:rPr>
              <a:t>I</a:t>
            </a:r>
            <a:r>
              <a:rPr lang="en" sz="1500">
                <a:solidFill>
                  <a:schemeClr val="dk2"/>
                </a:solidFill>
                <a:latin typeface="Arvo"/>
                <a:ea typeface="Arvo"/>
                <a:cs typeface="Arvo"/>
                <a:sym typeface="Arvo"/>
              </a:rPr>
              <a:t>t is a </a:t>
            </a:r>
            <a:r>
              <a:rPr b="1" lang="en" sz="1500">
                <a:solidFill>
                  <a:schemeClr val="dk2"/>
                </a:solidFill>
                <a:latin typeface="Arvo"/>
                <a:ea typeface="Arvo"/>
                <a:cs typeface="Arvo"/>
                <a:sym typeface="Arvo"/>
              </a:rPr>
              <a:t>promise-based</a:t>
            </a:r>
            <a:r>
              <a:rPr lang="en" sz="1500">
                <a:solidFill>
                  <a:schemeClr val="dk2"/>
                </a:solidFill>
                <a:latin typeface="Arvo"/>
                <a:ea typeface="Arvo"/>
                <a:cs typeface="Arvo"/>
                <a:sym typeface="Arvo"/>
              </a:rPr>
              <a:t> interface for fetching resources by making </a:t>
            </a:r>
            <a:r>
              <a:rPr b="1" lang="en" sz="1500">
                <a:solidFill>
                  <a:schemeClr val="dk2"/>
                </a:solidFill>
                <a:latin typeface="Arvo"/>
                <a:ea typeface="Arvo"/>
                <a:cs typeface="Arvo"/>
                <a:sym typeface="Arvo"/>
              </a:rPr>
              <a:t>HTTP requests</a:t>
            </a:r>
            <a:r>
              <a:rPr lang="en" sz="1500">
                <a:solidFill>
                  <a:schemeClr val="dk2"/>
                </a:solidFill>
                <a:latin typeface="Arvo"/>
                <a:ea typeface="Arvo"/>
                <a:cs typeface="Arvo"/>
                <a:sym typeface="Arvo"/>
              </a:rPr>
              <a:t> to servers from web browser.</a:t>
            </a:r>
            <a:endParaRPr sz="1500">
              <a:solidFill>
                <a:schemeClr val="dk2"/>
              </a:solidFill>
              <a:latin typeface="Arvo"/>
              <a:ea typeface="Arvo"/>
              <a:cs typeface="Arvo"/>
              <a:sym typeface="Arvo"/>
            </a:endParaRPr>
          </a:p>
          <a:p>
            <a:pPr indent="-407511" lvl="0" marL="457200" rtl="0" algn="just">
              <a:lnSpc>
                <a:spcPct val="150000"/>
              </a:lnSpc>
              <a:spcBef>
                <a:spcPts val="0"/>
              </a:spcBef>
              <a:spcAft>
                <a:spcPts val="0"/>
              </a:spcAft>
              <a:buClr>
                <a:schemeClr val="dk1"/>
              </a:buClr>
              <a:buSzPct val="73333"/>
              <a:buChar char="•"/>
            </a:pPr>
            <a:r>
              <a:rPr lang="en" sz="1500">
                <a:solidFill>
                  <a:schemeClr val="dk2"/>
                </a:solidFill>
                <a:latin typeface="Arvo"/>
                <a:ea typeface="Arvo"/>
                <a:cs typeface="Arvo"/>
                <a:sym typeface="Arvo"/>
              </a:rPr>
              <a:t>It is better  and more</a:t>
            </a:r>
            <a:r>
              <a:rPr b="1" lang="en" sz="1500">
                <a:solidFill>
                  <a:schemeClr val="dk2"/>
                </a:solidFill>
                <a:latin typeface="Arvo"/>
                <a:ea typeface="Arvo"/>
                <a:cs typeface="Arvo"/>
                <a:sym typeface="Arvo"/>
              </a:rPr>
              <a:t> powerful</a:t>
            </a:r>
            <a:r>
              <a:rPr lang="en" sz="1500">
                <a:solidFill>
                  <a:schemeClr val="dk2"/>
                </a:solidFill>
                <a:latin typeface="Arvo"/>
                <a:ea typeface="Arvo"/>
                <a:cs typeface="Arvo"/>
                <a:sym typeface="Arvo"/>
              </a:rPr>
              <a:t> than XML HTTP requests.</a:t>
            </a:r>
            <a:endParaRPr sz="1500">
              <a:solidFill>
                <a:schemeClr val="dk2"/>
              </a:solidFill>
              <a:latin typeface="Arvo"/>
              <a:ea typeface="Arvo"/>
              <a:cs typeface="Arvo"/>
              <a:sym typeface="Arvo"/>
            </a:endParaRPr>
          </a:p>
          <a:p>
            <a:pPr indent="-407511" lvl="0" marL="457200" rtl="0" algn="just">
              <a:lnSpc>
                <a:spcPct val="150000"/>
              </a:lnSpc>
              <a:spcBef>
                <a:spcPts val="0"/>
              </a:spcBef>
              <a:spcAft>
                <a:spcPts val="0"/>
              </a:spcAft>
              <a:buClr>
                <a:schemeClr val="dk1"/>
              </a:buClr>
              <a:buSzPct val="73333"/>
              <a:buChar char="•"/>
            </a:pPr>
            <a:r>
              <a:rPr lang="en" sz="1500">
                <a:solidFill>
                  <a:schemeClr val="dk2"/>
                </a:solidFill>
                <a:latin typeface="Arvo"/>
                <a:ea typeface="Arvo"/>
                <a:cs typeface="Arvo"/>
                <a:sym typeface="Arvo"/>
              </a:rPr>
              <a:t>Fetch API comes with a fetch() method that allows you to fetch data making an HTTP request i.e. a </a:t>
            </a:r>
            <a:r>
              <a:rPr b="1" lang="en" sz="1500">
                <a:solidFill>
                  <a:schemeClr val="dk2"/>
                </a:solidFill>
                <a:latin typeface="Arvo"/>
                <a:ea typeface="Arvo"/>
                <a:cs typeface="Arvo"/>
                <a:sym typeface="Arvo"/>
              </a:rPr>
              <a:t>GET request(getting data)</a:t>
            </a:r>
            <a:r>
              <a:rPr lang="en" sz="1500">
                <a:solidFill>
                  <a:schemeClr val="dk2"/>
                </a:solidFill>
                <a:latin typeface="Arvo"/>
                <a:ea typeface="Arvo"/>
                <a:cs typeface="Arvo"/>
                <a:sym typeface="Arvo"/>
              </a:rPr>
              <a:t> or </a:t>
            </a:r>
            <a:r>
              <a:rPr b="1" lang="en" sz="1500">
                <a:solidFill>
                  <a:schemeClr val="dk2"/>
                </a:solidFill>
                <a:latin typeface="Arvo"/>
                <a:ea typeface="Arvo"/>
                <a:cs typeface="Arvo"/>
                <a:sym typeface="Arvo"/>
              </a:rPr>
              <a:t>POST request(for posting data)</a:t>
            </a:r>
            <a:r>
              <a:rPr lang="en" sz="1500">
                <a:solidFill>
                  <a:schemeClr val="dk2"/>
                </a:solidFill>
                <a:latin typeface="Arvo"/>
                <a:ea typeface="Arvo"/>
                <a:cs typeface="Arvo"/>
                <a:sym typeface="Arvo"/>
              </a:rPr>
              <a:t>.</a:t>
            </a:r>
            <a:endParaRPr sz="1500">
              <a:solidFill>
                <a:schemeClr val="dk2"/>
              </a:solidFill>
              <a:latin typeface="Arvo"/>
              <a:ea typeface="Arvo"/>
              <a:cs typeface="Arvo"/>
              <a:sym typeface="Arvo"/>
            </a:endParaRPr>
          </a:p>
          <a:p>
            <a:pPr indent="-407511" lvl="0" marL="457200" rtl="0" algn="l">
              <a:lnSpc>
                <a:spcPct val="90000"/>
              </a:lnSpc>
              <a:spcBef>
                <a:spcPts val="0"/>
              </a:spcBef>
              <a:spcAft>
                <a:spcPts val="0"/>
              </a:spcAft>
              <a:buClr>
                <a:schemeClr val="dk1"/>
              </a:buClr>
              <a:buSzPct val="73333"/>
              <a:buFont typeface="Arvo"/>
              <a:buChar char="•"/>
            </a:pPr>
            <a:r>
              <a:rPr lang="en" sz="1500">
                <a:solidFill>
                  <a:schemeClr val="dk2"/>
                </a:solidFill>
                <a:latin typeface="Arvo"/>
                <a:ea typeface="Arvo"/>
                <a:cs typeface="Arvo"/>
                <a:sym typeface="Arvo"/>
              </a:rPr>
              <a:t>Fetch method syntax:</a:t>
            </a:r>
            <a:endParaRPr>
              <a:solidFill>
                <a:schemeClr val="dk1"/>
              </a:solidFill>
              <a:latin typeface="Arvo"/>
              <a:ea typeface="Arvo"/>
              <a:cs typeface="Arvo"/>
              <a:sym typeface="Arvo"/>
            </a:endParaRPr>
          </a:p>
        </p:txBody>
      </p:sp>
      <p:pic>
        <p:nvPicPr>
          <p:cNvPr id="388" name="Google Shape;388;p51"/>
          <p:cNvPicPr preferRelativeResize="0"/>
          <p:nvPr/>
        </p:nvPicPr>
        <p:blipFill>
          <a:blip r:embed="rId5">
            <a:alphaModFix/>
          </a:blip>
          <a:stretch>
            <a:fillRect/>
          </a:stretch>
        </p:blipFill>
        <p:spPr>
          <a:xfrm>
            <a:off x="5565025" y="2803401"/>
            <a:ext cx="2178300" cy="23276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2"/>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Fetch Method</a:t>
            </a:r>
            <a:endParaRPr sz="2300"/>
          </a:p>
        </p:txBody>
      </p:sp>
      <p:sp>
        <p:nvSpPr>
          <p:cNvPr id="394" name="Google Shape;394;p52"/>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4 Fetch Method</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395" name="Google Shape;395;p52"/>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396" name="Google Shape;396;p52"/>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397" name="Google Shape;397;p52"/>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398" name="Google Shape;398;p52"/>
          <p:cNvSpPr txBox="1"/>
          <p:nvPr/>
        </p:nvSpPr>
        <p:spPr>
          <a:xfrm>
            <a:off x="2406975" y="1071725"/>
            <a:ext cx="6105900" cy="3992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90000"/>
              </a:lnSpc>
              <a:spcBef>
                <a:spcPts val="800"/>
              </a:spcBef>
              <a:spcAft>
                <a:spcPts val="0"/>
              </a:spcAft>
              <a:buNone/>
            </a:pPr>
            <a:r>
              <a:t/>
            </a:r>
            <a:endParaRPr sz="1800">
              <a:solidFill>
                <a:schemeClr val="dk2"/>
              </a:solidFill>
            </a:endParaRPr>
          </a:p>
          <a:p>
            <a:pPr indent="0" lvl="0" marL="0" rtl="0" algn="l">
              <a:lnSpc>
                <a:spcPct val="90000"/>
              </a:lnSpc>
              <a:spcBef>
                <a:spcPts val="800"/>
              </a:spcBef>
              <a:spcAft>
                <a:spcPts val="0"/>
              </a:spcAft>
              <a:buNone/>
            </a:pPr>
            <a:r>
              <a:t/>
            </a:r>
            <a:endParaRPr sz="1800">
              <a:solidFill>
                <a:schemeClr val="dk2"/>
              </a:solidFill>
            </a:endParaRPr>
          </a:p>
          <a:p>
            <a:pPr indent="0" lvl="0" marL="0" rtl="0" algn="l">
              <a:lnSpc>
                <a:spcPct val="90000"/>
              </a:lnSpc>
              <a:spcBef>
                <a:spcPts val="800"/>
              </a:spcBef>
              <a:spcAft>
                <a:spcPts val="0"/>
              </a:spcAft>
              <a:buNone/>
            </a:pPr>
            <a:r>
              <a:t/>
            </a:r>
            <a:endParaRPr sz="1800">
              <a:solidFill>
                <a:schemeClr val="dk2"/>
              </a:solidFill>
            </a:endParaRPr>
          </a:p>
          <a:p>
            <a:pPr indent="0" lvl="0" marL="0" rtl="0" algn="l">
              <a:lnSpc>
                <a:spcPct val="90000"/>
              </a:lnSpc>
              <a:spcBef>
                <a:spcPts val="800"/>
              </a:spcBef>
              <a:spcAft>
                <a:spcPts val="0"/>
              </a:spcAft>
              <a:buNone/>
            </a:pPr>
            <a:r>
              <a:t/>
            </a:r>
            <a:endParaRPr sz="1800">
              <a:solidFill>
                <a:schemeClr val="dk2"/>
              </a:solidFill>
            </a:endParaRPr>
          </a:p>
          <a:p>
            <a:pPr indent="0" lvl="0" marL="0" rtl="0" algn="just">
              <a:lnSpc>
                <a:spcPct val="150000"/>
              </a:lnSpc>
              <a:spcBef>
                <a:spcPts val="800"/>
              </a:spcBef>
              <a:spcAft>
                <a:spcPts val="0"/>
              </a:spcAft>
              <a:buNone/>
            </a:pPr>
            <a:r>
              <a:t/>
            </a:r>
            <a:endParaRPr sz="1500">
              <a:solidFill>
                <a:schemeClr val="dk2"/>
              </a:solidFill>
            </a:endParaRPr>
          </a:p>
          <a:p>
            <a:pPr indent="-316706" lvl="0" marL="457200" rtl="0" algn="just">
              <a:lnSpc>
                <a:spcPct val="150000"/>
              </a:lnSpc>
              <a:spcBef>
                <a:spcPts val="800"/>
              </a:spcBef>
              <a:spcAft>
                <a:spcPts val="0"/>
              </a:spcAft>
              <a:buClr>
                <a:schemeClr val="dk1"/>
              </a:buClr>
              <a:buSzPct val="100000"/>
              <a:buChar char="●"/>
            </a:pPr>
            <a:r>
              <a:rPr lang="en" sz="1500">
                <a:solidFill>
                  <a:schemeClr val="dk2"/>
                </a:solidFill>
                <a:latin typeface="Arvo"/>
                <a:ea typeface="Arvo"/>
                <a:cs typeface="Arvo"/>
                <a:sym typeface="Arvo"/>
              </a:rPr>
              <a:t>In this fetch method, </a:t>
            </a:r>
            <a:r>
              <a:rPr b="1" lang="en" sz="1500">
                <a:solidFill>
                  <a:schemeClr val="dk2"/>
                </a:solidFill>
                <a:latin typeface="Arvo"/>
                <a:ea typeface="Arvo"/>
                <a:cs typeface="Arvo"/>
                <a:sym typeface="Arvo"/>
              </a:rPr>
              <a:t>API endpoint</a:t>
            </a:r>
            <a:r>
              <a:rPr lang="en" sz="1500">
                <a:solidFill>
                  <a:schemeClr val="dk2"/>
                </a:solidFill>
                <a:latin typeface="Arvo"/>
                <a:ea typeface="Arvo"/>
                <a:cs typeface="Arvo"/>
                <a:sym typeface="Arvo"/>
              </a:rPr>
              <a:t> is passed as an </a:t>
            </a:r>
            <a:r>
              <a:rPr b="1" lang="en" sz="1500">
                <a:solidFill>
                  <a:schemeClr val="dk2"/>
                </a:solidFill>
                <a:latin typeface="Arvo"/>
                <a:ea typeface="Arvo"/>
                <a:cs typeface="Arvo"/>
                <a:sym typeface="Arvo"/>
              </a:rPr>
              <a:t>argument </a:t>
            </a:r>
            <a:r>
              <a:rPr lang="en" sz="1500">
                <a:solidFill>
                  <a:schemeClr val="dk2"/>
                </a:solidFill>
                <a:latin typeface="Arvo"/>
                <a:ea typeface="Arvo"/>
                <a:cs typeface="Arvo"/>
                <a:sym typeface="Arvo"/>
              </a:rPr>
              <a:t>which provides access to a single product.</a:t>
            </a:r>
            <a:endParaRPr sz="1500">
              <a:solidFill>
                <a:schemeClr val="dk2"/>
              </a:solidFill>
              <a:latin typeface="Arvo"/>
              <a:ea typeface="Arvo"/>
              <a:cs typeface="Arvo"/>
              <a:sym typeface="Arvo"/>
            </a:endParaRPr>
          </a:p>
          <a:p>
            <a:pPr indent="-316706" lvl="0" marL="457200" rtl="0" algn="just">
              <a:lnSpc>
                <a:spcPct val="150000"/>
              </a:lnSpc>
              <a:spcBef>
                <a:spcPts val="0"/>
              </a:spcBef>
              <a:spcAft>
                <a:spcPts val="0"/>
              </a:spcAft>
              <a:buClr>
                <a:schemeClr val="dk1"/>
              </a:buClr>
              <a:buSzPct val="100000"/>
              <a:buChar char="●"/>
            </a:pPr>
            <a:r>
              <a:rPr lang="en" sz="1500">
                <a:solidFill>
                  <a:schemeClr val="dk2"/>
                </a:solidFill>
                <a:latin typeface="Arvo"/>
                <a:ea typeface="Arvo"/>
                <a:cs typeface="Arvo"/>
                <a:sym typeface="Arvo"/>
              </a:rPr>
              <a:t>Calling this fetch() method returns a special </a:t>
            </a:r>
            <a:r>
              <a:rPr b="1" lang="en" sz="1500">
                <a:solidFill>
                  <a:schemeClr val="dk2"/>
                </a:solidFill>
                <a:latin typeface="Arvo"/>
                <a:ea typeface="Arvo"/>
                <a:cs typeface="Arvo"/>
                <a:sym typeface="Arvo"/>
              </a:rPr>
              <a:t>JavaScript object</a:t>
            </a:r>
            <a:r>
              <a:rPr lang="en" sz="1500">
                <a:solidFill>
                  <a:schemeClr val="dk2"/>
                </a:solidFill>
                <a:latin typeface="Arvo"/>
                <a:ea typeface="Arvo"/>
                <a:cs typeface="Arvo"/>
                <a:sym typeface="Arvo"/>
              </a:rPr>
              <a:t> called promise.</a:t>
            </a:r>
            <a:endParaRPr sz="1500">
              <a:solidFill>
                <a:schemeClr val="dk2"/>
              </a:solidFill>
              <a:latin typeface="Arvo"/>
              <a:ea typeface="Arvo"/>
              <a:cs typeface="Arvo"/>
              <a:sym typeface="Arvo"/>
            </a:endParaRPr>
          </a:p>
          <a:p>
            <a:pPr indent="-316706" lvl="0" marL="457200" rtl="0" algn="just">
              <a:lnSpc>
                <a:spcPct val="150000"/>
              </a:lnSpc>
              <a:spcBef>
                <a:spcPts val="0"/>
              </a:spcBef>
              <a:spcAft>
                <a:spcPts val="0"/>
              </a:spcAft>
              <a:buClr>
                <a:schemeClr val="dk1"/>
              </a:buClr>
              <a:buSzPct val="100000"/>
              <a:buChar char="●"/>
            </a:pPr>
            <a:r>
              <a:rPr lang="en" sz="1500">
                <a:solidFill>
                  <a:schemeClr val="dk2"/>
                </a:solidFill>
                <a:latin typeface="Arvo"/>
                <a:ea typeface="Arvo"/>
                <a:cs typeface="Arvo"/>
                <a:sym typeface="Arvo"/>
              </a:rPr>
              <a:t>We have </a:t>
            </a:r>
            <a:r>
              <a:rPr b="1" lang="en" sz="1500">
                <a:solidFill>
                  <a:schemeClr val="dk2"/>
                </a:solidFill>
                <a:latin typeface="Arvo"/>
                <a:ea typeface="Arvo"/>
                <a:cs typeface="Arvo"/>
                <a:sym typeface="Arvo"/>
              </a:rPr>
              <a:t>chained </a:t>
            </a:r>
            <a:r>
              <a:rPr lang="en" sz="1500">
                <a:solidFill>
                  <a:schemeClr val="dk2"/>
                </a:solidFill>
                <a:latin typeface="Arvo"/>
                <a:ea typeface="Arvo"/>
                <a:cs typeface="Arvo"/>
                <a:sym typeface="Arvo"/>
              </a:rPr>
              <a:t>the fetch method with a </a:t>
            </a:r>
            <a:r>
              <a:rPr b="1" lang="en" sz="1500">
                <a:solidFill>
                  <a:schemeClr val="dk2"/>
                </a:solidFill>
                <a:latin typeface="Arvo"/>
                <a:ea typeface="Arvo"/>
                <a:cs typeface="Arvo"/>
                <a:sym typeface="Arvo"/>
              </a:rPr>
              <a:t>then()</a:t>
            </a:r>
            <a:r>
              <a:rPr lang="en" sz="1500">
                <a:solidFill>
                  <a:schemeClr val="dk2"/>
                </a:solidFill>
                <a:latin typeface="Arvo"/>
                <a:ea typeface="Arvo"/>
                <a:cs typeface="Arvo"/>
                <a:sym typeface="Arvo"/>
              </a:rPr>
              <a:t> method to investigate the Response object we got from the </a:t>
            </a:r>
            <a:r>
              <a:rPr b="1" lang="en" sz="1500">
                <a:solidFill>
                  <a:schemeClr val="dk2"/>
                </a:solidFill>
                <a:latin typeface="Arvo"/>
                <a:ea typeface="Arvo"/>
                <a:cs typeface="Arvo"/>
                <a:sym typeface="Arvo"/>
              </a:rPr>
              <a:t>API call</a:t>
            </a:r>
            <a:r>
              <a:rPr lang="en" sz="1500">
                <a:solidFill>
                  <a:schemeClr val="dk2"/>
                </a:solidFill>
                <a:latin typeface="Arvo"/>
                <a:ea typeface="Arvo"/>
                <a:cs typeface="Arvo"/>
                <a:sym typeface="Arvo"/>
              </a:rPr>
              <a:t>.  </a:t>
            </a:r>
            <a:endParaRPr sz="1500">
              <a:solidFill>
                <a:schemeClr val="dk2"/>
              </a:solidFill>
              <a:latin typeface="Arvo"/>
              <a:ea typeface="Arvo"/>
              <a:cs typeface="Arvo"/>
              <a:sym typeface="Arvo"/>
            </a:endParaRPr>
          </a:p>
          <a:p>
            <a:pPr indent="0" lvl="0" marL="457200" rtl="0" algn="just">
              <a:lnSpc>
                <a:spcPct val="150000"/>
              </a:lnSpc>
              <a:spcBef>
                <a:spcPts val="800"/>
              </a:spcBef>
              <a:spcAft>
                <a:spcPts val="0"/>
              </a:spcAft>
              <a:buNone/>
            </a:pPr>
            <a:r>
              <a:t/>
            </a:r>
            <a:endParaRPr sz="1500">
              <a:solidFill>
                <a:schemeClr val="dk2"/>
              </a:solidFill>
            </a:endParaRPr>
          </a:p>
          <a:p>
            <a:pPr indent="-448627" lvl="0" marL="457200" rtl="0" algn="l">
              <a:lnSpc>
                <a:spcPct val="90000"/>
              </a:lnSpc>
              <a:spcBef>
                <a:spcPts val="800"/>
              </a:spcBef>
              <a:spcAft>
                <a:spcPts val="0"/>
              </a:spcAft>
              <a:buClr>
                <a:schemeClr val="dk2"/>
              </a:buClr>
              <a:buSzPct val="100000"/>
              <a:buFont typeface="Arvo"/>
              <a:buChar char="•"/>
            </a:pPr>
            <a:r>
              <a:t/>
            </a:r>
            <a:endParaRPr sz="1800">
              <a:solidFill>
                <a:schemeClr val="dk2"/>
              </a:solidFill>
              <a:latin typeface="Arvo"/>
              <a:ea typeface="Arvo"/>
              <a:cs typeface="Arvo"/>
              <a:sym typeface="Arvo"/>
            </a:endParaRPr>
          </a:p>
        </p:txBody>
      </p:sp>
      <p:pic>
        <p:nvPicPr>
          <p:cNvPr id="399" name="Google Shape;399;p52"/>
          <p:cNvPicPr preferRelativeResize="0"/>
          <p:nvPr/>
        </p:nvPicPr>
        <p:blipFill rotWithShape="1">
          <a:blip r:embed="rId5">
            <a:alphaModFix/>
          </a:blip>
          <a:srcRect b="0" l="0" r="0" t="5060"/>
          <a:stretch/>
        </p:blipFill>
        <p:spPr>
          <a:xfrm>
            <a:off x="2462625" y="1071725"/>
            <a:ext cx="5081025" cy="1466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3"/>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Fetch Method</a:t>
            </a:r>
            <a:endParaRPr sz="2300"/>
          </a:p>
        </p:txBody>
      </p:sp>
      <p:sp>
        <p:nvSpPr>
          <p:cNvPr id="405" name="Google Shape;405;p53"/>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4 Fetch Method</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b="1"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06" name="Google Shape;406;p53"/>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07" name="Google Shape;407;p53"/>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08" name="Google Shape;408;p53"/>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09" name="Google Shape;409;p53"/>
          <p:cNvSpPr txBox="1"/>
          <p:nvPr/>
        </p:nvSpPr>
        <p:spPr>
          <a:xfrm>
            <a:off x="2406975" y="1071725"/>
            <a:ext cx="6272100" cy="2715900"/>
          </a:xfrm>
          <a:prstGeom prst="rect">
            <a:avLst/>
          </a:prstGeom>
          <a:noFill/>
          <a:ln>
            <a:noFill/>
          </a:ln>
        </p:spPr>
        <p:txBody>
          <a:bodyPr anchorCtr="0" anchor="t" bIns="91425" lIns="91425" spcFirstLastPara="1" rIns="91425" wrap="square" tIns="91425">
            <a:normAutofit fontScale="77500" lnSpcReduction="20000"/>
          </a:bodyPr>
          <a:lstStyle/>
          <a:p>
            <a:pPr indent="-302418" lvl="0" marL="457200" rtl="0" algn="just">
              <a:lnSpc>
                <a:spcPct val="150000"/>
              </a:lnSpc>
              <a:spcBef>
                <a:spcPts val="1200"/>
              </a:spcBef>
              <a:spcAft>
                <a:spcPts val="0"/>
              </a:spcAft>
              <a:buClr>
                <a:schemeClr val="dk2"/>
              </a:buClr>
              <a:buSzPct val="100000"/>
              <a:buChar char="●"/>
            </a:pPr>
            <a:r>
              <a:rPr lang="en" sz="1500">
                <a:solidFill>
                  <a:schemeClr val="dk2"/>
                </a:solidFill>
                <a:latin typeface="Arvo"/>
                <a:ea typeface="Arvo"/>
                <a:cs typeface="Arvo"/>
                <a:sym typeface="Arvo"/>
              </a:rPr>
              <a:t>The Response object is assigned to a response variable. (You can give the Response object any variable name of choice, </a:t>
            </a:r>
            <a:r>
              <a:rPr b="1" lang="en" sz="1500">
                <a:solidFill>
                  <a:schemeClr val="dk2"/>
                </a:solidFill>
                <a:latin typeface="Arvo"/>
                <a:ea typeface="Arvo"/>
                <a:cs typeface="Arvo"/>
                <a:sym typeface="Arvo"/>
              </a:rPr>
              <a:t>res or response</a:t>
            </a:r>
            <a:r>
              <a:rPr lang="en" sz="1500">
                <a:solidFill>
                  <a:schemeClr val="dk2"/>
                </a:solidFill>
                <a:latin typeface="Arvo"/>
                <a:ea typeface="Arvo"/>
                <a:cs typeface="Arvo"/>
                <a:sym typeface="Arvo"/>
              </a:rPr>
              <a:t> is the convention)</a:t>
            </a:r>
            <a:endParaRPr sz="1500">
              <a:solidFill>
                <a:schemeClr val="dk2"/>
              </a:solidFill>
              <a:latin typeface="Arvo"/>
              <a:ea typeface="Arvo"/>
              <a:cs typeface="Arvo"/>
              <a:sym typeface="Arvo"/>
            </a:endParaRPr>
          </a:p>
          <a:p>
            <a:pPr indent="-302418" lvl="0" marL="457200" rtl="0" algn="just">
              <a:lnSpc>
                <a:spcPct val="150000"/>
              </a:lnSpc>
              <a:spcBef>
                <a:spcPts val="0"/>
              </a:spcBef>
              <a:spcAft>
                <a:spcPts val="0"/>
              </a:spcAft>
              <a:buClr>
                <a:schemeClr val="dk2"/>
              </a:buClr>
              <a:buSzPct val="100000"/>
              <a:buChar char="●"/>
            </a:pPr>
            <a:r>
              <a:rPr lang="en" sz="1500">
                <a:solidFill>
                  <a:schemeClr val="dk2"/>
                </a:solidFill>
                <a:latin typeface="Arvo"/>
                <a:ea typeface="Arvo"/>
                <a:cs typeface="Arvo"/>
                <a:sym typeface="Arvo"/>
              </a:rPr>
              <a:t>Use the </a:t>
            </a:r>
            <a:r>
              <a:rPr b="1" lang="en" sz="1500">
                <a:solidFill>
                  <a:schemeClr val="dk2"/>
                </a:solidFill>
                <a:latin typeface="Arvo"/>
                <a:ea typeface="Arvo"/>
                <a:cs typeface="Arvo"/>
                <a:sym typeface="Arvo"/>
              </a:rPr>
              <a:t>json()</a:t>
            </a:r>
            <a:r>
              <a:rPr lang="en" sz="1500">
                <a:solidFill>
                  <a:schemeClr val="dk2"/>
                </a:solidFill>
                <a:latin typeface="Arvo"/>
                <a:ea typeface="Arvo"/>
                <a:cs typeface="Arvo"/>
                <a:sym typeface="Arvo"/>
              </a:rPr>
              <a:t> method to view the complete content of the fetched resource ( For instance </a:t>
            </a:r>
            <a:r>
              <a:rPr b="1" lang="en" sz="1500">
                <a:solidFill>
                  <a:schemeClr val="dk2"/>
                </a:solidFill>
                <a:latin typeface="Arvo"/>
                <a:ea typeface="Arvo"/>
                <a:cs typeface="Arvo"/>
                <a:sym typeface="Arvo"/>
              </a:rPr>
              <a:t>res.json()</a:t>
            </a:r>
            <a:r>
              <a:rPr lang="en" sz="1500">
                <a:solidFill>
                  <a:schemeClr val="dk2"/>
                </a:solidFill>
                <a:latin typeface="Arvo"/>
                <a:ea typeface="Arvo"/>
                <a:cs typeface="Arvo"/>
                <a:sym typeface="Arvo"/>
              </a:rPr>
              <a:t> or</a:t>
            </a:r>
            <a:r>
              <a:rPr b="1" lang="en" sz="1500">
                <a:solidFill>
                  <a:schemeClr val="dk2"/>
                </a:solidFill>
                <a:latin typeface="Arvo"/>
                <a:ea typeface="Arvo"/>
                <a:cs typeface="Arvo"/>
                <a:sym typeface="Arvo"/>
              </a:rPr>
              <a:t> response.json()</a:t>
            </a:r>
            <a:r>
              <a:rPr lang="en" sz="1500">
                <a:solidFill>
                  <a:schemeClr val="dk2"/>
                </a:solidFill>
                <a:latin typeface="Arvo"/>
                <a:ea typeface="Arvo"/>
                <a:cs typeface="Arvo"/>
                <a:sym typeface="Arvo"/>
              </a:rPr>
              <a:t> depending on how you named your variable)</a:t>
            </a:r>
            <a:endParaRPr sz="1500">
              <a:solidFill>
                <a:schemeClr val="dk2"/>
              </a:solidFill>
              <a:latin typeface="Arvo"/>
              <a:ea typeface="Arvo"/>
              <a:cs typeface="Arvo"/>
              <a:sym typeface="Arvo"/>
            </a:endParaRPr>
          </a:p>
          <a:p>
            <a:pPr indent="-302418" lvl="0" marL="457200" rtl="0" algn="just">
              <a:lnSpc>
                <a:spcPct val="150000"/>
              </a:lnSpc>
              <a:spcBef>
                <a:spcPts val="0"/>
              </a:spcBef>
              <a:spcAft>
                <a:spcPts val="0"/>
              </a:spcAft>
              <a:buClr>
                <a:schemeClr val="dk1"/>
              </a:buClr>
              <a:buSzPct val="100000"/>
              <a:buFont typeface="Arvo"/>
              <a:buChar char="●"/>
            </a:pPr>
            <a:r>
              <a:rPr lang="en" sz="1500">
                <a:solidFill>
                  <a:schemeClr val="dk2"/>
                </a:solidFill>
                <a:latin typeface="Arvo"/>
                <a:ea typeface="Arvo"/>
                <a:cs typeface="Arvo"/>
                <a:sym typeface="Arvo"/>
              </a:rPr>
              <a:t>The output will be an </a:t>
            </a:r>
            <a:r>
              <a:rPr b="1" lang="en" sz="1500">
                <a:solidFill>
                  <a:schemeClr val="dk2"/>
                </a:solidFill>
                <a:latin typeface="Arvo"/>
                <a:ea typeface="Arvo"/>
                <a:cs typeface="Arvo"/>
                <a:sym typeface="Arvo"/>
              </a:rPr>
              <a:t>Object</a:t>
            </a:r>
            <a:r>
              <a:rPr lang="en" sz="1500">
                <a:solidFill>
                  <a:schemeClr val="dk2"/>
                </a:solidFill>
                <a:latin typeface="Arvo"/>
                <a:ea typeface="Arvo"/>
                <a:cs typeface="Arvo"/>
                <a:sym typeface="Arvo"/>
              </a:rPr>
              <a:t> containing some </a:t>
            </a:r>
            <a:r>
              <a:rPr b="1" lang="en" sz="1500">
                <a:solidFill>
                  <a:schemeClr val="dk2"/>
                </a:solidFill>
                <a:latin typeface="Arvo"/>
                <a:ea typeface="Arvo"/>
                <a:cs typeface="Arvo"/>
                <a:sym typeface="Arvo"/>
              </a:rPr>
              <a:t>dummy</a:t>
            </a:r>
            <a:r>
              <a:rPr lang="en" sz="1500">
                <a:solidFill>
                  <a:schemeClr val="dk2"/>
                </a:solidFill>
                <a:latin typeface="Arvo"/>
                <a:ea typeface="Arvo"/>
                <a:cs typeface="Arvo"/>
                <a:sym typeface="Arvo"/>
              </a:rPr>
              <a:t> product data- </a:t>
            </a:r>
            <a:r>
              <a:rPr lang="en" sz="1500">
                <a:solidFill>
                  <a:schemeClr val="dk2"/>
                </a:solidFill>
                <a:highlight>
                  <a:srgbClr val="B6D7A8"/>
                </a:highlight>
                <a:latin typeface="Arvo"/>
                <a:ea typeface="Arvo"/>
                <a:cs typeface="Arvo"/>
                <a:sym typeface="Arvo"/>
              </a:rPr>
              <a:t>title,description,price,etc.</a:t>
            </a:r>
            <a:endParaRPr sz="1500">
              <a:solidFill>
                <a:schemeClr val="dk2"/>
              </a:solidFill>
              <a:highlight>
                <a:srgbClr val="B6D7A8"/>
              </a:highlight>
              <a:latin typeface="Arvo"/>
              <a:ea typeface="Arvo"/>
              <a:cs typeface="Arvo"/>
              <a:sym typeface="Arvo"/>
            </a:endParaRPr>
          </a:p>
          <a:p>
            <a:pPr indent="0" lvl="0" marL="0" rtl="0" algn="just">
              <a:lnSpc>
                <a:spcPct val="150000"/>
              </a:lnSpc>
              <a:spcBef>
                <a:spcPts val="1200"/>
              </a:spcBef>
              <a:spcAft>
                <a:spcPts val="0"/>
              </a:spcAft>
              <a:buClr>
                <a:schemeClr val="dk1"/>
              </a:buClr>
              <a:buSzPct val="73333"/>
              <a:buFont typeface="Arial"/>
              <a:buNone/>
            </a:pPr>
            <a:r>
              <a:t/>
            </a:r>
            <a:endParaRPr sz="1500">
              <a:solidFill>
                <a:schemeClr val="dk2"/>
              </a:solidFill>
              <a:latin typeface="Arvo"/>
              <a:ea typeface="Arvo"/>
              <a:cs typeface="Arvo"/>
              <a:sym typeface="Arvo"/>
            </a:endParaRPr>
          </a:p>
          <a:p>
            <a:pPr indent="0" lvl="0" marL="0" rtl="0" algn="l">
              <a:lnSpc>
                <a:spcPct val="90000"/>
              </a:lnSpc>
              <a:spcBef>
                <a:spcPts val="1200"/>
              </a:spcBef>
              <a:spcAft>
                <a:spcPts val="0"/>
              </a:spcAft>
              <a:buClr>
                <a:schemeClr val="dk1"/>
              </a:buClr>
              <a:buSzPct val="61111"/>
              <a:buFont typeface="Arial"/>
              <a:buNone/>
            </a:pPr>
            <a:r>
              <a:t/>
            </a:r>
            <a:endParaRPr sz="1800">
              <a:solidFill>
                <a:schemeClr val="dk2"/>
              </a:solidFill>
            </a:endParaRPr>
          </a:p>
        </p:txBody>
      </p:sp>
      <p:pic>
        <p:nvPicPr>
          <p:cNvPr id="410" name="Google Shape;410;p53"/>
          <p:cNvPicPr preferRelativeResize="0"/>
          <p:nvPr/>
        </p:nvPicPr>
        <p:blipFill>
          <a:blip r:embed="rId5">
            <a:alphaModFix/>
          </a:blip>
          <a:stretch>
            <a:fillRect/>
          </a:stretch>
        </p:blipFill>
        <p:spPr>
          <a:xfrm>
            <a:off x="2240824" y="3113025"/>
            <a:ext cx="6954451" cy="191108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4"/>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Promises</a:t>
            </a:r>
            <a:endParaRPr sz="2300"/>
          </a:p>
        </p:txBody>
      </p:sp>
      <p:sp>
        <p:nvSpPr>
          <p:cNvPr id="416" name="Google Shape;416;p54"/>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4 Fetch Method</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17" name="Google Shape;417;p54"/>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18" name="Google Shape;418;p54"/>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19" name="Google Shape;419;p54"/>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20" name="Google Shape;420;p54"/>
          <p:cNvSpPr txBox="1"/>
          <p:nvPr/>
        </p:nvSpPr>
        <p:spPr>
          <a:xfrm>
            <a:off x="2240825" y="1047050"/>
            <a:ext cx="6438300" cy="2728200"/>
          </a:xfrm>
          <a:prstGeom prst="rect">
            <a:avLst/>
          </a:prstGeom>
          <a:noFill/>
          <a:ln>
            <a:noFill/>
          </a:ln>
        </p:spPr>
        <p:txBody>
          <a:bodyPr anchorCtr="0" anchor="t" bIns="91425" lIns="91425" spcFirstLastPara="1" rIns="91425" wrap="square" tIns="91425">
            <a:normAutofit fontScale="77500"/>
          </a:bodyPr>
          <a:lstStyle/>
          <a:p>
            <a:pPr indent="0" lvl="0" marL="0" rtl="0" algn="just">
              <a:lnSpc>
                <a:spcPct val="150000"/>
              </a:lnSpc>
              <a:spcBef>
                <a:spcPts val="800"/>
              </a:spcBef>
              <a:spcAft>
                <a:spcPts val="0"/>
              </a:spcAft>
              <a:buClr>
                <a:schemeClr val="dk1"/>
              </a:buClr>
              <a:buSzPct val="73333"/>
              <a:buFont typeface="Arial"/>
              <a:buNone/>
            </a:pPr>
            <a:r>
              <a:rPr b="1" lang="en" sz="1500">
                <a:solidFill>
                  <a:schemeClr val="dk2"/>
                </a:solidFill>
                <a:latin typeface="Arvo"/>
                <a:ea typeface="Arvo"/>
                <a:cs typeface="Arvo"/>
                <a:sym typeface="Arvo"/>
              </a:rPr>
              <a:t>Handling the status code of the response</a:t>
            </a:r>
            <a:endParaRPr b="1" sz="1500">
              <a:solidFill>
                <a:schemeClr val="dk2"/>
              </a:solidFill>
              <a:latin typeface="Arvo"/>
              <a:ea typeface="Arvo"/>
              <a:cs typeface="Arvo"/>
              <a:sym typeface="Arvo"/>
            </a:endParaRPr>
          </a:p>
          <a:p>
            <a:pPr indent="-282733" lvl="0" marL="457200" rtl="0" algn="just">
              <a:lnSpc>
                <a:spcPct val="150000"/>
              </a:lnSpc>
              <a:spcBef>
                <a:spcPts val="800"/>
              </a:spcBef>
              <a:spcAft>
                <a:spcPts val="0"/>
              </a:spcAft>
              <a:buClr>
                <a:schemeClr val="dk1"/>
              </a:buClr>
              <a:buSzPct val="73333"/>
              <a:buFont typeface="Arvo"/>
              <a:buChar char="●"/>
            </a:pPr>
            <a:r>
              <a:rPr lang="en" sz="1500">
                <a:solidFill>
                  <a:schemeClr val="dk2"/>
                </a:solidFill>
                <a:latin typeface="Arvo"/>
                <a:ea typeface="Arvo"/>
                <a:cs typeface="Arvo"/>
                <a:sym typeface="Arvo"/>
              </a:rPr>
              <a:t>An HTTP </a:t>
            </a:r>
            <a:r>
              <a:rPr b="1" lang="en" sz="1500">
                <a:solidFill>
                  <a:schemeClr val="dk2"/>
                </a:solidFill>
                <a:latin typeface="Arvo"/>
                <a:ea typeface="Arvo"/>
                <a:cs typeface="Arvo"/>
                <a:sym typeface="Arvo"/>
              </a:rPr>
              <a:t>status code</a:t>
            </a:r>
            <a:r>
              <a:rPr lang="en" sz="1500">
                <a:solidFill>
                  <a:schemeClr val="dk2"/>
                </a:solidFill>
                <a:latin typeface="Arvo"/>
                <a:ea typeface="Arvo"/>
                <a:cs typeface="Arvo"/>
                <a:sym typeface="Arvo"/>
              </a:rPr>
              <a:t> is a server response to a </a:t>
            </a:r>
            <a:r>
              <a:rPr b="1" lang="en" sz="1500">
                <a:solidFill>
                  <a:schemeClr val="dk2"/>
                </a:solidFill>
                <a:latin typeface="Arvo"/>
                <a:ea typeface="Arvo"/>
                <a:cs typeface="Arvo"/>
                <a:sym typeface="Arvo"/>
              </a:rPr>
              <a:t>browser’s request</a:t>
            </a:r>
            <a:r>
              <a:rPr lang="en" sz="1500">
                <a:solidFill>
                  <a:schemeClr val="dk2"/>
                </a:solidFill>
                <a:latin typeface="Arvo"/>
                <a:ea typeface="Arvo"/>
                <a:cs typeface="Arvo"/>
                <a:sym typeface="Arvo"/>
              </a:rPr>
              <a:t>.</a:t>
            </a:r>
            <a:endParaRPr sz="1500">
              <a:solidFill>
                <a:schemeClr val="dk2"/>
              </a:solidFill>
              <a:latin typeface="Arvo"/>
              <a:ea typeface="Arvo"/>
              <a:cs typeface="Arvo"/>
              <a:sym typeface="Arvo"/>
            </a:endParaRPr>
          </a:p>
          <a:p>
            <a:pPr indent="-282733" lvl="0" marL="457200" rtl="0" algn="just">
              <a:lnSpc>
                <a:spcPct val="150000"/>
              </a:lnSpc>
              <a:spcBef>
                <a:spcPts val="0"/>
              </a:spcBef>
              <a:spcAft>
                <a:spcPts val="0"/>
              </a:spcAft>
              <a:buClr>
                <a:schemeClr val="dk1"/>
              </a:buClr>
              <a:buSzPct val="73333"/>
              <a:buFont typeface="Arvo"/>
              <a:buChar char="●"/>
            </a:pPr>
            <a:r>
              <a:rPr lang="en" sz="1500">
                <a:solidFill>
                  <a:schemeClr val="dk2"/>
                </a:solidFill>
                <a:latin typeface="Arvo"/>
                <a:ea typeface="Arvo"/>
                <a:cs typeface="Arvo"/>
                <a:sym typeface="Arvo"/>
              </a:rPr>
              <a:t>The server responds it to the browser’s request with a </a:t>
            </a:r>
            <a:r>
              <a:rPr b="1" lang="en" sz="1500">
                <a:solidFill>
                  <a:schemeClr val="dk2"/>
                </a:solidFill>
                <a:latin typeface="Arvo"/>
                <a:ea typeface="Arvo"/>
                <a:cs typeface="Arvo"/>
                <a:sym typeface="Arvo"/>
              </a:rPr>
              <a:t>three-digit code</a:t>
            </a:r>
            <a:r>
              <a:rPr lang="en" sz="1500">
                <a:solidFill>
                  <a:schemeClr val="dk2"/>
                </a:solidFill>
                <a:latin typeface="Arvo"/>
                <a:ea typeface="Arvo"/>
                <a:cs typeface="Arvo"/>
                <a:sym typeface="Arvo"/>
              </a:rPr>
              <a:t> and a </a:t>
            </a:r>
            <a:r>
              <a:rPr b="1" lang="en" sz="1500">
                <a:solidFill>
                  <a:schemeClr val="dk2"/>
                </a:solidFill>
                <a:latin typeface="Arvo"/>
                <a:ea typeface="Arvo"/>
                <a:cs typeface="Arvo"/>
                <a:sym typeface="Arvo"/>
              </a:rPr>
              <a:t>status text</a:t>
            </a:r>
            <a:r>
              <a:rPr lang="en" sz="1500">
                <a:solidFill>
                  <a:schemeClr val="dk2"/>
                </a:solidFill>
                <a:latin typeface="Arvo"/>
                <a:ea typeface="Arvo"/>
                <a:cs typeface="Arvo"/>
                <a:sym typeface="Arvo"/>
              </a:rPr>
              <a:t>.</a:t>
            </a:r>
            <a:endParaRPr sz="1500">
              <a:solidFill>
                <a:schemeClr val="dk2"/>
              </a:solidFill>
              <a:latin typeface="Arvo"/>
              <a:ea typeface="Arvo"/>
              <a:cs typeface="Arvo"/>
              <a:sym typeface="Arvo"/>
            </a:endParaRPr>
          </a:p>
          <a:p>
            <a:pPr indent="-282733" lvl="0" marL="457200" rtl="0" algn="just">
              <a:lnSpc>
                <a:spcPct val="150000"/>
              </a:lnSpc>
              <a:spcBef>
                <a:spcPts val="0"/>
              </a:spcBef>
              <a:spcAft>
                <a:spcPts val="0"/>
              </a:spcAft>
              <a:buClr>
                <a:schemeClr val="dk1"/>
              </a:buClr>
              <a:buSzPct val="73333"/>
              <a:buFont typeface="Arvo"/>
              <a:buChar char="●"/>
            </a:pPr>
            <a:r>
              <a:rPr lang="en" sz="1500">
                <a:solidFill>
                  <a:schemeClr val="dk2"/>
                </a:solidFill>
                <a:latin typeface="Arvo"/>
                <a:ea typeface="Arvo"/>
                <a:cs typeface="Arvo"/>
                <a:sym typeface="Arvo"/>
              </a:rPr>
              <a:t>A </a:t>
            </a:r>
            <a:r>
              <a:rPr b="1" lang="en" sz="1500">
                <a:solidFill>
                  <a:schemeClr val="dk2"/>
                </a:solidFill>
                <a:latin typeface="Arvo"/>
                <a:ea typeface="Arvo"/>
                <a:cs typeface="Arvo"/>
                <a:sym typeface="Arvo"/>
              </a:rPr>
              <a:t>successful </a:t>
            </a:r>
            <a:r>
              <a:rPr lang="en" sz="1500">
                <a:solidFill>
                  <a:schemeClr val="dk2"/>
                </a:solidFill>
                <a:latin typeface="Arvo"/>
                <a:ea typeface="Arvo"/>
                <a:cs typeface="Arvo"/>
                <a:sym typeface="Arvo"/>
              </a:rPr>
              <a:t>response will give a status code of </a:t>
            </a:r>
            <a:r>
              <a:rPr b="1" lang="en" sz="1500">
                <a:solidFill>
                  <a:schemeClr val="dk2"/>
                </a:solidFill>
                <a:latin typeface="Arvo"/>
                <a:ea typeface="Arvo"/>
                <a:cs typeface="Arvo"/>
                <a:sym typeface="Arvo"/>
              </a:rPr>
              <a:t>200</a:t>
            </a:r>
            <a:r>
              <a:rPr lang="en" sz="1500">
                <a:solidFill>
                  <a:schemeClr val="dk2"/>
                </a:solidFill>
                <a:latin typeface="Arvo"/>
                <a:ea typeface="Arvo"/>
                <a:cs typeface="Arvo"/>
                <a:sym typeface="Arvo"/>
              </a:rPr>
              <a:t> and a status text of </a:t>
            </a:r>
            <a:r>
              <a:rPr b="1" lang="en" sz="1500">
                <a:solidFill>
                  <a:schemeClr val="dk2"/>
                </a:solidFill>
                <a:latin typeface="Arvo"/>
                <a:ea typeface="Arvo"/>
                <a:cs typeface="Arvo"/>
                <a:sym typeface="Arvo"/>
              </a:rPr>
              <a:t>OK.</a:t>
            </a:r>
            <a:endParaRPr b="1" sz="1500">
              <a:solidFill>
                <a:schemeClr val="dk2"/>
              </a:solidFill>
              <a:latin typeface="Arvo"/>
              <a:ea typeface="Arvo"/>
              <a:cs typeface="Arvo"/>
              <a:sym typeface="Arvo"/>
            </a:endParaRPr>
          </a:p>
          <a:p>
            <a:pPr indent="-282733" lvl="0" marL="457200" rtl="0" algn="just">
              <a:lnSpc>
                <a:spcPct val="150000"/>
              </a:lnSpc>
              <a:spcBef>
                <a:spcPts val="0"/>
              </a:spcBef>
              <a:spcAft>
                <a:spcPts val="0"/>
              </a:spcAft>
              <a:buClr>
                <a:schemeClr val="dk1"/>
              </a:buClr>
              <a:buSzPct val="73333"/>
              <a:buFont typeface="Arvo"/>
              <a:buChar char="●"/>
            </a:pPr>
            <a:r>
              <a:rPr lang="en" sz="1500">
                <a:solidFill>
                  <a:schemeClr val="dk2"/>
                </a:solidFill>
                <a:latin typeface="Arvo"/>
                <a:ea typeface="Arvo"/>
                <a:cs typeface="Arvo"/>
                <a:sym typeface="Arvo"/>
              </a:rPr>
              <a:t>If the requested URL throws a </a:t>
            </a:r>
            <a:r>
              <a:rPr b="1" lang="en" sz="1500">
                <a:solidFill>
                  <a:schemeClr val="dk2"/>
                </a:solidFill>
                <a:latin typeface="Arvo"/>
                <a:ea typeface="Arvo"/>
                <a:cs typeface="Arvo"/>
                <a:sym typeface="Arvo"/>
              </a:rPr>
              <a:t>server error</a:t>
            </a:r>
            <a:r>
              <a:rPr lang="en" sz="1500">
                <a:solidFill>
                  <a:schemeClr val="dk2"/>
                </a:solidFill>
                <a:latin typeface="Arvo"/>
                <a:ea typeface="Arvo"/>
                <a:cs typeface="Arvo"/>
                <a:sym typeface="Arvo"/>
              </a:rPr>
              <a:t>, the status code will be </a:t>
            </a:r>
            <a:r>
              <a:rPr b="1" lang="en" sz="1500">
                <a:solidFill>
                  <a:schemeClr val="dk2"/>
                </a:solidFill>
                <a:latin typeface="Arvo"/>
                <a:ea typeface="Arvo"/>
                <a:cs typeface="Arvo"/>
                <a:sym typeface="Arvo"/>
              </a:rPr>
              <a:t>500</a:t>
            </a:r>
            <a:r>
              <a:rPr lang="en" sz="1500">
                <a:solidFill>
                  <a:schemeClr val="dk2"/>
                </a:solidFill>
                <a:latin typeface="Arvo"/>
                <a:ea typeface="Arvo"/>
                <a:cs typeface="Arvo"/>
                <a:sym typeface="Arvo"/>
              </a:rPr>
              <a:t>.</a:t>
            </a:r>
            <a:endParaRPr sz="1500">
              <a:solidFill>
                <a:schemeClr val="dk2"/>
              </a:solidFill>
              <a:latin typeface="Arvo"/>
              <a:ea typeface="Arvo"/>
              <a:cs typeface="Arvo"/>
              <a:sym typeface="Arvo"/>
            </a:endParaRPr>
          </a:p>
          <a:p>
            <a:pPr indent="-282733" lvl="0" marL="457200" rtl="0" algn="just">
              <a:lnSpc>
                <a:spcPct val="150000"/>
              </a:lnSpc>
              <a:spcBef>
                <a:spcPts val="0"/>
              </a:spcBef>
              <a:spcAft>
                <a:spcPts val="0"/>
              </a:spcAft>
              <a:buClr>
                <a:schemeClr val="dk1"/>
              </a:buClr>
              <a:buSzPct val="73333"/>
              <a:buFont typeface="Arvo"/>
              <a:buChar char="●"/>
            </a:pPr>
            <a:r>
              <a:rPr lang="en" sz="1500">
                <a:solidFill>
                  <a:schemeClr val="dk2"/>
                </a:solidFill>
                <a:latin typeface="Arvo"/>
                <a:ea typeface="Arvo"/>
                <a:cs typeface="Arvo"/>
                <a:sym typeface="Arvo"/>
              </a:rPr>
              <a:t>If the requested resource does </a:t>
            </a:r>
            <a:r>
              <a:rPr b="1" lang="en" sz="1500">
                <a:solidFill>
                  <a:schemeClr val="dk2"/>
                </a:solidFill>
                <a:latin typeface="Arvo"/>
                <a:ea typeface="Arvo"/>
                <a:cs typeface="Arvo"/>
                <a:sym typeface="Arvo"/>
              </a:rPr>
              <a:t>not exist</a:t>
            </a:r>
            <a:r>
              <a:rPr lang="en" sz="1500">
                <a:solidFill>
                  <a:schemeClr val="dk2"/>
                </a:solidFill>
                <a:latin typeface="Arvo"/>
                <a:ea typeface="Arvo"/>
                <a:cs typeface="Arvo"/>
                <a:sym typeface="Arvo"/>
              </a:rPr>
              <a:t>, the status code will </a:t>
            </a:r>
            <a:r>
              <a:rPr b="1" lang="en" sz="1500">
                <a:solidFill>
                  <a:schemeClr val="dk2"/>
                </a:solidFill>
                <a:latin typeface="Arvo"/>
                <a:ea typeface="Arvo"/>
                <a:cs typeface="Arvo"/>
                <a:sym typeface="Arvo"/>
              </a:rPr>
              <a:t>400</a:t>
            </a:r>
            <a:r>
              <a:rPr lang="en" sz="1500">
                <a:solidFill>
                  <a:schemeClr val="dk2"/>
                </a:solidFill>
                <a:latin typeface="Arvo"/>
                <a:ea typeface="Arvo"/>
                <a:cs typeface="Arvo"/>
                <a:sym typeface="Arvo"/>
              </a:rPr>
              <a:t> and status text will be </a:t>
            </a:r>
            <a:r>
              <a:rPr b="1" lang="en" sz="1500">
                <a:solidFill>
                  <a:schemeClr val="dk2"/>
                </a:solidFill>
                <a:latin typeface="Arvo"/>
                <a:ea typeface="Arvo"/>
                <a:cs typeface="Arvo"/>
                <a:sym typeface="Arvo"/>
              </a:rPr>
              <a:t>Not found</a:t>
            </a:r>
            <a:r>
              <a:rPr lang="en" sz="1500">
                <a:solidFill>
                  <a:schemeClr val="dk2"/>
                </a:solidFill>
                <a:latin typeface="Arvo"/>
                <a:ea typeface="Arvo"/>
                <a:cs typeface="Arvo"/>
                <a:sym typeface="Arvo"/>
              </a:rPr>
              <a:t>.</a:t>
            </a:r>
            <a:endParaRPr sz="1500">
              <a:solidFill>
                <a:schemeClr val="dk2"/>
              </a:solidFill>
              <a:latin typeface="Arvo"/>
              <a:ea typeface="Arvo"/>
              <a:cs typeface="Arvo"/>
              <a:sym typeface="Arvo"/>
            </a:endParaRPr>
          </a:p>
          <a:p>
            <a:pPr indent="0" lvl="0" marL="0" rtl="0" algn="l">
              <a:lnSpc>
                <a:spcPct val="90000"/>
              </a:lnSpc>
              <a:spcBef>
                <a:spcPts val="800"/>
              </a:spcBef>
              <a:spcAft>
                <a:spcPts val="0"/>
              </a:spcAft>
              <a:buClr>
                <a:schemeClr val="dk1"/>
              </a:buClr>
              <a:buSzPct val="61111"/>
              <a:buFont typeface="Arial"/>
              <a:buNone/>
            </a:pPr>
            <a:r>
              <a:t/>
            </a:r>
            <a:endParaRPr sz="1800">
              <a:solidFill>
                <a:schemeClr val="dk2"/>
              </a:solidFill>
            </a:endParaRPr>
          </a:p>
        </p:txBody>
      </p:sp>
      <p:pic>
        <p:nvPicPr>
          <p:cNvPr id="421" name="Google Shape;421;p54"/>
          <p:cNvPicPr preferRelativeResize="0"/>
          <p:nvPr/>
        </p:nvPicPr>
        <p:blipFill>
          <a:blip r:embed="rId5">
            <a:alphaModFix/>
          </a:blip>
          <a:stretch>
            <a:fillRect/>
          </a:stretch>
        </p:blipFill>
        <p:spPr>
          <a:xfrm>
            <a:off x="4840400" y="3157725"/>
            <a:ext cx="2519200" cy="19733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5"/>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Promises</a:t>
            </a:r>
            <a:endParaRPr sz="2300"/>
          </a:p>
        </p:txBody>
      </p:sp>
      <p:sp>
        <p:nvSpPr>
          <p:cNvPr id="427" name="Google Shape;427;p55"/>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4 Fetch Method</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28" name="Google Shape;428;p55"/>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29" name="Google Shape;429;p55"/>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30" name="Google Shape;430;p55"/>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31" name="Google Shape;431;p55"/>
          <p:cNvSpPr txBox="1"/>
          <p:nvPr/>
        </p:nvSpPr>
        <p:spPr>
          <a:xfrm>
            <a:off x="2240825" y="1047050"/>
            <a:ext cx="6438300" cy="27282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800"/>
              </a:spcBef>
              <a:spcAft>
                <a:spcPts val="0"/>
              </a:spcAft>
              <a:buClr>
                <a:schemeClr val="dk1"/>
              </a:buClr>
              <a:buSzPts val="1100"/>
              <a:buFont typeface="Arial"/>
              <a:buNone/>
            </a:pPr>
            <a:r>
              <a:rPr lang="en" sz="1800">
                <a:solidFill>
                  <a:schemeClr val="dk2"/>
                </a:solidFill>
              </a:rPr>
              <a:t>Example: status code 200</a:t>
            </a:r>
            <a:endParaRPr sz="1800">
              <a:solidFill>
                <a:schemeClr val="dk2"/>
              </a:solidFill>
            </a:endParaRPr>
          </a:p>
        </p:txBody>
      </p:sp>
      <p:pic>
        <p:nvPicPr>
          <p:cNvPr id="432" name="Google Shape;432;p55"/>
          <p:cNvPicPr preferRelativeResize="0"/>
          <p:nvPr/>
        </p:nvPicPr>
        <p:blipFill>
          <a:blip r:embed="rId5">
            <a:alphaModFix/>
          </a:blip>
          <a:stretch>
            <a:fillRect/>
          </a:stretch>
        </p:blipFill>
        <p:spPr>
          <a:xfrm>
            <a:off x="2395963" y="1694550"/>
            <a:ext cx="5243775" cy="2341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56"/>
          <p:cNvPicPr preferRelativeResize="0"/>
          <p:nvPr/>
        </p:nvPicPr>
        <p:blipFill rotWithShape="1">
          <a:blip r:embed="rId3">
            <a:alphaModFix/>
          </a:blip>
          <a:srcRect b="0" l="0" r="0" t="0"/>
          <a:stretch/>
        </p:blipFill>
        <p:spPr>
          <a:xfrm>
            <a:off x="0" y="0"/>
            <a:ext cx="9144000" cy="51435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7"/>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API</a:t>
            </a:r>
            <a:endParaRPr sz="2300"/>
          </a:p>
        </p:txBody>
      </p:sp>
      <p:sp>
        <p:nvSpPr>
          <p:cNvPr id="443" name="Google Shape;443;p57"/>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5 API</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44" name="Google Shape;444;p57"/>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45" name="Google Shape;445;p57"/>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46" name="Google Shape;446;p57"/>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47" name="Google Shape;447;p57"/>
          <p:cNvSpPr txBox="1"/>
          <p:nvPr/>
        </p:nvSpPr>
        <p:spPr>
          <a:xfrm>
            <a:off x="2240825" y="1047050"/>
            <a:ext cx="6438300" cy="2728200"/>
          </a:xfrm>
          <a:prstGeom prst="rect">
            <a:avLst/>
          </a:prstGeom>
          <a:noFill/>
          <a:ln>
            <a:noFill/>
          </a:ln>
        </p:spPr>
        <p:txBody>
          <a:bodyPr anchorCtr="0" anchor="t" bIns="91425" lIns="91425" spcFirstLastPara="1" rIns="91425" wrap="square" tIns="91425">
            <a:normAutofit/>
          </a:bodyPr>
          <a:lstStyle/>
          <a:p>
            <a:pPr indent="-317500" lvl="0" marL="457200" rtl="0" algn="just">
              <a:lnSpc>
                <a:spcPct val="140000"/>
              </a:lnSpc>
              <a:spcBef>
                <a:spcPts val="800"/>
              </a:spcBef>
              <a:spcAft>
                <a:spcPts val="0"/>
              </a:spcAft>
              <a:buClr>
                <a:schemeClr val="dk2"/>
              </a:buClr>
              <a:buSzPts val="1400"/>
              <a:buFont typeface="Arvo"/>
              <a:buChar char="●"/>
            </a:pPr>
            <a:r>
              <a:rPr lang="en">
                <a:solidFill>
                  <a:schemeClr val="dk2"/>
                </a:solidFill>
                <a:latin typeface="Arvo"/>
                <a:ea typeface="Arvo"/>
                <a:cs typeface="Arvo"/>
                <a:sym typeface="Arvo"/>
              </a:rPr>
              <a:t>It can extend the functionality of the browser</a:t>
            </a:r>
            <a:endParaRPr>
              <a:solidFill>
                <a:schemeClr val="dk2"/>
              </a:solidFill>
              <a:latin typeface="Arvo"/>
              <a:ea typeface="Arvo"/>
              <a:cs typeface="Arvo"/>
              <a:sym typeface="Arvo"/>
            </a:endParaRPr>
          </a:p>
          <a:p>
            <a:pPr indent="-317500" lvl="0" marL="457200" rtl="0" algn="just">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It can greatly simplify complex functions</a:t>
            </a:r>
            <a:endParaRPr>
              <a:solidFill>
                <a:schemeClr val="dk2"/>
              </a:solidFill>
              <a:latin typeface="Arvo"/>
              <a:ea typeface="Arvo"/>
              <a:cs typeface="Arvo"/>
              <a:sym typeface="Arvo"/>
            </a:endParaRPr>
          </a:p>
          <a:p>
            <a:pPr indent="-317500" lvl="0" marL="457200" rtl="0" algn="just">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It can provide easy syntax to complex code</a:t>
            </a:r>
            <a:endParaRPr>
              <a:solidFill>
                <a:schemeClr val="dk2"/>
              </a:solidFill>
              <a:latin typeface="Arvo"/>
              <a:ea typeface="Arvo"/>
              <a:cs typeface="Arvo"/>
              <a:sym typeface="Arvo"/>
            </a:endParaRPr>
          </a:p>
          <a:p>
            <a:pPr indent="0" lvl="0" marL="0" rtl="0" algn="l">
              <a:lnSpc>
                <a:spcPct val="90000"/>
              </a:lnSpc>
              <a:spcBef>
                <a:spcPts val="800"/>
              </a:spcBef>
              <a:spcAft>
                <a:spcPts val="0"/>
              </a:spcAft>
              <a:buClr>
                <a:schemeClr val="dk1"/>
              </a:buClr>
              <a:buSzPts val="1100"/>
              <a:buFont typeface="Arial"/>
              <a:buNone/>
            </a:pPr>
            <a:r>
              <a:t/>
            </a:r>
            <a:endParaRPr sz="18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8"/>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API</a:t>
            </a:r>
            <a:endParaRPr sz="2300"/>
          </a:p>
        </p:txBody>
      </p:sp>
      <p:sp>
        <p:nvSpPr>
          <p:cNvPr id="453" name="Google Shape;453;p58"/>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5 API</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54" name="Google Shape;454;p58"/>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55" name="Google Shape;455;p58"/>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56" name="Google Shape;456;p58"/>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57" name="Google Shape;457;p58"/>
          <p:cNvSpPr txBox="1"/>
          <p:nvPr/>
        </p:nvSpPr>
        <p:spPr>
          <a:xfrm>
            <a:off x="2240825" y="1047050"/>
            <a:ext cx="6438300" cy="3495300"/>
          </a:xfrm>
          <a:prstGeom prst="rect">
            <a:avLst/>
          </a:prstGeom>
          <a:noFill/>
          <a:ln>
            <a:noFill/>
          </a:ln>
        </p:spPr>
        <p:txBody>
          <a:bodyPr anchorCtr="0" anchor="t" bIns="91425" lIns="91425" spcFirstLastPara="1" rIns="91425" wrap="square" tIns="91425">
            <a:normAutofit/>
          </a:bodyPr>
          <a:lstStyle/>
          <a:p>
            <a:pPr indent="-314325" lvl="0" marL="457200" rtl="0" algn="just">
              <a:lnSpc>
                <a:spcPct val="140000"/>
              </a:lnSpc>
              <a:spcBef>
                <a:spcPts val="800"/>
              </a:spcBef>
              <a:spcAft>
                <a:spcPts val="0"/>
              </a:spcAft>
              <a:buClr>
                <a:schemeClr val="dk2"/>
              </a:buClr>
              <a:buSzPts val="1350"/>
              <a:buFont typeface="Arvo"/>
              <a:buChar char="●"/>
            </a:pPr>
            <a:r>
              <a:rPr lang="en" sz="1350">
                <a:solidFill>
                  <a:schemeClr val="dk2"/>
                </a:solidFill>
                <a:latin typeface="Arvo"/>
                <a:ea typeface="Arvo"/>
                <a:cs typeface="Arvo"/>
                <a:sym typeface="Arvo"/>
              </a:rPr>
              <a:t>API stands for Application Programming Interface.</a:t>
            </a:r>
            <a:endParaRPr sz="1350">
              <a:solidFill>
                <a:schemeClr val="dk2"/>
              </a:solidFill>
              <a:latin typeface="Arvo"/>
              <a:ea typeface="Arvo"/>
              <a:cs typeface="Arvo"/>
              <a:sym typeface="Arvo"/>
            </a:endParaRPr>
          </a:p>
          <a:p>
            <a:pPr indent="-314325" lvl="0" marL="457200" rtl="0" algn="just">
              <a:lnSpc>
                <a:spcPct val="140000"/>
              </a:lnSpc>
              <a:spcBef>
                <a:spcPts val="0"/>
              </a:spcBef>
              <a:spcAft>
                <a:spcPts val="0"/>
              </a:spcAft>
              <a:buClr>
                <a:schemeClr val="dk2"/>
              </a:buClr>
              <a:buSzPts val="1350"/>
              <a:buFont typeface="Arvo"/>
              <a:buChar char="●"/>
            </a:pPr>
            <a:r>
              <a:rPr lang="en" sz="1350">
                <a:solidFill>
                  <a:schemeClr val="dk2"/>
                </a:solidFill>
                <a:latin typeface="Arvo"/>
                <a:ea typeface="Arvo"/>
                <a:cs typeface="Arvo"/>
                <a:sym typeface="Arvo"/>
              </a:rPr>
              <a:t>A Web API is an application programming interface for the Web.</a:t>
            </a:r>
            <a:endParaRPr sz="1350">
              <a:solidFill>
                <a:schemeClr val="dk2"/>
              </a:solidFill>
              <a:latin typeface="Arvo"/>
              <a:ea typeface="Arvo"/>
              <a:cs typeface="Arvo"/>
              <a:sym typeface="Arvo"/>
            </a:endParaRPr>
          </a:p>
          <a:p>
            <a:pPr indent="-314325" lvl="0" marL="457200" rtl="0" algn="just">
              <a:lnSpc>
                <a:spcPct val="140000"/>
              </a:lnSpc>
              <a:spcBef>
                <a:spcPts val="0"/>
              </a:spcBef>
              <a:spcAft>
                <a:spcPts val="0"/>
              </a:spcAft>
              <a:buClr>
                <a:schemeClr val="dk2"/>
              </a:buClr>
              <a:buSzPts val="1350"/>
              <a:buFont typeface="Arvo"/>
              <a:buChar char="●"/>
            </a:pPr>
            <a:r>
              <a:rPr lang="en" sz="1350">
                <a:solidFill>
                  <a:schemeClr val="dk2"/>
                </a:solidFill>
                <a:latin typeface="Arvo"/>
                <a:ea typeface="Arvo"/>
                <a:cs typeface="Arvo"/>
                <a:sym typeface="Arvo"/>
              </a:rPr>
              <a:t>A Browser API can extend the functionality of a web browser.</a:t>
            </a:r>
            <a:endParaRPr sz="1350">
              <a:solidFill>
                <a:schemeClr val="dk2"/>
              </a:solidFill>
              <a:latin typeface="Arvo"/>
              <a:ea typeface="Arvo"/>
              <a:cs typeface="Arvo"/>
              <a:sym typeface="Arvo"/>
            </a:endParaRPr>
          </a:p>
          <a:p>
            <a:pPr indent="-314325" lvl="0" marL="457200" rtl="0" algn="just">
              <a:lnSpc>
                <a:spcPct val="140000"/>
              </a:lnSpc>
              <a:spcBef>
                <a:spcPts val="0"/>
              </a:spcBef>
              <a:spcAft>
                <a:spcPts val="0"/>
              </a:spcAft>
              <a:buClr>
                <a:schemeClr val="dk2"/>
              </a:buClr>
              <a:buSzPts val="1350"/>
              <a:buFont typeface="Arvo"/>
              <a:buChar char="●"/>
            </a:pPr>
            <a:r>
              <a:rPr lang="en" sz="1350">
                <a:solidFill>
                  <a:schemeClr val="dk2"/>
                </a:solidFill>
                <a:latin typeface="Arvo"/>
                <a:ea typeface="Arvo"/>
                <a:cs typeface="Arvo"/>
                <a:sym typeface="Arvo"/>
              </a:rPr>
              <a:t>A Server API can extend the functionality of a web server.</a:t>
            </a:r>
            <a:endParaRPr sz="1350">
              <a:solidFill>
                <a:schemeClr val="dk2"/>
              </a:solidFill>
              <a:latin typeface="Arvo"/>
              <a:ea typeface="Arvo"/>
              <a:cs typeface="Arvo"/>
              <a:sym typeface="Arvo"/>
            </a:endParaRPr>
          </a:p>
          <a:p>
            <a:pPr indent="0" lvl="0" marL="0" rtl="0" algn="just">
              <a:lnSpc>
                <a:spcPct val="140000"/>
              </a:lnSpc>
              <a:spcBef>
                <a:spcPts val="800"/>
              </a:spcBef>
              <a:spcAft>
                <a:spcPts val="0"/>
              </a:spcAft>
              <a:buClr>
                <a:schemeClr val="dk1"/>
              </a:buClr>
              <a:buSzPts val="2800"/>
              <a:buFont typeface="Arial"/>
              <a:buNone/>
            </a:pPr>
            <a:r>
              <a:t/>
            </a:r>
            <a:endParaRPr sz="2171">
              <a:solidFill>
                <a:schemeClr val="dk2"/>
              </a:solidFill>
              <a:latin typeface="Arvo"/>
              <a:ea typeface="Arvo"/>
              <a:cs typeface="Arvo"/>
              <a:sym typeface="Arvo"/>
            </a:endParaRPr>
          </a:p>
          <a:p>
            <a:pPr indent="0" lvl="0" marL="0" rtl="0" algn="l">
              <a:lnSpc>
                <a:spcPct val="90000"/>
              </a:lnSpc>
              <a:spcBef>
                <a:spcPts val="800"/>
              </a:spcBef>
              <a:spcAft>
                <a:spcPts val="0"/>
              </a:spcAft>
              <a:buClr>
                <a:schemeClr val="dk1"/>
              </a:buClr>
              <a:buSzPts val="1100"/>
              <a:buFont typeface="Arial"/>
              <a:buNone/>
            </a:pPr>
            <a:r>
              <a:t/>
            </a:r>
            <a:endParaRPr>
              <a:solidFill>
                <a:schemeClr val="dk2"/>
              </a:solidFill>
              <a:latin typeface="Arvo"/>
              <a:ea typeface="Arvo"/>
              <a:cs typeface="Arvo"/>
              <a:sym typeface="Arv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9"/>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API</a:t>
            </a:r>
            <a:endParaRPr sz="2300"/>
          </a:p>
        </p:txBody>
      </p:sp>
      <p:sp>
        <p:nvSpPr>
          <p:cNvPr id="463" name="Google Shape;463;p59"/>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5 API</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64" name="Google Shape;464;p59"/>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65" name="Google Shape;465;p59"/>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66" name="Google Shape;466;p59"/>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67" name="Google Shape;467;p59"/>
          <p:cNvSpPr txBox="1"/>
          <p:nvPr/>
        </p:nvSpPr>
        <p:spPr>
          <a:xfrm>
            <a:off x="2240825" y="1047050"/>
            <a:ext cx="6438300" cy="3495300"/>
          </a:xfrm>
          <a:prstGeom prst="rect">
            <a:avLst/>
          </a:prstGeom>
          <a:noFill/>
          <a:ln>
            <a:noFill/>
          </a:ln>
        </p:spPr>
        <p:txBody>
          <a:bodyPr anchorCtr="0" anchor="t" bIns="91425" lIns="91425" spcFirstLastPara="1" rIns="91425" wrap="square" tIns="91425">
            <a:normAutofit/>
          </a:bodyPr>
          <a:lstStyle/>
          <a:p>
            <a:pPr indent="0" lvl="0" marL="0" rtl="0" algn="just">
              <a:lnSpc>
                <a:spcPct val="140000"/>
              </a:lnSpc>
              <a:spcBef>
                <a:spcPts val="800"/>
              </a:spcBef>
              <a:spcAft>
                <a:spcPts val="0"/>
              </a:spcAft>
              <a:buClr>
                <a:schemeClr val="dk1"/>
              </a:buClr>
              <a:buSzPts val="2800"/>
              <a:buFont typeface="Arial"/>
              <a:buNone/>
            </a:pPr>
            <a:r>
              <a:rPr lang="en" sz="1171">
                <a:solidFill>
                  <a:schemeClr val="dk2"/>
                </a:solidFill>
                <a:latin typeface="Arvo"/>
                <a:ea typeface="Arvo"/>
                <a:cs typeface="Arvo"/>
                <a:sym typeface="Arvo"/>
              </a:rPr>
              <a:t>All browsers have a set of built-in Web APIs to support complex operations, and to help accessing data.</a:t>
            </a:r>
            <a:endParaRPr sz="1171">
              <a:solidFill>
                <a:schemeClr val="dk2"/>
              </a:solidFill>
              <a:latin typeface="Arvo"/>
              <a:ea typeface="Arvo"/>
              <a:cs typeface="Arvo"/>
              <a:sym typeface="Arvo"/>
            </a:endParaRPr>
          </a:p>
          <a:p>
            <a:pPr indent="0" lvl="0" marL="0" rtl="0" algn="just">
              <a:lnSpc>
                <a:spcPct val="140000"/>
              </a:lnSpc>
              <a:spcBef>
                <a:spcPts val="800"/>
              </a:spcBef>
              <a:spcAft>
                <a:spcPts val="0"/>
              </a:spcAft>
              <a:buClr>
                <a:schemeClr val="dk1"/>
              </a:buClr>
              <a:buSzPts val="2800"/>
              <a:buFont typeface="Arial"/>
              <a:buNone/>
            </a:pPr>
            <a:r>
              <a:rPr lang="en" sz="1171">
                <a:solidFill>
                  <a:schemeClr val="dk2"/>
                </a:solidFill>
                <a:latin typeface="Arvo"/>
                <a:ea typeface="Arvo"/>
                <a:cs typeface="Arvo"/>
                <a:sym typeface="Arvo"/>
              </a:rPr>
              <a:t>For example, the Geolocation API can return the coordinates of where the browser is located.</a:t>
            </a:r>
            <a:endParaRPr sz="1171">
              <a:solidFill>
                <a:schemeClr val="dk2"/>
              </a:solidFill>
              <a:latin typeface="Arvo"/>
              <a:ea typeface="Arvo"/>
              <a:cs typeface="Arvo"/>
              <a:sym typeface="Arvo"/>
            </a:endParaRPr>
          </a:p>
          <a:p>
            <a:pPr indent="0" lvl="0" marL="0" rtl="0" algn="just">
              <a:lnSpc>
                <a:spcPct val="140000"/>
              </a:lnSpc>
              <a:spcBef>
                <a:spcPts val="800"/>
              </a:spcBef>
              <a:spcAft>
                <a:spcPts val="0"/>
              </a:spcAft>
              <a:buClr>
                <a:schemeClr val="dk1"/>
              </a:buClr>
              <a:buSzPts val="2800"/>
              <a:buFont typeface="Arial"/>
              <a:buNone/>
            </a:pPr>
            <a:r>
              <a:t/>
            </a:r>
            <a:endParaRPr sz="1171">
              <a:solidFill>
                <a:schemeClr val="dk2"/>
              </a:solidFill>
              <a:latin typeface="Arvo"/>
              <a:ea typeface="Arvo"/>
              <a:cs typeface="Arvo"/>
              <a:sym typeface="Arvo"/>
            </a:endParaRPr>
          </a:p>
          <a:p>
            <a:pPr indent="0" lvl="0" marL="0" rtl="0" algn="just">
              <a:lnSpc>
                <a:spcPct val="140000"/>
              </a:lnSpc>
              <a:spcBef>
                <a:spcPts val="800"/>
              </a:spcBef>
              <a:spcAft>
                <a:spcPts val="0"/>
              </a:spcAft>
              <a:buClr>
                <a:schemeClr val="dk1"/>
              </a:buClr>
              <a:buSzPts val="2800"/>
              <a:buFont typeface="Arial"/>
              <a:buNone/>
            </a:pPr>
            <a:r>
              <a:t/>
            </a:r>
            <a:endParaRPr sz="1171">
              <a:solidFill>
                <a:schemeClr val="dk2"/>
              </a:solidFill>
              <a:latin typeface="Arvo"/>
              <a:ea typeface="Arvo"/>
              <a:cs typeface="Arvo"/>
              <a:sym typeface="Arvo"/>
            </a:endParaRPr>
          </a:p>
          <a:p>
            <a:pPr indent="0" lvl="0" marL="0" rtl="0" algn="l">
              <a:lnSpc>
                <a:spcPct val="90000"/>
              </a:lnSpc>
              <a:spcBef>
                <a:spcPts val="800"/>
              </a:spcBef>
              <a:spcAft>
                <a:spcPts val="0"/>
              </a:spcAft>
              <a:buClr>
                <a:schemeClr val="dk1"/>
              </a:buClr>
              <a:buSzPts val="1100"/>
              <a:buFont typeface="Arial"/>
              <a:buNone/>
            </a:pPr>
            <a:r>
              <a:t/>
            </a:r>
            <a:endParaRPr sz="1350">
              <a:solidFill>
                <a:schemeClr val="dk2"/>
              </a:solidFill>
              <a:latin typeface="Arvo"/>
              <a:ea typeface="Arvo"/>
              <a:cs typeface="Arvo"/>
              <a:sym typeface="Arvo"/>
            </a:endParaRPr>
          </a:p>
        </p:txBody>
      </p:sp>
      <p:pic>
        <p:nvPicPr>
          <p:cNvPr id="468" name="Google Shape;468;p59"/>
          <p:cNvPicPr preferRelativeResize="0"/>
          <p:nvPr/>
        </p:nvPicPr>
        <p:blipFill rotWithShape="1">
          <a:blip r:embed="rId5">
            <a:alphaModFix/>
          </a:blip>
          <a:srcRect b="0" l="0" r="0" t="0"/>
          <a:stretch/>
        </p:blipFill>
        <p:spPr>
          <a:xfrm>
            <a:off x="2669063" y="2198025"/>
            <a:ext cx="5581825" cy="28104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0"/>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API</a:t>
            </a:r>
            <a:endParaRPr sz="2300"/>
          </a:p>
        </p:txBody>
      </p:sp>
      <p:sp>
        <p:nvSpPr>
          <p:cNvPr id="474" name="Google Shape;474;p60"/>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5 API</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75" name="Google Shape;475;p60"/>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76" name="Google Shape;476;p60"/>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77" name="Google Shape;477;p60"/>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78" name="Google Shape;478;p60"/>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0" lvl="0" marL="0" rtl="0" algn="just">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Third party APIs are not built into your browser.</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To use these APIs, you will have to download the code from the Web.</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Examples:</a:t>
            </a:r>
            <a:endParaRPr>
              <a:solidFill>
                <a:schemeClr val="dk2"/>
              </a:solidFill>
              <a:latin typeface="Arvo"/>
              <a:ea typeface="Arvo"/>
              <a:cs typeface="Arvo"/>
              <a:sym typeface="Arvo"/>
            </a:endParaRPr>
          </a:p>
          <a:p>
            <a:pPr indent="-317500" lvl="0" marL="457200" rtl="0" algn="just">
              <a:lnSpc>
                <a:spcPct val="140000"/>
              </a:lnSpc>
              <a:spcBef>
                <a:spcPts val="800"/>
              </a:spcBef>
              <a:spcAft>
                <a:spcPts val="0"/>
              </a:spcAft>
              <a:buClr>
                <a:schemeClr val="dk2"/>
              </a:buClr>
              <a:buSzPts val="1400"/>
              <a:buFont typeface="Arvo"/>
              <a:buChar char="●"/>
            </a:pPr>
            <a:r>
              <a:rPr lang="en">
                <a:solidFill>
                  <a:schemeClr val="dk2"/>
                </a:solidFill>
                <a:latin typeface="Arvo"/>
                <a:ea typeface="Arvo"/>
                <a:cs typeface="Arvo"/>
                <a:sym typeface="Arvo"/>
              </a:rPr>
              <a:t>YouTube API - Allows you to display videos on a web site.</a:t>
            </a:r>
            <a:endParaRPr>
              <a:solidFill>
                <a:schemeClr val="dk2"/>
              </a:solidFill>
              <a:latin typeface="Arvo"/>
              <a:ea typeface="Arvo"/>
              <a:cs typeface="Arvo"/>
              <a:sym typeface="Arvo"/>
            </a:endParaRPr>
          </a:p>
          <a:p>
            <a:pPr indent="-317500" lvl="0" marL="457200" rtl="0" algn="just">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Twitter API - Allows you to display Tweets on a web site.</a:t>
            </a:r>
            <a:endParaRPr>
              <a:solidFill>
                <a:schemeClr val="dk2"/>
              </a:solidFill>
              <a:latin typeface="Arvo"/>
              <a:ea typeface="Arvo"/>
              <a:cs typeface="Arvo"/>
              <a:sym typeface="Arvo"/>
            </a:endParaRPr>
          </a:p>
          <a:p>
            <a:pPr indent="-317500" lvl="0" marL="457200" rtl="0" algn="just">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Facebook API - Allows you to display Facebook info on a web site.</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Clr>
                <a:schemeClr val="dk1"/>
              </a:buClr>
              <a:buSzPts val="2800"/>
              <a:buFont typeface="Arial"/>
              <a:buNone/>
            </a:pPr>
            <a:r>
              <a:t/>
            </a:r>
            <a:endParaRPr sz="1371">
              <a:solidFill>
                <a:schemeClr val="dk2"/>
              </a:solidFill>
              <a:latin typeface="Arvo"/>
              <a:ea typeface="Arvo"/>
              <a:cs typeface="Arvo"/>
              <a:sym typeface="Arvo"/>
            </a:endParaRPr>
          </a:p>
          <a:p>
            <a:pPr indent="0" lvl="0" marL="0" rtl="0" algn="l">
              <a:lnSpc>
                <a:spcPct val="90000"/>
              </a:lnSpc>
              <a:spcBef>
                <a:spcPts val="800"/>
              </a:spcBef>
              <a:spcAft>
                <a:spcPts val="0"/>
              </a:spcAft>
              <a:buClr>
                <a:schemeClr val="dk1"/>
              </a:buClr>
              <a:buSzPts val="1100"/>
              <a:buFont typeface="Arial"/>
              <a:buNone/>
            </a:pPr>
            <a:r>
              <a:t/>
            </a:r>
            <a:endParaRPr sz="1171">
              <a:solidFill>
                <a:schemeClr val="dk2"/>
              </a:solidFill>
              <a:latin typeface="Arvo"/>
              <a:ea typeface="Arvo"/>
              <a:cs typeface="Arvo"/>
              <a:sym typeface="Arv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1"/>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API</a:t>
            </a:r>
            <a:endParaRPr sz="2300"/>
          </a:p>
        </p:txBody>
      </p:sp>
      <p:sp>
        <p:nvSpPr>
          <p:cNvPr id="484" name="Google Shape;484;p61"/>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5 API</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85" name="Google Shape;485;p61"/>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86" name="Google Shape;486;p61"/>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87" name="Google Shape;487;p61"/>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88" name="Google Shape;488;p61"/>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0" lvl="0" marL="0" rtl="0" algn="just">
              <a:lnSpc>
                <a:spcPct val="140000"/>
              </a:lnSpc>
              <a:spcBef>
                <a:spcPts val="800"/>
              </a:spcBef>
              <a:spcAft>
                <a:spcPts val="0"/>
              </a:spcAft>
              <a:buClr>
                <a:schemeClr val="dk1"/>
              </a:buClr>
              <a:buSzPts val="2800"/>
              <a:buFont typeface="Arial"/>
              <a:buNone/>
            </a:pPr>
            <a:r>
              <a:rPr lang="en">
                <a:solidFill>
                  <a:schemeClr val="dk2"/>
                </a:solidFill>
                <a:latin typeface="Arvo"/>
                <a:ea typeface="Arvo"/>
                <a:cs typeface="Arvo"/>
                <a:sym typeface="Arvo"/>
              </a:rPr>
              <a:t>An API is simply a medium to fetch or send data between interfaces. Let’s say you want to make an application that provides the user with some real-time data fetched from the server or maybe even allows you to modify or add data to some other endpoint. This is made possible by the API or the Application Programming Interface.</a:t>
            </a:r>
            <a:endParaRPr sz="1371">
              <a:solidFill>
                <a:schemeClr val="dk2"/>
              </a:solidFill>
              <a:latin typeface="Arvo"/>
              <a:ea typeface="Arvo"/>
              <a:cs typeface="Arvo"/>
              <a:sym typeface="Arvo"/>
            </a:endParaRPr>
          </a:p>
          <a:p>
            <a:pPr indent="0" lvl="0" marL="0" rtl="0" algn="l">
              <a:lnSpc>
                <a:spcPct val="90000"/>
              </a:lnSpc>
              <a:spcBef>
                <a:spcPts val="800"/>
              </a:spcBef>
              <a:spcAft>
                <a:spcPts val="0"/>
              </a:spcAft>
              <a:buClr>
                <a:schemeClr val="dk1"/>
              </a:buClr>
              <a:buSzPts val="1100"/>
              <a:buFont typeface="Arial"/>
              <a:buNone/>
            </a:pPr>
            <a:r>
              <a:t/>
            </a:r>
            <a:endParaRPr>
              <a:solidFill>
                <a:schemeClr val="dk2"/>
              </a:solidFill>
              <a:latin typeface="Arvo"/>
              <a:ea typeface="Arvo"/>
              <a:cs typeface="Arvo"/>
              <a:sym typeface="Arv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2"/>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API</a:t>
            </a:r>
            <a:endParaRPr sz="2300"/>
          </a:p>
        </p:txBody>
      </p:sp>
      <p:sp>
        <p:nvSpPr>
          <p:cNvPr id="494" name="Google Shape;494;p62"/>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5 API</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495" name="Google Shape;495;p62"/>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496" name="Google Shape;496;p62"/>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497" name="Google Shape;497;p62"/>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498" name="Google Shape;498;p62"/>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800"/>
              </a:spcBef>
              <a:spcAft>
                <a:spcPts val="0"/>
              </a:spcAft>
              <a:buClr>
                <a:schemeClr val="dk1"/>
              </a:buClr>
              <a:buSzPts val="1100"/>
              <a:buFont typeface="Arial"/>
              <a:buNone/>
            </a:pPr>
            <a:r>
              <a:t/>
            </a:r>
            <a:endParaRPr>
              <a:solidFill>
                <a:schemeClr val="dk2"/>
              </a:solidFill>
              <a:latin typeface="Arvo"/>
              <a:ea typeface="Arvo"/>
              <a:cs typeface="Arvo"/>
              <a:sym typeface="Arvo"/>
            </a:endParaRPr>
          </a:p>
        </p:txBody>
      </p:sp>
      <p:pic>
        <p:nvPicPr>
          <p:cNvPr id="499" name="Google Shape;499;p62"/>
          <p:cNvPicPr preferRelativeResize="0"/>
          <p:nvPr/>
        </p:nvPicPr>
        <p:blipFill rotWithShape="1">
          <a:blip r:embed="rId5">
            <a:alphaModFix/>
          </a:blip>
          <a:srcRect b="0" l="0" r="0" t="0"/>
          <a:stretch/>
        </p:blipFill>
        <p:spPr>
          <a:xfrm>
            <a:off x="2240825" y="1146800"/>
            <a:ext cx="6688374" cy="31985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id="504" name="Google Shape;504;p63"/>
          <p:cNvPicPr preferRelativeResize="0"/>
          <p:nvPr/>
        </p:nvPicPr>
        <p:blipFill rotWithShape="1">
          <a:blip r:embed="rId3">
            <a:alphaModFix/>
          </a:blip>
          <a:srcRect b="0" l="0" r="0" t="0"/>
          <a:stretch/>
        </p:blipFill>
        <p:spPr>
          <a:xfrm>
            <a:off x="-1" y="-1"/>
            <a:ext cx="9144000" cy="51435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pic>
        <p:nvPicPr>
          <p:cNvPr id="509" name="Google Shape;509;p64"/>
          <p:cNvPicPr preferRelativeResize="0"/>
          <p:nvPr/>
        </p:nvPicPr>
        <p:blipFill rotWithShape="1">
          <a:blip r:embed="rId3">
            <a:alphaModFix/>
          </a:blip>
          <a:srcRect b="0" l="0" r="0" t="0"/>
          <a:stretch/>
        </p:blipFill>
        <p:spPr>
          <a:xfrm>
            <a:off x="0" y="152400"/>
            <a:ext cx="9144000" cy="45183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5"/>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515" name="Google Shape;515;p65"/>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b="1"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516" name="Google Shape;516;p65"/>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517" name="Google Shape;517;p65"/>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518" name="Google Shape;518;p65"/>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519" name="Google Shape;519;p65"/>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317500" lvl="0" marL="457200" rtl="0" algn="just">
              <a:lnSpc>
                <a:spcPct val="115000"/>
              </a:lnSpc>
              <a:spcBef>
                <a:spcPts val="800"/>
              </a:spcBef>
              <a:spcAft>
                <a:spcPts val="0"/>
              </a:spcAft>
              <a:buClr>
                <a:schemeClr val="dk2"/>
              </a:buClr>
              <a:buSzPts val="1400"/>
              <a:buFont typeface="Arvo"/>
              <a:buChar char="●"/>
            </a:pPr>
            <a:r>
              <a:rPr lang="en">
                <a:solidFill>
                  <a:schemeClr val="dk2"/>
                </a:solidFill>
                <a:latin typeface="Arvo"/>
                <a:ea typeface="Arvo"/>
                <a:cs typeface="Arvo"/>
                <a:sym typeface="Arvo"/>
              </a:rPr>
              <a:t>JSON stands for JavaScript Object Notation</a:t>
            </a:r>
            <a:endParaRPr>
              <a:solidFill>
                <a:schemeClr val="dk2"/>
              </a:solidFill>
              <a:latin typeface="Arvo"/>
              <a:ea typeface="Arvo"/>
              <a:cs typeface="Arvo"/>
              <a:sym typeface="Arvo"/>
            </a:endParaRPr>
          </a:p>
          <a:p>
            <a:pPr indent="-317500" lvl="0" marL="457200" rtl="0" algn="just">
              <a:lnSpc>
                <a:spcPct val="115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JSON is a text format for storing and transporting data</a:t>
            </a:r>
            <a:endParaRPr>
              <a:solidFill>
                <a:schemeClr val="dk2"/>
              </a:solidFill>
              <a:latin typeface="Arvo"/>
              <a:ea typeface="Arvo"/>
              <a:cs typeface="Arvo"/>
              <a:sym typeface="Arvo"/>
            </a:endParaRPr>
          </a:p>
          <a:p>
            <a:pPr indent="-317500" lvl="0" marL="457200" rtl="0" algn="just">
              <a:lnSpc>
                <a:spcPct val="115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JSON is "self-describing" and easy to understand</a:t>
            </a:r>
            <a:endParaRPr>
              <a:solidFill>
                <a:schemeClr val="dk2"/>
              </a:solidFill>
              <a:latin typeface="Arvo"/>
              <a:ea typeface="Arvo"/>
              <a:cs typeface="Arvo"/>
              <a:sym typeface="Arvo"/>
            </a:endParaRPr>
          </a:p>
          <a:p>
            <a:pPr indent="-317500" lvl="0" marL="457200" rtl="0" algn="just">
              <a:lnSpc>
                <a:spcPct val="115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JSON is often used when data is sent from a server to a web page</a:t>
            </a:r>
            <a:endParaRPr>
              <a:solidFill>
                <a:schemeClr val="dk2"/>
              </a:solidFill>
              <a:latin typeface="Arvo"/>
              <a:ea typeface="Arvo"/>
              <a:cs typeface="Arvo"/>
              <a:sym typeface="Arvo"/>
            </a:endParaRPr>
          </a:p>
          <a:p>
            <a:pPr indent="-317500" lvl="0" marL="457200" rtl="0" algn="just">
              <a:lnSpc>
                <a:spcPct val="115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The JSON format is syntactically identical to the code for creating JavaScript objects. Because of this similarity, a JavaScript program can easily convert JSON data into native JavaScript objects.</a:t>
            </a:r>
            <a:endParaRPr>
              <a:solidFill>
                <a:schemeClr val="dk2"/>
              </a:solidFill>
              <a:latin typeface="Arvo"/>
              <a:ea typeface="Arvo"/>
              <a:cs typeface="Arvo"/>
              <a:sym typeface="Arvo"/>
            </a:endParaRPr>
          </a:p>
          <a:p>
            <a:pPr indent="-317500" lvl="0" marL="457200" rtl="0" algn="just">
              <a:lnSpc>
                <a:spcPct val="115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The JSON syntax is derived from JavaScript object notation syntax, but the JSON format is text only. Code for reading and generating JSON data can be written in any programming language.</a:t>
            </a:r>
            <a:endParaRPr>
              <a:solidFill>
                <a:schemeClr val="dk2"/>
              </a:solidFill>
              <a:latin typeface="Arvo"/>
              <a:ea typeface="Arvo"/>
              <a:cs typeface="Arvo"/>
              <a:sym typeface="Arvo"/>
            </a:endParaRPr>
          </a:p>
          <a:p>
            <a:pPr indent="0" lvl="0" marL="457200" rtl="0" algn="just">
              <a:lnSpc>
                <a:spcPct val="140000"/>
              </a:lnSpc>
              <a:spcBef>
                <a:spcPts val="800"/>
              </a:spcBef>
              <a:spcAft>
                <a:spcPts val="0"/>
              </a:spcAft>
              <a:buClr>
                <a:schemeClr val="dk1"/>
              </a:buClr>
              <a:buSzPts val="2800"/>
              <a:buFont typeface="Arial"/>
              <a:buNone/>
            </a:pPr>
            <a:r>
              <a:t/>
            </a:r>
            <a:endParaRPr>
              <a:solidFill>
                <a:schemeClr val="dk2"/>
              </a:solidFill>
              <a:latin typeface="Arvo"/>
              <a:ea typeface="Arvo"/>
              <a:cs typeface="Arvo"/>
              <a:sym typeface="Arv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6"/>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525" name="Google Shape;525;p66"/>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526" name="Google Shape;526;p66"/>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527" name="Google Shape;527;p66"/>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528" name="Google Shape;528;p66"/>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529" name="Google Shape;529;p66"/>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304800" lvl="0" marL="457200" rtl="0" algn="just">
              <a:lnSpc>
                <a:spcPct val="140000"/>
              </a:lnSpc>
              <a:spcBef>
                <a:spcPts val="800"/>
              </a:spcBef>
              <a:spcAft>
                <a:spcPts val="0"/>
              </a:spcAft>
              <a:buClr>
                <a:schemeClr val="dk2"/>
              </a:buClr>
              <a:buSzPts val="1200"/>
              <a:buFont typeface="Arvo"/>
              <a:buChar char="●"/>
            </a:pPr>
            <a:r>
              <a:rPr lang="en" sz="1200">
                <a:solidFill>
                  <a:schemeClr val="accent2"/>
                </a:solidFill>
                <a:highlight>
                  <a:schemeClr val="lt1"/>
                </a:highlight>
                <a:latin typeface="Arvo"/>
                <a:ea typeface="Arvo"/>
                <a:cs typeface="Arvo"/>
                <a:sym typeface="Arvo"/>
              </a:rPr>
              <a:t>JSON is a string whose format very much resembles JavaScript object literal format</a:t>
            </a:r>
            <a:endParaRPr sz="1200">
              <a:solidFill>
                <a:schemeClr val="accent2"/>
              </a:solidFill>
              <a:highlight>
                <a:schemeClr val="lt1"/>
              </a:highlight>
              <a:latin typeface="Arvo"/>
              <a:ea typeface="Arvo"/>
              <a:cs typeface="Arvo"/>
              <a:sym typeface="Arvo"/>
            </a:endParaRPr>
          </a:p>
          <a:p>
            <a:pPr indent="-304800" lvl="0" marL="457200" rtl="0" algn="just">
              <a:lnSpc>
                <a:spcPct val="140000"/>
              </a:lnSpc>
              <a:spcBef>
                <a:spcPts val="0"/>
              </a:spcBef>
              <a:spcAft>
                <a:spcPts val="0"/>
              </a:spcAft>
              <a:buClr>
                <a:schemeClr val="accent2"/>
              </a:buClr>
              <a:buSzPts val="1200"/>
              <a:buFont typeface="Arvo"/>
              <a:buChar char="●"/>
            </a:pPr>
            <a:r>
              <a:rPr lang="en" sz="1200">
                <a:solidFill>
                  <a:schemeClr val="accent2"/>
                </a:solidFill>
                <a:highlight>
                  <a:schemeClr val="lt1"/>
                </a:highlight>
                <a:latin typeface="Arvo"/>
                <a:ea typeface="Arvo"/>
                <a:cs typeface="Arvo"/>
                <a:sym typeface="Arvo"/>
              </a:rPr>
              <a:t>You can include the same basic data types inside JSON as you can in a standard JavaScript object</a:t>
            </a:r>
            <a:endParaRPr sz="1200">
              <a:solidFill>
                <a:schemeClr val="accent2"/>
              </a:solidFill>
              <a:highlight>
                <a:schemeClr val="lt1"/>
              </a:highlight>
              <a:latin typeface="Arvo"/>
              <a:ea typeface="Arvo"/>
              <a:cs typeface="Arvo"/>
              <a:sym typeface="Arvo"/>
            </a:endParaRPr>
          </a:p>
          <a:p>
            <a:pPr indent="-304800" lvl="0" marL="457200" rtl="0" algn="just">
              <a:lnSpc>
                <a:spcPct val="140000"/>
              </a:lnSpc>
              <a:spcBef>
                <a:spcPts val="0"/>
              </a:spcBef>
              <a:spcAft>
                <a:spcPts val="0"/>
              </a:spcAft>
              <a:buClr>
                <a:schemeClr val="accent2"/>
              </a:buClr>
              <a:buSzPts val="1200"/>
              <a:buFont typeface="Arvo"/>
              <a:buChar char="●"/>
            </a:pPr>
            <a:r>
              <a:rPr lang="en" sz="1200">
                <a:solidFill>
                  <a:schemeClr val="accent2"/>
                </a:solidFill>
                <a:highlight>
                  <a:schemeClr val="lt1"/>
                </a:highlight>
                <a:latin typeface="Arvo"/>
                <a:ea typeface="Arvo"/>
                <a:cs typeface="Arvo"/>
                <a:sym typeface="Arvo"/>
              </a:rPr>
              <a:t>strings, numbers, arrays, booleans, and other object literals</a:t>
            </a:r>
            <a:endParaRPr sz="1200">
              <a:solidFill>
                <a:schemeClr val="accent2"/>
              </a:solidFill>
              <a:highlight>
                <a:schemeClr val="lt1"/>
              </a:highlight>
              <a:latin typeface="Arvo"/>
              <a:ea typeface="Arvo"/>
              <a:cs typeface="Arvo"/>
              <a:sym typeface="Arvo"/>
            </a:endParaRPr>
          </a:p>
          <a:p>
            <a:pPr indent="0" lvl="0" marL="914400" rtl="0" algn="just">
              <a:lnSpc>
                <a:spcPct val="140000"/>
              </a:lnSpc>
              <a:spcBef>
                <a:spcPts val="800"/>
              </a:spcBef>
              <a:spcAft>
                <a:spcPts val="0"/>
              </a:spcAft>
              <a:buClr>
                <a:schemeClr val="dk1"/>
              </a:buClr>
              <a:buSzPts val="2800"/>
              <a:buFont typeface="Arial"/>
              <a:buNone/>
            </a:pPr>
            <a:r>
              <a:t/>
            </a:r>
            <a:endParaRPr sz="1200">
              <a:solidFill>
                <a:schemeClr val="accent2"/>
              </a:solidFill>
              <a:highlight>
                <a:schemeClr val="lt1"/>
              </a:highlight>
              <a:latin typeface="Arvo"/>
              <a:ea typeface="Arvo"/>
              <a:cs typeface="Arvo"/>
              <a:sym typeface="Arvo"/>
            </a:endParaRPr>
          </a:p>
          <a:p>
            <a:pPr indent="0" lvl="0" marL="457200" rtl="0" algn="just">
              <a:lnSpc>
                <a:spcPct val="140000"/>
              </a:lnSpc>
              <a:spcBef>
                <a:spcPts val="800"/>
              </a:spcBef>
              <a:spcAft>
                <a:spcPts val="0"/>
              </a:spcAft>
              <a:buClr>
                <a:schemeClr val="dk1"/>
              </a:buClr>
              <a:buSzPts val="2800"/>
              <a:buFont typeface="Arial"/>
              <a:buNone/>
            </a:pPr>
            <a:r>
              <a:t/>
            </a:r>
            <a:endParaRPr>
              <a:solidFill>
                <a:schemeClr val="dk2"/>
              </a:solidFill>
              <a:latin typeface="Arvo"/>
              <a:ea typeface="Arvo"/>
              <a:cs typeface="Arvo"/>
              <a:sym typeface="Arvo"/>
            </a:endParaRPr>
          </a:p>
        </p:txBody>
      </p:sp>
      <p:pic>
        <p:nvPicPr>
          <p:cNvPr id="530" name="Google Shape;530;p66"/>
          <p:cNvPicPr preferRelativeResize="0"/>
          <p:nvPr/>
        </p:nvPicPr>
        <p:blipFill rotWithShape="1">
          <a:blip r:embed="rId5">
            <a:alphaModFix/>
          </a:blip>
          <a:srcRect b="0" l="0" r="0" t="0"/>
          <a:stretch/>
        </p:blipFill>
        <p:spPr>
          <a:xfrm>
            <a:off x="2549000" y="2403775"/>
            <a:ext cx="5655749" cy="259049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7"/>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536" name="Google Shape;536;p67"/>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537" name="Google Shape;537;p67"/>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538" name="Google Shape;538;p67"/>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539" name="Google Shape;539;p67"/>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540" name="Google Shape;540;p67"/>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317500" lvl="0" marL="457200" rtl="0" algn="just">
              <a:lnSpc>
                <a:spcPct val="140000"/>
              </a:lnSpc>
              <a:spcBef>
                <a:spcPts val="800"/>
              </a:spcBef>
              <a:spcAft>
                <a:spcPts val="0"/>
              </a:spcAft>
              <a:buClr>
                <a:schemeClr val="accent2"/>
              </a:buClr>
              <a:buSzPts val="1400"/>
              <a:buFont typeface="Arvo"/>
              <a:buChar char="●"/>
            </a:pPr>
            <a:r>
              <a:rPr lang="en">
                <a:solidFill>
                  <a:schemeClr val="accent2"/>
                </a:solidFill>
                <a:highlight>
                  <a:schemeClr val="lt1"/>
                </a:highlight>
                <a:latin typeface="Arvo"/>
                <a:ea typeface="Arvo"/>
                <a:cs typeface="Arvo"/>
                <a:sym typeface="Arvo"/>
              </a:rPr>
              <a:t>Data is in name/value pairs</a:t>
            </a:r>
            <a:endParaRPr>
              <a:solidFill>
                <a:schemeClr val="accent2"/>
              </a:solidFill>
              <a:highlight>
                <a:schemeClr val="lt1"/>
              </a:highlight>
              <a:latin typeface="Arvo"/>
              <a:ea typeface="Arvo"/>
              <a:cs typeface="Arvo"/>
              <a:sym typeface="Arvo"/>
            </a:endParaRPr>
          </a:p>
          <a:p>
            <a:pPr indent="-317500" lvl="0" marL="457200" rtl="0" algn="just">
              <a:lnSpc>
                <a:spcPct val="140000"/>
              </a:lnSpc>
              <a:spcBef>
                <a:spcPts val="0"/>
              </a:spcBef>
              <a:spcAft>
                <a:spcPts val="0"/>
              </a:spcAft>
              <a:buClr>
                <a:schemeClr val="accent2"/>
              </a:buClr>
              <a:buSzPts val="1400"/>
              <a:buFont typeface="Arvo"/>
              <a:buChar char="●"/>
            </a:pPr>
            <a:r>
              <a:rPr lang="en">
                <a:solidFill>
                  <a:schemeClr val="accent2"/>
                </a:solidFill>
                <a:highlight>
                  <a:schemeClr val="lt1"/>
                </a:highlight>
                <a:latin typeface="Arvo"/>
                <a:ea typeface="Arvo"/>
                <a:cs typeface="Arvo"/>
                <a:sym typeface="Arvo"/>
              </a:rPr>
              <a:t>Data is separated by commas</a:t>
            </a:r>
            <a:endParaRPr>
              <a:solidFill>
                <a:schemeClr val="accent2"/>
              </a:solidFill>
              <a:highlight>
                <a:schemeClr val="lt1"/>
              </a:highlight>
              <a:latin typeface="Arvo"/>
              <a:ea typeface="Arvo"/>
              <a:cs typeface="Arvo"/>
              <a:sym typeface="Arvo"/>
            </a:endParaRPr>
          </a:p>
          <a:p>
            <a:pPr indent="-317500" lvl="0" marL="457200" rtl="0" algn="just">
              <a:lnSpc>
                <a:spcPct val="140000"/>
              </a:lnSpc>
              <a:spcBef>
                <a:spcPts val="0"/>
              </a:spcBef>
              <a:spcAft>
                <a:spcPts val="0"/>
              </a:spcAft>
              <a:buClr>
                <a:schemeClr val="accent2"/>
              </a:buClr>
              <a:buSzPts val="1400"/>
              <a:buFont typeface="Arvo"/>
              <a:buChar char="●"/>
            </a:pPr>
            <a:r>
              <a:rPr lang="en">
                <a:solidFill>
                  <a:schemeClr val="accent2"/>
                </a:solidFill>
                <a:highlight>
                  <a:schemeClr val="lt1"/>
                </a:highlight>
                <a:latin typeface="Arvo"/>
                <a:ea typeface="Arvo"/>
                <a:cs typeface="Arvo"/>
                <a:sym typeface="Arvo"/>
              </a:rPr>
              <a:t>Curly braces hold objects</a:t>
            </a:r>
            <a:endParaRPr>
              <a:solidFill>
                <a:schemeClr val="accent2"/>
              </a:solidFill>
              <a:highlight>
                <a:schemeClr val="lt1"/>
              </a:highlight>
              <a:latin typeface="Arvo"/>
              <a:ea typeface="Arvo"/>
              <a:cs typeface="Arvo"/>
              <a:sym typeface="Arvo"/>
            </a:endParaRPr>
          </a:p>
          <a:p>
            <a:pPr indent="-317500" lvl="0" marL="457200" rtl="0" algn="just">
              <a:lnSpc>
                <a:spcPct val="140000"/>
              </a:lnSpc>
              <a:spcBef>
                <a:spcPts val="0"/>
              </a:spcBef>
              <a:spcAft>
                <a:spcPts val="0"/>
              </a:spcAft>
              <a:buClr>
                <a:schemeClr val="accent2"/>
              </a:buClr>
              <a:buSzPts val="1400"/>
              <a:buFont typeface="Arvo"/>
              <a:buChar char="●"/>
            </a:pPr>
            <a:r>
              <a:rPr lang="en">
                <a:solidFill>
                  <a:schemeClr val="accent2"/>
                </a:solidFill>
                <a:highlight>
                  <a:schemeClr val="lt1"/>
                </a:highlight>
                <a:latin typeface="Arvo"/>
                <a:ea typeface="Arvo"/>
                <a:cs typeface="Arvo"/>
                <a:sym typeface="Arvo"/>
              </a:rPr>
              <a:t>Square brackets hold arrays</a:t>
            </a:r>
            <a:endParaRPr sz="1200">
              <a:solidFill>
                <a:schemeClr val="accent2"/>
              </a:solidFill>
              <a:highlight>
                <a:schemeClr val="lt1"/>
              </a:highlight>
              <a:latin typeface="Arvo"/>
              <a:ea typeface="Arvo"/>
              <a:cs typeface="Arvo"/>
              <a:sym typeface="Arv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8"/>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546" name="Google Shape;546;p68"/>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547" name="Google Shape;547;p68"/>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548" name="Google Shape;548;p68"/>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549" name="Google Shape;549;p68"/>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550" name="Google Shape;550;p68"/>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lnSpcReduction="10000"/>
          </a:bodyPr>
          <a:lstStyle/>
          <a:p>
            <a:pPr indent="-431800" lvl="0" marL="457200" rtl="0" algn="just">
              <a:lnSpc>
                <a:spcPct val="140000"/>
              </a:lnSpc>
              <a:spcBef>
                <a:spcPts val="800"/>
              </a:spcBef>
              <a:spcAft>
                <a:spcPts val="0"/>
              </a:spcAft>
              <a:buClr>
                <a:schemeClr val="dk2"/>
              </a:buClr>
              <a:buSzPts val="1400"/>
              <a:buFont typeface="Arvo"/>
              <a:buChar char="●"/>
            </a:pPr>
            <a:r>
              <a:rPr lang="en">
                <a:solidFill>
                  <a:schemeClr val="dk2"/>
                </a:solidFill>
                <a:latin typeface="Arvo"/>
                <a:ea typeface="Arvo"/>
                <a:cs typeface="Arvo"/>
                <a:sym typeface="Arvo"/>
              </a:rPr>
              <a:t>The JSON format is syntactically similar to the code for creating JavaScript objects. Because of this, a JavaScript program can easily convert JSON data into JavaScript objects.</a:t>
            </a:r>
            <a:endParaRPr>
              <a:solidFill>
                <a:schemeClr val="dk2"/>
              </a:solidFill>
              <a:latin typeface="Arvo"/>
              <a:ea typeface="Arvo"/>
              <a:cs typeface="Arvo"/>
              <a:sym typeface="Arvo"/>
            </a:endParaRPr>
          </a:p>
          <a:p>
            <a:pPr indent="-431800" lvl="0" marL="457200" rtl="0" algn="just">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Since the format is text only, JSON data can easily be sent between computers, and used by any programming language.</a:t>
            </a:r>
            <a:endParaRPr>
              <a:solidFill>
                <a:schemeClr val="dk2"/>
              </a:solidFill>
              <a:latin typeface="Arvo"/>
              <a:ea typeface="Arvo"/>
              <a:cs typeface="Arvo"/>
              <a:sym typeface="Arvo"/>
            </a:endParaRPr>
          </a:p>
          <a:p>
            <a:pPr indent="-431800" lvl="0" marL="457200" rtl="0" algn="just">
              <a:lnSpc>
                <a:spcPct val="140000"/>
              </a:lnSpc>
              <a:spcBef>
                <a:spcPts val="0"/>
              </a:spcBef>
              <a:spcAft>
                <a:spcPts val="0"/>
              </a:spcAft>
              <a:buClr>
                <a:schemeClr val="dk2"/>
              </a:buClr>
              <a:buSzPts val="1400"/>
              <a:buFont typeface="Arvo"/>
              <a:buChar char="●"/>
            </a:pPr>
            <a:r>
              <a:rPr lang="en">
                <a:solidFill>
                  <a:schemeClr val="dk2"/>
                </a:solidFill>
                <a:latin typeface="Arvo"/>
                <a:ea typeface="Arvo"/>
                <a:cs typeface="Arvo"/>
                <a:sym typeface="Arvo"/>
              </a:rPr>
              <a:t>JavaScript has a built in function for converting JSON strings into JavaScript objects:</a:t>
            </a:r>
            <a:endParaRPr>
              <a:solidFill>
                <a:schemeClr val="dk2"/>
              </a:solidFill>
              <a:latin typeface="Arvo"/>
              <a:ea typeface="Arvo"/>
              <a:cs typeface="Arvo"/>
              <a:sym typeface="Arvo"/>
            </a:endParaRPr>
          </a:p>
          <a:p>
            <a:pPr indent="0" lvl="0" marL="914400" rtl="0" algn="just">
              <a:lnSpc>
                <a:spcPct val="140000"/>
              </a:lnSpc>
              <a:spcBef>
                <a:spcPts val="800"/>
              </a:spcBef>
              <a:spcAft>
                <a:spcPts val="0"/>
              </a:spcAft>
              <a:buNone/>
            </a:pPr>
            <a:r>
              <a:rPr lang="en" sz="1200">
                <a:solidFill>
                  <a:srgbClr val="DC143C"/>
                </a:solidFill>
                <a:latin typeface="Courier New"/>
                <a:ea typeface="Courier New"/>
                <a:cs typeface="Courier New"/>
                <a:sym typeface="Courier New"/>
              </a:rPr>
              <a:t>JSON.parse()</a:t>
            </a:r>
            <a:endParaRPr>
              <a:solidFill>
                <a:schemeClr val="dk2"/>
              </a:solidFill>
              <a:latin typeface="Arvo"/>
              <a:ea typeface="Arvo"/>
              <a:cs typeface="Arvo"/>
              <a:sym typeface="Arvo"/>
            </a:endParaRPr>
          </a:p>
          <a:p>
            <a:pPr indent="-431800" lvl="0" marL="457200" rtl="0" algn="just">
              <a:lnSpc>
                <a:spcPct val="140000"/>
              </a:lnSpc>
              <a:spcBef>
                <a:spcPts val="800"/>
              </a:spcBef>
              <a:spcAft>
                <a:spcPts val="0"/>
              </a:spcAft>
              <a:buClr>
                <a:schemeClr val="dk2"/>
              </a:buClr>
              <a:buSzPts val="1400"/>
              <a:buFont typeface="Arvo"/>
              <a:buChar char="●"/>
            </a:pPr>
            <a:r>
              <a:rPr lang="en">
                <a:solidFill>
                  <a:schemeClr val="dk2"/>
                </a:solidFill>
                <a:latin typeface="Arvo"/>
                <a:ea typeface="Arvo"/>
                <a:cs typeface="Arvo"/>
                <a:sym typeface="Arvo"/>
              </a:rPr>
              <a:t>JavaScript also has a built in function for converting an object into a JSON string:</a:t>
            </a:r>
            <a:endParaRPr>
              <a:solidFill>
                <a:schemeClr val="dk2"/>
              </a:solidFill>
              <a:latin typeface="Arvo"/>
              <a:ea typeface="Arvo"/>
              <a:cs typeface="Arvo"/>
              <a:sym typeface="Arvo"/>
            </a:endParaRPr>
          </a:p>
          <a:p>
            <a:pPr indent="0" lvl="0" marL="914400" rtl="0" algn="just">
              <a:lnSpc>
                <a:spcPct val="140000"/>
              </a:lnSpc>
              <a:spcBef>
                <a:spcPts val="800"/>
              </a:spcBef>
              <a:spcAft>
                <a:spcPts val="0"/>
              </a:spcAft>
              <a:buNone/>
            </a:pPr>
            <a:r>
              <a:rPr lang="en" sz="1200">
                <a:solidFill>
                  <a:srgbClr val="DC143C"/>
                </a:solidFill>
                <a:latin typeface="Courier New"/>
                <a:ea typeface="Courier New"/>
                <a:cs typeface="Courier New"/>
                <a:sym typeface="Courier New"/>
              </a:rPr>
              <a:t>JSON.stringify()</a:t>
            </a:r>
            <a:endParaRPr>
              <a:solidFill>
                <a:schemeClr val="dk2"/>
              </a:solidFill>
              <a:latin typeface="Arvo"/>
              <a:ea typeface="Arvo"/>
              <a:cs typeface="Arvo"/>
              <a:sym typeface="Arvo"/>
            </a:endParaRPr>
          </a:p>
          <a:p>
            <a:pPr indent="0" lvl="0" marL="457200" rtl="0" algn="just">
              <a:lnSpc>
                <a:spcPct val="140000"/>
              </a:lnSpc>
              <a:spcBef>
                <a:spcPts val="0"/>
              </a:spcBef>
              <a:spcAft>
                <a:spcPts val="0"/>
              </a:spcAft>
              <a:buNone/>
            </a:pPr>
            <a:r>
              <a:t/>
            </a:r>
            <a:endParaRPr>
              <a:solidFill>
                <a:schemeClr val="accent2"/>
              </a:solidFill>
              <a:highlight>
                <a:schemeClr val="lt1"/>
              </a:highlight>
              <a:latin typeface="Arvo"/>
              <a:ea typeface="Arvo"/>
              <a:cs typeface="Arvo"/>
              <a:sym typeface="Arv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9"/>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556" name="Google Shape;556;p69"/>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557" name="Google Shape;557;p69"/>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558" name="Google Shape;558;p69"/>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559" name="Google Shape;559;p69"/>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560" name="Google Shape;560;p69"/>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0" lvl="0" marL="457200" rtl="0" algn="just">
              <a:lnSpc>
                <a:spcPct val="140000"/>
              </a:lnSpc>
              <a:spcBef>
                <a:spcPts val="0"/>
              </a:spcBef>
              <a:spcAft>
                <a:spcPts val="0"/>
              </a:spcAft>
              <a:buNone/>
            </a:pPr>
            <a:r>
              <a:t/>
            </a:r>
            <a:endParaRPr>
              <a:solidFill>
                <a:schemeClr val="accent2"/>
              </a:solidFill>
              <a:highlight>
                <a:schemeClr val="lt1"/>
              </a:highlight>
              <a:latin typeface="Arvo"/>
              <a:ea typeface="Arvo"/>
              <a:cs typeface="Arvo"/>
              <a:sym typeface="Arvo"/>
            </a:endParaRPr>
          </a:p>
        </p:txBody>
      </p:sp>
      <p:pic>
        <p:nvPicPr>
          <p:cNvPr id="561" name="Google Shape;561;p69"/>
          <p:cNvPicPr preferRelativeResize="0"/>
          <p:nvPr/>
        </p:nvPicPr>
        <p:blipFill rotWithShape="1">
          <a:blip r:embed="rId5">
            <a:alphaModFix/>
          </a:blip>
          <a:srcRect b="0" l="0" r="0" t="0"/>
          <a:stretch/>
        </p:blipFill>
        <p:spPr>
          <a:xfrm>
            <a:off x="2435200" y="1305475"/>
            <a:ext cx="6049542" cy="340286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0"/>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567" name="Google Shape;567;p70"/>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b="1"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568" name="Google Shape;568;p70"/>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569" name="Google Shape;569;p70"/>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570" name="Google Shape;570;p70"/>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571" name="Google Shape;571;p70"/>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0" lvl="0" marL="0" rtl="0" algn="just">
              <a:lnSpc>
                <a:spcPct val="140000"/>
              </a:lnSpc>
              <a:spcBef>
                <a:spcPts val="800"/>
              </a:spcBef>
              <a:spcAft>
                <a:spcPts val="0"/>
              </a:spcAft>
              <a:buClr>
                <a:schemeClr val="dk1"/>
              </a:buClr>
              <a:buSzPts val="1100"/>
              <a:buFont typeface="Arial"/>
              <a:buNone/>
            </a:pPr>
            <a:r>
              <a:rPr lang="en">
                <a:solidFill>
                  <a:schemeClr val="dk2"/>
                </a:solidFill>
                <a:latin typeface="Arvo"/>
                <a:ea typeface="Arvo"/>
                <a:cs typeface="Arvo"/>
                <a:sym typeface="Arvo"/>
              </a:rPr>
              <a:t>JSON data consists of key/value pairs similar to JavaScript object properties. The key and values are written in double quotes separated by a colon :. For example,</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Clr>
                <a:schemeClr val="dk1"/>
              </a:buClr>
              <a:buSzPts val="2800"/>
              <a:buFont typeface="Arial"/>
              <a:buNone/>
            </a:pPr>
            <a:r>
              <a:rPr lang="en" sz="1050">
                <a:solidFill>
                  <a:srgbClr val="FFDDBE"/>
                </a:solidFill>
                <a:highlight>
                  <a:srgbClr val="383B40"/>
                </a:highlight>
                <a:latin typeface="Courier New"/>
                <a:ea typeface="Courier New"/>
                <a:cs typeface="Courier New"/>
                <a:sym typeface="Courier New"/>
              </a:rPr>
              <a:t>// JSON data</a:t>
            </a:r>
            <a:endParaRPr sz="1050">
              <a:solidFill>
                <a:srgbClr val="D3D3D3"/>
              </a:solidFill>
              <a:highlight>
                <a:srgbClr val="383B40"/>
              </a:highlight>
              <a:latin typeface="Courier New"/>
              <a:ea typeface="Courier New"/>
              <a:cs typeface="Courier New"/>
              <a:sym typeface="Courier New"/>
            </a:endParaRPr>
          </a:p>
          <a:p>
            <a:pPr indent="0" lvl="0" marL="152400" marR="152400" rtl="0" algn="l">
              <a:lnSpc>
                <a:spcPct val="142857"/>
              </a:lnSpc>
              <a:spcBef>
                <a:spcPts val="0"/>
              </a:spcBef>
              <a:spcAft>
                <a:spcPts val="0"/>
              </a:spcAft>
              <a:buClr>
                <a:schemeClr val="dk1"/>
              </a:buClr>
              <a:buSzPts val="1100"/>
              <a:buFont typeface="Arial"/>
              <a:buNone/>
            </a:pPr>
            <a:r>
              <a:rPr lang="en" sz="1050">
                <a:solidFill>
                  <a:srgbClr val="98C379"/>
                </a:solidFill>
                <a:highlight>
                  <a:srgbClr val="383B40"/>
                </a:highlight>
                <a:latin typeface="Courier New"/>
                <a:ea typeface="Courier New"/>
                <a:cs typeface="Courier New"/>
                <a:sym typeface="Courier New"/>
              </a:rPr>
              <a:t>"name"</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"John"</a:t>
            </a:r>
            <a:endParaRPr>
              <a:solidFill>
                <a:schemeClr val="dk2"/>
              </a:solidFill>
              <a:latin typeface="Arvo"/>
              <a:ea typeface="Arvo"/>
              <a:cs typeface="Arvo"/>
              <a:sym typeface="Arvo"/>
            </a:endParaRPr>
          </a:p>
          <a:p>
            <a:pPr indent="0" lvl="0" marL="0" rtl="0" algn="just">
              <a:lnSpc>
                <a:spcPct val="140000"/>
              </a:lnSpc>
              <a:spcBef>
                <a:spcPts val="1200"/>
              </a:spcBef>
              <a:spcAft>
                <a:spcPts val="0"/>
              </a:spcAft>
              <a:buClr>
                <a:schemeClr val="dk1"/>
              </a:buClr>
              <a:buSzPts val="1100"/>
              <a:buFont typeface="Arial"/>
              <a:buNone/>
            </a:pPr>
            <a:r>
              <a:rPr lang="en">
                <a:solidFill>
                  <a:schemeClr val="dk2"/>
                </a:solidFill>
                <a:latin typeface="Arvo"/>
                <a:ea typeface="Arvo"/>
                <a:cs typeface="Arvo"/>
                <a:sym typeface="Arvo"/>
              </a:rPr>
              <a:t>Note: JSON data requires double quotes for the key.</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Clr>
                <a:schemeClr val="dk1"/>
              </a:buClr>
              <a:buSzPts val="2800"/>
              <a:buFont typeface="Arial"/>
              <a:buNone/>
            </a:pPr>
            <a:r>
              <a:t/>
            </a:r>
            <a:endParaRPr>
              <a:solidFill>
                <a:schemeClr val="dk2"/>
              </a:solidFill>
              <a:latin typeface="Arvo"/>
              <a:ea typeface="Arvo"/>
              <a:cs typeface="Arvo"/>
              <a:sym typeface="Arv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1"/>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577" name="Google Shape;577;p71"/>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578" name="Google Shape;578;p71"/>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579" name="Google Shape;579;p71"/>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580" name="Google Shape;580;p71"/>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581" name="Google Shape;581;p71"/>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0" lvl="0" marL="0" rtl="0" algn="just">
              <a:lnSpc>
                <a:spcPct val="140000"/>
              </a:lnSpc>
              <a:spcBef>
                <a:spcPts val="800"/>
              </a:spcBef>
              <a:spcAft>
                <a:spcPts val="0"/>
              </a:spcAft>
              <a:buNone/>
            </a:pPr>
            <a:r>
              <a:rPr lang="en">
                <a:solidFill>
                  <a:schemeClr val="dk2"/>
                </a:solidFill>
                <a:latin typeface="Arvo"/>
                <a:ea typeface="Arvo"/>
                <a:cs typeface="Arvo"/>
                <a:sym typeface="Arvo"/>
              </a:rPr>
              <a:t>The JSON object is written inside curly braces { }. JSON objects can contain multiple key/value pairs. For example,</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rPr lang="en" sz="1050">
                <a:solidFill>
                  <a:srgbClr val="FFDDBE"/>
                </a:solidFill>
                <a:highlight>
                  <a:srgbClr val="383B40"/>
                </a:highlight>
                <a:latin typeface="Courier New"/>
                <a:ea typeface="Courier New"/>
                <a:cs typeface="Courier New"/>
                <a:sym typeface="Courier New"/>
              </a:rPr>
              <a:t>// JSON object</a:t>
            </a:r>
            <a:endParaRPr sz="1050">
              <a:solidFill>
                <a:srgbClr val="D3D3D3"/>
              </a:solidFill>
              <a:highlight>
                <a:srgbClr val="383B40"/>
              </a:highlight>
              <a:latin typeface="Courier New"/>
              <a:ea typeface="Courier New"/>
              <a:cs typeface="Courier New"/>
              <a:sym typeface="Courier New"/>
            </a:endParaRPr>
          </a:p>
          <a:p>
            <a:pPr indent="0" lvl="0" marL="152400" marR="152400" rtl="0" algn="l">
              <a:lnSpc>
                <a:spcPct val="142857"/>
              </a:lnSpc>
              <a:spcBef>
                <a:spcPts val="0"/>
              </a:spcBef>
              <a:spcAft>
                <a:spcPts val="0"/>
              </a:spcAft>
              <a:buClr>
                <a:schemeClr val="dk1"/>
              </a:buClr>
              <a:buSzPts val="1100"/>
              <a:buFont typeface="Arial"/>
              <a:buNone/>
            </a:pP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"name"</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"John"</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"age"</a:t>
            </a:r>
            <a:r>
              <a:rPr lang="en" sz="1050">
                <a:solidFill>
                  <a:srgbClr val="D3D3D3"/>
                </a:solidFill>
                <a:highlight>
                  <a:srgbClr val="383B40"/>
                </a:highlight>
                <a:latin typeface="Courier New"/>
                <a:ea typeface="Courier New"/>
                <a:cs typeface="Courier New"/>
                <a:sym typeface="Courier New"/>
              </a:rPr>
              <a:t>: </a:t>
            </a:r>
            <a:r>
              <a:rPr lang="en" sz="1050">
                <a:solidFill>
                  <a:srgbClr val="D19A66"/>
                </a:solidFill>
                <a:highlight>
                  <a:srgbClr val="383B40"/>
                </a:highlight>
                <a:latin typeface="Courier New"/>
                <a:ea typeface="Courier New"/>
                <a:cs typeface="Courier New"/>
                <a:sym typeface="Courier New"/>
              </a:rPr>
              <a:t>22</a:t>
            </a:r>
            <a:r>
              <a:rPr lang="en" sz="1050">
                <a:solidFill>
                  <a:srgbClr val="D3D3D3"/>
                </a:solidFill>
                <a:highlight>
                  <a:srgbClr val="383B40"/>
                </a:highlight>
                <a:latin typeface="Courier New"/>
                <a:ea typeface="Courier New"/>
                <a:cs typeface="Courier New"/>
                <a:sym typeface="Courier New"/>
              </a:rPr>
              <a:t> }</a:t>
            </a:r>
            <a:endParaRPr sz="1050">
              <a:solidFill>
                <a:srgbClr val="D3D3D3"/>
              </a:solidFill>
              <a:highlight>
                <a:srgbClr val="383B40"/>
              </a:highlight>
              <a:latin typeface="Courier New"/>
              <a:ea typeface="Courier New"/>
              <a:cs typeface="Courier New"/>
              <a:sym typeface="Courier New"/>
            </a:endParaRPr>
          </a:p>
          <a:p>
            <a:pPr indent="0" lvl="0" marL="0" rtl="0" algn="just">
              <a:lnSpc>
                <a:spcPct val="140000"/>
              </a:lnSpc>
              <a:spcBef>
                <a:spcPts val="1200"/>
              </a:spcBef>
              <a:spcAft>
                <a:spcPts val="0"/>
              </a:spcAft>
              <a:buNone/>
            </a:pPr>
            <a:r>
              <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2"/>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587" name="Google Shape;587;p72"/>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b="1"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588" name="Google Shape;588;p72"/>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589" name="Google Shape;589;p72"/>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590" name="Google Shape;590;p72"/>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591" name="Google Shape;591;p72"/>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40000"/>
              </a:lnSpc>
              <a:spcBef>
                <a:spcPts val="800"/>
              </a:spcBef>
              <a:spcAft>
                <a:spcPts val="0"/>
              </a:spcAft>
              <a:buNone/>
            </a:pPr>
            <a:r>
              <a:rPr lang="en">
                <a:solidFill>
                  <a:schemeClr val="dk2"/>
                </a:solidFill>
                <a:latin typeface="Arvo"/>
                <a:ea typeface="Arvo"/>
                <a:cs typeface="Arvo"/>
                <a:sym typeface="Arvo"/>
              </a:rPr>
              <a:t>JSON array is written inside square brackets [ ]. For example,</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rPr lang="en" sz="1050">
                <a:solidFill>
                  <a:schemeClr val="dk1"/>
                </a:solidFill>
                <a:highlight>
                  <a:schemeClr val="lt1"/>
                </a:highlight>
                <a:latin typeface="Courier New"/>
                <a:ea typeface="Courier New"/>
                <a:cs typeface="Courier New"/>
                <a:sym typeface="Courier New"/>
              </a:rPr>
              <a:t>// JSON array</a:t>
            </a:r>
            <a:endParaRPr sz="1050">
              <a:solidFill>
                <a:schemeClr val="dk1"/>
              </a:solidFill>
              <a:highlight>
                <a:schemeClr val="lt1"/>
              </a:highlight>
              <a:latin typeface="Courier New"/>
              <a:ea typeface="Courier New"/>
              <a:cs typeface="Courier New"/>
              <a:sym typeface="Courier New"/>
            </a:endParaRPr>
          </a:p>
          <a:p>
            <a:pPr indent="0" lvl="0" marL="0" rtl="0" algn="just">
              <a:lnSpc>
                <a:spcPct val="140000"/>
              </a:lnSpc>
              <a:spcBef>
                <a:spcPts val="800"/>
              </a:spcBef>
              <a:spcAft>
                <a:spcPts val="0"/>
              </a:spcAft>
              <a:buNone/>
            </a:pP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"apple"</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"mango"</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"banana"</a:t>
            </a:r>
            <a:r>
              <a:rPr lang="en" sz="1050">
                <a:solidFill>
                  <a:srgbClr val="D3D3D3"/>
                </a:solidFill>
                <a:highlight>
                  <a:srgbClr val="383B40"/>
                </a:highlight>
                <a:latin typeface="Courier New"/>
                <a:ea typeface="Courier New"/>
                <a:cs typeface="Courier New"/>
                <a:sym typeface="Courier New"/>
              </a:rPr>
              <a:t>]</a:t>
            </a:r>
            <a:endParaRPr sz="1050">
              <a:solidFill>
                <a:srgbClr val="D3D3D3"/>
              </a:solidFill>
              <a:highlight>
                <a:srgbClr val="383B40"/>
              </a:highlight>
              <a:latin typeface="Courier New"/>
              <a:ea typeface="Courier New"/>
              <a:cs typeface="Courier New"/>
              <a:sym typeface="Courier New"/>
            </a:endParaRPr>
          </a:p>
          <a:p>
            <a:pPr indent="0" lvl="0" marL="0" rtl="0" algn="just">
              <a:lnSpc>
                <a:spcPct val="140000"/>
              </a:lnSpc>
              <a:spcBef>
                <a:spcPts val="800"/>
              </a:spcBef>
              <a:spcAft>
                <a:spcPts val="0"/>
              </a:spcAft>
              <a:buNone/>
            </a:pPr>
            <a:r>
              <a:t/>
            </a:r>
            <a:endParaRPr sz="1050">
              <a:solidFill>
                <a:srgbClr val="D3D3D3"/>
              </a:solidFill>
              <a:highlight>
                <a:srgbClr val="383B40"/>
              </a:highlight>
              <a:latin typeface="Courier New"/>
              <a:ea typeface="Courier New"/>
              <a:cs typeface="Courier New"/>
              <a:sym typeface="Courier New"/>
            </a:endParaRPr>
          </a:p>
          <a:p>
            <a:pPr indent="0" lvl="0" marL="0" rtl="0" algn="just">
              <a:lnSpc>
                <a:spcPct val="140000"/>
              </a:lnSpc>
              <a:spcBef>
                <a:spcPts val="800"/>
              </a:spcBef>
              <a:spcAft>
                <a:spcPts val="0"/>
              </a:spcAft>
              <a:buNone/>
            </a:pPr>
            <a:r>
              <a:rPr lang="en" sz="1050">
                <a:solidFill>
                  <a:schemeClr val="dk1"/>
                </a:solidFill>
                <a:highlight>
                  <a:schemeClr val="lt1"/>
                </a:highlight>
                <a:latin typeface="Courier New"/>
                <a:ea typeface="Courier New"/>
                <a:cs typeface="Courier New"/>
                <a:sym typeface="Courier New"/>
              </a:rPr>
              <a:t>// JSON array containing objects</a:t>
            </a:r>
            <a:endParaRPr sz="1050">
              <a:solidFill>
                <a:schemeClr val="dk1"/>
              </a:solidFill>
              <a:highlight>
                <a:schemeClr val="lt1"/>
              </a:highlight>
              <a:latin typeface="Courier New"/>
              <a:ea typeface="Courier New"/>
              <a:cs typeface="Courier New"/>
              <a:sym typeface="Courier New"/>
            </a:endParaRPr>
          </a:p>
          <a:p>
            <a:pPr indent="0" lvl="0" marL="0" rtl="0" algn="just">
              <a:lnSpc>
                <a:spcPct val="140000"/>
              </a:lnSpc>
              <a:spcBef>
                <a:spcPts val="800"/>
              </a:spcBef>
              <a:spcAft>
                <a:spcPts val="0"/>
              </a:spcAft>
              <a:buNone/>
            </a:pPr>
            <a:r>
              <a:rPr lang="en" sz="1050">
                <a:solidFill>
                  <a:srgbClr val="D3D3D3"/>
                </a:solidFill>
                <a:highlight>
                  <a:srgbClr val="383B40"/>
                </a:highlight>
                <a:latin typeface="Courier New"/>
                <a:ea typeface="Courier New"/>
                <a:cs typeface="Courier New"/>
                <a:sym typeface="Courier New"/>
              </a:rPr>
              <a:t>[</a:t>
            </a:r>
            <a:endParaRPr sz="1050">
              <a:solidFill>
                <a:srgbClr val="D3D3D3"/>
              </a:solidFill>
              <a:highlight>
                <a:srgbClr val="383B40"/>
              </a:highlight>
              <a:latin typeface="Courier New"/>
              <a:ea typeface="Courier New"/>
              <a:cs typeface="Courier New"/>
              <a:sym typeface="Courier New"/>
            </a:endParaRPr>
          </a:p>
          <a:p>
            <a:pPr indent="0" lvl="0" marL="0" rtl="0" algn="just">
              <a:lnSpc>
                <a:spcPct val="140000"/>
              </a:lnSpc>
              <a:spcBef>
                <a:spcPts val="800"/>
              </a:spcBef>
              <a:spcAft>
                <a:spcPts val="0"/>
              </a:spcAft>
              <a:buNone/>
            </a:pPr>
            <a:r>
              <a:rPr lang="en" sz="1050">
                <a:solidFill>
                  <a:srgbClr val="D3D3D3"/>
                </a:solidFill>
                <a:highlight>
                  <a:srgbClr val="383B40"/>
                </a:highlight>
                <a:latin typeface="Courier New"/>
                <a:ea typeface="Courier New"/>
                <a:cs typeface="Courier New"/>
                <a:sym typeface="Courier New"/>
              </a:rPr>
              <a:t>    { </a:t>
            </a:r>
            <a:r>
              <a:rPr lang="en" sz="1050">
                <a:solidFill>
                  <a:srgbClr val="98C379"/>
                </a:solidFill>
                <a:highlight>
                  <a:srgbClr val="383B40"/>
                </a:highlight>
                <a:latin typeface="Courier New"/>
                <a:ea typeface="Courier New"/>
                <a:cs typeface="Courier New"/>
                <a:sym typeface="Courier New"/>
              </a:rPr>
              <a:t>"name"</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"John"</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"age"</a:t>
            </a:r>
            <a:r>
              <a:rPr lang="en" sz="1050">
                <a:solidFill>
                  <a:srgbClr val="D3D3D3"/>
                </a:solidFill>
                <a:highlight>
                  <a:srgbClr val="383B40"/>
                </a:highlight>
                <a:latin typeface="Courier New"/>
                <a:ea typeface="Courier New"/>
                <a:cs typeface="Courier New"/>
                <a:sym typeface="Courier New"/>
              </a:rPr>
              <a:t>: </a:t>
            </a:r>
            <a:r>
              <a:rPr lang="en" sz="1050">
                <a:solidFill>
                  <a:srgbClr val="D19A66"/>
                </a:solidFill>
                <a:highlight>
                  <a:srgbClr val="383B40"/>
                </a:highlight>
                <a:latin typeface="Courier New"/>
                <a:ea typeface="Courier New"/>
                <a:cs typeface="Courier New"/>
                <a:sym typeface="Courier New"/>
              </a:rPr>
              <a:t>22</a:t>
            </a:r>
            <a:r>
              <a:rPr lang="en" sz="1050">
                <a:solidFill>
                  <a:srgbClr val="D3D3D3"/>
                </a:solidFill>
                <a:highlight>
                  <a:srgbClr val="383B40"/>
                </a:highlight>
                <a:latin typeface="Courier New"/>
                <a:ea typeface="Courier New"/>
                <a:cs typeface="Courier New"/>
                <a:sym typeface="Courier New"/>
              </a:rPr>
              <a:t> },</a:t>
            </a:r>
            <a:endParaRPr sz="1050">
              <a:solidFill>
                <a:srgbClr val="D3D3D3"/>
              </a:solidFill>
              <a:highlight>
                <a:srgbClr val="383B40"/>
              </a:highlight>
              <a:latin typeface="Courier New"/>
              <a:ea typeface="Courier New"/>
              <a:cs typeface="Courier New"/>
              <a:sym typeface="Courier New"/>
            </a:endParaRPr>
          </a:p>
          <a:p>
            <a:pPr indent="0" lvl="0" marL="0" rtl="0" algn="just">
              <a:lnSpc>
                <a:spcPct val="140000"/>
              </a:lnSpc>
              <a:spcBef>
                <a:spcPts val="800"/>
              </a:spcBef>
              <a:spcAft>
                <a:spcPts val="0"/>
              </a:spcAft>
              <a:buNone/>
            </a:pPr>
            <a:r>
              <a:rPr lang="en" sz="1050">
                <a:solidFill>
                  <a:srgbClr val="D3D3D3"/>
                </a:solidFill>
                <a:highlight>
                  <a:srgbClr val="383B40"/>
                </a:highlight>
                <a:latin typeface="Courier New"/>
                <a:ea typeface="Courier New"/>
                <a:cs typeface="Courier New"/>
                <a:sym typeface="Courier New"/>
              </a:rPr>
              <a:t>    { </a:t>
            </a:r>
            <a:r>
              <a:rPr lang="en" sz="1050">
                <a:solidFill>
                  <a:srgbClr val="98C379"/>
                </a:solidFill>
                <a:highlight>
                  <a:srgbClr val="383B40"/>
                </a:highlight>
                <a:latin typeface="Courier New"/>
                <a:ea typeface="Courier New"/>
                <a:cs typeface="Courier New"/>
                <a:sym typeface="Courier New"/>
              </a:rPr>
              <a:t>"name"</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"Peter"</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"age"</a:t>
            </a:r>
            <a:r>
              <a:rPr lang="en" sz="1050">
                <a:solidFill>
                  <a:srgbClr val="D3D3D3"/>
                </a:solidFill>
                <a:highlight>
                  <a:srgbClr val="383B40"/>
                </a:highlight>
                <a:latin typeface="Courier New"/>
                <a:ea typeface="Courier New"/>
                <a:cs typeface="Courier New"/>
                <a:sym typeface="Courier New"/>
              </a:rPr>
              <a:t>: </a:t>
            </a:r>
            <a:r>
              <a:rPr lang="en" sz="1050">
                <a:solidFill>
                  <a:srgbClr val="D19A66"/>
                </a:solidFill>
                <a:highlight>
                  <a:srgbClr val="383B40"/>
                </a:highlight>
                <a:latin typeface="Courier New"/>
                <a:ea typeface="Courier New"/>
                <a:cs typeface="Courier New"/>
                <a:sym typeface="Courier New"/>
              </a:rPr>
              <a:t>20</a:t>
            </a:r>
            <a:r>
              <a:rPr lang="en" sz="1050">
                <a:solidFill>
                  <a:srgbClr val="D3D3D3"/>
                </a:solidFill>
                <a:highlight>
                  <a:srgbClr val="383B40"/>
                </a:highlight>
                <a:latin typeface="Courier New"/>
                <a:ea typeface="Courier New"/>
                <a:cs typeface="Courier New"/>
                <a:sym typeface="Courier New"/>
              </a:rPr>
              <a:t> }.</a:t>
            </a:r>
            <a:endParaRPr sz="1050">
              <a:solidFill>
                <a:srgbClr val="D3D3D3"/>
              </a:solidFill>
              <a:highlight>
                <a:srgbClr val="383B40"/>
              </a:highlight>
              <a:latin typeface="Courier New"/>
              <a:ea typeface="Courier New"/>
              <a:cs typeface="Courier New"/>
              <a:sym typeface="Courier New"/>
            </a:endParaRPr>
          </a:p>
          <a:p>
            <a:pPr indent="0" lvl="0" marL="0" rtl="0" algn="just">
              <a:lnSpc>
                <a:spcPct val="140000"/>
              </a:lnSpc>
              <a:spcBef>
                <a:spcPts val="800"/>
              </a:spcBef>
              <a:spcAft>
                <a:spcPts val="0"/>
              </a:spcAft>
              <a:buNone/>
            </a:pPr>
            <a:r>
              <a:rPr lang="en" sz="1050">
                <a:solidFill>
                  <a:srgbClr val="D3D3D3"/>
                </a:solidFill>
                <a:highlight>
                  <a:srgbClr val="383B40"/>
                </a:highlight>
                <a:latin typeface="Courier New"/>
                <a:ea typeface="Courier New"/>
                <a:cs typeface="Courier New"/>
                <a:sym typeface="Courier New"/>
              </a:rPr>
              <a:t>    { </a:t>
            </a:r>
            <a:r>
              <a:rPr lang="en" sz="1050">
                <a:solidFill>
                  <a:srgbClr val="98C379"/>
                </a:solidFill>
                <a:highlight>
                  <a:srgbClr val="383B40"/>
                </a:highlight>
                <a:latin typeface="Courier New"/>
                <a:ea typeface="Courier New"/>
                <a:cs typeface="Courier New"/>
                <a:sym typeface="Courier New"/>
              </a:rPr>
              <a:t>"name"</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"Mark"</a:t>
            </a:r>
            <a:r>
              <a:rPr lang="en" sz="1050">
                <a:solidFill>
                  <a:srgbClr val="D3D3D3"/>
                </a:solidFill>
                <a:highlight>
                  <a:srgbClr val="383B40"/>
                </a:highlight>
                <a:latin typeface="Courier New"/>
                <a:ea typeface="Courier New"/>
                <a:cs typeface="Courier New"/>
                <a:sym typeface="Courier New"/>
              </a:rPr>
              <a:t>, </a:t>
            </a:r>
            <a:r>
              <a:rPr lang="en" sz="1050">
                <a:solidFill>
                  <a:srgbClr val="98C379"/>
                </a:solidFill>
                <a:highlight>
                  <a:srgbClr val="383B40"/>
                </a:highlight>
                <a:latin typeface="Courier New"/>
                <a:ea typeface="Courier New"/>
                <a:cs typeface="Courier New"/>
                <a:sym typeface="Courier New"/>
              </a:rPr>
              <a:t>"age"</a:t>
            </a:r>
            <a:r>
              <a:rPr lang="en" sz="1050">
                <a:solidFill>
                  <a:srgbClr val="D3D3D3"/>
                </a:solidFill>
                <a:highlight>
                  <a:srgbClr val="383B40"/>
                </a:highlight>
                <a:latin typeface="Courier New"/>
                <a:ea typeface="Courier New"/>
                <a:cs typeface="Courier New"/>
                <a:sym typeface="Courier New"/>
              </a:rPr>
              <a:t>: </a:t>
            </a:r>
            <a:r>
              <a:rPr lang="en" sz="1050">
                <a:solidFill>
                  <a:srgbClr val="D19A66"/>
                </a:solidFill>
                <a:highlight>
                  <a:srgbClr val="383B40"/>
                </a:highlight>
                <a:latin typeface="Courier New"/>
                <a:ea typeface="Courier New"/>
                <a:cs typeface="Courier New"/>
                <a:sym typeface="Courier New"/>
              </a:rPr>
              <a:t>23</a:t>
            </a:r>
            <a:r>
              <a:rPr lang="en" sz="1050">
                <a:solidFill>
                  <a:srgbClr val="D3D3D3"/>
                </a:solidFill>
                <a:highlight>
                  <a:srgbClr val="383B40"/>
                </a:highlight>
                <a:latin typeface="Courier New"/>
                <a:ea typeface="Courier New"/>
                <a:cs typeface="Courier New"/>
                <a:sym typeface="Courier New"/>
              </a:rPr>
              <a:t> }</a:t>
            </a:r>
            <a:endParaRPr sz="1050">
              <a:solidFill>
                <a:srgbClr val="D3D3D3"/>
              </a:solidFill>
              <a:highlight>
                <a:srgbClr val="383B40"/>
              </a:highlight>
              <a:latin typeface="Courier New"/>
              <a:ea typeface="Courier New"/>
              <a:cs typeface="Courier New"/>
              <a:sym typeface="Courier New"/>
            </a:endParaRPr>
          </a:p>
          <a:p>
            <a:pPr indent="0" lvl="0" marL="152400" marR="152400" rtl="0" algn="l">
              <a:lnSpc>
                <a:spcPct val="142857"/>
              </a:lnSpc>
              <a:spcBef>
                <a:spcPts val="0"/>
              </a:spcBef>
              <a:spcAft>
                <a:spcPts val="0"/>
              </a:spcAft>
              <a:buClr>
                <a:schemeClr val="dk1"/>
              </a:buClr>
              <a:buSzPts val="1100"/>
              <a:buFont typeface="Arial"/>
              <a:buNone/>
            </a:pPr>
            <a:r>
              <a:rPr lang="en" sz="1050">
                <a:solidFill>
                  <a:srgbClr val="D3D3D3"/>
                </a:solidFill>
                <a:highlight>
                  <a:srgbClr val="383B40"/>
                </a:highlight>
                <a:latin typeface="Courier New"/>
                <a:ea typeface="Courier New"/>
                <a:cs typeface="Courier New"/>
                <a:sym typeface="Courier New"/>
              </a:rPr>
              <a:t>]</a:t>
            </a:r>
            <a:endParaRPr sz="1050">
              <a:solidFill>
                <a:srgbClr val="D3D3D3"/>
              </a:solidFill>
              <a:highlight>
                <a:srgbClr val="383B40"/>
              </a:highlight>
              <a:latin typeface="Courier New"/>
              <a:ea typeface="Courier New"/>
              <a:cs typeface="Courier New"/>
              <a:sym typeface="Courier New"/>
            </a:endParaRPr>
          </a:p>
          <a:p>
            <a:pPr indent="0" lvl="0" marL="0" rtl="0" algn="just">
              <a:lnSpc>
                <a:spcPct val="140000"/>
              </a:lnSpc>
              <a:spcBef>
                <a:spcPts val="1200"/>
              </a:spcBef>
              <a:spcAft>
                <a:spcPts val="0"/>
              </a:spcAft>
              <a:buNone/>
            </a:pPr>
            <a:r>
              <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3"/>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597" name="Google Shape;597;p73"/>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598" name="Google Shape;598;p73"/>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599" name="Google Shape;599;p73"/>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600" name="Google Shape;600;p73"/>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601" name="Google Shape;601;p73"/>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0" lvl="0" marL="0" rtl="0" algn="just">
              <a:lnSpc>
                <a:spcPct val="140000"/>
              </a:lnSpc>
              <a:spcBef>
                <a:spcPts val="800"/>
              </a:spcBef>
              <a:spcAft>
                <a:spcPts val="0"/>
              </a:spcAft>
              <a:buNone/>
            </a:pPr>
            <a:r>
              <a:rPr lang="en">
                <a:solidFill>
                  <a:schemeClr val="dk2"/>
                </a:solidFill>
                <a:latin typeface="Arvo"/>
                <a:ea typeface="Arvo"/>
                <a:cs typeface="Arvo"/>
                <a:sym typeface="Arvo"/>
              </a:rPr>
              <a:t>You can access JSON data using the dot notation. For example,</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p:txBody>
      </p:sp>
      <p:pic>
        <p:nvPicPr>
          <p:cNvPr id="602" name="Google Shape;602;p73"/>
          <p:cNvPicPr preferRelativeResize="0"/>
          <p:nvPr/>
        </p:nvPicPr>
        <p:blipFill rotWithShape="1">
          <a:blip r:embed="rId5">
            <a:alphaModFix/>
          </a:blip>
          <a:srcRect b="0" l="0" r="0" t="0"/>
          <a:stretch/>
        </p:blipFill>
        <p:spPr>
          <a:xfrm>
            <a:off x="2579325" y="1519250"/>
            <a:ext cx="6081375" cy="354887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4"/>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JSON</a:t>
            </a:r>
            <a:endParaRPr sz="2300"/>
          </a:p>
        </p:txBody>
      </p:sp>
      <p:sp>
        <p:nvSpPr>
          <p:cNvPr id="608" name="Google Shape;608;p74"/>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2. Call back functions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3. Promises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4 Fetch Method</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5 API</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rPr>
              <a:t>6 JSON</a:t>
            </a:r>
            <a:endParaRPr sz="9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2. Learn more</a:t>
            </a:r>
            <a:endParaRPr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609" name="Google Shape;609;p74"/>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610" name="Google Shape;610;p74"/>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611" name="Google Shape;611;p74"/>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612" name="Google Shape;612;p74"/>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0" lvl="0" marL="0" rtl="0" algn="just">
              <a:lnSpc>
                <a:spcPct val="140000"/>
              </a:lnSpc>
              <a:spcBef>
                <a:spcPts val="800"/>
              </a:spcBef>
              <a:spcAft>
                <a:spcPts val="0"/>
              </a:spcAft>
              <a:buNone/>
            </a:pPr>
            <a:r>
              <a:rPr lang="en">
                <a:solidFill>
                  <a:schemeClr val="dk2"/>
                </a:solidFill>
                <a:latin typeface="Arvo"/>
                <a:ea typeface="Arvo"/>
                <a:cs typeface="Arvo"/>
                <a:sym typeface="Arvo"/>
              </a:rPr>
              <a:t>Though the syntax of JSON is similar to the JavaScript object, JSON is different from JavaScript objects.</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p:txBody>
      </p:sp>
      <p:pic>
        <p:nvPicPr>
          <p:cNvPr id="613" name="Google Shape;613;p74"/>
          <p:cNvPicPr preferRelativeResize="0"/>
          <p:nvPr/>
        </p:nvPicPr>
        <p:blipFill rotWithShape="1">
          <a:blip r:embed="rId5">
            <a:alphaModFix/>
          </a:blip>
          <a:srcRect b="0" l="0" r="0" t="0"/>
          <a:stretch/>
        </p:blipFill>
        <p:spPr>
          <a:xfrm>
            <a:off x="2178250" y="2005689"/>
            <a:ext cx="6965750" cy="220193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75"/>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Learn More</a:t>
            </a:r>
            <a:endParaRPr sz="2300"/>
          </a:p>
        </p:txBody>
      </p:sp>
      <p:sp>
        <p:nvSpPr>
          <p:cNvPr id="619" name="Google Shape;619;p75"/>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Call back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Promises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Fetch Method</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API</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1.5 JSON</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n" sz="1000">
                <a:solidFill>
                  <a:schemeClr val="dk1"/>
                </a:solidFill>
              </a:rPr>
              <a:t>2. Learn more</a:t>
            </a:r>
            <a:endParaRPr b="1"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620" name="Google Shape;620;p75"/>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621" name="Google Shape;621;p75"/>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622" name="Google Shape;622;p75"/>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623" name="Google Shape;623;p75"/>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317500" lvl="0" marL="457200" rtl="0" algn="l">
              <a:lnSpc>
                <a:spcPct val="150000"/>
              </a:lnSpc>
              <a:spcBef>
                <a:spcPts val="1000"/>
              </a:spcBef>
              <a:spcAft>
                <a:spcPts val="0"/>
              </a:spcAft>
              <a:buClr>
                <a:schemeClr val="dk1"/>
              </a:buClr>
              <a:buSzPts val="1400"/>
              <a:buFont typeface="Arvo"/>
              <a:buChar char="•"/>
            </a:pPr>
            <a:r>
              <a:rPr lang="en" u="sng">
                <a:solidFill>
                  <a:schemeClr val="accent5"/>
                </a:solidFill>
                <a:latin typeface="Arvo"/>
                <a:ea typeface="Arvo"/>
                <a:cs typeface="Arvo"/>
                <a:sym typeface="Arvo"/>
                <a:hlinkClick r:id="rId5">
                  <a:extLst>
                    <a:ext uri="{A12FA001-AC4F-418D-AE19-62706E023703}">
                      <ahyp:hlinkClr val="tx"/>
                    </a:ext>
                  </a:extLst>
                </a:hlinkClick>
              </a:rPr>
              <a:t>Working with APIs in JavaScript - GeeksforGeeks</a:t>
            </a:r>
            <a:endParaRPr>
              <a:solidFill>
                <a:schemeClr val="dk2"/>
              </a:solidFill>
              <a:latin typeface="Arvo"/>
              <a:ea typeface="Arvo"/>
              <a:cs typeface="Arvo"/>
              <a:sym typeface="Arvo"/>
            </a:endParaRPr>
          </a:p>
          <a:p>
            <a:pPr indent="-317500" lvl="0" marL="457200" rtl="0" algn="l">
              <a:lnSpc>
                <a:spcPct val="150000"/>
              </a:lnSpc>
              <a:spcBef>
                <a:spcPts val="1000"/>
              </a:spcBef>
              <a:spcAft>
                <a:spcPts val="0"/>
              </a:spcAft>
              <a:buClr>
                <a:schemeClr val="dk2"/>
              </a:buClr>
              <a:buSzPts val="1400"/>
              <a:buFont typeface="Arvo"/>
              <a:buChar char="•"/>
            </a:pPr>
            <a:r>
              <a:rPr lang="en" u="sng">
                <a:solidFill>
                  <a:schemeClr val="accent5"/>
                </a:solidFill>
                <a:latin typeface="Arvo"/>
                <a:ea typeface="Arvo"/>
                <a:cs typeface="Arvo"/>
                <a:sym typeface="Arvo"/>
                <a:hlinkClick r:id="rId6">
                  <a:extLst>
                    <a:ext uri="{A12FA001-AC4F-418D-AE19-62706E023703}">
                      <ahyp:hlinkClr val="tx"/>
                    </a:ext>
                  </a:extLst>
                </a:hlinkClick>
              </a:rPr>
              <a:t>Web APIs (w3schools.com)</a:t>
            </a:r>
            <a:endParaRPr>
              <a:solidFill>
                <a:schemeClr val="dk2"/>
              </a:solidFill>
              <a:latin typeface="Arvo"/>
              <a:ea typeface="Arvo"/>
              <a:cs typeface="Arvo"/>
              <a:sym typeface="Arvo"/>
            </a:endParaRPr>
          </a:p>
          <a:p>
            <a:pPr indent="-317500" lvl="0" marL="457200" rtl="0" algn="l">
              <a:lnSpc>
                <a:spcPct val="150000"/>
              </a:lnSpc>
              <a:spcBef>
                <a:spcPts val="1000"/>
              </a:spcBef>
              <a:spcAft>
                <a:spcPts val="0"/>
              </a:spcAft>
              <a:buClr>
                <a:schemeClr val="dk2"/>
              </a:buClr>
              <a:buSzPts val="1400"/>
              <a:buFont typeface="Arvo"/>
              <a:buChar char="•"/>
            </a:pPr>
            <a:r>
              <a:rPr lang="en" u="sng">
                <a:solidFill>
                  <a:schemeClr val="accent5"/>
                </a:solidFill>
                <a:latin typeface="Arvo"/>
                <a:ea typeface="Arvo"/>
                <a:cs typeface="Arvo"/>
                <a:sym typeface="Arvo"/>
                <a:hlinkClick r:id="rId7">
                  <a:extLst>
                    <a:ext uri="{A12FA001-AC4F-418D-AE19-62706E023703}">
                      <ahyp:hlinkClr val="tx"/>
                    </a:ext>
                  </a:extLst>
                </a:hlinkClick>
              </a:rPr>
              <a:t>JSON Introduction (w3schools.com)</a:t>
            </a:r>
            <a:endParaRPr>
              <a:solidFill>
                <a:schemeClr val="dk2"/>
              </a:solidFill>
              <a:latin typeface="Arvo"/>
              <a:ea typeface="Arvo"/>
              <a:cs typeface="Arvo"/>
              <a:sym typeface="Arvo"/>
            </a:endParaRPr>
          </a:p>
          <a:p>
            <a:pPr indent="-317500" lvl="0" marL="457200" rtl="0" algn="l">
              <a:lnSpc>
                <a:spcPct val="150000"/>
              </a:lnSpc>
              <a:spcBef>
                <a:spcPts val="1000"/>
              </a:spcBef>
              <a:spcAft>
                <a:spcPts val="0"/>
              </a:spcAft>
              <a:buClr>
                <a:schemeClr val="dk2"/>
              </a:buClr>
              <a:buSzPts val="1400"/>
              <a:buFont typeface="Arvo"/>
              <a:buChar char="•"/>
            </a:pPr>
            <a:r>
              <a:rPr lang="en" u="sng">
                <a:solidFill>
                  <a:schemeClr val="accent5"/>
                </a:solidFill>
                <a:latin typeface="Arvo"/>
                <a:ea typeface="Arvo"/>
                <a:cs typeface="Arvo"/>
                <a:sym typeface="Arvo"/>
                <a:hlinkClick r:id="rId8">
                  <a:extLst>
                    <a:ext uri="{A12FA001-AC4F-418D-AE19-62706E023703}">
                      <ahyp:hlinkClr val="tx"/>
                    </a:ext>
                  </a:extLst>
                </a:hlinkClick>
              </a:rPr>
              <a:t>JSON</a:t>
            </a:r>
            <a:endParaRPr>
              <a:solidFill>
                <a:schemeClr val="dk2"/>
              </a:solidFill>
              <a:latin typeface="Arvo"/>
              <a:ea typeface="Arvo"/>
              <a:cs typeface="Arvo"/>
              <a:sym typeface="Arvo"/>
            </a:endParaRPr>
          </a:p>
          <a:p>
            <a:pPr indent="-317500" lvl="0" marL="457200" rtl="0" algn="l">
              <a:lnSpc>
                <a:spcPct val="150000"/>
              </a:lnSpc>
              <a:spcBef>
                <a:spcPts val="1000"/>
              </a:spcBef>
              <a:spcAft>
                <a:spcPts val="0"/>
              </a:spcAft>
              <a:buClr>
                <a:schemeClr val="dk2"/>
              </a:buClr>
              <a:buSzPts val="1400"/>
              <a:buFont typeface="Arvo"/>
              <a:buChar char="•"/>
            </a:pPr>
            <a:r>
              <a:rPr lang="en" u="sng">
                <a:solidFill>
                  <a:schemeClr val="accent5"/>
                </a:solidFill>
                <a:latin typeface="Arvo"/>
                <a:ea typeface="Arvo"/>
                <a:cs typeface="Arvo"/>
                <a:sym typeface="Arvo"/>
                <a:hlinkClick r:id="rId9">
                  <a:extLst>
                    <a:ext uri="{A12FA001-AC4F-418D-AE19-62706E023703}">
                      <ahyp:hlinkClr val="tx"/>
                    </a:ext>
                  </a:extLst>
                </a:hlinkClick>
              </a:rPr>
              <a:t>Working with JSON - Learn web development | MDN (mozilla.org)</a:t>
            </a:r>
            <a:endParaRPr>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76"/>
          <p:cNvSpPr txBox="1"/>
          <p:nvPr>
            <p:ph type="title"/>
          </p:nvPr>
        </p:nvSpPr>
        <p:spPr>
          <a:xfrm>
            <a:off x="1875600" y="203850"/>
            <a:ext cx="6785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sz="2300"/>
              <a:t>Learn More</a:t>
            </a:r>
            <a:endParaRPr sz="2300"/>
          </a:p>
        </p:txBody>
      </p:sp>
      <p:sp>
        <p:nvSpPr>
          <p:cNvPr id="629" name="Google Shape;629;p76"/>
          <p:cNvSpPr/>
          <p:nvPr/>
        </p:nvSpPr>
        <p:spPr>
          <a:xfrm>
            <a:off x="-52" y="-12450"/>
            <a:ext cx="2178300" cy="5143500"/>
          </a:xfrm>
          <a:prstGeom prst="rect">
            <a:avLst/>
          </a:prstGeom>
          <a:solidFill>
            <a:srgbClr val="C9DAF8"/>
          </a:solidFill>
          <a:ln cap="flat" cmpd="sng" w="9525">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t/>
            </a:r>
            <a:endParaRPr b="1" sz="900">
              <a:solidFill>
                <a:schemeClr val="dk1"/>
              </a:solidFill>
            </a:endParaRPr>
          </a:p>
          <a:p>
            <a:pPr indent="0" lvl="0" marL="0" rtl="0" algn="l">
              <a:lnSpc>
                <a:spcPct val="115000"/>
              </a:lnSpc>
              <a:spcBef>
                <a:spcPts val="0"/>
              </a:spcBef>
              <a:spcAft>
                <a:spcPts val="0"/>
              </a:spcAft>
              <a:buNone/>
            </a:pPr>
            <a:r>
              <a:rPr lang="en" sz="900">
                <a:solidFill>
                  <a:schemeClr val="dk1"/>
                </a:solidFill>
              </a:rPr>
              <a:t>1</a:t>
            </a:r>
            <a:r>
              <a:rPr lang="en" sz="1000">
                <a:solidFill>
                  <a:schemeClr val="dk1"/>
                </a:solidFill>
              </a:rPr>
              <a:t>. Asynchronous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1.1. Call back functions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1.2. Promises</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1.3. Fetch Method</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1.4 API</a:t>
            </a:r>
            <a:endParaRPr sz="1000">
              <a:solidFill>
                <a:schemeClr val="dk1"/>
              </a:solidFill>
            </a:endParaRPr>
          </a:p>
          <a:p>
            <a:pPr indent="0" lvl="0" marL="0" rtl="0" algn="l">
              <a:lnSpc>
                <a:spcPct val="115000"/>
              </a:lnSpc>
              <a:spcBef>
                <a:spcPts val="0"/>
              </a:spcBef>
              <a:spcAft>
                <a:spcPts val="0"/>
              </a:spcAft>
              <a:buNone/>
            </a:pPr>
            <a:r>
              <a:rPr lang="en" sz="1000">
                <a:solidFill>
                  <a:schemeClr val="dk1"/>
                </a:solidFill>
              </a:rPr>
              <a:t>1.5 JSON</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n" sz="1000">
                <a:solidFill>
                  <a:schemeClr val="dk1"/>
                </a:solidFill>
              </a:rPr>
              <a:t>2. Learn more</a:t>
            </a:r>
            <a:endParaRPr b="1" sz="1000">
              <a:solidFill>
                <a:schemeClr val="dk1"/>
              </a:solidFill>
            </a:endParaRPr>
          </a:p>
          <a:p>
            <a:pPr indent="-171450" lvl="0" marL="330200" marR="0" rtl="0" algn="l">
              <a:lnSpc>
                <a:spcPct val="115000"/>
              </a:lnSpc>
              <a:spcBef>
                <a:spcPts val="0"/>
              </a:spcBef>
              <a:spcAft>
                <a:spcPts val="0"/>
              </a:spcAft>
              <a:buSzPts val="100"/>
              <a:buAutoNum type="arabicPeriod"/>
            </a:pPr>
            <a:r>
              <a:t/>
            </a:r>
            <a:endParaRPr sz="100"/>
          </a:p>
        </p:txBody>
      </p:sp>
      <p:pic>
        <p:nvPicPr>
          <p:cNvPr id="630" name="Google Shape;630;p76"/>
          <p:cNvPicPr preferRelativeResize="0"/>
          <p:nvPr/>
        </p:nvPicPr>
        <p:blipFill rotWithShape="1">
          <a:blip r:embed="rId3">
            <a:alphaModFix/>
          </a:blip>
          <a:srcRect b="0" l="0" r="0" t="0"/>
          <a:stretch/>
        </p:blipFill>
        <p:spPr>
          <a:xfrm>
            <a:off x="206339" y="93287"/>
            <a:ext cx="1448822" cy="774630"/>
          </a:xfrm>
          <a:prstGeom prst="rect">
            <a:avLst/>
          </a:prstGeom>
          <a:noFill/>
          <a:ln>
            <a:noFill/>
          </a:ln>
        </p:spPr>
      </p:pic>
      <p:pic>
        <p:nvPicPr>
          <p:cNvPr id="631" name="Google Shape;631;p76"/>
          <p:cNvPicPr preferRelativeResize="0"/>
          <p:nvPr/>
        </p:nvPicPr>
        <p:blipFill rotWithShape="1">
          <a:blip r:embed="rId4">
            <a:alphaModFix/>
          </a:blip>
          <a:srcRect b="0" l="0" r="0" t="0"/>
          <a:stretch/>
        </p:blipFill>
        <p:spPr>
          <a:xfrm>
            <a:off x="206301" y="4542269"/>
            <a:ext cx="1448821" cy="303138"/>
          </a:xfrm>
          <a:prstGeom prst="rect">
            <a:avLst/>
          </a:prstGeom>
          <a:noFill/>
          <a:ln>
            <a:noFill/>
          </a:ln>
        </p:spPr>
      </p:pic>
      <p:cxnSp>
        <p:nvCxnSpPr>
          <p:cNvPr id="632" name="Google Shape;632;p76"/>
          <p:cNvCxnSpPr/>
          <p:nvPr/>
        </p:nvCxnSpPr>
        <p:spPr>
          <a:xfrm flipH="1" rot="10800000">
            <a:off x="2240825" y="959275"/>
            <a:ext cx="6272100" cy="4800"/>
          </a:xfrm>
          <a:prstGeom prst="straightConnector1">
            <a:avLst/>
          </a:prstGeom>
          <a:noFill/>
          <a:ln cap="flat" cmpd="sng" w="9525">
            <a:solidFill>
              <a:schemeClr val="dk1"/>
            </a:solidFill>
            <a:prstDash val="solid"/>
            <a:round/>
            <a:headEnd len="med" w="med" type="oval"/>
            <a:tailEnd len="med" w="med" type="oval"/>
          </a:ln>
        </p:spPr>
      </p:cxnSp>
      <p:sp>
        <p:nvSpPr>
          <p:cNvPr id="633" name="Google Shape;633;p76"/>
          <p:cNvSpPr txBox="1"/>
          <p:nvPr/>
        </p:nvSpPr>
        <p:spPr>
          <a:xfrm>
            <a:off x="2240825" y="1047050"/>
            <a:ext cx="6438300" cy="3798300"/>
          </a:xfrm>
          <a:prstGeom prst="rect">
            <a:avLst/>
          </a:prstGeom>
          <a:noFill/>
          <a:ln>
            <a:noFill/>
          </a:ln>
        </p:spPr>
        <p:txBody>
          <a:bodyPr anchorCtr="0" anchor="t" bIns="91425" lIns="91425" spcFirstLastPara="1" rIns="91425" wrap="square" tIns="91425">
            <a:normAutofit/>
          </a:bodyPr>
          <a:lstStyle/>
          <a:p>
            <a:pPr indent="-355600" lvl="0" marL="457200" rtl="0" algn="l">
              <a:lnSpc>
                <a:spcPct val="150000"/>
              </a:lnSpc>
              <a:spcBef>
                <a:spcPts val="1000"/>
              </a:spcBef>
              <a:spcAft>
                <a:spcPts val="0"/>
              </a:spcAft>
              <a:buClr>
                <a:schemeClr val="dk1"/>
              </a:buClr>
              <a:buSzPts val="2000"/>
              <a:buChar char="•"/>
            </a:pPr>
            <a:r>
              <a:rPr lang="en" sz="2000" u="sng">
                <a:solidFill>
                  <a:schemeClr val="accent5"/>
                </a:solidFill>
                <a:latin typeface="Arvo"/>
                <a:ea typeface="Arvo"/>
                <a:cs typeface="Arvo"/>
                <a:sym typeface="Arvo"/>
                <a:hlinkClick r:id="rId5">
                  <a:extLst>
                    <a:ext uri="{A12FA001-AC4F-418D-AE19-62706E023703}">
                      <ahyp:hlinkClr val="tx"/>
                    </a:ext>
                  </a:extLst>
                </a:hlinkClick>
              </a:rPr>
              <a:t>HTML DOM Events</a:t>
            </a:r>
            <a:endParaRPr sz="2000">
              <a:solidFill>
                <a:schemeClr val="dk1"/>
              </a:solidFill>
              <a:latin typeface="Arvo"/>
              <a:ea typeface="Arvo"/>
              <a:cs typeface="Arvo"/>
              <a:sym typeface="Arvo"/>
            </a:endParaRPr>
          </a:p>
          <a:p>
            <a:pPr indent="-355600" lvl="0" marL="457200" rtl="0" algn="l">
              <a:lnSpc>
                <a:spcPct val="150000"/>
              </a:lnSpc>
              <a:spcBef>
                <a:spcPts val="1000"/>
              </a:spcBef>
              <a:spcAft>
                <a:spcPts val="0"/>
              </a:spcAft>
              <a:buClr>
                <a:schemeClr val="dk1"/>
              </a:buClr>
              <a:buSzPts val="2000"/>
              <a:buChar char="•"/>
            </a:pPr>
            <a:r>
              <a:rPr lang="en" sz="2000" u="sng">
                <a:solidFill>
                  <a:schemeClr val="accent5"/>
                </a:solidFill>
                <a:latin typeface="Arvo"/>
                <a:ea typeface="Arvo"/>
                <a:cs typeface="Arvo"/>
                <a:sym typeface="Arvo"/>
                <a:hlinkClick r:id="rId6">
                  <a:extLst>
                    <a:ext uri="{A12FA001-AC4F-418D-AE19-62706E023703}">
                      <ahyp:hlinkClr val="tx"/>
                    </a:ext>
                  </a:extLst>
                </a:hlinkClick>
              </a:rPr>
              <a:t>HTML DOM Elements</a:t>
            </a:r>
            <a:endParaRPr sz="1500">
              <a:solidFill>
                <a:schemeClr val="dk2"/>
              </a:solidFill>
              <a:latin typeface="Arvo"/>
              <a:ea typeface="Arvo"/>
              <a:cs typeface="Arvo"/>
              <a:sym typeface="Arvo"/>
            </a:endParaRPr>
          </a:p>
          <a:p>
            <a:pPr indent="-355600" lvl="0" marL="457200" rtl="0" algn="l">
              <a:lnSpc>
                <a:spcPct val="150000"/>
              </a:lnSpc>
              <a:spcBef>
                <a:spcPts val="0"/>
              </a:spcBef>
              <a:spcAft>
                <a:spcPts val="0"/>
              </a:spcAft>
              <a:buClr>
                <a:schemeClr val="dk1"/>
              </a:buClr>
              <a:buSzPts val="2000"/>
              <a:buChar char="•"/>
            </a:pPr>
            <a:r>
              <a:rPr lang="en" sz="2000" u="sng">
                <a:solidFill>
                  <a:schemeClr val="accent5"/>
                </a:solidFill>
                <a:latin typeface="Arvo"/>
                <a:ea typeface="Arvo"/>
                <a:cs typeface="Arvo"/>
                <a:sym typeface="Arvo"/>
                <a:hlinkClick r:id="rId7">
                  <a:extLst>
                    <a:ext uri="{A12FA001-AC4F-418D-AE19-62706E023703}">
                      <ahyp:hlinkClr val="tx"/>
                    </a:ext>
                  </a:extLst>
                </a:hlinkClick>
              </a:rPr>
              <a:t>JavaScript Promise</a:t>
            </a:r>
            <a:endParaRPr sz="2000">
              <a:solidFill>
                <a:schemeClr val="dk1"/>
              </a:solidFill>
              <a:latin typeface="Arvo"/>
              <a:ea typeface="Arvo"/>
              <a:cs typeface="Arvo"/>
              <a:sym typeface="Arvo"/>
            </a:endParaRPr>
          </a:p>
          <a:p>
            <a:pPr indent="-355600" lvl="0" marL="457200" rtl="0" algn="l">
              <a:lnSpc>
                <a:spcPct val="150000"/>
              </a:lnSpc>
              <a:spcBef>
                <a:spcPts val="1000"/>
              </a:spcBef>
              <a:spcAft>
                <a:spcPts val="0"/>
              </a:spcAft>
              <a:buClr>
                <a:schemeClr val="dk1"/>
              </a:buClr>
              <a:buSzPts val="2000"/>
              <a:buChar char="•"/>
            </a:pPr>
            <a:r>
              <a:rPr lang="en" sz="2000" u="sng">
                <a:solidFill>
                  <a:schemeClr val="accent5"/>
                </a:solidFill>
                <a:latin typeface="Arvo"/>
                <a:ea typeface="Arvo"/>
                <a:cs typeface="Arvo"/>
                <a:sym typeface="Arvo"/>
                <a:hlinkClick r:id="rId8">
                  <a:extLst>
                    <a:ext uri="{A12FA001-AC4F-418D-AE19-62706E023703}">
                      <ahyp:hlinkClr val="tx"/>
                    </a:ext>
                  </a:extLst>
                </a:hlinkClick>
              </a:rPr>
              <a:t>All about Promise</a:t>
            </a:r>
            <a:endParaRPr sz="1500">
              <a:solidFill>
                <a:schemeClr val="dk2"/>
              </a:solidFill>
              <a:latin typeface="Arvo"/>
              <a:ea typeface="Arvo"/>
              <a:cs typeface="Arvo"/>
              <a:sym typeface="Arvo"/>
            </a:endParaRPr>
          </a:p>
          <a:p>
            <a:pPr indent="0" lvl="0" marL="0" rtl="0" algn="just">
              <a:lnSpc>
                <a:spcPct val="140000"/>
              </a:lnSpc>
              <a:spcBef>
                <a:spcPts val="800"/>
              </a:spcBef>
              <a:spcAft>
                <a:spcPts val="0"/>
              </a:spcAft>
              <a:buNone/>
            </a:pPr>
            <a:r>
              <a:t/>
            </a:r>
            <a:endParaRPr>
              <a:solidFill>
                <a:schemeClr val="dk2"/>
              </a:solidFill>
              <a:latin typeface="Arvo"/>
              <a:ea typeface="Arvo"/>
              <a:cs typeface="Arvo"/>
              <a:sym typeface="Arv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