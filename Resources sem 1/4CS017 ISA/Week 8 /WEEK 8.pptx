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Arvo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Arvo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37" Type="http://schemas.openxmlformats.org/officeDocument/2006/relationships/font" Target="fonts/Arvo-italic.fntdata"/><Relationship Id="rId14" Type="http://schemas.openxmlformats.org/officeDocument/2006/relationships/slide" Target="slides/slide9.xml"/><Relationship Id="rId36" Type="http://schemas.openxmlformats.org/officeDocument/2006/relationships/font" Target="fonts/Arvo-bold.fntdata"/><Relationship Id="rId17" Type="http://schemas.openxmlformats.org/officeDocument/2006/relationships/slide" Target="slides/slide12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38" Type="http://schemas.openxmlformats.org/officeDocument/2006/relationships/font" Target="fonts/Arv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4dfaa818c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2a4dfaa818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4dfaa818c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a4dfaa818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4dfaa818c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2a4dfaa818c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4dfaa818c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2a4dfaa818c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4dfaa818c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2a4dfaa818c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4dfaa818c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2a4dfaa818c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4dfaa818c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2a4dfaa818c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4dfaa818c_0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2a4dfaa818c_0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4dfaa818c_0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2a4dfaa818c_0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a4dfaa818c_0_2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2a4dfaa818c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4dfaa818c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2a4dfaa818c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4dfaa818c_0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2a4dfaa818c_0_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4dfaa818c_0_2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2a4dfaa818c_0_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4dfaa818c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2a4dfaa818c_0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a4dfaa818c_0_3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2a4dfaa818c_0_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4dfaa818c_0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2a4dfaa818c_0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4dfaa818c_0_3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2a4dfaa818c_0_3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4dfaa818c_0_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2a4dfaa818c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4dfaa818c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2a4dfaa818c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4dfaa818c_0_3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2a4dfaa818c_0_3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4dfaa818c_0_3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2a4dfaa818c_0_3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4dfaa818c_0_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2a4dfaa818c_0_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a4dfaa818c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2a4dfaa818c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4dfaa818c_0_3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2a4dfaa818c_0_3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4dfaa818c_0_4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2a4dfaa818c_0_4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937625" y="236839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937625" y="2746761"/>
            <a:ext cx="21753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3484346" y="236839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3484346" y="2746761"/>
            <a:ext cx="21753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p13"/>
          <p:cNvSpPr txBox="1"/>
          <p:nvPr>
            <p:ph idx="5" type="title"/>
          </p:nvPr>
        </p:nvSpPr>
        <p:spPr>
          <a:xfrm>
            <a:off x="6031073" y="236839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3"/>
          <p:cNvSpPr txBox="1"/>
          <p:nvPr>
            <p:ph idx="6" type="subTitle"/>
          </p:nvPr>
        </p:nvSpPr>
        <p:spPr>
          <a:xfrm>
            <a:off x="6031073" y="2746761"/>
            <a:ext cx="21753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3"/>
          <p:cNvSpPr txBox="1"/>
          <p:nvPr>
            <p:ph idx="7" type="title"/>
          </p:nvPr>
        </p:nvSpPr>
        <p:spPr>
          <a:xfrm>
            <a:off x="1657925" y="177477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" name="Google Shape;59;p13"/>
          <p:cNvSpPr txBox="1"/>
          <p:nvPr>
            <p:ph idx="8" type="title"/>
          </p:nvPr>
        </p:nvSpPr>
        <p:spPr>
          <a:xfrm>
            <a:off x="4204646" y="177477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" name="Google Shape;60;p13"/>
          <p:cNvSpPr txBox="1"/>
          <p:nvPr>
            <p:ph idx="9" type="title"/>
          </p:nvPr>
        </p:nvSpPr>
        <p:spPr>
          <a:xfrm>
            <a:off x="6751373" y="177477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3142500" y="834697"/>
            <a:ext cx="2859000" cy="27591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3142500" y="1499096"/>
            <a:ext cx="2859000" cy="11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</a:pPr>
            <a:r>
              <a:rPr lang="en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WEE</a:t>
            </a:r>
            <a:r>
              <a:rPr lang="en" sz="4800">
                <a:solidFill>
                  <a:schemeClr val="lt1"/>
                </a:solidFill>
              </a:rPr>
              <a:t>K 8</a:t>
            </a:r>
            <a:endParaRPr sz="4800">
              <a:solidFill>
                <a:schemeClr val="lt1"/>
              </a:solidFill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6407875" y="359340"/>
            <a:ext cx="2582400" cy="289350"/>
            <a:chOff x="6967625" y="394825"/>
            <a:chExt cx="2582400" cy="289350"/>
          </a:xfrm>
        </p:grpSpPr>
        <p:sp>
          <p:nvSpPr>
            <p:cNvPr id="68" name="Google Shape;68;p14"/>
            <p:cNvSpPr/>
            <p:nvPr/>
          </p:nvSpPr>
          <p:spPr>
            <a:xfrm rot="-5400000">
              <a:off x="6967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 rot="-5400000">
              <a:off x="6967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 rot="-5400000">
              <a:off x="7158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 rot="-5400000">
              <a:off x="7158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 rot="-5400000">
              <a:off x="7348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 rot="-5400000">
              <a:off x="7348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rot="-5400000">
              <a:off x="7539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5400000">
              <a:off x="7539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 rot="-5400000">
              <a:off x="7729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 rot="-5400000">
              <a:off x="7729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 rot="-5400000">
              <a:off x="7920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5400000">
              <a:off x="7920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rot="-5400000">
              <a:off x="8110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 rot="-5400000">
              <a:off x="8110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 rot="-5400000">
              <a:off x="8301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 rot="-5400000">
              <a:off x="8301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 rot="-5400000">
              <a:off x="8491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rot="-5400000">
              <a:off x="8491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 rot="-5400000">
              <a:off x="8682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 rot="-5400000">
              <a:off x="8682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rot="-5400000">
              <a:off x="8872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-5400000">
              <a:off x="8872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9063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-5400000">
              <a:off x="9063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 rot="-5400000">
              <a:off x="9253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 rot="-5400000">
              <a:off x="9253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 rot="-5400000">
              <a:off x="9444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 rot="-5400000">
              <a:off x="9444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14"/>
          <p:cNvSpPr txBox="1"/>
          <p:nvPr>
            <p:ph type="ctrTitle"/>
          </p:nvPr>
        </p:nvSpPr>
        <p:spPr>
          <a:xfrm>
            <a:off x="814500" y="3845916"/>
            <a:ext cx="7515000" cy="154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</a:pPr>
            <a:br>
              <a:rPr b="1" lang="en" sz="1600">
                <a:solidFill>
                  <a:srgbClr val="EC1C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3200">
                <a:solidFill>
                  <a:srgbClr val="073763"/>
                </a:solidFill>
              </a:rPr>
              <a:t>PHP and MySQL</a:t>
            </a:r>
            <a:br>
              <a:rPr b="1" lang="en" sz="32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600">
                <a:solidFill>
                  <a:srgbClr val="EC1C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EC1C24"/>
                </a:solidFill>
                <a:latin typeface="Arial"/>
                <a:ea typeface="Arial"/>
                <a:cs typeface="Arial"/>
                <a:sym typeface="Arial"/>
              </a:rPr>
              <a:t>Level 4</a:t>
            </a:r>
            <a:br>
              <a:rPr b="1" lang="en" sz="1600">
                <a:solidFill>
                  <a:srgbClr val="EC1C2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600">
                <a:solidFill>
                  <a:srgbClr val="EC1C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2000">
                <a:solidFill>
                  <a:srgbClr val="EC1C24"/>
                </a:solidFill>
              </a:rPr>
              <a:t>Introduction to Internet Software Architecture</a:t>
            </a:r>
            <a:br>
              <a:rPr b="1" lang="en" sz="30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>
              <a:solidFill>
                <a:srgbClr val="073763"/>
              </a:solidFill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77" y="111260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0000" y="20385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Week</a:t>
            </a:r>
            <a:r>
              <a:rPr lang="en"/>
              <a:t> 8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Lecture Topic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5"/>
          <p:cNvCxnSpPr/>
          <p:nvPr/>
        </p:nvCxnSpPr>
        <p:spPr>
          <a:xfrm>
            <a:off x="780124" y="959283"/>
            <a:ext cx="7732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4" name="Google Shape;104;p15"/>
          <p:cNvSpPr txBox="1"/>
          <p:nvPr/>
        </p:nvSpPr>
        <p:spPr>
          <a:xfrm>
            <a:off x="1217527" y="1141998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2"/>
                </a:solidFill>
              </a:rPr>
              <a:t>HTTP methods (GET, POST, PUT, DELETE)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</a:pPr>
            <a:r>
              <a:rPr lang="en" sz="1500">
                <a:solidFill>
                  <a:schemeClr val="dk2"/>
                </a:solidFill>
              </a:rPr>
              <a:t>Fetch functions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</a:pPr>
            <a:r>
              <a:rPr lang="en" sz="1500">
                <a:solidFill>
                  <a:schemeClr val="dk2"/>
                </a:solidFill>
              </a:rPr>
              <a:t>JSON in PHP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</a:pPr>
            <a:r>
              <a:rPr lang="en" sz="1500">
                <a:solidFill>
                  <a:schemeClr val="dk2"/>
                </a:solidFill>
              </a:rPr>
              <a:t>mysqli</a:t>
            </a:r>
            <a:endParaRPr sz="2071">
              <a:solidFill>
                <a:schemeClr val="dk2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HTTP METHOD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HTTP methods are used in PHP to interact with servers 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and perform actions like retrieving, sending, updating, or deleting data.</a:t>
            </a:r>
            <a:endParaRPr sz="1500"/>
          </a:p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common HTTP methods are:</a:t>
            </a:r>
            <a:endParaRPr sz="1500"/>
          </a:p>
          <a:p>
            <a:pPr indent="-2286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rPr lang="en" sz="1500"/>
              <a:t>GET</a:t>
            </a:r>
            <a:endParaRPr sz="1500"/>
          </a:p>
          <a:p>
            <a:pPr indent="-2286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rPr lang="en" sz="1500"/>
              <a:t>POST</a:t>
            </a:r>
            <a:endParaRPr sz="1500"/>
          </a:p>
          <a:p>
            <a:pPr indent="-2286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rPr lang="en" sz="1500"/>
              <a:t>PUT</a:t>
            </a:r>
            <a:endParaRPr sz="1500"/>
          </a:p>
          <a:p>
            <a:pPr indent="-2286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rPr lang="en" sz="1500"/>
              <a:t>DELETE, e.t.c.</a:t>
            </a:r>
            <a:endParaRPr sz="1500"/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 Detecting the HTTP Method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You can use the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$_SERVER['REQUEST_METHOD']</a:t>
            </a:r>
            <a:r>
              <a:rPr lang="en" sz="1500">
                <a:solidFill>
                  <a:schemeClr val="dk1"/>
                </a:solidFill>
              </a:rPr>
              <a:t> variable to determine the HTTP method used in the request.</a:t>
            </a:r>
            <a:endParaRPr sz="1500">
              <a:solidFill>
                <a:schemeClr val="dk1"/>
              </a:solidFill>
            </a:endParaRPr>
          </a:p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775" y="1948588"/>
            <a:ext cx="70294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Handling GET Requests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en" sz="1500">
                <a:solidFill>
                  <a:schemeClr val="dk1"/>
                </a:solidFill>
              </a:rPr>
              <a:t> is used to retrieve data from a server. </a:t>
            </a:r>
            <a:endParaRPr sz="1500">
              <a:solidFill>
                <a:schemeClr val="dk1"/>
              </a:solidFill>
            </a:endParaRPr>
          </a:p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Parameters are sent via the URL query string and can be accessed using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$_GET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/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0" y="2248013"/>
            <a:ext cx="877252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 Handling POST Requests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" sz="1500">
                <a:solidFill>
                  <a:schemeClr val="dk1"/>
                </a:solidFill>
              </a:rPr>
              <a:t> is used to send data to the server, usually for creating or updating resources. </a:t>
            </a:r>
            <a:endParaRPr sz="1500">
              <a:solidFill>
                <a:schemeClr val="dk1"/>
              </a:solidFill>
            </a:endParaRPr>
          </a:p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The data is sent in the request body and can be accessed using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$_POST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/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2427263"/>
            <a:ext cx="843915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 Handling PUT Requests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Used for updating data.</a:t>
            </a:r>
            <a:endParaRPr sz="1500">
              <a:solidFill>
                <a:schemeClr val="dk1"/>
              </a:solidFill>
            </a:endParaRPr>
          </a:p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Can also create a resource if the server allows it.</a:t>
            </a:r>
            <a:endParaRPr sz="1500">
              <a:solidFill>
                <a:schemeClr val="dk1"/>
              </a:solidFill>
            </a:endParaRPr>
          </a:p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Data is sent in the request body, typically in JSON or URL-encoded format.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t/>
            </a:r>
            <a:endParaRPr sz="1500"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25" y="1272175"/>
            <a:ext cx="9077325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 Handling DELETE Requests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 txBox="1"/>
          <p:nvPr>
            <p:ph idx="1" type="subTitle"/>
          </p:nvPr>
        </p:nvSpPr>
        <p:spPr>
          <a:xfrm>
            <a:off x="311725" y="951350"/>
            <a:ext cx="6858000" cy="3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Used for deleting data.</a:t>
            </a:r>
            <a:endParaRPr sz="1500">
              <a:solidFill>
                <a:schemeClr val="dk1"/>
              </a:solidFill>
            </a:endParaRPr>
          </a:p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Often includes the identifier of the resource to delete in the URL or request body.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13" y="2087200"/>
            <a:ext cx="9058275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Fetch Methods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3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mysqli_fetch_assoc()</a:t>
            </a:r>
            <a:endParaRPr b="1"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Fetches a single row as an </a:t>
            </a:r>
            <a:r>
              <a:rPr b="1" lang="en" sz="1500">
                <a:solidFill>
                  <a:schemeClr val="dk1"/>
                </a:solidFill>
              </a:rPr>
              <a:t>associative array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Keys are the column names from the database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Fetch Methods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263" y="1151575"/>
            <a:ext cx="70580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Fetch Methods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mysqli_fetch_row()</a:t>
            </a:r>
            <a:endParaRPr b="1"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Fetches a single row as a </a:t>
            </a:r>
            <a:r>
              <a:rPr b="1" lang="en" sz="1500">
                <a:solidFill>
                  <a:schemeClr val="dk1"/>
                </a:solidFill>
              </a:rPr>
              <a:t>numerically indexed array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Useful when column names are not needed.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mysqli_fetch_array()</a:t>
            </a:r>
            <a:endParaRPr b="1"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Fetches a single row as both </a:t>
            </a:r>
            <a:r>
              <a:rPr b="1" lang="en" sz="1500">
                <a:solidFill>
                  <a:schemeClr val="dk1"/>
                </a:solidFill>
              </a:rPr>
              <a:t>associative and numeric arrays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Consumes more memory compared to other methods.</a:t>
            </a:r>
            <a:endParaRPr b="1"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mysqli_fetch_object()</a:t>
            </a:r>
            <a:endParaRPr b="1"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Fetches a single row as an </a:t>
            </a:r>
            <a:r>
              <a:rPr b="1" lang="en" sz="1500">
                <a:solidFill>
                  <a:schemeClr val="dk1"/>
                </a:solidFill>
              </a:rPr>
              <a:t>object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Allows accessing fields using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" sz="1500">
                <a:solidFill>
                  <a:schemeClr val="dk1"/>
                </a:solidFill>
              </a:rPr>
              <a:t> notation.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79" name="Google Shape;1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JSON Handling in PHP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What is JSON?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lightweight data-interchange format.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Easy for humans to read and write.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Easy for machines to parse and generate.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Key Functions: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json_encode()</a:t>
            </a:r>
            <a:r>
              <a:rPr lang="en" sz="1500">
                <a:solidFill>
                  <a:schemeClr val="dk1"/>
                </a:solidFill>
              </a:rPr>
              <a:t>: Converts PHP arrays or objects into JSON strings.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json_decode()</a:t>
            </a:r>
            <a:r>
              <a:rPr lang="en" sz="1500">
                <a:solidFill>
                  <a:schemeClr val="dk1"/>
                </a:solidFill>
              </a:rPr>
              <a:t>: Converts JSON strings into PHP arrays or objects.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86" name="Google Shape;1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JSON Handling in PHP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/>
              <a:t>Output :</a:t>
            </a:r>
            <a:endParaRPr b="1" sz="1500"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74" y="943175"/>
            <a:ext cx="6858001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800" y="3600450"/>
            <a:ext cx="34099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Decode JSON to PHP Array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555100"/>
            <a:ext cx="77533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Roboto Mono"/>
                <a:ea typeface="Roboto Mono"/>
                <a:cs typeface="Roboto Mono"/>
                <a:sym typeface="Roboto Mono"/>
              </a:rPr>
              <a:t>file_get_contents</a:t>
            </a:r>
            <a:endParaRPr b="1" sz="2100"/>
          </a:p>
        </p:txBody>
      </p:sp>
      <p:sp>
        <p:nvSpPr>
          <p:cNvPr id="208" name="Google Shape;208;p29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file_get_contents()</a:t>
            </a:r>
            <a:r>
              <a:rPr lang="en" sz="1500">
                <a:solidFill>
                  <a:schemeClr val="dk1"/>
                </a:solidFill>
              </a:rPr>
              <a:t> function in PHP is used to read the contents of a file into a string.</a:t>
            </a:r>
            <a:endParaRPr b="1" sz="1500"/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088" y="2165125"/>
            <a:ext cx="65246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MySQL PHP Drivers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is 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mysqli</a:t>
            </a:r>
            <a:r>
              <a:rPr b="1" lang="en" sz="1500">
                <a:solidFill>
                  <a:schemeClr val="dk1"/>
                </a:solidFill>
              </a:rPr>
              <a:t>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Definition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mysqli</a:t>
            </a:r>
            <a:r>
              <a:rPr lang="en" sz="1500">
                <a:solidFill>
                  <a:schemeClr val="dk1"/>
                </a:solidFill>
              </a:rPr>
              <a:t> (MySQL Improved) is a PHP extension for interacting with MySQL databases.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It offers: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Object-oriented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b="1" lang="en" sz="1500">
                <a:solidFill>
                  <a:schemeClr val="dk1"/>
                </a:solidFill>
              </a:rPr>
              <a:t>procedural</a:t>
            </a:r>
            <a:r>
              <a:rPr lang="en" sz="1500">
                <a:solidFill>
                  <a:schemeClr val="dk1"/>
                </a:solidFill>
              </a:rPr>
              <a:t> approaches.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Better performance and security than the older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</a:t>
            </a:r>
            <a:r>
              <a:rPr lang="en" sz="1500">
                <a:solidFill>
                  <a:schemeClr val="dk1"/>
                </a:solidFill>
              </a:rPr>
              <a:t> extension.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Key Features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Supports prepared statements.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Supports multiple statements.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Enhanced debugging capabilities.</a:t>
            </a:r>
            <a:endParaRPr sz="1500"/>
          </a:p>
        </p:txBody>
      </p:sp>
      <p:pic>
        <p:nvPicPr>
          <p:cNvPr id="217" name="Google Shape;2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Connecting to a Database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Using both </a:t>
            </a:r>
            <a:r>
              <a:rPr b="1" lang="en" sz="1500">
                <a:solidFill>
                  <a:schemeClr val="dk1"/>
                </a:solidFill>
              </a:rPr>
              <a:t>object-oriented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b="1" lang="en" sz="1500">
                <a:solidFill>
                  <a:schemeClr val="dk1"/>
                </a:solidFill>
              </a:rPr>
              <a:t>procedural</a:t>
            </a:r>
            <a:r>
              <a:rPr lang="en" sz="1500">
                <a:solidFill>
                  <a:schemeClr val="dk1"/>
                </a:solidFill>
              </a:rPr>
              <a:t> methods.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Handling connection errors gracefully.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Object-Oriented Approach :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247650" lvl="0" marL="254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</a:pPr>
            <a:r>
              <a:t/>
            </a:r>
            <a:endParaRPr sz="1500"/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0484"/>
            <a:ext cx="9143999" cy="2931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Procedural Approach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5" y="1495335"/>
            <a:ext cx="9144000" cy="316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/>
              <a:t> Basic Queries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3"/>
          <p:cNvSpPr txBox="1"/>
          <p:nvPr>
            <p:ph idx="1" type="subTitle"/>
          </p:nvPr>
        </p:nvSpPr>
        <p:spPr>
          <a:xfrm>
            <a:off x="311727" y="1104623"/>
            <a:ext cx="68580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INSERT Data :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0" y="1563400"/>
            <a:ext cx="909637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SELECT Data</a:t>
            </a:r>
            <a:r>
              <a:rPr lang="en" sz="2100"/>
              <a:t>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400" y="1768300"/>
            <a:ext cx="7740926" cy="27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UPDATE Data</a:t>
            </a:r>
            <a:r>
              <a:rPr lang="en" sz="2100"/>
              <a:t>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463" y="1256188"/>
            <a:ext cx="595312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ctrTitle"/>
          </p:nvPr>
        </p:nvSpPr>
        <p:spPr>
          <a:xfrm>
            <a:off x="311727" y="538617"/>
            <a:ext cx="62346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2100"/>
              <a:t>DELETE Data: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163" y="1173913"/>
            <a:ext cx="5781675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852" y="43973"/>
            <a:ext cx="2491151" cy="13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7"/>
          <p:cNvSpPr txBox="1"/>
          <p:nvPr/>
        </p:nvSpPr>
        <p:spPr>
          <a:xfrm>
            <a:off x="3756040" y="1449977"/>
            <a:ext cx="1299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Questions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40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