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embeddedFontLst>
    <p:embeddedFont>
      <p:font typeface="Arvo" panose="02000000000000000000" pitchFamily="2" charset="77"/>
      <p:regular r:id="rId40"/>
      <p:bold r:id="rId41"/>
      <p:italic r:id="rId42"/>
      <p:boldItalic r:id="rId43"/>
    </p:embeddedFont>
    <p:embeddedFont>
      <p:font typeface="Roboto" panose="020000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6"/>
    <p:restoredTop sz="94698"/>
  </p:normalViewPr>
  <p:slideViewPr>
    <p:cSldViewPr snapToGrid="0">
      <p:cViewPr varScale="1">
        <p:scale>
          <a:sx n="192" d="100"/>
          <a:sy n="192" d="100"/>
        </p:scale>
        <p:origin x="184" y="2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2623df3900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g32623df3900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2623df390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2623df3900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2623df3900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32623df3900_0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2623df3900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32623df3900_0_2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2623df3900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2623df3900_0_2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2623df3900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32623df3900_0_2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2623df3900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2623df3900_0_2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2623df3900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32623df3900_0_2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2623df3900_0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32623df3900_0_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2623df3900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2623df3900_0_2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2623df3900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2623df3900_0_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2623df3900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2623df3900_0_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2623df3900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2623df3900_0_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2623df3900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g32623df3900_0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2623df3900_0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2623df3900_0_3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2623df3900_0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g32623df3900_0_3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2623df3900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g32623df3900_0_3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2623df3900_0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32623df3900_0_3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2623df3900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g32623df3900_0_3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2623df3900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g32623df3900_0_3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2623df3900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g32623df3900_0_4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2623df3900_0_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g32623df3900_0_4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2623df3900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g32623df3900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2623df3900_0_4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g32623df3900_0_4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2623df3900_0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0" name="Google Shape;340;g32623df3900_0_4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2623df3900_0_4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g32623df3900_0_4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2623df3900_0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2" name="Google Shape;362;g32623df3900_0_4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2623df3900_0_4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g32623df3900_0_4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2623df3900_0_4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g32623df3900_0_4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2623df3900_0_4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g32623df3900_0_4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2623df3900_0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g32623df3900_0_5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2623df3900_0_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g32623df3900_0_5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2623df3900_0_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4" name="Google Shape;424;g32623df3900_0_5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2623df3900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5" name="Google Shape;435;g32623df3900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2623df3900_0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g32623df3900_0_5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2623df3900_0_5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g32623df3900_0_5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32623df3900_0_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g32623df3900_0_5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2" name="Google Shape;52;p13"/>
          <p:cNvSpPr txBox="1">
            <a:spLocks noGrp="1"/>
          </p:cNvSpPr>
          <p:nvPr>
            <p:ph type="title" idx="2"/>
          </p:nvPr>
        </p:nvSpPr>
        <p:spPr>
          <a:xfrm>
            <a:off x="937625" y="2368396"/>
            <a:ext cx="21753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53" name="Google Shape;53;p13"/>
          <p:cNvSpPr txBox="1">
            <a:spLocks noGrp="1"/>
          </p:cNvSpPr>
          <p:nvPr>
            <p:ph type="subTitle" idx="1"/>
          </p:nvPr>
        </p:nvSpPr>
        <p:spPr>
          <a:xfrm>
            <a:off x="937625" y="2746761"/>
            <a:ext cx="2175300" cy="1246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a:endParaRPr/>
          </a:p>
        </p:txBody>
      </p:sp>
      <p:sp>
        <p:nvSpPr>
          <p:cNvPr id="54" name="Google Shape;54;p13"/>
          <p:cNvSpPr txBox="1">
            <a:spLocks noGrp="1"/>
          </p:cNvSpPr>
          <p:nvPr>
            <p:ph type="title" idx="3"/>
          </p:nvPr>
        </p:nvSpPr>
        <p:spPr>
          <a:xfrm>
            <a:off x="3484346" y="2368396"/>
            <a:ext cx="21753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55" name="Google Shape;55;p13"/>
          <p:cNvSpPr txBox="1">
            <a:spLocks noGrp="1"/>
          </p:cNvSpPr>
          <p:nvPr>
            <p:ph type="subTitle" idx="4"/>
          </p:nvPr>
        </p:nvSpPr>
        <p:spPr>
          <a:xfrm>
            <a:off x="3484346" y="2746761"/>
            <a:ext cx="2175300" cy="1246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a:endParaRPr/>
          </a:p>
        </p:txBody>
      </p:sp>
      <p:sp>
        <p:nvSpPr>
          <p:cNvPr id="56" name="Google Shape;56;p13"/>
          <p:cNvSpPr txBox="1">
            <a:spLocks noGrp="1"/>
          </p:cNvSpPr>
          <p:nvPr>
            <p:ph type="title" idx="5"/>
          </p:nvPr>
        </p:nvSpPr>
        <p:spPr>
          <a:xfrm>
            <a:off x="6031073" y="2368396"/>
            <a:ext cx="21753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57" name="Google Shape;57;p13"/>
          <p:cNvSpPr txBox="1">
            <a:spLocks noGrp="1"/>
          </p:cNvSpPr>
          <p:nvPr>
            <p:ph type="subTitle" idx="6"/>
          </p:nvPr>
        </p:nvSpPr>
        <p:spPr>
          <a:xfrm>
            <a:off x="6031073" y="2746761"/>
            <a:ext cx="2175300" cy="1246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a:endParaRPr/>
          </a:p>
        </p:txBody>
      </p:sp>
      <p:sp>
        <p:nvSpPr>
          <p:cNvPr id="58" name="Google Shape;58;p13"/>
          <p:cNvSpPr txBox="1">
            <a:spLocks noGrp="1"/>
          </p:cNvSpPr>
          <p:nvPr>
            <p:ph type="title" idx="7"/>
          </p:nvPr>
        </p:nvSpPr>
        <p:spPr>
          <a:xfrm>
            <a:off x="1657925" y="1774771"/>
            <a:ext cx="734700" cy="447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9" name="Google Shape;59;p13"/>
          <p:cNvSpPr txBox="1">
            <a:spLocks noGrp="1"/>
          </p:cNvSpPr>
          <p:nvPr>
            <p:ph type="title" idx="8"/>
          </p:nvPr>
        </p:nvSpPr>
        <p:spPr>
          <a:xfrm>
            <a:off x="4204646" y="1774771"/>
            <a:ext cx="734700" cy="447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60" name="Google Shape;60;p13"/>
          <p:cNvSpPr txBox="1">
            <a:spLocks noGrp="1"/>
          </p:cNvSpPr>
          <p:nvPr>
            <p:ph type="title" idx="9"/>
          </p:nvPr>
        </p:nvSpPr>
        <p:spPr>
          <a:xfrm>
            <a:off x="6751373" y="1774771"/>
            <a:ext cx="734700" cy="447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8" Type="http://schemas.openxmlformats.org/officeDocument/2006/relationships/hyperlink" Target="https://www.php.net/manual/en/tutorial.php" TargetMode="External"/><Relationship Id="rId3" Type="http://schemas.openxmlformats.org/officeDocument/2006/relationships/image" Target="../media/image1.png"/><Relationship Id="rId7" Type="http://schemas.openxmlformats.org/officeDocument/2006/relationships/hyperlink" Target="https://www.tutorialspoint.com/php/index.htm" TargetMode="External"/><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hyperlink" Target="https://www.javatpoint.com/php-tutorial" TargetMode="External"/><Relationship Id="rId5" Type="http://schemas.openxmlformats.org/officeDocument/2006/relationships/hyperlink" Target="https://www.w3schools.com/php/" TargetMode="External"/><Relationship Id="rId4" Type="http://schemas.openxmlformats.org/officeDocument/2006/relationships/image" Target="../media/image2.png"/><Relationship Id="rId9" Type="http://schemas.openxmlformats.org/officeDocument/2006/relationships/hyperlink" Target="https://www.phptutorial.n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p:nvPr/>
        </p:nvSpPr>
        <p:spPr>
          <a:xfrm>
            <a:off x="3142500" y="834697"/>
            <a:ext cx="2859000" cy="2759100"/>
          </a:xfrm>
          <a:prstGeom prst="ellipse">
            <a:avLst/>
          </a:prstGeom>
          <a:solidFill>
            <a:srgbClr val="0737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 name="Google Shape;66;p14"/>
          <p:cNvSpPr txBox="1">
            <a:spLocks noGrp="1"/>
          </p:cNvSpPr>
          <p:nvPr>
            <p:ph type="ctrTitle"/>
          </p:nvPr>
        </p:nvSpPr>
        <p:spPr>
          <a:xfrm>
            <a:off x="3142500" y="1499096"/>
            <a:ext cx="2859000" cy="1118100"/>
          </a:xfrm>
          <a:prstGeom prst="rect">
            <a:avLst/>
          </a:prstGeom>
          <a:noFill/>
          <a:ln>
            <a:noFill/>
          </a:ln>
        </p:spPr>
        <p:txBody>
          <a:bodyPr spcFirstLastPara="1" wrap="square" lIns="91425" tIns="91425" rIns="91425" bIns="91425" anchor="b" anchorCtr="0">
            <a:noAutofit/>
          </a:bodyPr>
          <a:lstStyle/>
          <a:p>
            <a:pPr marL="0" lvl="0" indent="0" algn="ctr" rtl="0">
              <a:lnSpc>
                <a:spcPct val="80000"/>
              </a:lnSpc>
              <a:spcBef>
                <a:spcPts val="0"/>
              </a:spcBef>
              <a:spcAft>
                <a:spcPts val="0"/>
              </a:spcAft>
              <a:buClr>
                <a:srgbClr val="191919"/>
              </a:buClr>
              <a:buSzPts val="5200"/>
              <a:buNone/>
            </a:pPr>
            <a:r>
              <a:rPr lang="en" sz="4800">
                <a:solidFill>
                  <a:schemeClr val="lt1"/>
                </a:solidFill>
                <a:latin typeface="Arial"/>
                <a:ea typeface="Arial"/>
                <a:cs typeface="Arial"/>
                <a:sym typeface="Arial"/>
              </a:rPr>
              <a:t>WEE</a:t>
            </a:r>
            <a:r>
              <a:rPr lang="en" sz="4800">
                <a:solidFill>
                  <a:schemeClr val="lt1"/>
                </a:solidFill>
              </a:rPr>
              <a:t>K 6</a:t>
            </a:r>
            <a:endParaRPr sz="4800">
              <a:solidFill>
                <a:schemeClr val="lt1"/>
              </a:solidFill>
            </a:endParaRPr>
          </a:p>
        </p:txBody>
      </p:sp>
      <p:grpSp>
        <p:nvGrpSpPr>
          <p:cNvPr id="67" name="Google Shape;67;p14"/>
          <p:cNvGrpSpPr/>
          <p:nvPr/>
        </p:nvGrpSpPr>
        <p:grpSpPr>
          <a:xfrm>
            <a:off x="6407875" y="359340"/>
            <a:ext cx="2582400" cy="289350"/>
            <a:chOff x="6967625" y="394825"/>
            <a:chExt cx="2582400" cy="289350"/>
          </a:xfrm>
        </p:grpSpPr>
        <p:sp>
          <p:nvSpPr>
            <p:cNvPr id="68" name="Google Shape;68;p14"/>
            <p:cNvSpPr/>
            <p:nvPr/>
          </p:nvSpPr>
          <p:spPr>
            <a:xfrm rot="-5400000">
              <a:off x="69676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69" name="Google Shape;69;p14"/>
            <p:cNvSpPr/>
            <p:nvPr/>
          </p:nvSpPr>
          <p:spPr>
            <a:xfrm rot="-5400000">
              <a:off x="69676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0" name="Google Shape;70;p14"/>
            <p:cNvSpPr/>
            <p:nvPr/>
          </p:nvSpPr>
          <p:spPr>
            <a:xfrm rot="-5400000">
              <a:off x="71581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1" name="Google Shape;71;p14"/>
            <p:cNvSpPr/>
            <p:nvPr/>
          </p:nvSpPr>
          <p:spPr>
            <a:xfrm rot="-5400000">
              <a:off x="71581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2" name="Google Shape;72;p14"/>
            <p:cNvSpPr/>
            <p:nvPr/>
          </p:nvSpPr>
          <p:spPr>
            <a:xfrm rot="-5400000">
              <a:off x="73486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3" name="Google Shape;73;p14"/>
            <p:cNvSpPr/>
            <p:nvPr/>
          </p:nvSpPr>
          <p:spPr>
            <a:xfrm rot="-5400000">
              <a:off x="73486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4" name="Google Shape;74;p14"/>
            <p:cNvSpPr/>
            <p:nvPr/>
          </p:nvSpPr>
          <p:spPr>
            <a:xfrm rot="-5400000">
              <a:off x="75391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5" name="Google Shape;75;p14"/>
            <p:cNvSpPr/>
            <p:nvPr/>
          </p:nvSpPr>
          <p:spPr>
            <a:xfrm rot="-5400000">
              <a:off x="75391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6" name="Google Shape;76;p14"/>
            <p:cNvSpPr/>
            <p:nvPr/>
          </p:nvSpPr>
          <p:spPr>
            <a:xfrm rot="-5400000">
              <a:off x="77296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7" name="Google Shape;77;p14"/>
            <p:cNvSpPr/>
            <p:nvPr/>
          </p:nvSpPr>
          <p:spPr>
            <a:xfrm rot="-5400000">
              <a:off x="77296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8" name="Google Shape;78;p14"/>
            <p:cNvSpPr/>
            <p:nvPr/>
          </p:nvSpPr>
          <p:spPr>
            <a:xfrm rot="-5400000">
              <a:off x="79201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79" name="Google Shape;79;p14"/>
            <p:cNvSpPr/>
            <p:nvPr/>
          </p:nvSpPr>
          <p:spPr>
            <a:xfrm rot="-5400000">
              <a:off x="79201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0" name="Google Shape;80;p14"/>
            <p:cNvSpPr/>
            <p:nvPr/>
          </p:nvSpPr>
          <p:spPr>
            <a:xfrm rot="-5400000">
              <a:off x="81106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1" name="Google Shape;81;p14"/>
            <p:cNvSpPr/>
            <p:nvPr/>
          </p:nvSpPr>
          <p:spPr>
            <a:xfrm rot="-5400000">
              <a:off x="81106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2" name="Google Shape;82;p14"/>
            <p:cNvSpPr/>
            <p:nvPr/>
          </p:nvSpPr>
          <p:spPr>
            <a:xfrm rot="-5400000">
              <a:off x="83011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3" name="Google Shape;83;p14"/>
            <p:cNvSpPr/>
            <p:nvPr/>
          </p:nvSpPr>
          <p:spPr>
            <a:xfrm rot="-5400000">
              <a:off x="83011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4" name="Google Shape;84;p14"/>
            <p:cNvSpPr/>
            <p:nvPr/>
          </p:nvSpPr>
          <p:spPr>
            <a:xfrm rot="-5400000">
              <a:off x="84916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5" name="Google Shape;85;p14"/>
            <p:cNvSpPr/>
            <p:nvPr/>
          </p:nvSpPr>
          <p:spPr>
            <a:xfrm rot="-5400000">
              <a:off x="84916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6" name="Google Shape;86;p14"/>
            <p:cNvSpPr/>
            <p:nvPr/>
          </p:nvSpPr>
          <p:spPr>
            <a:xfrm rot="-5400000">
              <a:off x="86821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7" name="Google Shape;87;p14"/>
            <p:cNvSpPr/>
            <p:nvPr/>
          </p:nvSpPr>
          <p:spPr>
            <a:xfrm rot="-5400000">
              <a:off x="86821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8" name="Google Shape;88;p14"/>
            <p:cNvSpPr/>
            <p:nvPr/>
          </p:nvSpPr>
          <p:spPr>
            <a:xfrm rot="-5400000">
              <a:off x="88726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89" name="Google Shape;89;p14"/>
            <p:cNvSpPr/>
            <p:nvPr/>
          </p:nvSpPr>
          <p:spPr>
            <a:xfrm rot="-5400000">
              <a:off x="88726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90" name="Google Shape;90;p14"/>
            <p:cNvSpPr/>
            <p:nvPr/>
          </p:nvSpPr>
          <p:spPr>
            <a:xfrm rot="-5400000">
              <a:off x="90631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91" name="Google Shape;91;p14"/>
            <p:cNvSpPr/>
            <p:nvPr/>
          </p:nvSpPr>
          <p:spPr>
            <a:xfrm rot="-5400000">
              <a:off x="90631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92" name="Google Shape;92;p14"/>
            <p:cNvSpPr/>
            <p:nvPr/>
          </p:nvSpPr>
          <p:spPr>
            <a:xfrm rot="-5400000">
              <a:off x="92536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93" name="Google Shape;93;p14"/>
            <p:cNvSpPr/>
            <p:nvPr/>
          </p:nvSpPr>
          <p:spPr>
            <a:xfrm rot="-5400000">
              <a:off x="92536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94" name="Google Shape;94;p14"/>
            <p:cNvSpPr/>
            <p:nvPr/>
          </p:nvSpPr>
          <p:spPr>
            <a:xfrm rot="-5400000">
              <a:off x="9444125" y="57827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95" name="Google Shape;95;p14"/>
            <p:cNvSpPr/>
            <p:nvPr/>
          </p:nvSpPr>
          <p:spPr>
            <a:xfrm rot="-5400000">
              <a:off x="9444125" y="394825"/>
              <a:ext cx="105900" cy="1059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grpSp>
      <p:sp>
        <p:nvSpPr>
          <p:cNvPr id="96" name="Google Shape;96;p14"/>
          <p:cNvSpPr txBox="1">
            <a:spLocks noGrp="1"/>
          </p:cNvSpPr>
          <p:nvPr>
            <p:ph type="ctrTitle"/>
          </p:nvPr>
        </p:nvSpPr>
        <p:spPr>
          <a:xfrm>
            <a:off x="814500" y="3845916"/>
            <a:ext cx="7515000" cy="1541400"/>
          </a:xfrm>
          <a:prstGeom prst="rect">
            <a:avLst/>
          </a:prstGeom>
          <a:solidFill>
            <a:srgbClr val="FFFFFF"/>
          </a:solidFill>
          <a:ln>
            <a:noFill/>
          </a:ln>
        </p:spPr>
        <p:txBody>
          <a:bodyPr spcFirstLastPara="1" wrap="square" lIns="91425" tIns="91425" rIns="91425" bIns="91425" anchor="b" anchorCtr="0">
            <a:noAutofit/>
          </a:bodyPr>
          <a:lstStyle/>
          <a:p>
            <a:pPr marL="0" lvl="0" indent="0" algn="ctr" rtl="0">
              <a:lnSpc>
                <a:spcPct val="80000"/>
              </a:lnSpc>
              <a:spcBef>
                <a:spcPts val="0"/>
              </a:spcBef>
              <a:spcAft>
                <a:spcPts val="0"/>
              </a:spcAft>
              <a:buClr>
                <a:srgbClr val="191919"/>
              </a:buClr>
              <a:buSzPts val="5200"/>
              <a:buNone/>
            </a:pPr>
            <a:br>
              <a:rPr lang="en" sz="1600" b="1">
                <a:solidFill>
                  <a:srgbClr val="EC1C24"/>
                </a:solidFill>
                <a:latin typeface="Arial"/>
                <a:ea typeface="Arial"/>
                <a:cs typeface="Arial"/>
                <a:sym typeface="Arial"/>
              </a:rPr>
            </a:br>
            <a:r>
              <a:rPr lang="en" sz="3200" b="1">
                <a:solidFill>
                  <a:srgbClr val="073763"/>
                </a:solidFill>
              </a:rPr>
              <a:t>PHP Basics I</a:t>
            </a:r>
            <a:br>
              <a:rPr lang="en" sz="3200" b="1">
                <a:solidFill>
                  <a:srgbClr val="073763"/>
                </a:solidFill>
                <a:latin typeface="Arial"/>
                <a:ea typeface="Arial"/>
                <a:cs typeface="Arial"/>
                <a:sym typeface="Arial"/>
              </a:rPr>
            </a:br>
            <a:br>
              <a:rPr lang="en" sz="1600" b="1">
                <a:solidFill>
                  <a:srgbClr val="EC1C24"/>
                </a:solidFill>
                <a:latin typeface="Arial"/>
                <a:ea typeface="Arial"/>
                <a:cs typeface="Arial"/>
                <a:sym typeface="Arial"/>
              </a:rPr>
            </a:br>
            <a:r>
              <a:rPr lang="en" sz="1600" b="1">
                <a:solidFill>
                  <a:srgbClr val="EC1C24"/>
                </a:solidFill>
                <a:latin typeface="Arial"/>
                <a:ea typeface="Arial"/>
                <a:cs typeface="Arial"/>
                <a:sym typeface="Arial"/>
              </a:rPr>
              <a:t>Level 4</a:t>
            </a:r>
            <a:br>
              <a:rPr lang="en" sz="1600" b="1">
                <a:solidFill>
                  <a:srgbClr val="EC1C24"/>
                </a:solidFill>
                <a:latin typeface="Arial"/>
                <a:ea typeface="Arial"/>
                <a:cs typeface="Arial"/>
                <a:sym typeface="Arial"/>
              </a:rPr>
            </a:br>
            <a:br>
              <a:rPr lang="en" sz="1600" b="1">
                <a:solidFill>
                  <a:srgbClr val="EC1C24"/>
                </a:solidFill>
                <a:latin typeface="Arial"/>
                <a:ea typeface="Arial"/>
                <a:cs typeface="Arial"/>
                <a:sym typeface="Arial"/>
              </a:rPr>
            </a:br>
            <a:r>
              <a:rPr lang="en" sz="2000" b="1">
                <a:solidFill>
                  <a:srgbClr val="EC1C24"/>
                </a:solidFill>
              </a:rPr>
              <a:t>Introduction to Internet Software Architecture</a:t>
            </a:r>
            <a:br>
              <a:rPr lang="en" sz="3000" b="1">
                <a:solidFill>
                  <a:srgbClr val="073763"/>
                </a:solidFill>
                <a:latin typeface="Arial"/>
                <a:ea typeface="Arial"/>
                <a:cs typeface="Arial"/>
                <a:sym typeface="Arial"/>
              </a:rPr>
            </a:br>
            <a:endParaRPr sz="3000">
              <a:solidFill>
                <a:srgbClr val="073763"/>
              </a:solidFill>
            </a:endParaRPr>
          </a:p>
        </p:txBody>
      </p:sp>
      <p:pic>
        <p:nvPicPr>
          <p:cNvPr id="97" name="Google Shape;97;p14"/>
          <p:cNvPicPr preferRelativeResize="0"/>
          <p:nvPr/>
        </p:nvPicPr>
        <p:blipFill rotWithShape="1">
          <a:blip r:embed="rId3">
            <a:alphaModFix/>
          </a:blip>
          <a:srcRect/>
          <a:stretch/>
        </p:blipFill>
        <p:spPr>
          <a:xfrm>
            <a:off x="579577" y="111260"/>
            <a:ext cx="2491151" cy="133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720000" y="203852"/>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a:latin typeface="Arial"/>
                <a:ea typeface="Arial"/>
                <a:cs typeface="Arial"/>
                <a:sym typeface="Arial"/>
              </a:rPr>
              <a:t>Week</a:t>
            </a:r>
            <a:r>
              <a:rPr lang="en"/>
              <a:t> 6</a:t>
            </a:r>
            <a:r>
              <a:rPr lang="en">
                <a:latin typeface="Arial"/>
                <a:ea typeface="Arial"/>
                <a:cs typeface="Arial"/>
                <a:sym typeface="Arial"/>
              </a:rPr>
              <a:t> Lecture Topic</a:t>
            </a:r>
            <a:endParaRPr>
              <a:latin typeface="Arial"/>
              <a:ea typeface="Arial"/>
              <a:cs typeface="Arial"/>
              <a:sym typeface="Arial"/>
            </a:endParaRPr>
          </a:p>
        </p:txBody>
      </p:sp>
      <p:cxnSp>
        <p:nvCxnSpPr>
          <p:cNvPr id="103" name="Google Shape;103;p15"/>
          <p:cNvCxnSpPr/>
          <p:nvPr/>
        </p:nvCxnSpPr>
        <p:spPr>
          <a:xfrm>
            <a:off x="780124" y="959283"/>
            <a:ext cx="7732800" cy="0"/>
          </a:xfrm>
          <a:prstGeom prst="straightConnector1">
            <a:avLst/>
          </a:prstGeom>
          <a:noFill/>
          <a:ln w="9525" cap="flat" cmpd="sng">
            <a:solidFill>
              <a:schemeClr val="dk1"/>
            </a:solidFill>
            <a:prstDash val="solid"/>
            <a:round/>
            <a:headEnd type="oval" w="med" len="med"/>
            <a:tailEnd type="oval" w="med" len="med"/>
          </a:ln>
        </p:spPr>
      </p:cxnSp>
      <p:sp>
        <p:nvSpPr>
          <p:cNvPr id="104" name="Google Shape;104;p15"/>
          <p:cNvSpPr txBox="1"/>
          <p:nvPr/>
        </p:nvSpPr>
        <p:spPr>
          <a:xfrm>
            <a:off x="1217527" y="1141998"/>
            <a:ext cx="6858000" cy="3451200"/>
          </a:xfrm>
          <a:prstGeom prst="rect">
            <a:avLst/>
          </a:prstGeom>
          <a:noFill/>
          <a:ln>
            <a:noFill/>
          </a:ln>
        </p:spPr>
        <p:txBody>
          <a:bodyPr spcFirstLastPara="1" wrap="square" lIns="68575" tIns="34275" rIns="68575" bIns="34275" anchor="t" anchorCtr="0">
            <a:normAutofit/>
          </a:bodyPr>
          <a:lstStyle/>
          <a:p>
            <a:pPr marL="457200" lvl="0" indent="-360108" algn="l" rtl="0">
              <a:lnSpc>
                <a:spcPct val="150000"/>
              </a:lnSpc>
              <a:spcBef>
                <a:spcPts val="800"/>
              </a:spcBef>
              <a:spcAft>
                <a:spcPts val="0"/>
              </a:spcAft>
              <a:buClr>
                <a:schemeClr val="dk2"/>
              </a:buClr>
              <a:buSzPts val="2071"/>
              <a:buFont typeface="Arvo"/>
              <a:buChar char="•"/>
            </a:pPr>
            <a:r>
              <a:rPr lang="en" sz="2071">
                <a:solidFill>
                  <a:schemeClr val="dk2"/>
                </a:solidFill>
                <a:latin typeface="Arvo"/>
                <a:ea typeface="Arvo"/>
                <a:cs typeface="Arvo"/>
                <a:sym typeface="Arvo"/>
              </a:rPr>
              <a:t>Introduction to PHP</a:t>
            </a:r>
            <a:endParaRPr sz="2071">
              <a:solidFill>
                <a:schemeClr val="dk2"/>
              </a:solidFill>
              <a:latin typeface="Arvo"/>
              <a:ea typeface="Arvo"/>
              <a:cs typeface="Arvo"/>
              <a:sym typeface="Arvo"/>
            </a:endParaRPr>
          </a:p>
          <a:p>
            <a:pPr marL="457200" lvl="0" indent="-360108" algn="l" rtl="0">
              <a:lnSpc>
                <a:spcPct val="150000"/>
              </a:lnSpc>
              <a:spcBef>
                <a:spcPts val="800"/>
              </a:spcBef>
              <a:spcAft>
                <a:spcPts val="0"/>
              </a:spcAft>
              <a:buClr>
                <a:schemeClr val="dk2"/>
              </a:buClr>
              <a:buSzPts val="2071"/>
              <a:buFont typeface="Arvo"/>
              <a:buChar char="•"/>
            </a:pPr>
            <a:r>
              <a:rPr lang="en" sz="2071">
                <a:solidFill>
                  <a:schemeClr val="dk2"/>
                </a:solidFill>
                <a:latin typeface="Arvo"/>
                <a:ea typeface="Arvo"/>
                <a:cs typeface="Arvo"/>
                <a:sym typeface="Arvo"/>
              </a:rPr>
              <a:t>PHP Variables</a:t>
            </a:r>
            <a:endParaRPr sz="2071">
              <a:solidFill>
                <a:schemeClr val="dk2"/>
              </a:solidFill>
              <a:latin typeface="Arvo"/>
              <a:ea typeface="Arvo"/>
              <a:cs typeface="Arvo"/>
              <a:sym typeface="Arvo"/>
            </a:endParaRPr>
          </a:p>
          <a:p>
            <a:pPr marL="457200" lvl="0" indent="-360108" algn="l" rtl="0">
              <a:lnSpc>
                <a:spcPct val="150000"/>
              </a:lnSpc>
              <a:spcBef>
                <a:spcPts val="800"/>
              </a:spcBef>
              <a:spcAft>
                <a:spcPts val="0"/>
              </a:spcAft>
              <a:buClr>
                <a:schemeClr val="dk2"/>
              </a:buClr>
              <a:buSzPts val="2071"/>
              <a:buFont typeface="Arvo"/>
              <a:buChar char="•"/>
            </a:pPr>
            <a:r>
              <a:rPr lang="en" sz="2071">
                <a:solidFill>
                  <a:schemeClr val="dk2"/>
                </a:solidFill>
                <a:latin typeface="Arvo"/>
                <a:ea typeface="Arvo"/>
                <a:cs typeface="Arvo"/>
                <a:sym typeface="Arvo"/>
              </a:rPr>
              <a:t>PHP Data Types</a:t>
            </a:r>
            <a:endParaRPr sz="2071">
              <a:solidFill>
                <a:schemeClr val="dk2"/>
              </a:solidFill>
              <a:latin typeface="Arvo"/>
              <a:ea typeface="Arvo"/>
              <a:cs typeface="Arvo"/>
              <a:sym typeface="Arvo"/>
            </a:endParaRPr>
          </a:p>
          <a:p>
            <a:pPr marL="457200" lvl="0" indent="-360108" algn="l" rtl="0">
              <a:lnSpc>
                <a:spcPct val="150000"/>
              </a:lnSpc>
              <a:spcBef>
                <a:spcPts val="800"/>
              </a:spcBef>
              <a:spcAft>
                <a:spcPts val="0"/>
              </a:spcAft>
              <a:buClr>
                <a:schemeClr val="dk2"/>
              </a:buClr>
              <a:buSzPts val="2071"/>
              <a:buFont typeface="Arvo"/>
              <a:buChar char="•"/>
            </a:pPr>
            <a:r>
              <a:rPr lang="en" sz="2071">
                <a:solidFill>
                  <a:schemeClr val="dk2"/>
                </a:solidFill>
                <a:latin typeface="Arvo"/>
                <a:ea typeface="Arvo"/>
                <a:cs typeface="Arvo"/>
                <a:sym typeface="Arvo"/>
              </a:rPr>
              <a:t>PHP Conditions / Loops</a:t>
            </a:r>
            <a:endParaRPr sz="2071">
              <a:solidFill>
                <a:schemeClr val="dk2"/>
              </a:solidFill>
              <a:latin typeface="Arvo"/>
              <a:ea typeface="Arvo"/>
              <a:cs typeface="Arvo"/>
              <a:sym typeface="Arvo"/>
            </a:endParaRPr>
          </a:p>
          <a:p>
            <a:pPr marL="457200" lvl="0" indent="-360108" algn="l" rtl="0">
              <a:lnSpc>
                <a:spcPct val="150000"/>
              </a:lnSpc>
              <a:spcBef>
                <a:spcPts val="800"/>
              </a:spcBef>
              <a:spcAft>
                <a:spcPts val="0"/>
              </a:spcAft>
              <a:buClr>
                <a:schemeClr val="dk2"/>
              </a:buClr>
              <a:buSzPts val="2071"/>
              <a:buFont typeface="Arvo"/>
              <a:buChar char="•"/>
            </a:pPr>
            <a:r>
              <a:rPr lang="en" sz="2071">
                <a:solidFill>
                  <a:schemeClr val="dk2"/>
                </a:solidFill>
                <a:latin typeface="Arvo"/>
                <a:ea typeface="Arvo"/>
                <a:cs typeface="Arvo"/>
                <a:sym typeface="Arvo"/>
              </a:rPr>
              <a:t>PHP Arrays</a:t>
            </a:r>
            <a:endParaRPr sz="2071">
              <a:solidFill>
                <a:schemeClr val="dk2"/>
              </a:solidFill>
              <a:latin typeface="Arvo"/>
              <a:ea typeface="Arvo"/>
              <a:cs typeface="Arvo"/>
              <a:sym typeface="Arvo"/>
            </a:endParaRPr>
          </a:p>
          <a:p>
            <a:pPr marL="457200" lvl="0" indent="-360108" algn="l" rtl="0">
              <a:lnSpc>
                <a:spcPct val="150000"/>
              </a:lnSpc>
              <a:spcBef>
                <a:spcPts val="800"/>
              </a:spcBef>
              <a:spcAft>
                <a:spcPts val="0"/>
              </a:spcAft>
              <a:buClr>
                <a:schemeClr val="dk2"/>
              </a:buClr>
              <a:buSzPts val="2071"/>
              <a:buFont typeface="Arvo"/>
              <a:buChar char="•"/>
            </a:pPr>
            <a:r>
              <a:rPr lang="en" sz="2071">
                <a:solidFill>
                  <a:schemeClr val="dk2"/>
                </a:solidFill>
                <a:latin typeface="Arvo"/>
                <a:ea typeface="Arvo"/>
                <a:cs typeface="Arvo"/>
                <a:sym typeface="Arvo"/>
              </a:rPr>
              <a:t>PHP Functions</a:t>
            </a:r>
            <a:endParaRPr sz="1800">
              <a:solidFill>
                <a:schemeClr val="dk2"/>
              </a:solidFill>
              <a:latin typeface="Arvo"/>
              <a:ea typeface="Arvo"/>
              <a:cs typeface="Arvo"/>
              <a:sym typeface="Arv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Introduction to PHP</a:t>
            </a:r>
            <a:endParaRPr sz="2300"/>
          </a:p>
        </p:txBody>
      </p:sp>
      <p:sp>
        <p:nvSpPr>
          <p:cNvPr id="110" name="Google Shape;110;p16"/>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b="1">
                <a:solidFill>
                  <a:schemeClr val="dk1"/>
                </a:solidFill>
              </a:rPr>
              <a:t>1</a:t>
            </a:r>
            <a:r>
              <a:rPr lang="en" sz="1000" b="1">
                <a:solidFill>
                  <a:schemeClr val="dk1"/>
                </a:solidFill>
              </a:rPr>
              <a:t>. Introduction to PHP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11" name="Google Shape;111;p16"/>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12" name="Google Shape;112;p16"/>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13" name="Google Shape;113;p16"/>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14" name="Google Shape;114;p16"/>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457200" lvl="0" indent="-431800" algn="just" rtl="0">
              <a:lnSpc>
                <a:spcPct val="140000"/>
              </a:lnSpc>
              <a:spcBef>
                <a:spcPts val="800"/>
              </a:spcBef>
              <a:spcAft>
                <a:spcPts val="0"/>
              </a:spcAft>
              <a:buClr>
                <a:schemeClr val="dk2"/>
              </a:buClr>
              <a:buSzPts val="1400"/>
              <a:buFont typeface="Arvo"/>
              <a:buChar char="•"/>
            </a:pPr>
            <a:r>
              <a:rPr lang="en">
                <a:solidFill>
                  <a:schemeClr val="dk2"/>
                </a:solidFill>
                <a:latin typeface="Arvo"/>
                <a:ea typeface="Arvo"/>
                <a:cs typeface="Arvo"/>
                <a:sym typeface="Arvo"/>
              </a:rPr>
              <a:t>The PHP Hypertext Preprocessor (PHP) is a programming language that allows web developers to create dynamic content that interacts with databases.</a:t>
            </a:r>
            <a:endParaRPr>
              <a:solidFill>
                <a:schemeClr val="dk2"/>
              </a:solidFill>
              <a:latin typeface="Arvo"/>
              <a:ea typeface="Arvo"/>
              <a:cs typeface="Arvo"/>
              <a:sym typeface="Arvo"/>
            </a:endParaRPr>
          </a:p>
          <a:p>
            <a:pPr marL="457200" lvl="0" indent="-431800" algn="just" rtl="0">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PHP is basically used for developing web based software applications.</a:t>
            </a:r>
            <a:endParaRPr>
              <a:solidFill>
                <a:schemeClr val="dk2"/>
              </a:solidFill>
              <a:latin typeface="Arvo"/>
              <a:ea typeface="Arvo"/>
              <a:cs typeface="Arvo"/>
              <a:sym typeface="Arvo"/>
            </a:endParaRPr>
          </a:p>
          <a:p>
            <a:pPr marL="457200" lvl="0" indent="-431800" algn="just" rtl="0">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PHP is a server scripting language, and a powerful tool for making dynamic and interactive Web pages.</a:t>
            </a:r>
            <a:endParaRPr>
              <a:solidFill>
                <a:schemeClr val="dk2"/>
              </a:solidFill>
              <a:latin typeface="Arvo"/>
              <a:ea typeface="Arvo"/>
              <a:cs typeface="Arvo"/>
              <a:sym typeface="Arvo"/>
            </a:endParaRPr>
          </a:p>
          <a:p>
            <a:pPr marL="457200" lvl="0" indent="-431800" algn="just" rtl="0">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PHP is a widely-used, free, and efficient</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7"/>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Introduction to PHP</a:t>
            </a:r>
            <a:endParaRPr sz="2300"/>
          </a:p>
        </p:txBody>
      </p:sp>
      <p:sp>
        <p:nvSpPr>
          <p:cNvPr id="120" name="Google Shape;120;p17"/>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b="1">
                <a:solidFill>
                  <a:schemeClr val="dk1"/>
                </a:solidFill>
              </a:rPr>
              <a:t>1</a:t>
            </a:r>
            <a:r>
              <a:rPr lang="en" sz="1000" b="1">
                <a:solidFill>
                  <a:schemeClr val="dk1"/>
                </a:solidFill>
              </a:rPr>
              <a:t>. Introduction to PHP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21" name="Google Shape;121;p17"/>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22" name="Google Shape;122;p17"/>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23" name="Google Shape;123;p17"/>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24" name="Google Shape;124;p17"/>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457200" lvl="0" indent="0" algn="just" rtl="0">
              <a:lnSpc>
                <a:spcPct val="140000"/>
              </a:lnSpc>
              <a:spcBef>
                <a:spcPts val="0"/>
              </a:spcBef>
              <a:spcAft>
                <a:spcPts val="0"/>
              </a:spcAft>
              <a:buNone/>
            </a:pPr>
            <a:r>
              <a:rPr lang="en">
                <a:solidFill>
                  <a:schemeClr val="dk2"/>
                </a:solidFill>
                <a:latin typeface="Arvo"/>
                <a:ea typeface="Arvo"/>
                <a:cs typeface="Arvo"/>
                <a:sym typeface="Arvo"/>
              </a:rPr>
              <a:t>Hello World Using PHP</a:t>
            </a:r>
            <a:endParaRPr sz="1800">
              <a:solidFill>
                <a:schemeClr val="dk2"/>
              </a:solidFill>
            </a:endParaRPr>
          </a:p>
        </p:txBody>
      </p:sp>
      <p:pic>
        <p:nvPicPr>
          <p:cNvPr id="125" name="Google Shape;125;p17"/>
          <p:cNvPicPr preferRelativeResize="0"/>
          <p:nvPr/>
        </p:nvPicPr>
        <p:blipFill rotWithShape="1">
          <a:blip r:embed="rId5">
            <a:alphaModFix/>
          </a:blip>
          <a:srcRect/>
          <a:stretch/>
        </p:blipFill>
        <p:spPr>
          <a:xfrm>
            <a:off x="2573337" y="1555900"/>
            <a:ext cx="5249488" cy="3451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8"/>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Introduction to PHP</a:t>
            </a:r>
            <a:endParaRPr sz="2300"/>
          </a:p>
        </p:txBody>
      </p:sp>
      <p:sp>
        <p:nvSpPr>
          <p:cNvPr id="131" name="Google Shape;131;p18"/>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b="1">
                <a:solidFill>
                  <a:schemeClr val="dk1"/>
                </a:solidFill>
              </a:rPr>
              <a:t>1</a:t>
            </a:r>
            <a:r>
              <a:rPr lang="en" sz="1000" b="1">
                <a:solidFill>
                  <a:schemeClr val="dk1"/>
                </a:solidFill>
              </a:rPr>
              <a:t>. Introduction to PHP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32" name="Google Shape;132;p18"/>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33" name="Google Shape;133;p18"/>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34" name="Google Shape;134;p18"/>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35" name="Google Shape;135;p18"/>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457200" lvl="0" indent="-314325" algn="just" rtl="0">
              <a:lnSpc>
                <a:spcPct val="140000"/>
              </a:lnSpc>
              <a:spcBef>
                <a:spcPts val="800"/>
              </a:spcBef>
              <a:spcAft>
                <a:spcPts val="0"/>
              </a:spcAft>
              <a:buClr>
                <a:schemeClr val="dk2"/>
              </a:buClr>
              <a:buSzPts val="1350"/>
              <a:buFont typeface="Arvo"/>
              <a:buChar char="●"/>
            </a:pPr>
            <a:r>
              <a:rPr lang="en" sz="1350">
                <a:solidFill>
                  <a:schemeClr val="dk2"/>
                </a:solidFill>
                <a:latin typeface="Arvo"/>
                <a:ea typeface="Arvo"/>
                <a:cs typeface="Arvo"/>
                <a:sym typeface="Arvo"/>
              </a:rPr>
              <a:t>PHP performs system functions, i.e. from files on a system it can create, open, read, write, and close them.</a:t>
            </a:r>
            <a:endParaRPr sz="1350">
              <a:solidFill>
                <a:schemeClr val="dk2"/>
              </a:solidFill>
              <a:latin typeface="Arvo"/>
              <a:ea typeface="Arvo"/>
              <a:cs typeface="Arvo"/>
              <a:sym typeface="Arvo"/>
            </a:endParaRPr>
          </a:p>
          <a:p>
            <a:pPr marL="457200" lvl="0" indent="-314325" algn="just" rtl="0">
              <a:lnSpc>
                <a:spcPct val="140000"/>
              </a:lnSpc>
              <a:spcBef>
                <a:spcPts val="0"/>
              </a:spcBef>
              <a:spcAft>
                <a:spcPts val="0"/>
              </a:spcAft>
              <a:buClr>
                <a:schemeClr val="dk2"/>
              </a:buClr>
              <a:buSzPts val="1350"/>
              <a:buFont typeface="Arvo"/>
              <a:buChar char="●"/>
            </a:pPr>
            <a:r>
              <a:rPr lang="en" sz="1350">
                <a:solidFill>
                  <a:schemeClr val="dk2"/>
                </a:solidFill>
                <a:latin typeface="Arvo"/>
                <a:ea typeface="Arvo"/>
                <a:cs typeface="Arvo"/>
                <a:sym typeface="Arvo"/>
              </a:rPr>
              <a:t>PHP can handle forms, i.e. gather data from files, save data to a file, through email you can send data, return data to the user.</a:t>
            </a:r>
            <a:endParaRPr sz="1350">
              <a:solidFill>
                <a:schemeClr val="dk2"/>
              </a:solidFill>
              <a:latin typeface="Arvo"/>
              <a:ea typeface="Arvo"/>
              <a:cs typeface="Arvo"/>
              <a:sym typeface="Arvo"/>
            </a:endParaRPr>
          </a:p>
          <a:p>
            <a:pPr marL="457200" lvl="0" indent="-314325" algn="just" rtl="0">
              <a:lnSpc>
                <a:spcPct val="140000"/>
              </a:lnSpc>
              <a:spcBef>
                <a:spcPts val="0"/>
              </a:spcBef>
              <a:spcAft>
                <a:spcPts val="0"/>
              </a:spcAft>
              <a:buClr>
                <a:schemeClr val="dk2"/>
              </a:buClr>
              <a:buSzPts val="1350"/>
              <a:buFont typeface="Arvo"/>
              <a:buChar char="●"/>
            </a:pPr>
            <a:r>
              <a:rPr lang="en" sz="1350">
                <a:solidFill>
                  <a:schemeClr val="dk2"/>
                </a:solidFill>
                <a:latin typeface="Arvo"/>
                <a:ea typeface="Arvo"/>
                <a:cs typeface="Arvo"/>
                <a:sym typeface="Arvo"/>
              </a:rPr>
              <a:t>You add, delete, modify elements within your database through PHP.</a:t>
            </a:r>
            <a:endParaRPr sz="1350">
              <a:solidFill>
                <a:schemeClr val="dk2"/>
              </a:solidFill>
              <a:latin typeface="Arvo"/>
              <a:ea typeface="Arvo"/>
              <a:cs typeface="Arvo"/>
              <a:sym typeface="Arvo"/>
            </a:endParaRPr>
          </a:p>
          <a:p>
            <a:pPr marL="457200" lvl="0" indent="-314325" algn="just" rtl="0">
              <a:lnSpc>
                <a:spcPct val="140000"/>
              </a:lnSpc>
              <a:spcBef>
                <a:spcPts val="0"/>
              </a:spcBef>
              <a:spcAft>
                <a:spcPts val="0"/>
              </a:spcAft>
              <a:buClr>
                <a:schemeClr val="dk2"/>
              </a:buClr>
              <a:buSzPts val="1350"/>
              <a:buFont typeface="Arvo"/>
              <a:buChar char="●"/>
            </a:pPr>
            <a:r>
              <a:rPr lang="en" sz="1350">
                <a:solidFill>
                  <a:schemeClr val="dk2"/>
                </a:solidFill>
                <a:latin typeface="Arvo"/>
                <a:ea typeface="Arvo"/>
                <a:cs typeface="Arvo"/>
                <a:sym typeface="Arvo"/>
              </a:rPr>
              <a:t>Access cookies variables and set cookies.</a:t>
            </a:r>
            <a:endParaRPr sz="1350">
              <a:solidFill>
                <a:schemeClr val="dk2"/>
              </a:solidFill>
              <a:latin typeface="Arvo"/>
              <a:ea typeface="Arvo"/>
              <a:cs typeface="Arvo"/>
              <a:sym typeface="Arvo"/>
            </a:endParaRPr>
          </a:p>
          <a:p>
            <a:pPr marL="457200" lvl="0" indent="-314325" algn="just" rtl="0">
              <a:lnSpc>
                <a:spcPct val="140000"/>
              </a:lnSpc>
              <a:spcBef>
                <a:spcPts val="0"/>
              </a:spcBef>
              <a:spcAft>
                <a:spcPts val="0"/>
              </a:spcAft>
              <a:buClr>
                <a:schemeClr val="dk2"/>
              </a:buClr>
              <a:buSzPts val="1350"/>
              <a:buFont typeface="Arvo"/>
              <a:buChar char="●"/>
            </a:pPr>
            <a:r>
              <a:rPr lang="en" sz="1350">
                <a:solidFill>
                  <a:schemeClr val="dk2"/>
                </a:solidFill>
                <a:latin typeface="Arvo"/>
                <a:ea typeface="Arvo"/>
                <a:cs typeface="Arvo"/>
                <a:sym typeface="Arvo"/>
              </a:rPr>
              <a:t>Using PHP, you can restrict users to access some pages of your website.</a:t>
            </a:r>
            <a:endParaRPr sz="1350">
              <a:solidFill>
                <a:schemeClr val="dk2"/>
              </a:solidFill>
              <a:latin typeface="Arvo"/>
              <a:ea typeface="Arvo"/>
              <a:cs typeface="Arvo"/>
              <a:sym typeface="Arvo"/>
            </a:endParaRPr>
          </a:p>
          <a:p>
            <a:pPr marL="457200" lvl="0" indent="-314325" algn="just" rtl="0">
              <a:lnSpc>
                <a:spcPct val="140000"/>
              </a:lnSpc>
              <a:spcBef>
                <a:spcPts val="0"/>
              </a:spcBef>
              <a:spcAft>
                <a:spcPts val="0"/>
              </a:spcAft>
              <a:buClr>
                <a:schemeClr val="dk2"/>
              </a:buClr>
              <a:buSzPts val="1350"/>
              <a:buFont typeface="Arvo"/>
              <a:buChar char="●"/>
            </a:pPr>
            <a:r>
              <a:rPr lang="en" sz="1350">
                <a:solidFill>
                  <a:schemeClr val="dk2"/>
                </a:solidFill>
                <a:latin typeface="Arvo"/>
                <a:ea typeface="Arvo"/>
                <a:cs typeface="Arvo"/>
                <a:sym typeface="Arvo"/>
              </a:rPr>
              <a:t>It can encrypt data.</a:t>
            </a:r>
            <a:endParaRPr>
              <a:solidFill>
                <a:schemeClr val="dk2"/>
              </a:solidFill>
              <a:latin typeface="Arvo"/>
              <a:ea typeface="Arvo"/>
              <a:cs typeface="Arvo"/>
              <a:sym typeface="Arv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Introduction to PHP</a:t>
            </a:r>
            <a:endParaRPr sz="2300"/>
          </a:p>
        </p:txBody>
      </p:sp>
      <p:sp>
        <p:nvSpPr>
          <p:cNvPr id="141" name="Google Shape;141;p19"/>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b="1">
                <a:solidFill>
                  <a:schemeClr val="dk1"/>
                </a:solidFill>
              </a:rPr>
              <a:t>1</a:t>
            </a:r>
            <a:r>
              <a:rPr lang="en" sz="1000" b="1">
                <a:solidFill>
                  <a:schemeClr val="dk1"/>
                </a:solidFill>
              </a:rPr>
              <a:t>. Introduction to PHP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42" name="Google Shape;142;p19"/>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43" name="Google Shape;143;p19"/>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44" name="Google Shape;144;p19"/>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45" name="Google Shape;145;p19"/>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lnSpcReduction="10000"/>
          </a:bodyPr>
          <a:lstStyle/>
          <a:p>
            <a:pPr marL="457200" lvl="0" indent="0" algn="just" rtl="0">
              <a:lnSpc>
                <a:spcPct val="140000"/>
              </a:lnSpc>
              <a:spcBef>
                <a:spcPts val="800"/>
              </a:spcBef>
              <a:spcAft>
                <a:spcPts val="0"/>
              </a:spcAft>
              <a:buNone/>
            </a:pPr>
            <a:r>
              <a:rPr lang="en">
                <a:solidFill>
                  <a:schemeClr val="dk2"/>
                </a:solidFill>
                <a:latin typeface="Arvo"/>
                <a:ea typeface="Arvo"/>
                <a:cs typeface="Arvo"/>
                <a:sym typeface="Arvo"/>
              </a:rPr>
              <a:t>All PHP code must be included inside one of the three special markup tags.</a:t>
            </a: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r>
              <a:rPr lang="en">
                <a:solidFill>
                  <a:schemeClr val="dk2"/>
                </a:solidFill>
                <a:latin typeface="Arvo"/>
                <a:ea typeface="Arvo"/>
                <a:cs typeface="Arvo"/>
                <a:sym typeface="Arvo"/>
              </a:rPr>
              <a:t>It is then recognised by the PHP Parser.</a:t>
            </a: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r>
              <a:rPr lang="en" sz="1150">
                <a:solidFill>
                  <a:srgbClr val="666600"/>
                </a:solidFill>
                <a:highlight>
                  <a:schemeClr val="lt2"/>
                </a:highlight>
                <a:latin typeface="Courier New"/>
                <a:ea typeface="Courier New"/>
                <a:cs typeface="Courier New"/>
                <a:sym typeface="Courier New"/>
              </a:rPr>
              <a:t>&lt;?</a:t>
            </a:r>
            <a:r>
              <a:rPr lang="en" sz="1150">
                <a:solidFill>
                  <a:schemeClr val="dk1"/>
                </a:solidFill>
                <a:highlight>
                  <a:schemeClr val="lt2"/>
                </a:highlight>
                <a:latin typeface="Courier New"/>
                <a:ea typeface="Courier New"/>
                <a:cs typeface="Courier New"/>
                <a:sym typeface="Courier New"/>
              </a:rPr>
              <a:t>php PHP code goes here </a:t>
            </a:r>
            <a:r>
              <a:rPr lang="en" sz="1150">
                <a:solidFill>
                  <a:srgbClr val="666600"/>
                </a:solidFill>
                <a:highlight>
                  <a:schemeClr val="lt2"/>
                </a:highlight>
                <a:latin typeface="Courier New"/>
                <a:ea typeface="Courier New"/>
                <a:cs typeface="Courier New"/>
                <a:sym typeface="Courier New"/>
              </a:rPr>
              <a:t>?&gt;</a:t>
            </a:r>
            <a:endParaRPr sz="1150">
              <a:solidFill>
                <a:schemeClr val="dk1"/>
              </a:solidFill>
              <a:highlight>
                <a:schemeClr val="lt2"/>
              </a:highlight>
              <a:latin typeface="Courier New"/>
              <a:ea typeface="Courier New"/>
              <a:cs typeface="Courier New"/>
              <a:sym typeface="Courier New"/>
            </a:endParaRPr>
          </a:p>
          <a:p>
            <a:pPr marL="457200" lvl="0" indent="0" algn="just" rtl="0">
              <a:lnSpc>
                <a:spcPct val="140000"/>
              </a:lnSpc>
              <a:spcBef>
                <a:spcPts val="800"/>
              </a:spcBef>
              <a:spcAft>
                <a:spcPts val="0"/>
              </a:spcAft>
              <a:buNone/>
            </a:pPr>
            <a:r>
              <a:rPr lang="en" sz="1150">
                <a:solidFill>
                  <a:srgbClr val="666600"/>
                </a:solidFill>
                <a:highlight>
                  <a:schemeClr val="lt2"/>
                </a:highlight>
                <a:latin typeface="Courier New"/>
                <a:ea typeface="Courier New"/>
                <a:cs typeface="Courier New"/>
                <a:sym typeface="Courier New"/>
              </a:rPr>
              <a:t>&lt;?</a:t>
            </a:r>
            <a:r>
              <a:rPr lang="en" sz="1150">
                <a:solidFill>
                  <a:schemeClr val="dk1"/>
                </a:solidFill>
                <a:highlight>
                  <a:schemeClr val="lt2"/>
                </a:highlight>
                <a:latin typeface="Courier New"/>
                <a:ea typeface="Courier New"/>
                <a:cs typeface="Courier New"/>
                <a:sym typeface="Courier New"/>
              </a:rPr>
              <a:t>    PHP code goes here </a:t>
            </a:r>
            <a:r>
              <a:rPr lang="en" sz="1150">
                <a:solidFill>
                  <a:srgbClr val="666600"/>
                </a:solidFill>
                <a:highlight>
                  <a:schemeClr val="lt2"/>
                </a:highlight>
                <a:latin typeface="Courier New"/>
                <a:ea typeface="Courier New"/>
                <a:cs typeface="Courier New"/>
                <a:sym typeface="Courier New"/>
              </a:rPr>
              <a:t>?&gt;</a:t>
            </a:r>
            <a:endParaRPr sz="1150">
              <a:solidFill>
                <a:schemeClr val="dk1"/>
              </a:solidFill>
              <a:highlight>
                <a:schemeClr val="lt2"/>
              </a:highlight>
              <a:latin typeface="Courier New"/>
              <a:ea typeface="Courier New"/>
              <a:cs typeface="Courier New"/>
              <a:sym typeface="Courier New"/>
            </a:endParaRPr>
          </a:p>
          <a:p>
            <a:pPr marL="457200" marR="25400" lvl="0" indent="0" algn="l" rtl="0">
              <a:lnSpc>
                <a:spcPct val="115000"/>
              </a:lnSpc>
              <a:spcBef>
                <a:spcPts val="0"/>
              </a:spcBef>
              <a:spcAft>
                <a:spcPts val="0"/>
              </a:spcAft>
              <a:buNone/>
            </a:pPr>
            <a:r>
              <a:rPr lang="en" sz="1150">
                <a:solidFill>
                  <a:srgbClr val="000088"/>
                </a:solidFill>
                <a:highlight>
                  <a:schemeClr val="lt2"/>
                </a:highlight>
                <a:latin typeface="Courier New"/>
                <a:ea typeface="Courier New"/>
                <a:cs typeface="Courier New"/>
                <a:sym typeface="Courier New"/>
              </a:rPr>
              <a:t>&lt;script</a:t>
            </a:r>
            <a:r>
              <a:rPr lang="en" sz="1150">
                <a:solidFill>
                  <a:schemeClr val="dk1"/>
                </a:solidFill>
                <a:highlight>
                  <a:schemeClr val="lt2"/>
                </a:highlight>
                <a:latin typeface="Courier New"/>
                <a:ea typeface="Courier New"/>
                <a:cs typeface="Courier New"/>
                <a:sym typeface="Courier New"/>
              </a:rPr>
              <a:t> </a:t>
            </a:r>
            <a:r>
              <a:rPr lang="en" sz="1150">
                <a:solidFill>
                  <a:srgbClr val="660066"/>
                </a:solidFill>
                <a:highlight>
                  <a:schemeClr val="lt2"/>
                </a:highlight>
                <a:latin typeface="Courier New"/>
                <a:ea typeface="Courier New"/>
                <a:cs typeface="Courier New"/>
                <a:sym typeface="Courier New"/>
              </a:rPr>
              <a:t>language</a:t>
            </a:r>
            <a:r>
              <a:rPr lang="en" sz="1150">
                <a:solidFill>
                  <a:schemeClr val="dk1"/>
                </a:solidFill>
                <a:highlight>
                  <a:schemeClr val="lt2"/>
                </a:highlight>
                <a:latin typeface="Courier New"/>
                <a:ea typeface="Courier New"/>
                <a:cs typeface="Courier New"/>
                <a:sym typeface="Courier New"/>
              </a:rPr>
              <a:t> </a:t>
            </a:r>
            <a:r>
              <a:rPr lang="en" sz="1150">
                <a:solidFill>
                  <a:srgbClr val="666600"/>
                </a:solidFill>
                <a:highlight>
                  <a:schemeClr val="lt2"/>
                </a:highlight>
                <a:latin typeface="Courier New"/>
                <a:ea typeface="Courier New"/>
                <a:cs typeface="Courier New"/>
                <a:sym typeface="Courier New"/>
              </a:rPr>
              <a:t>=</a:t>
            </a:r>
            <a:r>
              <a:rPr lang="en" sz="1150">
                <a:solidFill>
                  <a:schemeClr val="dk1"/>
                </a:solidFill>
                <a:highlight>
                  <a:schemeClr val="lt2"/>
                </a:highlight>
                <a:latin typeface="Courier New"/>
                <a:ea typeface="Courier New"/>
                <a:cs typeface="Courier New"/>
                <a:sym typeface="Courier New"/>
              </a:rPr>
              <a:t> </a:t>
            </a:r>
            <a:r>
              <a:rPr lang="en" sz="1150">
                <a:solidFill>
                  <a:srgbClr val="008800"/>
                </a:solidFill>
                <a:highlight>
                  <a:schemeClr val="lt2"/>
                </a:highlight>
                <a:latin typeface="Courier New"/>
                <a:ea typeface="Courier New"/>
                <a:cs typeface="Courier New"/>
                <a:sym typeface="Courier New"/>
              </a:rPr>
              <a:t>"php"</a:t>
            </a:r>
            <a:r>
              <a:rPr lang="en" sz="1150">
                <a:solidFill>
                  <a:srgbClr val="000088"/>
                </a:solidFill>
                <a:highlight>
                  <a:schemeClr val="lt2"/>
                </a:highlight>
                <a:latin typeface="Courier New"/>
                <a:ea typeface="Courier New"/>
                <a:cs typeface="Courier New"/>
                <a:sym typeface="Courier New"/>
              </a:rPr>
              <a:t>&gt;</a:t>
            </a:r>
            <a:r>
              <a:rPr lang="en" sz="1150">
                <a:solidFill>
                  <a:schemeClr val="dk1"/>
                </a:solidFill>
                <a:highlight>
                  <a:schemeClr val="lt2"/>
                </a:highlight>
                <a:latin typeface="Courier New"/>
                <a:ea typeface="Courier New"/>
                <a:cs typeface="Courier New"/>
                <a:sym typeface="Courier New"/>
              </a:rPr>
              <a:t> PHP code goes here </a:t>
            </a:r>
            <a:r>
              <a:rPr lang="en" sz="1150">
                <a:solidFill>
                  <a:srgbClr val="000088"/>
                </a:solidFill>
                <a:highlight>
                  <a:schemeClr val="lt2"/>
                </a:highlight>
                <a:latin typeface="Courier New"/>
                <a:ea typeface="Courier New"/>
                <a:cs typeface="Courier New"/>
                <a:sym typeface="Courier New"/>
              </a:rPr>
              <a:t>&lt;/script&gt;</a:t>
            </a:r>
            <a:endParaRPr sz="1150">
              <a:solidFill>
                <a:srgbClr val="000088"/>
              </a:solidFill>
              <a:highlight>
                <a:schemeClr val="lt2"/>
              </a:highlight>
              <a:latin typeface="Courier New"/>
              <a:ea typeface="Courier New"/>
              <a:cs typeface="Courier New"/>
              <a:sym typeface="Courier New"/>
            </a:endParaRPr>
          </a:p>
          <a:p>
            <a:pPr marL="45720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r>
              <a:rPr lang="en">
                <a:solidFill>
                  <a:schemeClr val="dk2"/>
                </a:solidFill>
                <a:latin typeface="Arvo"/>
                <a:ea typeface="Arvo"/>
                <a:cs typeface="Arvo"/>
                <a:sym typeface="Arvo"/>
              </a:rPr>
              <a:t>A most common tag is the &lt;?php...?&gt; and we will also use the same tag in our tutorial.</a:t>
            </a:r>
            <a:endParaRPr sz="1350">
              <a:solidFill>
                <a:schemeClr val="dk2"/>
              </a:solidFill>
              <a:latin typeface="Arvo"/>
              <a:ea typeface="Arvo"/>
              <a:cs typeface="Arvo"/>
              <a:sym typeface="Arv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Variables</a:t>
            </a:r>
            <a:endParaRPr sz="2300"/>
          </a:p>
        </p:txBody>
      </p:sp>
      <p:sp>
        <p:nvSpPr>
          <p:cNvPr id="151" name="Google Shape;151;p20"/>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2. PHP Variables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52" name="Google Shape;152;p20"/>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53" name="Google Shape;153;p20"/>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54" name="Google Shape;154;p20"/>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55" name="Google Shape;155;p20"/>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lnSpcReduction="20000"/>
          </a:bodyPr>
          <a:lstStyle/>
          <a:p>
            <a:pPr marL="0" lvl="0" indent="0" algn="just" rtl="0">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A variable can have a short name (like x and y) or a more descriptive name (age, carname, total_volume).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Rules for PHP variables:</a:t>
            </a:r>
            <a:endParaRPr>
              <a:solidFill>
                <a:schemeClr val="dk2"/>
              </a:solidFill>
              <a:latin typeface="Arvo"/>
              <a:ea typeface="Arvo"/>
              <a:cs typeface="Arvo"/>
              <a:sym typeface="Arvo"/>
            </a:endParaRPr>
          </a:p>
          <a:p>
            <a:pPr marL="457200" lvl="0" indent="-317500" algn="just" rtl="0">
              <a:lnSpc>
                <a:spcPct val="140000"/>
              </a:lnSpc>
              <a:spcBef>
                <a:spcPts val="800"/>
              </a:spcBef>
              <a:spcAft>
                <a:spcPts val="0"/>
              </a:spcAft>
              <a:buClr>
                <a:schemeClr val="dk2"/>
              </a:buClr>
              <a:buSzPts val="1400"/>
              <a:buFont typeface="Arvo"/>
              <a:buChar char="●"/>
            </a:pPr>
            <a:r>
              <a:rPr lang="en">
                <a:solidFill>
                  <a:schemeClr val="dk2"/>
                </a:solidFill>
                <a:latin typeface="Arvo"/>
                <a:ea typeface="Arvo"/>
                <a:cs typeface="Arvo"/>
                <a:sym typeface="Arvo"/>
              </a:rPr>
              <a:t>A variable starts with the $ sign, followed by the name of the variable</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A variable name must start with a letter or the underscore character</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A variable name cannot start with a number</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A variable name can only contain alphanumeric characters and underscores (A-z, 0-9, and _ )</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Variable names are case-sensitive ($age and $AGE are two different variables)</a:t>
            </a:r>
            <a:endParaRPr>
              <a:solidFill>
                <a:schemeClr val="dk2"/>
              </a:solidFill>
              <a:latin typeface="Arvo"/>
              <a:ea typeface="Arvo"/>
              <a:cs typeface="Arvo"/>
              <a:sym typeface="Arv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1"/>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Variables</a:t>
            </a:r>
            <a:endParaRPr sz="2300"/>
          </a:p>
        </p:txBody>
      </p:sp>
      <p:sp>
        <p:nvSpPr>
          <p:cNvPr id="161" name="Google Shape;161;p21"/>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2. PHP Variables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62" name="Google Shape;162;p21"/>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63" name="Google Shape;163;p21"/>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64" name="Google Shape;164;p21"/>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65" name="Google Shape;165;p21"/>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lnSpcReduction="10000"/>
          </a:bodyPr>
          <a:lstStyle/>
          <a:p>
            <a:pPr marL="457200" lvl="0" indent="0" algn="just" rtl="0">
              <a:lnSpc>
                <a:spcPct val="140000"/>
              </a:lnSpc>
              <a:spcBef>
                <a:spcPts val="800"/>
              </a:spcBef>
              <a:spcAft>
                <a:spcPts val="0"/>
              </a:spcAft>
              <a:buNone/>
            </a:pPr>
            <a:r>
              <a:rPr lang="en">
                <a:solidFill>
                  <a:schemeClr val="dk2"/>
                </a:solidFill>
                <a:latin typeface="Arvo"/>
                <a:ea typeface="Arvo"/>
                <a:cs typeface="Arvo"/>
                <a:sym typeface="Arvo"/>
              </a:rPr>
              <a:t>In PHP, a variable starts with the $ sign, followed by the name of the variable: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r>
              <a:rPr lang="en">
                <a:solidFill>
                  <a:schemeClr val="dk2"/>
                </a:solidFill>
                <a:latin typeface="Arvo"/>
                <a:ea typeface="Arvo"/>
                <a:cs typeface="Arvo"/>
                <a:sym typeface="Arvo"/>
              </a:rPr>
              <a:t>Example</a:t>
            </a: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r>
              <a:rPr lang="en">
                <a:solidFill>
                  <a:srgbClr val="FF0000"/>
                </a:solidFill>
                <a:latin typeface="Arvo"/>
                <a:ea typeface="Arvo"/>
                <a:cs typeface="Arvo"/>
                <a:sym typeface="Arvo"/>
              </a:rPr>
              <a:t>&lt;?php</a:t>
            </a:r>
            <a:endParaRPr>
              <a:solidFill>
                <a:srgbClr val="FF0000"/>
              </a:solidFill>
              <a:latin typeface="Arvo"/>
              <a:ea typeface="Arvo"/>
              <a:cs typeface="Arvo"/>
              <a:sym typeface="Arvo"/>
            </a:endParaRPr>
          </a:p>
          <a:p>
            <a:pPr marL="457200" lvl="0" indent="0" algn="just" rtl="0">
              <a:lnSpc>
                <a:spcPct val="140000"/>
              </a:lnSpc>
              <a:spcBef>
                <a:spcPts val="800"/>
              </a:spcBef>
              <a:spcAft>
                <a:spcPts val="0"/>
              </a:spcAft>
              <a:buNone/>
            </a:pPr>
            <a:r>
              <a:rPr lang="en">
                <a:solidFill>
                  <a:srgbClr val="FF0000"/>
                </a:solidFill>
                <a:latin typeface="Arvo"/>
                <a:ea typeface="Arvo"/>
                <a:cs typeface="Arvo"/>
                <a:sym typeface="Arvo"/>
              </a:rPr>
              <a:t>$txt = "Hello world!";</a:t>
            </a:r>
            <a:endParaRPr>
              <a:solidFill>
                <a:srgbClr val="FF0000"/>
              </a:solidFill>
              <a:latin typeface="Arvo"/>
              <a:ea typeface="Arvo"/>
              <a:cs typeface="Arvo"/>
              <a:sym typeface="Arvo"/>
            </a:endParaRPr>
          </a:p>
          <a:p>
            <a:pPr marL="457200" lvl="0" indent="0" algn="just" rtl="0">
              <a:lnSpc>
                <a:spcPct val="140000"/>
              </a:lnSpc>
              <a:spcBef>
                <a:spcPts val="800"/>
              </a:spcBef>
              <a:spcAft>
                <a:spcPts val="0"/>
              </a:spcAft>
              <a:buNone/>
            </a:pPr>
            <a:r>
              <a:rPr lang="en">
                <a:solidFill>
                  <a:srgbClr val="FF0000"/>
                </a:solidFill>
                <a:latin typeface="Arvo"/>
                <a:ea typeface="Arvo"/>
                <a:cs typeface="Arvo"/>
                <a:sym typeface="Arvo"/>
              </a:rPr>
              <a:t>$x = 5;</a:t>
            </a:r>
            <a:endParaRPr>
              <a:solidFill>
                <a:srgbClr val="FF0000"/>
              </a:solidFill>
              <a:latin typeface="Arvo"/>
              <a:ea typeface="Arvo"/>
              <a:cs typeface="Arvo"/>
              <a:sym typeface="Arvo"/>
            </a:endParaRPr>
          </a:p>
          <a:p>
            <a:pPr marL="457200" lvl="0" indent="0" algn="just" rtl="0">
              <a:lnSpc>
                <a:spcPct val="140000"/>
              </a:lnSpc>
              <a:spcBef>
                <a:spcPts val="800"/>
              </a:spcBef>
              <a:spcAft>
                <a:spcPts val="0"/>
              </a:spcAft>
              <a:buNone/>
            </a:pPr>
            <a:r>
              <a:rPr lang="en">
                <a:solidFill>
                  <a:srgbClr val="FF0000"/>
                </a:solidFill>
                <a:latin typeface="Arvo"/>
                <a:ea typeface="Arvo"/>
                <a:cs typeface="Arvo"/>
                <a:sym typeface="Arvo"/>
              </a:rPr>
              <a:t>$y = 10.5;</a:t>
            </a:r>
            <a:endParaRPr>
              <a:solidFill>
                <a:srgbClr val="FF0000"/>
              </a:solidFill>
              <a:latin typeface="Arvo"/>
              <a:ea typeface="Arvo"/>
              <a:cs typeface="Arvo"/>
              <a:sym typeface="Arvo"/>
            </a:endParaRPr>
          </a:p>
          <a:p>
            <a:pPr marL="457200" lvl="0" indent="0" algn="just" rtl="0">
              <a:lnSpc>
                <a:spcPct val="140000"/>
              </a:lnSpc>
              <a:spcBef>
                <a:spcPts val="800"/>
              </a:spcBef>
              <a:spcAft>
                <a:spcPts val="0"/>
              </a:spcAft>
              <a:buNone/>
            </a:pPr>
            <a:r>
              <a:rPr lang="en">
                <a:solidFill>
                  <a:srgbClr val="FF0000"/>
                </a:solidFill>
                <a:latin typeface="Arvo"/>
                <a:ea typeface="Arvo"/>
                <a:cs typeface="Arvo"/>
                <a:sym typeface="Arvo"/>
              </a:rPr>
              <a:t>?&gt;</a:t>
            </a:r>
            <a:endParaRPr>
              <a:solidFill>
                <a:schemeClr val="dk2"/>
              </a:solidFill>
              <a:latin typeface="Arvo"/>
              <a:ea typeface="Arvo"/>
              <a:cs typeface="Arvo"/>
              <a:sym typeface="Arv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Data Types</a:t>
            </a:r>
            <a:endParaRPr sz="2300"/>
          </a:p>
        </p:txBody>
      </p:sp>
      <p:sp>
        <p:nvSpPr>
          <p:cNvPr id="171" name="Google Shape;171;p22"/>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3. PHP Data Types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72" name="Google Shape;172;p22"/>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73" name="Google Shape;173;p22"/>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74" name="Google Shape;174;p22"/>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75" name="Google Shape;175;p22"/>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fontScale="92500" lnSpcReduction="20000"/>
          </a:bodyPr>
          <a:lstStyle/>
          <a:p>
            <a:pPr marL="0" lvl="0" indent="0" algn="just" rtl="0">
              <a:lnSpc>
                <a:spcPct val="140000"/>
              </a:lnSpc>
              <a:spcBef>
                <a:spcPts val="800"/>
              </a:spcBef>
              <a:spcAft>
                <a:spcPts val="0"/>
              </a:spcAft>
              <a:buClr>
                <a:schemeClr val="dk1"/>
              </a:buClr>
              <a:buSzPct val="216216"/>
              <a:buFont typeface="Arial"/>
              <a:buNone/>
            </a:pPr>
            <a:r>
              <a:rPr lang="en">
                <a:solidFill>
                  <a:schemeClr val="dk2"/>
                </a:solidFill>
                <a:latin typeface="Arvo"/>
                <a:ea typeface="Arvo"/>
                <a:cs typeface="Arvo"/>
                <a:sym typeface="Arvo"/>
              </a:rPr>
              <a:t>PHP has a total of eight data types which we use to construct our variables −</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84942"/>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r>
              <a:rPr lang="en" b="1">
                <a:solidFill>
                  <a:schemeClr val="dk2"/>
                </a:solidFill>
                <a:latin typeface="Arvo"/>
                <a:ea typeface="Arvo"/>
                <a:cs typeface="Arvo"/>
                <a:sym typeface="Arvo"/>
              </a:rPr>
              <a:t>Integers </a:t>
            </a:r>
            <a:r>
              <a:rPr lang="en">
                <a:solidFill>
                  <a:schemeClr val="dk2"/>
                </a:solidFill>
                <a:latin typeface="Arvo"/>
                <a:ea typeface="Arvo"/>
                <a:cs typeface="Arvo"/>
                <a:sym typeface="Arvo"/>
              </a:rPr>
              <a:t>− are whole numbers, without a decimal point, like 4195.</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84942"/>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r>
              <a:rPr lang="en" b="1">
                <a:solidFill>
                  <a:schemeClr val="dk2"/>
                </a:solidFill>
                <a:latin typeface="Arvo"/>
                <a:ea typeface="Arvo"/>
                <a:cs typeface="Arvo"/>
                <a:sym typeface="Arvo"/>
              </a:rPr>
              <a:t>Doubles </a:t>
            </a:r>
            <a:r>
              <a:rPr lang="en">
                <a:solidFill>
                  <a:schemeClr val="dk2"/>
                </a:solidFill>
                <a:latin typeface="Arvo"/>
                <a:ea typeface="Arvo"/>
                <a:cs typeface="Arvo"/>
                <a:sym typeface="Arvo"/>
              </a:rPr>
              <a:t>− are floating-point numbers, like 3.14159 or 49.1.</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84942"/>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r>
              <a:rPr lang="en" b="1">
                <a:solidFill>
                  <a:schemeClr val="dk2"/>
                </a:solidFill>
                <a:latin typeface="Arvo"/>
                <a:ea typeface="Arvo"/>
                <a:cs typeface="Arvo"/>
                <a:sym typeface="Arvo"/>
              </a:rPr>
              <a:t>Booleans </a:t>
            </a:r>
            <a:r>
              <a:rPr lang="en">
                <a:solidFill>
                  <a:schemeClr val="dk2"/>
                </a:solidFill>
                <a:latin typeface="Arvo"/>
                <a:ea typeface="Arvo"/>
                <a:cs typeface="Arvo"/>
                <a:sym typeface="Arvo"/>
              </a:rPr>
              <a:t>− have only two possible values either true or false.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84942"/>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84942"/>
              <a:buFont typeface="Arial"/>
              <a:buNone/>
            </a:pPr>
            <a:r>
              <a:rPr lang="en" b="1">
                <a:solidFill>
                  <a:schemeClr val="dk2"/>
                </a:solidFill>
                <a:latin typeface="Arvo"/>
                <a:ea typeface="Arvo"/>
                <a:cs typeface="Arvo"/>
                <a:sym typeface="Arvo"/>
              </a:rPr>
              <a:t>NULL </a:t>
            </a:r>
            <a:r>
              <a:rPr lang="en">
                <a:solidFill>
                  <a:schemeClr val="dk2"/>
                </a:solidFill>
                <a:latin typeface="Arvo"/>
                <a:ea typeface="Arvo"/>
                <a:cs typeface="Arvo"/>
                <a:sym typeface="Arvo"/>
              </a:rPr>
              <a:t>− is a special type that only has one value: NULL.</a:t>
            </a: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3"/>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Data Types</a:t>
            </a:r>
            <a:endParaRPr sz="2300"/>
          </a:p>
        </p:txBody>
      </p:sp>
      <p:sp>
        <p:nvSpPr>
          <p:cNvPr id="181" name="Google Shape;181;p23"/>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3. PHP Data Types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82" name="Google Shape;182;p23"/>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83" name="Google Shape;183;p23"/>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84" name="Google Shape;184;p23"/>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85" name="Google Shape;185;p23"/>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fontScale="85000" lnSpcReduction="20000"/>
          </a:bodyPr>
          <a:lstStyle/>
          <a:p>
            <a:pPr marL="0" lvl="0" indent="0" algn="just" rtl="0">
              <a:lnSpc>
                <a:spcPct val="140000"/>
              </a:lnSpc>
              <a:spcBef>
                <a:spcPts val="800"/>
              </a:spcBef>
              <a:spcAft>
                <a:spcPts val="0"/>
              </a:spcAft>
              <a:buClr>
                <a:schemeClr val="dk1"/>
              </a:buClr>
              <a:buSzPct val="216216"/>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r>
              <a:rPr lang="en" b="1">
                <a:solidFill>
                  <a:schemeClr val="dk2"/>
                </a:solidFill>
                <a:latin typeface="Arvo"/>
                <a:ea typeface="Arvo"/>
                <a:cs typeface="Arvo"/>
                <a:sym typeface="Arvo"/>
              </a:rPr>
              <a:t>Strings </a:t>
            </a:r>
            <a:r>
              <a:rPr lang="en">
                <a:solidFill>
                  <a:schemeClr val="dk2"/>
                </a:solidFill>
                <a:latin typeface="Arvo"/>
                <a:ea typeface="Arvo"/>
                <a:cs typeface="Arvo"/>
                <a:sym typeface="Arvo"/>
              </a:rPr>
              <a:t>− are sequences of characters, like 'PHP supports string operations.'</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r>
              <a:rPr lang="en" b="1">
                <a:solidFill>
                  <a:schemeClr val="dk2"/>
                </a:solidFill>
                <a:latin typeface="Arvo"/>
                <a:ea typeface="Arvo"/>
                <a:cs typeface="Arvo"/>
                <a:sym typeface="Arvo"/>
              </a:rPr>
              <a:t>Arrays </a:t>
            </a:r>
            <a:r>
              <a:rPr lang="en">
                <a:solidFill>
                  <a:schemeClr val="dk2"/>
                </a:solidFill>
                <a:latin typeface="Arvo"/>
                <a:ea typeface="Arvo"/>
                <a:cs typeface="Arvo"/>
                <a:sym typeface="Arvo"/>
              </a:rPr>
              <a:t>− are named and indexed collections of other values.</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r>
              <a:rPr lang="en" b="1">
                <a:solidFill>
                  <a:schemeClr val="dk2"/>
                </a:solidFill>
                <a:latin typeface="Arvo"/>
                <a:ea typeface="Arvo"/>
                <a:cs typeface="Arvo"/>
                <a:sym typeface="Arvo"/>
              </a:rPr>
              <a:t>Objects </a:t>
            </a:r>
            <a:r>
              <a:rPr lang="en">
                <a:solidFill>
                  <a:schemeClr val="dk2"/>
                </a:solidFill>
                <a:latin typeface="Arvo"/>
                <a:ea typeface="Arvo"/>
                <a:cs typeface="Arvo"/>
                <a:sym typeface="Arvo"/>
              </a:rPr>
              <a:t>− are instances of programmer-defined classes, which can package up both other kinds of values and functions that are specific to the class.</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16216"/>
              <a:buFont typeface="Arial"/>
              <a:buNone/>
            </a:pPr>
            <a:r>
              <a:rPr lang="en" b="1">
                <a:solidFill>
                  <a:schemeClr val="dk2"/>
                </a:solidFill>
                <a:latin typeface="Arvo"/>
                <a:ea typeface="Arvo"/>
                <a:cs typeface="Arvo"/>
                <a:sym typeface="Arvo"/>
              </a:rPr>
              <a:t>Resources </a:t>
            </a:r>
            <a:r>
              <a:rPr lang="en">
                <a:solidFill>
                  <a:schemeClr val="dk2"/>
                </a:solidFill>
                <a:latin typeface="Arvo"/>
                <a:ea typeface="Arvo"/>
                <a:cs typeface="Arvo"/>
                <a:sym typeface="Arvo"/>
              </a:rPr>
              <a:t>− are special variables that hold references to resources external to PHP (such as database connections).</a:t>
            </a: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4"/>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191" name="Google Shape;191;p24"/>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192" name="Google Shape;192;p24"/>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193" name="Google Shape;193;p24"/>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194" name="Google Shape;194;p24"/>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195" name="Google Shape;195;p24"/>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lnSpcReduction="20000"/>
          </a:bodyPr>
          <a:lstStyle/>
          <a:p>
            <a:pPr marL="0" lvl="0" indent="0" algn="just" rtl="0">
              <a:lnSpc>
                <a:spcPct val="140000"/>
              </a:lnSpc>
              <a:spcBef>
                <a:spcPts val="800"/>
              </a:spcBef>
              <a:spcAft>
                <a:spcPts val="0"/>
              </a:spcAft>
              <a:buClr>
                <a:schemeClr val="dk1"/>
              </a:buClr>
              <a:buSzPts val="2800"/>
              <a:buFont typeface="Arial"/>
              <a:buNone/>
            </a:pPr>
            <a:r>
              <a:rPr lang="en">
                <a:solidFill>
                  <a:schemeClr val="dk2"/>
                </a:solidFill>
                <a:latin typeface="Arvo"/>
                <a:ea typeface="Arvo"/>
                <a:cs typeface="Arvo"/>
                <a:sym typeface="Arvo"/>
              </a:rPr>
              <a:t>The if, elseif ...else and switch statements are used to take decision based on the different condition.</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2800"/>
              <a:buFont typeface="Arial"/>
              <a:buNone/>
            </a:pPr>
            <a:r>
              <a:rPr lang="en">
                <a:solidFill>
                  <a:schemeClr val="dk2"/>
                </a:solidFill>
                <a:latin typeface="Arvo"/>
                <a:ea typeface="Arvo"/>
                <a:cs typeface="Arvo"/>
                <a:sym typeface="Arvo"/>
              </a:rPr>
              <a:t>You can use conditional statements in your code to make your decisions. PHP supports following three decision making statements −</a:t>
            </a:r>
            <a:endParaRPr>
              <a:solidFill>
                <a:schemeClr val="dk2"/>
              </a:solidFill>
              <a:latin typeface="Arvo"/>
              <a:ea typeface="Arvo"/>
              <a:cs typeface="Arvo"/>
              <a:sym typeface="Arvo"/>
            </a:endParaRPr>
          </a:p>
          <a:p>
            <a:pPr marL="457200" lvl="0" indent="-317500" algn="just" rtl="0">
              <a:lnSpc>
                <a:spcPct val="140000"/>
              </a:lnSpc>
              <a:spcBef>
                <a:spcPts val="800"/>
              </a:spcBef>
              <a:spcAft>
                <a:spcPts val="0"/>
              </a:spcAft>
              <a:buClr>
                <a:schemeClr val="dk2"/>
              </a:buClr>
              <a:buSzPts val="1400"/>
              <a:buFont typeface="Arvo"/>
              <a:buChar char="●"/>
            </a:pPr>
            <a:r>
              <a:rPr lang="en" b="1">
                <a:solidFill>
                  <a:schemeClr val="dk2"/>
                </a:solidFill>
                <a:latin typeface="Arvo"/>
                <a:ea typeface="Arvo"/>
                <a:cs typeface="Arvo"/>
                <a:sym typeface="Arvo"/>
              </a:rPr>
              <a:t>if...else statement</a:t>
            </a:r>
            <a:r>
              <a:rPr lang="en">
                <a:solidFill>
                  <a:schemeClr val="dk2"/>
                </a:solidFill>
                <a:latin typeface="Arvo"/>
                <a:ea typeface="Arvo"/>
                <a:cs typeface="Arvo"/>
                <a:sym typeface="Arvo"/>
              </a:rPr>
              <a:t> − use this statement if you want to execute a set of code when a condition is true and another if the condition is not true</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b="1">
                <a:solidFill>
                  <a:schemeClr val="dk2"/>
                </a:solidFill>
                <a:latin typeface="Arvo"/>
                <a:ea typeface="Arvo"/>
                <a:cs typeface="Arvo"/>
                <a:sym typeface="Arvo"/>
              </a:rPr>
              <a:t>elseif statement</a:t>
            </a:r>
            <a:r>
              <a:rPr lang="en">
                <a:solidFill>
                  <a:schemeClr val="dk2"/>
                </a:solidFill>
                <a:latin typeface="Arvo"/>
                <a:ea typeface="Arvo"/>
                <a:cs typeface="Arvo"/>
                <a:sym typeface="Arvo"/>
              </a:rPr>
              <a:t> − is used with the if...else statement to execute a set of code if one of the several condition is true</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b="1">
                <a:solidFill>
                  <a:schemeClr val="dk2"/>
                </a:solidFill>
                <a:latin typeface="Arvo"/>
                <a:ea typeface="Arvo"/>
                <a:cs typeface="Arvo"/>
                <a:sym typeface="Arvo"/>
              </a:rPr>
              <a:t>switch statement</a:t>
            </a:r>
            <a:r>
              <a:rPr lang="en">
                <a:solidFill>
                  <a:schemeClr val="dk2"/>
                </a:solidFill>
                <a:latin typeface="Arvo"/>
                <a:ea typeface="Arvo"/>
                <a:cs typeface="Arvo"/>
                <a:sym typeface="Arvo"/>
              </a:rPr>
              <a:t> − is used if you want to select one of many blocks of code to be executed, use the Switch statement. The switch statement is used to avoid long blocks of if..elseif..else code.</a:t>
            </a:r>
            <a:endParaRPr>
              <a:solidFill>
                <a:schemeClr val="dk2"/>
              </a:solidFill>
              <a:latin typeface="Arvo"/>
              <a:ea typeface="Arvo"/>
              <a:cs typeface="Arvo"/>
              <a:sym typeface="Arv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5"/>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01" name="Google Shape;201;p25"/>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202" name="Google Shape;202;p25"/>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03" name="Google Shape;203;p25"/>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04" name="Google Shape;204;p25"/>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05" name="Google Shape;205;p25"/>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457200" lvl="0" indent="0" algn="just" rtl="0">
              <a:lnSpc>
                <a:spcPct val="140000"/>
              </a:lnSpc>
              <a:spcBef>
                <a:spcPts val="800"/>
              </a:spcBef>
              <a:spcAft>
                <a:spcPts val="0"/>
              </a:spcAft>
              <a:buNone/>
            </a:pPr>
            <a:r>
              <a:rPr lang="en" b="1">
                <a:solidFill>
                  <a:schemeClr val="dk2"/>
                </a:solidFill>
                <a:latin typeface="Arvo"/>
                <a:ea typeface="Arvo"/>
                <a:cs typeface="Arvo"/>
                <a:sym typeface="Arvo"/>
              </a:rPr>
              <a:t>IF Else Condition</a:t>
            </a:r>
            <a:endParaRPr b="1">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r>
              <a:rPr lang="en">
                <a:solidFill>
                  <a:schemeClr val="dk2"/>
                </a:solidFill>
                <a:latin typeface="Arvo"/>
                <a:ea typeface="Arvo"/>
                <a:cs typeface="Arvo"/>
                <a:sym typeface="Arvo"/>
              </a:rPr>
              <a:t>If you want to execute some code if a condition is true and another code if a condition is false, use the if....else statement.</a:t>
            </a: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r>
              <a:rPr lang="en">
                <a:solidFill>
                  <a:schemeClr val="dk2"/>
                </a:solidFill>
                <a:latin typeface="Arvo"/>
                <a:ea typeface="Arvo"/>
                <a:cs typeface="Arvo"/>
                <a:sym typeface="Arvo"/>
              </a:rPr>
              <a:t>Syntax</a:t>
            </a: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206" name="Google Shape;206;p25"/>
          <p:cNvPicPr preferRelativeResize="0"/>
          <p:nvPr/>
        </p:nvPicPr>
        <p:blipFill rotWithShape="1">
          <a:blip r:embed="rId5">
            <a:alphaModFix/>
          </a:blip>
          <a:srcRect/>
          <a:stretch/>
        </p:blipFill>
        <p:spPr>
          <a:xfrm>
            <a:off x="2884075" y="2765638"/>
            <a:ext cx="4495800" cy="1114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12" name="Google Shape;212;p26"/>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213" name="Google Shape;213;p26"/>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14" name="Google Shape;214;p26"/>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15" name="Google Shape;215;p26"/>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16" name="Google Shape;216;p26"/>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457200" lvl="0" indent="0" algn="just" rtl="0">
              <a:lnSpc>
                <a:spcPct val="140000"/>
              </a:lnSpc>
              <a:spcBef>
                <a:spcPts val="800"/>
              </a:spcBef>
              <a:spcAft>
                <a:spcPts val="0"/>
              </a:spcAft>
              <a:buNone/>
            </a:pPr>
            <a:r>
              <a:rPr lang="en">
                <a:solidFill>
                  <a:schemeClr val="dk2"/>
                </a:solidFill>
                <a:latin typeface="Arvo"/>
                <a:ea typeface="Arvo"/>
                <a:cs typeface="Arvo"/>
                <a:sym typeface="Arvo"/>
              </a:rPr>
              <a:t>Example</a:t>
            </a:r>
            <a:endParaRPr>
              <a:solidFill>
                <a:schemeClr val="dk2"/>
              </a:solidFill>
              <a:latin typeface="Arvo"/>
              <a:ea typeface="Arvo"/>
              <a:cs typeface="Arvo"/>
              <a:sym typeface="Arvo"/>
            </a:endParaRPr>
          </a:p>
        </p:txBody>
      </p:sp>
      <p:pic>
        <p:nvPicPr>
          <p:cNvPr id="217" name="Google Shape;217;p26"/>
          <p:cNvPicPr preferRelativeResize="0"/>
          <p:nvPr/>
        </p:nvPicPr>
        <p:blipFill rotWithShape="1">
          <a:blip r:embed="rId5">
            <a:alphaModFix/>
          </a:blip>
          <a:srcRect/>
          <a:stretch/>
        </p:blipFill>
        <p:spPr>
          <a:xfrm>
            <a:off x="3934513" y="1310200"/>
            <a:ext cx="3971925" cy="3695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7"/>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23" name="Google Shape;223;p27"/>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224" name="Google Shape;224;p27"/>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25" name="Google Shape;225;p27"/>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26" name="Google Shape;226;p27"/>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27" name="Google Shape;227;p27"/>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b="1">
                <a:solidFill>
                  <a:schemeClr val="dk2"/>
                </a:solidFill>
                <a:latin typeface="Arvo"/>
                <a:ea typeface="Arvo"/>
                <a:cs typeface="Arvo"/>
                <a:sym typeface="Arvo"/>
              </a:rPr>
              <a:t>If ElseIf Condition</a:t>
            </a:r>
            <a:endParaRPr b="1">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If you want to execute some code if one of the several conditions are true use the elseif statement</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Syntax</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2800"/>
              <a:buFont typeface="Arial"/>
              <a:buNone/>
            </a:pP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b="1">
              <a:solidFill>
                <a:schemeClr val="dk2"/>
              </a:solidFill>
              <a:latin typeface="Arvo"/>
              <a:ea typeface="Arvo"/>
              <a:cs typeface="Arvo"/>
              <a:sym typeface="Arvo"/>
            </a:endParaRPr>
          </a:p>
        </p:txBody>
      </p:sp>
      <p:pic>
        <p:nvPicPr>
          <p:cNvPr id="228" name="Google Shape;228;p27"/>
          <p:cNvPicPr preferRelativeResize="0"/>
          <p:nvPr/>
        </p:nvPicPr>
        <p:blipFill rotWithShape="1">
          <a:blip r:embed="rId5">
            <a:alphaModFix/>
          </a:blip>
          <a:srcRect/>
          <a:stretch/>
        </p:blipFill>
        <p:spPr>
          <a:xfrm>
            <a:off x="3546563" y="2571750"/>
            <a:ext cx="4714875" cy="1638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8"/>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34" name="Google Shape;234;p28"/>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dirty="0">
              <a:solidFill>
                <a:schemeClr val="dk1"/>
              </a:solidFill>
            </a:endParaRPr>
          </a:p>
          <a:p>
            <a:pPr marL="0" lvl="0" indent="0" algn="l" rtl="0">
              <a:lnSpc>
                <a:spcPct val="115000"/>
              </a:lnSpc>
              <a:spcBef>
                <a:spcPts val="0"/>
              </a:spcBef>
              <a:spcAft>
                <a:spcPts val="0"/>
              </a:spcAft>
              <a:buNone/>
            </a:pPr>
            <a:endParaRPr sz="9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dirty="0">
                <a:solidFill>
                  <a:schemeClr val="dk1"/>
                </a:solidFill>
              </a:rPr>
              <a:t>1</a:t>
            </a:r>
            <a:r>
              <a:rPr lang="en" sz="1000" dirty="0">
                <a:solidFill>
                  <a:schemeClr val="dk1"/>
                </a:solidFill>
              </a:rPr>
              <a:t>. Introduction to PHP</a:t>
            </a:r>
            <a:endParaRPr sz="10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dirty="0">
                <a:solidFill>
                  <a:schemeClr val="dk1"/>
                </a:solidFill>
              </a:rPr>
              <a:t>2. PHP Variables</a:t>
            </a:r>
            <a:endParaRPr sz="10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dirty="0">
                <a:solidFill>
                  <a:schemeClr val="dk1"/>
                </a:solidFill>
              </a:rPr>
              <a:t>3. PHP Data Types</a:t>
            </a:r>
            <a:endParaRPr sz="10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dirty="0">
                <a:solidFill>
                  <a:schemeClr val="dk1"/>
                </a:solidFill>
              </a:rPr>
              <a:t>4. PHP Conditions/Loop</a:t>
            </a:r>
            <a:endParaRPr sz="10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dirty="0">
                <a:solidFill>
                  <a:schemeClr val="dk1"/>
                </a:solidFill>
              </a:rPr>
              <a:t>5. PHP Arrays</a:t>
            </a:r>
            <a:endParaRPr sz="10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dirty="0">
                <a:solidFill>
                  <a:schemeClr val="dk1"/>
                </a:solidFill>
              </a:rPr>
              <a:t>6. PHP Functions</a:t>
            </a:r>
            <a:endParaRPr sz="1000" dirty="0">
              <a:solidFill>
                <a:schemeClr val="dk1"/>
              </a:solidFill>
            </a:endParaRPr>
          </a:p>
          <a:p>
            <a:pPr marL="0" lvl="0" indent="0" algn="l" rtl="0">
              <a:spcBef>
                <a:spcPts val="0"/>
              </a:spcBef>
              <a:spcAft>
                <a:spcPts val="0"/>
              </a:spcAft>
              <a:buNone/>
            </a:pPr>
            <a:endParaRPr sz="1000" dirty="0">
              <a:solidFill>
                <a:schemeClr val="dk1"/>
              </a:solidFill>
            </a:endParaRPr>
          </a:p>
          <a:p>
            <a:pPr marL="0" lvl="0" indent="0" algn="l" rtl="0">
              <a:spcBef>
                <a:spcPts val="0"/>
              </a:spcBef>
              <a:spcAft>
                <a:spcPts val="0"/>
              </a:spcAft>
              <a:buNone/>
            </a:pPr>
            <a:r>
              <a:rPr lang="en" sz="1000" dirty="0">
                <a:solidFill>
                  <a:schemeClr val="dk1"/>
                </a:solidFill>
              </a:rPr>
              <a:t>2. Learn more</a:t>
            </a:r>
            <a:endParaRPr sz="1000" dirty="0">
              <a:solidFill>
                <a:schemeClr val="dk1"/>
              </a:solidFill>
            </a:endParaRPr>
          </a:p>
          <a:p>
            <a:pPr marL="330200" marR="0" lvl="0" indent="-171450" algn="l" rtl="0">
              <a:lnSpc>
                <a:spcPct val="115000"/>
              </a:lnSpc>
              <a:spcBef>
                <a:spcPts val="0"/>
              </a:spcBef>
              <a:spcAft>
                <a:spcPts val="0"/>
              </a:spcAft>
              <a:buSzPts val="100"/>
              <a:buAutoNum type="arabicPeriod"/>
            </a:pPr>
            <a:endParaRPr sz="100" dirty="0"/>
          </a:p>
        </p:txBody>
      </p:sp>
      <p:pic>
        <p:nvPicPr>
          <p:cNvPr id="235" name="Google Shape;235;p28"/>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36" name="Google Shape;236;p28"/>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37" name="Google Shape;237;p28"/>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38" name="Google Shape;238;p28"/>
          <p:cNvSpPr txBox="1"/>
          <p:nvPr/>
        </p:nvSpPr>
        <p:spPr>
          <a:xfrm>
            <a:off x="2240700" y="979152"/>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Example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b="1">
              <a:solidFill>
                <a:schemeClr val="dk2"/>
              </a:solidFill>
              <a:latin typeface="Arvo"/>
              <a:ea typeface="Arvo"/>
              <a:cs typeface="Arvo"/>
              <a:sym typeface="Arvo"/>
            </a:endParaRPr>
          </a:p>
        </p:txBody>
      </p:sp>
      <p:pic>
        <p:nvPicPr>
          <p:cNvPr id="239" name="Google Shape;239;p28"/>
          <p:cNvPicPr preferRelativeResize="0"/>
          <p:nvPr/>
        </p:nvPicPr>
        <p:blipFill rotWithShape="1">
          <a:blip r:embed="rId5">
            <a:alphaModFix/>
          </a:blip>
          <a:srcRect/>
          <a:stretch/>
        </p:blipFill>
        <p:spPr>
          <a:xfrm>
            <a:off x="3708274" y="1146801"/>
            <a:ext cx="4804650" cy="4062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9"/>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45" name="Google Shape;245;p29"/>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246" name="Google Shape;246;p29"/>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47" name="Google Shape;247;p29"/>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48" name="Google Shape;248;p29"/>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49" name="Google Shape;249;p29"/>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b="1">
                <a:solidFill>
                  <a:schemeClr val="dk2"/>
                </a:solidFill>
                <a:latin typeface="Arvo"/>
                <a:ea typeface="Arvo"/>
                <a:cs typeface="Arvo"/>
                <a:sym typeface="Arvo"/>
              </a:rPr>
              <a:t>The Switch Condition</a:t>
            </a:r>
            <a:endParaRPr b="1">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If you want to select one of many blocks of code to be executed, use the Switch statement.</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The switch statement is used to avoid long blocks of if..elseif..else code.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Syntax</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b="1">
              <a:solidFill>
                <a:schemeClr val="dk2"/>
              </a:solidFill>
              <a:latin typeface="Arvo"/>
              <a:ea typeface="Arvo"/>
              <a:cs typeface="Arvo"/>
              <a:sym typeface="Arvo"/>
            </a:endParaRPr>
          </a:p>
        </p:txBody>
      </p:sp>
      <p:pic>
        <p:nvPicPr>
          <p:cNvPr id="250" name="Google Shape;250;p29"/>
          <p:cNvPicPr preferRelativeResize="0"/>
          <p:nvPr/>
        </p:nvPicPr>
        <p:blipFill rotWithShape="1">
          <a:blip r:embed="rId5">
            <a:alphaModFix/>
          </a:blip>
          <a:srcRect/>
          <a:stretch/>
        </p:blipFill>
        <p:spPr>
          <a:xfrm>
            <a:off x="3877347" y="2571747"/>
            <a:ext cx="4376701" cy="2692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0"/>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56" name="Google Shape;256;p30"/>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257" name="Google Shape;257;p30"/>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58" name="Google Shape;258;p30"/>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59" name="Google Shape;259;p30"/>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60" name="Google Shape;260;p30"/>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Example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b="1">
              <a:solidFill>
                <a:schemeClr val="dk2"/>
              </a:solidFill>
              <a:latin typeface="Arvo"/>
              <a:ea typeface="Arvo"/>
              <a:cs typeface="Arvo"/>
              <a:sym typeface="Arvo"/>
            </a:endParaRPr>
          </a:p>
        </p:txBody>
      </p:sp>
      <p:pic>
        <p:nvPicPr>
          <p:cNvPr id="261" name="Google Shape;261;p30"/>
          <p:cNvPicPr preferRelativeResize="0"/>
          <p:nvPr/>
        </p:nvPicPr>
        <p:blipFill rotWithShape="1">
          <a:blip r:embed="rId5">
            <a:alphaModFix/>
          </a:blip>
          <a:srcRect/>
          <a:stretch/>
        </p:blipFill>
        <p:spPr>
          <a:xfrm>
            <a:off x="4083075" y="1047950"/>
            <a:ext cx="2735250" cy="4017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1"/>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67" name="Google Shape;267;p31"/>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268" name="Google Shape;268;p31"/>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69" name="Google Shape;269;p31"/>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70" name="Google Shape;270;p31"/>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71" name="Google Shape;271;p31"/>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lnSpcReduction="20000"/>
          </a:bodyPr>
          <a:lstStyle/>
          <a:p>
            <a:pPr marL="0" lvl="0" indent="0" algn="just" rtl="0">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Loops in PHP are used to execute the same block of code a specified number of times. PHP supports following four loop types.</a:t>
            </a:r>
            <a:endParaRPr>
              <a:solidFill>
                <a:schemeClr val="dk2"/>
              </a:solidFill>
              <a:latin typeface="Arvo"/>
              <a:ea typeface="Arvo"/>
              <a:cs typeface="Arvo"/>
              <a:sym typeface="Arvo"/>
            </a:endParaRPr>
          </a:p>
          <a:p>
            <a:pPr marL="457200" lvl="0" indent="-317500" algn="just" rtl="0">
              <a:lnSpc>
                <a:spcPct val="140000"/>
              </a:lnSpc>
              <a:spcBef>
                <a:spcPts val="800"/>
              </a:spcBef>
              <a:spcAft>
                <a:spcPts val="0"/>
              </a:spcAft>
              <a:buClr>
                <a:schemeClr val="dk2"/>
              </a:buClr>
              <a:buSzPts val="1400"/>
              <a:buFont typeface="Arvo"/>
              <a:buChar char="●"/>
            </a:pPr>
            <a:r>
              <a:rPr lang="en" b="1">
                <a:solidFill>
                  <a:schemeClr val="dk2"/>
                </a:solidFill>
                <a:latin typeface="Arvo"/>
                <a:ea typeface="Arvo"/>
                <a:cs typeface="Arvo"/>
                <a:sym typeface="Arvo"/>
              </a:rPr>
              <a:t>for </a:t>
            </a:r>
            <a:r>
              <a:rPr lang="en">
                <a:solidFill>
                  <a:schemeClr val="dk2"/>
                </a:solidFill>
                <a:latin typeface="Arvo"/>
                <a:ea typeface="Arvo"/>
                <a:cs typeface="Arvo"/>
                <a:sym typeface="Arvo"/>
              </a:rPr>
              <a:t>− loops through a block of code a specified number of times.</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b="1">
                <a:solidFill>
                  <a:schemeClr val="dk2"/>
                </a:solidFill>
                <a:latin typeface="Arvo"/>
                <a:ea typeface="Arvo"/>
                <a:cs typeface="Arvo"/>
                <a:sym typeface="Arvo"/>
              </a:rPr>
              <a:t>while </a:t>
            </a:r>
            <a:r>
              <a:rPr lang="en">
                <a:solidFill>
                  <a:schemeClr val="dk2"/>
                </a:solidFill>
                <a:latin typeface="Arvo"/>
                <a:ea typeface="Arvo"/>
                <a:cs typeface="Arvo"/>
                <a:sym typeface="Arvo"/>
              </a:rPr>
              <a:t>− loops through a block of code if and as long as a specified condition is true.</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b="1">
                <a:solidFill>
                  <a:schemeClr val="dk2"/>
                </a:solidFill>
                <a:latin typeface="Arvo"/>
                <a:ea typeface="Arvo"/>
                <a:cs typeface="Arvo"/>
                <a:sym typeface="Arvo"/>
              </a:rPr>
              <a:t>do...while</a:t>
            </a:r>
            <a:r>
              <a:rPr lang="en">
                <a:solidFill>
                  <a:schemeClr val="dk2"/>
                </a:solidFill>
                <a:latin typeface="Arvo"/>
                <a:ea typeface="Arvo"/>
                <a:cs typeface="Arvo"/>
                <a:sym typeface="Arvo"/>
              </a:rPr>
              <a:t> − loops through a block of code once, and then repeats the loop as long as a special condition is true.</a:t>
            </a:r>
            <a:endParaRPr>
              <a:solidFill>
                <a:schemeClr val="dk2"/>
              </a:solidFill>
              <a:latin typeface="Arvo"/>
              <a:ea typeface="Arvo"/>
              <a:cs typeface="Arvo"/>
              <a:sym typeface="Arvo"/>
            </a:endParaRPr>
          </a:p>
          <a:p>
            <a:pPr marL="457200" lvl="0" indent="-317500" algn="just" rtl="0">
              <a:lnSpc>
                <a:spcPct val="140000"/>
              </a:lnSpc>
              <a:spcBef>
                <a:spcPts val="0"/>
              </a:spcBef>
              <a:spcAft>
                <a:spcPts val="0"/>
              </a:spcAft>
              <a:buClr>
                <a:schemeClr val="dk2"/>
              </a:buClr>
              <a:buSzPts val="1400"/>
              <a:buFont typeface="Arvo"/>
              <a:buChar char="●"/>
            </a:pPr>
            <a:r>
              <a:rPr lang="en" b="1">
                <a:solidFill>
                  <a:schemeClr val="dk2"/>
                </a:solidFill>
                <a:latin typeface="Arvo"/>
                <a:ea typeface="Arvo"/>
                <a:cs typeface="Arvo"/>
                <a:sym typeface="Arvo"/>
              </a:rPr>
              <a:t>foreach </a:t>
            </a:r>
            <a:r>
              <a:rPr lang="en">
                <a:solidFill>
                  <a:schemeClr val="dk2"/>
                </a:solidFill>
                <a:latin typeface="Arvo"/>
                <a:ea typeface="Arvo"/>
                <a:cs typeface="Arvo"/>
                <a:sym typeface="Arvo"/>
              </a:rPr>
              <a:t>− loops through a block of code for each element in an array.</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457200" lvl="0" indent="0" algn="just" rtl="0">
              <a:lnSpc>
                <a:spcPct val="140000"/>
              </a:lnSpc>
              <a:spcBef>
                <a:spcPts val="800"/>
              </a:spcBef>
              <a:spcAft>
                <a:spcPts val="0"/>
              </a:spcAft>
              <a:buNone/>
            </a:pPr>
            <a:endParaRPr b="1">
              <a:solidFill>
                <a:schemeClr val="dk2"/>
              </a:solidFill>
              <a:latin typeface="Arvo"/>
              <a:ea typeface="Arvo"/>
              <a:cs typeface="Arvo"/>
              <a:sym typeface="Arv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2"/>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77" name="Google Shape;277;p32"/>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278" name="Google Shape;278;p32"/>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79" name="Google Shape;279;p32"/>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80" name="Google Shape;280;p32"/>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81" name="Google Shape;281;p32"/>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b="1">
                <a:solidFill>
                  <a:schemeClr val="dk2"/>
                </a:solidFill>
                <a:latin typeface="Arvo"/>
                <a:ea typeface="Arvo"/>
                <a:cs typeface="Arvo"/>
                <a:sym typeface="Arvo"/>
              </a:rPr>
              <a:t>For Loop</a:t>
            </a:r>
            <a:endParaRPr b="1">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The for statement is used when you know how many times you want to execute a statement or a block of statements.</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2800"/>
              <a:buFont typeface="Arial"/>
              <a:buNone/>
            </a:pPr>
            <a:r>
              <a:rPr lang="en">
                <a:solidFill>
                  <a:schemeClr val="dk2"/>
                </a:solidFill>
                <a:latin typeface="Arvo"/>
                <a:ea typeface="Arvo"/>
                <a:cs typeface="Arvo"/>
                <a:sym typeface="Arvo"/>
              </a:rPr>
              <a:t>Syntax</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282" name="Google Shape;282;p32"/>
          <p:cNvPicPr preferRelativeResize="0"/>
          <p:nvPr/>
        </p:nvPicPr>
        <p:blipFill rotWithShape="1">
          <a:blip r:embed="rId5">
            <a:alphaModFix/>
          </a:blip>
          <a:srcRect/>
          <a:stretch/>
        </p:blipFill>
        <p:spPr>
          <a:xfrm>
            <a:off x="3001988" y="3071438"/>
            <a:ext cx="4352925" cy="733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3"/>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88" name="Google Shape;288;p33"/>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289" name="Google Shape;289;p33"/>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290" name="Google Shape;290;p33"/>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291" name="Google Shape;291;p33"/>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292" name="Google Shape;292;p33"/>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Example:</a:t>
            </a:r>
            <a:endParaRPr>
              <a:solidFill>
                <a:schemeClr val="dk2"/>
              </a:solidFill>
              <a:latin typeface="Arvo"/>
              <a:ea typeface="Arvo"/>
              <a:cs typeface="Arvo"/>
              <a:sym typeface="Arvo"/>
            </a:endParaRPr>
          </a:p>
        </p:txBody>
      </p:sp>
      <p:pic>
        <p:nvPicPr>
          <p:cNvPr id="293" name="Google Shape;293;p33"/>
          <p:cNvPicPr preferRelativeResize="0"/>
          <p:nvPr/>
        </p:nvPicPr>
        <p:blipFill rotWithShape="1">
          <a:blip r:embed="rId5">
            <a:alphaModFix/>
          </a:blip>
          <a:srcRect/>
          <a:stretch/>
        </p:blipFill>
        <p:spPr>
          <a:xfrm>
            <a:off x="3241924" y="1205749"/>
            <a:ext cx="5358600" cy="3639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4"/>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299" name="Google Shape;299;p34"/>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00" name="Google Shape;300;p34"/>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01" name="Google Shape;301;p34"/>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02" name="Google Shape;302;p34"/>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03" name="Google Shape;303;p34"/>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fontScale="85000" lnSpcReduction="10000"/>
          </a:bodyPr>
          <a:lstStyle/>
          <a:p>
            <a:pPr marL="0" lvl="0" indent="0" algn="just" rtl="0">
              <a:lnSpc>
                <a:spcPct val="140000"/>
              </a:lnSpc>
              <a:spcBef>
                <a:spcPts val="800"/>
              </a:spcBef>
              <a:spcAft>
                <a:spcPts val="0"/>
              </a:spcAft>
              <a:buNone/>
            </a:pPr>
            <a:r>
              <a:rPr lang="en" b="1">
                <a:solidFill>
                  <a:schemeClr val="dk2"/>
                </a:solidFill>
                <a:latin typeface="Arvo"/>
                <a:ea typeface="Arvo"/>
                <a:cs typeface="Arvo"/>
                <a:sym typeface="Arvo"/>
              </a:rPr>
              <a:t>The While Loop:</a:t>
            </a:r>
            <a:endParaRPr b="1">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r>
              <a:rPr lang="en">
                <a:solidFill>
                  <a:schemeClr val="dk2"/>
                </a:solidFill>
                <a:latin typeface="Arvo"/>
                <a:ea typeface="Arvo"/>
                <a:cs typeface="Arvo"/>
                <a:sym typeface="Arvo"/>
              </a:rPr>
              <a:t>The while statement will execute a block of code if and as long as a test expression is true.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r>
              <a:rPr lang="en">
                <a:solidFill>
                  <a:schemeClr val="dk2"/>
                </a:solidFill>
                <a:latin typeface="Arvo"/>
                <a:ea typeface="Arvo"/>
                <a:cs typeface="Arvo"/>
                <a:sym typeface="Arvo"/>
              </a:rPr>
              <a:t>If the test expression is true then the code block will be executed. After the code has executed the test expression will again be evaluated and the loop will continue until the test expression is found to be false.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r>
              <a:rPr lang="en">
                <a:solidFill>
                  <a:schemeClr val="dk2"/>
                </a:solidFill>
                <a:latin typeface="Arvo"/>
                <a:ea typeface="Arvo"/>
                <a:cs typeface="Arvo"/>
                <a:sym typeface="Arvo"/>
              </a:rPr>
              <a:t>Syntax</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304" name="Google Shape;304;p34"/>
          <p:cNvPicPr preferRelativeResize="0"/>
          <p:nvPr/>
        </p:nvPicPr>
        <p:blipFill rotWithShape="1">
          <a:blip r:embed="rId5">
            <a:alphaModFix/>
          </a:blip>
          <a:srcRect/>
          <a:stretch/>
        </p:blipFill>
        <p:spPr>
          <a:xfrm>
            <a:off x="3816763" y="3116563"/>
            <a:ext cx="2543175" cy="828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310" name="Google Shape;310;p35"/>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11" name="Google Shape;311;p35"/>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12" name="Google Shape;312;p35"/>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13" name="Google Shape;313;p35"/>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14" name="Google Shape;314;p35"/>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315" name="Google Shape;315;p35"/>
          <p:cNvPicPr preferRelativeResize="0"/>
          <p:nvPr/>
        </p:nvPicPr>
        <p:blipFill rotWithShape="1">
          <a:blip r:embed="rId5">
            <a:alphaModFix/>
          </a:blip>
          <a:srcRect/>
          <a:stretch/>
        </p:blipFill>
        <p:spPr>
          <a:xfrm>
            <a:off x="2693138" y="1254363"/>
            <a:ext cx="5819775" cy="3876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6"/>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321" name="Google Shape;321;p36"/>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22" name="Google Shape;322;p36"/>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23" name="Google Shape;323;p36"/>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24" name="Google Shape;324;p36"/>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25" name="Google Shape;325;p36"/>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b="1">
                <a:solidFill>
                  <a:schemeClr val="dk2"/>
                </a:solidFill>
                <a:latin typeface="Arvo"/>
                <a:ea typeface="Arvo"/>
                <a:cs typeface="Arvo"/>
                <a:sym typeface="Arvo"/>
              </a:rPr>
              <a:t>Do While Loop</a:t>
            </a:r>
            <a:endParaRPr b="1">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2800"/>
              <a:buFont typeface="Arial"/>
              <a:buNone/>
            </a:pPr>
            <a:r>
              <a:rPr lang="en">
                <a:solidFill>
                  <a:schemeClr val="dk2"/>
                </a:solidFill>
                <a:latin typeface="Arvo"/>
                <a:ea typeface="Arvo"/>
                <a:cs typeface="Arvo"/>
                <a:sym typeface="Arvo"/>
              </a:rPr>
              <a:t>The do...while statement will execute a block of code at least once - it then will repeat the loop as long as a condition is true.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Syntax</a:t>
            </a:r>
            <a:endParaRPr>
              <a:solidFill>
                <a:schemeClr val="dk2"/>
              </a:solidFill>
              <a:latin typeface="Arvo"/>
              <a:ea typeface="Arvo"/>
              <a:cs typeface="Arvo"/>
              <a:sym typeface="Arvo"/>
            </a:endParaRPr>
          </a:p>
        </p:txBody>
      </p:sp>
      <p:pic>
        <p:nvPicPr>
          <p:cNvPr id="326" name="Google Shape;326;p36"/>
          <p:cNvPicPr preferRelativeResize="0"/>
          <p:nvPr/>
        </p:nvPicPr>
        <p:blipFill rotWithShape="1">
          <a:blip r:embed="rId5">
            <a:alphaModFix/>
          </a:blip>
          <a:srcRect/>
          <a:stretch/>
        </p:blipFill>
        <p:spPr>
          <a:xfrm>
            <a:off x="4039425" y="3026275"/>
            <a:ext cx="2457450" cy="1009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7"/>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332" name="Google Shape;332;p37"/>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33" name="Google Shape;333;p37"/>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34" name="Google Shape;334;p37"/>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35" name="Google Shape;335;p37"/>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36" name="Google Shape;336;p37"/>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337" name="Google Shape;337;p37"/>
          <p:cNvPicPr preferRelativeResize="0"/>
          <p:nvPr/>
        </p:nvPicPr>
        <p:blipFill rotWithShape="1">
          <a:blip r:embed="rId5">
            <a:alphaModFix/>
          </a:blip>
          <a:srcRect/>
          <a:stretch/>
        </p:blipFill>
        <p:spPr>
          <a:xfrm>
            <a:off x="3683738" y="1146800"/>
            <a:ext cx="4829175" cy="3924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8"/>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343" name="Google Shape;343;p38"/>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44" name="Google Shape;344;p38"/>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45" name="Google Shape;345;p38"/>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46" name="Google Shape;346;p38"/>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47" name="Google Shape;347;p38"/>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The foreach statement is used to loop through arrays. For each pass the value of the current array element is assigned to $value and the array pointer is moved by one and in the next pass next element will be processed.</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Syntax</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348" name="Google Shape;348;p38"/>
          <p:cNvPicPr preferRelativeResize="0"/>
          <p:nvPr/>
        </p:nvPicPr>
        <p:blipFill rotWithShape="1">
          <a:blip r:embed="rId5">
            <a:alphaModFix/>
          </a:blip>
          <a:srcRect/>
          <a:stretch/>
        </p:blipFill>
        <p:spPr>
          <a:xfrm>
            <a:off x="3421513" y="2872100"/>
            <a:ext cx="2981325" cy="781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9"/>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Conditions/Loop</a:t>
            </a:r>
            <a:endParaRPr sz="2300"/>
          </a:p>
        </p:txBody>
      </p:sp>
      <p:sp>
        <p:nvSpPr>
          <p:cNvPr id="354" name="Google Shape;354;p39"/>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4. PHP Conditions/Loop</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55" name="Google Shape;355;p39"/>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56" name="Google Shape;356;p39"/>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57" name="Google Shape;357;p39"/>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58" name="Google Shape;358;p39"/>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359" name="Google Shape;359;p39"/>
          <p:cNvPicPr preferRelativeResize="0"/>
          <p:nvPr/>
        </p:nvPicPr>
        <p:blipFill rotWithShape="1">
          <a:blip r:embed="rId5">
            <a:alphaModFix/>
          </a:blip>
          <a:srcRect/>
          <a:stretch/>
        </p:blipFill>
        <p:spPr>
          <a:xfrm>
            <a:off x="3949500" y="1386800"/>
            <a:ext cx="4248150" cy="2971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0"/>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Arrays</a:t>
            </a:r>
            <a:endParaRPr sz="2300"/>
          </a:p>
        </p:txBody>
      </p:sp>
      <p:sp>
        <p:nvSpPr>
          <p:cNvPr id="365" name="Google Shape;365;p40"/>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5. PHP Arrays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66" name="Google Shape;366;p40"/>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67" name="Google Shape;367;p40"/>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68" name="Google Shape;368;p40"/>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69" name="Google Shape;369;p40"/>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fontScale="92500" lnSpcReduction="10000"/>
          </a:bodyPr>
          <a:lstStyle/>
          <a:p>
            <a:pPr marL="0" lvl="0" indent="0" algn="just" rtl="0">
              <a:lnSpc>
                <a:spcPct val="140000"/>
              </a:lnSpc>
              <a:spcBef>
                <a:spcPts val="800"/>
              </a:spcBef>
              <a:spcAft>
                <a:spcPts val="0"/>
              </a:spcAft>
              <a:buClr>
                <a:schemeClr val="dk1"/>
              </a:buClr>
              <a:buSzPct val="78571"/>
              <a:buFont typeface="Arial"/>
              <a:buNone/>
            </a:pPr>
            <a:r>
              <a:rPr lang="en">
                <a:solidFill>
                  <a:schemeClr val="dk2"/>
                </a:solidFill>
                <a:latin typeface="Arvo"/>
                <a:ea typeface="Arvo"/>
                <a:cs typeface="Arvo"/>
                <a:sym typeface="Arvo"/>
              </a:rPr>
              <a:t>An array is a data structure that stores one or more similar type of values in a single value. For example if you want to store 100 numbers then instead of defining 100 variables it's easy to define an array of 100 length.</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78571"/>
              <a:buFont typeface="Arial"/>
              <a:buNone/>
            </a:pPr>
            <a:r>
              <a:rPr lang="en">
                <a:solidFill>
                  <a:schemeClr val="dk2"/>
                </a:solidFill>
                <a:latin typeface="Arvo"/>
                <a:ea typeface="Arvo"/>
                <a:cs typeface="Arvo"/>
                <a:sym typeface="Arvo"/>
              </a:rPr>
              <a:t>There are three different kind of arrays and each array value is accessed using an ID  which is called array index.</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78571"/>
              <a:buFont typeface="Arial"/>
              <a:buNone/>
            </a:pPr>
            <a:r>
              <a:rPr lang="en" b="1">
                <a:solidFill>
                  <a:schemeClr val="dk2"/>
                </a:solidFill>
                <a:latin typeface="Arvo"/>
                <a:ea typeface="Arvo"/>
                <a:cs typeface="Arvo"/>
                <a:sym typeface="Arvo"/>
              </a:rPr>
              <a:t>Numeric array</a:t>
            </a:r>
            <a:r>
              <a:rPr lang="en">
                <a:solidFill>
                  <a:schemeClr val="dk2"/>
                </a:solidFill>
                <a:latin typeface="Arvo"/>
                <a:ea typeface="Arvo"/>
                <a:cs typeface="Arvo"/>
                <a:sym typeface="Arvo"/>
              </a:rPr>
              <a:t> − An array with a numeric index. Values are stored and accessed in linear fashion.</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78571"/>
              <a:buFont typeface="Arial"/>
              <a:buNone/>
            </a:pPr>
            <a:r>
              <a:rPr lang="en" b="1">
                <a:solidFill>
                  <a:schemeClr val="dk2"/>
                </a:solidFill>
                <a:latin typeface="Arvo"/>
                <a:ea typeface="Arvo"/>
                <a:cs typeface="Arvo"/>
                <a:sym typeface="Arvo"/>
              </a:rPr>
              <a:t>Associative array</a:t>
            </a:r>
            <a:r>
              <a:rPr lang="en">
                <a:solidFill>
                  <a:schemeClr val="dk2"/>
                </a:solidFill>
                <a:latin typeface="Arvo"/>
                <a:ea typeface="Arvo"/>
                <a:cs typeface="Arvo"/>
                <a:sym typeface="Arvo"/>
              </a:rPr>
              <a:t> − An array with strings as index. This stores element values in association with key values rather than in a strict linear index order.</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b="1">
                <a:solidFill>
                  <a:schemeClr val="dk2"/>
                </a:solidFill>
                <a:latin typeface="Arvo"/>
                <a:ea typeface="Arvo"/>
                <a:cs typeface="Arvo"/>
                <a:sym typeface="Arvo"/>
              </a:rPr>
              <a:t>Multidimensional array</a:t>
            </a:r>
            <a:r>
              <a:rPr lang="en">
                <a:solidFill>
                  <a:schemeClr val="dk2"/>
                </a:solidFill>
                <a:latin typeface="Arvo"/>
                <a:ea typeface="Arvo"/>
                <a:cs typeface="Arvo"/>
                <a:sym typeface="Arvo"/>
              </a:rPr>
              <a:t> − An array containing one or more arrays and values are accessed using multiple indices</a:t>
            </a:r>
            <a:endParaRPr>
              <a:solidFill>
                <a:schemeClr val="dk2"/>
              </a:solidFill>
              <a:latin typeface="Arvo"/>
              <a:ea typeface="Arvo"/>
              <a:cs typeface="Arvo"/>
              <a:sym typeface="Arv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1"/>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Arrays</a:t>
            </a:r>
            <a:endParaRPr sz="2300"/>
          </a:p>
        </p:txBody>
      </p:sp>
      <p:sp>
        <p:nvSpPr>
          <p:cNvPr id="375" name="Google Shape;375;p41"/>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5. PHP Arrays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76" name="Google Shape;376;p41"/>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77" name="Google Shape;377;p41"/>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78" name="Google Shape;378;p41"/>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79" name="Google Shape;379;p41"/>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Clr>
                <a:schemeClr val="dk1"/>
              </a:buClr>
              <a:buSzPts val="2800"/>
              <a:buFont typeface="Arial"/>
              <a:buNone/>
            </a:pPr>
            <a:r>
              <a:rPr lang="en" b="1">
                <a:solidFill>
                  <a:schemeClr val="dk2"/>
                </a:solidFill>
                <a:latin typeface="Arvo"/>
                <a:ea typeface="Arvo"/>
                <a:cs typeface="Arvo"/>
                <a:sym typeface="Arvo"/>
              </a:rPr>
              <a:t>Numeric Array</a:t>
            </a:r>
            <a:endParaRPr b="1">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2800"/>
              <a:buFont typeface="Arial"/>
              <a:buNone/>
            </a:pPr>
            <a:r>
              <a:rPr lang="en">
                <a:solidFill>
                  <a:schemeClr val="dk2"/>
                </a:solidFill>
                <a:latin typeface="Arvo"/>
                <a:ea typeface="Arvo"/>
                <a:cs typeface="Arvo"/>
                <a:sym typeface="Arvo"/>
              </a:rPr>
              <a:t>These arrays can store numbers, strings and any object but their index will be represented by numbers. By default array index starts from zero.</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2800"/>
              <a:buFont typeface="Arial"/>
              <a:buNone/>
            </a:pPr>
            <a:r>
              <a:rPr lang="en">
                <a:solidFill>
                  <a:schemeClr val="dk2"/>
                </a:solidFill>
                <a:latin typeface="Arvo"/>
                <a:ea typeface="Arvo"/>
                <a:cs typeface="Arvo"/>
                <a:sym typeface="Arvo"/>
              </a:rPr>
              <a:t>Example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Following is the example showing how to create and access numeric arrays.</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Here we have used array() function to create array. This function is explained in function reference.</a:t>
            </a:r>
            <a:endParaRPr>
              <a:solidFill>
                <a:schemeClr val="dk2"/>
              </a:solidFill>
              <a:latin typeface="Arvo"/>
              <a:ea typeface="Arvo"/>
              <a:cs typeface="Arvo"/>
              <a:sym typeface="Arv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2"/>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Arrays</a:t>
            </a:r>
            <a:endParaRPr sz="2300"/>
          </a:p>
        </p:txBody>
      </p:sp>
      <p:sp>
        <p:nvSpPr>
          <p:cNvPr id="385" name="Google Shape;385;p42"/>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5. PHP Arrays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86" name="Google Shape;386;p42"/>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87" name="Google Shape;387;p42"/>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88" name="Google Shape;388;p42"/>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389" name="Google Shape;389;p42"/>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390" name="Google Shape;390;p42"/>
          <p:cNvPicPr preferRelativeResize="0"/>
          <p:nvPr/>
        </p:nvPicPr>
        <p:blipFill rotWithShape="1">
          <a:blip r:embed="rId5">
            <a:alphaModFix/>
          </a:blip>
          <a:srcRect/>
          <a:stretch/>
        </p:blipFill>
        <p:spPr>
          <a:xfrm>
            <a:off x="3033675" y="1063475"/>
            <a:ext cx="4582775" cy="4067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3"/>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Arrays</a:t>
            </a:r>
            <a:endParaRPr sz="2300"/>
          </a:p>
        </p:txBody>
      </p:sp>
      <p:sp>
        <p:nvSpPr>
          <p:cNvPr id="396" name="Google Shape;396;p43"/>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5. PHP Arrays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397" name="Google Shape;397;p43"/>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398" name="Google Shape;398;p43"/>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399" name="Google Shape;399;p43"/>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400" name="Google Shape;400;p43"/>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fontScale="92500" lnSpcReduction="20000"/>
          </a:bodyPr>
          <a:lstStyle/>
          <a:p>
            <a:pPr marL="0" lvl="0" indent="0" algn="just" rtl="0">
              <a:lnSpc>
                <a:spcPct val="140000"/>
              </a:lnSpc>
              <a:spcBef>
                <a:spcPts val="800"/>
              </a:spcBef>
              <a:spcAft>
                <a:spcPts val="0"/>
              </a:spcAft>
              <a:buClr>
                <a:schemeClr val="dk1"/>
              </a:buClr>
              <a:buSzPct val="200000"/>
              <a:buFont typeface="Arial"/>
              <a:buNone/>
            </a:pPr>
            <a:r>
              <a:rPr lang="en" b="1">
                <a:solidFill>
                  <a:schemeClr val="dk2"/>
                </a:solidFill>
                <a:latin typeface="Arvo"/>
                <a:ea typeface="Arvo"/>
                <a:cs typeface="Arvo"/>
                <a:sym typeface="Arvo"/>
              </a:rPr>
              <a:t>Associative Array</a:t>
            </a:r>
            <a:endParaRPr b="1">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r>
              <a:rPr lang="en">
                <a:solidFill>
                  <a:schemeClr val="dk2"/>
                </a:solidFill>
                <a:latin typeface="Arvo"/>
                <a:ea typeface="Arvo"/>
                <a:cs typeface="Arvo"/>
                <a:sym typeface="Arvo"/>
              </a:rPr>
              <a:t>The associative arrays are very similar to numeric arrays in term of functionality but they are different in terms of their index. </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r>
              <a:rPr lang="en">
                <a:solidFill>
                  <a:schemeClr val="dk2"/>
                </a:solidFill>
                <a:latin typeface="Arvo"/>
                <a:ea typeface="Arvo"/>
                <a:cs typeface="Arvo"/>
                <a:sym typeface="Arvo"/>
              </a:rPr>
              <a:t>Associative array will have their index as string so that you can establish a strong association between key and values.</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Example: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200000"/>
              <a:buFont typeface="Arial"/>
              <a:buNone/>
            </a:pPr>
            <a:r>
              <a:rPr lang="en">
                <a:solidFill>
                  <a:schemeClr val="dk2"/>
                </a:solidFill>
                <a:latin typeface="Arvo"/>
                <a:ea typeface="Arvo"/>
                <a:cs typeface="Arvo"/>
                <a:sym typeface="Arvo"/>
              </a:rPr>
              <a:t>To store the salaries of employees in an array, a numerically indexed array would not be the best choice. Instead, we could use the employees names as the keys in our associative array, and the value would be their respective salary.</a:t>
            </a:r>
            <a:endParaRPr>
              <a:solidFill>
                <a:schemeClr val="dk2"/>
              </a:solidFill>
              <a:latin typeface="Arvo"/>
              <a:ea typeface="Arvo"/>
              <a:cs typeface="Arvo"/>
              <a:sym typeface="Arv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4"/>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Arrays</a:t>
            </a:r>
            <a:endParaRPr sz="2300"/>
          </a:p>
        </p:txBody>
      </p:sp>
      <p:sp>
        <p:nvSpPr>
          <p:cNvPr id="406" name="Google Shape;406;p44"/>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5. PHP Arrays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407" name="Google Shape;407;p44"/>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408" name="Google Shape;408;p44"/>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409" name="Google Shape;409;p44"/>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410" name="Google Shape;410;p44"/>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411" name="Google Shape;411;p44"/>
          <p:cNvPicPr preferRelativeResize="0"/>
          <p:nvPr/>
        </p:nvPicPr>
        <p:blipFill rotWithShape="1">
          <a:blip r:embed="rId5">
            <a:alphaModFix/>
          </a:blip>
          <a:srcRect/>
          <a:stretch/>
        </p:blipFill>
        <p:spPr>
          <a:xfrm>
            <a:off x="2240698" y="1146798"/>
            <a:ext cx="6545851" cy="38057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5"/>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Arrays</a:t>
            </a:r>
            <a:endParaRPr sz="2300"/>
          </a:p>
        </p:txBody>
      </p:sp>
      <p:sp>
        <p:nvSpPr>
          <p:cNvPr id="417" name="Google Shape;417;p45"/>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5. PHP Arrays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418" name="Google Shape;418;p45"/>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419" name="Google Shape;419;p45"/>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420" name="Google Shape;420;p45"/>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421" name="Google Shape;421;p45"/>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fontScale="92500" lnSpcReduction="20000"/>
          </a:bodyPr>
          <a:lstStyle/>
          <a:p>
            <a:pPr marL="0" lvl="0" indent="0" algn="just" rtl="0">
              <a:lnSpc>
                <a:spcPct val="140000"/>
              </a:lnSpc>
              <a:spcBef>
                <a:spcPts val="800"/>
              </a:spcBef>
              <a:spcAft>
                <a:spcPts val="0"/>
              </a:spcAft>
              <a:buClr>
                <a:schemeClr val="dk1"/>
              </a:buClr>
              <a:buSzPct val="78571"/>
              <a:buFont typeface="Arial"/>
              <a:buNone/>
            </a:pPr>
            <a:r>
              <a:rPr lang="en" b="1">
                <a:solidFill>
                  <a:schemeClr val="dk2"/>
                </a:solidFill>
                <a:latin typeface="Arvo"/>
                <a:ea typeface="Arvo"/>
                <a:cs typeface="Arvo"/>
                <a:sym typeface="Arvo"/>
              </a:rPr>
              <a:t>Multidimensional Array</a:t>
            </a:r>
            <a:endParaRPr b="1">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78571"/>
              <a:buFont typeface="Arial"/>
              <a:buNone/>
            </a:pPr>
            <a:r>
              <a:rPr lang="en">
                <a:solidFill>
                  <a:schemeClr val="dk2"/>
                </a:solidFill>
                <a:latin typeface="Arvo"/>
                <a:ea typeface="Arvo"/>
                <a:cs typeface="Arvo"/>
                <a:sym typeface="Arvo"/>
              </a:rPr>
              <a:t>A multidimensional array each element in the main array can also be an array. And each element in the sub-array can be an array, and so on. Values in the multi-dimensional array are accessed using multiple index.</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78571"/>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78571"/>
              <a:buFont typeface="Arial"/>
              <a:buNone/>
            </a:pPr>
            <a:r>
              <a:rPr lang="en">
                <a:solidFill>
                  <a:schemeClr val="dk2"/>
                </a:solidFill>
                <a:latin typeface="Arvo"/>
                <a:ea typeface="Arvo"/>
                <a:cs typeface="Arvo"/>
                <a:sym typeface="Arvo"/>
              </a:rPr>
              <a:t>Example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78571"/>
              <a:buFont typeface="Arial"/>
              <a:buNone/>
            </a:pPr>
            <a:r>
              <a:rPr lang="en">
                <a:solidFill>
                  <a:schemeClr val="dk2"/>
                </a:solidFill>
                <a:latin typeface="Arvo"/>
                <a:ea typeface="Arvo"/>
                <a:cs typeface="Arvo"/>
                <a:sym typeface="Arvo"/>
              </a:rPr>
              <a:t>In this example we create a two dimensional array to store marks of three students in three subjects −</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ct val="78571"/>
              <a:buFont typeface="Arial"/>
              <a:buNone/>
            </a:pPr>
            <a:r>
              <a:rPr lang="en">
                <a:solidFill>
                  <a:schemeClr val="dk2"/>
                </a:solidFill>
                <a:latin typeface="Arvo"/>
                <a:ea typeface="Arvo"/>
                <a:cs typeface="Arvo"/>
                <a:sym typeface="Arvo"/>
              </a:rPr>
              <a:t>This example is an associative array, you can create numeric array in the same fashion.</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6"/>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Arrays</a:t>
            </a:r>
            <a:endParaRPr sz="2300"/>
          </a:p>
        </p:txBody>
      </p:sp>
      <p:sp>
        <p:nvSpPr>
          <p:cNvPr id="427" name="Google Shape;427;p46"/>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5. PHP Arrays</a:t>
            </a:r>
            <a:endParaRPr sz="10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428" name="Google Shape;428;p46"/>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429" name="Google Shape;429;p46"/>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430" name="Google Shape;430;p46"/>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431" name="Google Shape;431;p46"/>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432" name="Google Shape;432;p46"/>
          <p:cNvPicPr preferRelativeResize="0"/>
          <p:nvPr/>
        </p:nvPicPr>
        <p:blipFill rotWithShape="1">
          <a:blip r:embed="rId5">
            <a:alphaModFix/>
          </a:blip>
          <a:srcRect/>
          <a:stretch/>
        </p:blipFill>
        <p:spPr>
          <a:xfrm>
            <a:off x="2850525" y="1025550"/>
            <a:ext cx="4835249" cy="41682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7"/>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Functions</a:t>
            </a:r>
            <a:endParaRPr sz="2300"/>
          </a:p>
        </p:txBody>
      </p:sp>
      <p:sp>
        <p:nvSpPr>
          <p:cNvPr id="438" name="Google Shape;438;p47"/>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6. PHP Functions</a:t>
            </a:r>
            <a:endParaRPr sz="1000" b="1">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439" name="Google Shape;439;p47"/>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440" name="Google Shape;440;p47"/>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441" name="Google Shape;441;p47"/>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442" name="Google Shape;442;p47"/>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fontScale="92500"/>
          </a:bodyPr>
          <a:lstStyle/>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PHP functions are similar to other programming languages. </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A function is a piece of code which takes one more input in the form of parameter and does some processing and returns a value.</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There are two parts which should be clear to you −</a:t>
            </a:r>
            <a:endParaRPr>
              <a:solidFill>
                <a:schemeClr val="dk2"/>
              </a:solidFill>
              <a:latin typeface="Arvo"/>
              <a:ea typeface="Arvo"/>
              <a:cs typeface="Arvo"/>
              <a:sym typeface="Arvo"/>
            </a:endParaRPr>
          </a:p>
          <a:p>
            <a:pPr marL="457200" lvl="0" indent="-310832" algn="just" rtl="0">
              <a:lnSpc>
                <a:spcPct val="140000"/>
              </a:lnSpc>
              <a:spcBef>
                <a:spcPts val="800"/>
              </a:spcBef>
              <a:spcAft>
                <a:spcPts val="0"/>
              </a:spcAft>
              <a:buClr>
                <a:schemeClr val="dk2"/>
              </a:buClr>
              <a:buSzPct val="100000"/>
              <a:buFont typeface="Arvo"/>
              <a:buChar char="●"/>
            </a:pPr>
            <a:r>
              <a:rPr lang="en">
                <a:solidFill>
                  <a:schemeClr val="dk2"/>
                </a:solidFill>
                <a:latin typeface="Arvo"/>
                <a:ea typeface="Arvo"/>
                <a:cs typeface="Arvo"/>
                <a:sym typeface="Arvo"/>
              </a:rPr>
              <a:t>Creating a PHP Function</a:t>
            </a:r>
            <a:endParaRPr>
              <a:solidFill>
                <a:schemeClr val="dk2"/>
              </a:solidFill>
              <a:latin typeface="Arvo"/>
              <a:ea typeface="Arvo"/>
              <a:cs typeface="Arvo"/>
              <a:sym typeface="Arvo"/>
            </a:endParaRPr>
          </a:p>
          <a:p>
            <a:pPr marL="457200" lvl="0" indent="-310832" algn="just" rtl="0">
              <a:lnSpc>
                <a:spcPct val="140000"/>
              </a:lnSpc>
              <a:spcBef>
                <a:spcPts val="0"/>
              </a:spcBef>
              <a:spcAft>
                <a:spcPts val="0"/>
              </a:spcAft>
              <a:buClr>
                <a:schemeClr val="dk2"/>
              </a:buClr>
              <a:buSzPct val="100000"/>
              <a:buFont typeface="Arvo"/>
              <a:buChar char="●"/>
            </a:pPr>
            <a:r>
              <a:rPr lang="en">
                <a:solidFill>
                  <a:schemeClr val="dk2"/>
                </a:solidFill>
                <a:latin typeface="Arvo"/>
                <a:ea typeface="Arvo"/>
                <a:cs typeface="Arvo"/>
                <a:sym typeface="Arvo"/>
              </a:rPr>
              <a:t>Calling a PHP Function</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In fact you hardly need to create your own PHP function because there are already more than 1000 of built-in library functions created for different area and you just need to call them according to your requirement.</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8"/>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Functions</a:t>
            </a:r>
            <a:endParaRPr sz="2300"/>
          </a:p>
        </p:txBody>
      </p:sp>
      <p:sp>
        <p:nvSpPr>
          <p:cNvPr id="448" name="Google Shape;448;p48"/>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6. PHP Functions</a:t>
            </a:r>
            <a:endParaRPr sz="1000" b="1">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449" name="Google Shape;449;p48"/>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450" name="Google Shape;450;p48"/>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451" name="Google Shape;451;p48"/>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452" name="Google Shape;452;p48"/>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Its very easy to create your own PHP function. </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Suppose you want to create a PHP function which will simply write a simple message on your browser when you will call it. Following example creates a function called writeMessage() and then calls it just after creating it.</a:t>
            </a:r>
            <a:endParaRPr>
              <a:solidFill>
                <a:schemeClr val="dk2"/>
              </a:solidFill>
              <a:latin typeface="Arvo"/>
              <a:ea typeface="Arvo"/>
              <a:cs typeface="Arvo"/>
              <a:sym typeface="Arvo"/>
            </a:endParaRPr>
          </a:p>
          <a:p>
            <a:pPr marL="0" lvl="0" indent="0" algn="just" rtl="0">
              <a:lnSpc>
                <a:spcPct val="140000"/>
              </a:lnSpc>
              <a:spcBef>
                <a:spcPts val="800"/>
              </a:spcBef>
              <a:spcAft>
                <a:spcPts val="0"/>
              </a:spcAft>
              <a:buClr>
                <a:schemeClr val="dk1"/>
              </a:buClr>
              <a:buSzPts val="1100"/>
              <a:buFont typeface="Arial"/>
              <a:buNone/>
            </a:pPr>
            <a:endParaRPr>
              <a:solidFill>
                <a:schemeClr val="dk2"/>
              </a:solidFill>
              <a:latin typeface="Arvo"/>
              <a:ea typeface="Arvo"/>
              <a:cs typeface="Arvo"/>
              <a:sym typeface="Arvo"/>
            </a:endParaRPr>
          </a:p>
          <a:p>
            <a:pPr marL="0" lvl="0" indent="0" algn="just" rtl="0">
              <a:lnSpc>
                <a:spcPct val="140000"/>
              </a:lnSpc>
              <a:spcBef>
                <a:spcPts val="800"/>
              </a:spcBef>
              <a:spcAft>
                <a:spcPts val="0"/>
              </a:spcAft>
              <a:buNone/>
            </a:pPr>
            <a:r>
              <a:rPr lang="en">
                <a:solidFill>
                  <a:schemeClr val="dk2"/>
                </a:solidFill>
                <a:latin typeface="Arvo"/>
                <a:ea typeface="Arvo"/>
                <a:cs typeface="Arvo"/>
                <a:sym typeface="Arvo"/>
              </a:rPr>
              <a:t>Note that while creating a function its name should start with keyword function and all the PHP code should be put inside { and } braces as shown in the following example below −</a:t>
            </a:r>
            <a:endParaRPr>
              <a:solidFill>
                <a:schemeClr val="dk2"/>
              </a:solidFill>
              <a:latin typeface="Arvo"/>
              <a:ea typeface="Arvo"/>
              <a:cs typeface="Arvo"/>
              <a:sym typeface="Arv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9"/>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PHP Functions</a:t>
            </a:r>
            <a:endParaRPr sz="2300"/>
          </a:p>
        </p:txBody>
      </p:sp>
      <p:sp>
        <p:nvSpPr>
          <p:cNvPr id="458" name="Google Shape;458;p49"/>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b="1">
                <a:solidFill>
                  <a:schemeClr val="dk1"/>
                </a:solidFill>
              </a:rPr>
              <a:t>6. PHP Functions</a:t>
            </a:r>
            <a:endParaRPr sz="1000" b="1">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2. Learn more</a:t>
            </a:r>
            <a:endParaRPr sz="1000">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459" name="Google Shape;459;p49"/>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460" name="Google Shape;460;p49"/>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461" name="Google Shape;461;p49"/>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462" name="Google Shape;462;p49"/>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0" lvl="0" indent="0" algn="just" rtl="0">
              <a:lnSpc>
                <a:spcPct val="140000"/>
              </a:lnSpc>
              <a:spcBef>
                <a:spcPts val="800"/>
              </a:spcBef>
              <a:spcAft>
                <a:spcPts val="0"/>
              </a:spcAft>
              <a:buNone/>
            </a:pPr>
            <a:endParaRPr>
              <a:solidFill>
                <a:schemeClr val="dk2"/>
              </a:solidFill>
              <a:latin typeface="Arvo"/>
              <a:ea typeface="Arvo"/>
              <a:cs typeface="Arvo"/>
              <a:sym typeface="Arvo"/>
            </a:endParaRPr>
          </a:p>
        </p:txBody>
      </p:sp>
      <p:pic>
        <p:nvPicPr>
          <p:cNvPr id="463" name="Google Shape;463;p49"/>
          <p:cNvPicPr preferRelativeResize="0"/>
          <p:nvPr/>
        </p:nvPicPr>
        <p:blipFill rotWithShape="1">
          <a:blip r:embed="rId5">
            <a:alphaModFix/>
          </a:blip>
          <a:srcRect/>
          <a:stretch/>
        </p:blipFill>
        <p:spPr>
          <a:xfrm>
            <a:off x="2655688" y="1092125"/>
            <a:ext cx="5590016" cy="3870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0"/>
          <p:cNvSpPr txBox="1">
            <a:spLocks noGrp="1"/>
          </p:cNvSpPr>
          <p:nvPr>
            <p:ph type="title"/>
          </p:nvPr>
        </p:nvSpPr>
        <p:spPr>
          <a:xfrm>
            <a:off x="1875600" y="203850"/>
            <a:ext cx="6785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 sz="2300"/>
              <a:t>Learn More</a:t>
            </a:r>
            <a:endParaRPr sz="2300"/>
          </a:p>
        </p:txBody>
      </p:sp>
      <p:sp>
        <p:nvSpPr>
          <p:cNvPr id="469" name="Google Shape;469;p50"/>
          <p:cNvSpPr/>
          <p:nvPr/>
        </p:nvSpPr>
        <p:spPr>
          <a:xfrm>
            <a:off x="-52" y="-12450"/>
            <a:ext cx="2178300" cy="5143500"/>
          </a:xfrm>
          <a:prstGeom prst="rect">
            <a:avLst/>
          </a:prstGeom>
          <a:solidFill>
            <a:srgbClr val="C9DAF8"/>
          </a:solidFill>
          <a:ln w="9525"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None/>
            </a:pPr>
            <a:endParaRPr sz="9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Introduction to PHP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2. PHP Variables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3. PHP Data Types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4. PHP Conditions/Loop</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5. PHP Arrays</a:t>
            </a:r>
            <a:endParaRPr sz="1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6. PHP Functions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b="1">
                <a:solidFill>
                  <a:schemeClr val="dk1"/>
                </a:solidFill>
              </a:rPr>
              <a:t>2. Learn more</a:t>
            </a:r>
            <a:endParaRPr sz="1000" b="1">
              <a:solidFill>
                <a:schemeClr val="dk1"/>
              </a:solidFill>
            </a:endParaRPr>
          </a:p>
          <a:p>
            <a:pPr marL="330200" marR="0" lvl="0" indent="-171450" algn="l" rtl="0">
              <a:lnSpc>
                <a:spcPct val="115000"/>
              </a:lnSpc>
              <a:spcBef>
                <a:spcPts val="0"/>
              </a:spcBef>
              <a:spcAft>
                <a:spcPts val="0"/>
              </a:spcAft>
              <a:buSzPts val="100"/>
              <a:buAutoNum type="arabicPeriod"/>
            </a:pPr>
            <a:endParaRPr sz="100"/>
          </a:p>
        </p:txBody>
      </p:sp>
      <p:pic>
        <p:nvPicPr>
          <p:cNvPr id="470" name="Google Shape;470;p50"/>
          <p:cNvPicPr preferRelativeResize="0"/>
          <p:nvPr/>
        </p:nvPicPr>
        <p:blipFill rotWithShape="1">
          <a:blip r:embed="rId3">
            <a:alphaModFix/>
          </a:blip>
          <a:srcRect/>
          <a:stretch/>
        </p:blipFill>
        <p:spPr>
          <a:xfrm>
            <a:off x="206339" y="93287"/>
            <a:ext cx="1448822" cy="774630"/>
          </a:xfrm>
          <a:prstGeom prst="rect">
            <a:avLst/>
          </a:prstGeom>
          <a:noFill/>
          <a:ln>
            <a:noFill/>
          </a:ln>
        </p:spPr>
      </p:pic>
      <p:pic>
        <p:nvPicPr>
          <p:cNvPr id="471" name="Google Shape;471;p50"/>
          <p:cNvPicPr preferRelativeResize="0"/>
          <p:nvPr/>
        </p:nvPicPr>
        <p:blipFill rotWithShape="1">
          <a:blip r:embed="rId4">
            <a:alphaModFix/>
          </a:blip>
          <a:srcRect/>
          <a:stretch/>
        </p:blipFill>
        <p:spPr>
          <a:xfrm>
            <a:off x="206301" y="4542269"/>
            <a:ext cx="1448821" cy="303138"/>
          </a:xfrm>
          <a:prstGeom prst="rect">
            <a:avLst/>
          </a:prstGeom>
          <a:noFill/>
          <a:ln>
            <a:noFill/>
          </a:ln>
        </p:spPr>
      </p:pic>
      <p:cxnSp>
        <p:nvCxnSpPr>
          <p:cNvPr id="472" name="Google Shape;472;p50"/>
          <p:cNvCxnSpPr/>
          <p:nvPr/>
        </p:nvCxnSpPr>
        <p:spPr>
          <a:xfrm rot="10800000" flipH="1">
            <a:off x="2240825" y="959275"/>
            <a:ext cx="6272100" cy="4800"/>
          </a:xfrm>
          <a:prstGeom prst="straightConnector1">
            <a:avLst/>
          </a:prstGeom>
          <a:noFill/>
          <a:ln w="9525" cap="flat" cmpd="sng">
            <a:solidFill>
              <a:schemeClr val="dk1"/>
            </a:solidFill>
            <a:prstDash val="solid"/>
            <a:round/>
            <a:headEnd type="oval" w="med" len="med"/>
            <a:tailEnd type="oval" w="med" len="med"/>
          </a:ln>
        </p:spPr>
      </p:cxnSp>
      <p:sp>
        <p:nvSpPr>
          <p:cNvPr id="473" name="Google Shape;473;p50"/>
          <p:cNvSpPr txBox="1"/>
          <p:nvPr/>
        </p:nvSpPr>
        <p:spPr>
          <a:xfrm>
            <a:off x="2240700" y="1146800"/>
            <a:ext cx="6420000" cy="3451800"/>
          </a:xfrm>
          <a:prstGeom prst="rect">
            <a:avLst/>
          </a:prstGeom>
          <a:noFill/>
          <a:ln>
            <a:noFill/>
          </a:ln>
        </p:spPr>
        <p:txBody>
          <a:bodyPr spcFirstLastPara="1" wrap="square" lIns="91425" tIns="91425" rIns="91425" bIns="91425" anchor="t" anchorCtr="0">
            <a:normAutofit/>
          </a:bodyPr>
          <a:lstStyle/>
          <a:p>
            <a:pPr marL="457200" lvl="0" indent="-317500" algn="l" rtl="0">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5">
                  <a:extLst>
                    <a:ext uri="{A12FA001-AC4F-418D-AE19-62706E023703}">
                      <ahyp:hlinkClr xmlns:ahyp="http://schemas.microsoft.com/office/drawing/2018/hyperlinkcolor" val="tx"/>
                    </a:ext>
                  </a:extLst>
                </a:hlinkClick>
              </a:rPr>
              <a:t>PHP Tutorial (w3schools.com)</a:t>
            </a:r>
            <a:endParaRPr>
              <a:solidFill>
                <a:schemeClr val="dk2"/>
              </a:solidFill>
              <a:latin typeface="Arvo"/>
              <a:ea typeface="Arvo"/>
              <a:cs typeface="Arvo"/>
              <a:sym typeface="Arvo"/>
            </a:endParaRPr>
          </a:p>
          <a:p>
            <a:pPr marL="457200" lvl="0" indent="-317500" algn="l" rtl="0">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6">
                  <a:extLst>
                    <a:ext uri="{A12FA001-AC4F-418D-AE19-62706E023703}">
                      <ahyp:hlinkClr xmlns:ahyp="http://schemas.microsoft.com/office/drawing/2018/hyperlinkcolor" val="tx"/>
                    </a:ext>
                  </a:extLst>
                </a:hlinkClick>
              </a:rPr>
              <a:t>Learn PHP Tutorial - javatpoint</a:t>
            </a:r>
            <a:endParaRPr>
              <a:solidFill>
                <a:schemeClr val="dk2"/>
              </a:solidFill>
              <a:latin typeface="Arvo"/>
              <a:ea typeface="Arvo"/>
              <a:cs typeface="Arvo"/>
              <a:sym typeface="Arvo"/>
            </a:endParaRPr>
          </a:p>
          <a:p>
            <a:pPr marL="457200" lvl="0" indent="-317500" algn="l" rtl="0">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7">
                  <a:extLst>
                    <a:ext uri="{A12FA001-AC4F-418D-AE19-62706E023703}">
                      <ahyp:hlinkClr xmlns:ahyp="http://schemas.microsoft.com/office/drawing/2018/hyperlinkcolor" val="tx"/>
                    </a:ext>
                  </a:extLst>
                </a:hlinkClick>
              </a:rPr>
              <a:t>PHP Tutorial - Tutorialspoint</a:t>
            </a:r>
            <a:endParaRPr>
              <a:solidFill>
                <a:schemeClr val="dk2"/>
              </a:solidFill>
              <a:latin typeface="Arvo"/>
              <a:ea typeface="Arvo"/>
              <a:cs typeface="Arvo"/>
              <a:sym typeface="Arvo"/>
            </a:endParaRPr>
          </a:p>
          <a:p>
            <a:pPr marL="457200" lvl="0" indent="-317500" algn="l" rtl="0">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8">
                  <a:extLst>
                    <a:ext uri="{A12FA001-AC4F-418D-AE19-62706E023703}">
                      <ahyp:hlinkClr xmlns:ahyp="http://schemas.microsoft.com/office/drawing/2018/hyperlinkcolor" val="tx"/>
                    </a:ext>
                  </a:extLst>
                </a:hlinkClick>
              </a:rPr>
              <a:t>PHP: A simple tutorial - Manual</a:t>
            </a:r>
            <a:endParaRPr>
              <a:solidFill>
                <a:schemeClr val="dk2"/>
              </a:solidFill>
              <a:latin typeface="Arvo"/>
              <a:ea typeface="Arvo"/>
              <a:cs typeface="Arvo"/>
              <a:sym typeface="Arvo"/>
            </a:endParaRPr>
          </a:p>
          <a:p>
            <a:pPr marL="457200" lvl="0" indent="-317500" algn="l" rtl="0">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9">
                  <a:extLst>
                    <a:ext uri="{A12FA001-AC4F-418D-AE19-62706E023703}">
                      <ahyp:hlinkClr xmlns:ahyp="http://schemas.microsoft.com/office/drawing/2018/hyperlinkcolor" val="tx"/>
                    </a:ext>
                  </a:extLst>
                </a:hlinkClick>
              </a:rPr>
              <a:t>The Modern PHP Tutorial</a:t>
            </a:r>
            <a:endParaRPr>
              <a:solidFill>
                <a:schemeClr val="dk2"/>
              </a:solidFill>
              <a:latin typeface="Arvo"/>
              <a:ea typeface="Arvo"/>
              <a:cs typeface="Arvo"/>
              <a:sym typeface="Arv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2860</Words>
  <Application>Microsoft Macintosh PowerPoint</Application>
  <PresentationFormat>On-screen Show (16:9)</PresentationFormat>
  <Paragraphs>521</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Roboto</vt:lpstr>
      <vt:lpstr>Courier New</vt:lpstr>
      <vt:lpstr>Arial</vt:lpstr>
      <vt:lpstr>Arvo</vt:lpstr>
      <vt:lpstr>Simple Light</vt:lpstr>
      <vt:lpstr>WEEK 6</vt:lpstr>
      <vt:lpstr>Week 6 Lecture Topic</vt:lpstr>
      <vt:lpstr>Introduction to PHP</vt:lpstr>
      <vt:lpstr>Introduction to PHP</vt:lpstr>
      <vt:lpstr>Introduction to PHP</vt:lpstr>
      <vt:lpstr>Introduction to PHP</vt:lpstr>
      <vt:lpstr>PHP Variables</vt:lpstr>
      <vt:lpstr>PHP Variables</vt:lpstr>
      <vt:lpstr>PHP Data Types</vt:lpstr>
      <vt:lpstr>PHP Data Types</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Conditions/Loop</vt:lpstr>
      <vt:lpstr>PHP Arrays</vt:lpstr>
      <vt:lpstr>PHP Arrays</vt:lpstr>
      <vt:lpstr>PHP Arrays</vt:lpstr>
      <vt:lpstr>PHP Arrays</vt:lpstr>
      <vt:lpstr>PHP Arrays</vt:lpstr>
      <vt:lpstr>PHP Arrays</vt:lpstr>
      <vt:lpstr>PHP Arrays</vt:lpstr>
      <vt:lpstr>PHP Functions</vt:lpstr>
      <vt:lpstr>PHP Functions</vt:lpstr>
      <vt:lpstr>PHP Functions</vt:lpstr>
      <vt:lpstr>Learn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Mishra, Sagar</cp:lastModifiedBy>
  <cp:revision>1</cp:revision>
  <dcterms:modified xsi:type="dcterms:W3CDTF">2025-12-21T18:21:33Z</dcterms:modified>
</cp:coreProperties>
</file>