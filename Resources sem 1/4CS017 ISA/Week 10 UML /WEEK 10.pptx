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Lst>
  <p:sldSz cy="5143500" cx="9144000"/>
  <p:notesSz cx="6858000" cy="9144000"/>
  <p:embeddedFontLst>
    <p:embeddedFont>
      <p:font typeface="Lato"/>
      <p:regular r:id="rId40"/>
      <p:bold r:id="rId41"/>
      <p:italic r:id="rId42"/>
      <p:boldItalic r:id="rId43"/>
    </p:embeddedFont>
    <p:embeddedFont>
      <p:font typeface="Arvo"/>
      <p:regular r:id="rId44"/>
      <p:bold r:id="rId45"/>
      <p:italic r:id="rId46"/>
      <p:boldItalic r:id="rId47"/>
    </p:embeddedFont>
    <p:embeddedFont>
      <p:font typeface="Lato Black"/>
      <p:bold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ato-regular.fntdata"/><Relationship Id="rId42" Type="http://schemas.openxmlformats.org/officeDocument/2006/relationships/font" Target="fonts/Lato-italic.fntdata"/><Relationship Id="rId41" Type="http://schemas.openxmlformats.org/officeDocument/2006/relationships/font" Target="fonts/Lato-bold.fntdata"/><Relationship Id="rId44" Type="http://schemas.openxmlformats.org/officeDocument/2006/relationships/font" Target="fonts/Arvo-regular.fntdata"/><Relationship Id="rId43" Type="http://schemas.openxmlformats.org/officeDocument/2006/relationships/font" Target="fonts/Lato-boldItalic.fntdata"/><Relationship Id="rId46" Type="http://schemas.openxmlformats.org/officeDocument/2006/relationships/font" Target="fonts/Arvo-italic.fntdata"/><Relationship Id="rId45" Type="http://schemas.openxmlformats.org/officeDocument/2006/relationships/font" Target="fonts/Arv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LatoBlack-bold.fntdata"/><Relationship Id="rId47" Type="http://schemas.openxmlformats.org/officeDocument/2006/relationships/font" Target="fonts/Arvo-boldItalic.fntdata"/><Relationship Id="rId49" Type="http://schemas.openxmlformats.org/officeDocument/2006/relationships/font" Target="fonts/LatoBlack-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25206368c9_0_3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g325206368c9_0_3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25206368c9_0_8: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9" name="Google Shape;89;g325206368c9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25206368c9_0_16: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6" name="Google Shape;96;g325206368c9_0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25206368c9_0_2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3" name="Google Shape;103;g325206368c9_0_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25206368c9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 name="Google Shape;110;g325206368c9_0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25206368c9_0_36: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 name="Google Shape;117;g325206368c9_0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25206368c9_0_4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4" name="Google Shape;124;g325206368c9_0_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25206368c9_0_5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1" name="Google Shape;131;g325206368c9_0_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25206368c9_0_59: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8" name="Google Shape;138;g325206368c9_0_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25206368c9_0_67: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5" name="Google Shape;145;g325206368c9_0_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25206368c9_0_75: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2" name="Google Shape;152;g325206368c9_0_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25206368c9_0_8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9" name="Google Shape;159;g325206368c9_0_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25206368c9_0_9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7" name="Google Shape;167;g325206368c9_0_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25206368c9_0_10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7" name="Google Shape;177;g325206368c9_0_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25206368c9_0_11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5" name="Google Shape;185;g325206368c9_0_1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25206368c9_0_12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2" name="Google Shape;192;g325206368c9_0_1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25206368c9_0_128: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9" name="Google Shape;199;g325206368c9_0_1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25206368c9_0_136: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6" name="Google Shape;206;g325206368c9_0_1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25206368c9_0_145: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4" name="Google Shape;214;g325206368c9_0_1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25206368c9_0_15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2" name="Google Shape;222;g325206368c9_0_1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25206368c9_0_16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9" name="Google Shape;229;g325206368c9_0_1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25206368c9_0_168: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6" name="Google Shape;236;g325206368c9_0_1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25206368c9_0_176: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3" name="Google Shape;243;g325206368c9_0_1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25206368c9_0_18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0" name="Google Shape;250;g325206368c9_0_1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25206368c9_0_19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7" name="Google Shape;257;g325206368c9_0_1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25206368c9_0_198: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4" name="Google Shape;264;g325206368c9_0_1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25206368c9_0_206: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1" name="Google Shape;271;g325206368c9_0_2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25206368c9_0_21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7" name="Google Shape;277;g325206368c9_0_2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25206368c9_0_22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4" name="Google Shape;284;g325206368c9_0_2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25206368c9_0_228: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1" name="Google Shape;291;g325206368c9_0_2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25206368c9_0_236: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8" name="Google Shape;298;g325206368c9_0_2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25206368c9_0_24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4" name="Google Shape;304;g325206368c9_0_2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25206368c9_0_25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1" name="Google Shape;311;g325206368c9_0_2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25206368c9_0_259: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8" name="Google Shape;318;g325206368c9_0_2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7.png"/><Relationship Id="rId5" Type="http://schemas.openxmlformats.org/officeDocument/2006/relationships/image" Target="../media/image6.png"/><Relationship Id="rId6" Type="http://schemas.openxmlformats.org/officeDocument/2006/relationships/image" Target="../media/image5.png"/><Relationship Id="rId7"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9.png"/><Relationship Id="rId4" Type="http://schemas.openxmlformats.org/officeDocument/2006/relationships/image" Target="../media/image24.png"/><Relationship Id="rId5"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1.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4.pn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5.png"/><Relationship Id="rId4" Type="http://schemas.openxmlformats.org/officeDocument/2006/relationships/image" Target="../media/image22.png"/><Relationship Id="rId5"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0.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7.png"/><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0.png"/><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8.png"/><Relationship Id="rId4"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3.png"/><Relationship Id="rId4"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1.png"/><Relationship Id="rId4" Type="http://schemas.openxmlformats.org/officeDocument/2006/relationships/image" Target="../media/image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3.png"/><Relationship Id="rId4" Type="http://schemas.openxmlformats.org/officeDocument/2006/relationships/image" Target="../media/image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hyperlink" Target="https://www.javatpoint.com/uml-diagrams" TargetMode="External"/><Relationship Id="rId4" Type="http://schemas.openxmlformats.org/officeDocument/2006/relationships/hyperlink" Target="https://www.smartdraw.com/uml-diagram/" TargetMode="External"/><Relationship Id="rId5" Type="http://schemas.openxmlformats.org/officeDocument/2006/relationships/hyperlink" Target="https://creately.com/blog/diagrams/uml-diagram-types-examples/" TargetMode="External"/><Relationship Id="rId6" Type="http://schemas.openxmlformats.org/officeDocument/2006/relationships/hyperlink" Target="https://www.tutorialspoint.com/uml/uml_standard_diagrams.htm" TargetMode="External"/><Relationship Id="rId7" Type="http://schemas.openxmlformats.org/officeDocument/2006/relationships/image" Target="../media/image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p:nvPr/>
        </p:nvSpPr>
        <p:spPr>
          <a:xfrm>
            <a:off x="3142500" y="834697"/>
            <a:ext cx="2859000" cy="2759100"/>
          </a:xfrm>
          <a:prstGeom prst="ellipse">
            <a:avLst/>
          </a:prstGeom>
          <a:solidFill>
            <a:srgbClr val="0737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 name="Google Shape;55;p13"/>
          <p:cNvSpPr txBox="1"/>
          <p:nvPr>
            <p:ph type="ctrTitle"/>
          </p:nvPr>
        </p:nvSpPr>
        <p:spPr>
          <a:xfrm>
            <a:off x="3142500" y="1499096"/>
            <a:ext cx="2859000" cy="1118100"/>
          </a:xfrm>
          <a:prstGeom prst="rect">
            <a:avLst/>
          </a:prstGeom>
          <a:noFill/>
          <a:ln>
            <a:noFill/>
          </a:ln>
        </p:spPr>
        <p:txBody>
          <a:bodyPr anchorCtr="0" anchor="b" bIns="91425" lIns="91425" spcFirstLastPara="1" rIns="91425" wrap="square" tIns="91425">
            <a:noAutofit/>
          </a:bodyPr>
          <a:lstStyle/>
          <a:p>
            <a:pPr indent="0" lvl="0" marL="0" rtl="0" algn="ctr">
              <a:lnSpc>
                <a:spcPct val="80000"/>
              </a:lnSpc>
              <a:spcBef>
                <a:spcPts val="0"/>
              </a:spcBef>
              <a:spcAft>
                <a:spcPts val="0"/>
              </a:spcAft>
              <a:buClr>
                <a:srgbClr val="191919"/>
              </a:buClr>
              <a:buSzPts val="5200"/>
              <a:buNone/>
            </a:pPr>
            <a:r>
              <a:rPr lang="en" sz="4800">
                <a:solidFill>
                  <a:schemeClr val="lt1"/>
                </a:solidFill>
                <a:latin typeface="Arial"/>
                <a:ea typeface="Arial"/>
                <a:cs typeface="Arial"/>
                <a:sym typeface="Arial"/>
              </a:rPr>
              <a:t>WEE</a:t>
            </a:r>
            <a:r>
              <a:rPr lang="en" sz="4800">
                <a:solidFill>
                  <a:schemeClr val="lt1"/>
                </a:solidFill>
              </a:rPr>
              <a:t>K 10</a:t>
            </a:r>
            <a:endParaRPr sz="4800">
              <a:solidFill>
                <a:schemeClr val="lt1"/>
              </a:solidFill>
            </a:endParaRPr>
          </a:p>
        </p:txBody>
      </p:sp>
      <p:grpSp>
        <p:nvGrpSpPr>
          <p:cNvPr id="56" name="Google Shape;56;p13"/>
          <p:cNvGrpSpPr/>
          <p:nvPr/>
        </p:nvGrpSpPr>
        <p:grpSpPr>
          <a:xfrm>
            <a:off x="6407875" y="359340"/>
            <a:ext cx="2582400" cy="289350"/>
            <a:chOff x="6967625" y="394825"/>
            <a:chExt cx="2582400" cy="289350"/>
          </a:xfrm>
        </p:grpSpPr>
        <p:sp>
          <p:nvSpPr>
            <p:cNvPr id="57" name="Google Shape;57;p13"/>
            <p:cNvSpPr/>
            <p:nvPr/>
          </p:nvSpPr>
          <p:spPr>
            <a:xfrm rot="-5400000">
              <a:off x="6967625" y="57827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58" name="Google Shape;58;p13"/>
            <p:cNvSpPr/>
            <p:nvPr/>
          </p:nvSpPr>
          <p:spPr>
            <a:xfrm rot="-5400000">
              <a:off x="6967625" y="39482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59" name="Google Shape;59;p13"/>
            <p:cNvSpPr/>
            <p:nvPr/>
          </p:nvSpPr>
          <p:spPr>
            <a:xfrm rot="-5400000">
              <a:off x="7158125" y="57827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60" name="Google Shape;60;p13"/>
            <p:cNvSpPr/>
            <p:nvPr/>
          </p:nvSpPr>
          <p:spPr>
            <a:xfrm rot="-5400000">
              <a:off x="7158125" y="39482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61" name="Google Shape;61;p13"/>
            <p:cNvSpPr/>
            <p:nvPr/>
          </p:nvSpPr>
          <p:spPr>
            <a:xfrm rot="-5400000">
              <a:off x="7348625" y="57827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62" name="Google Shape;62;p13"/>
            <p:cNvSpPr/>
            <p:nvPr/>
          </p:nvSpPr>
          <p:spPr>
            <a:xfrm rot="-5400000">
              <a:off x="7348625" y="39482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63" name="Google Shape;63;p13"/>
            <p:cNvSpPr/>
            <p:nvPr/>
          </p:nvSpPr>
          <p:spPr>
            <a:xfrm rot="-5400000">
              <a:off x="7539125" y="57827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64" name="Google Shape;64;p13"/>
            <p:cNvSpPr/>
            <p:nvPr/>
          </p:nvSpPr>
          <p:spPr>
            <a:xfrm rot="-5400000">
              <a:off x="7539125" y="39482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65" name="Google Shape;65;p13"/>
            <p:cNvSpPr/>
            <p:nvPr/>
          </p:nvSpPr>
          <p:spPr>
            <a:xfrm rot="-5400000">
              <a:off x="7729625" y="57827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66" name="Google Shape;66;p13"/>
            <p:cNvSpPr/>
            <p:nvPr/>
          </p:nvSpPr>
          <p:spPr>
            <a:xfrm rot="-5400000">
              <a:off x="7729625" y="39482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67" name="Google Shape;67;p13"/>
            <p:cNvSpPr/>
            <p:nvPr/>
          </p:nvSpPr>
          <p:spPr>
            <a:xfrm rot="-5400000">
              <a:off x="7920125" y="57827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68" name="Google Shape;68;p13"/>
            <p:cNvSpPr/>
            <p:nvPr/>
          </p:nvSpPr>
          <p:spPr>
            <a:xfrm rot="-5400000">
              <a:off x="7920125" y="39482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69" name="Google Shape;69;p13"/>
            <p:cNvSpPr/>
            <p:nvPr/>
          </p:nvSpPr>
          <p:spPr>
            <a:xfrm rot="-5400000">
              <a:off x="8110625" y="57827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70" name="Google Shape;70;p13"/>
            <p:cNvSpPr/>
            <p:nvPr/>
          </p:nvSpPr>
          <p:spPr>
            <a:xfrm rot="-5400000">
              <a:off x="8110625" y="39482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71" name="Google Shape;71;p13"/>
            <p:cNvSpPr/>
            <p:nvPr/>
          </p:nvSpPr>
          <p:spPr>
            <a:xfrm rot="-5400000">
              <a:off x="8301125" y="57827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72" name="Google Shape;72;p13"/>
            <p:cNvSpPr/>
            <p:nvPr/>
          </p:nvSpPr>
          <p:spPr>
            <a:xfrm rot="-5400000">
              <a:off x="8301125" y="39482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73" name="Google Shape;73;p13"/>
            <p:cNvSpPr/>
            <p:nvPr/>
          </p:nvSpPr>
          <p:spPr>
            <a:xfrm rot="-5400000">
              <a:off x="8491625" y="57827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74" name="Google Shape;74;p13"/>
            <p:cNvSpPr/>
            <p:nvPr/>
          </p:nvSpPr>
          <p:spPr>
            <a:xfrm rot="-5400000">
              <a:off x="8491625" y="39482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75" name="Google Shape;75;p13"/>
            <p:cNvSpPr/>
            <p:nvPr/>
          </p:nvSpPr>
          <p:spPr>
            <a:xfrm rot="-5400000">
              <a:off x="8682125" y="57827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76" name="Google Shape;76;p13"/>
            <p:cNvSpPr/>
            <p:nvPr/>
          </p:nvSpPr>
          <p:spPr>
            <a:xfrm rot="-5400000">
              <a:off x="8682125" y="39482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77" name="Google Shape;77;p13"/>
            <p:cNvSpPr/>
            <p:nvPr/>
          </p:nvSpPr>
          <p:spPr>
            <a:xfrm rot="-5400000">
              <a:off x="8872625" y="57827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78" name="Google Shape;78;p13"/>
            <p:cNvSpPr/>
            <p:nvPr/>
          </p:nvSpPr>
          <p:spPr>
            <a:xfrm rot="-5400000">
              <a:off x="8872625" y="39482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79" name="Google Shape;79;p13"/>
            <p:cNvSpPr/>
            <p:nvPr/>
          </p:nvSpPr>
          <p:spPr>
            <a:xfrm rot="-5400000">
              <a:off x="9063125" y="57827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80" name="Google Shape;80;p13"/>
            <p:cNvSpPr/>
            <p:nvPr/>
          </p:nvSpPr>
          <p:spPr>
            <a:xfrm rot="-5400000">
              <a:off x="9063125" y="39482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81" name="Google Shape;81;p13"/>
            <p:cNvSpPr/>
            <p:nvPr/>
          </p:nvSpPr>
          <p:spPr>
            <a:xfrm rot="-5400000">
              <a:off x="9253625" y="57827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82" name="Google Shape;82;p13"/>
            <p:cNvSpPr/>
            <p:nvPr/>
          </p:nvSpPr>
          <p:spPr>
            <a:xfrm rot="-5400000">
              <a:off x="9253625" y="39482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83" name="Google Shape;83;p13"/>
            <p:cNvSpPr/>
            <p:nvPr/>
          </p:nvSpPr>
          <p:spPr>
            <a:xfrm rot="-5400000">
              <a:off x="9444125" y="57827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sp>
          <p:nvSpPr>
            <p:cNvPr id="84" name="Google Shape;84;p13"/>
            <p:cNvSpPr/>
            <p:nvPr/>
          </p:nvSpPr>
          <p:spPr>
            <a:xfrm rot="-5400000">
              <a:off x="9444125" y="394825"/>
              <a:ext cx="105900" cy="1059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FF0000"/>
                </a:solidFill>
                <a:latin typeface="Arial"/>
                <a:ea typeface="Arial"/>
                <a:cs typeface="Arial"/>
                <a:sym typeface="Arial"/>
              </a:endParaRPr>
            </a:p>
          </p:txBody>
        </p:sp>
      </p:grpSp>
      <p:sp>
        <p:nvSpPr>
          <p:cNvPr id="85" name="Google Shape;85;p13"/>
          <p:cNvSpPr txBox="1"/>
          <p:nvPr>
            <p:ph type="ctrTitle"/>
          </p:nvPr>
        </p:nvSpPr>
        <p:spPr>
          <a:xfrm>
            <a:off x="814500" y="3845916"/>
            <a:ext cx="7515000" cy="1541400"/>
          </a:xfrm>
          <a:prstGeom prst="rect">
            <a:avLst/>
          </a:prstGeom>
          <a:solidFill>
            <a:srgbClr val="FFFFFF"/>
          </a:solidFill>
          <a:ln>
            <a:noFill/>
          </a:ln>
        </p:spPr>
        <p:txBody>
          <a:bodyPr anchorCtr="0" anchor="b" bIns="91425" lIns="91425" spcFirstLastPara="1" rIns="91425" wrap="square" tIns="91425">
            <a:noAutofit/>
          </a:bodyPr>
          <a:lstStyle/>
          <a:p>
            <a:pPr indent="0" lvl="0" marL="0" rtl="0" algn="ctr">
              <a:lnSpc>
                <a:spcPct val="80000"/>
              </a:lnSpc>
              <a:spcBef>
                <a:spcPts val="0"/>
              </a:spcBef>
              <a:spcAft>
                <a:spcPts val="0"/>
              </a:spcAft>
              <a:buClr>
                <a:srgbClr val="191919"/>
              </a:buClr>
              <a:buSzPts val="5200"/>
              <a:buNone/>
            </a:pPr>
            <a:br>
              <a:rPr b="1" lang="en" sz="1600">
                <a:solidFill>
                  <a:srgbClr val="EC1C24"/>
                </a:solidFill>
                <a:latin typeface="Arial"/>
                <a:ea typeface="Arial"/>
                <a:cs typeface="Arial"/>
                <a:sym typeface="Arial"/>
              </a:rPr>
            </a:br>
            <a:r>
              <a:rPr b="1" lang="en" sz="3200">
                <a:solidFill>
                  <a:srgbClr val="073763"/>
                </a:solidFill>
              </a:rPr>
              <a:t>UML Diagram</a:t>
            </a:r>
            <a:br>
              <a:rPr b="1" lang="en" sz="3200">
                <a:solidFill>
                  <a:srgbClr val="073763"/>
                </a:solidFill>
                <a:latin typeface="Arial"/>
                <a:ea typeface="Arial"/>
                <a:cs typeface="Arial"/>
                <a:sym typeface="Arial"/>
              </a:rPr>
            </a:br>
            <a:br>
              <a:rPr b="1" lang="en" sz="1600">
                <a:solidFill>
                  <a:srgbClr val="EC1C24"/>
                </a:solidFill>
                <a:latin typeface="Arial"/>
                <a:ea typeface="Arial"/>
                <a:cs typeface="Arial"/>
                <a:sym typeface="Arial"/>
              </a:rPr>
            </a:br>
            <a:r>
              <a:rPr b="1" lang="en" sz="1600">
                <a:solidFill>
                  <a:srgbClr val="EC1C24"/>
                </a:solidFill>
                <a:latin typeface="Arial"/>
                <a:ea typeface="Arial"/>
                <a:cs typeface="Arial"/>
                <a:sym typeface="Arial"/>
              </a:rPr>
              <a:t>Level 4</a:t>
            </a:r>
            <a:br>
              <a:rPr b="1" lang="en" sz="1600">
                <a:solidFill>
                  <a:srgbClr val="EC1C24"/>
                </a:solidFill>
                <a:latin typeface="Arial"/>
                <a:ea typeface="Arial"/>
                <a:cs typeface="Arial"/>
                <a:sym typeface="Arial"/>
              </a:rPr>
            </a:br>
            <a:br>
              <a:rPr b="1" lang="en" sz="1600">
                <a:solidFill>
                  <a:srgbClr val="EC1C24"/>
                </a:solidFill>
                <a:latin typeface="Arial"/>
                <a:ea typeface="Arial"/>
                <a:cs typeface="Arial"/>
                <a:sym typeface="Arial"/>
              </a:rPr>
            </a:br>
            <a:r>
              <a:rPr b="1" lang="en" sz="2000">
                <a:solidFill>
                  <a:srgbClr val="EC1C24"/>
                </a:solidFill>
              </a:rPr>
              <a:t>Introduction to Internet Software Architecture</a:t>
            </a:r>
            <a:br>
              <a:rPr b="1" lang="en" sz="3000">
                <a:solidFill>
                  <a:srgbClr val="073763"/>
                </a:solidFill>
                <a:latin typeface="Arial"/>
                <a:ea typeface="Arial"/>
                <a:cs typeface="Arial"/>
                <a:sym typeface="Arial"/>
              </a:rPr>
            </a:br>
            <a:endParaRPr sz="3000">
              <a:solidFill>
                <a:srgbClr val="073763"/>
              </a:solidFill>
            </a:endParaRPr>
          </a:p>
        </p:txBody>
      </p:sp>
      <p:pic>
        <p:nvPicPr>
          <p:cNvPr id="86" name="Google Shape;86;p13"/>
          <p:cNvPicPr preferRelativeResize="0"/>
          <p:nvPr/>
        </p:nvPicPr>
        <p:blipFill rotWithShape="1">
          <a:blip r:embed="rId3">
            <a:alphaModFix/>
          </a:blip>
          <a:srcRect b="0" l="0" r="0" t="0"/>
          <a:stretch/>
        </p:blipFill>
        <p:spPr>
          <a:xfrm>
            <a:off x="579577" y="111260"/>
            <a:ext cx="2491151" cy="13319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4"/>
          <p:cNvSpPr txBox="1"/>
          <p:nvPr>
            <p:ph type="ctrTitle"/>
          </p:nvPr>
        </p:nvSpPr>
        <p:spPr>
          <a:xfrm>
            <a:off x="311727" y="538617"/>
            <a:ext cx="6234600" cy="342600"/>
          </a:xfrm>
          <a:prstGeom prst="rect">
            <a:avLst/>
          </a:prstGeom>
          <a:noFill/>
          <a:ln>
            <a:noFill/>
          </a:ln>
        </p:spPr>
        <p:txBody>
          <a:bodyPr anchorCtr="0" anchor="b" bIns="34275" lIns="68575" spcFirstLastPara="1" rIns="68575" wrap="square" tIns="34275">
            <a:noAutofit/>
          </a:bodyPr>
          <a:lstStyle/>
          <a:p>
            <a:pPr indent="0" lvl="0" marL="0" rtl="0" algn="l">
              <a:lnSpc>
                <a:spcPct val="90000"/>
              </a:lnSpc>
              <a:spcBef>
                <a:spcPts val="0"/>
              </a:spcBef>
              <a:spcAft>
                <a:spcPts val="0"/>
              </a:spcAft>
              <a:buClr>
                <a:schemeClr val="dk1"/>
              </a:buClr>
              <a:buSzPts val="2100"/>
              <a:buFont typeface="Lato Black"/>
              <a:buNone/>
            </a:pPr>
            <a:r>
              <a:rPr lang="en" sz="2100">
                <a:latin typeface="Lato Black"/>
                <a:ea typeface="Lato Black"/>
                <a:cs typeface="Lato Black"/>
                <a:sym typeface="Lato Black"/>
              </a:rPr>
              <a:t>This week’s agenda</a:t>
            </a:r>
            <a:endParaRPr sz="2100">
              <a:latin typeface="Lato Black"/>
              <a:ea typeface="Lato Black"/>
              <a:cs typeface="Lato Black"/>
              <a:sym typeface="Lato Black"/>
            </a:endParaRPr>
          </a:p>
        </p:txBody>
      </p:sp>
      <p:sp>
        <p:nvSpPr>
          <p:cNvPr id="92" name="Google Shape;92;p14"/>
          <p:cNvSpPr txBox="1"/>
          <p:nvPr>
            <p:ph idx="1" type="subTitle"/>
          </p:nvPr>
        </p:nvSpPr>
        <p:spPr>
          <a:xfrm>
            <a:off x="311727" y="1104623"/>
            <a:ext cx="6858000" cy="3451200"/>
          </a:xfrm>
          <a:prstGeom prst="rect">
            <a:avLst/>
          </a:prstGeom>
          <a:noFill/>
          <a:ln>
            <a:noFill/>
          </a:ln>
        </p:spPr>
        <p:txBody>
          <a:bodyPr anchorCtr="0" anchor="t" bIns="34275" lIns="68575" spcFirstLastPara="1" rIns="68575" wrap="square" tIns="34275">
            <a:normAutofit/>
          </a:bodyPr>
          <a:lstStyle/>
          <a:p>
            <a:pPr indent="-254000" lvl="0" marL="254000" rtl="0" algn="l">
              <a:lnSpc>
                <a:spcPct val="150000"/>
              </a:lnSpc>
              <a:spcBef>
                <a:spcPts val="0"/>
              </a:spcBef>
              <a:spcAft>
                <a:spcPts val="0"/>
              </a:spcAft>
              <a:buClr>
                <a:schemeClr val="dk1"/>
              </a:buClr>
              <a:buSzPts val="2071"/>
              <a:buFont typeface="Arial"/>
              <a:buChar char="•"/>
            </a:pPr>
            <a:r>
              <a:rPr lang="en" sz="2071">
                <a:latin typeface="Arvo"/>
                <a:ea typeface="Arvo"/>
                <a:cs typeface="Arvo"/>
                <a:sym typeface="Arvo"/>
              </a:rPr>
              <a:t>Understanding UML diagrams</a:t>
            </a:r>
            <a:endParaRPr sz="3371"/>
          </a:p>
          <a:p>
            <a:pPr indent="-254000" lvl="0" marL="254000" rtl="0" algn="l">
              <a:lnSpc>
                <a:spcPct val="150000"/>
              </a:lnSpc>
              <a:spcBef>
                <a:spcPts val="800"/>
              </a:spcBef>
              <a:spcAft>
                <a:spcPts val="0"/>
              </a:spcAft>
              <a:buClr>
                <a:schemeClr val="dk1"/>
              </a:buClr>
              <a:buSzPts val="2071"/>
              <a:buChar char="•"/>
            </a:pPr>
            <a:r>
              <a:rPr lang="en" sz="2071">
                <a:latin typeface="Arvo"/>
                <a:ea typeface="Arvo"/>
                <a:cs typeface="Arvo"/>
                <a:sym typeface="Arvo"/>
              </a:rPr>
              <a:t>Types of UML diagram</a:t>
            </a:r>
            <a:endParaRPr sz="2071">
              <a:latin typeface="Arvo"/>
              <a:ea typeface="Arvo"/>
              <a:cs typeface="Arvo"/>
              <a:sym typeface="Arvo"/>
            </a:endParaRPr>
          </a:p>
        </p:txBody>
      </p:sp>
      <p:pic>
        <p:nvPicPr>
          <p:cNvPr id="93" name="Google Shape;93;p14"/>
          <p:cNvPicPr preferRelativeResize="0"/>
          <p:nvPr/>
        </p:nvPicPr>
        <p:blipFill rotWithShape="1">
          <a:blip r:embed="rId3">
            <a:alphaModFix/>
          </a:blip>
          <a:srcRect b="0" l="0" r="0" t="0"/>
          <a:stretch/>
        </p:blipFill>
        <p:spPr>
          <a:xfrm>
            <a:off x="6456002" y="137435"/>
            <a:ext cx="2491151" cy="1331925"/>
          </a:xfrm>
          <a:prstGeom prst="rect">
            <a:avLst/>
          </a:prstGeom>
          <a:noFill/>
          <a:ln>
            <a:noFill/>
          </a:ln>
        </p:spPr>
      </p:pic>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92">
                                            <p:txEl>
                                              <p:pRg end="0" st="0"/>
                                            </p:txEl>
                                          </p:spTgt>
                                        </p:tgtEl>
                                        <p:attrNameLst>
                                          <p:attrName>style.visibility</p:attrName>
                                        </p:attrNameLst>
                                      </p:cBhvr>
                                      <p:to>
                                        <p:strVal val="visible"/>
                                      </p:to>
                                    </p:set>
                                    <p:animEffect filter="fade" transition="in">
                                      <p:cBhvr>
                                        <p:cTn dur="500"/>
                                        <p:tgtEl>
                                          <p:spTgt spid="92">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92">
                                            <p:txEl>
                                              <p:pRg end="1" st="1"/>
                                            </p:txEl>
                                          </p:spTgt>
                                        </p:tgtEl>
                                        <p:attrNameLst>
                                          <p:attrName>style.visibility</p:attrName>
                                        </p:attrNameLst>
                                      </p:cBhvr>
                                      <p:to>
                                        <p:strVal val="visible"/>
                                      </p:to>
                                    </p:set>
                                    <p:animEffect filter="fade" transition="in">
                                      <p:cBhvr>
                                        <p:cTn dur="500"/>
                                        <p:tgtEl>
                                          <p:spTgt spid="92">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idx="12" type="sldNum"/>
          </p:nvPr>
        </p:nvSpPr>
        <p:spPr>
          <a:xfrm>
            <a:off x="6354343" y="3497413"/>
            <a:ext cx="411600" cy="2952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None/>
            </a:pPr>
            <a:fld id="{00000000-1234-1234-1234-123412341234}" type="slidenum">
              <a:rPr lang="en"/>
              <a:t>‹#›</a:t>
            </a:fld>
            <a:endParaRPr/>
          </a:p>
        </p:txBody>
      </p:sp>
      <p:pic>
        <p:nvPicPr>
          <p:cNvPr id="99" name="Google Shape;99;p15"/>
          <p:cNvPicPr preferRelativeResize="0"/>
          <p:nvPr/>
        </p:nvPicPr>
        <p:blipFill rotWithShape="1">
          <a:blip r:embed="rId3">
            <a:alphaModFix/>
          </a:blip>
          <a:srcRect b="0" l="0" r="0" t="0"/>
          <a:stretch/>
        </p:blipFill>
        <p:spPr>
          <a:xfrm>
            <a:off x="-7625" y="0"/>
            <a:ext cx="9144000" cy="5143500"/>
          </a:xfrm>
          <a:prstGeom prst="rect">
            <a:avLst/>
          </a:prstGeom>
          <a:noFill/>
          <a:ln>
            <a:noFill/>
          </a:ln>
        </p:spPr>
      </p:pic>
      <p:pic>
        <p:nvPicPr>
          <p:cNvPr id="100" name="Google Shape;100;p15"/>
          <p:cNvPicPr preferRelativeResize="0"/>
          <p:nvPr/>
        </p:nvPicPr>
        <p:blipFill rotWithShape="1">
          <a:blip r:embed="rId4">
            <a:alphaModFix/>
          </a:blip>
          <a:srcRect b="0" l="0" r="0" t="0"/>
          <a:stretch/>
        </p:blipFill>
        <p:spPr>
          <a:xfrm>
            <a:off x="6914726" y="137427"/>
            <a:ext cx="2032425" cy="1086675"/>
          </a:xfrm>
          <a:prstGeom prst="rect">
            <a:avLst/>
          </a:prstGeom>
          <a:noFill/>
          <a:ln>
            <a:noFill/>
          </a:ln>
        </p:spPr>
      </p:pic>
    </p:spTree>
  </p:cSld>
  <p:clrMapOvr>
    <a:masterClrMapping/>
  </p:clrMapOvr>
  <p:transition spd="med">
    <p:push/>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6"/>
          <p:cNvSpPr txBox="1"/>
          <p:nvPr>
            <p:ph type="ctrTitle"/>
          </p:nvPr>
        </p:nvSpPr>
        <p:spPr>
          <a:xfrm>
            <a:off x="311727" y="538617"/>
            <a:ext cx="6234600" cy="342600"/>
          </a:xfrm>
          <a:prstGeom prst="rect">
            <a:avLst/>
          </a:prstGeom>
          <a:noFill/>
          <a:ln>
            <a:noFill/>
          </a:ln>
        </p:spPr>
        <p:txBody>
          <a:bodyPr anchorCtr="0" anchor="b" bIns="34275" lIns="68575" spcFirstLastPara="1" rIns="68575" wrap="square" tIns="34275">
            <a:noAutofit/>
          </a:bodyPr>
          <a:lstStyle/>
          <a:p>
            <a:pPr indent="0" lvl="0" marL="0" rtl="0" algn="l">
              <a:lnSpc>
                <a:spcPct val="90000"/>
              </a:lnSpc>
              <a:spcBef>
                <a:spcPts val="0"/>
              </a:spcBef>
              <a:spcAft>
                <a:spcPts val="0"/>
              </a:spcAft>
              <a:buClr>
                <a:schemeClr val="dk1"/>
              </a:buClr>
              <a:buSzPts val="2100"/>
              <a:buFont typeface="Lato Black"/>
              <a:buNone/>
            </a:pPr>
            <a:r>
              <a:rPr lang="en" sz="2100">
                <a:latin typeface="Lato Black"/>
                <a:ea typeface="Lato Black"/>
                <a:cs typeface="Lato Black"/>
                <a:sym typeface="Lato Black"/>
              </a:rPr>
              <a:t>UML Diagram</a:t>
            </a:r>
            <a:endParaRPr sz="2100">
              <a:latin typeface="Lato Black"/>
              <a:ea typeface="Lato Black"/>
              <a:cs typeface="Lato Black"/>
              <a:sym typeface="Lato Black"/>
            </a:endParaRPr>
          </a:p>
        </p:txBody>
      </p:sp>
      <p:sp>
        <p:nvSpPr>
          <p:cNvPr id="106" name="Google Shape;106;p16"/>
          <p:cNvSpPr txBox="1"/>
          <p:nvPr>
            <p:ph idx="1" type="subTitle"/>
          </p:nvPr>
        </p:nvSpPr>
        <p:spPr>
          <a:xfrm>
            <a:off x="311727" y="1104623"/>
            <a:ext cx="6858000" cy="3451200"/>
          </a:xfrm>
          <a:prstGeom prst="rect">
            <a:avLst/>
          </a:prstGeom>
          <a:noFill/>
          <a:ln>
            <a:noFill/>
          </a:ln>
        </p:spPr>
        <p:txBody>
          <a:bodyPr anchorCtr="0" anchor="t" bIns="34275" lIns="68575" spcFirstLastPara="1" rIns="68575" wrap="square" tIns="34275">
            <a:normAutofit/>
          </a:bodyPr>
          <a:lstStyle/>
          <a:p>
            <a:pPr indent="-317500" lvl="0" marL="457200" rtl="0" algn="just">
              <a:lnSpc>
                <a:spcPct val="140000"/>
              </a:lnSpc>
              <a:spcBef>
                <a:spcPts val="800"/>
              </a:spcBef>
              <a:spcAft>
                <a:spcPts val="0"/>
              </a:spcAft>
              <a:buSzPts val="1400"/>
              <a:buFont typeface="Arvo"/>
              <a:buChar char="●"/>
            </a:pPr>
            <a:r>
              <a:rPr lang="en" sz="1400">
                <a:latin typeface="Arvo"/>
                <a:ea typeface="Arvo"/>
                <a:cs typeface="Arvo"/>
                <a:sym typeface="Arvo"/>
              </a:rPr>
              <a:t>UML stands for Unified Modeling Language</a:t>
            </a:r>
            <a:endParaRPr sz="1400">
              <a:latin typeface="Arvo"/>
              <a:ea typeface="Arvo"/>
              <a:cs typeface="Arvo"/>
              <a:sym typeface="Arvo"/>
            </a:endParaRPr>
          </a:p>
          <a:p>
            <a:pPr indent="-317500" lvl="0" marL="457200" rtl="0" algn="just">
              <a:lnSpc>
                <a:spcPct val="140000"/>
              </a:lnSpc>
              <a:spcBef>
                <a:spcPts val="0"/>
              </a:spcBef>
              <a:spcAft>
                <a:spcPts val="0"/>
              </a:spcAft>
              <a:buSzPts val="1400"/>
              <a:buFont typeface="Arvo"/>
              <a:buChar char="●"/>
            </a:pPr>
            <a:r>
              <a:rPr lang="en" sz="1400">
                <a:latin typeface="Arvo"/>
                <a:ea typeface="Arvo"/>
                <a:cs typeface="Arvo"/>
                <a:sym typeface="Arvo"/>
              </a:rPr>
              <a:t>UML is different from the other common programming languages such as C++, Java, COBOL, etc</a:t>
            </a:r>
            <a:endParaRPr sz="1400">
              <a:latin typeface="Arvo"/>
              <a:ea typeface="Arvo"/>
              <a:cs typeface="Arvo"/>
              <a:sym typeface="Arvo"/>
            </a:endParaRPr>
          </a:p>
          <a:p>
            <a:pPr indent="-317500" lvl="0" marL="457200" rtl="0" algn="just">
              <a:lnSpc>
                <a:spcPct val="140000"/>
              </a:lnSpc>
              <a:spcBef>
                <a:spcPts val="0"/>
              </a:spcBef>
              <a:spcAft>
                <a:spcPts val="0"/>
              </a:spcAft>
              <a:buSzPts val="1400"/>
              <a:buFont typeface="Arvo"/>
              <a:buChar char="●"/>
            </a:pPr>
            <a:r>
              <a:rPr lang="en" sz="1400">
                <a:latin typeface="Arvo"/>
                <a:ea typeface="Arvo"/>
                <a:cs typeface="Arvo"/>
                <a:sym typeface="Arvo"/>
              </a:rPr>
              <a:t>UML is a pictorial language used to make software blueprints</a:t>
            </a:r>
            <a:endParaRPr sz="1400">
              <a:latin typeface="Arvo"/>
              <a:ea typeface="Arvo"/>
              <a:cs typeface="Arvo"/>
              <a:sym typeface="Arvo"/>
            </a:endParaRPr>
          </a:p>
          <a:p>
            <a:pPr indent="-317500" lvl="0" marL="457200" rtl="0" algn="just">
              <a:lnSpc>
                <a:spcPct val="140000"/>
              </a:lnSpc>
              <a:spcBef>
                <a:spcPts val="0"/>
              </a:spcBef>
              <a:spcAft>
                <a:spcPts val="0"/>
              </a:spcAft>
              <a:buSzPts val="1400"/>
              <a:buFont typeface="Arvo"/>
              <a:buChar char="●"/>
            </a:pPr>
            <a:r>
              <a:rPr lang="en" sz="1400">
                <a:latin typeface="Arvo"/>
                <a:ea typeface="Arvo"/>
                <a:cs typeface="Arvo"/>
                <a:sym typeface="Arvo"/>
              </a:rPr>
              <a:t>UML can be described as a general purpose visual modeling language to visualize, specify, construct, and document software system</a:t>
            </a:r>
            <a:endParaRPr sz="1400">
              <a:latin typeface="Arvo"/>
              <a:ea typeface="Arvo"/>
              <a:cs typeface="Arvo"/>
              <a:sym typeface="Arvo"/>
            </a:endParaRPr>
          </a:p>
          <a:p>
            <a:pPr indent="-317500" lvl="0" marL="457200" rtl="0" algn="just">
              <a:lnSpc>
                <a:spcPct val="140000"/>
              </a:lnSpc>
              <a:spcBef>
                <a:spcPts val="0"/>
              </a:spcBef>
              <a:spcAft>
                <a:spcPts val="0"/>
              </a:spcAft>
              <a:buSzPts val="1400"/>
              <a:buFont typeface="Arvo"/>
              <a:buChar char="●"/>
            </a:pPr>
            <a:r>
              <a:rPr lang="en" sz="1400">
                <a:latin typeface="Arvo"/>
                <a:ea typeface="Arvo"/>
                <a:cs typeface="Arvo"/>
                <a:sym typeface="Arvo"/>
              </a:rPr>
              <a:t>Although UML is generally used to model software systems, it is not limited within this boundary. It is also used to model non-software systems as well. For example, the process flow in a manufacturing unit, etc</a:t>
            </a:r>
            <a:endParaRPr sz="1400">
              <a:latin typeface="Arvo"/>
              <a:ea typeface="Arvo"/>
              <a:cs typeface="Arvo"/>
              <a:sym typeface="Arvo"/>
            </a:endParaRPr>
          </a:p>
        </p:txBody>
      </p:sp>
      <p:pic>
        <p:nvPicPr>
          <p:cNvPr id="107" name="Google Shape;107;p16"/>
          <p:cNvPicPr preferRelativeResize="0"/>
          <p:nvPr/>
        </p:nvPicPr>
        <p:blipFill rotWithShape="1">
          <a:blip r:embed="rId3">
            <a:alphaModFix/>
          </a:blip>
          <a:srcRect b="0" l="0" r="0" t="0"/>
          <a:stretch/>
        </p:blipFill>
        <p:spPr>
          <a:xfrm>
            <a:off x="6456002" y="137435"/>
            <a:ext cx="2491151" cy="1331925"/>
          </a:xfrm>
          <a:prstGeom prst="rect">
            <a:avLst/>
          </a:prstGeom>
          <a:noFill/>
          <a:ln>
            <a:noFill/>
          </a:ln>
        </p:spPr>
      </p:pic>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06">
                                            <p:txEl>
                                              <p:pRg end="0" st="0"/>
                                            </p:txEl>
                                          </p:spTgt>
                                        </p:tgtEl>
                                        <p:attrNameLst>
                                          <p:attrName>style.visibility</p:attrName>
                                        </p:attrNameLst>
                                      </p:cBhvr>
                                      <p:to>
                                        <p:strVal val="visible"/>
                                      </p:to>
                                    </p:set>
                                    <p:animEffect filter="fade" transition="in">
                                      <p:cBhvr>
                                        <p:cTn dur="500"/>
                                        <p:tgtEl>
                                          <p:spTgt spid="106">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106">
                                            <p:txEl>
                                              <p:pRg end="1" st="1"/>
                                            </p:txEl>
                                          </p:spTgt>
                                        </p:tgtEl>
                                        <p:attrNameLst>
                                          <p:attrName>style.visibility</p:attrName>
                                        </p:attrNameLst>
                                      </p:cBhvr>
                                      <p:to>
                                        <p:strVal val="visible"/>
                                      </p:to>
                                    </p:set>
                                    <p:animEffect filter="fade" transition="in">
                                      <p:cBhvr>
                                        <p:cTn dur="500"/>
                                        <p:tgtEl>
                                          <p:spTgt spid="106">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106">
                                            <p:txEl>
                                              <p:pRg end="2" st="2"/>
                                            </p:txEl>
                                          </p:spTgt>
                                        </p:tgtEl>
                                        <p:attrNameLst>
                                          <p:attrName>style.visibility</p:attrName>
                                        </p:attrNameLst>
                                      </p:cBhvr>
                                      <p:to>
                                        <p:strVal val="visible"/>
                                      </p:to>
                                    </p:set>
                                    <p:animEffect filter="fade" transition="in">
                                      <p:cBhvr>
                                        <p:cTn dur="500"/>
                                        <p:tgtEl>
                                          <p:spTgt spid="106">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106">
                                            <p:txEl>
                                              <p:pRg end="3" st="3"/>
                                            </p:txEl>
                                          </p:spTgt>
                                        </p:tgtEl>
                                        <p:attrNameLst>
                                          <p:attrName>style.visibility</p:attrName>
                                        </p:attrNameLst>
                                      </p:cBhvr>
                                      <p:to>
                                        <p:strVal val="visible"/>
                                      </p:to>
                                    </p:set>
                                    <p:animEffect filter="fade" transition="in">
                                      <p:cBhvr>
                                        <p:cTn dur="500"/>
                                        <p:tgtEl>
                                          <p:spTgt spid="106">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106">
                                            <p:txEl>
                                              <p:pRg end="4" st="4"/>
                                            </p:txEl>
                                          </p:spTgt>
                                        </p:tgtEl>
                                        <p:attrNameLst>
                                          <p:attrName>style.visibility</p:attrName>
                                        </p:attrNameLst>
                                      </p:cBhvr>
                                      <p:to>
                                        <p:strVal val="visible"/>
                                      </p:to>
                                    </p:set>
                                    <p:animEffect filter="fade" transition="in">
                                      <p:cBhvr>
                                        <p:cTn dur="500"/>
                                        <p:tgtEl>
                                          <p:spTgt spid="106">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990"/>
              <a:buNone/>
            </a:pPr>
            <a:r>
              <a:rPr b="1" lang="en" sz="2220">
                <a:latin typeface="Lato"/>
                <a:ea typeface="Lato"/>
                <a:cs typeface="Lato"/>
                <a:sym typeface="Lato"/>
              </a:rPr>
              <a:t>Uses of UML Diagram</a:t>
            </a:r>
            <a:endParaRPr b="1" sz="2220">
              <a:latin typeface="Lato"/>
              <a:ea typeface="Lato"/>
              <a:cs typeface="Lato"/>
              <a:sym typeface="Lato"/>
            </a:endParaRPr>
          </a:p>
        </p:txBody>
      </p:sp>
      <p:sp>
        <p:nvSpPr>
          <p:cNvPr id="113" name="Google Shape;113;p17"/>
          <p:cNvSpPr txBox="1"/>
          <p:nvPr>
            <p:ph idx="1" type="body"/>
          </p:nvPr>
        </p:nvSpPr>
        <p:spPr>
          <a:xfrm>
            <a:off x="311700" y="1152475"/>
            <a:ext cx="8520600" cy="37359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688"/>
              <a:buNone/>
            </a:pPr>
            <a:r>
              <a:rPr lang="en" sz="1225">
                <a:latin typeface="Arvo"/>
                <a:ea typeface="Arvo"/>
                <a:cs typeface="Arvo"/>
                <a:sym typeface="Arvo"/>
              </a:rPr>
              <a:t>• As a sketch: </a:t>
            </a:r>
            <a:br>
              <a:rPr lang="en" sz="1225">
                <a:latin typeface="Arvo"/>
                <a:ea typeface="Arvo"/>
                <a:cs typeface="Arvo"/>
                <a:sym typeface="Arvo"/>
              </a:rPr>
            </a:br>
            <a:r>
              <a:rPr lang="en" sz="1225">
                <a:latin typeface="Arvo"/>
                <a:ea typeface="Arvo"/>
                <a:cs typeface="Arvo"/>
                <a:sym typeface="Arvo"/>
              </a:rPr>
              <a:t>	to communicate aspects of system </a:t>
            </a:r>
            <a:endParaRPr sz="1225">
              <a:latin typeface="Arvo"/>
              <a:ea typeface="Arvo"/>
              <a:cs typeface="Arvo"/>
              <a:sym typeface="Arvo"/>
            </a:endParaRPr>
          </a:p>
          <a:p>
            <a:pPr indent="457200" lvl="0" marL="0" rtl="0" algn="l">
              <a:lnSpc>
                <a:spcPct val="100000"/>
              </a:lnSpc>
              <a:spcBef>
                <a:spcPts val="1200"/>
              </a:spcBef>
              <a:spcAft>
                <a:spcPts val="0"/>
              </a:spcAft>
              <a:buSzPts val="688"/>
              <a:buNone/>
            </a:pPr>
            <a:r>
              <a:rPr lang="en" sz="1225">
                <a:latin typeface="Arvo"/>
                <a:ea typeface="Arvo"/>
                <a:cs typeface="Arvo"/>
                <a:sym typeface="Arvo"/>
              </a:rPr>
              <a:t>• Forward design: doing UML before coding </a:t>
            </a:r>
            <a:endParaRPr sz="1225">
              <a:latin typeface="Arvo"/>
              <a:ea typeface="Arvo"/>
              <a:cs typeface="Arvo"/>
              <a:sym typeface="Arvo"/>
            </a:endParaRPr>
          </a:p>
          <a:p>
            <a:pPr indent="457200" lvl="0" marL="0" rtl="0" algn="l">
              <a:lnSpc>
                <a:spcPct val="100000"/>
              </a:lnSpc>
              <a:spcBef>
                <a:spcPts val="1200"/>
              </a:spcBef>
              <a:spcAft>
                <a:spcPts val="0"/>
              </a:spcAft>
              <a:buSzPts val="688"/>
              <a:buNone/>
            </a:pPr>
            <a:r>
              <a:rPr lang="en" sz="1225">
                <a:latin typeface="Arvo"/>
                <a:ea typeface="Arvo"/>
                <a:cs typeface="Arvo"/>
                <a:sym typeface="Arvo"/>
              </a:rPr>
              <a:t>• Backward design: doing UML after coding as documentation </a:t>
            </a:r>
            <a:endParaRPr sz="1225">
              <a:latin typeface="Arvo"/>
              <a:ea typeface="Arvo"/>
              <a:cs typeface="Arvo"/>
              <a:sym typeface="Arvo"/>
            </a:endParaRPr>
          </a:p>
          <a:p>
            <a:pPr indent="457200" lvl="0" marL="0" rtl="0" algn="l">
              <a:lnSpc>
                <a:spcPct val="100000"/>
              </a:lnSpc>
              <a:spcBef>
                <a:spcPts val="1200"/>
              </a:spcBef>
              <a:spcAft>
                <a:spcPts val="0"/>
              </a:spcAft>
              <a:buSzPts val="688"/>
              <a:buNone/>
            </a:pPr>
            <a:r>
              <a:rPr lang="en" sz="1225">
                <a:latin typeface="Arvo"/>
                <a:ea typeface="Arvo"/>
                <a:cs typeface="Arvo"/>
                <a:sym typeface="Arvo"/>
              </a:rPr>
              <a:t>• Often done on whiteboard or paper </a:t>
            </a:r>
            <a:endParaRPr sz="1225">
              <a:latin typeface="Arvo"/>
              <a:ea typeface="Arvo"/>
              <a:cs typeface="Arvo"/>
              <a:sym typeface="Arvo"/>
            </a:endParaRPr>
          </a:p>
          <a:p>
            <a:pPr indent="457200" lvl="0" marL="0" rtl="0" algn="l">
              <a:lnSpc>
                <a:spcPct val="100000"/>
              </a:lnSpc>
              <a:spcBef>
                <a:spcPts val="1200"/>
              </a:spcBef>
              <a:spcAft>
                <a:spcPts val="0"/>
              </a:spcAft>
              <a:buSzPts val="688"/>
              <a:buNone/>
            </a:pPr>
            <a:r>
              <a:rPr lang="en" sz="1225">
                <a:latin typeface="Arvo"/>
                <a:ea typeface="Arvo"/>
                <a:cs typeface="Arvo"/>
                <a:sym typeface="Arvo"/>
              </a:rPr>
              <a:t>• Used to get rough selective ideas </a:t>
            </a:r>
            <a:endParaRPr sz="1225">
              <a:latin typeface="Arvo"/>
              <a:ea typeface="Arvo"/>
              <a:cs typeface="Arvo"/>
              <a:sym typeface="Arvo"/>
            </a:endParaRPr>
          </a:p>
          <a:p>
            <a:pPr indent="0" lvl="0" marL="0" rtl="0" algn="l">
              <a:lnSpc>
                <a:spcPct val="105000"/>
              </a:lnSpc>
              <a:spcBef>
                <a:spcPts val="1200"/>
              </a:spcBef>
              <a:spcAft>
                <a:spcPts val="0"/>
              </a:spcAft>
              <a:buSzPts val="688"/>
              <a:buNone/>
            </a:pPr>
            <a:r>
              <a:rPr lang="en" sz="1225">
                <a:latin typeface="Arvo"/>
                <a:ea typeface="Arvo"/>
                <a:cs typeface="Arvo"/>
                <a:sym typeface="Arvo"/>
              </a:rPr>
              <a:t>• As a blueprint: </a:t>
            </a:r>
            <a:br>
              <a:rPr lang="en" sz="1225">
                <a:latin typeface="Arvo"/>
                <a:ea typeface="Arvo"/>
                <a:cs typeface="Arvo"/>
                <a:sym typeface="Arvo"/>
              </a:rPr>
            </a:br>
            <a:r>
              <a:rPr lang="en" sz="1225">
                <a:latin typeface="Arvo"/>
                <a:ea typeface="Arvo"/>
                <a:cs typeface="Arvo"/>
                <a:sym typeface="Arvo"/>
              </a:rPr>
              <a:t>	a complete design to be implemented </a:t>
            </a:r>
            <a:endParaRPr sz="1225">
              <a:latin typeface="Arvo"/>
              <a:ea typeface="Arvo"/>
              <a:cs typeface="Arvo"/>
              <a:sym typeface="Arvo"/>
            </a:endParaRPr>
          </a:p>
          <a:p>
            <a:pPr indent="457200" lvl="0" marL="0" rtl="0" algn="l">
              <a:lnSpc>
                <a:spcPct val="105000"/>
              </a:lnSpc>
              <a:spcBef>
                <a:spcPts val="1200"/>
              </a:spcBef>
              <a:spcAft>
                <a:spcPts val="0"/>
              </a:spcAft>
              <a:buSzPts val="688"/>
              <a:buNone/>
            </a:pPr>
            <a:r>
              <a:rPr lang="en" sz="1225">
                <a:latin typeface="Arvo"/>
                <a:ea typeface="Arvo"/>
                <a:cs typeface="Arvo"/>
                <a:sym typeface="Arvo"/>
              </a:rPr>
              <a:t>• Sometimes done with CASE (Computer-Aided Software Engineering) tools </a:t>
            </a:r>
            <a:endParaRPr sz="1225">
              <a:latin typeface="Arvo"/>
              <a:ea typeface="Arvo"/>
              <a:cs typeface="Arvo"/>
              <a:sym typeface="Arvo"/>
            </a:endParaRPr>
          </a:p>
          <a:p>
            <a:pPr indent="0" lvl="0" marL="0" rtl="0" algn="l">
              <a:lnSpc>
                <a:spcPct val="105000"/>
              </a:lnSpc>
              <a:spcBef>
                <a:spcPts val="1200"/>
              </a:spcBef>
              <a:spcAft>
                <a:spcPts val="0"/>
              </a:spcAft>
              <a:buSzPts val="688"/>
              <a:buNone/>
            </a:pPr>
            <a:r>
              <a:rPr lang="en" sz="1225">
                <a:latin typeface="Arvo"/>
                <a:ea typeface="Arvo"/>
                <a:cs typeface="Arvo"/>
                <a:sym typeface="Arvo"/>
              </a:rPr>
              <a:t>• As a programming language: </a:t>
            </a:r>
            <a:br>
              <a:rPr lang="en" sz="1225">
                <a:latin typeface="Arvo"/>
                <a:ea typeface="Arvo"/>
                <a:cs typeface="Arvo"/>
                <a:sym typeface="Arvo"/>
              </a:rPr>
            </a:br>
            <a:r>
              <a:rPr lang="en" sz="1225">
                <a:latin typeface="Arvo"/>
                <a:ea typeface="Arvo"/>
                <a:cs typeface="Arvo"/>
                <a:sym typeface="Arvo"/>
              </a:rPr>
              <a:t>	with the right tools, code can be auto-generated and executed from UML </a:t>
            </a:r>
            <a:endParaRPr sz="1225">
              <a:latin typeface="Arvo"/>
              <a:ea typeface="Arvo"/>
              <a:cs typeface="Arvo"/>
              <a:sym typeface="Arvo"/>
            </a:endParaRPr>
          </a:p>
          <a:p>
            <a:pPr indent="0" lvl="0" marL="0" rtl="0" algn="l">
              <a:lnSpc>
                <a:spcPct val="105000"/>
              </a:lnSpc>
              <a:spcBef>
                <a:spcPts val="1200"/>
              </a:spcBef>
              <a:spcAft>
                <a:spcPts val="1200"/>
              </a:spcAft>
              <a:buSzPts val="688"/>
              <a:buNone/>
            </a:pPr>
            <a:r>
              <a:rPr lang="en" sz="1225">
                <a:latin typeface="Arvo"/>
                <a:ea typeface="Arvo"/>
                <a:cs typeface="Arvo"/>
                <a:sym typeface="Arvo"/>
              </a:rPr>
              <a:t>	• Only good if this is faster than coding in a "real" language</a:t>
            </a:r>
            <a:endParaRPr sz="1225">
              <a:latin typeface="Arvo"/>
              <a:ea typeface="Arvo"/>
              <a:cs typeface="Arvo"/>
              <a:sym typeface="Arvo"/>
            </a:endParaRPr>
          </a:p>
        </p:txBody>
      </p:sp>
      <p:pic>
        <p:nvPicPr>
          <p:cNvPr id="114" name="Google Shape;114;p17"/>
          <p:cNvPicPr preferRelativeResize="0"/>
          <p:nvPr/>
        </p:nvPicPr>
        <p:blipFill rotWithShape="1">
          <a:blip r:embed="rId3">
            <a:alphaModFix/>
          </a:blip>
          <a:srcRect b="0" l="0" r="0" t="0"/>
          <a:stretch/>
        </p:blipFill>
        <p:spPr>
          <a:xfrm>
            <a:off x="6456002" y="137435"/>
            <a:ext cx="2491151" cy="13319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8"/>
          <p:cNvSpPr txBox="1"/>
          <p:nvPr>
            <p:ph type="ctrTitle"/>
          </p:nvPr>
        </p:nvSpPr>
        <p:spPr>
          <a:xfrm>
            <a:off x="311727" y="538617"/>
            <a:ext cx="6234600" cy="342600"/>
          </a:xfrm>
          <a:prstGeom prst="rect">
            <a:avLst/>
          </a:prstGeom>
          <a:noFill/>
          <a:ln>
            <a:noFill/>
          </a:ln>
        </p:spPr>
        <p:txBody>
          <a:bodyPr anchorCtr="0" anchor="b" bIns="34275" lIns="68575" spcFirstLastPara="1" rIns="68575" wrap="square" tIns="34275">
            <a:noAutofit/>
          </a:bodyPr>
          <a:lstStyle/>
          <a:p>
            <a:pPr indent="0" lvl="0" marL="0" rtl="0" algn="l">
              <a:lnSpc>
                <a:spcPct val="90000"/>
              </a:lnSpc>
              <a:spcBef>
                <a:spcPts val="0"/>
              </a:spcBef>
              <a:spcAft>
                <a:spcPts val="0"/>
              </a:spcAft>
              <a:buClr>
                <a:schemeClr val="dk1"/>
              </a:buClr>
              <a:buSzPts val="2100"/>
              <a:buFont typeface="Lato Black"/>
              <a:buNone/>
            </a:pPr>
            <a:r>
              <a:rPr lang="en" sz="2100">
                <a:latin typeface="Lato Black"/>
                <a:ea typeface="Lato Black"/>
                <a:cs typeface="Lato Black"/>
                <a:sym typeface="Lato Black"/>
              </a:rPr>
              <a:t>Types of UML diagram</a:t>
            </a:r>
            <a:endParaRPr sz="2100">
              <a:latin typeface="Lato Black"/>
              <a:ea typeface="Lato Black"/>
              <a:cs typeface="Lato Black"/>
              <a:sym typeface="Lato Black"/>
            </a:endParaRPr>
          </a:p>
        </p:txBody>
      </p:sp>
      <p:sp>
        <p:nvSpPr>
          <p:cNvPr id="120" name="Google Shape;120;p18"/>
          <p:cNvSpPr txBox="1"/>
          <p:nvPr>
            <p:ph idx="1" type="subTitle"/>
          </p:nvPr>
        </p:nvSpPr>
        <p:spPr>
          <a:xfrm>
            <a:off x="311727" y="1104623"/>
            <a:ext cx="6858000" cy="3451200"/>
          </a:xfrm>
          <a:prstGeom prst="rect">
            <a:avLst/>
          </a:prstGeom>
          <a:noFill/>
          <a:ln>
            <a:noFill/>
          </a:ln>
        </p:spPr>
        <p:txBody>
          <a:bodyPr anchorCtr="0" anchor="t" bIns="34275" lIns="68575" spcFirstLastPara="1" rIns="68575" wrap="square" tIns="34275">
            <a:normAutofit lnSpcReduction="20000"/>
          </a:bodyPr>
          <a:lstStyle/>
          <a:p>
            <a:pPr indent="0" lvl="0" marL="0" rtl="0" algn="just">
              <a:lnSpc>
                <a:spcPct val="140000"/>
              </a:lnSpc>
              <a:spcBef>
                <a:spcPts val="800"/>
              </a:spcBef>
              <a:spcAft>
                <a:spcPts val="0"/>
              </a:spcAft>
              <a:buSzPts val="2800"/>
              <a:buNone/>
            </a:pPr>
            <a:r>
              <a:rPr lang="en" sz="1350">
                <a:latin typeface="Arvo"/>
                <a:ea typeface="Arvo"/>
                <a:cs typeface="Arvo"/>
                <a:sym typeface="Arvo"/>
              </a:rPr>
              <a:t>There are two main categories of UML Diagram</a:t>
            </a:r>
            <a:endParaRPr sz="1350">
              <a:latin typeface="Arvo"/>
              <a:ea typeface="Arvo"/>
              <a:cs typeface="Arvo"/>
              <a:sym typeface="Arvo"/>
            </a:endParaRPr>
          </a:p>
          <a:p>
            <a:pPr indent="-317500" lvl="0" marL="457200" rtl="0" algn="just">
              <a:lnSpc>
                <a:spcPct val="140000"/>
              </a:lnSpc>
              <a:spcBef>
                <a:spcPts val="800"/>
              </a:spcBef>
              <a:spcAft>
                <a:spcPts val="0"/>
              </a:spcAft>
              <a:buSzPts val="1400"/>
              <a:buFont typeface="Arvo"/>
              <a:buChar char="●"/>
            </a:pPr>
            <a:r>
              <a:rPr lang="en" sz="1400">
                <a:latin typeface="Arvo"/>
                <a:ea typeface="Arvo"/>
                <a:cs typeface="Arvo"/>
                <a:sym typeface="Arvo"/>
              </a:rPr>
              <a:t>Structural Diagram</a:t>
            </a:r>
            <a:endParaRPr sz="1400">
              <a:latin typeface="Arvo"/>
              <a:ea typeface="Arvo"/>
              <a:cs typeface="Arvo"/>
              <a:sym typeface="Arvo"/>
            </a:endParaRPr>
          </a:p>
          <a:p>
            <a:pPr indent="0" lvl="0" marL="914400" rtl="0" algn="just">
              <a:lnSpc>
                <a:spcPct val="140000"/>
              </a:lnSpc>
              <a:spcBef>
                <a:spcPts val="800"/>
              </a:spcBef>
              <a:spcAft>
                <a:spcPts val="0"/>
              </a:spcAft>
              <a:buSzPts val="2800"/>
              <a:buNone/>
            </a:pPr>
            <a:r>
              <a:rPr lang="en" sz="1400">
                <a:latin typeface="Arvo"/>
                <a:ea typeface="Arvo"/>
                <a:cs typeface="Arvo"/>
                <a:sym typeface="Arvo"/>
              </a:rPr>
              <a:t>Structure diagrams show the things in the modeled system. In a more technical term, they show different objects in a system</a:t>
            </a:r>
            <a:endParaRPr sz="1400">
              <a:latin typeface="Arvo"/>
              <a:ea typeface="Arvo"/>
              <a:cs typeface="Arvo"/>
              <a:sym typeface="Arvo"/>
            </a:endParaRPr>
          </a:p>
          <a:p>
            <a:pPr indent="-317500" lvl="0" marL="457200" rtl="0" algn="just">
              <a:lnSpc>
                <a:spcPct val="140000"/>
              </a:lnSpc>
              <a:spcBef>
                <a:spcPts val="800"/>
              </a:spcBef>
              <a:spcAft>
                <a:spcPts val="0"/>
              </a:spcAft>
              <a:buSzPts val="1400"/>
              <a:buFont typeface="Arvo"/>
              <a:buChar char="●"/>
            </a:pPr>
            <a:r>
              <a:rPr lang="en" sz="1400">
                <a:latin typeface="Arvo"/>
                <a:ea typeface="Arvo"/>
                <a:cs typeface="Arvo"/>
                <a:sym typeface="Arvo"/>
              </a:rPr>
              <a:t>Behavioral diagrams</a:t>
            </a:r>
            <a:endParaRPr sz="1400">
              <a:latin typeface="Arvo"/>
              <a:ea typeface="Arvo"/>
              <a:cs typeface="Arvo"/>
              <a:sym typeface="Arvo"/>
            </a:endParaRPr>
          </a:p>
          <a:p>
            <a:pPr indent="0" lvl="0" marL="914400" rtl="0" algn="just">
              <a:lnSpc>
                <a:spcPct val="140000"/>
              </a:lnSpc>
              <a:spcBef>
                <a:spcPts val="800"/>
              </a:spcBef>
              <a:spcAft>
                <a:spcPts val="0"/>
              </a:spcAft>
              <a:buSzPts val="2800"/>
              <a:buNone/>
            </a:pPr>
            <a:r>
              <a:rPr lang="en" sz="1400">
                <a:latin typeface="Arvo"/>
                <a:ea typeface="Arvo"/>
                <a:cs typeface="Arvo"/>
                <a:sym typeface="Arvo"/>
              </a:rPr>
              <a:t>Behavioral diagrams show what should happen in a system. They describe how the objects interact with each other to create a functioning system.</a:t>
            </a:r>
            <a:endParaRPr sz="1400">
              <a:latin typeface="Arvo"/>
              <a:ea typeface="Arvo"/>
              <a:cs typeface="Arvo"/>
              <a:sym typeface="Arvo"/>
            </a:endParaRPr>
          </a:p>
          <a:p>
            <a:pPr indent="0" lvl="0" marL="914400" rtl="0" algn="just">
              <a:lnSpc>
                <a:spcPct val="140000"/>
              </a:lnSpc>
              <a:spcBef>
                <a:spcPts val="800"/>
              </a:spcBef>
              <a:spcAft>
                <a:spcPts val="0"/>
              </a:spcAft>
              <a:buSzPts val="2800"/>
              <a:buNone/>
            </a:pPr>
            <a:r>
              <a:t/>
            </a:r>
            <a:endParaRPr sz="1350">
              <a:latin typeface="Arvo"/>
              <a:ea typeface="Arvo"/>
              <a:cs typeface="Arvo"/>
              <a:sym typeface="Arvo"/>
            </a:endParaRPr>
          </a:p>
          <a:p>
            <a:pPr indent="0" lvl="0" marL="0" rtl="0" algn="just">
              <a:lnSpc>
                <a:spcPct val="140000"/>
              </a:lnSpc>
              <a:spcBef>
                <a:spcPts val="800"/>
              </a:spcBef>
              <a:spcAft>
                <a:spcPts val="0"/>
              </a:spcAft>
              <a:buSzPts val="2800"/>
              <a:buNone/>
            </a:pPr>
            <a:r>
              <a:t/>
            </a:r>
            <a:endParaRPr sz="2171">
              <a:latin typeface="Arvo"/>
              <a:ea typeface="Arvo"/>
              <a:cs typeface="Arvo"/>
              <a:sym typeface="Arvo"/>
            </a:endParaRPr>
          </a:p>
        </p:txBody>
      </p:sp>
      <p:pic>
        <p:nvPicPr>
          <p:cNvPr id="121" name="Google Shape;121;p18"/>
          <p:cNvPicPr preferRelativeResize="0"/>
          <p:nvPr/>
        </p:nvPicPr>
        <p:blipFill rotWithShape="1">
          <a:blip r:embed="rId3">
            <a:alphaModFix/>
          </a:blip>
          <a:srcRect b="0" l="0" r="0" t="0"/>
          <a:stretch/>
        </p:blipFill>
        <p:spPr>
          <a:xfrm>
            <a:off x="6456002" y="137435"/>
            <a:ext cx="2491151" cy="1331925"/>
          </a:xfrm>
          <a:prstGeom prst="rect">
            <a:avLst/>
          </a:prstGeom>
          <a:noFill/>
          <a:ln>
            <a:noFill/>
          </a:ln>
        </p:spPr>
      </p:pic>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20">
                                            <p:txEl>
                                              <p:pRg end="0" st="0"/>
                                            </p:txEl>
                                          </p:spTgt>
                                        </p:tgtEl>
                                        <p:attrNameLst>
                                          <p:attrName>style.visibility</p:attrName>
                                        </p:attrNameLst>
                                      </p:cBhvr>
                                      <p:to>
                                        <p:strVal val="visible"/>
                                      </p:to>
                                    </p:set>
                                    <p:animEffect filter="fade" transition="in">
                                      <p:cBhvr>
                                        <p:cTn dur="500"/>
                                        <p:tgtEl>
                                          <p:spTgt spid="120">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120">
                                            <p:txEl>
                                              <p:pRg end="1" st="1"/>
                                            </p:txEl>
                                          </p:spTgt>
                                        </p:tgtEl>
                                        <p:attrNameLst>
                                          <p:attrName>style.visibility</p:attrName>
                                        </p:attrNameLst>
                                      </p:cBhvr>
                                      <p:to>
                                        <p:strVal val="visible"/>
                                      </p:to>
                                    </p:set>
                                    <p:animEffect filter="fade" transition="in">
                                      <p:cBhvr>
                                        <p:cTn dur="500"/>
                                        <p:tgtEl>
                                          <p:spTgt spid="120">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120">
                                            <p:txEl>
                                              <p:pRg end="2" st="2"/>
                                            </p:txEl>
                                          </p:spTgt>
                                        </p:tgtEl>
                                        <p:attrNameLst>
                                          <p:attrName>style.visibility</p:attrName>
                                        </p:attrNameLst>
                                      </p:cBhvr>
                                      <p:to>
                                        <p:strVal val="visible"/>
                                      </p:to>
                                    </p:set>
                                    <p:animEffect filter="fade" transition="in">
                                      <p:cBhvr>
                                        <p:cTn dur="500"/>
                                        <p:tgtEl>
                                          <p:spTgt spid="120">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120">
                                            <p:txEl>
                                              <p:pRg end="3" st="3"/>
                                            </p:txEl>
                                          </p:spTgt>
                                        </p:tgtEl>
                                        <p:attrNameLst>
                                          <p:attrName>style.visibility</p:attrName>
                                        </p:attrNameLst>
                                      </p:cBhvr>
                                      <p:to>
                                        <p:strVal val="visible"/>
                                      </p:to>
                                    </p:set>
                                    <p:animEffect filter="fade" transition="in">
                                      <p:cBhvr>
                                        <p:cTn dur="500"/>
                                        <p:tgtEl>
                                          <p:spTgt spid="120">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120">
                                            <p:txEl>
                                              <p:pRg end="4" st="4"/>
                                            </p:txEl>
                                          </p:spTgt>
                                        </p:tgtEl>
                                        <p:attrNameLst>
                                          <p:attrName>style.visibility</p:attrName>
                                        </p:attrNameLst>
                                      </p:cBhvr>
                                      <p:to>
                                        <p:strVal val="visible"/>
                                      </p:to>
                                    </p:set>
                                    <p:animEffect filter="fade" transition="in">
                                      <p:cBhvr>
                                        <p:cTn dur="500"/>
                                        <p:tgtEl>
                                          <p:spTgt spid="120">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120">
                                            <p:txEl>
                                              <p:pRg end="5" st="5"/>
                                            </p:txEl>
                                          </p:spTgt>
                                        </p:tgtEl>
                                        <p:attrNameLst>
                                          <p:attrName>style.visibility</p:attrName>
                                        </p:attrNameLst>
                                      </p:cBhvr>
                                      <p:to>
                                        <p:strVal val="visible"/>
                                      </p:to>
                                    </p:set>
                                    <p:animEffect filter="fade" transition="in">
                                      <p:cBhvr>
                                        <p:cTn dur="500"/>
                                        <p:tgtEl>
                                          <p:spTgt spid="120">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120">
                                            <p:txEl>
                                              <p:pRg end="6" st="6"/>
                                            </p:txEl>
                                          </p:spTgt>
                                        </p:tgtEl>
                                        <p:attrNameLst>
                                          <p:attrName>style.visibility</p:attrName>
                                        </p:attrNameLst>
                                      </p:cBhvr>
                                      <p:to>
                                        <p:strVal val="visible"/>
                                      </p:to>
                                    </p:set>
                                    <p:animEffect filter="fade" transition="in">
                                      <p:cBhvr>
                                        <p:cTn dur="500"/>
                                        <p:tgtEl>
                                          <p:spTgt spid="120">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9"/>
          <p:cNvSpPr txBox="1"/>
          <p:nvPr>
            <p:ph idx="12" type="sldNum"/>
          </p:nvPr>
        </p:nvSpPr>
        <p:spPr>
          <a:xfrm>
            <a:off x="6354343" y="3497413"/>
            <a:ext cx="411600" cy="2952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None/>
            </a:pPr>
            <a:fld id="{00000000-1234-1234-1234-123412341234}" type="slidenum">
              <a:rPr lang="en"/>
              <a:t>‹#›</a:t>
            </a:fld>
            <a:endParaRPr/>
          </a:p>
        </p:txBody>
      </p:sp>
      <p:pic>
        <p:nvPicPr>
          <p:cNvPr id="127" name="Google Shape;127;p19"/>
          <p:cNvPicPr preferRelativeResize="0"/>
          <p:nvPr/>
        </p:nvPicPr>
        <p:blipFill rotWithShape="1">
          <a:blip r:embed="rId3">
            <a:alphaModFix/>
          </a:blip>
          <a:srcRect b="0" l="0" r="0" t="0"/>
          <a:stretch/>
        </p:blipFill>
        <p:spPr>
          <a:xfrm>
            <a:off x="0" y="0"/>
            <a:ext cx="8004493" cy="5143500"/>
          </a:xfrm>
          <a:prstGeom prst="rect">
            <a:avLst/>
          </a:prstGeom>
          <a:noFill/>
          <a:ln>
            <a:noFill/>
          </a:ln>
        </p:spPr>
      </p:pic>
      <p:pic>
        <p:nvPicPr>
          <p:cNvPr id="128" name="Google Shape;128;p19"/>
          <p:cNvPicPr preferRelativeResize="0"/>
          <p:nvPr/>
        </p:nvPicPr>
        <p:blipFill rotWithShape="1">
          <a:blip r:embed="rId4">
            <a:alphaModFix/>
          </a:blip>
          <a:srcRect b="0" l="0" r="0" t="0"/>
          <a:stretch/>
        </p:blipFill>
        <p:spPr>
          <a:xfrm>
            <a:off x="6456002" y="137435"/>
            <a:ext cx="2491151" cy="1331925"/>
          </a:xfrm>
          <a:prstGeom prst="rect">
            <a:avLst/>
          </a:prstGeom>
          <a:noFill/>
          <a:ln>
            <a:noFill/>
          </a:ln>
        </p:spPr>
      </p:pic>
    </p:spTree>
  </p:cSld>
  <p:clrMapOvr>
    <a:masterClrMapping/>
  </p:clrMapOvr>
  <p:transition spd="med">
    <p:push/>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0"/>
          <p:cNvSpPr txBox="1"/>
          <p:nvPr>
            <p:ph type="ctrTitle"/>
          </p:nvPr>
        </p:nvSpPr>
        <p:spPr>
          <a:xfrm>
            <a:off x="311727" y="538617"/>
            <a:ext cx="6234600" cy="342600"/>
          </a:xfrm>
          <a:prstGeom prst="rect">
            <a:avLst/>
          </a:prstGeom>
          <a:noFill/>
          <a:ln>
            <a:noFill/>
          </a:ln>
        </p:spPr>
        <p:txBody>
          <a:bodyPr anchorCtr="0" anchor="b" bIns="34275" lIns="68575" spcFirstLastPara="1" rIns="68575" wrap="square" tIns="34275">
            <a:noAutofit/>
          </a:bodyPr>
          <a:lstStyle/>
          <a:p>
            <a:pPr indent="0" lvl="0" marL="0" rtl="0" algn="l">
              <a:lnSpc>
                <a:spcPct val="90000"/>
              </a:lnSpc>
              <a:spcBef>
                <a:spcPts val="0"/>
              </a:spcBef>
              <a:spcAft>
                <a:spcPts val="0"/>
              </a:spcAft>
              <a:buClr>
                <a:schemeClr val="dk1"/>
              </a:buClr>
              <a:buSzPts val="2100"/>
              <a:buFont typeface="Lato Black"/>
              <a:buNone/>
            </a:pPr>
            <a:r>
              <a:t/>
            </a:r>
            <a:endParaRPr sz="2100">
              <a:latin typeface="Lato Black"/>
              <a:ea typeface="Lato Black"/>
              <a:cs typeface="Lato Black"/>
              <a:sym typeface="Lato Black"/>
            </a:endParaRPr>
          </a:p>
        </p:txBody>
      </p:sp>
      <p:sp>
        <p:nvSpPr>
          <p:cNvPr id="134" name="Google Shape;134;p20"/>
          <p:cNvSpPr txBox="1"/>
          <p:nvPr>
            <p:ph idx="1" type="subTitle"/>
          </p:nvPr>
        </p:nvSpPr>
        <p:spPr>
          <a:xfrm>
            <a:off x="311727" y="1104623"/>
            <a:ext cx="6858000" cy="3451200"/>
          </a:xfrm>
          <a:prstGeom prst="rect">
            <a:avLst/>
          </a:prstGeom>
          <a:noFill/>
          <a:ln>
            <a:noFill/>
          </a:ln>
        </p:spPr>
        <p:txBody>
          <a:bodyPr anchorCtr="0" anchor="t" bIns="34275" lIns="68575" spcFirstLastPara="1" rIns="68575" wrap="square" tIns="34275">
            <a:normAutofit/>
          </a:bodyPr>
          <a:lstStyle/>
          <a:p>
            <a:pPr indent="0" lvl="0" marL="0" rtl="0" algn="just">
              <a:lnSpc>
                <a:spcPct val="140000"/>
              </a:lnSpc>
              <a:spcBef>
                <a:spcPts val="800"/>
              </a:spcBef>
              <a:spcAft>
                <a:spcPts val="0"/>
              </a:spcAft>
              <a:buSzPts val="2800"/>
              <a:buNone/>
            </a:pPr>
            <a:r>
              <a:t/>
            </a:r>
            <a:endParaRPr sz="1350">
              <a:latin typeface="Arvo"/>
              <a:ea typeface="Arvo"/>
              <a:cs typeface="Arvo"/>
              <a:sym typeface="Arvo"/>
            </a:endParaRPr>
          </a:p>
          <a:p>
            <a:pPr indent="0" lvl="0" marL="0" rtl="0" algn="just">
              <a:lnSpc>
                <a:spcPct val="140000"/>
              </a:lnSpc>
              <a:spcBef>
                <a:spcPts val="800"/>
              </a:spcBef>
              <a:spcAft>
                <a:spcPts val="0"/>
              </a:spcAft>
              <a:buSzPts val="2800"/>
              <a:buNone/>
            </a:pPr>
            <a:r>
              <a:rPr lang="en" sz="1350">
                <a:latin typeface="Arvo"/>
                <a:ea typeface="Arvo"/>
                <a:cs typeface="Arvo"/>
                <a:sym typeface="Arvo"/>
              </a:rPr>
              <a:t>There are 14 UML diagrams types in total, but we are going to study only these</a:t>
            </a:r>
            <a:endParaRPr sz="1350">
              <a:latin typeface="Arvo"/>
              <a:ea typeface="Arvo"/>
              <a:cs typeface="Arvo"/>
              <a:sym typeface="Arvo"/>
            </a:endParaRPr>
          </a:p>
          <a:p>
            <a:pPr indent="-314325" lvl="0" marL="457200" rtl="0" algn="just">
              <a:lnSpc>
                <a:spcPct val="140000"/>
              </a:lnSpc>
              <a:spcBef>
                <a:spcPts val="800"/>
              </a:spcBef>
              <a:spcAft>
                <a:spcPts val="0"/>
              </a:spcAft>
              <a:buSzPts val="1350"/>
              <a:buFont typeface="Arvo"/>
              <a:buChar char="●"/>
            </a:pPr>
            <a:r>
              <a:rPr lang="en" sz="1350">
                <a:latin typeface="Arvo"/>
                <a:ea typeface="Arvo"/>
                <a:cs typeface="Arvo"/>
                <a:sym typeface="Arvo"/>
              </a:rPr>
              <a:t>Class Diagram</a:t>
            </a:r>
            <a:endParaRPr sz="1350">
              <a:latin typeface="Arvo"/>
              <a:ea typeface="Arvo"/>
              <a:cs typeface="Arvo"/>
              <a:sym typeface="Arvo"/>
            </a:endParaRPr>
          </a:p>
          <a:p>
            <a:pPr indent="-314325" lvl="0" marL="457200" rtl="0" algn="just">
              <a:lnSpc>
                <a:spcPct val="140000"/>
              </a:lnSpc>
              <a:spcBef>
                <a:spcPts val="0"/>
              </a:spcBef>
              <a:spcAft>
                <a:spcPts val="0"/>
              </a:spcAft>
              <a:buSzPts val="1350"/>
              <a:buFont typeface="Arvo"/>
              <a:buChar char="●"/>
            </a:pPr>
            <a:r>
              <a:rPr lang="en" sz="1350">
                <a:latin typeface="Arvo"/>
                <a:ea typeface="Arvo"/>
                <a:cs typeface="Arvo"/>
                <a:sym typeface="Arvo"/>
              </a:rPr>
              <a:t>Object Diagram</a:t>
            </a:r>
            <a:endParaRPr sz="1350">
              <a:latin typeface="Arvo"/>
              <a:ea typeface="Arvo"/>
              <a:cs typeface="Arvo"/>
              <a:sym typeface="Arvo"/>
            </a:endParaRPr>
          </a:p>
          <a:p>
            <a:pPr indent="-314325" lvl="0" marL="457200" rtl="0" algn="just">
              <a:lnSpc>
                <a:spcPct val="140000"/>
              </a:lnSpc>
              <a:spcBef>
                <a:spcPts val="0"/>
              </a:spcBef>
              <a:spcAft>
                <a:spcPts val="0"/>
              </a:spcAft>
              <a:buSzPts val="1350"/>
              <a:buFont typeface="Arvo"/>
              <a:buChar char="●"/>
            </a:pPr>
            <a:r>
              <a:rPr lang="en" sz="1350">
                <a:latin typeface="Arvo"/>
                <a:ea typeface="Arvo"/>
                <a:cs typeface="Arvo"/>
                <a:sym typeface="Arvo"/>
              </a:rPr>
              <a:t>Deployment Diagram</a:t>
            </a:r>
            <a:endParaRPr sz="1350">
              <a:latin typeface="Arvo"/>
              <a:ea typeface="Arvo"/>
              <a:cs typeface="Arvo"/>
              <a:sym typeface="Arvo"/>
            </a:endParaRPr>
          </a:p>
          <a:p>
            <a:pPr indent="-314325" lvl="0" marL="457200" rtl="0" algn="just">
              <a:lnSpc>
                <a:spcPct val="140000"/>
              </a:lnSpc>
              <a:spcBef>
                <a:spcPts val="0"/>
              </a:spcBef>
              <a:spcAft>
                <a:spcPts val="0"/>
              </a:spcAft>
              <a:buSzPts val="1350"/>
              <a:buFont typeface="Arvo"/>
              <a:buChar char="●"/>
            </a:pPr>
            <a:r>
              <a:rPr lang="en" sz="1350">
                <a:latin typeface="Arvo"/>
                <a:ea typeface="Arvo"/>
                <a:cs typeface="Arvo"/>
                <a:sym typeface="Arvo"/>
              </a:rPr>
              <a:t>Use Case Diagram</a:t>
            </a:r>
            <a:endParaRPr sz="1350">
              <a:latin typeface="Arvo"/>
              <a:ea typeface="Arvo"/>
              <a:cs typeface="Arvo"/>
              <a:sym typeface="Arvo"/>
            </a:endParaRPr>
          </a:p>
          <a:p>
            <a:pPr indent="-314325" lvl="0" marL="457200" rtl="0" algn="just">
              <a:lnSpc>
                <a:spcPct val="140000"/>
              </a:lnSpc>
              <a:spcBef>
                <a:spcPts val="0"/>
              </a:spcBef>
              <a:spcAft>
                <a:spcPts val="0"/>
              </a:spcAft>
              <a:buSzPts val="1350"/>
              <a:buFont typeface="Arvo"/>
              <a:buChar char="●"/>
            </a:pPr>
            <a:r>
              <a:rPr lang="en" sz="1350">
                <a:latin typeface="Arvo"/>
                <a:ea typeface="Arvo"/>
                <a:cs typeface="Arvo"/>
                <a:sym typeface="Arvo"/>
              </a:rPr>
              <a:t>Activity Diagram</a:t>
            </a:r>
            <a:endParaRPr sz="1350">
              <a:latin typeface="Arvo"/>
              <a:ea typeface="Arvo"/>
              <a:cs typeface="Arvo"/>
              <a:sym typeface="Arvo"/>
            </a:endParaRPr>
          </a:p>
          <a:p>
            <a:pPr indent="-314325" lvl="0" marL="457200" rtl="0" algn="just">
              <a:lnSpc>
                <a:spcPct val="140000"/>
              </a:lnSpc>
              <a:spcBef>
                <a:spcPts val="0"/>
              </a:spcBef>
              <a:spcAft>
                <a:spcPts val="0"/>
              </a:spcAft>
              <a:buSzPts val="1350"/>
              <a:buFont typeface="Arvo"/>
              <a:buChar char="●"/>
            </a:pPr>
            <a:r>
              <a:rPr lang="en" sz="1350">
                <a:latin typeface="Arvo"/>
                <a:ea typeface="Arvo"/>
                <a:cs typeface="Arvo"/>
                <a:sym typeface="Arvo"/>
              </a:rPr>
              <a:t>Sequence Diagram</a:t>
            </a:r>
            <a:endParaRPr sz="1350">
              <a:latin typeface="Arvo"/>
              <a:ea typeface="Arvo"/>
              <a:cs typeface="Arvo"/>
              <a:sym typeface="Arvo"/>
            </a:endParaRPr>
          </a:p>
          <a:p>
            <a:pPr indent="0" lvl="0" marL="914400" rtl="0" algn="just">
              <a:lnSpc>
                <a:spcPct val="140000"/>
              </a:lnSpc>
              <a:spcBef>
                <a:spcPts val="800"/>
              </a:spcBef>
              <a:spcAft>
                <a:spcPts val="0"/>
              </a:spcAft>
              <a:buSzPts val="2800"/>
              <a:buNone/>
            </a:pPr>
            <a:r>
              <a:t/>
            </a:r>
            <a:endParaRPr sz="1350">
              <a:latin typeface="Arvo"/>
              <a:ea typeface="Arvo"/>
              <a:cs typeface="Arvo"/>
              <a:sym typeface="Arvo"/>
            </a:endParaRPr>
          </a:p>
          <a:p>
            <a:pPr indent="0" lvl="0" marL="0" rtl="0" algn="just">
              <a:lnSpc>
                <a:spcPct val="140000"/>
              </a:lnSpc>
              <a:spcBef>
                <a:spcPts val="800"/>
              </a:spcBef>
              <a:spcAft>
                <a:spcPts val="0"/>
              </a:spcAft>
              <a:buSzPts val="2800"/>
              <a:buNone/>
            </a:pPr>
            <a:r>
              <a:t/>
            </a:r>
            <a:endParaRPr sz="2171">
              <a:latin typeface="Arvo"/>
              <a:ea typeface="Arvo"/>
              <a:cs typeface="Arvo"/>
              <a:sym typeface="Arvo"/>
            </a:endParaRPr>
          </a:p>
        </p:txBody>
      </p:sp>
      <p:pic>
        <p:nvPicPr>
          <p:cNvPr id="135" name="Google Shape;135;p20"/>
          <p:cNvPicPr preferRelativeResize="0"/>
          <p:nvPr/>
        </p:nvPicPr>
        <p:blipFill rotWithShape="1">
          <a:blip r:embed="rId3">
            <a:alphaModFix/>
          </a:blip>
          <a:srcRect b="0" l="0" r="0" t="0"/>
          <a:stretch/>
        </p:blipFill>
        <p:spPr>
          <a:xfrm>
            <a:off x="6456002" y="137435"/>
            <a:ext cx="2491151" cy="1331925"/>
          </a:xfrm>
          <a:prstGeom prst="rect">
            <a:avLst/>
          </a:prstGeom>
          <a:noFill/>
          <a:ln>
            <a:noFill/>
          </a:ln>
        </p:spPr>
      </p:pic>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34">
                                            <p:txEl>
                                              <p:pRg end="0" st="0"/>
                                            </p:txEl>
                                          </p:spTgt>
                                        </p:tgtEl>
                                        <p:attrNameLst>
                                          <p:attrName>style.visibility</p:attrName>
                                        </p:attrNameLst>
                                      </p:cBhvr>
                                      <p:to>
                                        <p:strVal val="visible"/>
                                      </p:to>
                                    </p:set>
                                    <p:animEffect filter="fade" transition="in">
                                      <p:cBhvr>
                                        <p:cTn dur="500"/>
                                        <p:tgtEl>
                                          <p:spTgt spid="134">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134">
                                            <p:txEl>
                                              <p:pRg end="1" st="1"/>
                                            </p:txEl>
                                          </p:spTgt>
                                        </p:tgtEl>
                                        <p:attrNameLst>
                                          <p:attrName>style.visibility</p:attrName>
                                        </p:attrNameLst>
                                      </p:cBhvr>
                                      <p:to>
                                        <p:strVal val="visible"/>
                                      </p:to>
                                    </p:set>
                                    <p:animEffect filter="fade" transition="in">
                                      <p:cBhvr>
                                        <p:cTn dur="500"/>
                                        <p:tgtEl>
                                          <p:spTgt spid="134">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134">
                                            <p:txEl>
                                              <p:pRg end="2" st="2"/>
                                            </p:txEl>
                                          </p:spTgt>
                                        </p:tgtEl>
                                        <p:attrNameLst>
                                          <p:attrName>style.visibility</p:attrName>
                                        </p:attrNameLst>
                                      </p:cBhvr>
                                      <p:to>
                                        <p:strVal val="visible"/>
                                      </p:to>
                                    </p:set>
                                    <p:animEffect filter="fade" transition="in">
                                      <p:cBhvr>
                                        <p:cTn dur="500"/>
                                        <p:tgtEl>
                                          <p:spTgt spid="134">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134">
                                            <p:txEl>
                                              <p:pRg end="3" st="3"/>
                                            </p:txEl>
                                          </p:spTgt>
                                        </p:tgtEl>
                                        <p:attrNameLst>
                                          <p:attrName>style.visibility</p:attrName>
                                        </p:attrNameLst>
                                      </p:cBhvr>
                                      <p:to>
                                        <p:strVal val="visible"/>
                                      </p:to>
                                    </p:set>
                                    <p:animEffect filter="fade" transition="in">
                                      <p:cBhvr>
                                        <p:cTn dur="500"/>
                                        <p:tgtEl>
                                          <p:spTgt spid="134">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134">
                                            <p:txEl>
                                              <p:pRg end="4" st="4"/>
                                            </p:txEl>
                                          </p:spTgt>
                                        </p:tgtEl>
                                        <p:attrNameLst>
                                          <p:attrName>style.visibility</p:attrName>
                                        </p:attrNameLst>
                                      </p:cBhvr>
                                      <p:to>
                                        <p:strVal val="visible"/>
                                      </p:to>
                                    </p:set>
                                    <p:animEffect filter="fade" transition="in">
                                      <p:cBhvr>
                                        <p:cTn dur="500"/>
                                        <p:tgtEl>
                                          <p:spTgt spid="134">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134">
                                            <p:txEl>
                                              <p:pRg end="5" st="5"/>
                                            </p:txEl>
                                          </p:spTgt>
                                        </p:tgtEl>
                                        <p:attrNameLst>
                                          <p:attrName>style.visibility</p:attrName>
                                        </p:attrNameLst>
                                      </p:cBhvr>
                                      <p:to>
                                        <p:strVal val="visible"/>
                                      </p:to>
                                    </p:set>
                                    <p:animEffect filter="fade" transition="in">
                                      <p:cBhvr>
                                        <p:cTn dur="500"/>
                                        <p:tgtEl>
                                          <p:spTgt spid="134">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134">
                                            <p:txEl>
                                              <p:pRg end="6" st="6"/>
                                            </p:txEl>
                                          </p:spTgt>
                                        </p:tgtEl>
                                        <p:attrNameLst>
                                          <p:attrName>style.visibility</p:attrName>
                                        </p:attrNameLst>
                                      </p:cBhvr>
                                      <p:to>
                                        <p:strVal val="visible"/>
                                      </p:to>
                                    </p:set>
                                    <p:animEffect filter="fade" transition="in">
                                      <p:cBhvr>
                                        <p:cTn dur="500"/>
                                        <p:tgtEl>
                                          <p:spTgt spid="134">
                                            <p:txEl>
                                              <p:pRg end="6" st="6"/>
                                            </p:txEl>
                                          </p:spTgt>
                                        </p:tgtEl>
                                      </p:cBhvr>
                                    </p:animEffect>
                                  </p:childTnLst>
                                </p:cTn>
                              </p:par>
                              <p:par>
                                <p:cTn fill="hold" nodeType="withEffect" presetClass="entr" presetID="10" presetSubtype="0">
                                  <p:stCondLst>
                                    <p:cond delay="0"/>
                                  </p:stCondLst>
                                  <p:childTnLst>
                                    <p:set>
                                      <p:cBhvr>
                                        <p:cTn dur="1" fill="hold">
                                          <p:stCondLst>
                                            <p:cond delay="0"/>
                                          </p:stCondLst>
                                        </p:cTn>
                                        <p:tgtEl>
                                          <p:spTgt spid="134">
                                            <p:txEl>
                                              <p:pRg end="7" st="7"/>
                                            </p:txEl>
                                          </p:spTgt>
                                        </p:tgtEl>
                                        <p:attrNameLst>
                                          <p:attrName>style.visibility</p:attrName>
                                        </p:attrNameLst>
                                      </p:cBhvr>
                                      <p:to>
                                        <p:strVal val="visible"/>
                                      </p:to>
                                    </p:set>
                                    <p:animEffect filter="fade" transition="in">
                                      <p:cBhvr>
                                        <p:cTn dur="500"/>
                                        <p:tgtEl>
                                          <p:spTgt spid="134">
                                            <p:txEl>
                                              <p:pRg end="7" st="7"/>
                                            </p:txEl>
                                          </p:spTgt>
                                        </p:tgtEl>
                                      </p:cBhvr>
                                    </p:animEffect>
                                  </p:childTnLst>
                                </p:cTn>
                              </p:par>
                              <p:par>
                                <p:cTn fill="hold" nodeType="withEffect" presetClass="entr" presetID="10" presetSubtype="0">
                                  <p:stCondLst>
                                    <p:cond delay="0"/>
                                  </p:stCondLst>
                                  <p:childTnLst>
                                    <p:set>
                                      <p:cBhvr>
                                        <p:cTn dur="1" fill="hold">
                                          <p:stCondLst>
                                            <p:cond delay="0"/>
                                          </p:stCondLst>
                                        </p:cTn>
                                        <p:tgtEl>
                                          <p:spTgt spid="134">
                                            <p:txEl>
                                              <p:pRg end="8" st="8"/>
                                            </p:txEl>
                                          </p:spTgt>
                                        </p:tgtEl>
                                        <p:attrNameLst>
                                          <p:attrName>style.visibility</p:attrName>
                                        </p:attrNameLst>
                                      </p:cBhvr>
                                      <p:to>
                                        <p:strVal val="visible"/>
                                      </p:to>
                                    </p:set>
                                    <p:animEffect filter="fade" transition="in">
                                      <p:cBhvr>
                                        <p:cTn dur="500"/>
                                        <p:tgtEl>
                                          <p:spTgt spid="134">
                                            <p:txEl>
                                              <p:pRg end="8" st="8"/>
                                            </p:txEl>
                                          </p:spTgt>
                                        </p:tgtEl>
                                      </p:cBhvr>
                                    </p:animEffect>
                                  </p:childTnLst>
                                </p:cTn>
                              </p:par>
                              <p:par>
                                <p:cTn fill="hold" nodeType="withEffect" presetClass="entr" presetID="10" presetSubtype="0">
                                  <p:stCondLst>
                                    <p:cond delay="0"/>
                                  </p:stCondLst>
                                  <p:childTnLst>
                                    <p:set>
                                      <p:cBhvr>
                                        <p:cTn dur="1" fill="hold">
                                          <p:stCondLst>
                                            <p:cond delay="0"/>
                                          </p:stCondLst>
                                        </p:cTn>
                                        <p:tgtEl>
                                          <p:spTgt spid="134">
                                            <p:txEl>
                                              <p:pRg end="9" st="9"/>
                                            </p:txEl>
                                          </p:spTgt>
                                        </p:tgtEl>
                                        <p:attrNameLst>
                                          <p:attrName>style.visibility</p:attrName>
                                        </p:attrNameLst>
                                      </p:cBhvr>
                                      <p:to>
                                        <p:strVal val="visible"/>
                                      </p:to>
                                    </p:set>
                                    <p:animEffect filter="fade" transition="in">
                                      <p:cBhvr>
                                        <p:cTn dur="500"/>
                                        <p:tgtEl>
                                          <p:spTgt spid="134">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1"/>
          <p:cNvSpPr txBox="1"/>
          <p:nvPr>
            <p:ph type="ctrTitle"/>
          </p:nvPr>
        </p:nvSpPr>
        <p:spPr>
          <a:xfrm>
            <a:off x="311727" y="538617"/>
            <a:ext cx="6234600" cy="342600"/>
          </a:xfrm>
          <a:prstGeom prst="rect">
            <a:avLst/>
          </a:prstGeom>
          <a:noFill/>
          <a:ln>
            <a:noFill/>
          </a:ln>
        </p:spPr>
        <p:txBody>
          <a:bodyPr anchorCtr="0" anchor="b" bIns="34275" lIns="68575" spcFirstLastPara="1" rIns="68575" wrap="square" tIns="34275">
            <a:noAutofit/>
          </a:bodyPr>
          <a:lstStyle/>
          <a:p>
            <a:pPr indent="0" lvl="0" marL="0" rtl="0" algn="l">
              <a:lnSpc>
                <a:spcPct val="90000"/>
              </a:lnSpc>
              <a:spcBef>
                <a:spcPts val="0"/>
              </a:spcBef>
              <a:spcAft>
                <a:spcPts val="0"/>
              </a:spcAft>
              <a:buClr>
                <a:schemeClr val="dk1"/>
              </a:buClr>
              <a:buSzPts val="2100"/>
              <a:buFont typeface="Lato Black"/>
              <a:buNone/>
            </a:pPr>
            <a:r>
              <a:rPr lang="en" sz="2100">
                <a:latin typeface="Lato Black"/>
                <a:ea typeface="Lato Black"/>
                <a:cs typeface="Lato Black"/>
                <a:sym typeface="Lato Black"/>
              </a:rPr>
              <a:t>UML - Getting Started</a:t>
            </a:r>
            <a:endParaRPr sz="2100">
              <a:latin typeface="Lato Black"/>
              <a:ea typeface="Lato Black"/>
              <a:cs typeface="Lato Black"/>
              <a:sym typeface="Lato Black"/>
            </a:endParaRPr>
          </a:p>
        </p:txBody>
      </p:sp>
      <p:sp>
        <p:nvSpPr>
          <p:cNvPr id="141" name="Google Shape;141;p21"/>
          <p:cNvSpPr txBox="1"/>
          <p:nvPr>
            <p:ph idx="1" type="subTitle"/>
          </p:nvPr>
        </p:nvSpPr>
        <p:spPr>
          <a:xfrm>
            <a:off x="311727" y="1104623"/>
            <a:ext cx="6858000" cy="3451200"/>
          </a:xfrm>
          <a:prstGeom prst="rect">
            <a:avLst/>
          </a:prstGeom>
          <a:noFill/>
          <a:ln>
            <a:noFill/>
          </a:ln>
        </p:spPr>
        <p:txBody>
          <a:bodyPr anchorCtr="0" anchor="t" bIns="34275" lIns="68575" spcFirstLastPara="1" rIns="68575" wrap="square" tIns="34275">
            <a:normAutofit/>
          </a:bodyPr>
          <a:lstStyle/>
          <a:p>
            <a:pPr indent="-317500" lvl="0" marL="457200" rtl="0" algn="just">
              <a:lnSpc>
                <a:spcPct val="140000"/>
              </a:lnSpc>
              <a:spcBef>
                <a:spcPts val="800"/>
              </a:spcBef>
              <a:spcAft>
                <a:spcPts val="0"/>
              </a:spcAft>
              <a:buSzPts val="1400"/>
              <a:buFont typeface="Arvo"/>
              <a:buChar char="●"/>
            </a:pPr>
            <a:r>
              <a:rPr lang="en" sz="1400">
                <a:latin typeface="Arvo"/>
                <a:ea typeface="Arvo"/>
                <a:cs typeface="Arvo"/>
                <a:sym typeface="Arvo"/>
              </a:rPr>
              <a:t>UML describes the real-time systems</a:t>
            </a:r>
            <a:endParaRPr sz="1400">
              <a:latin typeface="Arvo"/>
              <a:ea typeface="Arvo"/>
              <a:cs typeface="Arvo"/>
              <a:sym typeface="Arvo"/>
            </a:endParaRPr>
          </a:p>
          <a:p>
            <a:pPr indent="-317500" lvl="0" marL="457200" rtl="0" algn="just">
              <a:lnSpc>
                <a:spcPct val="140000"/>
              </a:lnSpc>
              <a:spcBef>
                <a:spcPts val="0"/>
              </a:spcBef>
              <a:spcAft>
                <a:spcPts val="0"/>
              </a:spcAft>
              <a:buSzPts val="1400"/>
              <a:buFont typeface="Arvo"/>
              <a:buChar char="●"/>
            </a:pPr>
            <a:r>
              <a:rPr lang="en" sz="1400">
                <a:latin typeface="Arvo"/>
                <a:ea typeface="Arvo"/>
                <a:cs typeface="Arvo"/>
                <a:sym typeface="Arvo"/>
              </a:rPr>
              <a:t>It is very important to make a conceptual model and then proceed gradually</a:t>
            </a:r>
            <a:endParaRPr sz="1400">
              <a:latin typeface="Arvo"/>
              <a:ea typeface="Arvo"/>
              <a:cs typeface="Arvo"/>
              <a:sym typeface="Arvo"/>
            </a:endParaRPr>
          </a:p>
          <a:p>
            <a:pPr indent="-317500" lvl="0" marL="457200" rtl="0" algn="just">
              <a:lnSpc>
                <a:spcPct val="140000"/>
              </a:lnSpc>
              <a:spcBef>
                <a:spcPts val="0"/>
              </a:spcBef>
              <a:spcAft>
                <a:spcPts val="0"/>
              </a:spcAft>
              <a:buSzPts val="1400"/>
              <a:buFont typeface="Arvo"/>
              <a:buChar char="●"/>
            </a:pPr>
            <a:r>
              <a:rPr lang="en" sz="1400">
                <a:latin typeface="Arvo"/>
                <a:ea typeface="Arvo"/>
                <a:cs typeface="Arvo"/>
                <a:sym typeface="Arvo"/>
              </a:rPr>
              <a:t>The conceptual model of UML can be mastered by learning the following three major elements −</a:t>
            </a:r>
            <a:endParaRPr sz="1400">
              <a:latin typeface="Arvo"/>
              <a:ea typeface="Arvo"/>
              <a:cs typeface="Arvo"/>
              <a:sym typeface="Arvo"/>
            </a:endParaRPr>
          </a:p>
          <a:p>
            <a:pPr indent="-317500" lvl="1" marL="914400" rtl="0" algn="just">
              <a:lnSpc>
                <a:spcPct val="140000"/>
              </a:lnSpc>
              <a:spcBef>
                <a:spcPts val="0"/>
              </a:spcBef>
              <a:spcAft>
                <a:spcPts val="0"/>
              </a:spcAft>
              <a:buSzPts val="1400"/>
              <a:buFont typeface="Arvo"/>
              <a:buChar char="○"/>
            </a:pPr>
            <a:r>
              <a:rPr lang="en" sz="1400">
                <a:latin typeface="Arvo"/>
                <a:ea typeface="Arvo"/>
                <a:cs typeface="Arvo"/>
                <a:sym typeface="Arvo"/>
              </a:rPr>
              <a:t>UML building blocks</a:t>
            </a:r>
            <a:endParaRPr sz="1400">
              <a:latin typeface="Arvo"/>
              <a:ea typeface="Arvo"/>
              <a:cs typeface="Arvo"/>
              <a:sym typeface="Arvo"/>
            </a:endParaRPr>
          </a:p>
          <a:p>
            <a:pPr indent="-317500" lvl="1" marL="914400" rtl="0" algn="just">
              <a:lnSpc>
                <a:spcPct val="140000"/>
              </a:lnSpc>
              <a:spcBef>
                <a:spcPts val="0"/>
              </a:spcBef>
              <a:spcAft>
                <a:spcPts val="0"/>
              </a:spcAft>
              <a:buSzPts val="1400"/>
              <a:buFont typeface="Arvo"/>
              <a:buChar char="○"/>
            </a:pPr>
            <a:r>
              <a:rPr lang="en" sz="1400">
                <a:latin typeface="Arvo"/>
                <a:ea typeface="Arvo"/>
                <a:cs typeface="Arvo"/>
                <a:sym typeface="Arvo"/>
              </a:rPr>
              <a:t>Rules to connect the building blocks</a:t>
            </a:r>
            <a:endParaRPr sz="1400">
              <a:latin typeface="Arvo"/>
              <a:ea typeface="Arvo"/>
              <a:cs typeface="Arvo"/>
              <a:sym typeface="Arvo"/>
            </a:endParaRPr>
          </a:p>
          <a:p>
            <a:pPr indent="-317500" lvl="1" marL="914400" rtl="0" algn="just">
              <a:lnSpc>
                <a:spcPct val="140000"/>
              </a:lnSpc>
              <a:spcBef>
                <a:spcPts val="0"/>
              </a:spcBef>
              <a:spcAft>
                <a:spcPts val="0"/>
              </a:spcAft>
              <a:buSzPts val="1400"/>
              <a:buFont typeface="Arvo"/>
              <a:buChar char="○"/>
            </a:pPr>
            <a:r>
              <a:rPr lang="en" sz="1400">
                <a:latin typeface="Arvo"/>
                <a:ea typeface="Arvo"/>
                <a:cs typeface="Arvo"/>
                <a:sym typeface="Arvo"/>
              </a:rPr>
              <a:t>Common mechanisms of UML</a:t>
            </a:r>
            <a:endParaRPr sz="1400">
              <a:latin typeface="Arvo"/>
              <a:ea typeface="Arvo"/>
              <a:cs typeface="Arvo"/>
              <a:sym typeface="Arvo"/>
            </a:endParaRPr>
          </a:p>
          <a:p>
            <a:pPr indent="0" lvl="0" marL="0" rtl="0" algn="just">
              <a:lnSpc>
                <a:spcPct val="140000"/>
              </a:lnSpc>
              <a:spcBef>
                <a:spcPts val="800"/>
              </a:spcBef>
              <a:spcAft>
                <a:spcPts val="0"/>
              </a:spcAft>
              <a:buSzPts val="2800"/>
              <a:buNone/>
            </a:pPr>
            <a:r>
              <a:t/>
            </a:r>
            <a:endParaRPr sz="1400">
              <a:latin typeface="Arvo"/>
              <a:ea typeface="Arvo"/>
              <a:cs typeface="Arvo"/>
              <a:sym typeface="Arvo"/>
            </a:endParaRPr>
          </a:p>
        </p:txBody>
      </p:sp>
      <p:pic>
        <p:nvPicPr>
          <p:cNvPr id="142" name="Google Shape;142;p21"/>
          <p:cNvPicPr preferRelativeResize="0"/>
          <p:nvPr/>
        </p:nvPicPr>
        <p:blipFill rotWithShape="1">
          <a:blip r:embed="rId3">
            <a:alphaModFix/>
          </a:blip>
          <a:srcRect b="0" l="0" r="0" t="0"/>
          <a:stretch/>
        </p:blipFill>
        <p:spPr>
          <a:xfrm>
            <a:off x="6456002" y="137435"/>
            <a:ext cx="2491151" cy="1331925"/>
          </a:xfrm>
          <a:prstGeom prst="rect">
            <a:avLst/>
          </a:prstGeom>
          <a:noFill/>
          <a:ln>
            <a:noFill/>
          </a:ln>
        </p:spPr>
      </p:pic>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41">
                                            <p:txEl>
                                              <p:pRg end="0" st="0"/>
                                            </p:txEl>
                                          </p:spTgt>
                                        </p:tgtEl>
                                        <p:attrNameLst>
                                          <p:attrName>style.visibility</p:attrName>
                                        </p:attrNameLst>
                                      </p:cBhvr>
                                      <p:to>
                                        <p:strVal val="visible"/>
                                      </p:to>
                                    </p:set>
                                    <p:animEffect filter="fade" transition="in">
                                      <p:cBhvr>
                                        <p:cTn dur="500"/>
                                        <p:tgtEl>
                                          <p:spTgt spid="141">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141">
                                            <p:txEl>
                                              <p:pRg end="1" st="1"/>
                                            </p:txEl>
                                          </p:spTgt>
                                        </p:tgtEl>
                                        <p:attrNameLst>
                                          <p:attrName>style.visibility</p:attrName>
                                        </p:attrNameLst>
                                      </p:cBhvr>
                                      <p:to>
                                        <p:strVal val="visible"/>
                                      </p:to>
                                    </p:set>
                                    <p:animEffect filter="fade" transition="in">
                                      <p:cBhvr>
                                        <p:cTn dur="500"/>
                                        <p:tgtEl>
                                          <p:spTgt spid="141">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141">
                                            <p:txEl>
                                              <p:pRg end="2" st="2"/>
                                            </p:txEl>
                                          </p:spTgt>
                                        </p:tgtEl>
                                        <p:attrNameLst>
                                          <p:attrName>style.visibility</p:attrName>
                                        </p:attrNameLst>
                                      </p:cBhvr>
                                      <p:to>
                                        <p:strVal val="visible"/>
                                      </p:to>
                                    </p:set>
                                    <p:animEffect filter="fade" transition="in">
                                      <p:cBhvr>
                                        <p:cTn dur="500"/>
                                        <p:tgtEl>
                                          <p:spTgt spid="141">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141">
                                            <p:txEl>
                                              <p:pRg end="3" st="3"/>
                                            </p:txEl>
                                          </p:spTgt>
                                        </p:tgtEl>
                                        <p:attrNameLst>
                                          <p:attrName>style.visibility</p:attrName>
                                        </p:attrNameLst>
                                      </p:cBhvr>
                                      <p:to>
                                        <p:strVal val="visible"/>
                                      </p:to>
                                    </p:set>
                                    <p:animEffect filter="fade" transition="in">
                                      <p:cBhvr>
                                        <p:cTn dur="500"/>
                                        <p:tgtEl>
                                          <p:spTgt spid="141">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141">
                                            <p:txEl>
                                              <p:pRg end="4" st="4"/>
                                            </p:txEl>
                                          </p:spTgt>
                                        </p:tgtEl>
                                        <p:attrNameLst>
                                          <p:attrName>style.visibility</p:attrName>
                                        </p:attrNameLst>
                                      </p:cBhvr>
                                      <p:to>
                                        <p:strVal val="visible"/>
                                      </p:to>
                                    </p:set>
                                    <p:animEffect filter="fade" transition="in">
                                      <p:cBhvr>
                                        <p:cTn dur="500"/>
                                        <p:tgtEl>
                                          <p:spTgt spid="141">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141">
                                            <p:txEl>
                                              <p:pRg end="5" st="5"/>
                                            </p:txEl>
                                          </p:spTgt>
                                        </p:tgtEl>
                                        <p:attrNameLst>
                                          <p:attrName>style.visibility</p:attrName>
                                        </p:attrNameLst>
                                      </p:cBhvr>
                                      <p:to>
                                        <p:strVal val="visible"/>
                                      </p:to>
                                    </p:set>
                                    <p:animEffect filter="fade" transition="in">
                                      <p:cBhvr>
                                        <p:cTn dur="500"/>
                                        <p:tgtEl>
                                          <p:spTgt spid="141">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141">
                                            <p:txEl>
                                              <p:pRg end="6" st="6"/>
                                            </p:txEl>
                                          </p:spTgt>
                                        </p:tgtEl>
                                        <p:attrNameLst>
                                          <p:attrName>style.visibility</p:attrName>
                                        </p:attrNameLst>
                                      </p:cBhvr>
                                      <p:to>
                                        <p:strVal val="visible"/>
                                      </p:to>
                                    </p:set>
                                    <p:animEffect filter="fade" transition="in">
                                      <p:cBhvr>
                                        <p:cTn dur="500"/>
                                        <p:tgtEl>
                                          <p:spTgt spid="141">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2"/>
          <p:cNvSpPr txBox="1"/>
          <p:nvPr>
            <p:ph type="ctrTitle"/>
          </p:nvPr>
        </p:nvSpPr>
        <p:spPr>
          <a:xfrm>
            <a:off x="311727" y="538617"/>
            <a:ext cx="6234600" cy="342600"/>
          </a:xfrm>
          <a:prstGeom prst="rect">
            <a:avLst/>
          </a:prstGeom>
          <a:noFill/>
          <a:ln>
            <a:noFill/>
          </a:ln>
        </p:spPr>
        <p:txBody>
          <a:bodyPr anchorCtr="0" anchor="b" bIns="34275" lIns="68575" spcFirstLastPara="1" rIns="68575" wrap="square" tIns="34275">
            <a:noAutofit/>
          </a:bodyPr>
          <a:lstStyle/>
          <a:p>
            <a:pPr indent="0" lvl="0" marL="0" rtl="0" algn="l">
              <a:lnSpc>
                <a:spcPct val="90000"/>
              </a:lnSpc>
              <a:spcBef>
                <a:spcPts val="0"/>
              </a:spcBef>
              <a:spcAft>
                <a:spcPts val="0"/>
              </a:spcAft>
              <a:buClr>
                <a:schemeClr val="dk1"/>
              </a:buClr>
              <a:buSzPts val="2100"/>
              <a:buFont typeface="Lato Black"/>
              <a:buNone/>
            </a:pPr>
            <a:r>
              <a:rPr lang="en" sz="2100">
                <a:latin typeface="Lato Black"/>
                <a:ea typeface="Lato Black"/>
                <a:cs typeface="Lato Black"/>
                <a:sym typeface="Lato Black"/>
              </a:rPr>
              <a:t>UML - Building blocks</a:t>
            </a:r>
            <a:endParaRPr sz="2100">
              <a:latin typeface="Lato Black"/>
              <a:ea typeface="Lato Black"/>
              <a:cs typeface="Lato Black"/>
              <a:sym typeface="Lato Black"/>
            </a:endParaRPr>
          </a:p>
        </p:txBody>
      </p:sp>
      <p:sp>
        <p:nvSpPr>
          <p:cNvPr id="148" name="Google Shape;148;p22"/>
          <p:cNvSpPr txBox="1"/>
          <p:nvPr>
            <p:ph idx="1" type="subTitle"/>
          </p:nvPr>
        </p:nvSpPr>
        <p:spPr>
          <a:xfrm>
            <a:off x="311727" y="1104623"/>
            <a:ext cx="6858000" cy="3451200"/>
          </a:xfrm>
          <a:prstGeom prst="rect">
            <a:avLst/>
          </a:prstGeom>
          <a:noFill/>
          <a:ln>
            <a:noFill/>
          </a:ln>
        </p:spPr>
        <p:txBody>
          <a:bodyPr anchorCtr="0" anchor="t" bIns="34275" lIns="68575" spcFirstLastPara="1" rIns="68575" wrap="square" tIns="34275">
            <a:normAutofit/>
          </a:bodyPr>
          <a:lstStyle/>
          <a:p>
            <a:pPr indent="0" lvl="0" marL="0" rtl="0" algn="just">
              <a:lnSpc>
                <a:spcPct val="140000"/>
              </a:lnSpc>
              <a:spcBef>
                <a:spcPts val="800"/>
              </a:spcBef>
              <a:spcAft>
                <a:spcPts val="0"/>
              </a:spcAft>
              <a:buClr>
                <a:schemeClr val="dk1"/>
              </a:buClr>
              <a:buSzPts val="1100"/>
              <a:buFont typeface="Arial"/>
              <a:buNone/>
            </a:pPr>
            <a:r>
              <a:rPr lang="en" sz="1400">
                <a:latin typeface="Arvo"/>
                <a:ea typeface="Arvo"/>
                <a:cs typeface="Arvo"/>
                <a:sym typeface="Arvo"/>
              </a:rPr>
              <a:t>The building blocks of UML are</a:t>
            </a:r>
            <a:endParaRPr sz="1400">
              <a:latin typeface="Arvo"/>
              <a:ea typeface="Arvo"/>
              <a:cs typeface="Arvo"/>
              <a:sym typeface="Arvo"/>
            </a:endParaRPr>
          </a:p>
          <a:p>
            <a:pPr indent="-317500" lvl="0" marL="457200" rtl="0" algn="just">
              <a:lnSpc>
                <a:spcPct val="140000"/>
              </a:lnSpc>
              <a:spcBef>
                <a:spcPts val="800"/>
              </a:spcBef>
              <a:spcAft>
                <a:spcPts val="0"/>
              </a:spcAft>
              <a:buSzPts val="1400"/>
              <a:buFont typeface="Arvo"/>
              <a:buChar char="●"/>
            </a:pPr>
            <a:r>
              <a:rPr lang="en" sz="1400">
                <a:latin typeface="Arvo"/>
                <a:ea typeface="Arvo"/>
                <a:cs typeface="Arvo"/>
                <a:sym typeface="Arvo"/>
              </a:rPr>
              <a:t>Things</a:t>
            </a:r>
            <a:endParaRPr sz="1400">
              <a:latin typeface="Arvo"/>
              <a:ea typeface="Arvo"/>
              <a:cs typeface="Arvo"/>
              <a:sym typeface="Arvo"/>
            </a:endParaRPr>
          </a:p>
          <a:p>
            <a:pPr indent="-317500" lvl="0" marL="457200" rtl="0" algn="just">
              <a:lnSpc>
                <a:spcPct val="140000"/>
              </a:lnSpc>
              <a:spcBef>
                <a:spcPts val="0"/>
              </a:spcBef>
              <a:spcAft>
                <a:spcPts val="0"/>
              </a:spcAft>
              <a:buSzPts val="1400"/>
              <a:buFont typeface="Arvo"/>
              <a:buChar char="●"/>
            </a:pPr>
            <a:r>
              <a:rPr lang="en" sz="1400">
                <a:latin typeface="Arvo"/>
                <a:ea typeface="Arvo"/>
                <a:cs typeface="Arvo"/>
                <a:sym typeface="Arvo"/>
              </a:rPr>
              <a:t>Relationships</a:t>
            </a:r>
            <a:endParaRPr sz="1400">
              <a:latin typeface="Arvo"/>
              <a:ea typeface="Arvo"/>
              <a:cs typeface="Arvo"/>
              <a:sym typeface="Arvo"/>
            </a:endParaRPr>
          </a:p>
          <a:p>
            <a:pPr indent="-317500" lvl="0" marL="457200" rtl="0" algn="just">
              <a:lnSpc>
                <a:spcPct val="140000"/>
              </a:lnSpc>
              <a:spcBef>
                <a:spcPts val="0"/>
              </a:spcBef>
              <a:spcAft>
                <a:spcPts val="0"/>
              </a:spcAft>
              <a:buSzPts val="1400"/>
              <a:buFont typeface="Arvo"/>
              <a:buChar char="●"/>
            </a:pPr>
            <a:r>
              <a:rPr lang="en" sz="1400">
                <a:latin typeface="Arvo"/>
                <a:ea typeface="Arvo"/>
                <a:cs typeface="Arvo"/>
                <a:sym typeface="Arvo"/>
              </a:rPr>
              <a:t>Diagrams</a:t>
            </a:r>
            <a:endParaRPr sz="1400">
              <a:latin typeface="Arvo"/>
              <a:ea typeface="Arvo"/>
              <a:cs typeface="Arvo"/>
              <a:sym typeface="Arvo"/>
            </a:endParaRPr>
          </a:p>
        </p:txBody>
      </p:sp>
      <p:pic>
        <p:nvPicPr>
          <p:cNvPr id="149" name="Google Shape;149;p22"/>
          <p:cNvPicPr preferRelativeResize="0"/>
          <p:nvPr/>
        </p:nvPicPr>
        <p:blipFill rotWithShape="1">
          <a:blip r:embed="rId3">
            <a:alphaModFix/>
          </a:blip>
          <a:srcRect b="0" l="0" r="0" t="0"/>
          <a:stretch/>
        </p:blipFill>
        <p:spPr>
          <a:xfrm>
            <a:off x="6456002" y="137435"/>
            <a:ext cx="2491151" cy="1331925"/>
          </a:xfrm>
          <a:prstGeom prst="rect">
            <a:avLst/>
          </a:prstGeom>
          <a:noFill/>
          <a:ln>
            <a:noFill/>
          </a:ln>
        </p:spPr>
      </p:pic>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48">
                                            <p:txEl>
                                              <p:pRg end="0" st="0"/>
                                            </p:txEl>
                                          </p:spTgt>
                                        </p:tgtEl>
                                        <p:attrNameLst>
                                          <p:attrName>style.visibility</p:attrName>
                                        </p:attrNameLst>
                                      </p:cBhvr>
                                      <p:to>
                                        <p:strVal val="visible"/>
                                      </p:to>
                                    </p:set>
                                    <p:animEffect filter="fade" transition="in">
                                      <p:cBhvr>
                                        <p:cTn dur="500"/>
                                        <p:tgtEl>
                                          <p:spTgt spid="148">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148">
                                            <p:txEl>
                                              <p:pRg end="1" st="1"/>
                                            </p:txEl>
                                          </p:spTgt>
                                        </p:tgtEl>
                                        <p:attrNameLst>
                                          <p:attrName>style.visibility</p:attrName>
                                        </p:attrNameLst>
                                      </p:cBhvr>
                                      <p:to>
                                        <p:strVal val="visible"/>
                                      </p:to>
                                    </p:set>
                                    <p:animEffect filter="fade" transition="in">
                                      <p:cBhvr>
                                        <p:cTn dur="500"/>
                                        <p:tgtEl>
                                          <p:spTgt spid="148">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148">
                                            <p:txEl>
                                              <p:pRg end="2" st="2"/>
                                            </p:txEl>
                                          </p:spTgt>
                                        </p:tgtEl>
                                        <p:attrNameLst>
                                          <p:attrName>style.visibility</p:attrName>
                                        </p:attrNameLst>
                                      </p:cBhvr>
                                      <p:to>
                                        <p:strVal val="visible"/>
                                      </p:to>
                                    </p:set>
                                    <p:animEffect filter="fade" transition="in">
                                      <p:cBhvr>
                                        <p:cTn dur="500"/>
                                        <p:tgtEl>
                                          <p:spTgt spid="148">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148">
                                            <p:txEl>
                                              <p:pRg end="3" st="3"/>
                                            </p:txEl>
                                          </p:spTgt>
                                        </p:tgtEl>
                                        <p:attrNameLst>
                                          <p:attrName>style.visibility</p:attrName>
                                        </p:attrNameLst>
                                      </p:cBhvr>
                                      <p:to>
                                        <p:strVal val="visible"/>
                                      </p:to>
                                    </p:set>
                                    <p:animEffect filter="fade" transition="in">
                                      <p:cBhvr>
                                        <p:cTn dur="500"/>
                                        <p:tgtEl>
                                          <p:spTgt spid="148">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3"/>
          <p:cNvSpPr txBox="1"/>
          <p:nvPr>
            <p:ph type="ctrTitle"/>
          </p:nvPr>
        </p:nvSpPr>
        <p:spPr>
          <a:xfrm>
            <a:off x="311727" y="538617"/>
            <a:ext cx="6234600" cy="342600"/>
          </a:xfrm>
          <a:prstGeom prst="rect">
            <a:avLst/>
          </a:prstGeom>
          <a:noFill/>
          <a:ln>
            <a:noFill/>
          </a:ln>
        </p:spPr>
        <p:txBody>
          <a:bodyPr anchorCtr="0" anchor="b" bIns="34275" lIns="68575" spcFirstLastPara="1" rIns="68575" wrap="square" tIns="34275">
            <a:noAutofit/>
          </a:bodyPr>
          <a:lstStyle/>
          <a:p>
            <a:pPr indent="0" lvl="0" marL="0" rtl="0" algn="l">
              <a:lnSpc>
                <a:spcPct val="90000"/>
              </a:lnSpc>
              <a:spcBef>
                <a:spcPts val="0"/>
              </a:spcBef>
              <a:spcAft>
                <a:spcPts val="0"/>
              </a:spcAft>
              <a:buClr>
                <a:schemeClr val="dk1"/>
              </a:buClr>
              <a:buSzPts val="2100"/>
              <a:buFont typeface="Lato Black"/>
              <a:buNone/>
            </a:pPr>
            <a:r>
              <a:rPr lang="en" sz="2100">
                <a:latin typeface="Lato Black"/>
                <a:ea typeface="Lato Black"/>
                <a:cs typeface="Lato Black"/>
                <a:sym typeface="Lato Black"/>
              </a:rPr>
              <a:t>Things</a:t>
            </a:r>
            <a:endParaRPr sz="2100">
              <a:latin typeface="Lato Black"/>
              <a:ea typeface="Lato Black"/>
              <a:cs typeface="Lato Black"/>
              <a:sym typeface="Lato Black"/>
            </a:endParaRPr>
          </a:p>
        </p:txBody>
      </p:sp>
      <p:sp>
        <p:nvSpPr>
          <p:cNvPr id="155" name="Google Shape;155;p23"/>
          <p:cNvSpPr txBox="1"/>
          <p:nvPr>
            <p:ph idx="1" type="subTitle"/>
          </p:nvPr>
        </p:nvSpPr>
        <p:spPr>
          <a:xfrm>
            <a:off x="311727" y="1104623"/>
            <a:ext cx="6858000" cy="3451200"/>
          </a:xfrm>
          <a:prstGeom prst="rect">
            <a:avLst/>
          </a:prstGeom>
          <a:noFill/>
          <a:ln>
            <a:noFill/>
          </a:ln>
        </p:spPr>
        <p:txBody>
          <a:bodyPr anchorCtr="0" anchor="t" bIns="34275" lIns="68575" spcFirstLastPara="1" rIns="68575" wrap="square" tIns="34275">
            <a:normAutofit/>
          </a:bodyPr>
          <a:lstStyle/>
          <a:p>
            <a:pPr indent="0" lvl="0" marL="0" rtl="0" algn="just">
              <a:lnSpc>
                <a:spcPct val="140000"/>
              </a:lnSpc>
              <a:spcBef>
                <a:spcPts val="800"/>
              </a:spcBef>
              <a:spcAft>
                <a:spcPts val="0"/>
              </a:spcAft>
              <a:buSzPts val="2800"/>
              <a:buNone/>
            </a:pPr>
            <a:r>
              <a:rPr lang="en" sz="1400">
                <a:latin typeface="Arvo"/>
                <a:ea typeface="Arvo"/>
                <a:cs typeface="Arvo"/>
                <a:sym typeface="Arvo"/>
              </a:rPr>
              <a:t>Things are the most important building blocks of UML.</a:t>
            </a:r>
            <a:endParaRPr sz="1400">
              <a:latin typeface="Arvo"/>
              <a:ea typeface="Arvo"/>
              <a:cs typeface="Arvo"/>
              <a:sym typeface="Arvo"/>
            </a:endParaRPr>
          </a:p>
          <a:p>
            <a:pPr indent="0" lvl="0" marL="0" rtl="0" algn="just">
              <a:lnSpc>
                <a:spcPct val="140000"/>
              </a:lnSpc>
              <a:spcBef>
                <a:spcPts val="800"/>
              </a:spcBef>
              <a:spcAft>
                <a:spcPts val="0"/>
              </a:spcAft>
              <a:buSzPts val="2800"/>
              <a:buNone/>
            </a:pPr>
            <a:r>
              <a:rPr lang="en" sz="1400">
                <a:latin typeface="Arvo"/>
                <a:ea typeface="Arvo"/>
                <a:cs typeface="Arvo"/>
                <a:sym typeface="Arvo"/>
              </a:rPr>
              <a:t>Things can be - </a:t>
            </a:r>
            <a:endParaRPr sz="1400">
              <a:latin typeface="Arvo"/>
              <a:ea typeface="Arvo"/>
              <a:cs typeface="Arvo"/>
              <a:sym typeface="Arvo"/>
            </a:endParaRPr>
          </a:p>
          <a:p>
            <a:pPr indent="-317500" lvl="0" marL="457200" rtl="0" algn="just">
              <a:lnSpc>
                <a:spcPct val="140000"/>
              </a:lnSpc>
              <a:spcBef>
                <a:spcPts val="800"/>
              </a:spcBef>
              <a:spcAft>
                <a:spcPts val="0"/>
              </a:spcAft>
              <a:buSzPts val="1400"/>
              <a:buFont typeface="Arvo"/>
              <a:buChar char="●"/>
            </a:pPr>
            <a:r>
              <a:rPr lang="en" sz="1400">
                <a:latin typeface="Arvo"/>
                <a:ea typeface="Arvo"/>
                <a:cs typeface="Arvo"/>
                <a:sym typeface="Arvo"/>
              </a:rPr>
              <a:t>Structural</a:t>
            </a:r>
            <a:endParaRPr sz="1400">
              <a:latin typeface="Arvo"/>
              <a:ea typeface="Arvo"/>
              <a:cs typeface="Arvo"/>
              <a:sym typeface="Arvo"/>
            </a:endParaRPr>
          </a:p>
          <a:p>
            <a:pPr indent="-317500" lvl="0" marL="457200" rtl="0" algn="just">
              <a:lnSpc>
                <a:spcPct val="140000"/>
              </a:lnSpc>
              <a:spcBef>
                <a:spcPts val="0"/>
              </a:spcBef>
              <a:spcAft>
                <a:spcPts val="0"/>
              </a:spcAft>
              <a:buSzPts val="1400"/>
              <a:buFont typeface="Arvo"/>
              <a:buChar char="●"/>
            </a:pPr>
            <a:r>
              <a:rPr lang="en" sz="1400">
                <a:latin typeface="Arvo"/>
                <a:ea typeface="Arvo"/>
                <a:cs typeface="Arvo"/>
                <a:sym typeface="Arvo"/>
              </a:rPr>
              <a:t>Behavioral</a:t>
            </a:r>
            <a:endParaRPr sz="1400">
              <a:latin typeface="Arvo"/>
              <a:ea typeface="Arvo"/>
              <a:cs typeface="Arvo"/>
              <a:sym typeface="Arvo"/>
            </a:endParaRPr>
          </a:p>
          <a:p>
            <a:pPr indent="-317500" lvl="0" marL="457200" rtl="0" algn="just">
              <a:lnSpc>
                <a:spcPct val="140000"/>
              </a:lnSpc>
              <a:spcBef>
                <a:spcPts val="0"/>
              </a:spcBef>
              <a:spcAft>
                <a:spcPts val="0"/>
              </a:spcAft>
              <a:buSzPts val="1400"/>
              <a:buFont typeface="Arvo"/>
              <a:buChar char="●"/>
            </a:pPr>
            <a:r>
              <a:rPr lang="en" sz="1400">
                <a:latin typeface="Arvo"/>
                <a:ea typeface="Arvo"/>
                <a:cs typeface="Arvo"/>
                <a:sym typeface="Arvo"/>
              </a:rPr>
              <a:t>Grouping </a:t>
            </a:r>
            <a:endParaRPr sz="1400">
              <a:latin typeface="Arvo"/>
              <a:ea typeface="Arvo"/>
              <a:cs typeface="Arvo"/>
              <a:sym typeface="Arvo"/>
            </a:endParaRPr>
          </a:p>
          <a:p>
            <a:pPr indent="-317500" lvl="0" marL="457200" rtl="0" algn="just">
              <a:lnSpc>
                <a:spcPct val="140000"/>
              </a:lnSpc>
              <a:spcBef>
                <a:spcPts val="0"/>
              </a:spcBef>
              <a:spcAft>
                <a:spcPts val="0"/>
              </a:spcAft>
              <a:buSzPts val="1400"/>
              <a:buFont typeface="Arvo"/>
              <a:buChar char="●"/>
            </a:pPr>
            <a:r>
              <a:rPr lang="en" sz="1400">
                <a:latin typeface="Arvo"/>
                <a:ea typeface="Arvo"/>
                <a:cs typeface="Arvo"/>
                <a:sym typeface="Arvo"/>
              </a:rPr>
              <a:t>Annotations</a:t>
            </a:r>
            <a:endParaRPr sz="1400">
              <a:latin typeface="Arvo"/>
              <a:ea typeface="Arvo"/>
              <a:cs typeface="Arvo"/>
              <a:sym typeface="Arvo"/>
            </a:endParaRPr>
          </a:p>
        </p:txBody>
      </p:sp>
      <p:pic>
        <p:nvPicPr>
          <p:cNvPr id="156" name="Google Shape;156;p23"/>
          <p:cNvPicPr preferRelativeResize="0"/>
          <p:nvPr/>
        </p:nvPicPr>
        <p:blipFill rotWithShape="1">
          <a:blip r:embed="rId3">
            <a:alphaModFix/>
          </a:blip>
          <a:srcRect b="0" l="0" r="0" t="0"/>
          <a:stretch/>
        </p:blipFill>
        <p:spPr>
          <a:xfrm>
            <a:off x="6456002" y="137435"/>
            <a:ext cx="2491151" cy="1331925"/>
          </a:xfrm>
          <a:prstGeom prst="rect">
            <a:avLst/>
          </a:prstGeom>
          <a:noFill/>
          <a:ln>
            <a:noFill/>
          </a:ln>
        </p:spPr>
      </p:pic>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55">
                                            <p:txEl>
                                              <p:pRg end="0" st="0"/>
                                            </p:txEl>
                                          </p:spTgt>
                                        </p:tgtEl>
                                        <p:attrNameLst>
                                          <p:attrName>style.visibility</p:attrName>
                                        </p:attrNameLst>
                                      </p:cBhvr>
                                      <p:to>
                                        <p:strVal val="visible"/>
                                      </p:to>
                                    </p:set>
                                    <p:animEffect filter="fade" transition="in">
                                      <p:cBhvr>
                                        <p:cTn dur="500"/>
                                        <p:tgtEl>
                                          <p:spTgt spid="155">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155">
                                            <p:txEl>
                                              <p:pRg end="1" st="1"/>
                                            </p:txEl>
                                          </p:spTgt>
                                        </p:tgtEl>
                                        <p:attrNameLst>
                                          <p:attrName>style.visibility</p:attrName>
                                        </p:attrNameLst>
                                      </p:cBhvr>
                                      <p:to>
                                        <p:strVal val="visible"/>
                                      </p:to>
                                    </p:set>
                                    <p:animEffect filter="fade" transition="in">
                                      <p:cBhvr>
                                        <p:cTn dur="500"/>
                                        <p:tgtEl>
                                          <p:spTgt spid="155">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155">
                                            <p:txEl>
                                              <p:pRg end="2" st="2"/>
                                            </p:txEl>
                                          </p:spTgt>
                                        </p:tgtEl>
                                        <p:attrNameLst>
                                          <p:attrName>style.visibility</p:attrName>
                                        </p:attrNameLst>
                                      </p:cBhvr>
                                      <p:to>
                                        <p:strVal val="visible"/>
                                      </p:to>
                                    </p:set>
                                    <p:animEffect filter="fade" transition="in">
                                      <p:cBhvr>
                                        <p:cTn dur="500"/>
                                        <p:tgtEl>
                                          <p:spTgt spid="155">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155">
                                            <p:txEl>
                                              <p:pRg end="3" st="3"/>
                                            </p:txEl>
                                          </p:spTgt>
                                        </p:tgtEl>
                                        <p:attrNameLst>
                                          <p:attrName>style.visibility</p:attrName>
                                        </p:attrNameLst>
                                      </p:cBhvr>
                                      <p:to>
                                        <p:strVal val="visible"/>
                                      </p:to>
                                    </p:set>
                                    <p:animEffect filter="fade" transition="in">
                                      <p:cBhvr>
                                        <p:cTn dur="500"/>
                                        <p:tgtEl>
                                          <p:spTgt spid="155">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155">
                                            <p:txEl>
                                              <p:pRg end="4" st="4"/>
                                            </p:txEl>
                                          </p:spTgt>
                                        </p:tgtEl>
                                        <p:attrNameLst>
                                          <p:attrName>style.visibility</p:attrName>
                                        </p:attrNameLst>
                                      </p:cBhvr>
                                      <p:to>
                                        <p:strVal val="visible"/>
                                      </p:to>
                                    </p:set>
                                    <p:animEffect filter="fade" transition="in">
                                      <p:cBhvr>
                                        <p:cTn dur="500"/>
                                        <p:tgtEl>
                                          <p:spTgt spid="155">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155">
                                            <p:txEl>
                                              <p:pRg end="5" st="5"/>
                                            </p:txEl>
                                          </p:spTgt>
                                        </p:tgtEl>
                                        <p:attrNameLst>
                                          <p:attrName>style.visibility</p:attrName>
                                        </p:attrNameLst>
                                      </p:cBhvr>
                                      <p:to>
                                        <p:strVal val="visible"/>
                                      </p:to>
                                    </p:set>
                                    <p:animEffect filter="fade" transition="in">
                                      <p:cBhvr>
                                        <p:cTn dur="500"/>
                                        <p:tgtEl>
                                          <p:spTgt spid="155">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4"/>
          <p:cNvSpPr txBox="1"/>
          <p:nvPr>
            <p:ph idx="1" type="subTitle"/>
          </p:nvPr>
        </p:nvSpPr>
        <p:spPr>
          <a:xfrm>
            <a:off x="311725" y="176350"/>
            <a:ext cx="5795100" cy="4855200"/>
          </a:xfrm>
          <a:prstGeom prst="rect">
            <a:avLst/>
          </a:prstGeom>
          <a:noFill/>
          <a:ln>
            <a:noFill/>
          </a:ln>
        </p:spPr>
        <p:txBody>
          <a:bodyPr anchorCtr="0" anchor="t" bIns="34275" lIns="68575" spcFirstLastPara="1" rIns="68575" wrap="square" tIns="34275">
            <a:normAutofit/>
          </a:bodyPr>
          <a:lstStyle/>
          <a:p>
            <a:pPr indent="0" lvl="0" marL="0" rtl="0" algn="just">
              <a:lnSpc>
                <a:spcPct val="140000"/>
              </a:lnSpc>
              <a:spcBef>
                <a:spcPts val="800"/>
              </a:spcBef>
              <a:spcAft>
                <a:spcPts val="0"/>
              </a:spcAft>
              <a:buClr>
                <a:schemeClr val="dk1"/>
              </a:buClr>
              <a:buSzPts val="1100"/>
              <a:buFont typeface="Arial"/>
              <a:buNone/>
            </a:pPr>
            <a:r>
              <a:rPr b="1" lang="en" sz="1400">
                <a:latin typeface="Arvo"/>
                <a:ea typeface="Arvo"/>
                <a:cs typeface="Arvo"/>
                <a:sym typeface="Arvo"/>
              </a:rPr>
              <a:t>Structural Things</a:t>
            </a:r>
            <a:endParaRPr b="1" sz="1400">
              <a:latin typeface="Arvo"/>
              <a:ea typeface="Arvo"/>
              <a:cs typeface="Arvo"/>
              <a:sym typeface="Arvo"/>
            </a:endParaRPr>
          </a:p>
          <a:p>
            <a:pPr indent="0" lvl="0" marL="0" rtl="0" algn="just">
              <a:lnSpc>
                <a:spcPct val="140000"/>
              </a:lnSpc>
              <a:spcBef>
                <a:spcPts val="800"/>
              </a:spcBef>
              <a:spcAft>
                <a:spcPts val="0"/>
              </a:spcAft>
              <a:buClr>
                <a:schemeClr val="dk1"/>
              </a:buClr>
              <a:buSzPts val="1100"/>
              <a:buFont typeface="Arial"/>
              <a:buNone/>
            </a:pPr>
            <a:r>
              <a:rPr lang="en" sz="1400">
                <a:latin typeface="Arvo"/>
                <a:ea typeface="Arvo"/>
                <a:cs typeface="Arvo"/>
                <a:sym typeface="Arvo"/>
              </a:rPr>
              <a:t>Structural things define the static part of the model. They represent the physical and conceptual elements. Following are the brief descriptions of the structural things.</a:t>
            </a:r>
            <a:endParaRPr sz="1400">
              <a:latin typeface="Arvo"/>
              <a:ea typeface="Arvo"/>
              <a:cs typeface="Arvo"/>
              <a:sym typeface="Arvo"/>
            </a:endParaRPr>
          </a:p>
          <a:p>
            <a:pPr indent="0" lvl="0" marL="0" rtl="0" algn="just">
              <a:lnSpc>
                <a:spcPct val="140000"/>
              </a:lnSpc>
              <a:spcBef>
                <a:spcPts val="800"/>
              </a:spcBef>
              <a:spcAft>
                <a:spcPts val="0"/>
              </a:spcAft>
              <a:buSzPts val="2800"/>
              <a:buNone/>
            </a:pPr>
            <a:r>
              <a:rPr b="1" lang="en" sz="1400">
                <a:latin typeface="Arvo"/>
                <a:ea typeface="Arvo"/>
                <a:cs typeface="Arvo"/>
                <a:sym typeface="Arvo"/>
              </a:rPr>
              <a:t>Class</a:t>
            </a:r>
            <a:r>
              <a:rPr lang="en" sz="1400">
                <a:latin typeface="Arvo"/>
                <a:ea typeface="Arvo"/>
                <a:cs typeface="Arvo"/>
                <a:sym typeface="Arvo"/>
              </a:rPr>
              <a:t> − Class represents a set of objects having similar responsibilities.</a:t>
            </a:r>
            <a:endParaRPr sz="1400">
              <a:latin typeface="Arvo"/>
              <a:ea typeface="Arvo"/>
              <a:cs typeface="Arvo"/>
              <a:sym typeface="Arvo"/>
            </a:endParaRPr>
          </a:p>
          <a:p>
            <a:pPr indent="0" lvl="0" marL="0" rtl="0" algn="just">
              <a:lnSpc>
                <a:spcPct val="140000"/>
              </a:lnSpc>
              <a:spcBef>
                <a:spcPts val="800"/>
              </a:spcBef>
              <a:spcAft>
                <a:spcPts val="0"/>
              </a:spcAft>
              <a:buSzPts val="2800"/>
              <a:buNone/>
            </a:pPr>
            <a:r>
              <a:rPr lang="en" sz="1400">
                <a:latin typeface="Arvo"/>
                <a:ea typeface="Arvo"/>
                <a:cs typeface="Arvo"/>
                <a:sym typeface="Arvo"/>
              </a:rPr>
              <a:t>Notaion: </a:t>
            </a:r>
            <a:endParaRPr sz="1400">
              <a:latin typeface="Arvo"/>
              <a:ea typeface="Arvo"/>
              <a:cs typeface="Arvo"/>
              <a:sym typeface="Arvo"/>
            </a:endParaRPr>
          </a:p>
          <a:p>
            <a:pPr indent="0" lvl="0" marL="0" rtl="0" algn="just">
              <a:lnSpc>
                <a:spcPct val="140000"/>
              </a:lnSpc>
              <a:spcBef>
                <a:spcPts val="800"/>
              </a:spcBef>
              <a:spcAft>
                <a:spcPts val="0"/>
              </a:spcAft>
              <a:buClr>
                <a:schemeClr val="dk1"/>
              </a:buClr>
              <a:buSzPts val="1100"/>
              <a:buFont typeface="Arial"/>
              <a:buNone/>
            </a:pPr>
            <a:r>
              <a:t/>
            </a:r>
            <a:endParaRPr sz="1400">
              <a:latin typeface="Arvo"/>
              <a:ea typeface="Arvo"/>
              <a:cs typeface="Arvo"/>
              <a:sym typeface="Arvo"/>
            </a:endParaRPr>
          </a:p>
          <a:p>
            <a:pPr indent="0" lvl="0" marL="0" rtl="0" algn="just">
              <a:lnSpc>
                <a:spcPct val="140000"/>
              </a:lnSpc>
              <a:spcBef>
                <a:spcPts val="800"/>
              </a:spcBef>
              <a:spcAft>
                <a:spcPts val="0"/>
              </a:spcAft>
              <a:buClr>
                <a:schemeClr val="dk1"/>
              </a:buClr>
              <a:buSzPts val="1100"/>
              <a:buFont typeface="Arial"/>
              <a:buNone/>
            </a:pPr>
            <a:r>
              <a:rPr b="1" lang="en" sz="1400">
                <a:latin typeface="Arvo"/>
                <a:ea typeface="Arvo"/>
                <a:cs typeface="Arvo"/>
                <a:sym typeface="Arvo"/>
              </a:rPr>
              <a:t>Interface</a:t>
            </a:r>
            <a:r>
              <a:rPr lang="en" sz="1400">
                <a:latin typeface="Arvo"/>
                <a:ea typeface="Arvo"/>
                <a:cs typeface="Arvo"/>
                <a:sym typeface="Arvo"/>
              </a:rPr>
              <a:t> − Interface defines a set of operations, which specify the responsibility of a class.</a:t>
            </a:r>
            <a:endParaRPr sz="1400">
              <a:latin typeface="Arvo"/>
              <a:ea typeface="Arvo"/>
              <a:cs typeface="Arvo"/>
              <a:sym typeface="Arvo"/>
            </a:endParaRPr>
          </a:p>
          <a:p>
            <a:pPr indent="0" lvl="0" marL="0" rtl="0" algn="just">
              <a:lnSpc>
                <a:spcPct val="140000"/>
              </a:lnSpc>
              <a:spcBef>
                <a:spcPts val="800"/>
              </a:spcBef>
              <a:spcAft>
                <a:spcPts val="0"/>
              </a:spcAft>
              <a:buSzPts val="2800"/>
              <a:buNone/>
            </a:pPr>
            <a:r>
              <a:rPr lang="en" sz="1400">
                <a:latin typeface="Arvo"/>
                <a:ea typeface="Arvo"/>
                <a:cs typeface="Arvo"/>
                <a:sym typeface="Arvo"/>
              </a:rPr>
              <a:t>Notation: </a:t>
            </a:r>
            <a:endParaRPr sz="1400">
              <a:latin typeface="Arvo"/>
              <a:ea typeface="Arvo"/>
              <a:cs typeface="Arvo"/>
              <a:sym typeface="Arvo"/>
            </a:endParaRPr>
          </a:p>
        </p:txBody>
      </p:sp>
      <p:pic>
        <p:nvPicPr>
          <p:cNvPr id="162" name="Google Shape;162;p24"/>
          <p:cNvPicPr preferRelativeResize="0"/>
          <p:nvPr/>
        </p:nvPicPr>
        <p:blipFill rotWithShape="1">
          <a:blip r:embed="rId3">
            <a:alphaModFix/>
          </a:blip>
          <a:srcRect b="0" l="0" r="0" t="0"/>
          <a:stretch/>
        </p:blipFill>
        <p:spPr>
          <a:xfrm>
            <a:off x="1302750" y="2234067"/>
            <a:ext cx="1171575" cy="600075"/>
          </a:xfrm>
          <a:prstGeom prst="rect">
            <a:avLst/>
          </a:prstGeom>
          <a:noFill/>
          <a:ln>
            <a:noFill/>
          </a:ln>
        </p:spPr>
      </p:pic>
      <p:pic>
        <p:nvPicPr>
          <p:cNvPr id="163" name="Google Shape;163;p24"/>
          <p:cNvPicPr preferRelativeResize="0"/>
          <p:nvPr/>
        </p:nvPicPr>
        <p:blipFill rotWithShape="1">
          <a:blip r:embed="rId4">
            <a:alphaModFix/>
          </a:blip>
          <a:srcRect b="0" l="0" r="0" t="0"/>
          <a:stretch/>
        </p:blipFill>
        <p:spPr>
          <a:xfrm>
            <a:off x="1302750" y="3792617"/>
            <a:ext cx="1028700" cy="476250"/>
          </a:xfrm>
          <a:prstGeom prst="rect">
            <a:avLst/>
          </a:prstGeom>
          <a:noFill/>
          <a:ln>
            <a:noFill/>
          </a:ln>
        </p:spPr>
      </p:pic>
      <p:pic>
        <p:nvPicPr>
          <p:cNvPr id="164" name="Google Shape;164;p24"/>
          <p:cNvPicPr preferRelativeResize="0"/>
          <p:nvPr/>
        </p:nvPicPr>
        <p:blipFill rotWithShape="1">
          <a:blip r:embed="rId5">
            <a:alphaModFix/>
          </a:blip>
          <a:srcRect b="0" l="0" r="0" t="0"/>
          <a:stretch/>
        </p:blipFill>
        <p:spPr>
          <a:xfrm>
            <a:off x="6456002" y="137435"/>
            <a:ext cx="2491151" cy="1331925"/>
          </a:xfrm>
          <a:prstGeom prst="rect">
            <a:avLst/>
          </a:prstGeom>
          <a:noFill/>
          <a:ln>
            <a:noFill/>
          </a:ln>
        </p:spPr>
      </p:pic>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61">
                                            <p:txEl>
                                              <p:pRg end="0" st="0"/>
                                            </p:txEl>
                                          </p:spTgt>
                                        </p:tgtEl>
                                        <p:attrNameLst>
                                          <p:attrName>style.visibility</p:attrName>
                                        </p:attrNameLst>
                                      </p:cBhvr>
                                      <p:to>
                                        <p:strVal val="visible"/>
                                      </p:to>
                                    </p:set>
                                    <p:animEffect filter="fade" transition="in">
                                      <p:cBhvr>
                                        <p:cTn dur="500"/>
                                        <p:tgtEl>
                                          <p:spTgt spid="161">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161">
                                            <p:txEl>
                                              <p:pRg end="1" st="1"/>
                                            </p:txEl>
                                          </p:spTgt>
                                        </p:tgtEl>
                                        <p:attrNameLst>
                                          <p:attrName>style.visibility</p:attrName>
                                        </p:attrNameLst>
                                      </p:cBhvr>
                                      <p:to>
                                        <p:strVal val="visible"/>
                                      </p:to>
                                    </p:set>
                                    <p:animEffect filter="fade" transition="in">
                                      <p:cBhvr>
                                        <p:cTn dur="500"/>
                                        <p:tgtEl>
                                          <p:spTgt spid="161">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161">
                                            <p:txEl>
                                              <p:pRg end="2" st="2"/>
                                            </p:txEl>
                                          </p:spTgt>
                                        </p:tgtEl>
                                        <p:attrNameLst>
                                          <p:attrName>style.visibility</p:attrName>
                                        </p:attrNameLst>
                                      </p:cBhvr>
                                      <p:to>
                                        <p:strVal val="visible"/>
                                      </p:to>
                                    </p:set>
                                    <p:animEffect filter="fade" transition="in">
                                      <p:cBhvr>
                                        <p:cTn dur="500"/>
                                        <p:tgtEl>
                                          <p:spTgt spid="161">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161">
                                            <p:txEl>
                                              <p:pRg end="3" st="3"/>
                                            </p:txEl>
                                          </p:spTgt>
                                        </p:tgtEl>
                                        <p:attrNameLst>
                                          <p:attrName>style.visibility</p:attrName>
                                        </p:attrNameLst>
                                      </p:cBhvr>
                                      <p:to>
                                        <p:strVal val="visible"/>
                                      </p:to>
                                    </p:set>
                                    <p:animEffect filter="fade" transition="in">
                                      <p:cBhvr>
                                        <p:cTn dur="500"/>
                                        <p:tgtEl>
                                          <p:spTgt spid="161">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161">
                                            <p:txEl>
                                              <p:pRg end="4" st="4"/>
                                            </p:txEl>
                                          </p:spTgt>
                                        </p:tgtEl>
                                        <p:attrNameLst>
                                          <p:attrName>style.visibility</p:attrName>
                                        </p:attrNameLst>
                                      </p:cBhvr>
                                      <p:to>
                                        <p:strVal val="visible"/>
                                      </p:to>
                                    </p:set>
                                    <p:animEffect filter="fade" transition="in">
                                      <p:cBhvr>
                                        <p:cTn dur="500"/>
                                        <p:tgtEl>
                                          <p:spTgt spid="161">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161">
                                            <p:txEl>
                                              <p:pRg end="5" st="5"/>
                                            </p:txEl>
                                          </p:spTgt>
                                        </p:tgtEl>
                                        <p:attrNameLst>
                                          <p:attrName>style.visibility</p:attrName>
                                        </p:attrNameLst>
                                      </p:cBhvr>
                                      <p:to>
                                        <p:strVal val="visible"/>
                                      </p:to>
                                    </p:set>
                                    <p:animEffect filter="fade" transition="in">
                                      <p:cBhvr>
                                        <p:cTn dur="500"/>
                                        <p:tgtEl>
                                          <p:spTgt spid="161">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161">
                                            <p:txEl>
                                              <p:pRg end="6" st="6"/>
                                            </p:txEl>
                                          </p:spTgt>
                                        </p:tgtEl>
                                        <p:attrNameLst>
                                          <p:attrName>style.visibility</p:attrName>
                                        </p:attrNameLst>
                                      </p:cBhvr>
                                      <p:to>
                                        <p:strVal val="visible"/>
                                      </p:to>
                                    </p:set>
                                    <p:animEffect filter="fade" transition="in">
                                      <p:cBhvr>
                                        <p:cTn dur="500"/>
                                        <p:tgtEl>
                                          <p:spTgt spid="161">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5"/>
          <p:cNvSpPr txBox="1"/>
          <p:nvPr>
            <p:ph idx="1" type="subTitle"/>
          </p:nvPr>
        </p:nvSpPr>
        <p:spPr>
          <a:xfrm>
            <a:off x="311725" y="176350"/>
            <a:ext cx="6655500" cy="4855200"/>
          </a:xfrm>
          <a:prstGeom prst="rect">
            <a:avLst/>
          </a:prstGeom>
          <a:noFill/>
          <a:ln>
            <a:noFill/>
          </a:ln>
        </p:spPr>
        <p:txBody>
          <a:bodyPr anchorCtr="0" anchor="t" bIns="34275" lIns="68575" spcFirstLastPara="1" rIns="68575" wrap="square" tIns="34275">
            <a:normAutofit/>
          </a:bodyPr>
          <a:lstStyle/>
          <a:p>
            <a:pPr indent="0" lvl="0" marL="0" rtl="0" algn="just">
              <a:lnSpc>
                <a:spcPct val="140000"/>
              </a:lnSpc>
              <a:spcBef>
                <a:spcPts val="800"/>
              </a:spcBef>
              <a:spcAft>
                <a:spcPts val="0"/>
              </a:spcAft>
              <a:buSzPts val="2800"/>
              <a:buNone/>
            </a:pPr>
            <a:r>
              <a:rPr b="1" lang="en" sz="1400">
                <a:latin typeface="Arvo"/>
                <a:ea typeface="Arvo"/>
                <a:cs typeface="Arvo"/>
                <a:sym typeface="Arvo"/>
              </a:rPr>
              <a:t>Structural Things - continued</a:t>
            </a:r>
            <a:endParaRPr b="1" sz="1400">
              <a:latin typeface="Arvo"/>
              <a:ea typeface="Arvo"/>
              <a:cs typeface="Arvo"/>
              <a:sym typeface="Arvo"/>
            </a:endParaRPr>
          </a:p>
          <a:p>
            <a:pPr indent="0" lvl="0" marL="0" rtl="0" algn="just">
              <a:lnSpc>
                <a:spcPct val="140000"/>
              </a:lnSpc>
              <a:spcBef>
                <a:spcPts val="800"/>
              </a:spcBef>
              <a:spcAft>
                <a:spcPts val="0"/>
              </a:spcAft>
              <a:buSzPts val="2800"/>
              <a:buNone/>
            </a:pPr>
            <a:r>
              <a:rPr b="1" lang="en" sz="1400">
                <a:latin typeface="Arvo"/>
                <a:ea typeface="Arvo"/>
                <a:cs typeface="Arvo"/>
                <a:sym typeface="Arvo"/>
              </a:rPr>
              <a:t>Collaboration</a:t>
            </a:r>
            <a:r>
              <a:rPr lang="en" sz="1400">
                <a:latin typeface="Arvo"/>
                <a:ea typeface="Arvo"/>
                <a:cs typeface="Arvo"/>
                <a:sym typeface="Arvo"/>
              </a:rPr>
              <a:t> − Collaboration defines an interaction between elements.</a:t>
            </a:r>
            <a:endParaRPr sz="1400">
              <a:latin typeface="Arvo"/>
              <a:ea typeface="Arvo"/>
              <a:cs typeface="Arvo"/>
              <a:sym typeface="Arvo"/>
            </a:endParaRPr>
          </a:p>
          <a:p>
            <a:pPr indent="0" lvl="0" marL="0" rtl="0" algn="just">
              <a:lnSpc>
                <a:spcPct val="140000"/>
              </a:lnSpc>
              <a:spcBef>
                <a:spcPts val="800"/>
              </a:spcBef>
              <a:spcAft>
                <a:spcPts val="0"/>
              </a:spcAft>
              <a:buSzPts val="2800"/>
              <a:buNone/>
            </a:pPr>
            <a:r>
              <a:rPr lang="en" sz="1400">
                <a:latin typeface="Arvo"/>
                <a:ea typeface="Arvo"/>
                <a:cs typeface="Arvo"/>
                <a:sym typeface="Arvo"/>
              </a:rPr>
              <a:t>Notation: </a:t>
            </a:r>
            <a:endParaRPr sz="1400">
              <a:latin typeface="Arvo"/>
              <a:ea typeface="Arvo"/>
              <a:cs typeface="Arvo"/>
              <a:sym typeface="Arvo"/>
            </a:endParaRPr>
          </a:p>
          <a:p>
            <a:pPr indent="0" lvl="0" marL="0" rtl="0" algn="just">
              <a:lnSpc>
                <a:spcPct val="140000"/>
              </a:lnSpc>
              <a:spcBef>
                <a:spcPts val="800"/>
              </a:spcBef>
              <a:spcAft>
                <a:spcPts val="0"/>
              </a:spcAft>
              <a:buSzPts val="2800"/>
              <a:buNone/>
            </a:pPr>
            <a:r>
              <a:rPr b="1" lang="en" sz="1400">
                <a:latin typeface="Arvo"/>
                <a:ea typeface="Arvo"/>
                <a:cs typeface="Arvo"/>
                <a:sym typeface="Arvo"/>
              </a:rPr>
              <a:t>Use case </a:t>
            </a:r>
            <a:r>
              <a:rPr lang="en" sz="1400">
                <a:latin typeface="Arvo"/>
                <a:ea typeface="Arvo"/>
                <a:cs typeface="Arvo"/>
                <a:sym typeface="Arvo"/>
              </a:rPr>
              <a:t>− Use case represents a set of actions performed by a system for a specific goal.</a:t>
            </a:r>
            <a:endParaRPr sz="1400">
              <a:latin typeface="Arvo"/>
              <a:ea typeface="Arvo"/>
              <a:cs typeface="Arvo"/>
              <a:sym typeface="Arvo"/>
            </a:endParaRPr>
          </a:p>
          <a:p>
            <a:pPr indent="0" lvl="0" marL="0" rtl="0" algn="just">
              <a:lnSpc>
                <a:spcPct val="140000"/>
              </a:lnSpc>
              <a:spcBef>
                <a:spcPts val="800"/>
              </a:spcBef>
              <a:spcAft>
                <a:spcPts val="0"/>
              </a:spcAft>
              <a:buSzPts val="2800"/>
              <a:buNone/>
            </a:pPr>
            <a:r>
              <a:rPr lang="en" sz="1400">
                <a:latin typeface="Arvo"/>
                <a:ea typeface="Arvo"/>
                <a:cs typeface="Arvo"/>
                <a:sym typeface="Arvo"/>
              </a:rPr>
              <a:t>Notation: </a:t>
            </a:r>
            <a:endParaRPr sz="1400">
              <a:latin typeface="Arvo"/>
              <a:ea typeface="Arvo"/>
              <a:cs typeface="Arvo"/>
              <a:sym typeface="Arvo"/>
            </a:endParaRPr>
          </a:p>
          <a:p>
            <a:pPr indent="0" lvl="0" marL="0" rtl="0" algn="just">
              <a:lnSpc>
                <a:spcPct val="140000"/>
              </a:lnSpc>
              <a:spcBef>
                <a:spcPts val="800"/>
              </a:spcBef>
              <a:spcAft>
                <a:spcPts val="0"/>
              </a:spcAft>
              <a:buSzPts val="2800"/>
              <a:buNone/>
            </a:pPr>
            <a:r>
              <a:rPr b="1" lang="en" sz="1400">
                <a:latin typeface="Arvo"/>
                <a:ea typeface="Arvo"/>
                <a:cs typeface="Arvo"/>
                <a:sym typeface="Arvo"/>
              </a:rPr>
              <a:t>Component</a:t>
            </a:r>
            <a:r>
              <a:rPr lang="en" sz="1400">
                <a:latin typeface="Arvo"/>
                <a:ea typeface="Arvo"/>
                <a:cs typeface="Arvo"/>
                <a:sym typeface="Arvo"/>
              </a:rPr>
              <a:t> − Component describes the physical part of a system.</a:t>
            </a:r>
            <a:endParaRPr sz="1400">
              <a:latin typeface="Arvo"/>
              <a:ea typeface="Arvo"/>
              <a:cs typeface="Arvo"/>
              <a:sym typeface="Arvo"/>
            </a:endParaRPr>
          </a:p>
          <a:p>
            <a:pPr indent="0" lvl="0" marL="0" rtl="0" algn="just">
              <a:lnSpc>
                <a:spcPct val="140000"/>
              </a:lnSpc>
              <a:spcBef>
                <a:spcPts val="800"/>
              </a:spcBef>
              <a:spcAft>
                <a:spcPts val="0"/>
              </a:spcAft>
              <a:buSzPts val="2800"/>
              <a:buNone/>
            </a:pPr>
            <a:r>
              <a:rPr lang="en" sz="1400">
                <a:latin typeface="Arvo"/>
                <a:ea typeface="Arvo"/>
                <a:cs typeface="Arvo"/>
                <a:sym typeface="Arvo"/>
              </a:rPr>
              <a:t>Notation: </a:t>
            </a:r>
            <a:endParaRPr sz="1400">
              <a:latin typeface="Arvo"/>
              <a:ea typeface="Arvo"/>
              <a:cs typeface="Arvo"/>
              <a:sym typeface="Arvo"/>
            </a:endParaRPr>
          </a:p>
          <a:p>
            <a:pPr indent="0" lvl="0" marL="0" rtl="0" algn="just">
              <a:lnSpc>
                <a:spcPct val="140000"/>
              </a:lnSpc>
              <a:spcBef>
                <a:spcPts val="800"/>
              </a:spcBef>
              <a:spcAft>
                <a:spcPts val="0"/>
              </a:spcAft>
              <a:buSzPts val="2800"/>
              <a:buNone/>
            </a:pPr>
            <a:r>
              <a:rPr b="1" lang="en" sz="1400">
                <a:latin typeface="Arvo"/>
                <a:ea typeface="Arvo"/>
                <a:cs typeface="Arvo"/>
                <a:sym typeface="Arvo"/>
              </a:rPr>
              <a:t>Node</a:t>
            </a:r>
            <a:r>
              <a:rPr lang="en" sz="1400">
                <a:latin typeface="Arvo"/>
                <a:ea typeface="Arvo"/>
                <a:cs typeface="Arvo"/>
                <a:sym typeface="Arvo"/>
              </a:rPr>
              <a:t> − A node can be defined as a physical element that exists at run time.</a:t>
            </a:r>
            <a:endParaRPr sz="1400">
              <a:latin typeface="Arvo"/>
              <a:ea typeface="Arvo"/>
              <a:cs typeface="Arvo"/>
              <a:sym typeface="Arvo"/>
            </a:endParaRPr>
          </a:p>
          <a:p>
            <a:pPr indent="0" lvl="0" marL="0" rtl="0" algn="just">
              <a:lnSpc>
                <a:spcPct val="140000"/>
              </a:lnSpc>
              <a:spcBef>
                <a:spcPts val="800"/>
              </a:spcBef>
              <a:spcAft>
                <a:spcPts val="0"/>
              </a:spcAft>
              <a:buSzPts val="2800"/>
              <a:buNone/>
            </a:pPr>
            <a:r>
              <a:rPr lang="en" sz="1400">
                <a:latin typeface="Arvo"/>
                <a:ea typeface="Arvo"/>
                <a:cs typeface="Arvo"/>
                <a:sym typeface="Arvo"/>
              </a:rPr>
              <a:t>Notation: </a:t>
            </a:r>
            <a:endParaRPr sz="1400">
              <a:latin typeface="Arvo"/>
              <a:ea typeface="Arvo"/>
              <a:cs typeface="Arvo"/>
              <a:sym typeface="Arvo"/>
            </a:endParaRPr>
          </a:p>
        </p:txBody>
      </p:sp>
      <p:pic>
        <p:nvPicPr>
          <p:cNvPr id="170" name="Google Shape;170;p25"/>
          <p:cNvPicPr preferRelativeResize="0"/>
          <p:nvPr/>
        </p:nvPicPr>
        <p:blipFill rotWithShape="1">
          <a:blip r:embed="rId3">
            <a:alphaModFix/>
          </a:blip>
          <a:srcRect b="0" l="0" r="0" t="0"/>
          <a:stretch/>
        </p:blipFill>
        <p:spPr>
          <a:xfrm>
            <a:off x="1284025" y="906117"/>
            <a:ext cx="714375" cy="438150"/>
          </a:xfrm>
          <a:prstGeom prst="rect">
            <a:avLst/>
          </a:prstGeom>
          <a:noFill/>
          <a:ln>
            <a:noFill/>
          </a:ln>
        </p:spPr>
      </p:pic>
      <p:pic>
        <p:nvPicPr>
          <p:cNvPr id="171" name="Google Shape;171;p25"/>
          <p:cNvPicPr preferRelativeResize="0"/>
          <p:nvPr/>
        </p:nvPicPr>
        <p:blipFill rotWithShape="1">
          <a:blip r:embed="rId4">
            <a:alphaModFix/>
          </a:blip>
          <a:srcRect b="0" l="0" r="0" t="0"/>
          <a:stretch/>
        </p:blipFill>
        <p:spPr>
          <a:xfrm>
            <a:off x="1358850" y="2036442"/>
            <a:ext cx="771525" cy="400050"/>
          </a:xfrm>
          <a:prstGeom prst="rect">
            <a:avLst/>
          </a:prstGeom>
          <a:noFill/>
          <a:ln>
            <a:noFill/>
          </a:ln>
        </p:spPr>
      </p:pic>
      <p:pic>
        <p:nvPicPr>
          <p:cNvPr id="172" name="Google Shape;172;p25"/>
          <p:cNvPicPr preferRelativeResize="0"/>
          <p:nvPr/>
        </p:nvPicPr>
        <p:blipFill rotWithShape="1">
          <a:blip r:embed="rId5">
            <a:alphaModFix/>
          </a:blip>
          <a:srcRect b="0" l="0" r="0" t="0"/>
          <a:stretch/>
        </p:blipFill>
        <p:spPr>
          <a:xfrm>
            <a:off x="1358850" y="2776467"/>
            <a:ext cx="1047750" cy="466725"/>
          </a:xfrm>
          <a:prstGeom prst="rect">
            <a:avLst/>
          </a:prstGeom>
          <a:noFill/>
          <a:ln>
            <a:noFill/>
          </a:ln>
        </p:spPr>
      </p:pic>
      <p:pic>
        <p:nvPicPr>
          <p:cNvPr id="173" name="Google Shape;173;p25"/>
          <p:cNvPicPr preferRelativeResize="0"/>
          <p:nvPr/>
        </p:nvPicPr>
        <p:blipFill rotWithShape="1">
          <a:blip r:embed="rId6">
            <a:alphaModFix/>
          </a:blip>
          <a:srcRect b="0" l="0" r="0" t="0"/>
          <a:stretch/>
        </p:blipFill>
        <p:spPr>
          <a:xfrm>
            <a:off x="1358850" y="3692942"/>
            <a:ext cx="828675" cy="828675"/>
          </a:xfrm>
          <a:prstGeom prst="rect">
            <a:avLst/>
          </a:prstGeom>
          <a:noFill/>
          <a:ln>
            <a:noFill/>
          </a:ln>
        </p:spPr>
      </p:pic>
      <p:pic>
        <p:nvPicPr>
          <p:cNvPr id="174" name="Google Shape;174;p25"/>
          <p:cNvPicPr preferRelativeResize="0"/>
          <p:nvPr/>
        </p:nvPicPr>
        <p:blipFill rotWithShape="1">
          <a:blip r:embed="rId7">
            <a:alphaModFix/>
          </a:blip>
          <a:srcRect b="0" l="0" r="0" t="0"/>
          <a:stretch/>
        </p:blipFill>
        <p:spPr>
          <a:xfrm>
            <a:off x="6456002" y="137435"/>
            <a:ext cx="2491151" cy="1331925"/>
          </a:xfrm>
          <a:prstGeom prst="rect">
            <a:avLst/>
          </a:prstGeom>
          <a:noFill/>
          <a:ln>
            <a:noFill/>
          </a:ln>
        </p:spPr>
      </p:pic>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69">
                                            <p:txEl>
                                              <p:pRg end="0" st="0"/>
                                            </p:txEl>
                                          </p:spTgt>
                                        </p:tgtEl>
                                        <p:attrNameLst>
                                          <p:attrName>style.visibility</p:attrName>
                                        </p:attrNameLst>
                                      </p:cBhvr>
                                      <p:to>
                                        <p:strVal val="visible"/>
                                      </p:to>
                                    </p:set>
                                    <p:animEffect filter="fade" transition="in">
                                      <p:cBhvr>
                                        <p:cTn dur="500"/>
                                        <p:tgtEl>
                                          <p:spTgt spid="169">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169">
                                            <p:txEl>
                                              <p:pRg end="1" st="1"/>
                                            </p:txEl>
                                          </p:spTgt>
                                        </p:tgtEl>
                                        <p:attrNameLst>
                                          <p:attrName>style.visibility</p:attrName>
                                        </p:attrNameLst>
                                      </p:cBhvr>
                                      <p:to>
                                        <p:strVal val="visible"/>
                                      </p:to>
                                    </p:set>
                                    <p:animEffect filter="fade" transition="in">
                                      <p:cBhvr>
                                        <p:cTn dur="500"/>
                                        <p:tgtEl>
                                          <p:spTgt spid="169">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169">
                                            <p:txEl>
                                              <p:pRg end="2" st="2"/>
                                            </p:txEl>
                                          </p:spTgt>
                                        </p:tgtEl>
                                        <p:attrNameLst>
                                          <p:attrName>style.visibility</p:attrName>
                                        </p:attrNameLst>
                                      </p:cBhvr>
                                      <p:to>
                                        <p:strVal val="visible"/>
                                      </p:to>
                                    </p:set>
                                    <p:animEffect filter="fade" transition="in">
                                      <p:cBhvr>
                                        <p:cTn dur="500"/>
                                        <p:tgtEl>
                                          <p:spTgt spid="169">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169">
                                            <p:txEl>
                                              <p:pRg end="3" st="3"/>
                                            </p:txEl>
                                          </p:spTgt>
                                        </p:tgtEl>
                                        <p:attrNameLst>
                                          <p:attrName>style.visibility</p:attrName>
                                        </p:attrNameLst>
                                      </p:cBhvr>
                                      <p:to>
                                        <p:strVal val="visible"/>
                                      </p:to>
                                    </p:set>
                                    <p:animEffect filter="fade" transition="in">
                                      <p:cBhvr>
                                        <p:cTn dur="500"/>
                                        <p:tgtEl>
                                          <p:spTgt spid="169">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169">
                                            <p:txEl>
                                              <p:pRg end="4" st="4"/>
                                            </p:txEl>
                                          </p:spTgt>
                                        </p:tgtEl>
                                        <p:attrNameLst>
                                          <p:attrName>style.visibility</p:attrName>
                                        </p:attrNameLst>
                                      </p:cBhvr>
                                      <p:to>
                                        <p:strVal val="visible"/>
                                      </p:to>
                                    </p:set>
                                    <p:animEffect filter="fade" transition="in">
                                      <p:cBhvr>
                                        <p:cTn dur="500"/>
                                        <p:tgtEl>
                                          <p:spTgt spid="169">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169">
                                            <p:txEl>
                                              <p:pRg end="5" st="5"/>
                                            </p:txEl>
                                          </p:spTgt>
                                        </p:tgtEl>
                                        <p:attrNameLst>
                                          <p:attrName>style.visibility</p:attrName>
                                        </p:attrNameLst>
                                      </p:cBhvr>
                                      <p:to>
                                        <p:strVal val="visible"/>
                                      </p:to>
                                    </p:set>
                                    <p:animEffect filter="fade" transition="in">
                                      <p:cBhvr>
                                        <p:cTn dur="500"/>
                                        <p:tgtEl>
                                          <p:spTgt spid="169">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169">
                                            <p:txEl>
                                              <p:pRg end="6" st="6"/>
                                            </p:txEl>
                                          </p:spTgt>
                                        </p:tgtEl>
                                        <p:attrNameLst>
                                          <p:attrName>style.visibility</p:attrName>
                                        </p:attrNameLst>
                                      </p:cBhvr>
                                      <p:to>
                                        <p:strVal val="visible"/>
                                      </p:to>
                                    </p:set>
                                    <p:animEffect filter="fade" transition="in">
                                      <p:cBhvr>
                                        <p:cTn dur="500"/>
                                        <p:tgtEl>
                                          <p:spTgt spid="169">
                                            <p:txEl>
                                              <p:pRg end="6" st="6"/>
                                            </p:txEl>
                                          </p:spTgt>
                                        </p:tgtEl>
                                      </p:cBhvr>
                                    </p:animEffect>
                                  </p:childTnLst>
                                </p:cTn>
                              </p:par>
                              <p:par>
                                <p:cTn fill="hold" nodeType="withEffect" presetClass="entr" presetID="10" presetSubtype="0">
                                  <p:stCondLst>
                                    <p:cond delay="0"/>
                                  </p:stCondLst>
                                  <p:childTnLst>
                                    <p:set>
                                      <p:cBhvr>
                                        <p:cTn dur="1" fill="hold">
                                          <p:stCondLst>
                                            <p:cond delay="0"/>
                                          </p:stCondLst>
                                        </p:cTn>
                                        <p:tgtEl>
                                          <p:spTgt spid="169">
                                            <p:txEl>
                                              <p:pRg end="7" st="7"/>
                                            </p:txEl>
                                          </p:spTgt>
                                        </p:tgtEl>
                                        <p:attrNameLst>
                                          <p:attrName>style.visibility</p:attrName>
                                        </p:attrNameLst>
                                      </p:cBhvr>
                                      <p:to>
                                        <p:strVal val="visible"/>
                                      </p:to>
                                    </p:set>
                                    <p:animEffect filter="fade" transition="in">
                                      <p:cBhvr>
                                        <p:cTn dur="500"/>
                                        <p:tgtEl>
                                          <p:spTgt spid="169">
                                            <p:txEl>
                                              <p:pRg end="7" st="7"/>
                                            </p:txEl>
                                          </p:spTgt>
                                        </p:tgtEl>
                                      </p:cBhvr>
                                    </p:animEffect>
                                  </p:childTnLst>
                                </p:cTn>
                              </p:par>
                              <p:par>
                                <p:cTn fill="hold" nodeType="withEffect" presetClass="entr" presetID="10" presetSubtype="0">
                                  <p:stCondLst>
                                    <p:cond delay="0"/>
                                  </p:stCondLst>
                                  <p:childTnLst>
                                    <p:set>
                                      <p:cBhvr>
                                        <p:cTn dur="1" fill="hold">
                                          <p:stCondLst>
                                            <p:cond delay="0"/>
                                          </p:stCondLst>
                                        </p:cTn>
                                        <p:tgtEl>
                                          <p:spTgt spid="169">
                                            <p:txEl>
                                              <p:pRg end="8" st="8"/>
                                            </p:txEl>
                                          </p:spTgt>
                                        </p:tgtEl>
                                        <p:attrNameLst>
                                          <p:attrName>style.visibility</p:attrName>
                                        </p:attrNameLst>
                                      </p:cBhvr>
                                      <p:to>
                                        <p:strVal val="visible"/>
                                      </p:to>
                                    </p:set>
                                    <p:animEffect filter="fade" transition="in">
                                      <p:cBhvr>
                                        <p:cTn dur="500"/>
                                        <p:tgtEl>
                                          <p:spTgt spid="169">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6"/>
          <p:cNvSpPr txBox="1"/>
          <p:nvPr>
            <p:ph idx="1" type="subTitle"/>
          </p:nvPr>
        </p:nvSpPr>
        <p:spPr>
          <a:xfrm>
            <a:off x="311725" y="538625"/>
            <a:ext cx="6858000" cy="4017300"/>
          </a:xfrm>
          <a:prstGeom prst="rect">
            <a:avLst/>
          </a:prstGeom>
          <a:noFill/>
          <a:ln>
            <a:noFill/>
          </a:ln>
        </p:spPr>
        <p:txBody>
          <a:bodyPr anchorCtr="0" anchor="t" bIns="34275" lIns="68575" spcFirstLastPara="1" rIns="68575" wrap="square" tIns="34275">
            <a:normAutofit/>
          </a:bodyPr>
          <a:lstStyle/>
          <a:p>
            <a:pPr indent="0" lvl="0" marL="0" rtl="0" algn="just">
              <a:lnSpc>
                <a:spcPct val="140000"/>
              </a:lnSpc>
              <a:spcBef>
                <a:spcPts val="800"/>
              </a:spcBef>
              <a:spcAft>
                <a:spcPts val="0"/>
              </a:spcAft>
              <a:buSzPts val="2800"/>
              <a:buNone/>
            </a:pPr>
            <a:r>
              <a:t/>
            </a:r>
            <a:endParaRPr b="1" sz="1400">
              <a:latin typeface="Arvo"/>
              <a:ea typeface="Arvo"/>
              <a:cs typeface="Arvo"/>
              <a:sym typeface="Arvo"/>
            </a:endParaRPr>
          </a:p>
          <a:p>
            <a:pPr indent="0" lvl="0" marL="0" rtl="0" algn="just">
              <a:lnSpc>
                <a:spcPct val="140000"/>
              </a:lnSpc>
              <a:spcBef>
                <a:spcPts val="800"/>
              </a:spcBef>
              <a:spcAft>
                <a:spcPts val="0"/>
              </a:spcAft>
              <a:buSzPts val="2800"/>
              <a:buNone/>
            </a:pPr>
            <a:r>
              <a:rPr b="1" lang="en" sz="1400">
                <a:latin typeface="Arvo"/>
                <a:ea typeface="Arvo"/>
                <a:cs typeface="Arvo"/>
                <a:sym typeface="Arvo"/>
              </a:rPr>
              <a:t>Behavioral Things</a:t>
            </a:r>
            <a:endParaRPr b="1" sz="1400">
              <a:latin typeface="Arvo"/>
              <a:ea typeface="Arvo"/>
              <a:cs typeface="Arvo"/>
              <a:sym typeface="Arvo"/>
            </a:endParaRPr>
          </a:p>
          <a:p>
            <a:pPr indent="0" lvl="0" marL="0" rtl="0" algn="just">
              <a:lnSpc>
                <a:spcPct val="140000"/>
              </a:lnSpc>
              <a:spcBef>
                <a:spcPts val="800"/>
              </a:spcBef>
              <a:spcAft>
                <a:spcPts val="0"/>
              </a:spcAft>
              <a:buSzPts val="2800"/>
              <a:buNone/>
            </a:pPr>
            <a:r>
              <a:rPr lang="en" sz="1400">
                <a:latin typeface="Arvo"/>
                <a:ea typeface="Arvo"/>
                <a:cs typeface="Arvo"/>
                <a:sym typeface="Arvo"/>
              </a:rPr>
              <a:t>A behavioral thing consists of the dynamic parts of UML models. Following are the behavioral things −</a:t>
            </a:r>
            <a:endParaRPr sz="1400">
              <a:latin typeface="Arvo"/>
              <a:ea typeface="Arvo"/>
              <a:cs typeface="Arvo"/>
              <a:sym typeface="Arvo"/>
            </a:endParaRPr>
          </a:p>
          <a:p>
            <a:pPr indent="0" lvl="0" marL="0" rtl="0" algn="just">
              <a:lnSpc>
                <a:spcPct val="140000"/>
              </a:lnSpc>
              <a:spcBef>
                <a:spcPts val="800"/>
              </a:spcBef>
              <a:spcAft>
                <a:spcPts val="0"/>
              </a:spcAft>
              <a:buSzPts val="2800"/>
              <a:buNone/>
            </a:pPr>
            <a:r>
              <a:rPr b="1" lang="en" sz="1400">
                <a:latin typeface="Arvo"/>
                <a:ea typeface="Arvo"/>
                <a:cs typeface="Arvo"/>
                <a:sym typeface="Arvo"/>
              </a:rPr>
              <a:t>Interaction</a:t>
            </a:r>
            <a:r>
              <a:rPr lang="en" sz="1400">
                <a:latin typeface="Arvo"/>
                <a:ea typeface="Arvo"/>
                <a:cs typeface="Arvo"/>
                <a:sym typeface="Arvo"/>
              </a:rPr>
              <a:t> − Interaction is defined as a behavior that consists of a group of messages exchanged among elements to accomplish a specific task.</a:t>
            </a:r>
            <a:endParaRPr sz="1400">
              <a:latin typeface="Arvo"/>
              <a:ea typeface="Arvo"/>
              <a:cs typeface="Arvo"/>
              <a:sym typeface="Arvo"/>
            </a:endParaRPr>
          </a:p>
          <a:p>
            <a:pPr indent="0" lvl="0" marL="0" rtl="0" algn="just">
              <a:lnSpc>
                <a:spcPct val="140000"/>
              </a:lnSpc>
              <a:spcBef>
                <a:spcPts val="800"/>
              </a:spcBef>
              <a:spcAft>
                <a:spcPts val="0"/>
              </a:spcAft>
              <a:buSzPts val="2800"/>
              <a:buNone/>
            </a:pPr>
            <a:r>
              <a:rPr lang="en" sz="1400">
                <a:latin typeface="Arvo"/>
                <a:ea typeface="Arvo"/>
                <a:cs typeface="Arvo"/>
                <a:sym typeface="Arvo"/>
              </a:rPr>
              <a:t>Notation: </a:t>
            </a:r>
            <a:endParaRPr sz="1400">
              <a:latin typeface="Arvo"/>
              <a:ea typeface="Arvo"/>
              <a:cs typeface="Arvo"/>
              <a:sym typeface="Arvo"/>
            </a:endParaRPr>
          </a:p>
          <a:p>
            <a:pPr indent="0" lvl="0" marL="0" rtl="0" algn="just">
              <a:lnSpc>
                <a:spcPct val="140000"/>
              </a:lnSpc>
              <a:spcBef>
                <a:spcPts val="800"/>
              </a:spcBef>
              <a:spcAft>
                <a:spcPts val="0"/>
              </a:spcAft>
              <a:buSzPts val="2800"/>
              <a:buNone/>
            </a:pPr>
            <a:r>
              <a:rPr b="1" lang="en" sz="1400">
                <a:latin typeface="Arvo"/>
                <a:ea typeface="Arvo"/>
                <a:cs typeface="Arvo"/>
                <a:sym typeface="Arvo"/>
              </a:rPr>
              <a:t>State machine</a:t>
            </a:r>
            <a:r>
              <a:rPr lang="en" sz="1400">
                <a:latin typeface="Arvo"/>
                <a:ea typeface="Arvo"/>
                <a:cs typeface="Arvo"/>
                <a:sym typeface="Arvo"/>
              </a:rPr>
              <a:t> − State machine is useful when the state of an object in its life cycle is important. It defines the sequence of states an object goes through in response to events. Events are external factors responsible for state change</a:t>
            </a:r>
            <a:endParaRPr sz="1400">
              <a:latin typeface="Arvo"/>
              <a:ea typeface="Arvo"/>
              <a:cs typeface="Arvo"/>
              <a:sym typeface="Arvo"/>
            </a:endParaRPr>
          </a:p>
          <a:p>
            <a:pPr indent="0" lvl="0" marL="0" rtl="0" algn="just">
              <a:lnSpc>
                <a:spcPct val="140000"/>
              </a:lnSpc>
              <a:spcBef>
                <a:spcPts val="800"/>
              </a:spcBef>
              <a:spcAft>
                <a:spcPts val="0"/>
              </a:spcAft>
              <a:buSzPts val="2800"/>
              <a:buNone/>
            </a:pPr>
            <a:r>
              <a:rPr lang="en" sz="1400">
                <a:latin typeface="Arvo"/>
                <a:ea typeface="Arvo"/>
                <a:cs typeface="Arvo"/>
                <a:sym typeface="Arvo"/>
              </a:rPr>
              <a:t>Notation: </a:t>
            </a:r>
            <a:endParaRPr sz="1400">
              <a:latin typeface="Arvo"/>
              <a:ea typeface="Arvo"/>
              <a:cs typeface="Arvo"/>
              <a:sym typeface="Arvo"/>
            </a:endParaRPr>
          </a:p>
        </p:txBody>
      </p:sp>
      <p:pic>
        <p:nvPicPr>
          <p:cNvPr id="180" name="Google Shape;180;p26"/>
          <p:cNvPicPr preferRelativeResize="0"/>
          <p:nvPr/>
        </p:nvPicPr>
        <p:blipFill rotWithShape="1">
          <a:blip r:embed="rId3">
            <a:alphaModFix/>
          </a:blip>
          <a:srcRect b="0" l="0" r="0" t="0"/>
          <a:stretch/>
        </p:blipFill>
        <p:spPr>
          <a:xfrm>
            <a:off x="1451138" y="2707650"/>
            <a:ext cx="869452" cy="362275"/>
          </a:xfrm>
          <a:prstGeom prst="rect">
            <a:avLst/>
          </a:prstGeom>
          <a:noFill/>
          <a:ln>
            <a:noFill/>
          </a:ln>
        </p:spPr>
      </p:pic>
      <p:pic>
        <p:nvPicPr>
          <p:cNvPr id="181" name="Google Shape;181;p26"/>
          <p:cNvPicPr preferRelativeResize="0"/>
          <p:nvPr/>
        </p:nvPicPr>
        <p:blipFill rotWithShape="1">
          <a:blip r:embed="rId4">
            <a:alphaModFix/>
          </a:blip>
          <a:srcRect b="0" l="0" r="0" t="0"/>
          <a:stretch/>
        </p:blipFill>
        <p:spPr>
          <a:xfrm>
            <a:off x="1366763" y="4046317"/>
            <a:ext cx="1038225" cy="638175"/>
          </a:xfrm>
          <a:prstGeom prst="rect">
            <a:avLst/>
          </a:prstGeom>
          <a:noFill/>
          <a:ln>
            <a:noFill/>
          </a:ln>
        </p:spPr>
      </p:pic>
      <p:pic>
        <p:nvPicPr>
          <p:cNvPr id="182" name="Google Shape;182;p26"/>
          <p:cNvPicPr preferRelativeResize="0"/>
          <p:nvPr/>
        </p:nvPicPr>
        <p:blipFill rotWithShape="1">
          <a:blip r:embed="rId5">
            <a:alphaModFix/>
          </a:blip>
          <a:srcRect b="0" l="0" r="0" t="0"/>
          <a:stretch/>
        </p:blipFill>
        <p:spPr>
          <a:xfrm>
            <a:off x="6456002" y="137435"/>
            <a:ext cx="2491151" cy="1331925"/>
          </a:xfrm>
          <a:prstGeom prst="rect">
            <a:avLst/>
          </a:prstGeom>
          <a:noFill/>
          <a:ln>
            <a:noFill/>
          </a:ln>
        </p:spPr>
      </p:pic>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79">
                                            <p:txEl>
                                              <p:pRg end="0" st="0"/>
                                            </p:txEl>
                                          </p:spTgt>
                                        </p:tgtEl>
                                        <p:attrNameLst>
                                          <p:attrName>style.visibility</p:attrName>
                                        </p:attrNameLst>
                                      </p:cBhvr>
                                      <p:to>
                                        <p:strVal val="visible"/>
                                      </p:to>
                                    </p:set>
                                    <p:animEffect filter="fade" transition="in">
                                      <p:cBhvr>
                                        <p:cTn dur="500"/>
                                        <p:tgtEl>
                                          <p:spTgt spid="179">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179">
                                            <p:txEl>
                                              <p:pRg end="1" st="1"/>
                                            </p:txEl>
                                          </p:spTgt>
                                        </p:tgtEl>
                                        <p:attrNameLst>
                                          <p:attrName>style.visibility</p:attrName>
                                        </p:attrNameLst>
                                      </p:cBhvr>
                                      <p:to>
                                        <p:strVal val="visible"/>
                                      </p:to>
                                    </p:set>
                                    <p:animEffect filter="fade" transition="in">
                                      <p:cBhvr>
                                        <p:cTn dur="500"/>
                                        <p:tgtEl>
                                          <p:spTgt spid="179">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179">
                                            <p:txEl>
                                              <p:pRg end="2" st="2"/>
                                            </p:txEl>
                                          </p:spTgt>
                                        </p:tgtEl>
                                        <p:attrNameLst>
                                          <p:attrName>style.visibility</p:attrName>
                                        </p:attrNameLst>
                                      </p:cBhvr>
                                      <p:to>
                                        <p:strVal val="visible"/>
                                      </p:to>
                                    </p:set>
                                    <p:animEffect filter="fade" transition="in">
                                      <p:cBhvr>
                                        <p:cTn dur="500"/>
                                        <p:tgtEl>
                                          <p:spTgt spid="179">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179">
                                            <p:txEl>
                                              <p:pRg end="3" st="3"/>
                                            </p:txEl>
                                          </p:spTgt>
                                        </p:tgtEl>
                                        <p:attrNameLst>
                                          <p:attrName>style.visibility</p:attrName>
                                        </p:attrNameLst>
                                      </p:cBhvr>
                                      <p:to>
                                        <p:strVal val="visible"/>
                                      </p:to>
                                    </p:set>
                                    <p:animEffect filter="fade" transition="in">
                                      <p:cBhvr>
                                        <p:cTn dur="500"/>
                                        <p:tgtEl>
                                          <p:spTgt spid="179">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179">
                                            <p:txEl>
                                              <p:pRg end="4" st="4"/>
                                            </p:txEl>
                                          </p:spTgt>
                                        </p:tgtEl>
                                        <p:attrNameLst>
                                          <p:attrName>style.visibility</p:attrName>
                                        </p:attrNameLst>
                                      </p:cBhvr>
                                      <p:to>
                                        <p:strVal val="visible"/>
                                      </p:to>
                                    </p:set>
                                    <p:animEffect filter="fade" transition="in">
                                      <p:cBhvr>
                                        <p:cTn dur="500"/>
                                        <p:tgtEl>
                                          <p:spTgt spid="179">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179">
                                            <p:txEl>
                                              <p:pRg end="5" st="5"/>
                                            </p:txEl>
                                          </p:spTgt>
                                        </p:tgtEl>
                                        <p:attrNameLst>
                                          <p:attrName>style.visibility</p:attrName>
                                        </p:attrNameLst>
                                      </p:cBhvr>
                                      <p:to>
                                        <p:strVal val="visible"/>
                                      </p:to>
                                    </p:set>
                                    <p:animEffect filter="fade" transition="in">
                                      <p:cBhvr>
                                        <p:cTn dur="500"/>
                                        <p:tgtEl>
                                          <p:spTgt spid="179">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179">
                                            <p:txEl>
                                              <p:pRg end="6" st="6"/>
                                            </p:txEl>
                                          </p:spTgt>
                                        </p:tgtEl>
                                        <p:attrNameLst>
                                          <p:attrName>style.visibility</p:attrName>
                                        </p:attrNameLst>
                                      </p:cBhvr>
                                      <p:to>
                                        <p:strVal val="visible"/>
                                      </p:to>
                                    </p:set>
                                    <p:animEffect filter="fade" transition="in">
                                      <p:cBhvr>
                                        <p:cTn dur="500"/>
                                        <p:tgtEl>
                                          <p:spTgt spid="179">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7"/>
          <p:cNvSpPr txBox="1"/>
          <p:nvPr>
            <p:ph idx="1" type="subTitle"/>
          </p:nvPr>
        </p:nvSpPr>
        <p:spPr>
          <a:xfrm>
            <a:off x="311725" y="538625"/>
            <a:ext cx="6858000" cy="4017300"/>
          </a:xfrm>
          <a:prstGeom prst="rect">
            <a:avLst/>
          </a:prstGeom>
          <a:noFill/>
          <a:ln>
            <a:noFill/>
          </a:ln>
        </p:spPr>
        <p:txBody>
          <a:bodyPr anchorCtr="0" anchor="t" bIns="34275" lIns="68575" spcFirstLastPara="1" rIns="68575" wrap="square" tIns="34275">
            <a:normAutofit/>
          </a:bodyPr>
          <a:lstStyle/>
          <a:p>
            <a:pPr indent="0" lvl="0" marL="0" rtl="0" algn="just">
              <a:lnSpc>
                <a:spcPct val="140000"/>
              </a:lnSpc>
              <a:spcBef>
                <a:spcPts val="800"/>
              </a:spcBef>
              <a:spcAft>
                <a:spcPts val="0"/>
              </a:spcAft>
              <a:buSzPts val="2800"/>
              <a:buNone/>
            </a:pPr>
            <a:r>
              <a:t/>
            </a:r>
            <a:endParaRPr b="1" sz="1400">
              <a:latin typeface="Arvo"/>
              <a:ea typeface="Arvo"/>
              <a:cs typeface="Arvo"/>
              <a:sym typeface="Arvo"/>
            </a:endParaRPr>
          </a:p>
          <a:p>
            <a:pPr indent="0" lvl="0" marL="0" rtl="0" algn="just">
              <a:lnSpc>
                <a:spcPct val="140000"/>
              </a:lnSpc>
              <a:spcBef>
                <a:spcPts val="800"/>
              </a:spcBef>
              <a:spcAft>
                <a:spcPts val="0"/>
              </a:spcAft>
              <a:buSzPts val="2800"/>
              <a:buNone/>
            </a:pPr>
            <a:r>
              <a:t/>
            </a:r>
            <a:endParaRPr b="1" sz="1400">
              <a:latin typeface="Arvo"/>
              <a:ea typeface="Arvo"/>
              <a:cs typeface="Arvo"/>
              <a:sym typeface="Arvo"/>
            </a:endParaRPr>
          </a:p>
          <a:p>
            <a:pPr indent="0" lvl="0" marL="0" rtl="0" algn="just">
              <a:lnSpc>
                <a:spcPct val="140000"/>
              </a:lnSpc>
              <a:spcBef>
                <a:spcPts val="800"/>
              </a:spcBef>
              <a:spcAft>
                <a:spcPts val="0"/>
              </a:spcAft>
              <a:buSzPts val="2800"/>
              <a:buNone/>
            </a:pPr>
            <a:r>
              <a:rPr b="1" lang="en" sz="1400">
                <a:latin typeface="Arvo"/>
                <a:ea typeface="Arvo"/>
                <a:cs typeface="Arvo"/>
                <a:sym typeface="Arvo"/>
              </a:rPr>
              <a:t>Grouping Things</a:t>
            </a:r>
            <a:endParaRPr b="1" sz="1400">
              <a:latin typeface="Arvo"/>
              <a:ea typeface="Arvo"/>
              <a:cs typeface="Arvo"/>
              <a:sym typeface="Arvo"/>
            </a:endParaRPr>
          </a:p>
          <a:p>
            <a:pPr indent="0" lvl="0" marL="0" rtl="0" algn="just">
              <a:lnSpc>
                <a:spcPct val="140000"/>
              </a:lnSpc>
              <a:spcBef>
                <a:spcPts val="800"/>
              </a:spcBef>
              <a:spcAft>
                <a:spcPts val="0"/>
              </a:spcAft>
              <a:buSzPts val="2800"/>
              <a:buNone/>
            </a:pPr>
            <a:r>
              <a:rPr lang="en" sz="1400">
                <a:latin typeface="Arvo"/>
                <a:ea typeface="Arvo"/>
                <a:cs typeface="Arvo"/>
                <a:sym typeface="Arvo"/>
              </a:rPr>
              <a:t>Grouping things can be defined as a mechanism to group elements of a UML model together. There is only one grouping thing available −</a:t>
            </a:r>
            <a:endParaRPr sz="1400">
              <a:latin typeface="Arvo"/>
              <a:ea typeface="Arvo"/>
              <a:cs typeface="Arvo"/>
              <a:sym typeface="Arvo"/>
            </a:endParaRPr>
          </a:p>
          <a:p>
            <a:pPr indent="0" lvl="0" marL="0" rtl="0" algn="just">
              <a:lnSpc>
                <a:spcPct val="140000"/>
              </a:lnSpc>
              <a:spcBef>
                <a:spcPts val="800"/>
              </a:spcBef>
              <a:spcAft>
                <a:spcPts val="0"/>
              </a:spcAft>
              <a:buSzPts val="2800"/>
              <a:buNone/>
            </a:pPr>
            <a:r>
              <a:t/>
            </a:r>
            <a:endParaRPr sz="1400">
              <a:latin typeface="Arvo"/>
              <a:ea typeface="Arvo"/>
              <a:cs typeface="Arvo"/>
              <a:sym typeface="Arvo"/>
            </a:endParaRPr>
          </a:p>
          <a:p>
            <a:pPr indent="0" lvl="0" marL="0" rtl="0" algn="just">
              <a:lnSpc>
                <a:spcPct val="140000"/>
              </a:lnSpc>
              <a:spcBef>
                <a:spcPts val="800"/>
              </a:spcBef>
              <a:spcAft>
                <a:spcPts val="0"/>
              </a:spcAft>
              <a:buSzPts val="2800"/>
              <a:buNone/>
            </a:pPr>
            <a:r>
              <a:rPr b="1" lang="en" sz="1400">
                <a:latin typeface="Arvo"/>
                <a:ea typeface="Arvo"/>
                <a:cs typeface="Arvo"/>
                <a:sym typeface="Arvo"/>
              </a:rPr>
              <a:t>Package</a:t>
            </a:r>
            <a:r>
              <a:rPr lang="en" sz="1400">
                <a:latin typeface="Arvo"/>
                <a:ea typeface="Arvo"/>
                <a:cs typeface="Arvo"/>
                <a:sym typeface="Arvo"/>
              </a:rPr>
              <a:t> − Package is the only one grouping thing available for gathering structural and behavioral things.</a:t>
            </a:r>
            <a:endParaRPr sz="1400">
              <a:latin typeface="Arvo"/>
              <a:ea typeface="Arvo"/>
              <a:cs typeface="Arvo"/>
              <a:sym typeface="Arvo"/>
            </a:endParaRPr>
          </a:p>
          <a:p>
            <a:pPr indent="0" lvl="0" marL="0" rtl="0" algn="just">
              <a:lnSpc>
                <a:spcPct val="140000"/>
              </a:lnSpc>
              <a:spcBef>
                <a:spcPts val="800"/>
              </a:spcBef>
              <a:spcAft>
                <a:spcPts val="0"/>
              </a:spcAft>
              <a:buSzPts val="2800"/>
              <a:buNone/>
            </a:pPr>
            <a:r>
              <a:rPr lang="en" sz="1400">
                <a:latin typeface="Arvo"/>
                <a:ea typeface="Arvo"/>
                <a:cs typeface="Arvo"/>
                <a:sym typeface="Arvo"/>
              </a:rPr>
              <a:t>Notation: </a:t>
            </a:r>
            <a:endParaRPr sz="1400">
              <a:latin typeface="Arvo"/>
              <a:ea typeface="Arvo"/>
              <a:cs typeface="Arvo"/>
              <a:sym typeface="Arvo"/>
            </a:endParaRPr>
          </a:p>
          <a:p>
            <a:pPr indent="0" lvl="0" marL="0" rtl="0" algn="just">
              <a:lnSpc>
                <a:spcPct val="140000"/>
              </a:lnSpc>
              <a:spcBef>
                <a:spcPts val="800"/>
              </a:spcBef>
              <a:spcAft>
                <a:spcPts val="0"/>
              </a:spcAft>
              <a:buSzPts val="2800"/>
              <a:buNone/>
            </a:pPr>
            <a:r>
              <a:t/>
            </a:r>
            <a:endParaRPr sz="1400">
              <a:latin typeface="Arvo"/>
              <a:ea typeface="Arvo"/>
              <a:cs typeface="Arvo"/>
              <a:sym typeface="Arvo"/>
            </a:endParaRPr>
          </a:p>
        </p:txBody>
      </p:sp>
      <p:pic>
        <p:nvPicPr>
          <p:cNvPr id="188" name="Google Shape;188;p27"/>
          <p:cNvPicPr preferRelativeResize="0"/>
          <p:nvPr/>
        </p:nvPicPr>
        <p:blipFill rotWithShape="1">
          <a:blip r:embed="rId3">
            <a:alphaModFix/>
          </a:blip>
          <a:srcRect b="0" l="0" r="0" t="0"/>
          <a:stretch/>
        </p:blipFill>
        <p:spPr>
          <a:xfrm>
            <a:off x="1398675" y="3514992"/>
            <a:ext cx="1028700" cy="714375"/>
          </a:xfrm>
          <a:prstGeom prst="rect">
            <a:avLst/>
          </a:prstGeom>
          <a:noFill/>
          <a:ln>
            <a:noFill/>
          </a:ln>
        </p:spPr>
      </p:pic>
      <p:pic>
        <p:nvPicPr>
          <p:cNvPr id="189" name="Google Shape;189;p27"/>
          <p:cNvPicPr preferRelativeResize="0"/>
          <p:nvPr/>
        </p:nvPicPr>
        <p:blipFill rotWithShape="1">
          <a:blip r:embed="rId4">
            <a:alphaModFix/>
          </a:blip>
          <a:srcRect b="0" l="0" r="0" t="0"/>
          <a:stretch/>
        </p:blipFill>
        <p:spPr>
          <a:xfrm>
            <a:off x="6456002" y="137435"/>
            <a:ext cx="2491151" cy="1331925"/>
          </a:xfrm>
          <a:prstGeom prst="rect">
            <a:avLst/>
          </a:prstGeom>
          <a:noFill/>
          <a:ln>
            <a:noFill/>
          </a:ln>
        </p:spPr>
      </p:pic>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87">
                                            <p:txEl>
                                              <p:pRg end="0" st="0"/>
                                            </p:txEl>
                                          </p:spTgt>
                                        </p:tgtEl>
                                        <p:attrNameLst>
                                          <p:attrName>style.visibility</p:attrName>
                                        </p:attrNameLst>
                                      </p:cBhvr>
                                      <p:to>
                                        <p:strVal val="visible"/>
                                      </p:to>
                                    </p:set>
                                    <p:animEffect filter="fade" transition="in">
                                      <p:cBhvr>
                                        <p:cTn dur="500"/>
                                        <p:tgtEl>
                                          <p:spTgt spid="187">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187">
                                            <p:txEl>
                                              <p:pRg end="1" st="1"/>
                                            </p:txEl>
                                          </p:spTgt>
                                        </p:tgtEl>
                                        <p:attrNameLst>
                                          <p:attrName>style.visibility</p:attrName>
                                        </p:attrNameLst>
                                      </p:cBhvr>
                                      <p:to>
                                        <p:strVal val="visible"/>
                                      </p:to>
                                    </p:set>
                                    <p:animEffect filter="fade" transition="in">
                                      <p:cBhvr>
                                        <p:cTn dur="500"/>
                                        <p:tgtEl>
                                          <p:spTgt spid="187">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187">
                                            <p:txEl>
                                              <p:pRg end="2" st="2"/>
                                            </p:txEl>
                                          </p:spTgt>
                                        </p:tgtEl>
                                        <p:attrNameLst>
                                          <p:attrName>style.visibility</p:attrName>
                                        </p:attrNameLst>
                                      </p:cBhvr>
                                      <p:to>
                                        <p:strVal val="visible"/>
                                      </p:to>
                                    </p:set>
                                    <p:animEffect filter="fade" transition="in">
                                      <p:cBhvr>
                                        <p:cTn dur="500"/>
                                        <p:tgtEl>
                                          <p:spTgt spid="187">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187">
                                            <p:txEl>
                                              <p:pRg end="3" st="3"/>
                                            </p:txEl>
                                          </p:spTgt>
                                        </p:tgtEl>
                                        <p:attrNameLst>
                                          <p:attrName>style.visibility</p:attrName>
                                        </p:attrNameLst>
                                      </p:cBhvr>
                                      <p:to>
                                        <p:strVal val="visible"/>
                                      </p:to>
                                    </p:set>
                                    <p:animEffect filter="fade" transition="in">
                                      <p:cBhvr>
                                        <p:cTn dur="500"/>
                                        <p:tgtEl>
                                          <p:spTgt spid="187">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187">
                                            <p:txEl>
                                              <p:pRg end="4" st="4"/>
                                            </p:txEl>
                                          </p:spTgt>
                                        </p:tgtEl>
                                        <p:attrNameLst>
                                          <p:attrName>style.visibility</p:attrName>
                                        </p:attrNameLst>
                                      </p:cBhvr>
                                      <p:to>
                                        <p:strVal val="visible"/>
                                      </p:to>
                                    </p:set>
                                    <p:animEffect filter="fade" transition="in">
                                      <p:cBhvr>
                                        <p:cTn dur="500"/>
                                        <p:tgtEl>
                                          <p:spTgt spid="187">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187">
                                            <p:txEl>
                                              <p:pRg end="5" st="5"/>
                                            </p:txEl>
                                          </p:spTgt>
                                        </p:tgtEl>
                                        <p:attrNameLst>
                                          <p:attrName>style.visibility</p:attrName>
                                        </p:attrNameLst>
                                      </p:cBhvr>
                                      <p:to>
                                        <p:strVal val="visible"/>
                                      </p:to>
                                    </p:set>
                                    <p:animEffect filter="fade" transition="in">
                                      <p:cBhvr>
                                        <p:cTn dur="500"/>
                                        <p:tgtEl>
                                          <p:spTgt spid="187">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187">
                                            <p:txEl>
                                              <p:pRg end="6" st="6"/>
                                            </p:txEl>
                                          </p:spTgt>
                                        </p:tgtEl>
                                        <p:attrNameLst>
                                          <p:attrName>style.visibility</p:attrName>
                                        </p:attrNameLst>
                                      </p:cBhvr>
                                      <p:to>
                                        <p:strVal val="visible"/>
                                      </p:to>
                                    </p:set>
                                    <p:animEffect filter="fade" transition="in">
                                      <p:cBhvr>
                                        <p:cTn dur="500"/>
                                        <p:tgtEl>
                                          <p:spTgt spid="187">
                                            <p:txEl>
                                              <p:pRg end="6" st="6"/>
                                            </p:txEl>
                                          </p:spTgt>
                                        </p:tgtEl>
                                      </p:cBhvr>
                                    </p:animEffect>
                                  </p:childTnLst>
                                </p:cTn>
                              </p:par>
                              <p:par>
                                <p:cTn fill="hold" nodeType="withEffect" presetClass="entr" presetID="10" presetSubtype="0">
                                  <p:stCondLst>
                                    <p:cond delay="0"/>
                                  </p:stCondLst>
                                  <p:childTnLst>
                                    <p:set>
                                      <p:cBhvr>
                                        <p:cTn dur="1" fill="hold">
                                          <p:stCondLst>
                                            <p:cond delay="0"/>
                                          </p:stCondLst>
                                        </p:cTn>
                                        <p:tgtEl>
                                          <p:spTgt spid="187">
                                            <p:txEl>
                                              <p:pRg end="7" st="7"/>
                                            </p:txEl>
                                          </p:spTgt>
                                        </p:tgtEl>
                                        <p:attrNameLst>
                                          <p:attrName>style.visibility</p:attrName>
                                        </p:attrNameLst>
                                      </p:cBhvr>
                                      <p:to>
                                        <p:strVal val="visible"/>
                                      </p:to>
                                    </p:set>
                                    <p:animEffect filter="fade" transition="in">
                                      <p:cBhvr>
                                        <p:cTn dur="500"/>
                                        <p:tgtEl>
                                          <p:spTgt spid="187">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8"/>
          <p:cNvSpPr txBox="1"/>
          <p:nvPr>
            <p:ph idx="1" type="subTitle"/>
          </p:nvPr>
        </p:nvSpPr>
        <p:spPr>
          <a:xfrm>
            <a:off x="311725" y="538625"/>
            <a:ext cx="6858000" cy="4017300"/>
          </a:xfrm>
          <a:prstGeom prst="rect">
            <a:avLst/>
          </a:prstGeom>
          <a:noFill/>
          <a:ln>
            <a:noFill/>
          </a:ln>
        </p:spPr>
        <p:txBody>
          <a:bodyPr anchorCtr="0" anchor="t" bIns="34275" lIns="68575" spcFirstLastPara="1" rIns="68575" wrap="square" tIns="34275">
            <a:normAutofit/>
          </a:bodyPr>
          <a:lstStyle/>
          <a:p>
            <a:pPr indent="0" lvl="0" marL="0" rtl="0" algn="just">
              <a:lnSpc>
                <a:spcPct val="140000"/>
              </a:lnSpc>
              <a:spcBef>
                <a:spcPts val="800"/>
              </a:spcBef>
              <a:spcAft>
                <a:spcPts val="0"/>
              </a:spcAft>
              <a:buSzPts val="2800"/>
              <a:buNone/>
            </a:pPr>
            <a:r>
              <a:t/>
            </a:r>
            <a:endParaRPr b="1" sz="1400">
              <a:latin typeface="Arvo"/>
              <a:ea typeface="Arvo"/>
              <a:cs typeface="Arvo"/>
              <a:sym typeface="Arvo"/>
            </a:endParaRPr>
          </a:p>
          <a:p>
            <a:pPr indent="0" lvl="0" marL="0" rtl="0" algn="just">
              <a:lnSpc>
                <a:spcPct val="140000"/>
              </a:lnSpc>
              <a:spcBef>
                <a:spcPts val="800"/>
              </a:spcBef>
              <a:spcAft>
                <a:spcPts val="0"/>
              </a:spcAft>
              <a:buSzPts val="2800"/>
              <a:buNone/>
            </a:pPr>
            <a:r>
              <a:t/>
            </a:r>
            <a:endParaRPr b="1" sz="1400">
              <a:latin typeface="Arvo"/>
              <a:ea typeface="Arvo"/>
              <a:cs typeface="Arvo"/>
              <a:sym typeface="Arvo"/>
            </a:endParaRPr>
          </a:p>
          <a:p>
            <a:pPr indent="0" lvl="0" marL="0" rtl="0" algn="just">
              <a:lnSpc>
                <a:spcPct val="140000"/>
              </a:lnSpc>
              <a:spcBef>
                <a:spcPts val="800"/>
              </a:spcBef>
              <a:spcAft>
                <a:spcPts val="0"/>
              </a:spcAft>
              <a:buSzPts val="2800"/>
              <a:buNone/>
            </a:pPr>
            <a:r>
              <a:rPr b="1" lang="en" sz="1400">
                <a:latin typeface="Arvo"/>
                <a:ea typeface="Arvo"/>
                <a:cs typeface="Arvo"/>
                <a:sym typeface="Arvo"/>
              </a:rPr>
              <a:t>Annotational Things</a:t>
            </a:r>
            <a:endParaRPr b="1" sz="1400">
              <a:latin typeface="Arvo"/>
              <a:ea typeface="Arvo"/>
              <a:cs typeface="Arvo"/>
              <a:sym typeface="Arvo"/>
            </a:endParaRPr>
          </a:p>
          <a:p>
            <a:pPr indent="0" lvl="0" marL="0" rtl="0" algn="just">
              <a:lnSpc>
                <a:spcPct val="140000"/>
              </a:lnSpc>
              <a:spcBef>
                <a:spcPts val="800"/>
              </a:spcBef>
              <a:spcAft>
                <a:spcPts val="0"/>
              </a:spcAft>
              <a:buSzPts val="2800"/>
              <a:buNone/>
            </a:pPr>
            <a:r>
              <a:rPr lang="en" sz="1400">
                <a:latin typeface="Arvo"/>
                <a:ea typeface="Arvo"/>
                <a:cs typeface="Arvo"/>
                <a:sym typeface="Arvo"/>
              </a:rPr>
              <a:t>Annotational things can be defined as a mechanism to capture remarks, descriptions, and comments of UML model elements. </a:t>
            </a:r>
            <a:endParaRPr sz="1400">
              <a:latin typeface="Arvo"/>
              <a:ea typeface="Arvo"/>
              <a:cs typeface="Arvo"/>
              <a:sym typeface="Arvo"/>
            </a:endParaRPr>
          </a:p>
          <a:p>
            <a:pPr indent="0" lvl="0" marL="0" rtl="0" algn="just">
              <a:lnSpc>
                <a:spcPct val="140000"/>
              </a:lnSpc>
              <a:spcBef>
                <a:spcPts val="800"/>
              </a:spcBef>
              <a:spcAft>
                <a:spcPts val="0"/>
              </a:spcAft>
              <a:buSzPts val="2800"/>
              <a:buNone/>
            </a:pPr>
            <a:r>
              <a:rPr b="1" lang="en" sz="1400">
                <a:latin typeface="Arvo"/>
                <a:ea typeface="Arvo"/>
                <a:cs typeface="Arvo"/>
                <a:sym typeface="Arvo"/>
              </a:rPr>
              <a:t>Note</a:t>
            </a:r>
            <a:r>
              <a:rPr lang="en" sz="1400">
                <a:latin typeface="Arvo"/>
                <a:ea typeface="Arvo"/>
                <a:cs typeface="Arvo"/>
                <a:sym typeface="Arvo"/>
              </a:rPr>
              <a:t> - It is the only one Annotational thing available. A note is used to render comments, constraints, etc. of an UML element.</a:t>
            </a:r>
            <a:endParaRPr sz="1400">
              <a:latin typeface="Arvo"/>
              <a:ea typeface="Arvo"/>
              <a:cs typeface="Arvo"/>
              <a:sym typeface="Arvo"/>
            </a:endParaRPr>
          </a:p>
          <a:p>
            <a:pPr indent="0" lvl="0" marL="0" rtl="0" algn="just">
              <a:lnSpc>
                <a:spcPct val="140000"/>
              </a:lnSpc>
              <a:spcBef>
                <a:spcPts val="800"/>
              </a:spcBef>
              <a:spcAft>
                <a:spcPts val="0"/>
              </a:spcAft>
              <a:buSzPts val="2800"/>
              <a:buNone/>
            </a:pPr>
            <a:r>
              <a:rPr lang="en" sz="1400">
                <a:latin typeface="Arvo"/>
                <a:ea typeface="Arvo"/>
                <a:cs typeface="Arvo"/>
                <a:sym typeface="Arvo"/>
              </a:rPr>
              <a:t>Notation: </a:t>
            </a:r>
            <a:endParaRPr sz="1400">
              <a:latin typeface="Arvo"/>
              <a:ea typeface="Arvo"/>
              <a:cs typeface="Arvo"/>
              <a:sym typeface="Arvo"/>
            </a:endParaRPr>
          </a:p>
          <a:p>
            <a:pPr indent="0" lvl="0" marL="0" rtl="0" algn="just">
              <a:lnSpc>
                <a:spcPct val="140000"/>
              </a:lnSpc>
              <a:spcBef>
                <a:spcPts val="800"/>
              </a:spcBef>
              <a:spcAft>
                <a:spcPts val="0"/>
              </a:spcAft>
              <a:buSzPts val="2800"/>
              <a:buNone/>
            </a:pPr>
            <a:r>
              <a:t/>
            </a:r>
            <a:endParaRPr sz="1400">
              <a:latin typeface="Arvo"/>
              <a:ea typeface="Arvo"/>
              <a:cs typeface="Arvo"/>
              <a:sym typeface="Arvo"/>
            </a:endParaRPr>
          </a:p>
          <a:p>
            <a:pPr indent="0" lvl="0" marL="0" rtl="0" algn="just">
              <a:lnSpc>
                <a:spcPct val="140000"/>
              </a:lnSpc>
              <a:spcBef>
                <a:spcPts val="800"/>
              </a:spcBef>
              <a:spcAft>
                <a:spcPts val="0"/>
              </a:spcAft>
              <a:buSzPts val="2800"/>
              <a:buNone/>
            </a:pPr>
            <a:r>
              <a:t/>
            </a:r>
            <a:endParaRPr sz="1400">
              <a:latin typeface="Arvo"/>
              <a:ea typeface="Arvo"/>
              <a:cs typeface="Arvo"/>
              <a:sym typeface="Arvo"/>
            </a:endParaRPr>
          </a:p>
        </p:txBody>
      </p:sp>
      <p:pic>
        <p:nvPicPr>
          <p:cNvPr id="195" name="Google Shape;195;p28"/>
          <p:cNvPicPr preferRelativeResize="0"/>
          <p:nvPr/>
        </p:nvPicPr>
        <p:blipFill rotWithShape="1">
          <a:blip r:embed="rId3">
            <a:alphaModFix/>
          </a:blip>
          <a:srcRect b="0" l="0" r="0" t="0"/>
          <a:stretch/>
        </p:blipFill>
        <p:spPr>
          <a:xfrm>
            <a:off x="1356900" y="3539175"/>
            <a:ext cx="868675" cy="590717"/>
          </a:xfrm>
          <a:prstGeom prst="rect">
            <a:avLst/>
          </a:prstGeom>
          <a:noFill/>
          <a:ln>
            <a:noFill/>
          </a:ln>
        </p:spPr>
      </p:pic>
      <p:pic>
        <p:nvPicPr>
          <p:cNvPr id="196" name="Google Shape;196;p28"/>
          <p:cNvPicPr preferRelativeResize="0"/>
          <p:nvPr/>
        </p:nvPicPr>
        <p:blipFill rotWithShape="1">
          <a:blip r:embed="rId4">
            <a:alphaModFix/>
          </a:blip>
          <a:srcRect b="0" l="0" r="0" t="0"/>
          <a:stretch/>
        </p:blipFill>
        <p:spPr>
          <a:xfrm>
            <a:off x="6456002" y="137435"/>
            <a:ext cx="2491151" cy="1331925"/>
          </a:xfrm>
          <a:prstGeom prst="rect">
            <a:avLst/>
          </a:prstGeom>
          <a:noFill/>
          <a:ln>
            <a:noFill/>
          </a:ln>
        </p:spPr>
      </p:pic>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94">
                                            <p:txEl>
                                              <p:pRg end="0" st="0"/>
                                            </p:txEl>
                                          </p:spTgt>
                                        </p:tgtEl>
                                        <p:attrNameLst>
                                          <p:attrName>style.visibility</p:attrName>
                                        </p:attrNameLst>
                                      </p:cBhvr>
                                      <p:to>
                                        <p:strVal val="visible"/>
                                      </p:to>
                                    </p:set>
                                    <p:animEffect filter="fade" transition="in">
                                      <p:cBhvr>
                                        <p:cTn dur="500"/>
                                        <p:tgtEl>
                                          <p:spTgt spid="194">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194">
                                            <p:txEl>
                                              <p:pRg end="1" st="1"/>
                                            </p:txEl>
                                          </p:spTgt>
                                        </p:tgtEl>
                                        <p:attrNameLst>
                                          <p:attrName>style.visibility</p:attrName>
                                        </p:attrNameLst>
                                      </p:cBhvr>
                                      <p:to>
                                        <p:strVal val="visible"/>
                                      </p:to>
                                    </p:set>
                                    <p:animEffect filter="fade" transition="in">
                                      <p:cBhvr>
                                        <p:cTn dur="500"/>
                                        <p:tgtEl>
                                          <p:spTgt spid="194">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194">
                                            <p:txEl>
                                              <p:pRg end="2" st="2"/>
                                            </p:txEl>
                                          </p:spTgt>
                                        </p:tgtEl>
                                        <p:attrNameLst>
                                          <p:attrName>style.visibility</p:attrName>
                                        </p:attrNameLst>
                                      </p:cBhvr>
                                      <p:to>
                                        <p:strVal val="visible"/>
                                      </p:to>
                                    </p:set>
                                    <p:animEffect filter="fade" transition="in">
                                      <p:cBhvr>
                                        <p:cTn dur="500"/>
                                        <p:tgtEl>
                                          <p:spTgt spid="194">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194">
                                            <p:txEl>
                                              <p:pRg end="3" st="3"/>
                                            </p:txEl>
                                          </p:spTgt>
                                        </p:tgtEl>
                                        <p:attrNameLst>
                                          <p:attrName>style.visibility</p:attrName>
                                        </p:attrNameLst>
                                      </p:cBhvr>
                                      <p:to>
                                        <p:strVal val="visible"/>
                                      </p:to>
                                    </p:set>
                                    <p:animEffect filter="fade" transition="in">
                                      <p:cBhvr>
                                        <p:cTn dur="500"/>
                                        <p:tgtEl>
                                          <p:spTgt spid="194">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194">
                                            <p:txEl>
                                              <p:pRg end="4" st="4"/>
                                            </p:txEl>
                                          </p:spTgt>
                                        </p:tgtEl>
                                        <p:attrNameLst>
                                          <p:attrName>style.visibility</p:attrName>
                                        </p:attrNameLst>
                                      </p:cBhvr>
                                      <p:to>
                                        <p:strVal val="visible"/>
                                      </p:to>
                                    </p:set>
                                    <p:animEffect filter="fade" transition="in">
                                      <p:cBhvr>
                                        <p:cTn dur="500"/>
                                        <p:tgtEl>
                                          <p:spTgt spid="194">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194">
                                            <p:txEl>
                                              <p:pRg end="5" st="5"/>
                                            </p:txEl>
                                          </p:spTgt>
                                        </p:tgtEl>
                                        <p:attrNameLst>
                                          <p:attrName>style.visibility</p:attrName>
                                        </p:attrNameLst>
                                      </p:cBhvr>
                                      <p:to>
                                        <p:strVal val="visible"/>
                                      </p:to>
                                    </p:set>
                                    <p:animEffect filter="fade" transition="in">
                                      <p:cBhvr>
                                        <p:cTn dur="500"/>
                                        <p:tgtEl>
                                          <p:spTgt spid="194">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194">
                                            <p:txEl>
                                              <p:pRg end="6" st="6"/>
                                            </p:txEl>
                                          </p:spTgt>
                                        </p:tgtEl>
                                        <p:attrNameLst>
                                          <p:attrName>style.visibility</p:attrName>
                                        </p:attrNameLst>
                                      </p:cBhvr>
                                      <p:to>
                                        <p:strVal val="visible"/>
                                      </p:to>
                                    </p:set>
                                    <p:animEffect filter="fade" transition="in">
                                      <p:cBhvr>
                                        <p:cTn dur="500"/>
                                        <p:tgtEl>
                                          <p:spTgt spid="194">
                                            <p:txEl>
                                              <p:pRg end="6" st="6"/>
                                            </p:txEl>
                                          </p:spTgt>
                                        </p:tgtEl>
                                      </p:cBhvr>
                                    </p:animEffect>
                                  </p:childTnLst>
                                </p:cTn>
                              </p:par>
                              <p:par>
                                <p:cTn fill="hold" nodeType="withEffect" presetClass="entr" presetID="10" presetSubtype="0">
                                  <p:stCondLst>
                                    <p:cond delay="0"/>
                                  </p:stCondLst>
                                  <p:childTnLst>
                                    <p:set>
                                      <p:cBhvr>
                                        <p:cTn dur="1" fill="hold">
                                          <p:stCondLst>
                                            <p:cond delay="0"/>
                                          </p:stCondLst>
                                        </p:cTn>
                                        <p:tgtEl>
                                          <p:spTgt spid="194">
                                            <p:txEl>
                                              <p:pRg end="7" st="7"/>
                                            </p:txEl>
                                          </p:spTgt>
                                        </p:tgtEl>
                                        <p:attrNameLst>
                                          <p:attrName>style.visibility</p:attrName>
                                        </p:attrNameLst>
                                      </p:cBhvr>
                                      <p:to>
                                        <p:strVal val="visible"/>
                                      </p:to>
                                    </p:set>
                                    <p:animEffect filter="fade" transition="in">
                                      <p:cBhvr>
                                        <p:cTn dur="500"/>
                                        <p:tgtEl>
                                          <p:spTgt spid="194">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9"/>
          <p:cNvSpPr txBox="1"/>
          <p:nvPr>
            <p:ph type="ctrTitle"/>
          </p:nvPr>
        </p:nvSpPr>
        <p:spPr>
          <a:xfrm>
            <a:off x="311727" y="538617"/>
            <a:ext cx="6234600" cy="342600"/>
          </a:xfrm>
          <a:prstGeom prst="rect">
            <a:avLst/>
          </a:prstGeom>
          <a:noFill/>
          <a:ln>
            <a:noFill/>
          </a:ln>
        </p:spPr>
        <p:txBody>
          <a:bodyPr anchorCtr="0" anchor="b" bIns="34275" lIns="68575" spcFirstLastPara="1" rIns="68575" wrap="square" tIns="34275">
            <a:noAutofit/>
          </a:bodyPr>
          <a:lstStyle/>
          <a:p>
            <a:pPr indent="0" lvl="0" marL="0" rtl="0" algn="l">
              <a:lnSpc>
                <a:spcPct val="90000"/>
              </a:lnSpc>
              <a:spcBef>
                <a:spcPts val="0"/>
              </a:spcBef>
              <a:spcAft>
                <a:spcPts val="0"/>
              </a:spcAft>
              <a:buClr>
                <a:schemeClr val="dk1"/>
              </a:buClr>
              <a:buSzPts val="2100"/>
              <a:buFont typeface="Lato Black"/>
              <a:buNone/>
            </a:pPr>
            <a:r>
              <a:rPr lang="en" sz="2100">
                <a:latin typeface="Lato Black"/>
                <a:ea typeface="Lato Black"/>
                <a:cs typeface="Lato Black"/>
                <a:sym typeface="Lato Black"/>
              </a:rPr>
              <a:t>Relationship</a:t>
            </a:r>
            <a:endParaRPr sz="2100">
              <a:latin typeface="Lato Black"/>
              <a:ea typeface="Lato Black"/>
              <a:cs typeface="Lato Black"/>
              <a:sym typeface="Lato Black"/>
            </a:endParaRPr>
          </a:p>
        </p:txBody>
      </p:sp>
      <p:sp>
        <p:nvSpPr>
          <p:cNvPr id="202" name="Google Shape;202;p29"/>
          <p:cNvSpPr txBox="1"/>
          <p:nvPr>
            <p:ph idx="1" type="subTitle"/>
          </p:nvPr>
        </p:nvSpPr>
        <p:spPr>
          <a:xfrm>
            <a:off x="311727" y="1104623"/>
            <a:ext cx="6858000" cy="3451200"/>
          </a:xfrm>
          <a:prstGeom prst="rect">
            <a:avLst/>
          </a:prstGeom>
          <a:noFill/>
          <a:ln>
            <a:noFill/>
          </a:ln>
        </p:spPr>
        <p:txBody>
          <a:bodyPr anchorCtr="0" anchor="t" bIns="34275" lIns="68575" spcFirstLastPara="1" rIns="68575" wrap="square" tIns="34275">
            <a:normAutofit/>
          </a:bodyPr>
          <a:lstStyle/>
          <a:p>
            <a:pPr indent="0" lvl="0" marL="0" rtl="0" algn="just">
              <a:lnSpc>
                <a:spcPct val="140000"/>
              </a:lnSpc>
              <a:spcBef>
                <a:spcPts val="800"/>
              </a:spcBef>
              <a:spcAft>
                <a:spcPts val="0"/>
              </a:spcAft>
              <a:buClr>
                <a:schemeClr val="dk1"/>
              </a:buClr>
              <a:buSzPts val="1100"/>
              <a:buFont typeface="Arial"/>
              <a:buNone/>
            </a:pPr>
            <a:r>
              <a:rPr lang="en" sz="1400">
                <a:latin typeface="Arvo"/>
                <a:ea typeface="Arvo"/>
                <a:cs typeface="Arvo"/>
                <a:sym typeface="Arvo"/>
              </a:rPr>
              <a:t>Relationship</a:t>
            </a:r>
            <a:endParaRPr sz="1400">
              <a:latin typeface="Arvo"/>
              <a:ea typeface="Arvo"/>
              <a:cs typeface="Arvo"/>
              <a:sym typeface="Arvo"/>
            </a:endParaRPr>
          </a:p>
          <a:p>
            <a:pPr indent="0" lvl="0" marL="0" rtl="0" algn="just">
              <a:lnSpc>
                <a:spcPct val="140000"/>
              </a:lnSpc>
              <a:spcBef>
                <a:spcPts val="800"/>
              </a:spcBef>
              <a:spcAft>
                <a:spcPts val="0"/>
              </a:spcAft>
              <a:buClr>
                <a:schemeClr val="dk1"/>
              </a:buClr>
              <a:buSzPts val="1100"/>
              <a:buFont typeface="Arial"/>
              <a:buNone/>
            </a:pPr>
            <a:r>
              <a:rPr lang="en" sz="1400">
                <a:latin typeface="Arvo"/>
                <a:ea typeface="Arvo"/>
                <a:cs typeface="Arvo"/>
                <a:sym typeface="Arvo"/>
              </a:rPr>
              <a:t>Relationship is another most important building block of UML. It shows how the elements are associated with each other and this association describes the functionality of an application.</a:t>
            </a:r>
            <a:endParaRPr sz="1400">
              <a:latin typeface="Arvo"/>
              <a:ea typeface="Arvo"/>
              <a:cs typeface="Arvo"/>
              <a:sym typeface="Arvo"/>
            </a:endParaRPr>
          </a:p>
          <a:p>
            <a:pPr indent="0" lvl="0" marL="0" rtl="0" algn="just">
              <a:lnSpc>
                <a:spcPct val="140000"/>
              </a:lnSpc>
              <a:spcBef>
                <a:spcPts val="800"/>
              </a:spcBef>
              <a:spcAft>
                <a:spcPts val="0"/>
              </a:spcAft>
              <a:buClr>
                <a:schemeClr val="dk1"/>
              </a:buClr>
              <a:buSzPts val="1100"/>
              <a:buFont typeface="Arial"/>
              <a:buNone/>
            </a:pPr>
            <a:r>
              <a:rPr lang="en" sz="1400">
                <a:latin typeface="Arvo"/>
                <a:ea typeface="Arvo"/>
                <a:cs typeface="Arvo"/>
                <a:sym typeface="Arvo"/>
              </a:rPr>
              <a:t>There are four kinds of relationships available.</a:t>
            </a:r>
            <a:endParaRPr sz="1400">
              <a:latin typeface="Arvo"/>
              <a:ea typeface="Arvo"/>
              <a:cs typeface="Arvo"/>
              <a:sym typeface="Arvo"/>
            </a:endParaRPr>
          </a:p>
          <a:p>
            <a:pPr indent="-317500" lvl="0" marL="457200" rtl="0" algn="just">
              <a:lnSpc>
                <a:spcPct val="140000"/>
              </a:lnSpc>
              <a:spcBef>
                <a:spcPts val="800"/>
              </a:spcBef>
              <a:spcAft>
                <a:spcPts val="0"/>
              </a:spcAft>
              <a:buSzPts val="1400"/>
              <a:buFont typeface="Arvo"/>
              <a:buChar char="●"/>
            </a:pPr>
            <a:r>
              <a:rPr lang="en" sz="1400">
                <a:latin typeface="Arvo"/>
                <a:ea typeface="Arvo"/>
                <a:cs typeface="Arvo"/>
                <a:sym typeface="Arvo"/>
              </a:rPr>
              <a:t>Dependency</a:t>
            </a:r>
            <a:endParaRPr sz="1400">
              <a:latin typeface="Arvo"/>
              <a:ea typeface="Arvo"/>
              <a:cs typeface="Arvo"/>
              <a:sym typeface="Arvo"/>
            </a:endParaRPr>
          </a:p>
          <a:p>
            <a:pPr indent="-317500" lvl="0" marL="457200" rtl="0" algn="just">
              <a:lnSpc>
                <a:spcPct val="140000"/>
              </a:lnSpc>
              <a:spcBef>
                <a:spcPts val="0"/>
              </a:spcBef>
              <a:spcAft>
                <a:spcPts val="0"/>
              </a:spcAft>
              <a:buSzPts val="1400"/>
              <a:buFont typeface="Arvo"/>
              <a:buChar char="●"/>
            </a:pPr>
            <a:r>
              <a:rPr lang="en" sz="1400">
                <a:latin typeface="Arvo"/>
                <a:ea typeface="Arvo"/>
                <a:cs typeface="Arvo"/>
                <a:sym typeface="Arvo"/>
              </a:rPr>
              <a:t>Association</a:t>
            </a:r>
            <a:endParaRPr sz="1400">
              <a:latin typeface="Arvo"/>
              <a:ea typeface="Arvo"/>
              <a:cs typeface="Arvo"/>
              <a:sym typeface="Arvo"/>
            </a:endParaRPr>
          </a:p>
          <a:p>
            <a:pPr indent="-317500" lvl="0" marL="457200" rtl="0" algn="just">
              <a:lnSpc>
                <a:spcPct val="140000"/>
              </a:lnSpc>
              <a:spcBef>
                <a:spcPts val="0"/>
              </a:spcBef>
              <a:spcAft>
                <a:spcPts val="0"/>
              </a:spcAft>
              <a:buSzPts val="1400"/>
              <a:buFont typeface="Arvo"/>
              <a:buChar char="●"/>
            </a:pPr>
            <a:r>
              <a:rPr lang="en" sz="1400">
                <a:latin typeface="Arvo"/>
                <a:ea typeface="Arvo"/>
                <a:cs typeface="Arvo"/>
                <a:sym typeface="Arvo"/>
              </a:rPr>
              <a:t>Generalization</a:t>
            </a:r>
            <a:endParaRPr sz="1400">
              <a:latin typeface="Arvo"/>
              <a:ea typeface="Arvo"/>
              <a:cs typeface="Arvo"/>
              <a:sym typeface="Arvo"/>
            </a:endParaRPr>
          </a:p>
          <a:p>
            <a:pPr indent="-317500" lvl="0" marL="457200" rtl="0" algn="just">
              <a:lnSpc>
                <a:spcPct val="140000"/>
              </a:lnSpc>
              <a:spcBef>
                <a:spcPts val="0"/>
              </a:spcBef>
              <a:spcAft>
                <a:spcPts val="0"/>
              </a:spcAft>
              <a:buSzPts val="1400"/>
              <a:buFont typeface="Arvo"/>
              <a:buChar char="●"/>
            </a:pPr>
            <a:r>
              <a:rPr lang="en" sz="1400">
                <a:latin typeface="Arvo"/>
                <a:ea typeface="Arvo"/>
                <a:cs typeface="Arvo"/>
                <a:sym typeface="Arvo"/>
              </a:rPr>
              <a:t>Realization</a:t>
            </a:r>
            <a:endParaRPr sz="1400">
              <a:latin typeface="Arvo"/>
              <a:ea typeface="Arvo"/>
              <a:cs typeface="Arvo"/>
              <a:sym typeface="Arvo"/>
            </a:endParaRPr>
          </a:p>
        </p:txBody>
      </p:sp>
      <p:pic>
        <p:nvPicPr>
          <p:cNvPr id="203" name="Google Shape;203;p29"/>
          <p:cNvPicPr preferRelativeResize="0"/>
          <p:nvPr/>
        </p:nvPicPr>
        <p:blipFill rotWithShape="1">
          <a:blip r:embed="rId3">
            <a:alphaModFix/>
          </a:blip>
          <a:srcRect b="0" l="0" r="0" t="0"/>
          <a:stretch/>
        </p:blipFill>
        <p:spPr>
          <a:xfrm>
            <a:off x="6456002" y="137435"/>
            <a:ext cx="2491151" cy="1331925"/>
          </a:xfrm>
          <a:prstGeom prst="rect">
            <a:avLst/>
          </a:prstGeom>
          <a:noFill/>
          <a:ln>
            <a:noFill/>
          </a:ln>
        </p:spPr>
      </p:pic>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02">
                                            <p:txEl>
                                              <p:pRg end="0" st="0"/>
                                            </p:txEl>
                                          </p:spTgt>
                                        </p:tgtEl>
                                        <p:attrNameLst>
                                          <p:attrName>style.visibility</p:attrName>
                                        </p:attrNameLst>
                                      </p:cBhvr>
                                      <p:to>
                                        <p:strVal val="visible"/>
                                      </p:to>
                                    </p:set>
                                    <p:animEffect filter="fade" transition="in">
                                      <p:cBhvr>
                                        <p:cTn dur="500"/>
                                        <p:tgtEl>
                                          <p:spTgt spid="202">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202">
                                            <p:txEl>
                                              <p:pRg end="1" st="1"/>
                                            </p:txEl>
                                          </p:spTgt>
                                        </p:tgtEl>
                                        <p:attrNameLst>
                                          <p:attrName>style.visibility</p:attrName>
                                        </p:attrNameLst>
                                      </p:cBhvr>
                                      <p:to>
                                        <p:strVal val="visible"/>
                                      </p:to>
                                    </p:set>
                                    <p:animEffect filter="fade" transition="in">
                                      <p:cBhvr>
                                        <p:cTn dur="500"/>
                                        <p:tgtEl>
                                          <p:spTgt spid="202">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202">
                                            <p:txEl>
                                              <p:pRg end="2" st="2"/>
                                            </p:txEl>
                                          </p:spTgt>
                                        </p:tgtEl>
                                        <p:attrNameLst>
                                          <p:attrName>style.visibility</p:attrName>
                                        </p:attrNameLst>
                                      </p:cBhvr>
                                      <p:to>
                                        <p:strVal val="visible"/>
                                      </p:to>
                                    </p:set>
                                    <p:animEffect filter="fade" transition="in">
                                      <p:cBhvr>
                                        <p:cTn dur="500"/>
                                        <p:tgtEl>
                                          <p:spTgt spid="202">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202">
                                            <p:txEl>
                                              <p:pRg end="3" st="3"/>
                                            </p:txEl>
                                          </p:spTgt>
                                        </p:tgtEl>
                                        <p:attrNameLst>
                                          <p:attrName>style.visibility</p:attrName>
                                        </p:attrNameLst>
                                      </p:cBhvr>
                                      <p:to>
                                        <p:strVal val="visible"/>
                                      </p:to>
                                    </p:set>
                                    <p:animEffect filter="fade" transition="in">
                                      <p:cBhvr>
                                        <p:cTn dur="500"/>
                                        <p:tgtEl>
                                          <p:spTgt spid="202">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202">
                                            <p:txEl>
                                              <p:pRg end="4" st="4"/>
                                            </p:txEl>
                                          </p:spTgt>
                                        </p:tgtEl>
                                        <p:attrNameLst>
                                          <p:attrName>style.visibility</p:attrName>
                                        </p:attrNameLst>
                                      </p:cBhvr>
                                      <p:to>
                                        <p:strVal val="visible"/>
                                      </p:to>
                                    </p:set>
                                    <p:animEffect filter="fade" transition="in">
                                      <p:cBhvr>
                                        <p:cTn dur="500"/>
                                        <p:tgtEl>
                                          <p:spTgt spid="202">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202">
                                            <p:txEl>
                                              <p:pRg end="5" st="5"/>
                                            </p:txEl>
                                          </p:spTgt>
                                        </p:tgtEl>
                                        <p:attrNameLst>
                                          <p:attrName>style.visibility</p:attrName>
                                        </p:attrNameLst>
                                      </p:cBhvr>
                                      <p:to>
                                        <p:strVal val="visible"/>
                                      </p:to>
                                    </p:set>
                                    <p:animEffect filter="fade" transition="in">
                                      <p:cBhvr>
                                        <p:cTn dur="500"/>
                                        <p:tgtEl>
                                          <p:spTgt spid="202">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202">
                                            <p:txEl>
                                              <p:pRg end="6" st="6"/>
                                            </p:txEl>
                                          </p:spTgt>
                                        </p:tgtEl>
                                        <p:attrNameLst>
                                          <p:attrName>style.visibility</p:attrName>
                                        </p:attrNameLst>
                                      </p:cBhvr>
                                      <p:to>
                                        <p:strVal val="visible"/>
                                      </p:to>
                                    </p:set>
                                    <p:animEffect filter="fade" transition="in">
                                      <p:cBhvr>
                                        <p:cTn dur="500"/>
                                        <p:tgtEl>
                                          <p:spTgt spid="202">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0"/>
          <p:cNvSpPr txBox="1"/>
          <p:nvPr>
            <p:ph idx="1" type="subTitle"/>
          </p:nvPr>
        </p:nvSpPr>
        <p:spPr>
          <a:xfrm>
            <a:off x="311725" y="538625"/>
            <a:ext cx="6858000" cy="4017300"/>
          </a:xfrm>
          <a:prstGeom prst="rect">
            <a:avLst/>
          </a:prstGeom>
          <a:noFill/>
          <a:ln>
            <a:noFill/>
          </a:ln>
        </p:spPr>
        <p:txBody>
          <a:bodyPr anchorCtr="0" anchor="t" bIns="34275" lIns="68575" spcFirstLastPara="1" rIns="68575" wrap="square" tIns="34275">
            <a:normAutofit/>
          </a:bodyPr>
          <a:lstStyle/>
          <a:p>
            <a:pPr indent="0" lvl="0" marL="0" rtl="0" algn="just">
              <a:lnSpc>
                <a:spcPct val="140000"/>
              </a:lnSpc>
              <a:spcBef>
                <a:spcPts val="800"/>
              </a:spcBef>
              <a:spcAft>
                <a:spcPts val="0"/>
              </a:spcAft>
              <a:buSzPts val="2800"/>
              <a:buNone/>
            </a:pPr>
            <a:r>
              <a:t/>
            </a:r>
            <a:endParaRPr b="1" sz="1400">
              <a:latin typeface="Arvo"/>
              <a:ea typeface="Arvo"/>
              <a:cs typeface="Arvo"/>
              <a:sym typeface="Arvo"/>
            </a:endParaRPr>
          </a:p>
          <a:p>
            <a:pPr indent="0" lvl="0" marL="0" rtl="0" algn="just">
              <a:lnSpc>
                <a:spcPct val="140000"/>
              </a:lnSpc>
              <a:spcBef>
                <a:spcPts val="800"/>
              </a:spcBef>
              <a:spcAft>
                <a:spcPts val="0"/>
              </a:spcAft>
              <a:buSzPts val="2800"/>
              <a:buNone/>
            </a:pPr>
            <a:r>
              <a:t/>
            </a:r>
            <a:endParaRPr b="1" sz="1400">
              <a:latin typeface="Arvo"/>
              <a:ea typeface="Arvo"/>
              <a:cs typeface="Arvo"/>
              <a:sym typeface="Arvo"/>
            </a:endParaRPr>
          </a:p>
          <a:p>
            <a:pPr indent="0" lvl="0" marL="0" rtl="0" algn="just">
              <a:lnSpc>
                <a:spcPct val="140000"/>
              </a:lnSpc>
              <a:spcBef>
                <a:spcPts val="800"/>
              </a:spcBef>
              <a:spcAft>
                <a:spcPts val="0"/>
              </a:spcAft>
              <a:buSzPts val="2800"/>
              <a:buNone/>
            </a:pPr>
            <a:r>
              <a:rPr b="1" lang="en" sz="1400">
                <a:latin typeface="Arvo"/>
                <a:ea typeface="Arvo"/>
                <a:cs typeface="Arvo"/>
                <a:sym typeface="Arvo"/>
              </a:rPr>
              <a:t>Dependency</a:t>
            </a:r>
            <a:r>
              <a:rPr lang="en" sz="1400">
                <a:latin typeface="Arvo"/>
                <a:ea typeface="Arvo"/>
                <a:cs typeface="Arvo"/>
                <a:sym typeface="Arvo"/>
              </a:rPr>
              <a:t> is a relationship between two things in which change in one element also affects the other.</a:t>
            </a:r>
            <a:endParaRPr sz="1400">
              <a:latin typeface="Arvo"/>
              <a:ea typeface="Arvo"/>
              <a:cs typeface="Arvo"/>
              <a:sym typeface="Arvo"/>
            </a:endParaRPr>
          </a:p>
          <a:p>
            <a:pPr indent="0" lvl="0" marL="0" rtl="0" algn="just">
              <a:lnSpc>
                <a:spcPct val="140000"/>
              </a:lnSpc>
              <a:spcBef>
                <a:spcPts val="800"/>
              </a:spcBef>
              <a:spcAft>
                <a:spcPts val="0"/>
              </a:spcAft>
              <a:buSzPts val="2800"/>
              <a:buNone/>
            </a:pPr>
            <a:r>
              <a:rPr lang="en" sz="1400">
                <a:latin typeface="Arvo"/>
                <a:ea typeface="Arvo"/>
                <a:cs typeface="Arvo"/>
                <a:sym typeface="Arvo"/>
              </a:rPr>
              <a:t>Notation: </a:t>
            </a:r>
            <a:endParaRPr sz="1400">
              <a:latin typeface="Arvo"/>
              <a:ea typeface="Arvo"/>
              <a:cs typeface="Arvo"/>
              <a:sym typeface="Arvo"/>
            </a:endParaRPr>
          </a:p>
          <a:p>
            <a:pPr indent="0" lvl="0" marL="0" rtl="0" algn="just">
              <a:lnSpc>
                <a:spcPct val="140000"/>
              </a:lnSpc>
              <a:spcBef>
                <a:spcPts val="800"/>
              </a:spcBef>
              <a:spcAft>
                <a:spcPts val="0"/>
              </a:spcAft>
              <a:buSzPts val="2800"/>
              <a:buNone/>
            </a:pPr>
            <a:r>
              <a:t/>
            </a:r>
            <a:endParaRPr sz="1400">
              <a:latin typeface="Arvo"/>
              <a:ea typeface="Arvo"/>
              <a:cs typeface="Arvo"/>
              <a:sym typeface="Arvo"/>
            </a:endParaRPr>
          </a:p>
          <a:p>
            <a:pPr indent="0" lvl="0" marL="0" rtl="0" algn="just">
              <a:lnSpc>
                <a:spcPct val="140000"/>
              </a:lnSpc>
              <a:spcBef>
                <a:spcPts val="800"/>
              </a:spcBef>
              <a:spcAft>
                <a:spcPts val="0"/>
              </a:spcAft>
              <a:buSzPts val="2800"/>
              <a:buNone/>
            </a:pPr>
            <a:r>
              <a:rPr b="1" lang="en" sz="1400">
                <a:latin typeface="Arvo"/>
                <a:ea typeface="Arvo"/>
                <a:cs typeface="Arvo"/>
                <a:sym typeface="Arvo"/>
              </a:rPr>
              <a:t>Association</a:t>
            </a:r>
            <a:r>
              <a:rPr lang="en" sz="1400">
                <a:latin typeface="Arvo"/>
                <a:ea typeface="Arvo"/>
                <a:cs typeface="Arvo"/>
                <a:sym typeface="Arvo"/>
              </a:rPr>
              <a:t> is basically a set of links that connects the elements of a UML model. It also describes how many objects are taking part in that relationship.</a:t>
            </a:r>
            <a:endParaRPr sz="1400">
              <a:latin typeface="Arvo"/>
              <a:ea typeface="Arvo"/>
              <a:cs typeface="Arvo"/>
              <a:sym typeface="Arvo"/>
            </a:endParaRPr>
          </a:p>
          <a:p>
            <a:pPr indent="0" lvl="0" marL="0" rtl="0" algn="just">
              <a:lnSpc>
                <a:spcPct val="140000"/>
              </a:lnSpc>
              <a:spcBef>
                <a:spcPts val="800"/>
              </a:spcBef>
              <a:spcAft>
                <a:spcPts val="0"/>
              </a:spcAft>
              <a:buSzPts val="2800"/>
              <a:buNone/>
            </a:pPr>
            <a:r>
              <a:rPr lang="en" sz="1400">
                <a:latin typeface="Arvo"/>
                <a:ea typeface="Arvo"/>
                <a:cs typeface="Arvo"/>
                <a:sym typeface="Arvo"/>
              </a:rPr>
              <a:t>Notation: </a:t>
            </a:r>
            <a:endParaRPr sz="1400">
              <a:latin typeface="Arvo"/>
              <a:ea typeface="Arvo"/>
              <a:cs typeface="Arvo"/>
              <a:sym typeface="Arvo"/>
            </a:endParaRPr>
          </a:p>
        </p:txBody>
      </p:sp>
      <p:pic>
        <p:nvPicPr>
          <p:cNvPr id="209" name="Google Shape;209;p30"/>
          <p:cNvPicPr preferRelativeResize="0"/>
          <p:nvPr/>
        </p:nvPicPr>
        <p:blipFill rotWithShape="1">
          <a:blip r:embed="rId3">
            <a:alphaModFix/>
          </a:blip>
          <a:srcRect b="0" l="0" r="0" t="0"/>
          <a:stretch/>
        </p:blipFill>
        <p:spPr>
          <a:xfrm>
            <a:off x="1393075" y="2009767"/>
            <a:ext cx="1066800" cy="561975"/>
          </a:xfrm>
          <a:prstGeom prst="rect">
            <a:avLst/>
          </a:prstGeom>
          <a:noFill/>
          <a:ln>
            <a:noFill/>
          </a:ln>
        </p:spPr>
      </p:pic>
      <p:pic>
        <p:nvPicPr>
          <p:cNvPr id="210" name="Google Shape;210;p30"/>
          <p:cNvPicPr preferRelativeResize="0"/>
          <p:nvPr/>
        </p:nvPicPr>
        <p:blipFill rotWithShape="1">
          <a:blip r:embed="rId4">
            <a:alphaModFix/>
          </a:blip>
          <a:srcRect b="0" l="0" r="0" t="0"/>
          <a:stretch/>
        </p:blipFill>
        <p:spPr>
          <a:xfrm>
            <a:off x="1288375" y="3567375"/>
            <a:ext cx="1823950" cy="414025"/>
          </a:xfrm>
          <a:prstGeom prst="rect">
            <a:avLst/>
          </a:prstGeom>
          <a:noFill/>
          <a:ln>
            <a:noFill/>
          </a:ln>
        </p:spPr>
      </p:pic>
      <p:pic>
        <p:nvPicPr>
          <p:cNvPr id="211" name="Google Shape;211;p30"/>
          <p:cNvPicPr preferRelativeResize="0"/>
          <p:nvPr/>
        </p:nvPicPr>
        <p:blipFill rotWithShape="1">
          <a:blip r:embed="rId5">
            <a:alphaModFix/>
          </a:blip>
          <a:srcRect b="0" l="0" r="0" t="0"/>
          <a:stretch/>
        </p:blipFill>
        <p:spPr>
          <a:xfrm>
            <a:off x="6456002" y="137435"/>
            <a:ext cx="2491151" cy="1331925"/>
          </a:xfrm>
          <a:prstGeom prst="rect">
            <a:avLst/>
          </a:prstGeom>
          <a:noFill/>
          <a:ln>
            <a:noFill/>
          </a:ln>
        </p:spPr>
      </p:pic>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08">
                                            <p:txEl>
                                              <p:pRg end="0" st="0"/>
                                            </p:txEl>
                                          </p:spTgt>
                                        </p:tgtEl>
                                        <p:attrNameLst>
                                          <p:attrName>style.visibility</p:attrName>
                                        </p:attrNameLst>
                                      </p:cBhvr>
                                      <p:to>
                                        <p:strVal val="visible"/>
                                      </p:to>
                                    </p:set>
                                    <p:animEffect filter="fade" transition="in">
                                      <p:cBhvr>
                                        <p:cTn dur="500"/>
                                        <p:tgtEl>
                                          <p:spTgt spid="208">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208">
                                            <p:txEl>
                                              <p:pRg end="1" st="1"/>
                                            </p:txEl>
                                          </p:spTgt>
                                        </p:tgtEl>
                                        <p:attrNameLst>
                                          <p:attrName>style.visibility</p:attrName>
                                        </p:attrNameLst>
                                      </p:cBhvr>
                                      <p:to>
                                        <p:strVal val="visible"/>
                                      </p:to>
                                    </p:set>
                                    <p:animEffect filter="fade" transition="in">
                                      <p:cBhvr>
                                        <p:cTn dur="500"/>
                                        <p:tgtEl>
                                          <p:spTgt spid="208">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208">
                                            <p:txEl>
                                              <p:pRg end="2" st="2"/>
                                            </p:txEl>
                                          </p:spTgt>
                                        </p:tgtEl>
                                        <p:attrNameLst>
                                          <p:attrName>style.visibility</p:attrName>
                                        </p:attrNameLst>
                                      </p:cBhvr>
                                      <p:to>
                                        <p:strVal val="visible"/>
                                      </p:to>
                                    </p:set>
                                    <p:animEffect filter="fade" transition="in">
                                      <p:cBhvr>
                                        <p:cTn dur="500"/>
                                        <p:tgtEl>
                                          <p:spTgt spid="208">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208">
                                            <p:txEl>
                                              <p:pRg end="3" st="3"/>
                                            </p:txEl>
                                          </p:spTgt>
                                        </p:tgtEl>
                                        <p:attrNameLst>
                                          <p:attrName>style.visibility</p:attrName>
                                        </p:attrNameLst>
                                      </p:cBhvr>
                                      <p:to>
                                        <p:strVal val="visible"/>
                                      </p:to>
                                    </p:set>
                                    <p:animEffect filter="fade" transition="in">
                                      <p:cBhvr>
                                        <p:cTn dur="500"/>
                                        <p:tgtEl>
                                          <p:spTgt spid="208">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208">
                                            <p:txEl>
                                              <p:pRg end="4" st="4"/>
                                            </p:txEl>
                                          </p:spTgt>
                                        </p:tgtEl>
                                        <p:attrNameLst>
                                          <p:attrName>style.visibility</p:attrName>
                                        </p:attrNameLst>
                                      </p:cBhvr>
                                      <p:to>
                                        <p:strVal val="visible"/>
                                      </p:to>
                                    </p:set>
                                    <p:animEffect filter="fade" transition="in">
                                      <p:cBhvr>
                                        <p:cTn dur="500"/>
                                        <p:tgtEl>
                                          <p:spTgt spid="208">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208">
                                            <p:txEl>
                                              <p:pRg end="5" st="5"/>
                                            </p:txEl>
                                          </p:spTgt>
                                        </p:tgtEl>
                                        <p:attrNameLst>
                                          <p:attrName>style.visibility</p:attrName>
                                        </p:attrNameLst>
                                      </p:cBhvr>
                                      <p:to>
                                        <p:strVal val="visible"/>
                                      </p:to>
                                    </p:set>
                                    <p:animEffect filter="fade" transition="in">
                                      <p:cBhvr>
                                        <p:cTn dur="500"/>
                                        <p:tgtEl>
                                          <p:spTgt spid="208">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208">
                                            <p:txEl>
                                              <p:pRg end="6" st="6"/>
                                            </p:txEl>
                                          </p:spTgt>
                                        </p:tgtEl>
                                        <p:attrNameLst>
                                          <p:attrName>style.visibility</p:attrName>
                                        </p:attrNameLst>
                                      </p:cBhvr>
                                      <p:to>
                                        <p:strVal val="visible"/>
                                      </p:to>
                                    </p:set>
                                    <p:animEffect filter="fade" transition="in">
                                      <p:cBhvr>
                                        <p:cTn dur="500"/>
                                        <p:tgtEl>
                                          <p:spTgt spid="208">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1"/>
          <p:cNvSpPr txBox="1"/>
          <p:nvPr>
            <p:ph idx="12" type="sldNum"/>
          </p:nvPr>
        </p:nvSpPr>
        <p:spPr>
          <a:xfrm>
            <a:off x="6354343" y="3497413"/>
            <a:ext cx="411600" cy="2952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None/>
            </a:pPr>
            <a:fld id="{00000000-1234-1234-1234-123412341234}" type="slidenum">
              <a:rPr lang="en"/>
              <a:t>‹#›</a:t>
            </a:fld>
            <a:endParaRPr/>
          </a:p>
        </p:txBody>
      </p:sp>
      <p:pic>
        <p:nvPicPr>
          <p:cNvPr id="217" name="Google Shape;217;p31"/>
          <p:cNvPicPr preferRelativeResize="0"/>
          <p:nvPr/>
        </p:nvPicPr>
        <p:blipFill rotWithShape="1">
          <a:blip r:embed="rId3">
            <a:alphaModFix/>
          </a:blip>
          <a:srcRect b="0" l="0" r="0" t="0"/>
          <a:stretch/>
        </p:blipFill>
        <p:spPr>
          <a:xfrm>
            <a:off x="0" y="692024"/>
            <a:ext cx="9144000" cy="4403850"/>
          </a:xfrm>
          <a:prstGeom prst="rect">
            <a:avLst/>
          </a:prstGeom>
          <a:noFill/>
          <a:ln>
            <a:noFill/>
          </a:ln>
        </p:spPr>
      </p:pic>
      <p:sp>
        <p:nvSpPr>
          <p:cNvPr id="218" name="Google Shape;218;p31"/>
          <p:cNvSpPr txBox="1"/>
          <p:nvPr/>
        </p:nvSpPr>
        <p:spPr>
          <a:xfrm>
            <a:off x="177675" y="112225"/>
            <a:ext cx="53586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1" i="0" lang="en" sz="2100" u="none" cap="none" strike="noStrike">
                <a:solidFill>
                  <a:srgbClr val="000000"/>
                </a:solidFill>
                <a:latin typeface="Lato"/>
                <a:ea typeface="Lato"/>
                <a:cs typeface="Lato"/>
                <a:sym typeface="Lato"/>
              </a:rPr>
              <a:t>UML Notations</a:t>
            </a:r>
            <a:endParaRPr b="1" i="0" sz="2100" u="none" cap="none" strike="noStrike">
              <a:solidFill>
                <a:srgbClr val="000000"/>
              </a:solidFill>
              <a:latin typeface="Lato"/>
              <a:ea typeface="Lato"/>
              <a:cs typeface="Lato"/>
              <a:sym typeface="Lato"/>
            </a:endParaRPr>
          </a:p>
        </p:txBody>
      </p:sp>
      <p:pic>
        <p:nvPicPr>
          <p:cNvPr id="219" name="Google Shape;219;p31"/>
          <p:cNvPicPr preferRelativeResize="0"/>
          <p:nvPr/>
        </p:nvPicPr>
        <p:blipFill rotWithShape="1">
          <a:blip r:embed="rId4">
            <a:alphaModFix/>
          </a:blip>
          <a:srcRect b="0" l="0" r="0" t="0"/>
          <a:stretch/>
        </p:blipFill>
        <p:spPr>
          <a:xfrm>
            <a:off x="7111025" y="137425"/>
            <a:ext cx="1836124" cy="981725"/>
          </a:xfrm>
          <a:prstGeom prst="rect">
            <a:avLst/>
          </a:prstGeom>
          <a:noFill/>
          <a:ln>
            <a:noFill/>
          </a:ln>
        </p:spPr>
      </p:pic>
    </p:spTree>
  </p:cSld>
  <p:clrMapOvr>
    <a:masterClrMapping/>
  </p:clrMapOvr>
  <p:transition spd="med">
    <p:push/>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2"/>
          <p:cNvSpPr txBox="1"/>
          <p:nvPr>
            <p:ph type="ctrTitle"/>
          </p:nvPr>
        </p:nvSpPr>
        <p:spPr>
          <a:xfrm>
            <a:off x="311727" y="538617"/>
            <a:ext cx="6234600" cy="342600"/>
          </a:xfrm>
          <a:prstGeom prst="rect">
            <a:avLst/>
          </a:prstGeom>
          <a:noFill/>
          <a:ln>
            <a:noFill/>
          </a:ln>
        </p:spPr>
        <p:txBody>
          <a:bodyPr anchorCtr="0" anchor="b" bIns="34275" lIns="68575" spcFirstLastPara="1" rIns="68575" wrap="square" tIns="34275">
            <a:noAutofit/>
          </a:bodyPr>
          <a:lstStyle/>
          <a:p>
            <a:pPr indent="0" lvl="0" marL="0" rtl="0" algn="l">
              <a:lnSpc>
                <a:spcPct val="90000"/>
              </a:lnSpc>
              <a:spcBef>
                <a:spcPts val="0"/>
              </a:spcBef>
              <a:spcAft>
                <a:spcPts val="0"/>
              </a:spcAft>
              <a:buClr>
                <a:schemeClr val="dk1"/>
              </a:buClr>
              <a:buSzPts val="2100"/>
              <a:buFont typeface="Lato Black"/>
              <a:buNone/>
            </a:pPr>
            <a:r>
              <a:rPr lang="en" sz="2100">
                <a:latin typeface="Lato Black"/>
                <a:ea typeface="Lato Black"/>
                <a:cs typeface="Lato Black"/>
                <a:sym typeface="Lato Black"/>
              </a:rPr>
              <a:t>Class Diagram</a:t>
            </a:r>
            <a:endParaRPr sz="2100">
              <a:latin typeface="Lato Black"/>
              <a:ea typeface="Lato Black"/>
              <a:cs typeface="Lato Black"/>
              <a:sym typeface="Lato Black"/>
            </a:endParaRPr>
          </a:p>
        </p:txBody>
      </p:sp>
      <p:sp>
        <p:nvSpPr>
          <p:cNvPr id="225" name="Google Shape;225;p32"/>
          <p:cNvSpPr txBox="1"/>
          <p:nvPr>
            <p:ph idx="1" type="subTitle"/>
          </p:nvPr>
        </p:nvSpPr>
        <p:spPr>
          <a:xfrm>
            <a:off x="311727" y="1104623"/>
            <a:ext cx="6858000" cy="3451200"/>
          </a:xfrm>
          <a:prstGeom prst="rect">
            <a:avLst/>
          </a:prstGeom>
          <a:noFill/>
          <a:ln>
            <a:noFill/>
          </a:ln>
        </p:spPr>
        <p:txBody>
          <a:bodyPr anchorCtr="0" anchor="t" bIns="34275" lIns="68575" spcFirstLastPara="1" rIns="68575" wrap="square" tIns="34275">
            <a:normAutofit/>
          </a:bodyPr>
          <a:lstStyle/>
          <a:p>
            <a:pPr indent="0" lvl="0" marL="457200" rtl="0" algn="just">
              <a:lnSpc>
                <a:spcPct val="140000"/>
              </a:lnSpc>
              <a:spcBef>
                <a:spcPts val="800"/>
              </a:spcBef>
              <a:spcAft>
                <a:spcPts val="0"/>
              </a:spcAft>
              <a:buNone/>
            </a:pPr>
            <a:r>
              <a:t/>
            </a:r>
            <a:endParaRPr sz="1400">
              <a:latin typeface="Arvo"/>
              <a:ea typeface="Arvo"/>
              <a:cs typeface="Arvo"/>
              <a:sym typeface="Arvo"/>
            </a:endParaRPr>
          </a:p>
          <a:p>
            <a:pPr indent="-317500" lvl="0" marL="457200" rtl="0" algn="just">
              <a:lnSpc>
                <a:spcPct val="140000"/>
              </a:lnSpc>
              <a:spcBef>
                <a:spcPts val="800"/>
              </a:spcBef>
              <a:spcAft>
                <a:spcPts val="0"/>
              </a:spcAft>
              <a:buSzPts val="1400"/>
              <a:buFont typeface="Arvo"/>
              <a:buChar char="●"/>
            </a:pPr>
            <a:r>
              <a:rPr lang="en" sz="1400">
                <a:latin typeface="Arvo"/>
                <a:ea typeface="Arvo"/>
                <a:cs typeface="Arvo"/>
                <a:sym typeface="Arvo"/>
              </a:rPr>
              <a:t>Class diagrams are the main building block of any object-oriented solution</a:t>
            </a:r>
            <a:endParaRPr sz="1400">
              <a:latin typeface="Arvo"/>
              <a:ea typeface="Arvo"/>
              <a:cs typeface="Arvo"/>
              <a:sym typeface="Arvo"/>
            </a:endParaRPr>
          </a:p>
          <a:p>
            <a:pPr indent="-317500" lvl="0" marL="457200" rtl="0" algn="just">
              <a:lnSpc>
                <a:spcPct val="140000"/>
              </a:lnSpc>
              <a:spcBef>
                <a:spcPts val="0"/>
              </a:spcBef>
              <a:spcAft>
                <a:spcPts val="0"/>
              </a:spcAft>
              <a:buSzPts val="1400"/>
              <a:buFont typeface="Arvo"/>
              <a:buChar char="●"/>
            </a:pPr>
            <a:r>
              <a:rPr lang="en" sz="1400">
                <a:latin typeface="Arvo"/>
                <a:ea typeface="Arvo"/>
                <a:cs typeface="Arvo"/>
                <a:sym typeface="Arvo"/>
              </a:rPr>
              <a:t>It shows the classes in a system, attributes, and operations of each class and the relationship between each class</a:t>
            </a:r>
            <a:endParaRPr sz="1400">
              <a:latin typeface="Arvo"/>
              <a:ea typeface="Arvo"/>
              <a:cs typeface="Arvo"/>
              <a:sym typeface="Arvo"/>
            </a:endParaRPr>
          </a:p>
          <a:p>
            <a:pPr indent="-317500" lvl="0" marL="457200" rtl="0" algn="just">
              <a:lnSpc>
                <a:spcPct val="140000"/>
              </a:lnSpc>
              <a:spcBef>
                <a:spcPts val="0"/>
              </a:spcBef>
              <a:spcAft>
                <a:spcPts val="0"/>
              </a:spcAft>
              <a:buSzPts val="1400"/>
              <a:buFont typeface="Arvo"/>
              <a:buChar char="●"/>
            </a:pPr>
            <a:r>
              <a:rPr lang="en" sz="1400">
                <a:latin typeface="Arvo"/>
                <a:ea typeface="Arvo"/>
                <a:cs typeface="Arvo"/>
                <a:sym typeface="Arvo"/>
              </a:rPr>
              <a:t>In most modeling tools, a class has three parts. Name at the top, attributes in the middle and operations or methods at the bottom. In a large system with many related classes, classes are grouped together to create class diagrams. Different relationships between classes are shown by different types of arrows.</a:t>
            </a:r>
            <a:endParaRPr sz="1400">
              <a:latin typeface="Arvo"/>
              <a:ea typeface="Arvo"/>
              <a:cs typeface="Arvo"/>
              <a:sym typeface="Arvo"/>
            </a:endParaRPr>
          </a:p>
        </p:txBody>
      </p:sp>
      <p:pic>
        <p:nvPicPr>
          <p:cNvPr id="226" name="Google Shape;226;p32"/>
          <p:cNvPicPr preferRelativeResize="0"/>
          <p:nvPr/>
        </p:nvPicPr>
        <p:blipFill rotWithShape="1">
          <a:blip r:embed="rId3">
            <a:alphaModFix/>
          </a:blip>
          <a:srcRect b="0" l="0" r="0" t="0"/>
          <a:stretch/>
        </p:blipFill>
        <p:spPr>
          <a:xfrm>
            <a:off x="6456002" y="137435"/>
            <a:ext cx="2491151" cy="1331925"/>
          </a:xfrm>
          <a:prstGeom prst="rect">
            <a:avLst/>
          </a:prstGeom>
          <a:noFill/>
          <a:ln>
            <a:noFill/>
          </a:ln>
        </p:spPr>
      </p:pic>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25">
                                            <p:txEl>
                                              <p:pRg end="0" st="0"/>
                                            </p:txEl>
                                          </p:spTgt>
                                        </p:tgtEl>
                                        <p:attrNameLst>
                                          <p:attrName>style.visibility</p:attrName>
                                        </p:attrNameLst>
                                      </p:cBhvr>
                                      <p:to>
                                        <p:strVal val="visible"/>
                                      </p:to>
                                    </p:set>
                                    <p:animEffect filter="fade" transition="in">
                                      <p:cBhvr>
                                        <p:cTn dur="500"/>
                                        <p:tgtEl>
                                          <p:spTgt spid="225">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225">
                                            <p:txEl>
                                              <p:pRg end="1" st="1"/>
                                            </p:txEl>
                                          </p:spTgt>
                                        </p:tgtEl>
                                        <p:attrNameLst>
                                          <p:attrName>style.visibility</p:attrName>
                                        </p:attrNameLst>
                                      </p:cBhvr>
                                      <p:to>
                                        <p:strVal val="visible"/>
                                      </p:to>
                                    </p:set>
                                    <p:animEffect filter="fade" transition="in">
                                      <p:cBhvr>
                                        <p:cTn dur="500"/>
                                        <p:tgtEl>
                                          <p:spTgt spid="225">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225">
                                            <p:txEl>
                                              <p:pRg end="2" st="2"/>
                                            </p:txEl>
                                          </p:spTgt>
                                        </p:tgtEl>
                                        <p:attrNameLst>
                                          <p:attrName>style.visibility</p:attrName>
                                        </p:attrNameLst>
                                      </p:cBhvr>
                                      <p:to>
                                        <p:strVal val="visible"/>
                                      </p:to>
                                    </p:set>
                                    <p:animEffect filter="fade" transition="in">
                                      <p:cBhvr>
                                        <p:cTn dur="500"/>
                                        <p:tgtEl>
                                          <p:spTgt spid="225">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225">
                                            <p:txEl>
                                              <p:pRg end="3" st="3"/>
                                            </p:txEl>
                                          </p:spTgt>
                                        </p:tgtEl>
                                        <p:attrNameLst>
                                          <p:attrName>style.visibility</p:attrName>
                                        </p:attrNameLst>
                                      </p:cBhvr>
                                      <p:to>
                                        <p:strVal val="visible"/>
                                      </p:to>
                                    </p:set>
                                    <p:animEffect filter="fade" transition="in">
                                      <p:cBhvr>
                                        <p:cTn dur="500"/>
                                        <p:tgtEl>
                                          <p:spTgt spid="225">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3"/>
          <p:cNvSpPr txBox="1"/>
          <p:nvPr>
            <p:ph idx="12" type="sldNum"/>
          </p:nvPr>
        </p:nvSpPr>
        <p:spPr>
          <a:xfrm>
            <a:off x="6354343" y="3497413"/>
            <a:ext cx="411600" cy="2952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None/>
            </a:pPr>
            <a:fld id="{00000000-1234-1234-1234-123412341234}" type="slidenum">
              <a:rPr lang="en"/>
              <a:t>‹#›</a:t>
            </a:fld>
            <a:endParaRPr/>
          </a:p>
        </p:txBody>
      </p:sp>
      <p:pic>
        <p:nvPicPr>
          <p:cNvPr id="232" name="Google Shape;232;p33"/>
          <p:cNvPicPr preferRelativeResize="0"/>
          <p:nvPr/>
        </p:nvPicPr>
        <p:blipFill rotWithShape="1">
          <a:blip r:embed="rId3">
            <a:alphaModFix/>
          </a:blip>
          <a:srcRect b="0" l="0" r="0" t="0"/>
          <a:stretch/>
        </p:blipFill>
        <p:spPr>
          <a:xfrm>
            <a:off x="295275" y="185738"/>
            <a:ext cx="7334250" cy="4772025"/>
          </a:xfrm>
          <a:prstGeom prst="rect">
            <a:avLst/>
          </a:prstGeom>
          <a:noFill/>
          <a:ln>
            <a:noFill/>
          </a:ln>
        </p:spPr>
      </p:pic>
      <p:pic>
        <p:nvPicPr>
          <p:cNvPr id="233" name="Google Shape;233;p33"/>
          <p:cNvPicPr preferRelativeResize="0"/>
          <p:nvPr/>
        </p:nvPicPr>
        <p:blipFill rotWithShape="1">
          <a:blip r:embed="rId4">
            <a:alphaModFix/>
          </a:blip>
          <a:srcRect b="0" l="0" r="0" t="0"/>
          <a:stretch/>
        </p:blipFill>
        <p:spPr>
          <a:xfrm>
            <a:off x="6456002" y="137435"/>
            <a:ext cx="2491151" cy="1331925"/>
          </a:xfrm>
          <a:prstGeom prst="rect">
            <a:avLst/>
          </a:prstGeom>
          <a:noFill/>
          <a:ln>
            <a:noFill/>
          </a:ln>
        </p:spPr>
      </p:pic>
    </p:spTree>
  </p:cSld>
  <p:clrMapOvr>
    <a:masterClrMapping/>
  </p:clrMapOvr>
  <p:transition spd="med">
    <p:push/>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4"/>
          <p:cNvSpPr txBox="1"/>
          <p:nvPr>
            <p:ph type="ctrTitle"/>
          </p:nvPr>
        </p:nvSpPr>
        <p:spPr>
          <a:xfrm>
            <a:off x="311727" y="538617"/>
            <a:ext cx="6234600" cy="342600"/>
          </a:xfrm>
          <a:prstGeom prst="rect">
            <a:avLst/>
          </a:prstGeom>
          <a:noFill/>
          <a:ln>
            <a:noFill/>
          </a:ln>
        </p:spPr>
        <p:txBody>
          <a:bodyPr anchorCtr="0" anchor="b" bIns="34275" lIns="68575" spcFirstLastPara="1" rIns="68575" wrap="square" tIns="34275">
            <a:noAutofit/>
          </a:bodyPr>
          <a:lstStyle/>
          <a:p>
            <a:pPr indent="0" lvl="0" marL="0" rtl="0" algn="l">
              <a:lnSpc>
                <a:spcPct val="90000"/>
              </a:lnSpc>
              <a:spcBef>
                <a:spcPts val="0"/>
              </a:spcBef>
              <a:spcAft>
                <a:spcPts val="0"/>
              </a:spcAft>
              <a:buClr>
                <a:schemeClr val="dk1"/>
              </a:buClr>
              <a:buSzPts val="2100"/>
              <a:buFont typeface="Lato Black"/>
              <a:buNone/>
            </a:pPr>
            <a:r>
              <a:rPr lang="en" sz="2100">
                <a:latin typeface="Lato Black"/>
                <a:ea typeface="Lato Black"/>
                <a:cs typeface="Lato Black"/>
                <a:sym typeface="Lato Black"/>
              </a:rPr>
              <a:t>Object Diagram</a:t>
            </a:r>
            <a:endParaRPr sz="2100">
              <a:latin typeface="Lato Black"/>
              <a:ea typeface="Lato Black"/>
              <a:cs typeface="Lato Black"/>
              <a:sym typeface="Lato Black"/>
            </a:endParaRPr>
          </a:p>
        </p:txBody>
      </p:sp>
      <p:sp>
        <p:nvSpPr>
          <p:cNvPr id="239" name="Google Shape;239;p34"/>
          <p:cNvSpPr txBox="1"/>
          <p:nvPr>
            <p:ph idx="1" type="subTitle"/>
          </p:nvPr>
        </p:nvSpPr>
        <p:spPr>
          <a:xfrm>
            <a:off x="311727" y="1104623"/>
            <a:ext cx="6858000" cy="3451200"/>
          </a:xfrm>
          <a:prstGeom prst="rect">
            <a:avLst/>
          </a:prstGeom>
          <a:noFill/>
          <a:ln>
            <a:noFill/>
          </a:ln>
        </p:spPr>
        <p:txBody>
          <a:bodyPr anchorCtr="0" anchor="t" bIns="34275" lIns="68575" spcFirstLastPara="1" rIns="68575" wrap="square" tIns="34275">
            <a:normAutofit/>
          </a:bodyPr>
          <a:lstStyle/>
          <a:p>
            <a:pPr indent="0" lvl="0" marL="457200" rtl="0" algn="just">
              <a:lnSpc>
                <a:spcPct val="140000"/>
              </a:lnSpc>
              <a:spcBef>
                <a:spcPts val="800"/>
              </a:spcBef>
              <a:spcAft>
                <a:spcPts val="0"/>
              </a:spcAft>
              <a:buNone/>
            </a:pPr>
            <a:r>
              <a:t/>
            </a:r>
            <a:endParaRPr sz="1400">
              <a:latin typeface="Arvo"/>
              <a:ea typeface="Arvo"/>
              <a:cs typeface="Arvo"/>
              <a:sym typeface="Arvo"/>
            </a:endParaRPr>
          </a:p>
          <a:p>
            <a:pPr indent="-317500" lvl="0" marL="457200" rtl="0" algn="just">
              <a:lnSpc>
                <a:spcPct val="140000"/>
              </a:lnSpc>
              <a:spcBef>
                <a:spcPts val="800"/>
              </a:spcBef>
              <a:spcAft>
                <a:spcPts val="0"/>
              </a:spcAft>
              <a:buSzPts val="1400"/>
              <a:buFont typeface="Arvo"/>
              <a:buChar char="●"/>
            </a:pPr>
            <a:r>
              <a:rPr lang="en" sz="1400">
                <a:latin typeface="Arvo"/>
                <a:ea typeface="Arvo"/>
                <a:cs typeface="Arvo"/>
                <a:sym typeface="Arvo"/>
              </a:rPr>
              <a:t>Object Diagrams, sometimes referred to as Instance diagrams are very similar to class diagrams.</a:t>
            </a:r>
            <a:endParaRPr sz="1400">
              <a:latin typeface="Arvo"/>
              <a:ea typeface="Arvo"/>
              <a:cs typeface="Arvo"/>
              <a:sym typeface="Arvo"/>
            </a:endParaRPr>
          </a:p>
          <a:p>
            <a:pPr indent="-317500" lvl="0" marL="457200" rtl="0" algn="just">
              <a:lnSpc>
                <a:spcPct val="140000"/>
              </a:lnSpc>
              <a:spcBef>
                <a:spcPts val="0"/>
              </a:spcBef>
              <a:spcAft>
                <a:spcPts val="0"/>
              </a:spcAft>
              <a:buSzPts val="1400"/>
              <a:buFont typeface="Arvo"/>
              <a:buChar char="●"/>
            </a:pPr>
            <a:r>
              <a:rPr lang="en" sz="1400">
                <a:latin typeface="Arvo"/>
                <a:ea typeface="Arvo"/>
                <a:cs typeface="Arvo"/>
                <a:sym typeface="Arvo"/>
              </a:rPr>
              <a:t>Like class diagrams, they also show the relationship between objects but they use real-world examples</a:t>
            </a:r>
            <a:endParaRPr sz="1400">
              <a:latin typeface="Arvo"/>
              <a:ea typeface="Arvo"/>
              <a:cs typeface="Arvo"/>
              <a:sym typeface="Arvo"/>
            </a:endParaRPr>
          </a:p>
          <a:p>
            <a:pPr indent="-317500" lvl="0" marL="457200" rtl="0" algn="just">
              <a:lnSpc>
                <a:spcPct val="140000"/>
              </a:lnSpc>
              <a:spcBef>
                <a:spcPts val="0"/>
              </a:spcBef>
              <a:spcAft>
                <a:spcPts val="0"/>
              </a:spcAft>
              <a:buSzPts val="1400"/>
              <a:buFont typeface="Arvo"/>
              <a:buChar char="●"/>
            </a:pPr>
            <a:r>
              <a:rPr lang="en" sz="1400">
                <a:latin typeface="Arvo"/>
                <a:ea typeface="Arvo"/>
                <a:cs typeface="Arvo"/>
                <a:sym typeface="Arvo"/>
              </a:rPr>
              <a:t>They show how a system will look like at a given time</a:t>
            </a:r>
            <a:endParaRPr sz="1400">
              <a:latin typeface="Arvo"/>
              <a:ea typeface="Arvo"/>
              <a:cs typeface="Arvo"/>
              <a:sym typeface="Arvo"/>
            </a:endParaRPr>
          </a:p>
          <a:p>
            <a:pPr indent="-317500" lvl="0" marL="457200" rtl="0" algn="just">
              <a:lnSpc>
                <a:spcPct val="140000"/>
              </a:lnSpc>
              <a:spcBef>
                <a:spcPts val="0"/>
              </a:spcBef>
              <a:spcAft>
                <a:spcPts val="0"/>
              </a:spcAft>
              <a:buSzPts val="1400"/>
              <a:buFont typeface="Arvo"/>
              <a:buChar char="●"/>
            </a:pPr>
            <a:r>
              <a:rPr lang="en" sz="1400">
                <a:latin typeface="Arvo"/>
                <a:ea typeface="Arvo"/>
                <a:cs typeface="Arvo"/>
                <a:sym typeface="Arvo"/>
              </a:rPr>
              <a:t>There is data available in the objects, they are used to explain complex relationships between objects</a:t>
            </a:r>
            <a:endParaRPr sz="1400">
              <a:latin typeface="Arvo"/>
              <a:ea typeface="Arvo"/>
              <a:cs typeface="Arvo"/>
              <a:sym typeface="Arvo"/>
            </a:endParaRPr>
          </a:p>
        </p:txBody>
      </p:sp>
      <p:pic>
        <p:nvPicPr>
          <p:cNvPr id="240" name="Google Shape;240;p34"/>
          <p:cNvPicPr preferRelativeResize="0"/>
          <p:nvPr/>
        </p:nvPicPr>
        <p:blipFill rotWithShape="1">
          <a:blip r:embed="rId3">
            <a:alphaModFix/>
          </a:blip>
          <a:srcRect b="0" l="0" r="0" t="0"/>
          <a:stretch/>
        </p:blipFill>
        <p:spPr>
          <a:xfrm>
            <a:off x="6456002" y="137435"/>
            <a:ext cx="2491151" cy="1331925"/>
          </a:xfrm>
          <a:prstGeom prst="rect">
            <a:avLst/>
          </a:prstGeom>
          <a:noFill/>
          <a:ln>
            <a:noFill/>
          </a:ln>
        </p:spPr>
      </p:pic>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39">
                                            <p:txEl>
                                              <p:pRg end="0" st="0"/>
                                            </p:txEl>
                                          </p:spTgt>
                                        </p:tgtEl>
                                        <p:attrNameLst>
                                          <p:attrName>style.visibility</p:attrName>
                                        </p:attrNameLst>
                                      </p:cBhvr>
                                      <p:to>
                                        <p:strVal val="visible"/>
                                      </p:to>
                                    </p:set>
                                    <p:animEffect filter="fade" transition="in">
                                      <p:cBhvr>
                                        <p:cTn dur="500"/>
                                        <p:tgtEl>
                                          <p:spTgt spid="239">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239">
                                            <p:txEl>
                                              <p:pRg end="1" st="1"/>
                                            </p:txEl>
                                          </p:spTgt>
                                        </p:tgtEl>
                                        <p:attrNameLst>
                                          <p:attrName>style.visibility</p:attrName>
                                        </p:attrNameLst>
                                      </p:cBhvr>
                                      <p:to>
                                        <p:strVal val="visible"/>
                                      </p:to>
                                    </p:set>
                                    <p:animEffect filter="fade" transition="in">
                                      <p:cBhvr>
                                        <p:cTn dur="500"/>
                                        <p:tgtEl>
                                          <p:spTgt spid="239">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239">
                                            <p:txEl>
                                              <p:pRg end="2" st="2"/>
                                            </p:txEl>
                                          </p:spTgt>
                                        </p:tgtEl>
                                        <p:attrNameLst>
                                          <p:attrName>style.visibility</p:attrName>
                                        </p:attrNameLst>
                                      </p:cBhvr>
                                      <p:to>
                                        <p:strVal val="visible"/>
                                      </p:to>
                                    </p:set>
                                    <p:animEffect filter="fade" transition="in">
                                      <p:cBhvr>
                                        <p:cTn dur="500"/>
                                        <p:tgtEl>
                                          <p:spTgt spid="239">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239">
                                            <p:txEl>
                                              <p:pRg end="3" st="3"/>
                                            </p:txEl>
                                          </p:spTgt>
                                        </p:tgtEl>
                                        <p:attrNameLst>
                                          <p:attrName>style.visibility</p:attrName>
                                        </p:attrNameLst>
                                      </p:cBhvr>
                                      <p:to>
                                        <p:strVal val="visible"/>
                                      </p:to>
                                    </p:set>
                                    <p:animEffect filter="fade" transition="in">
                                      <p:cBhvr>
                                        <p:cTn dur="500"/>
                                        <p:tgtEl>
                                          <p:spTgt spid="239">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239">
                                            <p:txEl>
                                              <p:pRg end="4" st="4"/>
                                            </p:txEl>
                                          </p:spTgt>
                                        </p:tgtEl>
                                        <p:attrNameLst>
                                          <p:attrName>style.visibility</p:attrName>
                                        </p:attrNameLst>
                                      </p:cBhvr>
                                      <p:to>
                                        <p:strVal val="visible"/>
                                      </p:to>
                                    </p:set>
                                    <p:animEffect filter="fade" transition="in">
                                      <p:cBhvr>
                                        <p:cTn dur="500"/>
                                        <p:tgtEl>
                                          <p:spTgt spid="239">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5"/>
          <p:cNvSpPr txBox="1"/>
          <p:nvPr>
            <p:ph idx="12" type="sldNum"/>
          </p:nvPr>
        </p:nvSpPr>
        <p:spPr>
          <a:xfrm>
            <a:off x="6354343" y="3497413"/>
            <a:ext cx="411600" cy="2952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None/>
            </a:pPr>
            <a:fld id="{00000000-1234-1234-1234-123412341234}" type="slidenum">
              <a:rPr lang="en"/>
              <a:t>‹#›</a:t>
            </a:fld>
            <a:endParaRPr/>
          </a:p>
        </p:txBody>
      </p:sp>
      <p:pic>
        <p:nvPicPr>
          <p:cNvPr id="246" name="Google Shape;246;p35"/>
          <p:cNvPicPr preferRelativeResize="0"/>
          <p:nvPr/>
        </p:nvPicPr>
        <p:blipFill rotWithShape="1">
          <a:blip r:embed="rId3">
            <a:alphaModFix/>
          </a:blip>
          <a:srcRect b="0" l="0" r="0" t="0"/>
          <a:stretch/>
        </p:blipFill>
        <p:spPr>
          <a:xfrm>
            <a:off x="152400" y="533400"/>
            <a:ext cx="7494976" cy="3981100"/>
          </a:xfrm>
          <a:prstGeom prst="rect">
            <a:avLst/>
          </a:prstGeom>
          <a:noFill/>
          <a:ln>
            <a:noFill/>
          </a:ln>
        </p:spPr>
      </p:pic>
      <p:pic>
        <p:nvPicPr>
          <p:cNvPr id="247" name="Google Shape;247;p35"/>
          <p:cNvPicPr preferRelativeResize="0"/>
          <p:nvPr/>
        </p:nvPicPr>
        <p:blipFill rotWithShape="1">
          <a:blip r:embed="rId4">
            <a:alphaModFix/>
          </a:blip>
          <a:srcRect b="0" l="0" r="0" t="0"/>
          <a:stretch/>
        </p:blipFill>
        <p:spPr>
          <a:xfrm>
            <a:off x="6456002" y="137435"/>
            <a:ext cx="2491151" cy="1331925"/>
          </a:xfrm>
          <a:prstGeom prst="rect">
            <a:avLst/>
          </a:prstGeom>
          <a:noFill/>
          <a:ln>
            <a:noFill/>
          </a:ln>
        </p:spPr>
      </p:pic>
    </p:spTree>
  </p:cSld>
  <p:clrMapOvr>
    <a:masterClrMapping/>
  </p:clrMapOvr>
  <p:transition spd="med">
    <p:push/>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6"/>
          <p:cNvSpPr txBox="1"/>
          <p:nvPr>
            <p:ph type="ctrTitle"/>
          </p:nvPr>
        </p:nvSpPr>
        <p:spPr>
          <a:xfrm>
            <a:off x="311727" y="538617"/>
            <a:ext cx="6234600" cy="342600"/>
          </a:xfrm>
          <a:prstGeom prst="rect">
            <a:avLst/>
          </a:prstGeom>
          <a:noFill/>
          <a:ln>
            <a:noFill/>
          </a:ln>
        </p:spPr>
        <p:txBody>
          <a:bodyPr anchorCtr="0" anchor="b" bIns="34275" lIns="68575" spcFirstLastPara="1" rIns="68575" wrap="square" tIns="34275">
            <a:noAutofit/>
          </a:bodyPr>
          <a:lstStyle/>
          <a:p>
            <a:pPr indent="0" lvl="0" marL="0" rtl="0" algn="l">
              <a:lnSpc>
                <a:spcPct val="90000"/>
              </a:lnSpc>
              <a:spcBef>
                <a:spcPts val="0"/>
              </a:spcBef>
              <a:spcAft>
                <a:spcPts val="0"/>
              </a:spcAft>
              <a:buClr>
                <a:schemeClr val="dk1"/>
              </a:buClr>
              <a:buSzPts val="2100"/>
              <a:buFont typeface="Lato Black"/>
              <a:buNone/>
            </a:pPr>
            <a:r>
              <a:rPr lang="en" sz="2100">
                <a:latin typeface="Lato Black"/>
                <a:ea typeface="Lato Black"/>
                <a:cs typeface="Lato Black"/>
                <a:sym typeface="Lato Black"/>
              </a:rPr>
              <a:t>Deployment Diagram</a:t>
            </a:r>
            <a:endParaRPr sz="2100">
              <a:latin typeface="Lato Black"/>
              <a:ea typeface="Lato Black"/>
              <a:cs typeface="Lato Black"/>
              <a:sym typeface="Lato Black"/>
            </a:endParaRPr>
          </a:p>
        </p:txBody>
      </p:sp>
      <p:sp>
        <p:nvSpPr>
          <p:cNvPr id="253" name="Google Shape;253;p36"/>
          <p:cNvSpPr txBox="1"/>
          <p:nvPr>
            <p:ph idx="1" type="subTitle"/>
          </p:nvPr>
        </p:nvSpPr>
        <p:spPr>
          <a:xfrm>
            <a:off x="311727" y="1104623"/>
            <a:ext cx="6858000" cy="3451200"/>
          </a:xfrm>
          <a:prstGeom prst="rect">
            <a:avLst/>
          </a:prstGeom>
          <a:noFill/>
          <a:ln>
            <a:noFill/>
          </a:ln>
        </p:spPr>
        <p:txBody>
          <a:bodyPr anchorCtr="0" anchor="t" bIns="34275" lIns="68575" spcFirstLastPara="1" rIns="68575" wrap="square" tIns="34275">
            <a:normAutofit/>
          </a:bodyPr>
          <a:lstStyle/>
          <a:p>
            <a:pPr indent="0" lvl="0" marL="457200" rtl="0" algn="just">
              <a:lnSpc>
                <a:spcPct val="140000"/>
              </a:lnSpc>
              <a:spcBef>
                <a:spcPts val="800"/>
              </a:spcBef>
              <a:spcAft>
                <a:spcPts val="0"/>
              </a:spcAft>
              <a:buNone/>
            </a:pPr>
            <a:r>
              <a:t/>
            </a:r>
            <a:endParaRPr sz="1400">
              <a:latin typeface="Arvo"/>
              <a:ea typeface="Arvo"/>
              <a:cs typeface="Arvo"/>
              <a:sym typeface="Arvo"/>
            </a:endParaRPr>
          </a:p>
          <a:p>
            <a:pPr indent="-317500" lvl="0" marL="457200" rtl="0" algn="just">
              <a:lnSpc>
                <a:spcPct val="140000"/>
              </a:lnSpc>
              <a:spcBef>
                <a:spcPts val="800"/>
              </a:spcBef>
              <a:spcAft>
                <a:spcPts val="0"/>
              </a:spcAft>
              <a:buSzPts val="1400"/>
              <a:buFont typeface="Arvo"/>
              <a:buChar char="●"/>
            </a:pPr>
            <a:r>
              <a:rPr lang="en" sz="1400">
                <a:latin typeface="Arvo"/>
                <a:ea typeface="Arvo"/>
                <a:cs typeface="Arvo"/>
                <a:sym typeface="Arvo"/>
              </a:rPr>
              <a:t>A deployment diagram shows the hardware of your system and the software in that hardware</a:t>
            </a:r>
            <a:endParaRPr sz="1400">
              <a:latin typeface="Arvo"/>
              <a:ea typeface="Arvo"/>
              <a:cs typeface="Arvo"/>
              <a:sym typeface="Arvo"/>
            </a:endParaRPr>
          </a:p>
          <a:p>
            <a:pPr indent="-317500" lvl="0" marL="457200" rtl="0" algn="just">
              <a:lnSpc>
                <a:spcPct val="140000"/>
              </a:lnSpc>
              <a:spcBef>
                <a:spcPts val="0"/>
              </a:spcBef>
              <a:spcAft>
                <a:spcPts val="0"/>
              </a:spcAft>
              <a:buSzPts val="1400"/>
              <a:buFont typeface="Arvo"/>
              <a:buChar char="●"/>
            </a:pPr>
            <a:r>
              <a:rPr lang="en" sz="1400">
                <a:latin typeface="Arvo"/>
                <a:ea typeface="Arvo"/>
                <a:cs typeface="Arvo"/>
                <a:sym typeface="Arvo"/>
              </a:rPr>
              <a:t>Deployment diagrams are useful when your software solution is deployed across multiple machines with each having a unique configuration</a:t>
            </a:r>
            <a:endParaRPr sz="1400">
              <a:latin typeface="Arvo"/>
              <a:ea typeface="Arvo"/>
              <a:cs typeface="Arvo"/>
              <a:sym typeface="Arvo"/>
            </a:endParaRPr>
          </a:p>
        </p:txBody>
      </p:sp>
      <p:pic>
        <p:nvPicPr>
          <p:cNvPr id="254" name="Google Shape;254;p36"/>
          <p:cNvPicPr preferRelativeResize="0"/>
          <p:nvPr/>
        </p:nvPicPr>
        <p:blipFill rotWithShape="1">
          <a:blip r:embed="rId3">
            <a:alphaModFix/>
          </a:blip>
          <a:srcRect b="0" l="0" r="0" t="0"/>
          <a:stretch/>
        </p:blipFill>
        <p:spPr>
          <a:xfrm>
            <a:off x="6456002" y="137435"/>
            <a:ext cx="2491151" cy="1331925"/>
          </a:xfrm>
          <a:prstGeom prst="rect">
            <a:avLst/>
          </a:prstGeom>
          <a:noFill/>
          <a:ln>
            <a:noFill/>
          </a:ln>
        </p:spPr>
      </p:pic>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53">
                                            <p:txEl>
                                              <p:pRg end="0" st="0"/>
                                            </p:txEl>
                                          </p:spTgt>
                                        </p:tgtEl>
                                        <p:attrNameLst>
                                          <p:attrName>style.visibility</p:attrName>
                                        </p:attrNameLst>
                                      </p:cBhvr>
                                      <p:to>
                                        <p:strVal val="visible"/>
                                      </p:to>
                                    </p:set>
                                    <p:animEffect filter="fade" transition="in">
                                      <p:cBhvr>
                                        <p:cTn dur="500"/>
                                        <p:tgtEl>
                                          <p:spTgt spid="253">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253">
                                            <p:txEl>
                                              <p:pRg end="1" st="1"/>
                                            </p:txEl>
                                          </p:spTgt>
                                        </p:tgtEl>
                                        <p:attrNameLst>
                                          <p:attrName>style.visibility</p:attrName>
                                        </p:attrNameLst>
                                      </p:cBhvr>
                                      <p:to>
                                        <p:strVal val="visible"/>
                                      </p:to>
                                    </p:set>
                                    <p:animEffect filter="fade" transition="in">
                                      <p:cBhvr>
                                        <p:cTn dur="500"/>
                                        <p:tgtEl>
                                          <p:spTgt spid="253">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253">
                                            <p:txEl>
                                              <p:pRg end="2" st="2"/>
                                            </p:txEl>
                                          </p:spTgt>
                                        </p:tgtEl>
                                        <p:attrNameLst>
                                          <p:attrName>style.visibility</p:attrName>
                                        </p:attrNameLst>
                                      </p:cBhvr>
                                      <p:to>
                                        <p:strVal val="visible"/>
                                      </p:to>
                                    </p:set>
                                    <p:animEffect filter="fade" transition="in">
                                      <p:cBhvr>
                                        <p:cTn dur="500"/>
                                        <p:tgtEl>
                                          <p:spTgt spid="253">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7"/>
          <p:cNvSpPr txBox="1"/>
          <p:nvPr>
            <p:ph idx="12" type="sldNum"/>
          </p:nvPr>
        </p:nvSpPr>
        <p:spPr>
          <a:xfrm>
            <a:off x="6354343" y="3497413"/>
            <a:ext cx="411600" cy="2952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None/>
            </a:pPr>
            <a:fld id="{00000000-1234-1234-1234-123412341234}" type="slidenum">
              <a:rPr lang="en"/>
              <a:t>‹#›</a:t>
            </a:fld>
            <a:endParaRPr/>
          </a:p>
        </p:txBody>
      </p:sp>
      <p:pic>
        <p:nvPicPr>
          <p:cNvPr id="260" name="Google Shape;260;p37"/>
          <p:cNvPicPr preferRelativeResize="0"/>
          <p:nvPr/>
        </p:nvPicPr>
        <p:blipFill rotWithShape="1">
          <a:blip r:embed="rId3">
            <a:alphaModFix/>
          </a:blip>
          <a:srcRect b="0" l="0" r="0" t="0"/>
          <a:stretch/>
        </p:blipFill>
        <p:spPr>
          <a:xfrm>
            <a:off x="152400" y="152400"/>
            <a:ext cx="7298426" cy="4691850"/>
          </a:xfrm>
          <a:prstGeom prst="rect">
            <a:avLst/>
          </a:prstGeom>
          <a:noFill/>
          <a:ln>
            <a:noFill/>
          </a:ln>
        </p:spPr>
      </p:pic>
      <p:pic>
        <p:nvPicPr>
          <p:cNvPr id="261" name="Google Shape;261;p37"/>
          <p:cNvPicPr preferRelativeResize="0"/>
          <p:nvPr/>
        </p:nvPicPr>
        <p:blipFill rotWithShape="1">
          <a:blip r:embed="rId4">
            <a:alphaModFix/>
          </a:blip>
          <a:srcRect b="0" l="0" r="0" t="0"/>
          <a:stretch/>
        </p:blipFill>
        <p:spPr>
          <a:xfrm>
            <a:off x="6456002" y="137435"/>
            <a:ext cx="2491151" cy="1331925"/>
          </a:xfrm>
          <a:prstGeom prst="rect">
            <a:avLst/>
          </a:prstGeom>
          <a:noFill/>
          <a:ln>
            <a:noFill/>
          </a:ln>
        </p:spPr>
      </p:pic>
    </p:spTree>
  </p:cSld>
  <p:clrMapOvr>
    <a:masterClrMapping/>
  </p:clrMapOvr>
  <p:transition spd="med">
    <p:push/>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8"/>
          <p:cNvSpPr txBox="1"/>
          <p:nvPr>
            <p:ph type="ctrTitle"/>
          </p:nvPr>
        </p:nvSpPr>
        <p:spPr>
          <a:xfrm>
            <a:off x="311727" y="538617"/>
            <a:ext cx="6234600" cy="342600"/>
          </a:xfrm>
          <a:prstGeom prst="rect">
            <a:avLst/>
          </a:prstGeom>
          <a:noFill/>
          <a:ln>
            <a:noFill/>
          </a:ln>
        </p:spPr>
        <p:txBody>
          <a:bodyPr anchorCtr="0" anchor="b" bIns="34275" lIns="68575" spcFirstLastPara="1" rIns="68575" wrap="square" tIns="34275">
            <a:noAutofit/>
          </a:bodyPr>
          <a:lstStyle/>
          <a:p>
            <a:pPr indent="0" lvl="0" marL="0" rtl="0" algn="l">
              <a:lnSpc>
                <a:spcPct val="90000"/>
              </a:lnSpc>
              <a:spcBef>
                <a:spcPts val="0"/>
              </a:spcBef>
              <a:spcAft>
                <a:spcPts val="0"/>
              </a:spcAft>
              <a:buClr>
                <a:schemeClr val="dk1"/>
              </a:buClr>
              <a:buSzPts val="2100"/>
              <a:buFont typeface="Lato Black"/>
              <a:buNone/>
            </a:pPr>
            <a:r>
              <a:rPr lang="en" sz="2100">
                <a:latin typeface="Lato Black"/>
                <a:ea typeface="Lato Black"/>
                <a:cs typeface="Lato Black"/>
                <a:sym typeface="Lato Black"/>
              </a:rPr>
              <a:t>Use Case Diagram</a:t>
            </a:r>
            <a:endParaRPr sz="2100">
              <a:latin typeface="Lato Black"/>
              <a:ea typeface="Lato Black"/>
              <a:cs typeface="Lato Black"/>
              <a:sym typeface="Lato Black"/>
            </a:endParaRPr>
          </a:p>
        </p:txBody>
      </p:sp>
      <p:sp>
        <p:nvSpPr>
          <p:cNvPr id="267" name="Google Shape;267;p38"/>
          <p:cNvSpPr txBox="1"/>
          <p:nvPr>
            <p:ph idx="1" type="subTitle"/>
          </p:nvPr>
        </p:nvSpPr>
        <p:spPr>
          <a:xfrm>
            <a:off x="311727" y="1104623"/>
            <a:ext cx="6858000" cy="3451200"/>
          </a:xfrm>
          <a:prstGeom prst="rect">
            <a:avLst/>
          </a:prstGeom>
          <a:noFill/>
          <a:ln>
            <a:noFill/>
          </a:ln>
        </p:spPr>
        <p:txBody>
          <a:bodyPr anchorCtr="0" anchor="t" bIns="34275" lIns="68575" spcFirstLastPara="1" rIns="68575" wrap="square" tIns="34275">
            <a:normAutofit/>
          </a:bodyPr>
          <a:lstStyle/>
          <a:p>
            <a:pPr indent="0" lvl="0" marL="457200" rtl="0" algn="just">
              <a:lnSpc>
                <a:spcPct val="140000"/>
              </a:lnSpc>
              <a:spcBef>
                <a:spcPts val="800"/>
              </a:spcBef>
              <a:spcAft>
                <a:spcPts val="0"/>
              </a:spcAft>
              <a:buNone/>
            </a:pPr>
            <a:r>
              <a:t/>
            </a:r>
            <a:endParaRPr sz="1400">
              <a:latin typeface="Arvo"/>
              <a:ea typeface="Arvo"/>
              <a:cs typeface="Arvo"/>
              <a:sym typeface="Arvo"/>
            </a:endParaRPr>
          </a:p>
          <a:p>
            <a:pPr indent="-317500" lvl="0" marL="457200" rtl="0" algn="just">
              <a:lnSpc>
                <a:spcPct val="140000"/>
              </a:lnSpc>
              <a:spcBef>
                <a:spcPts val="800"/>
              </a:spcBef>
              <a:spcAft>
                <a:spcPts val="0"/>
              </a:spcAft>
              <a:buSzPts val="1400"/>
              <a:buFont typeface="Arvo"/>
              <a:buChar char="●"/>
            </a:pPr>
            <a:r>
              <a:rPr lang="en" sz="1400">
                <a:latin typeface="Arvo"/>
                <a:ea typeface="Arvo"/>
                <a:cs typeface="Arvo"/>
                <a:sym typeface="Arvo"/>
              </a:rPr>
              <a:t>Use case diagrams give a graphic overview of the actors involved in a system, different functions needed by those actors and how these different functions interact.</a:t>
            </a:r>
            <a:endParaRPr sz="1400">
              <a:latin typeface="Arvo"/>
              <a:ea typeface="Arvo"/>
              <a:cs typeface="Arvo"/>
              <a:sym typeface="Arvo"/>
            </a:endParaRPr>
          </a:p>
          <a:p>
            <a:pPr indent="-317500" lvl="0" marL="457200" rtl="0" algn="just">
              <a:lnSpc>
                <a:spcPct val="140000"/>
              </a:lnSpc>
              <a:spcBef>
                <a:spcPts val="0"/>
              </a:spcBef>
              <a:spcAft>
                <a:spcPts val="0"/>
              </a:spcAft>
              <a:buSzPts val="1400"/>
              <a:buFont typeface="Arvo"/>
              <a:buChar char="●"/>
            </a:pPr>
            <a:r>
              <a:rPr lang="en" sz="1400">
                <a:latin typeface="Arvo"/>
                <a:ea typeface="Arvo"/>
                <a:cs typeface="Arvo"/>
                <a:sym typeface="Arvo"/>
              </a:rPr>
              <a:t>It’s a great starting point for any project discussion because you can easily identify the main actors involved and the main processes of the system</a:t>
            </a:r>
            <a:endParaRPr sz="1400">
              <a:latin typeface="Arvo"/>
              <a:ea typeface="Arvo"/>
              <a:cs typeface="Arvo"/>
              <a:sym typeface="Arvo"/>
            </a:endParaRPr>
          </a:p>
        </p:txBody>
      </p:sp>
      <p:pic>
        <p:nvPicPr>
          <p:cNvPr id="268" name="Google Shape;268;p38"/>
          <p:cNvPicPr preferRelativeResize="0"/>
          <p:nvPr/>
        </p:nvPicPr>
        <p:blipFill rotWithShape="1">
          <a:blip r:embed="rId3">
            <a:alphaModFix/>
          </a:blip>
          <a:srcRect b="0" l="0" r="0" t="0"/>
          <a:stretch/>
        </p:blipFill>
        <p:spPr>
          <a:xfrm>
            <a:off x="6456002" y="137435"/>
            <a:ext cx="2491151" cy="1331925"/>
          </a:xfrm>
          <a:prstGeom prst="rect">
            <a:avLst/>
          </a:prstGeom>
          <a:noFill/>
          <a:ln>
            <a:noFill/>
          </a:ln>
        </p:spPr>
      </p:pic>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67">
                                            <p:txEl>
                                              <p:pRg end="0" st="0"/>
                                            </p:txEl>
                                          </p:spTgt>
                                        </p:tgtEl>
                                        <p:attrNameLst>
                                          <p:attrName>style.visibility</p:attrName>
                                        </p:attrNameLst>
                                      </p:cBhvr>
                                      <p:to>
                                        <p:strVal val="visible"/>
                                      </p:to>
                                    </p:set>
                                    <p:animEffect filter="fade" transition="in">
                                      <p:cBhvr>
                                        <p:cTn dur="500"/>
                                        <p:tgtEl>
                                          <p:spTgt spid="267">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267">
                                            <p:txEl>
                                              <p:pRg end="1" st="1"/>
                                            </p:txEl>
                                          </p:spTgt>
                                        </p:tgtEl>
                                        <p:attrNameLst>
                                          <p:attrName>style.visibility</p:attrName>
                                        </p:attrNameLst>
                                      </p:cBhvr>
                                      <p:to>
                                        <p:strVal val="visible"/>
                                      </p:to>
                                    </p:set>
                                    <p:animEffect filter="fade" transition="in">
                                      <p:cBhvr>
                                        <p:cTn dur="500"/>
                                        <p:tgtEl>
                                          <p:spTgt spid="267">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267">
                                            <p:txEl>
                                              <p:pRg end="2" st="2"/>
                                            </p:txEl>
                                          </p:spTgt>
                                        </p:tgtEl>
                                        <p:attrNameLst>
                                          <p:attrName>style.visibility</p:attrName>
                                        </p:attrNameLst>
                                      </p:cBhvr>
                                      <p:to>
                                        <p:strVal val="visible"/>
                                      </p:to>
                                    </p:set>
                                    <p:animEffect filter="fade" transition="in">
                                      <p:cBhvr>
                                        <p:cTn dur="500"/>
                                        <p:tgtEl>
                                          <p:spTgt spid="267">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pic>
        <p:nvPicPr>
          <p:cNvPr id="273" name="Google Shape;273;p39"/>
          <p:cNvPicPr preferRelativeResize="0"/>
          <p:nvPr/>
        </p:nvPicPr>
        <p:blipFill rotWithShape="1">
          <a:blip r:embed="rId3">
            <a:alphaModFix/>
          </a:blip>
          <a:srcRect b="0" l="0" r="0" t="0"/>
          <a:stretch/>
        </p:blipFill>
        <p:spPr>
          <a:xfrm>
            <a:off x="152400" y="152400"/>
            <a:ext cx="6049544" cy="4666791"/>
          </a:xfrm>
          <a:prstGeom prst="rect">
            <a:avLst/>
          </a:prstGeom>
          <a:noFill/>
          <a:ln>
            <a:noFill/>
          </a:ln>
        </p:spPr>
      </p:pic>
      <p:pic>
        <p:nvPicPr>
          <p:cNvPr id="274" name="Google Shape;274;p39"/>
          <p:cNvPicPr preferRelativeResize="0"/>
          <p:nvPr/>
        </p:nvPicPr>
        <p:blipFill rotWithShape="1">
          <a:blip r:embed="rId4">
            <a:alphaModFix/>
          </a:blip>
          <a:srcRect b="0" l="0" r="0" t="0"/>
          <a:stretch/>
        </p:blipFill>
        <p:spPr>
          <a:xfrm>
            <a:off x="6456002" y="137435"/>
            <a:ext cx="2491151" cy="1331925"/>
          </a:xfrm>
          <a:prstGeom prst="rect">
            <a:avLst/>
          </a:prstGeom>
          <a:noFill/>
          <a:ln>
            <a:noFill/>
          </a:ln>
        </p:spPr>
      </p:pic>
    </p:spTree>
  </p:cSld>
  <p:clrMapOvr>
    <a:masterClrMapping/>
  </p:clrMapOvr>
  <p:transition spd="med">
    <p:push/>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0"/>
          <p:cNvSpPr txBox="1"/>
          <p:nvPr>
            <p:ph type="ctrTitle"/>
          </p:nvPr>
        </p:nvSpPr>
        <p:spPr>
          <a:xfrm>
            <a:off x="311727" y="538617"/>
            <a:ext cx="6234600" cy="342600"/>
          </a:xfrm>
          <a:prstGeom prst="rect">
            <a:avLst/>
          </a:prstGeom>
          <a:noFill/>
          <a:ln>
            <a:noFill/>
          </a:ln>
        </p:spPr>
        <p:txBody>
          <a:bodyPr anchorCtr="0" anchor="b" bIns="34275" lIns="68575" spcFirstLastPara="1" rIns="68575" wrap="square" tIns="34275">
            <a:noAutofit/>
          </a:bodyPr>
          <a:lstStyle/>
          <a:p>
            <a:pPr indent="0" lvl="0" marL="0" rtl="0" algn="l">
              <a:lnSpc>
                <a:spcPct val="90000"/>
              </a:lnSpc>
              <a:spcBef>
                <a:spcPts val="0"/>
              </a:spcBef>
              <a:spcAft>
                <a:spcPts val="0"/>
              </a:spcAft>
              <a:buClr>
                <a:schemeClr val="dk1"/>
              </a:buClr>
              <a:buSzPts val="2100"/>
              <a:buFont typeface="Lato Black"/>
              <a:buNone/>
            </a:pPr>
            <a:r>
              <a:rPr lang="en" sz="2100">
                <a:latin typeface="Lato Black"/>
                <a:ea typeface="Lato Black"/>
                <a:cs typeface="Lato Black"/>
                <a:sym typeface="Lato Black"/>
              </a:rPr>
              <a:t>Activity Diagram</a:t>
            </a:r>
            <a:endParaRPr sz="2100">
              <a:latin typeface="Lato Black"/>
              <a:ea typeface="Lato Black"/>
              <a:cs typeface="Lato Black"/>
              <a:sym typeface="Lato Black"/>
            </a:endParaRPr>
          </a:p>
        </p:txBody>
      </p:sp>
      <p:sp>
        <p:nvSpPr>
          <p:cNvPr id="280" name="Google Shape;280;p40"/>
          <p:cNvSpPr txBox="1"/>
          <p:nvPr>
            <p:ph idx="1" type="subTitle"/>
          </p:nvPr>
        </p:nvSpPr>
        <p:spPr>
          <a:xfrm>
            <a:off x="311727" y="1104623"/>
            <a:ext cx="6858000" cy="3451200"/>
          </a:xfrm>
          <a:prstGeom prst="rect">
            <a:avLst/>
          </a:prstGeom>
          <a:noFill/>
          <a:ln>
            <a:noFill/>
          </a:ln>
        </p:spPr>
        <p:txBody>
          <a:bodyPr anchorCtr="0" anchor="t" bIns="34275" lIns="68575" spcFirstLastPara="1" rIns="68575" wrap="square" tIns="34275">
            <a:normAutofit/>
          </a:bodyPr>
          <a:lstStyle/>
          <a:p>
            <a:pPr indent="-317500" lvl="0" marL="457200" rtl="0" algn="just">
              <a:lnSpc>
                <a:spcPct val="140000"/>
              </a:lnSpc>
              <a:spcBef>
                <a:spcPts val="800"/>
              </a:spcBef>
              <a:spcAft>
                <a:spcPts val="0"/>
              </a:spcAft>
              <a:buSzPts val="1400"/>
              <a:buFont typeface="Arvo"/>
              <a:buChar char="●"/>
            </a:pPr>
            <a:r>
              <a:rPr lang="en" sz="1400">
                <a:latin typeface="Arvo"/>
                <a:ea typeface="Arvo"/>
                <a:cs typeface="Arvo"/>
                <a:sym typeface="Arvo"/>
              </a:rPr>
              <a:t>Activity diagrams represent workflows in a graphical way</a:t>
            </a:r>
            <a:endParaRPr sz="1400">
              <a:latin typeface="Arvo"/>
              <a:ea typeface="Arvo"/>
              <a:cs typeface="Arvo"/>
              <a:sym typeface="Arvo"/>
            </a:endParaRPr>
          </a:p>
          <a:p>
            <a:pPr indent="-317500" lvl="0" marL="457200" rtl="0" algn="just">
              <a:lnSpc>
                <a:spcPct val="140000"/>
              </a:lnSpc>
              <a:spcBef>
                <a:spcPts val="0"/>
              </a:spcBef>
              <a:spcAft>
                <a:spcPts val="0"/>
              </a:spcAft>
              <a:buSzPts val="1400"/>
              <a:buFont typeface="Arvo"/>
              <a:buChar char="●"/>
            </a:pPr>
            <a:r>
              <a:rPr lang="en" sz="1400">
                <a:latin typeface="Arvo"/>
                <a:ea typeface="Arvo"/>
                <a:cs typeface="Arvo"/>
                <a:sym typeface="Arvo"/>
              </a:rPr>
              <a:t>They can be used to describe the business workflow or the operational workflow of any component in a system</a:t>
            </a:r>
            <a:endParaRPr sz="1400">
              <a:latin typeface="Arvo"/>
              <a:ea typeface="Arvo"/>
              <a:cs typeface="Arvo"/>
              <a:sym typeface="Arvo"/>
            </a:endParaRPr>
          </a:p>
        </p:txBody>
      </p:sp>
      <p:pic>
        <p:nvPicPr>
          <p:cNvPr id="281" name="Google Shape;281;p40"/>
          <p:cNvPicPr preferRelativeResize="0"/>
          <p:nvPr/>
        </p:nvPicPr>
        <p:blipFill rotWithShape="1">
          <a:blip r:embed="rId3">
            <a:alphaModFix/>
          </a:blip>
          <a:srcRect b="0" l="0" r="0" t="0"/>
          <a:stretch/>
        </p:blipFill>
        <p:spPr>
          <a:xfrm>
            <a:off x="6456002" y="137435"/>
            <a:ext cx="2491151" cy="1331925"/>
          </a:xfrm>
          <a:prstGeom prst="rect">
            <a:avLst/>
          </a:prstGeom>
          <a:noFill/>
          <a:ln>
            <a:noFill/>
          </a:ln>
        </p:spPr>
      </p:pic>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80">
                                            <p:txEl>
                                              <p:pRg end="0" st="0"/>
                                            </p:txEl>
                                          </p:spTgt>
                                        </p:tgtEl>
                                        <p:attrNameLst>
                                          <p:attrName>style.visibility</p:attrName>
                                        </p:attrNameLst>
                                      </p:cBhvr>
                                      <p:to>
                                        <p:strVal val="visible"/>
                                      </p:to>
                                    </p:set>
                                    <p:animEffect filter="fade" transition="in">
                                      <p:cBhvr>
                                        <p:cTn dur="500"/>
                                        <p:tgtEl>
                                          <p:spTgt spid="280">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280">
                                            <p:txEl>
                                              <p:pRg end="1" st="1"/>
                                            </p:txEl>
                                          </p:spTgt>
                                        </p:tgtEl>
                                        <p:attrNameLst>
                                          <p:attrName>style.visibility</p:attrName>
                                        </p:attrNameLst>
                                      </p:cBhvr>
                                      <p:to>
                                        <p:strVal val="visible"/>
                                      </p:to>
                                    </p:set>
                                    <p:animEffect filter="fade" transition="in">
                                      <p:cBhvr>
                                        <p:cTn dur="500"/>
                                        <p:tgtEl>
                                          <p:spTgt spid="280">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1"/>
          <p:cNvSpPr txBox="1"/>
          <p:nvPr>
            <p:ph idx="12" type="sldNum"/>
          </p:nvPr>
        </p:nvSpPr>
        <p:spPr>
          <a:xfrm>
            <a:off x="6354343" y="3497413"/>
            <a:ext cx="411600" cy="2952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None/>
            </a:pPr>
            <a:fld id="{00000000-1234-1234-1234-123412341234}" type="slidenum">
              <a:rPr lang="en"/>
              <a:t>‹#›</a:t>
            </a:fld>
            <a:endParaRPr/>
          </a:p>
        </p:txBody>
      </p:sp>
      <p:pic>
        <p:nvPicPr>
          <p:cNvPr id="287" name="Google Shape;287;p41"/>
          <p:cNvPicPr preferRelativeResize="0"/>
          <p:nvPr/>
        </p:nvPicPr>
        <p:blipFill rotWithShape="1">
          <a:blip r:embed="rId3">
            <a:alphaModFix/>
          </a:blip>
          <a:srcRect b="0" l="0" r="0" t="0"/>
          <a:stretch/>
        </p:blipFill>
        <p:spPr>
          <a:xfrm>
            <a:off x="152400" y="914400"/>
            <a:ext cx="7848600" cy="3771416"/>
          </a:xfrm>
          <a:prstGeom prst="rect">
            <a:avLst/>
          </a:prstGeom>
          <a:noFill/>
          <a:ln>
            <a:noFill/>
          </a:ln>
        </p:spPr>
      </p:pic>
      <p:pic>
        <p:nvPicPr>
          <p:cNvPr id="288" name="Google Shape;288;p41"/>
          <p:cNvPicPr preferRelativeResize="0"/>
          <p:nvPr/>
        </p:nvPicPr>
        <p:blipFill rotWithShape="1">
          <a:blip r:embed="rId4">
            <a:alphaModFix/>
          </a:blip>
          <a:srcRect b="0" l="0" r="0" t="0"/>
          <a:stretch/>
        </p:blipFill>
        <p:spPr>
          <a:xfrm>
            <a:off x="6456002" y="137435"/>
            <a:ext cx="2491151" cy="1331925"/>
          </a:xfrm>
          <a:prstGeom prst="rect">
            <a:avLst/>
          </a:prstGeom>
          <a:noFill/>
          <a:ln>
            <a:noFill/>
          </a:ln>
        </p:spPr>
      </p:pic>
    </p:spTree>
  </p:cSld>
  <p:clrMapOvr>
    <a:masterClrMapping/>
  </p:clrMapOvr>
  <p:transition spd="med">
    <p:push/>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type="ctrTitle"/>
          </p:nvPr>
        </p:nvSpPr>
        <p:spPr>
          <a:xfrm>
            <a:off x="311727" y="538617"/>
            <a:ext cx="6234600" cy="342600"/>
          </a:xfrm>
          <a:prstGeom prst="rect">
            <a:avLst/>
          </a:prstGeom>
          <a:noFill/>
          <a:ln>
            <a:noFill/>
          </a:ln>
        </p:spPr>
        <p:txBody>
          <a:bodyPr anchorCtr="0" anchor="b" bIns="34275" lIns="68575" spcFirstLastPara="1" rIns="68575" wrap="square" tIns="34275">
            <a:noAutofit/>
          </a:bodyPr>
          <a:lstStyle/>
          <a:p>
            <a:pPr indent="0" lvl="0" marL="0" rtl="0" algn="l">
              <a:lnSpc>
                <a:spcPct val="90000"/>
              </a:lnSpc>
              <a:spcBef>
                <a:spcPts val="0"/>
              </a:spcBef>
              <a:spcAft>
                <a:spcPts val="0"/>
              </a:spcAft>
              <a:buClr>
                <a:schemeClr val="dk1"/>
              </a:buClr>
              <a:buSzPts val="2100"/>
              <a:buFont typeface="Lato Black"/>
              <a:buNone/>
            </a:pPr>
            <a:r>
              <a:rPr lang="en" sz="2100">
                <a:latin typeface="Lato Black"/>
                <a:ea typeface="Lato Black"/>
                <a:cs typeface="Lato Black"/>
                <a:sym typeface="Lato Black"/>
              </a:rPr>
              <a:t>Sequence Diagram</a:t>
            </a:r>
            <a:endParaRPr sz="2100">
              <a:latin typeface="Lato Black"/>
              <a:ea typeface="Lato Black"/>
              <a:cs typeface="Lato Black"/>
              <a:sym typeface="Lato Black"/>
            </a:endParaRPr>
          </a:p>
        </p:txBody>
      </p:sp>
      <p:sp>
        <p:nvSpPr>
          <p:cNvPr id="294" name="Google Shape;294;p42"/>
          <p:cNvSpPr txBox="1"/>
          <p:nvPr>
            <p:ph idx="1" type="subTitle"/>
          </p:nvPr>
        </p:nvSpPr>
        <p:spPr>
          <a:xfrm>
            <a:off x="311727" y="1104623"/>
            <a:ext cx="6858000" cy="3451200"/>
          </a:xfrm>
          <a:prstGeom prst="rect">
            <a:avLst/>
          </a:prstGeom>
          <a:noFill/>
          <a:ln>
            <a:noFill/>
          </a:ln>
        </p:spPr>
        <p:txBody>
          <a:bodyPr anchorCtr="0" anchor="t" bIns="34275" lIns="68575" spcFirstLastPara="1" rIns="68575" wrap="square" tIns="34275">
            <a:normAutofit/>
          </a:bodyPr>
          <a:lstStyle/>
          <a:p>
            <a:pPr indent="0" lvl="0" marL="457200" rtl="0" algn="just">
              <a:lnSpc>
                <a:spcPct val="140000"/>
              </a:lnSpc>
              <a:spcBef>
                <a:spcPts val="800"/>
              </a:spcBef>
              <a:spcAft>
                <a:spcPts val="0"/>
              </a:spcAft>
              <a:buNone/>
            </a:pPr>
            <a:r>
              <a:t/>
            </a:r>
            <a:endParaRPr sz="1400">
              <a:latin typeface="Arvo"/>
              <a:ea typeface="Arvo"/>
              <a:cs typeface="Arvo"/>
              <a:sym typeface="Arvo"/>
            </a:endParaRPr>
          </a:p>
          <a:p>
            <a:pPr indent="0" lvl="0" marL="457200" rtl="0" algn="just">
              <a:lnSpc>
                <a:spcPct val="140000"/>
              </a:lnSpc>
              <a:spcBef>
                <a:spcPts val="800"/>
              </a:spcBef>
              <a:spcAft>
                <a:spcPts val="0"/>
              </a:spcAft>
              <a:buNone/>
            </a:pPr>
            <a:r>
              <a:t/>
            </a:r>
            <a:endParaRPr sz="1400">
              <a:latin typeface="Arvo"/>
              <a:ea typeface="Arvo"/>
              <a:cs typeface="Arvo"/>
              <a:sym typeface="Arvo"/>
            </a:endParaRPr>
          </a:p>
          <a:p>
            <a:pPr indent="-317500" lvl="0" marL="457200" rtl="0" algn="just">
              <a:lnSpc>
                <a:spcPct val="140000"/>
              </a:lnSpc>
              <a:spcBef>
                <a:spcPts val="800"/>
              </a:spcBef>
              <a:spcAft>
                <a:spcPts val="0"/>
              </a:spcAft>
              <a:buSzPts val="1400"/>
              <a:buFont typeface="Arvo"/>
              <a:buChar char="●"/>
            </a:pPr>
            <a:r>
              <a:rPr lang="en" sz="1400">
                <a:latin typeface="Arvo"/>
                <a:ea typeface="Arvo"/>
                <a:cs typeface="Arvo"/>
                <a:sym typeface="Arvo"/>
              </a:rPr>
              <a:t>Sequence diagrams in UML show how objects interact with each other and the order those interactions occur</a:t>
            </a:r>
            <a:endParaRPr sz="1400">
              <a:latin typeface="Arvo"/>
              <a:ea typeface="Arvo"/>
              <a:cs typeface="Arvo"/>
              <a:sym typeface="Arvo"/>
            </a:endParaRPr>
          </a:p>
          <a:p>
            <a:pPr indent="-317500" lvl="0" marL="457200" rtl="0" algn="just">
              <a:lnSpc>
                <a:spcPct val="140000"/>
              </a:lnSpc>
              <a:spcBef>
                <a:spcPts val="0"/>
              </a:spcBef>
              <a:spcAft>
                <a:spcPts val="0"/>
              </a:spcAft>
              <a:buSzPts val="1400"/>
              <a:buFont typeface="Arvo"/>
              <a:buChar char="●"/>
            </a:pPr>
            <a:r>
              <a:rPr lang="en" sz="1400">
                <a:latin typeface="Arvo"/>
                <a:ea typeface="Arvo"/>
                <a:cs typeface="Arvo"/>
                <a:sym typeface="Arvo"/>
              </a:rPr>
              <a:t>It’s important to note that they show the interactions for a particular scenario</a:t>
            </a:r>
            <a:endParaRPr sz="1400">
              <a:latin typeface="Arvo"/>
              <a:ea typeface="Arvo"/>
              <a:cs typeface="Arvo"/>
              <a:sym typeface="Arvo"/>
            </a:endParaRPr>
          </a:p>
          <a:p>
            <a:pPr indent="-317500" lvl="0" marL="457200" rtl="0" algn="just">
              <a:lnSpc>
                <a:spcPct val="140000"/>
              </a:lnSpc>
              <a:spcBef>
                <a:spcPts val="0"/>
              </a:spcBef>
              <a:spcAft>
                <a:spcPts val="0"/>
              </a:spcAft>
              <a:buSzPts val="1400"/>
              <a:buFont typeface="Arvo"/>
              <a:buChar char="●"/>
            </a:pPr>
            <a:r>
              <a:rPr lang="en" sz="1400">
                <a:latin typeface="Arvo"/>
                <a:ea typeface="Arvo"/>
                <a:cs typeface="Arvo"/>
                <a:sym typeface="Arvo"/>
              </a:rPr>
              <a:t>The processes are represented vertically and interactions are shown as arrows</a:t>
            </a:r>
            <a:endParaRPr sz="1400">
              <a:latin typeface="Arvo"/>
              <a:ea typeface="Arvo"/>
              <a:cs typeface="Arvo"/>
              <a:sym typeface="Arvo"/>
            </a:endParaRPr>
          </a:p>
        </p:txBody>
      </p:sp>
      <p:pic>
        <p:nvPicPr>
          <p:cNvPr id="295" name="Google Shape;295;p42"/>
          <p:cNvPicPr preferRelativeResize="0"/>
          <p:nvPr/>
        </p:nvPicPr>
        <p:blipFill rotWithShape="1">
          <a:blip r:embed="rId3">
            <a:alphaModFix/>
          </a:blip>
          <a:srcRect b="0" l="0" r="0" t="0"/>
          <a:stretch/>
        </p:blipFill>
        <p:spPr>
          <a:xfrm>
            <a:off x="6456002" y="137435"/>
            <a:ext cx="2491151" cy="1331925"/>
          </a:xfrm>
          <a:prstGeom prst="rect">
            <a:avLst/>
          </a:prstGeom>
          <a:noFill/>
          <a:ln>
            <a:noFill/>
          </a:ln>
        </p:spPr>
      </p:pic>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94">
                                            <p:txEl>
                                              <p:pRg end="0" st="0"/>
                                            </p:txEl>
                                          </p:spTgt>
                                        </p:tgtEl>
                                        <p:attrNameLst>
                                          <p:attrName>style.visibility</p:attrName>
                                        </p:attrNameLst>
                                      </p:cBhvr>
                                      <p:to>
                                        <p:strVal val="visible"/>
                                      </p:to>
                                    </p:set>
                                    <p:animEffect filter="fade" transition="in">
                                      <p:cBhvr>
                                        <p:cTn dur="500"/>
                                        <p:tgtEl>
                                          <p:spTgt spid="294">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294">
                                            <p:txEl>
                                              <p:pRg end="1" st="1"/>
                                            </p:txEl>
                                          </p:spTgt>
                                        </p:tgtEl>
                                        <p:attrNameLst>
                                          <p:attrName>style.visibility</p:attrName>
                                        </p:attrNameLst>
                                      </p:cBhvr>
                                      <p:to>
                                        <p:strVal val="visible"/>
                                      </p:to>
                                    </p:set>
                                    <p:animEffect filter="fade" transition="in">
                                      <p:cBhvr>
                                        <p:cTn dur="500"/>
                                        <p:tgtEl>
                                          <p:spTgt spid="294">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294">
                                            <p:txEl>
                                              <p:pRg end="2" st="2"/>
                                            </p:txEl>
                                          </p:spTgt>
                                        </p:tgtEl>
                                        <p:attrNameLst>
                                          <p:attrName>style.visibility</p:attrName>
                                        </p:attrNameLst>
                                      </p:cBhvr>
                                      <p:to>
                                        <p:strVal val="visible"/>
                                      </p:to>
                                    </p:set>
                                    <p:animEffect filter="fade" transition="in">
                                      <p:cBhvr>
                                        <p:cTn dur="500"/>
                                        <p:tgtEl>
                                          <p:spTgt spid="294">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294">
                                            <p:txEl>
                                              <p:pRg end="3" st="3"/>
                                            </p:txEl>
                                          </p:spTgt>
                                        </p:tgtEl>
                                        <p:attrNameLst>
                                          <p:attrName>style.visibility</p:attrName>
                                        </p:attrNameLst>
                                      </p:cBhvr>
                                      <p:to>
                                        <p:strVal val="visible"/>
                                      </p:to>
                                    </p:set>
                                    <p:animEffect filter="fade" transition="in">
                                      <p:cBhvr>
                                        <p:cTn dur="500"/>
                                        <p:tgtEl>
                                          <p:spTgt spid="294">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294">
                                            <p:txEl>
                                              <p:pRg end="4" st="4"/>
                                            </p:txEl>
                                          </p:spTgt>
                                        </p:tgtEl>
                                        <p:attrNameLst>
                                          <p:attrName>style.visibility</p:attrName>
                                        </p:attrNameLst>
                                      </p:cBhvr>
                                      <p:to>
                                        <p:strVal val="visible"/>
                                      </p:to>
                                    </p:set>
                                    <p:animEffect filter="fade" transition="in">
                                      <p:cBhvr>
                                        <p:cTn dur="500"/>
                                        <p:tgtEl>
                                          <p:spTgt spid="294">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pic>
        <p:nvPicPr>
          <p:cNvPr id="300" name="Google Shape;300;p43"/>
          <p:cNvPicPr preferRelativeResize="0"/>
          <p:nvPr/>
        </p:nvPicPr>
        <p:blipFill rotWithShape="1">
          <a:blip r:embed="rId3">
            <a:alphaModFix/>
          </a:blip>
          <a:srcRect b="0" l="0" r="0" t="0"/>
          <a:stretch/>
        </p:blipFill>
        <p:spPr>
          <a:xfrm>
            <a:off x="727275" y="304800"/>
            <a:ext cx="5292327" cy="4838699"/>
          </a:xfrm>
          <a:prstGeom prst="rect">
            <a:avLst/>
          </a:prstGeom>
          <a:noFill/>
          <a:ln>
            <a:noFill/>
          </a:ln>
        </p:spPr>
      </p:pic>
      <p:pic>
        <p:nvPicPr>
          <p:cNvPr id="301" name="Google Shape;301;p43"/>
          <p:cNvPicPr preferRelativeResize="0"/>
          <p:nvPr/>
        </p:nvPicPr>
        <p:blipFill rotWithShape="1">
          <a:blip r:embed="rId4">
            <a:alphaModFix/>
          </a:blip>
          <a:srcRect b="0" l="0" r="0" t="0"/>
          <a:stretch/>
        </p:blipFill>
        <p:spPr>
          <a:xfrm>
            <a:off x="6456002" y="137435"/>
            <a:ext cx="2491151" cy="1331925"/>
          </a:xfrm>
          <a:prstGeom prst="rect">
            <a:avLst/>
          </a:prstGeom>
          <a:noFill/>
          <a:ln>
            <a:noFill/>
          </a:ln>
        </p:spPr>
      </p:pic>
    </p:spTree>
  </p:cSld>
  <p:clrMapOvr>
    <a:masterClrMapping/>
  </p:clrMapOvr>
  <p:transition spd="med">
    <p:push/>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pic>
        <p:nvPicPr>
          <p:cNvPr id="306" name="Google Shape;306;p44"/>
          <p:cNvPicPr preferRelativeResize="0"/>
          <p:nvPr/>
        </p:nvPicPr>
        <p:blipFill rotWithShape="1">
          <a:blip r:embed="rId3">
            <a:alphaModFix/>
          </a:blip>
          <a:srcRect b="0" l="0" r="0" t="0"/>
          <a:stretch/>
        </p:blipFill>
        <p:spPr>
          <a:xfrm>
            <a:off x="-1" y="-1"/>
            <a:ext cx="9144000" cy="5143501"/>
          </a:xfrm>
          <a:prstGeom prst="rect">
            <a:avLst/>
          </a:prstGeom>
          <a:noFill/>
          <a:ln>
            <a:noFill/>
          </a:ln>
        </p:spPr>
      </p:pic>
      <p:sp>
        <p:nvSpPr>
          <p:cNvPr id="307" name="Google Shape;307;p44"/>
          <p:cNvSpPr txBox="1"/>
          <p:nvPr>
            <p:ph idx="12" type="sldNum"/>
          </p:nvPr>
        </p:nvSpPr>
        <p:spPr>
          <a:xfrm>
            <a:off x="6354343" y="3497413"/>
            <a:ext cx="411600" cy="2952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None/>
            </a:pPr>
            <a:fld id="{00000000-1234-1234-1234-123412341234}" type="slidenum">
              <a:rPr lang="en"/>
              <a:t>‹#›</a:t>
            </a:fld>
            <a:endParaRPr/>
          </a:p>
        </p:txBody>
      </p:sp>
      <p:sp>
        <p:nvSpPr>
          <p:cNvPr id="308" name="Google Shape;308;p44"/>
          <p:cNvSpPr txBox="1"/>
          <p:nvPr/>
        </p:nvSpPr>
        <p:spPr>
          <a:xfrm>
            <a:off x="3756040" y="1449977"/>
            <a:ext cx="1299000" cy="5001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Lato Black"/>
                <a:ea typeface="Lato Black"/>
                <a:cs typeface="Lato Black"/>
                <a:sym typeface="Lato Black"/>
              </a:rPr>
              <a:t>Any Questions</a:t>
            </a:r>
            <a:endParaRPr b="0" i="0" sz="1400" u="none" cap="none" strike="noStrike">
              <a:solidFill>
                <a:schemeClr val="dk1"/>
              </a:solidFill>
              <a:latin typeface="Lato Black"/>
              <a:ea typeface="Lato Black"/>
              <a:cs typeface="Lato Black"/>
              <a:sym typeface="Lato Black"/>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5"/>
          <p:cNvSpPr txBox="1"/>
          <p:nvPr>
            <p:ph type="ctrTitle"/>
          </p:nvPr>
        </p:nvSpPr>
        <p:spPr>
          <a:xfrm>
            <a:off x="311727" y="538617"/>
            <a:ext cx="6234600" cy="342600"/>
          </a:xfrm>
          <a:prstGeom prst="rect">
            <a:avLst/>
          </a:prstGeom>
          <a:noFill/>
          <a:ln>
            <a:noFill/>
          </a:ln>
        </p:spPr>
        <p:txBody>
          <a:bodyPr anchorCtr="0" anchor="b" bIns="34275" lIns="68575" spcFirstLastPara="1" rIns="68575" wrap="square" tIns="34275">
            <a:noAutofit/>
          </a:bodyPr>
          <a:lstStyle/>
          <a:p>
            <a:pPr indent="0" lvl="0" marL="0" rtl="0" algn="l">
              <a:lnSpc>
                <a:spcPct val="90000"/>
              </a:lnSpc>
              <a:spcBef>
                <a:spcPts val="0"/>
              </a:spcBef>
              <a:spcAft>
                <a:spcPts val="0"/>
              </a:spcAft>
              <a:buClr>
                <a:schemeClr val="dk1"/>
              </a:buClr>
              <a:buSzPts val="2100"/>
              <a:buFont typeface="Lato Black"/>
              <a:buNone/>
            </a:pPr>
            <a:r>
              <a:rPr lang="en" sz="2100">
                <a:latin typeface="Lato Black"/>
                <a:ea typeface="Lato Black"/>
                <a:cs typeface="Lato Black"/>
                <a:sym typeface="Lato Black"/>
              </a:rPr>
              <a:t>Before you come for Lab, Research!!</a:t>
            </a:r>
            <a:endParaRPr sz="2100">
              <a:latin typeface="Lato Black"/>
              <a:ea typeface="Lato Black"/>
              <a:cs typeface="Lato Black"/>
              <a:sym typeface="Lato Black"/>
            </a:endParaRPr>
          </a:p>
        </p:txBody>
      </p:sp>
      <p:sp>
        <p:nvSpPr>
          <p:cNvPr id="314" name="Google Shape;314;p45"/>
          <p:cNvSpPr txBox="1"/>
          <p:nvPr>
            <p:ph idx="1" type="subTitle"/>
          </p:nvPr>
        </p:nvSpPr>
        <p:spPr>
          <a:xfrm>
            <a:off x="311727" y="1104622"/>
            <a:ext cx="6858000" cy="3734100"/>
          </a:xfrm>
          <a:prstGeom prst="rect">
            <a:avLst/>
          </a:prstGeom>
          <a:noFill/>
          <a:ln>
            <a:noFill/>
          </a:ln>
        </p:spPr>
        <p:txBody>
          <a:bodyPr anchorCtr="0" anchor="t" bIns="34275" lIns="68575" spcFirstLastPara="1" rIns="68575" wrap="square" tIns="34275">
            <a:normAutofit/>
          </a:bodyPr>
          <a:lstStyle/>
          <a:p>
            <a:pPr indent="-317500" lvl="0" marL="457200" rtl="0" algn="l">
              <a:lnSpc>
                <a:spcPct val="150000"/>
              </a:lnSpc>
              <a:spcBef>
                <a:spcPts val="1000"/>
              </a:spcBef>
              <a:spcAft>
                <a:spcPts val="0"/>
              </a:spcAft>
              <a:buSzPts val="1400"/>
              <a:buFont typeface="Arvo"/>
              <a:buChar char="•"/>
            </a:pPr>
            <a:r>
              <a:rPr lang="en" sz="1400" u="sng">
                <a:solidFill>
                  <a:schemeClr val="hlink"/>
                </a:solidFill>
                <a:latin typeface="Arvo"/>
                <a:ea typeface="Arvo"/>
                <a:cs typeface="Arvo"/>
                <a:sym typeface="Arvo"/>
                <a:hlinkClick r:id="rId3"/>
              </a:rPr>
              <a:t>UML Diagrams - Javatpoint</a:t>
            </a:r>
            <a:endParaRPr sz="1400">
              <a:latin typeface="Arvo"/>
              <a:ea typeface="Arvo"/>
              <a:cs typeface="Arvo"/>
              <a:sym typeface="Arvo"/>
            </a:endParaRPr>
          </a:p>
          <a:p>
            <a:pPr indent="-317500" lvl="0" marL="457200" rtl="0" algn="l">
              <a:lnSpc>
                <a:spcPct val="150000"/>
              </a:lnSpc>
              <a:spcBef>
                <a:spcPts val="1000"/>
              </a:spcBef>
              <a:spcAft>
                <a:spcPts val="0"/>
              </a:spcAft>
              <a:buSzPts val="1400"/>
              <a:buFont typeface="Arvo"/>
              <a:buChar char="•"/>
            </a:pPr>
            <a:r>
              <a:rPr lang="en" sz="1400" u="sng">
                <a:solidFill>
                  <a:schemeClr val="hlink"/>
                </a:solidFill>
                <a:latin typeface="Arvo"/>
                <a:ea typeface="Arvo"/>
                <a:cs typeface="Arvo"/>
                <a:sym typeface="Arvo"/>
                <a:hlinkClick r:id="rId4"/>
              </a:rPr>
              <a:t>UML Diagram - Everything You Need to Know About UML Diagrams (smartdraw.com)</a:t>
            </a:r>
            <a:endParaRPr sz="1400">
              <a:latin typeface="Arvo"/>
              <a:ea typeface="Arvo"/>
              <a:cs typeface="Arvo"/>
              <a:sym typeface="Arvo"/>
            </a:endParaRPr>
          </a:p>
          <a:p>
            <a:pPr indent="-317500" lvl="0" marL="457200" rtl="0" algn="l">
              <a:lnSpc>
                <a:spcPct val="150000"/>
              </a:lnSpc>
              <a:spcBef>
                <a:spcPts val="1000"/>
              </a:spcBef>
              <a:spcAft>
                <a:spcPts val="0"/>
              </a:spcAft>
              <a:buSzPts val="1400"/>
              <a:buFont typeface="Arvo"/>
              <a:buChar char="•"/>
            </a:pPr>
            <a:r>
              <a:rPr lang="en" sz="1400" u="sng">
                <a:solidFill>
                  <a:schemeClr val="accent5"/>
                </a:solidFill>
                <a:latin typeface="Arvo"/>
                <a:ea typeface="Arvo"/>
                <a:cs typeface="Arvo"/>
                <a:sym typeface="Arvo"/>
                <a:hlinkClick r:id="rId5">
                  <a:extLst>
                    <a:ext uri="{A12FA001-AC4F-418D-AE19-62706E023703}">
                      <ahyp:hlinkClr val="tx"/>
                    </a:ext>
                  </a:extLst>
                </a:hlinkClick>
              </a:rPr>
              <a:t>UML Diagram Types | Learn About All 14 Types of UML Diagrams (creately.com)</a:t>
            </a:r>
            <a:endParaRPr sz="1400">
              <a:latin typeface="Arvo"/>
              <a:ea typeface="Arvo"/>
              <a:cs typeface="Arvo"/>
              <a:sym typeface="Arvo"/>
            </a:endParaRPr>
          </a:p>
          <a:p>
            <a:pPr indent="-317500" lvl="0" marL="457200" rtl="0" algn="l">
              <a:lnSpc>
                <a:spcPct val="150000"/>
              </a:lnSpc>
              <a:spcBef>
                <a:spcPts val="1000"/>
              </a:spcBef>
              <a:spcAft>
                <a:spcPts val="0"/>
              </a:spcAft>
              <a:buSzPts val="1400"/>
              <a:buFont typeface="Arvo"/>
              <a:buChar char="•"/>
            </a:pPr>
            <a:r>
              <a:rPr lang="en" sz="1400" u="sng">
                <a:solidFill>
                  <a:schemeClr val="hlink"/>
                </a:solidFill>
                <a:latin typeface="Arvo"/>
                <a:ea typeface="Arvo"/>
                <a:cs typeface="Arvo"/>
                <a:sym typeface="Arvo"/>
                <a:hlinkClick r:id="rId6"/>
              </a:rPr>
              <a:t>UML - Standard Diagrams - Tutorialspoint</a:t>
            </a:r>
            <a:endParaRPr sz="1400">
              <a:latin typeface="Arvo"/>
              <a:ea typeface="Arvo"/>
              <a:cs typeface="Arvo"/>
              <a:sym typeface="Arvo"/>
            </a:endParaRPr>
          </a:p>
        </p:txBody>
      </p:sp>
      <p:pic>
        <p:nvPicPr>
          <p:cNvPr id="315" name="Google Shape;315;p45"/>
          <p:cNvPicPr preferRelativeResize="0"/>
          <p:nvPr/>
        </p:nvPicPr>
        <p:blipFill rotWithShape="1">
          <a:blip r:embed="rId7">
            <a:alphaModFix/>
          </a:blip>
          <a:srcRect b="0" l="0" r="0" t="0"/>
          <a:stretch/>
        </p:blipFill>
        <p:spPr>
          <a:xfrm>
            <a:off x="6456002" y="137435"/>
            <a:ext cx="2491151" cy="1331925"/>
          </a:xfrm>
          <a:prstGeom prst="rect">
            <a:avLst/>
          </a:prstGeom>
          <a:noFill/>
          <a:ln>
            <a:noFill/>
          </a:ln>
        </p:spPr>
      </p:pic>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14">
                                            <p:txEl>
                                              <p:pRg end="0" st="0"/>
                                            </p:txEl>
                                          </p:spTgt>
                                        </p:tgtEl>
                                        <p:attrNameLst>
                                          <p:attrName>style.visibility</p:attrName>
                                        </p:attrNameLst>
                                      </p:cBhvr>
                                      <p:to>
                                        <p:strVal val="visible"/>
                                      </p:to>
                                    </p:set>
                                    <p:animEffect filter="fade" transition="in">
                                      <p:cBhvr>
                                        <p:cTn dur="500"/>
                                        <p:tgtEl>
                                          <p:spTgt spid="314">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314">
                                            <p:txEl>
                                              <p:pRg end="1" st="1"/>
                                            </p:txEl>
                                          </p:spTgt>
                                        </p:tgtEl>
                                        <p:attrNameLst>
                                          <p:attrName>style.visibility</p:attrName>
                                        </p:attrNameLst>
                                      </p:cBhvr>
                                      <p:to>
                                        <p:strVal val="visible"/>
                                      </p:to>
                                    </p:set>
                                    <p:animEffect filter="fade" transition="in">
                                      <p:cBhvr>
                                        <p:cTn dur="500"/>
                                        <p:tgtEl>
                                          <p:spTgt spid="314">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314">
                                            <p:txEl>
                                              <p:pRg end="2" st="2"/>
                                            </p:txEl>
                                          </p:spTgt>
                                        </p:tgtEl>
                                        <p:attrNameLst>
                                          <p:attrName>style.visibility</p:attrName>
                                        </p:attrNameLst>
                                      </p:cBhvr>
                                      <p:to>
                                        <p:strVal val="visible"/>
                                      </p:to>
                                    </p:set>
                                    <p:animEffect filter="fade" transition="in">
                                      <p:cBhvr>
                                        <p:cTn dur="500"/>
                                        <p:tgtEl>
                                          <p:spTgt spid="314">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314">
                                            <p:txEl>
                                              <p:pRg end="3" st="3"/>
                                            </p:txEl>
                                          </p:spTgt>
                                        </p:tgtEl>
                                        <p:attrNameLst>
                                          <p:attrName>style.visibility</p:attrName>
                                        </p:attrNameLst>
                                      </p:cBhvr>
                                      <p:to>
                                        <p:strVal val="visible"/>
                                      </p:to>
                                    </p:set>
                                    <p:animEffect filter="fade" transition="in">
                                      <p:cBhvr>
                                        <p:cTn dur="500"/>
                                        <p:tgtEl>
                                          <p:spTgt spid="314">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pic>
        <p:nvPicPr>
          <p:cNvPr id="320" name="Google Shape;320;p46"/>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mc:AlternateContent>
    <mc:Choice Requires="p14">
      <p:transition spd="slow" p14:dur="4000">
        <p:fade thruBlk="1"/>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