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oboto"/>
      <p:regular r:id="rId48"/>
      <p:bold r:id="rId49"/>
      <p:italic r:id="rId50"/>
      <p:boldItalic r:id="rId51"/>
    </p:embeddedFont>
    <p:embeddedFont>
      <p:font typeface="Arvo"/>
      <p:regular r:id="rId52"/>
      <p:bold r:id="rId53"/>
      <p:italic r:id="rId54"/>
      <p:boldItalic r:id="rId55"/>
    </p:embeddedFont>
    <p:embeddedFont>
      <p:font typeface="Lato Black"/>
      <p:bold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slide" Target="slides/slide42.xml"/><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Arvo-bold.fntdata"/><Relationship Id="rId52" Type="http://schemas.openxmlformats.org/officeDocument/2006/relationships/font" Target="fonts/Arvo-regular.fntdata"/><Relationship Id="rId11" Type="http://schemas.openxmlformats.org/officeDocument/2006/relationships/slide" Target="slides/slide6.xml"/><Relationship Id="rId55" Type="http://schemas.openxmlformats.org/officeDocument/2006/relationships/font" Target="fonts/Arvo-boldItalic.fntdata"/><Relationship Id="rId10" Type="http://schemas.openxmlformats.org/officeDocument/2006/relationships/slide" Target="slides/slide5.xml"/><Relationship Id="rId54" Type="http://schemas.openxmlformats.org/officeDocument/2006/relationships/font" Target="fonts/Arvo-italic.fntdata"/><Relationship Id="rId13" Type="http://schemas.openxmlformats.org/officeDocument/2006/relationships/slide" Target="slides/slide8.xml"/><Relationship Id="rId57" Type="http://schemas.openxmlformats.org/officeDocument/2006/relationships/font" Target="fonts/LatoBlack-boldItalic.fntdata"/><Relationship Id="rId12" Type="http://schemas.openxmlformats.org/officeDocument/2006/relationships/slide" Target="slides/slide7.xml"/><Relationship Id="rId56" Type="http://schemas.openxmlformats.org/officeDocument/2006/relationships/font" Target="fonts/LatoBlack-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6b4f8e2c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16b4f8e2c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16b4f8e2cd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16b4f8e2cd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6b4f8e2cd_0_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16b4f8e2cd_0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6b4f8e2cd_0_2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16b4f8e2cd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46b67dda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1846b67dda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846b67dda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1846b67dda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d304b415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1d304b415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d304b4157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1d304b4157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d304b4157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1d304b415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8b4b633be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18b4b633b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8b4b633be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18b4b633be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8b4b633b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18b4b633b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8b4b633be_0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18b4b633be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18b4b633be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18b4b633be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18b4b633be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18b4b633be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8b4b633be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18b4b633be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8b4b633be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18b4b633be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18b4b633be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18b4b633be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8b4b633be_0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18b4b633be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8b4b633be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18b4b633be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8b4b633be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318b4b633be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8b4b633be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18b4b633be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19584f130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319584f13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19584f1306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19584f130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19584f1306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19584f1306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19584f1306_0_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g319584f1306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19584f1306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19584f1306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9584f1306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19584f1306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19584f1306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319584f1306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19584f1306_0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19584f1306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19584f1306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319584f1306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19f2546e2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319f2546e2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9f2546e26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319f2546e26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19f2546e26_0_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g319f2546e26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19f2546e26_0_7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g319f2546e26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19f2546e26_0_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19f2546e26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19f2546e26_0_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19f2546e26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19f2546e26_0_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19f2546e26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9f2546e26_0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319f2546e26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19f2546e26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319f2546e26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19f2546e26_0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g319f2546e26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19f2546e26_0_2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g319f2546e26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1">
    <p:spTree>
      <p:nvGrpSpPr>
        <p:cNvPr id="50" name="Shape 50"/>
        <p:cNvGrpSpPr/>
        <p:nvPr/>
      </p:nvGrpSpPr>
      <p:grpSpPr>
        <a:xfrm>
          <a:off x="0" y="0"/>
          <a:ext cx="0" cy="0"/>
          <a:chOff x="0" y="0"/>
          <a:chExt cx="0" cy="0"/>
        </a:xfrm>
      </p:grpSpPr>
      <p:sp>
        <p:nvSpPr>
          <p:cNvPr id="51" name="Google Shape;51;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 name="Google Shape;52;p13"/>
          <p:cNvSpPr txBox="1"/>
          <p:nvPr>
            <p:ph idx="2" type="title"/>
          </p:nvPr>
        </p:nvSpPr>
        <p:spPr>
          <a:xfrm>
            <a:off x="937625"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3" name="Google Shape;53;p13"/>
          <p:cNvSpPr txBox="1"/>
          <p:nvPr>
            <p:ph idx="1" type="subTitle"/>
          </p:nvPr>
        </p:nvSpPr>
        <p:spPr>
          <a:xfrm>
            <a:off x="937625"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4" name="Google Shape;54;p13"/>
          <p:cNvSpPr txBox="1"/>
          <p:nvPr>
            <p:ph idx="3" type="title"/>
          </p:nvPr>
        </p:nvSpPr>
        <p:spPr>
          <a:xfrm>
            <a:off x="3484346"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5" name="Google Shape;55;p13"/>
          <p:cNvSpPr txBox="1"/>
          <p:nvPr>
            <p:ph idx="4" type="subTitle"/>
          </p:nvPr>
        </p:nvSpPr>
        <p:spPr>
          <a:xfrm>
            <a:off x="3484346"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6" name="Google Shape;56;p13"/>
          <p:cNvSpPr txBox="1"/>
          <p:nvPr>
            <p:ph idx="5" type="title"/>
          </p:nvPr>
        </p:nvSpPr>
        <p:spPr>
          <a:xfrm>
            <a:off x="6031073"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7" name="Google Shape;57;p13"/>
          <p:cNvSpPr txBox="1"/>
          <p:nvPr>
            <p:ph idx="6" type="subTitle"/>
          </p:nvPr>
        </p:nvSpPr>
        <p:spPr>
          <a:xfrm>
            <a:off x="6031073"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8" name="Google Shape;58;p13"/>
          <p:cNvSpPr txBox="1"/>
          <p:nvPr>
            <p:ph idx="7" type="title"/>
          </p:nvPr>
        </p:nvSpPr>
        <p:spPr>
          <a:xfrm>
            <a:off x="1657925"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9" name="Google Shape;59;p13"/>
          <p:cNvSpPr txBox="1"/>
          <p:nvPr>
            <p:ph idx="8" type="title"/>
          </p:nvPr>
        </p:nvSpPr>
        <p:spPr>
          <a:xfrm>
            <a:off x="4204646"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 name="Google Shape;60;p13"/>
          <p:cNvSpPr txBox="1"/>
          <p:nvPr>
            <p:ph idx="9" type="title"/>
          </p:nvPr>
        </p:nvSpPr>
        <p:spPr>
          <a:xfrm>
            <a:off x="6751373"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jpg"/><Relationship Id="rId4" Type="http://schemas.openxmlformats.org/officeDocument/2006/relationships/image" Target="../media/image9.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jpg"/><Relationship Id="rId4" Type="http://schemas.openxmlformats.org/officeDocument/2006/relationships/image" Target="../media/image9.png"/><Relationship Id="rId5"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3142500" y="834697"/>
            <a:ext cx="2859000" cy="2759100"/>
          </a:xfrm>
          <a:prstGeom prst="ellipse">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 name="Google Shape;66;p14"/>
          <p:cNvSpPr txBox="1"/>
          <p:nvPr>
            <p:ph type="ctrTitle"/>
          </p:nvPr>
        </p:nvSpPr>
        <p:spPr>
          <a:xfrm>
            <a:off x="3142500" y="1499096"/>
            <a:ext cx="2859000" cy="11181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r>
              <a:rPr lang="en" sz="4800">
                <a:solidFill>
                  <a:schemeClr val="lt1"/>
                </a:solidFill>
                <a:latin typeface="Arial"/>
                <a:ea typeface="Arial"/>
                <a:cs typeface="Arial"/>
                <a:sym typeface="Arial"/>
              </a:rPr>
              <a:t>WEE</a:t>
            </a:r>
            <a:r>
              <a:rPr lang="en" sz="4800">
                <a:solidFill>
                  <a:schemeClr val="lt1"/>
                </a:solidFill>
              </a:rPr>
              <a:t>K 4</a:t>
            </a:r>
            <a:endParaRPr sz="4800">
              <a:solidFill>
                <a:schemeClr val="lt1"/>
              </a:solidFill>
            </a:endParaRPr>
          </a:p>
        </p:txBody>
      </p:sp>
      <p:grpSp>
        <p:nvGrpSpPr>
          <p:cNvPr id="67" name="Google Shape;67;p14"/>
          <p:cNvGrpSpPr/>
          <p:nvPr/>
        </p:nvGrpSpPr>
        <p:grpSpPr>
          <a:xfrm>
            <a:off x="6407875" y="359340"/>
            <a:ext cx="2582400" cy="289350"/>
            <a:chOff x="6967625" y="394825"/>
            <a:chExt cx="2582400" cy="289350"/>
          </a:xfrm>
        </p:grpSpPr>
        <p:sp>
          <p:nvSpPr>
            <p:cNvPr id="68" name="Google Shape;68;p14"/>
            <p:cNvSpPr/>
            <p:nvPr/>
          </p:nvSpPr>
          <p:spPr>
            <a:xfrm rot="-5400000">
              <a:off x="6967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9" name="Google Shape;69;p14"/>
            <p:cNvSpPr/>
            <p:nvPr/>
          </p:nvSpPr>
          <p:spPr>
            <a:xfrm rot="-5400000">
              <a:off x="6967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0" name="Google Shape;70;p14"/>
            <p:cNvSpPr/>
            <p:nvPr/>
          </p:nvSpPr>
          <p:spPr>
            <a:xfrm rot="-5400000">
              <a:off x="7158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1" name="Google Shape;71;p14"/>
            <p:cNvSpPr/>
            <p:nvPr/>
          </p:nvSpPr>
          <p:spPr>
            <a:xfrm rot="-5400000">
              <a:off x="7158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2" name="Google Shape;72;p14"/>
            <p:cNvSpPr/>
            <p:nvPr/>
          </p:nvSpPr>
          <p:spPr>
            <a:xfrm rot="-5400000">
              <a:off x="7348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3" name="Google Shape;73;p14"/>
            <p:cNvSpPr/>
            <p:nvPr/>
          </p:nvSpPr>
          <p:spPr>
            <a:xfrm rot="-5400000">
              <a:off x="7348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4" name="Google Shape;74;p14"/>
            <p:cNvSpPr/>
            <p:nvPr/>
          </p:nvSpPr>
          <p:spPr>
            <a:xfrm rot="-5400000">
              <a:off x="7539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5" name="Google Shape;75;p14"/>
            <p:cNvSpPr/>
            <p:nvPr/>
          </p:nvSpPr>
          <p:spPr>
            <a:xfrm rot="-5400000">
              <a:off x="7539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6" name="Google Shape;76;p14"/>
            <p:cNvSpPr/>
            <p:nvPr/>
          </p:nvSpPr>
          <p:spPr>
            <a:xfrm rot="-5400000">
              <a:off x="7729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7" name="Google Shape;77;p14"/>
            <p:cNvSpPr/>
            <p:nvPr/>
          </p:nvSpPr>
          <p:spPr>
            <a:xfrm rot="-5400000">
              <a:off x="7729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8" name="Google Shape;78;p14"/>
            <p:cNvSpPr/>
            <p:nvPr/>
          </p:nvSpPr>
          <p:spPr>
            <a:xfrm rot="-5400000">
              <a:off x="7920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9" name="Google Shape;79;p14"/>
            <p:cNvSpPr/>
            <p:nvPr/>
          </p:nvSpPr>
          <p:spPr>
            <a:xfrm rot="-5400000">
              <a:off x="7920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0" name="Google Shape;80;p14"/>
            <p:cNvSpPr/>
            <p:nvPr/>
          </p:nvSpPr>
          <p:spPr>
            <a:xfrm rot="-5400000">
              <a:off x="8110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1" name="Google Shape;81;p14"/>
            <p:cNvSpPr/>
            <p:nvPr/>
          </p:nvSpPr>
          <p:spPr>
            <a:xfrm rot="-5400000">
              <a:off x="8110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2" name="Google Shape;82;p14"/>
            <p:cNvSpPr/>
            <p:nvPr/>
          </p:nvSpPr>
          <p:spPr>
            <a:xfrm rot="-5400000">
              <a:off x="8301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3" name="Google Shape;83;p14"/>
            <p:cNvSpPr/>
            <p:nvPr/>
          </p:nvSpPr>
          <p:spPr>
            <a:xfrm rot="-5400000">
              <a:off x="8301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4" name="Google Shape;84;p14"/>
            <p:cNvSpPr/>
            <p:nvPr/>
          </p:nvSpPr>
          <p:spPr>
            <a:xfrm rot="-5400000">
              <a:off x="8491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5" name="Google Shape;85;p14"/>
            <p:cNvSpPr/>
            <p:nvPr/>
          </p:nvSpPr>
          <p:spPr>
            <a:xfrm rot="-5400000">
              <a:off x="8491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6" name="Google Shape;86;p14"/>
            <p:cNvSpPr/>
            <p:nvPr/>
          </p:nvSpPr>
          <p:spPr>
            <a:xfrm rot="-5400000">
              <a:off x="8682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7" name="Google Shape;87;p14"/>
            <p:cNvSpPr/>
            <p:nvPr/>
          </p:nvSpPr>
          <p:spPr>
            <a:xfrm rot="-5400000">
              <a:off x="8682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8" name="Google Shape;88;p14"/>
            <p:cNvSpPr/>
            <p:nvPr/>
          </p:nvSpPr>
          <p:spPr>
            <a:xfrm rot="-5400000">
              <a:off x="8872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9" name="Google Shape;89;p14"/>
            <p:cNvSpPr/>
            <p:nvPr/>
          </p:nvSpPr>
          <p:spPr>
            <a:xfrm rot="-5400000">
              <a:off x="8872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0" name="Google Shape;90;p14"/>
            <p:cNvSpPr/>
            <p:nvPr/>
          </p:nvSpPr>
          <p:spPr>
            <a:xfrm rot="-5400000">
              <a:off x="9063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1" name="Google Shape;91;p14"/>
            <p:cNvSpPr/>
            <p:nvPr/>
          </p:nvSpPr>
          <p:spPr>
            <a:xfrm rot="-5400000">
              <a:off x="9063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2" name="Google Shape;92;p14"/>
            <p:cNvSpPr/>
            <p:nvPr/>
          </p:nvSpPr>
          <p:spPr>
            <a:xfrm rot="-5400000">
              <a:off x="9253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3" name="Google Shape;93;p14"/>
            <p:cNvSpPr/>
            <p:nvPr/>
          </p:nvSpPr>
          <p:spPr>
            <a:xfrm rot="-5400000">
              <a:off x="9253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4" name="Google Shape;94;p14"/>
            <p:cNvSpPr/>
            <p:nvPr/>
          </p:nvSpPr>
          <p:spPr>
            <a:xfrm rot="-5400000">
              <a:off x="9444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95" name="Google Shape;95;p14"/>
            <p:cNvSpPr/>
            <p:nvPr/>
          </p:nvSpPr>
          <p:spPr>
            <a:xfrm rot="-5400000">
              <a:off x="9444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grpSp>
      <p:sp>
        <p:nvSpPr>
          <p:cNvPr id="96" name="Google Shape;96;p14"/>
          <p:cNvSpPr txBox="1"/>
          <p:nvPr>
            <p:ph type="ctrTitle"/>
          </p:nvPr>
        </p:nvSpPr>
        <p:spPr>
          <a:xfrm>
            <a:off x="814500" y="3845916"/>
            <a:ext cx="7515000" cy="1541400"/>
          </a:xfrm>
          <a:prstGeom prst="rect">
            <a:avLst/>
          </a:prstGeom>
          <a:solidFill>
            <a:srgbClr val="FFFFFF"/>
          </a:solid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br>
              <a:rPr b="1" lang="en" sz="1600">
                <a:solidFill>
                  <a:srgbClr val="EC1C24"/>
                </a:solidFill>
                <a:latin typeface="Arial"/>
                <a:ea typeface="Arial"/>
                <a:cs typeface="Arial"/>
                <a:sym typeface="Arial"/>
              </a:rPr>
            </a:br>
            <a:r>
              <a:rPr b="1" lang="en" sz="3200">
                <a:solidFill>
                  <a:srgbClr val="073763"/>
                </a:solidFill>
              </a:rPr>
              <a:t>JavaScript Basic II</a:t>
            </a:r>
            <a:br>
              <a:rPr b="1" lang="en" sz="3200">
                <a:solidFill>
                  <a:srgbClr val="073763"/>
                </a:solidFill>
                <a:latin typeface="Arial"/>
                <a:ea typeface="Arial"/>
                <a:cs typeface="Arial"/>
                <a:sym typeface="Arial"/>
              </a:rPr>
            </a:br>
            <a:br>
              <a:rPr b="1" lang="en" sz="1600">
                <a:solidFill>
                  <a:srgbClr val="EC1C24"/>
                </a:solidFill>
                <a:latin typeface="Arial"/>
                <a:ea typeface="Arial"/>
                <a:cs typeface="Arial"/>
                <a:sym typeface="Arial"/>
              </a:rPr>
            </a:br>
            <a:r>
              <a:rPr b="1" lang="en" sz="1600">
                <a:solidFill>
                  <a:srgbClr val="EC1C24"/>
                </a:solidFill>
                <a:latin typeface="Arial"/>
                <a:ea typeface="Arial"/>
                <a:cs typeface="Arial"/>
                <a:sym typeface="Arial"/>
              </a:rPr>
              <a:t>Level 4</a:t>
            </a:r>
            <a:br>
              <a:rPr b="1" lang="en" sz="1600">
                <a:solidFill>
                  <a:srgbClr val="EC1C24"/>
                </a:solidFill>
                <a:latin typeface="Arial"/>
                <a:ea typeface="Arial"/>
                <a:cs typeface="Arial"/>
                <a:sym typeface="Arial"/>
              </a:rPr>
            </a:br>
            <a:br>
              <a:rPr b="1" lang="en" sz="1600">
                <a:solidFill>
                  <a:srgbClr val="EC1C24"/>
                </a:solidFill>
                <a:latin typeface="Arial"/>
                <a:ea typeface="Arial"/>
                <a:cs typeface="Arial"/>
                <a:sym typeface="Arial"/>
              </a:rPr>
            </a:br>
            <a:r>
              <a:rPr b="1" lang="en" sz="2000">
                <a:solidFill>
                  <a:srgbClr val="EC1C24"/>
                </a:solidFill>
              </a:rPr>
              <a:t>Introduction to Internet Software Architecture</a:t>
            </a:r>
            <a:br>
              <a:rPr b="1" lang="en" sz="3000">
                <a:solidFill>
                  <a:srgbClr val="073763"/>
                </a:solidFill>
                <a:latin typeface="Arial"/>
                <a:ea typeface="Arial"/>
                <a:cs typeface="Arial"/>
                <a:sym typeface="Arial"/>
              </a:rPr>
            </a:br>
            <a:endParaRPr sz="3000">
              <a:solidFill>
                <a:srgbClr val="073763"/>
              </a:solidFill>
            </a:endParaRPr>
          </a:p>
        </p:txBody>
      </p:sp>
      <p:pic>
        <p:nvPicPr>
          <p:cNvPr id="97" name="Google Shape;97;p14"/>
          <p:cNvPicPr preferRelativeResize="0"/>
          <p:nvPr/>
        </p:nvPicPr>
        <p:blipFill rotWithShape="1">
          <a:blip r:embed="rId3">
            <a:alphaModFix/>
          </a:blip>
          <a:srcRect b="0" l="0" r="0" t="0"/>
          <a:stretch/>
        </p:blipFill>
        <p:spPr>
          <a:xfrm>
            <a:off x="579577" y="111260"/>
            <a:ext cx="2491151" cy="133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0000" y="203852"/>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latin typeface="Arial"/>
                <a:ea typeface="Arial"/>
                <a:cs typeface="Arial"/>
                <a:sym typeface="Arial"/>
              </a:rPr>
              <a:t>Week</a:t>
            </a:r>
            <a:r>
              <a:rPr lang="en"/>
              <a:t> 4</a:t>
            </a:r>
            <a:r>
              <a:rPr lang="en">
                <a:latin typeface="Arial"/>
                <a:ea typeface="Arial"/>
                <a:cs typeface="Arial"/>
                <a:sym typeface="Arial"/>
              </a:rPr>
              <a:t> Lecture Topic</a:t>
            </a:r>
            <a:endParaRPr>
              <a:latin typeface="Arial"/>
              <a:ea typeface="Arial"/>
              <a:cs typeface="Arial"/>
              <a:sym typeface="Arial"/>
            </a:endParaRPr>
          </a:p>
        </p:txBody>
      </p:sp>
      <p:cxnSp>
        <p:nvCxnSpPr>
          <p:cNvPr id="103" name="Google Shape;103;p15"/>
          <p:cNvCxnSpPr/>
          <p:nvPr/>
        </p:nvCxnSpPr>
        <p:spPr>
          <a:xfrm>
            <a:off x="780124" y="959283"/>
            <a:ext cx="7732800" cy="0"/>
          </a:xfrm>
          <a:prstGeom prst="straightConnector1">
            <a:avLst/>
          </a:prstGeom>
          <a:noFill/>
          <a:ln cap="flat" cmpd="sng" w="9525">
            <a:solidFill>
              <a:schemeClr val="dk1"/>
            </a:solidFill>
            <a:prstDash val="solid"/>
            <a:round/>
            <a:headEnd len="med" w="med" type="oval"/>
            <a:tailEnd len="med" w="med" type="oval"/>
          </a:ln>
        </p:spPr>
      </p:cxnSp>
      <p:sp>
        <p:nvSpPr>
          <p:cNvPr id="104" name="Google Shape;104;p15"/>
          <p:cNvSpPr txBox="1"/>
          <p:nvPr/>
        </p:nvSpPr>
        <p:spPr>
          <a:xfrm>
            <a:off x="1217527" y="1141998"/>
            <a:ext cx="6858000" cy="3451200"/>
          </a:xfrm>
          <a:prstGeom prst="rect">
            <a:avLst/>
          </a:prstGeom>
          <a:noFill/>
          <a:ln>
            <a:noFill/>
          </a:ln>
        </p:spPr>
        <p:txBody>
          <a:bodyPr anchorCtr="0" anchor="t" bIns="34275" lIns="68575" spcFirstLastPara="1" rIns="68575" wrap="square" tIns="34275">
            <a:normAutofit fontScale="85000" lnSpcReduction="20000"/>
          </a:bodyPr>
          <a:lstStyle/>
          <a:p>
            <a:pPr indent="-249555" lvl="0" marL="254000" rtl="0" algn="l">
              <a:lnSpc>
                <a:spcPct val="150000"/>
              </a:lnSpc>
              <a:spcBef>
                <a:spcPts val="0"/>
              </a:spcBef>
              <a:spcAft>
                <a:spcPts val="0"/>
              </a:spcAft>
              <a:buClr>
                <a:srgbClr val="000000"/>
              </a:buClr>
              <a:buSzPct val="100000"/>
              <a:buChar char="•"/>
            </a:pPr>
            <a:r>
              <a:rPr lang="en" sz="1800">
                <a:solidFill>
                  <a:srgbClr val="595959"/>
                </a:solidFill>
              </a:rPr>
              <a:t>Arrow Function</a:t>
            </a:r>
            <a:endParaRPr sz="1800">
              <a:solidFill>
                <a:srgbClr val="595959"/>
              </a:solidFill>
            </a:endParaRPr>
          </a:p>
          <a:p>
            <a:pPr indent="-249555" lvl="0" marL="254000" rtl="0" algn="l">
              <a:lnSpc>
                <a:spcPct val="150000"/>
              </a:lnSpc>
              <a:spcBef>
                <a:spcPts val="800"/>
              </a:spcBef>
              <a:spcAft>
                <a:spcPts val="0"/>
              </a:spcAft>
              <a:buClr>
                <a:srgbClr val="000000"/>
              </a:buClr>
              <a:buSzPct val="100000"/>
              <a:buChar char="•"/>
            </a:pPr>
            <a:r>
              <a:rPr lang="en" sz="1800">
                <a:solidFill>
                  <a:srgbClr val="595959"/>
                </a:solidFill>
              </a:rPr>
              <a:t>Anonymous Function</a:t>
            </a:r>
            <a:endParaRPr sz="1800">
              <a:solidFill>
                <a:srgbClr val="595959"/>
              </a:solidFill>
            </a:endParaRPr>
          </a:p>
          <a:p>
            <a:pPr indent="-249555" lvl="0" marL="254000" rtl="0" algn="l">
              <a:lnSpc>
                <a:spcPct val="150000"/>
              </a:lnSpc>
              <a:spcBef>
                <a:spcPts val="800"/>
              </a:spcBef>
              <a:spcAft>
                <a:spcPts val="0"/>
              </a:spcAft>
              <a:buClr>
                <a:srgbClr val="000000"/>
              </a:buClr>
              <a:buSzPct val="100000"/>
              <a:buChar char="•"/>
            </a:pPr>
            <a:r>
              <a:rPr lang="en" sz="1800">
                <a:solidFill>
                  <a:srgbClr val="595959"/>
                </a:solidFill>
              </a:rPr>
              <a:t>IIFE (Immediately Invoked Function Expression)</a:t>
            </a:r>
            <a:endParaRPr sz="1800">
              <a:solidFill>
                <a:srgbClr val="595959"/>
              </a:solidFill>
            </a:endParaRPr>
          </a:p>
          <a:p>
            <a:pPr indent="-249555" lvl="0" marL="254000" rtl="0" algn="l">
              <a:lnSpc>
                <a:spcPct val="150000"/>
              </a:lnSpc>
              <a:spcBef>
                <a:spcPts val="800"/>
              </a:spcBef>
              <a:spcAft>
                <a:spcPts val="0"/>
              </a:spcAft>
              <a:buClr>
                <a:srgbClr val="000000"/>
              </a:buClr>
              <a:buSzPct val="100000"/>
              <a:buChar char="•"/>
            </a:pPr>
            <a:r>
              <a:rPr lang="en" sz="1800">
                <a:solidFill>
                  <a:srgbClr val="595959"/>
                </a:solidFill>
              </a:rPr>
              <a:t>Higher Order Function</a:t>
            </a:r>
            <a:endParaRPr sz="1800">
              <a:solidFill>
                <a:srgbClr val="595959"/>
              </a:solidFill>
            </a:endParaRPr>
          </a:p>
          <a:p>
            <a:pPr indent="-274955" lvl="1" marL="596900" rtl="0" algn="l">
              <a:lnSpc>
                <a:spcPct val="150000"/>
              </a:lnSpc>
              <a:spcBef>
                <a:spcPts val="400"/>
              </a:spcBef>
              <a:spcAft>
                <a:spcPts val="0"/>
              </a:spcAft>
              <a:buClr>
                <a:srgbClr val="000000"/>
              </a:buClr>
              <a:buSzPct val="100000"/>
              <a:buChar char="•"/>
            </a:pPr>
            <a:r>
              <a:rPr lang="en" sz="1800">
                <a:solidFill>
                  <a:srgbClr val="595959"/>
                </a:solidFill>
              </a:rPr>
              <a:t>Map</a:t>
            </a:r>
            <a:endParaRPr sz="1800">
              <a:solidFill>
                <a:srgbClr val="595959"/>
              </a:solidFill>
            </a:endParaRPr>
          </a:p>
          <a:p>
            <a:pPr indent="-274955" lvl="1" marL="596900" rtl="0" algn="l">
              <a:lnSpc>
                <a:spcPct val="150000"/>
              </a:lnSpc>
              <a:spcBef>
                <a:spcPts val="400"/>
              </a:spcBef>
              <a:spcAft>
                <a:spcPts val="0"/>
              </a:spcAft>
              <a:buClr>
                <a:srgbClr val="000000"/>
              </a:buClr>
              <a:buSzPct val="100000"/>
              <a:buChar char="•"/>
            </a:pPr>
            <a:r>
              <a:rPr lang="en" sz="1800">
                <a:solidFill>
                  <a:srgbClr val="595959"/>
                </a:solidFill>
              </a:rPr>
              <a:t>Reduce</a:t>
            </a:r>
            <a:endParaRPr sz="1800">
              <a:solidFill>
                <a:srgbClr val="595959"/>
              </a:solidFill>
            </a:endParaRPr>
          </a:p>
          <a:p>
            <a:pPr indent="-274955" lvl="1" marL="596900" rtl="0" algn="l">
              <a:lnSpc>
                <a:spcPct val="150000"/>
              </a:lnSpc>
              <a:spcBef>
                <a:spcPts val="400"/>
              </a:spcBef>
              <a:spcAft>
                <a:spcPts val="0"/>
              </a:spcAft>
              <a:buClr>
                <a:srgbClr val="000000"/>
              </a:buClr>
              <a:buSzPct val="100000"/>
              <a:buChar char="•"/>
            </a:pPr>
            <a:r>
              <a:rPr lang="en" sz="1800">
                <a:solidFill>
                  <a:srgbClr val="595959"/>
                </a:solidFill>
              </a:rPr>
              <a:t>Filter</a:t>
            </a:r>
            <a:endParaRPr sz="1800">
              <a:solidFill>
                <a:srgbClr val="595959"/>
              </a:solidFill>
            </a:endParaRPr>
          </a:p>
          <a:p>
            <a:pPr indent="-249555" lvl="0" marL="254000" rtl="0" algn="l">
              <a:lnSpc>
                <a:spcPct val="150000"/>
              </a:lnSpc>
              <a:spcBef>
                <a:spcPts val="800"/>
              </a:spcBef>
              <a:spcAft>
                <a:spcPts val="0"/>
              </a:spcAft>
              <a:buClr>
                <a:srgbClr val="000000"/>
              </a:buClr>
              <a:buSzPct val="100000"/>
              <a:buChar char="•"/>
            </a:pPr>
            <a:r>
              <a:rPr lang="en" sz="1800">
                <a:solidFill>
                  <a:srgbClr val="595959"/>
                </a:solidFill>
              </a:rPr>
              <a:t>ForEach Iteration</a:t>
            </a:r>
            <a:endParaRPr sz="1800">
              <a:solidFill>
                <a:srgbClr val="595959"/>
              </a:solidFill>
            </a:endParaRPr>
          </a:p>
          <a:p>
            <a:pPr indent="-249555" lvl="0" marL="254000" rtl="0" algn="l">
              <a:lnSpc>
                <a:spcPct val="150000"/>
              </a:lnSpc>
              <a:spcBef>
                <a:spcPts val="800"/>
              </a:spcBef>
              <a:spcAft>
                <a:spcPts val="0"/>
              </a:spcAft>
              <a:buClr>
                <a:srgbClr val="595959"/>
              </a:buClr>
              <a:buSzPct val="100000"/>
              <a:buChar char="•"/>
            </a:pPr>
            <a:r>
              <a:rPr lang="en" sz="1800">
                <a:solidFill>
                  <a:srgbClr val="595959"/>
                </a:solidFill>
              </a:rPr>
              <a:t>DOM and Virtual DOM</a:t>
            </a:r>
            <a:endParaRPr sz="18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Introduction</a:t>
            </a:r>
            <a:endParaRPr sz="2300"/>
          </a:p>
        </p:txBody>
      </p:sp>
      <p:sp>
        <p:nvSpPr>
          <p:cNvPr id="110" name="Google Shape;110;p16"/>
          <p:cNvSpPr/>
          <p:nvPr/>
        </p:nvSpPr>
        <p:spPr>
          <a:xfrm>
            <a:off x="1875599" y="1033275"/>
            <a:ext cx="6637200" cy="3905100"/>
          </a:xfrm>
          <a:prstGeom prst="rect">
            <a:avLst/>
          </a:prstGeom>
          <a:noFill/>
          <a:ln>
            <a:noFill/>
          </a:ln>
        </p:spPr>
        <p:txBody>
          <a:bodyPr anchorCtr="0" anchor="t" bIns="45700" lIns="91425" spcFirstLastPara="1" rIns="91425" wrap="square" tIns="45700">
            <a:noAutofit/>
          </a:bodyPr>
          <a:lstStyle/>
          <a:p>
            <a:pPr indent="0" lvl="0" marL="127000" marR="0" rtl="0" algn="just">
              <a:lnSpc>
                <a:spcPct val="11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11" name="Google Shape;111;p16"/>
          <p:cNvSpPr/>
          <p:nvPr/>
        </p:nvSpPr>
        <p:spPr>
          <a:xfrm>
            <a:off x="1805375" y="2457225"/>
            <a:ext cx="7143000" cy="10572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None/>
            </a:pPr>
            <a:r>
              <a:rPr b="1" lang="en" sz="5400"/>
              <a:t>JavaScript Basics II</a:t>
            </a:r>
            <a:endParaRPr b="0" i="0" sz="5200" u="none" cap="none" strike="noStrike">
              <a:solidFill>
                <a:srgbClr val="EC1C24"/>
              </a:solidFill>
              <a:latin typeface="Times New Roman"/>
              <a:ea typeface="Times New Roman"/>
              <a:cs typeface="Times New Roman"/>
              <a:sym typeface="Times New Roman"/>
            </a:endParaRPr>
          </a:p>
        </p:txBody>
      </p:sp>
      <p:sp>
        <p:nvSpPr>
          <p:cNvPr id="112" name="Google Shape;112;p1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b="1" lang="en" sz="900">
                <a:solidFill>
                  <a:schemeClr val="dk1"/>
                </a:solidFill>
              </a:rPr>
              <a:t>1</a:t>
            </a:r>
            <a:r>
              <a:rPr b="1" lang="en" sz="1000">
                <a:solidFill>
                  <a:schemeClr val="dk1"/>
                </a:solidFill>
              </a:rPr>
              <a:t>.</a:t>
            </a:r>
            <a:r>
              <a:rPr lang="en" sz="1000">
                <a:solidFill>
                  <a:schemeClr val="dk1"/>
                </a:solidFill>
              </a:rPr>
              <a:t> </a:t>
            </a:r>
            <a:r>
              <a:rPr b="1" lang="en" sz="1000">
                <a:solidFill>
                  <a:schemeClr val="dk1"/>
                </a:solidFill>
              </a:rPr>
              <a:t>JavaScript Basic</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13" name="Google Shape;113;p1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14" name="Google Shape;114;p1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15" name="Google Shape;115;p1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21" name="Google Shape;121;p1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spcBef>
                <a:spcPts val="0"/>
              </a:spcBef>
              <a:spcAft>
                <a:spcPts val="0"/>
              </a:spcAft>
              <a:buNone/>
            </a:pPr>
            <a:r>
              <a:rPr lang="en" sz="1000">
                <a:solidFill>
                  <a:schemeClr val="dk1"/>
                </a:solidFill>
              </a:rPr>
              <a:t>	</a:t>
            </a: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22" name="Google Shape;122;p1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23" name="Google Shape;123;p1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24" name="Google Shape;124;p1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25" name="Google Shape;125;p17"/>
          <p:cNvSpPr txBox="1"/>
          <p:nvPr/>
        </p:nvSpPr>
        <p:spPr>
          <a:xfrm>
            <a:off x="2306850" y="1146800"/>
            <a:ext cx="6206100" cy="2108700"/>
          </a:xfrm>
          <a:prstGeom prst="rect">
            <a:avLst/>
          </a:prstGeom>
          <a:noFill/>
          <a:ln>
            <a:noFill/>
          </a:ln>
        </p:spPr>
        <p:txBody>
          <a:bodyPr anchorCtr="0" anchor="t" bIns="91425" lIns="91425" spcFirstLastPara="1" rIns="91425" wrap="square" tIns="91425">
            <a:normAutofit fontScale="92500" lnSpcReduction="20000"/>
          </a:bodyPr>
          <a:lstStyle/>
          <a:p>
            <a:pPr indent="-258127" lvl="0" marL="254000" rtl="0" algn="l">
              <a:lnSpc>
                <a:spcPct val="150000"/>
              </a:lnSpc>
              <a:spcBef>
                <a:spcPts val="0"/>
              </a:spcBef>
              <a:spcAft>
                <a:spcPts val="0"/>
              </a:spcAft>
              <a:buClr>
                <a:schemeClr val="dk1"/>
              </a:buClr>
              <a:buSzPct val="100000"/>
              <a:buChar char="•"/>
            </a:pPr>
            <a:r>
              <a:rPr lang="en" sz="1800">
                <a:solidFill>
                  <a:schemeClr val="dk2"/>
                </a:solidFill>
              </a:rPr>
              <a:t>Arrow functions were introduced in ES6.</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We use arrow function to write shorter function syntax.</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The Arrow function does not bind the “</a:t>
            </a:r>
            <a:r>
              <a:rPr b="1" lang="en" sz="1800">
                <a:solidFill>
                  <a:schemeClr val="dk2"/>
                </a:solidFill>
              </a:rPr>
              <a:t>this</a:t>
            </a:r>
            <a:r>
              <a:rPr lang="en" sz="1800">
                <a:solidFill>
                  <a:schemeClr val="dk2"/>
                </a:solidFill>
              </a:rPr>
              <a:t>” keyword.</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A regular function tends to bind “</a:t>
            </a:r>
            <a:r>
              <a:rPr b="1" lang="en" sz="1800">
                <a:solidFill>
                  <a:schemeClr val="dk2"/>
                </a:solidFill>
              </a:rPr>
              <a:t>this</a:t>
            </a:r>
            <a:r>
              <a:rPr lang="en" sz="1800">
                <a:solidFill>
                  <a:schemeClr val="dk2"/>
                </a:solidFill>
              </a:rPr>
              <a:t>” keyword to its preceding object.</a:t>
            </a:r>
            <a:endParaRPr sz="1800"/>
          </a:p>
        </p:txBody>
      </p:sp>
      <p:sp>
        <p:nvSpPr>
          <p:cNvPr id="126" name="Google Shape;126;p17"/>
          <p:cNvSpPr txBox="1"/>
          <p:nvPr/>
        </p:nvSpPr>
        <p:spPr>
          <a:xfrm>
            <a:off x="2306858" y="3438228"/>
            <a:ext cx="2825700" cy="7158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hello</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82AA30"/>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63A64"/>
                </a:solidFill>
                <a:latin typeface="Consolas"/>
                <a:ea typeface="Consolas"/>
                <a:cs typeface="Consolas"/>
                <a:sym typeface="Consolas"/>
              </a:rPr>
              <a:t>return</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Hello World</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
        <p:nvSpPr>
          <p:cNvPr id="127" name="Google Shape;127;p17"/>
          <p:cNvSpPr txBox="1"/>
          <p:nvPr/>
        </p:nvSpPr>
        <p:spPr>
          <a:xfrm>
            <a:off x="5261151" y="3625750"/>
            <a:ext cx="3509100" cy="2847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hello</a:t>
            </a:r>
            <a:r>
              <a:rPr b="0" i="0" lang="en" sz="1400" u="none" cap="none" strike="noStrike">
                <a:solidFill>
                  <a:srgbClr val="AAAAAA"/>
                </a:solidFill>
                <a:latin typeface="Consolas"/>
                <a:ea typeface="Consolas"/>
                <a:cs typeface="Consolas"/>
                <a:sym typeface="Consolas"/>
              </a:rPr>
              <a:t> = () =&gt; “</a:t>
            </a:r>
            <a:r>
              <a:rPr b="0" i="0" lang="en" sz="1400" u="none" cap="none" strike="noStrike">
                <a:solidFill>
                  <a:srgbClr val="0077AA"/>
                </a:solidFill>
                <a:latin typeface="Consolas"/>
                <a:ea typeface="Consolas"/>
                <a:cs typeface="Consolas"/>
                <a:sym typeface="Consolas"/>
              </a:rPr>
              <a:t>Hello World</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33" name="Google Shape;133;p1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34" name="Google Shape;134;p1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35" name="Google Shape;135;p1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36" name="Google Shape;136;p1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37" name="Google Shape;137;p18"/>
          <p:cNvSpPr txBox="1"/>
          <p:nvPr/>
        </p:nvSpPr>
        <p:spPr>
          <a:xfrm>
            <a:off x="2381950" y="1038725"/>
            <a:ext cx="6130800" cy="3750300"/>
          </a:xfrm>
          <a:prstGeom prst="rect">
            <a:avLst/>
          </a:prstGeom>
          <a:noFill/>
          <a:ln>
            <a:noFill/>
          </a:ln>
        </p:spPr>
        <p:txBody>
          <a:bodyPr anchorCtr="0" anchor="t" bIns="91425" lIns="91425" spcFirstLastPara="1" rIns="91425" wrap="square" tIns="91425">
            <a:normAutofit fontScale="77500" lnSpcReduction="20000"/>
          </a:bodyPr>
          <a:lstStyle/>
          <a:p>
            <a:pPr indent="-240982" lvl="0" marL="254000" rtl="0" algn="l">
              <a:lnSpc>
                <a:spcPct val="150000"/>
              </a:lnSpc>
              <a:spcBef>
                <a:spcPts val="0"/>
              </a:spcBef>
              <a:spcAft>
                <a:spcPts val="0"/>
              </a:spcAft>
              <a:buClr>
                <a:schemeClr val="dk1"/>
              </a:buClr>
              <a:buSzPct val="100000"/>
              <a:buChar char="•"/>
            </a:pPr>
            <a:r>
              <a:rPr lang="en" sz="1800">
                <a:solidFill>
                  <a:schemeClr val="dk2"/>
                </a:solidFill>
              </a:rPr>
              <a:t>Lets create a constructor function then create an instance of it.</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240982" lvl="0" marL="254000" rtl="0" algn="l">
              <a:lnSpc>
                <a:spcPct val="150000"/>
              </a:lnSpc>
              <a:spcBef>
                <a:spcPts val="800"/>
              </a:spcBef>
              <a:spcAft>
                <a:spcPts val="0"/>
              </a:spcAft>
              <a:buClr>
                <a:schemeClr val="dk1"/>
              </a:buClr>
              <a:buSzPct val="100000"/>
              <a:buChar char="•"/>
            </a:pPr>
            <a:r>
              <a:rPr lang="en" sz="1800">
                <a:solidFill>
                  <a:schemeClr val="dk2"/>
                </a:solidFill>
              </a:rPr>
              <a:t> As you should know, in the constructor function’s instance. </a:t>
            </a:r>
            <a:r>
              <a:rPr b="1" lang="en" sz="1800">
                <a:solidFill>
                  <a:schemeClr val="dk2"/>
                </a:solidFill>
              </a:rPr>
              <a:t>“this”</a:t>
            </a:r>
            <a:r>
              <a:rPr lang="en" sz="1800">
                <a:solidFill>
                  <a:schemeClr val="dk2"/>
                </a:solidFill>
              </a:rPr>
              <a:t> keyword is bound to the object being created, in this case “</a:t>
            </a:r>
            <a:r>
              <a:rPr b="1" lang="en" sz="1800">
                <a:solidFill>
                  <a:schemeClr val="dk2"/>
                </a:solidFill>
              </a:rPr>
              <a:t>a</a:t>
            </a:r>
            <a:r>
              <a:rPr lang="en" sz="1800">
                <a:solidFill>
                  <a:schemeClr val="dk2"/>
                </a:solidFill>
              </a:rPr>
              <a:t>”.</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152400" lvl="0" marL="254000" rtl="0" algn="l">
              <a:lnSpc>
                <a:spcPct val="150000"/>
              </a:lnSpc>
              <a:spcBef>
                <a:spcPts val="800"/>
              </a:spcBef>
              <a:spcAft>
                <a:spcPts val="0"/>
              </a:spcAft>
              <a:buNone/>
            </a:pPr>
            <a:r>
              <a:t/>
            </a:r>
            <a:endParaRPr sz="1800">
              <a:solidFill>
                <a:schemeClr val="dk2"/>
              </a:solidFill>
            </a:endParaRPr>
          </a:p>
          <a:p>
            <a:pPr indent="-240982" lvl="0" marL="254000" rtl="0" algn="l">
              <a:lnSpc>
                <a:spcPct val="150000"/>
              </a:lnSpc>
              <a:spcBef>
                <a:spcPts val="800"/>
              </a:spcBef>
              <a:spcAft>
                <a:spcPts val="0"/>
              </a:spcAft>
              <a:buClr>
                <a:schemeClr val="dk1"/>
              </a:buClr>
              <a:buSzPct val="100000"/>
              <a:buChar char="•"/>
            </a:pPr>
            <a:r>
              <a:rPr lang="en" sz="1800">
                <a:solidFill>
                  <a:schemeClr val="dk2"/>
                </a:solidFill>
              </a:rPr>
              <a:t>That is why we get “0” when we console.log it.</a:t>
            </a:r>
            <a:endParaRPr sz="1800">
              <a:solidFill>
                <a:schemeClr val="dk2"/>
              </a:solidFill>
            </a:endParaRPr>
          </a:p>
        </p:txBody>
      </p:sp>
      <p:sp>
        <p:nvSpPr>
          <p:cNvPr id="138" name="Google Shape;138;p18"/>
          <p:cNvSpPr txBox="1"/>
          <p:nvPr/>
        </p:nvSpPr>
        <p:spPr>
          <a:xfrm>
            <a:off x="3457942" y="1591155"/>
            <a:ext cx="2228100" cy="11466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0077AA"/>
                </a:solidFill>
                <a:latin typeface="Consolas"/>
                <a:ea typeface="Consolas"/>
                <a:cs typeface="Consolas"/>
                <a:sym typeface="Consolas"/>
              </a:rPr>
              <a:t>0</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var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863A64"/>
                </a:solidFill>
                <a:latin typeface="Consolas"/>
                <a:ea typeface="Consolas"/>
                <a:cs typeface="Consolas"/>
                <a:sym typeface="Consolas"/>
              </a:rPr>
              <a:t>new</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
        <p:nvSpPr>
          <p:cNvPr id="139" name="Google Shape;139;p18"/>
          <p:cNvSpPr txBox="1"/>
          <p:nvPr/>
        </p:nvSpPr>
        <p:spPr>
          <a:xfrm>
            <a:off x="3600442" y="3616123"/>
            <a:ext cx="1943100" cy="7158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console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log</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Returns 0</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45" name="Google Shape;145;p1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46" name="Google Shape;146;p1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47" name="Google Shape;147;p1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48" name="Google Shape;148;p1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49" name="Google Shape;149;p19"/>
          <p:cNvSpPr txBox="1"/>
          <p:nvPr/>
        </p:nvSpPr>
        <p:spPr>
          <a:xfrm>
            <a:off x="2303400" y="1146800"/>
            <a:ext cx="6272100" cy="1811100"/>
          </a:xfrm>
          <a:prstGeom prst="rect">
            <a:avLst/>
          </a:prstGeom>
          <a:noFill/>
          <a:ln>
            <a:noFill/>
          </a:ln>
        </p:spPr>
        <p:txBody>
          <a:bodyPr anchorCtr="0" anchor="t" bIns="91425" lIns="91425" spcFirstLastPara="1" rIns="91425" wrap="square" tIns="91425">
            <a:normAutofit/>
          </a:bodyPr>
          <a:lstStyle/>
          <a:p>
            <a:pPr indent="-266700" lvl="0" marL="254000" rtl="0" algn="l">
              <a:lnSpc>
                <a:spcPct val="150000"/>
              </a:lnSpc>
              <a:spcBef>
                <a:spcPts val="0"/>
              </a:spcBef>
              <a:spcAft>
                <a:spcPts val="0"/>
              </a:spcAft>
              <a:buClr>
                <a:schemeClr val="dk1"/>
              </a:buClr>
              <a:buSzPts val="1800"/>
              <a:buChar char="•"/>
            </a:pPr>
            <a:r>
              <a:rPr lang="en" sz="1800">
                <a:solidFill>
                  <a:schemeClr val="dk2"/>
                </a:solidFill>
              </a:rPr>
              <a:t>What if we want to increase the value of “</a:t>
            </a:r>
            <a:r>
              <a:rPr b="1" lang="en" sz="1800">
                <a:solidFill>
                  <a:schemeClr val="dk2"/>
                </a:solidFill>
              </a:rPr>
              <a:t>a.num</a:t>
            </a:r>
            <a:r>
              <a:rPr lang="en" sz="1800">
                <a:solidFill>
                  <a:schemeClr val="dk2"/>
                </a:solidFill>
              </a:rPr>
              <a:t>” every second?</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lang="en" sz="1800">
                <a:solidFill>
                  <a:schemeClr val="dk2"/>
                </a:solidFill>
              </a:rPr>
              <a:t>We can use the </a:t>
            </a:r>
            <a:r>
              <a:rPr b="1" lang="en" sz="1800">
                <a:solidFill>
                  <a:schemeClr val="dk2"/>
                </a:solidFill>
              </a:rPr>
              <a:t>setInterval() </a:t>
            </a:r>
            <a:r>
              <a:rPr lang="en" sz="1800">
                <a:solidFill>
                  <a:schemeClr val="dk2"/>
                </a:solidFill>
              </a:rPr>
              <a:t>function. It is a function that calls a function after a set number of milliseconds. </a:t>
            </a:r>
            <a:endParaRPr sz="1800">
              <a:solidFill>
                <a:schemeClr val="dk2"/>
              </a:solidFill>
            </a:endParaRPr>
          </a:p>
        </p:txBody>
      </p:sp>
      <p:sp>
        <p:nvSpPr>
          <p:cNvPr id="150" name="Google Shape;150;p19"/>
          <p:cNvSpPr txBox="1"/>
          <p:nvPr/>
        </p:nvSpPr>
        <p:spPr>
          <a:xfrm>
            <a:off x="3106392" y="2957890"/>
            <a:ext cx="4440300" cy="1793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0077AA"/>
                </a:solidFill>
                <a:latin typeface="Consolas"/>
                <a:ea typeface="Consolas"/>
                <a:cs typeface="Consolas"/>
                <a:sym typeface="Consolas"/>
              </a:rPr>
              <a:t>0</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timer</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0077AA"/>
                </a:solidFill>
                <a:latin typeface="Consolas"/>
                <a:ea typeface="Consolas"/>
                <a:cs typeface="Consolas"/>
                <a:sym typeface="Consolas"/>
              </a:rPr>
              <a:t>setInterval</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63A64"/>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console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log</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3F3F3F"/>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3F3F3F"/>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3F3F3F"/>
                </a:solidFill>
                <a:latin typeface="Consolas"/>
                <a:ea typeface="Consolas"/>
                <a:cs typeface="Consolas"/>
                <a:sym typeface="Consolas"/>
              </a:rPr>
              <a:t>1000</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var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b</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863A64"/>
                </a:solidFill>
                <a:latin typeface="Consolas"/>
                <a:ea typeface="Consolas"/>
                <a:cs typeface="Consolas"/>
                <a:sym typeface="Consolas"/>
              </a:rPr>
              <a:t>new</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56" name="Google Shape;156;p2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57" name="Google Shape;157;p2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58" name="Google Shape;158;p2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59" name="Google Shape;159;p2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60" name="Google Shape;160;p20"/>
          <p:cNvSpPr txBox="1"/>
          <p:nvPr/>
        </p:nvSpPr>
        <p:spPr>
          <a:xfrm>
            <a:off x="2303400" y="1146800"/>
            <a:ext cx="6272100" cy="369870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As you can see, the result was not as the expected one. So what went wrong?</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Lets clear the annoying interval first with </a:t>
            </a:r>
            <a:r>
              <a:rPr b="1" lang="en" sz="1500">
                <a:solidFill>
                  <a:schemeClr val="dk2"/>
                </a:solidFill>
                <a:latin typeface="Arvo"/>
                <a:ea typeface="Arvo"/>
                <a:cs typeface="Arvo"/>
                <a:sym typeface="Arvo"/>
              </a:rPr>
              <a:t>clearInterval()</a:t>
            </a:r>
            <a:r>
              <a:rPr lang="en" sz="1500">
                <a:solidFill>
                  <a:schemeClr val="dk2"/>
                </a:solidFill>
                <a:latin typeface="Arvo"/>
                <a:ea typeface="Arvo"/>
                <a:cs typeface="Arvo"/>
                <a:sym typeface="Arvo"/>
              </a:rPr>
              <a:t> function.</a:t>
            </a:r>
            <a:endParaRPr sz="2800">
              <a:solidFill>
                <a:schemeClr val="dk2"/>
              </a:solidFill>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Our </a:t>
            </a:r>
            <a:r>
              <a:rPr b="1" lang="en" sz="1500">
                <a:solidFill>
                  <a:schemeClr val="dk2"/>
                </a:solidFill>
                <a:latin typeface="Arvo"/>
                <a:ea typeface="Arvo"/>
                <a:cs typeface="Arvo"/>
                <a:sym typeface="Arvo"/>
              </a:rPr>
              <a:t>setInterval()</a:t>
            </a:r>
            <a:r>
              <a:rPr lang="en" sz="1500">
                <a:solidFill>
                  <a:schemeClr val="dk2"/>
                </a:solidFill>
                <a:latin typeface="Arvo"/>
                <a:ea typeface="Arvo"/>
                <a:cs typeface="Arvo"/>
                <a:sym typeface="Arvo"/>
              </a:rPr>
              <a:t> function is being called on a declared object. It isn’t being called with the “</a:t>
            </a:r>
            <a:r>
              <a:rPr b="1" lang="en" sz="1500">
                <a:solidFill>
                  <a:schemeClr val="dk2"/>
                </a:solidFill>
                <a:latin typeface="Arvo"/>
                <a:ea typeface="Arvo"/>
                <a:cs typeface="Arvo"/>
                <a:sym typeface="Arvo"/>
              </a:rPr>
              <a:t>new</a:t>
            </a:r>
            <a:r>
              <a:rPr lang="en" sz="1500">
                <a:solidFill>
                  <a:schemeClr val="dk2"/>
                </a:solidFill>
                <a:latin typeface="Arvo"/>
                <a:ea typeface="Arvo"/>
                <a:cs typeface="Arvo"/>
                <a:sym typeface="Arvo"/>
              </a:rPr>
              <a:t>” keyword. setInterval is just a normal function.</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The value of </a:t>
            </a:r>
            <a:r>
              <a:rPr b="1" lang="en" sz="1500">
                <a:solidFill>
                  <a:schemeClr val="dk2"/>
                </a:solidFill>
                <a:latin typeface="Arvo"/>
                <a:ea typeface="Arvo"/>
                <a:cs typeface="Arvo"/>
                <a:sym typeface="Arvo"/>
              </a:rPr>
              <a:t>this </a:t>
            </a:r>
            <a:r>
              <a:rPr lang="en" sz="1500">
                <a:solidFill>
                  <a:schemeClr val="dk2"/>
                </a:solidFill>
                <a:latin typeface="Arvo"/>
                <a:ea typeface="Arvo"/>
                <a:cs typeface="Arvo"/>
                <a:sym typeface="Arvo"/>
              </a:rPr>
              <a:t>in </a:t>
            </a:r>
            <a:r>
              <a:rPr b="1" lang="en" sz="1500">
                <a:solidFill>
                  <a:schemeClr val="dk2"/>
                </a:solidFill>
                <a:latin typeface="Arvo"/>
                <a:ea typeface="Arvo"/>
                <a:cs typeface="Arvo"/>
                <a:sym typeface="Arvo"/>
              </a:rPr>
              <a:t>setInterval</a:t>
            </a:r>
            <a:r>
              <a:rPr lang="en" sz="1500">
                <a:solidFill>
                  <a:schemeClr val="dk2"/>
                </a:solidFill>
                <a:latin typeface="Arvo"/>
                <a:ea typeface="Arvo"/>
                <a:cs typeface="Arvo"/>
                <a:sym typeface="Arvo"/>
              </a:rPr>
              <a:t> is being bound to the global object or the </a:t>
            </a:r>
            <a:r>
              <a:rPr b="1" lang="en" sz="1500">
                <a:solidFill>
                  <a:schemeClr val="dk2"/>
                </a:solidFill>
                <a:latin typeface="Arvo"/>
                <a:ea typeface="Arvo"/>
                <a:cs typeface="Arvo"/>
                <a:sym typeface="Arvo"/>
              </a:rPr>
              <a:t>window</a:t>
            </a:r>
            <a:r>
              <a:rPr lang="en" sz="1500">
                <a:solidFill>
                  <a:schemeClr val="dk2"/>
                </a:solidFill>
                <a:latin typeface="Arvo"/>
                <a:ea typeface="Arvo"/>
                <a:cs typeface="Arvo"/>
                <a:sym typeface="Arvo"/>
              </a:rPr>
              <a:t> object.</a:t>
            </a:r>
            <a:endParaRPr sz="1800">
              <a:solidFill>
                <a:schemeClr val="dk2"/>
              </a:solidFill>
            </a:endParaRPr>
          </a:p>
        </p:txBody>
      </p:sp>
      <p:sp>
        <p:nvSpPr>
          <p:cNvPr id="161" name="Google Shape;161;p20"/>
          <p:cNvSpPr txBox="1"/>
          <p:nvPr/>
        </p:nvSpPr>
        <p:spPr>
          <a:xfrm>
            <a:off x="3874914" y="2321702"/>
            <a:ext cx="23229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clearInterval</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b</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timer</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67" name="Google Shape;167;p2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68" name="Google Shape;168;p2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69" name="Google Shape;169;p2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70" name="Google Shape;170;p2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71" name="Google Shape;171;p21"/>
          <p:cNvSpPr txBox="1"/>
          <p:nvPr/>
        </p:nvSpPr>
        <p:spPr>
          <a:xfrm>
            <a:off x="2303400" y="1146800"/>
            <a:ext cx="6272100" cy="36987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It was logging in </a:t>
            </a:r>
            <a:r>
              <a:rPr b="1" lang="en" sz="1500">
                <a:solidFill>
                  <a:schemeClr val="dk2"/>
                </a:solidFill>
                <a:latin typeface="Arvo"/>
                <a:ea typeface="Arvo"/>
                <a:cs typeface="Arvo"/>
                <a:sym typeface="Arvo"/>
              </a:rPr>
              <a:t>NaN</a:t>
            </a:r>
            <a:r>
              <a:rPr lang="en" sz="1500">
                <a:solidFill>
                  <a:schemeClr val="dk2"/>
                </a:solidFill>
                <a:latin typeface="Arvo"/>
                <a:ea typeface="Arvo"/>
                <a:cs typeface="Arvo"/>
                <a:sym typeface="Arvo"/>
              </a:rPr>
              <a:t> every second because it was looking for a property “</a:t>
            </a:r>
            <a:r>
              <a:rPr b="1" lang="en" sz="1500">
                <a:solidFill>
                  <a:schemeClr val="dk2"/>
                </a:solidFill>
                <a:latin typeface="Arvo"/>
                <a:ea typeface="Arvo"/>
                <a:cs typeface="Arvo"/>
                <a:sym typeface="Arvo"/>
              </a:rPr>
              <a:t>num</a:t>
            </a:r>
            <a:r>
              <a:rPr lang="en" sz="1500">
                <a:solidFill>
                  <a:schemeClr val="dk2"/>
                </a:solidFill>
                <a:latin typeface="Arvo"/>
                <a:ea typeface="Arvo"/>
                <a:cs typeface="Arvo"/>
                <a:sym typeface="Arvo"/>
              </a:rPr>
              <a:t>” in the global object, i.e. </a:t>
            </a:r>
            <a:r>
              <a:rPr b="1" lang="en" sz="1500">
                <a:solidFill>
                  <a:schemeClr val="dk2"/>
                </a:solidFill>
                <a:latin typeface="Arvo"/>
                <a:ea typeface="Arvo"/>
                <a:cs typeface="Arvo"/>
                <a:sym typeface="Arvo"/>
              </a:rPr>
              <a:t>window.num</a:t>
            </a:r>
            <a:r>
              <a:rPr lang="en" sz="1500">
                <a:solidFill>
                  <a:schemeClr val="dk2"/>
                </a:solidFill>
                <a:latin typeface="Arvo"/>
                <a:ea typeface="Arvo"/>
                <a:cs typeface="Arvo"/>
                <a:sym typeface="Arvo"/>
              </a:rPr>
              <a:t>, which does not exist.</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So how do we fix this? With an arrow function. Remember its property of not binding </a:t>
            </a:r>
            <a:r>
              <a:rPr b="1" lang="en" sz="1500">
                <a:solidFill>
                  <a:schemeClr val="dk2"/>
                </a:solidFill>
                <a:latin typeface="Arvo"/>
                <a:ea typeface="Arvo"/>
                <a:cs typeface="Arvo"/>
                <a:sym typeface="Arvo"/>
              </a:rPr>
              <a:t>this</a:t>
            </a:r>
            <a:r>
              <a:rPr lang="en" sz="1500">
                <a:solidFill>
                  <a:schemeClr val="dk2"/>
                </a:solidFill>
                <a:latin typeface="Arvo"/>
                <a:ea typeface="Arvo"/>
                <a:cs typeface="Arvo"/>
                <a:sym typeface="Arvo"/>
              </a:rPr>
              <a:t> keyword. This is where it makes things easy.</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With an arrow function , the “</a:t>
            </a:r>
            <a:r>
              <a:rPr b="1" lang="en" sz="1500">
                <a:solidFill>
                  <a:schemeClr val="dk2"/>
                </a:solidFill>
                <a:latin typeface="Arvo"/>
                <a:ea typeface="Arvo"/>
                <a:cs typeface="Arvo"/>
                <a:sym typeface="Arvo"/>
              </a:rPr>
              <a:t>this</a:t>
            </a:r>
            <a:r>
              <a:rPr lang="en" sz="1500">
                <a:solidFill>
                  <a:schemeClr val="dk2"/>
                </a:solidFill>
                <a:latin typeface="Arvo"/>
                <a:ea typeface="Arvo"/>
                <a:cs typeface="Arvo"/>
                <a:sym typeface="Arvo"/>
              </a:rPr>
              <a:t>” keyword  binding keeps its original binding context.</a:t>
            </a:r>
            <a:endParaRPr sz="2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Arrow Functions</a:t>
            </a:r>
            <a:endParaRPr b="1" sz="2300"/>
          </a:p>
        </p:txBody>
      </p:sp>
      <p:sp>
        <p:nvSpPr>
          <p:cNvPr id="177" name="Google Shape;177;p2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1.1. Arrow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78" name="Google Shape;178;p2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79" name="Google Shape;179;p2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80" name="Google Shape;180;p2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81" name="Google Shape;181;p22"/>
          <p:cNvSpPr txBox="1"/>
          <p:nvPr/>
        </p:nvSpPr>
        <p:spPr>
          <a:xfrm>
            <a:off x="2303400" y="1146800"/>
            <a:ext cx="6272100" cy="3698700"/>
          </a:xfrm>
          <a:prstGeom prst="rect">
            <a:avLst/>
          </a:prstGeom>
          <a:noFill/>
          <a:ln>
            <a:noFill/>
          </a:ln>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Lets rewrite our Counter function.</a:t>
            </a:r>
            <a:endParaRPr sz="2800">
              <a:solidFill>
                <a:schemeClr val="dk2"/>
              </a:solidFill>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As you try this code, you will notice that the console will now log an incremental number every second.</a:t>
            </a:r>
            <a:endParaRPr sz="1500">
              <a:solidFill>
                <a:schemeClr val="dk2"/>
              </a:solidFill>
              <a:latin typeface="Arvo"/>
              <a:ea typeface="Arvo"/>
              <a:cs typeface="Arvo"/>
              <a:sym typeface="Arvo"/>
            </a:endParaRPr>
          </a:p>
        </p:txBody>
      </p:sp>
      <p:sp>
        <p:nvSpPr>
          <p:cNvPr id="182" name="Google Shape;182;p22"/>
          <p:cNvSpPr txBox="1"/>
          <p:nvPr/>
        </p:nvSpPr>
        <p:spPr>
          <a:xfrm>
            <a:off x="3333009" y="1575138"/>
            <a:ext cx="3870300" cy="1793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0077AA"/>
                </a:solidFill>
                <a:latin typeface="Consolas"/>
                <a:ea typeface="Consolas"/>
                <a:cs typeface="Consolas"/>
                <a:sym typeface="Consolas"/>
              </a:rPr>
              <a:t>0</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timer</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0077AA"/>
                </a:solidFill>
                <a:latin typeface="Consolas"/>
                <a:ea typeface="Consolas"/>
                <a:cs typeface="Consolas"/>
                <a:sym typeface="Consolas"/>
              </a:rPr>
              <a:t>setInterval</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63A64"/>
                </a:solidFill>
                <a:latin typeface="Consolas"/>
                <a:ea typeface="Consolas"/>
                <a:cs typeface="Consolas"/>
                <a:sym typeface="Consolas"/>
              </a:rPr>
              <a:t>()</a:t>
            </a:r>
            <a:r>
              <a:rPr b="0" i="0" lang="en" sz="1400" u="none" cap="none" strike="noStrike">
                <a:solidFill>
                  <a:srgbClr val="AAAAAA"/>
                </a:solidFill>
                <a:latin typeface="Consolas"/>
                <a:ea typeface="Consolas"/>
                <a:cs typeface="Consolas"/>
                <a:sym typeface="Consolas"/>
              </a:rPr>
              <a:t> =&gt;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console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log</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this</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num</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3F3F3F"/>
                </a:solidFill>
                <a:latin typeface="Consolas"/>
                <a:ea typeface="Consolas"/>
                <a:cs typeface="Consolas"/>
                <a:sym typeface="Consolas"/>
              </a:rPr>
              <a:t>1000</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var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b</a:t>
            </a:r>
            <a:r>
              <a:rPr b="0" i="0" lang="en" sz="1400" u="none" cap="none" strike="noStrike">
                <a:solidFill>
                  <a:srgbClr val="AAAAAA"/>
                </a:solidFill>
                <a:latin typeface="Consolas"/>
                <a:ea typeface="Consolas"/>
                <a:cs typeface="Consolas"/>
                <a:sym typeface="Consolas"/>
              </a:rPr>
              <a:t> = </a:t>
            </a:r>
            <a:r>
              <a:rPr b="0" i="0" lang="en" sz="1400" u="none" cap="none" strike="noStrike">
                <a:solidFill>
                  <a:srgbClr val="863A64"/>
                </a:solidFill>
                <a:latin typeface="Consolas"/>
                <a:ea typeface="Consolas"/>
                <a:cs typeface="Consolas"/>
                <a:sym typeface="Consolas"/>
              </a:rPr>
              <a:t>new</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Counter</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2822"/>
        </a:solidFill>
      </p:bgPr>
    </p:bg>
    <p:spTree>
      <p:nvGrpSpPr>
        <p:cNvPr id="186" name="Shape 186"/>
        <p:cNvGrpSpPr/>
        <p:nvPr/>
      </p:nvGrpSpPr>
      <p:grpSpPr>
        <a:xfrm>
          <a:off x="0" y="0"/>
          <a:ext cx="0" cy="0"/>
          <a:chOff x="0" y="0"/>
          <a:chExt cx="0" cy="0"/>
        </a:xfrm>
      </p:grpSpPr>
      <p:pic>
        <p:nvPicPr>
          <p:cNvPr id="187" name="Google Shape;187;p23"/>
          <p:cNvPicPr preferRelativeResize="0"/>
          <p:nvPr/>
        </p:nvPicPr>
        <p:blipFill rotWithShape="1">
          <a:blip r:embed="rId3">
            <a:alphaModFix/>
          </a:blip>
          <a:srcRect b="0" l="0" r="0" t="0"/>
          <a:stretch/>
        </p:blipFill>
        <p:spPr>
          <a:xfrm>
            <a:off x="0" y="-1"/>
            <a:ext cx="9144000" cy="5143501"/>
          </a:xfrm>
          <a:prstGeom prst="rect">
            <a:avLst/>
          </a:prstGeom>
          <a:noFill/>
          <a:ln>
            <a:noFill/>
          </a:ln>
        </p:spPr>
      </p:pic>
      <p:sp>
        <p:nvSpPr>
          <p:cNvPr id="188" name="Google Shape;188;p23"/>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189" name="Google Shape;189;p23"/>
          <p:cNvPicPr preferRelativeResize="0"/>
          <p:nvPr/>
        </p:nvPicPr>
        <p:blipFill rotWithShape="1">
          <a:blip r:embed="rId4">
            <a:alphaModFix/>
          </a:blip>
          <a:srcRect b="0" l="0" r="0" t="0"/>
          <a:stretch/>
        </p:blipFill>
        <p:spPr>
          <a:xfrm>
            <a:off x="206339" y="93287"/>
            <a:ext cx="1448822" cy="774630"/>
          </a:xfrm>
          <a:prstGeom prst="rect">
            <a:avLst/>
          </a:prstGeom>
          <a:noFill/>
          <a:ln>
            <a:noFill/>
          </a:ln>
        </p:spPr>
      </p:pic>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300"/>
              <a:t>Anonymous Functions</a:t>
            </a:r>
            <a:endParaRPr b="1" sz="2300"/>
          </a:p>
        </p:txBody>
      </p:sp>
      <p:sp>
        <p:nvSpPr>
          <p:cNvPr id="195" name="Google Shape;195;p2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1.2. Anonymous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96" name="Google Shape;196;p2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97" name="Google Shape;197;p2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98" name="Google Shape;198;p2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99" name="Google Shape;199;p24"/>
          <p:cNvSpPr txBox="1"/>
          <p:nvPr/>
        </p:nvSpPr>
        <p:spPr>
          <a:xfrm>
            <a:off x="2303400" y="1146800"/>
            <a:ext cx="6272100" cy="2253000"/>
          </a:xfrm>
          <a:prstGeom prst="rect">
            <a:avLst/>
          </a:prstGeom>
          <a:noFill/>
          <a:ln>
            <a:noFill/>
          </a:ln>
        </p:spPr>
        <p:txBody>
          <a:bodyPr anchorCtr="0" anchor="t" bIns="91425" lIns="91425" spcFirstLastPara="1" rIns="91425" wrap="square" tIns="91425">
            <a:normAutofit fontScale="85000" lnSpcReduction="10000"/>
          </a:bodyPr>
          <a:lstStyle/>
          <a:p>
            <a:pPr indent="-325755" lvl="0" marL="457200" rtl="0" algn="l">
              <a:lnSpc>
                <a:spcPct val="150000"/>
              </a:lnSpc>
              <a:spcBef>
                <a:spcPts val="0"/>
              </a:spcBef>
              <a:spcAft>
                <a:spcPts val="0"/>
              </a:spcAft>
              <a:buClr>
                <a:schemeClr val="dk1"/>
              </a:buClr>
              <a:buSzPct val="100000"/>
              <a:buChar char="•"/>
            </a:pPr>
            <a:r>
              <a:rPr lang="en" sz="1800">
                <a:solidFill>
                  <a:schemeClr val="dk2"/>
                </a:solidFill>
              </a:rPr>
              <a:t>An anonymous function is a function that is declared without any named identifier to refer to it.</a:t>
            </a:r>
            <a:endParaRPr sz="1800">
              <a:solidFill>
                <a:schemeClr val="dk2"/>
              </a:solidFill>
            </a:endParaRPr>
          </a:p>
          <a:p>
            <a:pPr indent="-325755" lvl="0" marL="457200" rtl="0" algn="l">
              <a:lnSpc>
                <a:spcPct val="150000"/>
              </a:lnSpc>
              <a:spcBef>
                <a:spcPts val="800"/>
              </a:spcBef>
              <a:spcAft>
                <a:spcPts val="0"/>
              </a:spcAft>
              <a:buClr>
                <a:schemeClr val="dk1"/>
              </a:buClr>
              <a:buSzPct val="100000"/>
              <a:buChar char="•"/>
            </a:pPr>
            <a:r>
              <a:rPr lang="en" sz="1800">
                <a:solidFill>
                  <a:schemeClr val="dk2"/>
                </a:solidFill>
              </a:rPr>
              <a:t>An anonymous function is usually not accessible after its initial creation.</a:t>
            </a:r>
            <a:endParaRPr sz="1800">
              <a:solidFill>
                <a:schemeClr val="dk2"/>
              </a:solidFill>
            </a:endParaRPr>
          </a:p>
          <a:p>
            <a:pPr indent="-325755" lvl="0" marL="457200" rtl="0" algn="l">
              <a:lnSpc>
                <a:spcPct val="150000"/>
              </a:lnSpc>
              <a:spcBef>
                <a:spcPts val="800"/>
              </a:spcBef>
              <a:spcAft>
                <a:spcPts val="0"/>
              </a:spcAft>
              <a:buClr>
                <a:schemeClr val="dk1"/>
              </a:buClr>
              <a:buSzPct val="100000"/>
              <a:buChar char="•"/>
            </a:pPr>
            <a:r>
              <a:rPr lang="en" sz="1800">
                <a:solidFill>
                  <a:schemeClr val="dk2"/>
                </a:solidFill>
              </a:rPr>
              <a:t>One common use for anonymous functions is as arguments to other functions.</a:t>
            </a:r>
            <a:endParaRPr sz="1800">
              <a:solidFill>
                <a:schemeClr val="dk2"/>
              </a:solidFill>
            </a:endParaRPr>
          </a:p>
        </p:txBody>
      </p:sp>
      <p:sp>
        <p:nvSpPr>
          <p:cNvPr id="200" name="Google Shape;200;p24"/>
          <p:cNvSpPr txBox="1"/>
          <p:nvPr/>
        </p:nvSpPr>
        <p:spPr>
          <a:xfrm>
            <a:off x="3333011" y="3582527"/>
            <a:ext cx="3870300" cy="7158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77AA"/>
                </a:solidFill>
                <a:latin typeface="Consolas"/>
                <a:ea typeface="Consolas"/>
                <a:cs typeface="Consolas"/>
                <a:sym typeface="Consolas"/>
              </a:rPr>
              <a:t>setTimeout</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	console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log</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3F3F3F"/>
                </a:solidFill>
                <a:latin typeface="Consolas"/>
                <a:ea typeface="Consolas"/>
                <a:cs typeface="Consolas"/>
                <a:sym typeface="Consolas"/>
              </a:rPr>
              <a:t>I am Anonymous!!</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206" name="Google Shape;206;p25"/>
          <p:cNvPicPr preferRelativeResize="0"/>
          <p:nvPr/>
        </p:nvPicPr>
        <p:blipFill rotWithShape="1">
          <a:blip r:embed="rId4">
            <a:alphaModFix/>
          </a:blip>
          <a:srcRect b="0" l="0" r="0" t="0"/>
          <a:stretch/>
        </p:blipFill>
        <p:spPr>
          <a:xfrm>
            <a:off x="206339" y="93287"/>
            <a:ext cx="1448822" cy="77463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IIFE (Immediately Invoked Function Expression)</a:t>
            </a:r>
            <a:endParaRPr b="1" sz="2300"/>
          </a:p>
        </p:txBody>
      </p:sp>
      <p:sp>
        <p:nvSpPr>
          <p:cNvPr id="212" name="Google Shape;212;p2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1.3. IIFE (Immediately Invoked     Function Expression)</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13" name="Google Shape;213;p2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14" name="Google Shape;214;p2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15" name="Google Shape;215;p2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16" name="Google Shape;216;p26"/>
          <p:cNvSpPr txBox="1"/>
          <p:nvPr/>
        </p:nvSpPr>
        <p:spPr>
          <a:xfrm>
            <a:off x="2303400" y="1146800"/>
            <a:ext cx="6272100" cy="2253000"/>
          </a:xfrm>
          <a:prstGeom prst="rect">
            <a:avLst/>
          </a:prstGeom>
          <a:noFill/>
          <a:ln>
            <a:noFill/>
          </a:ln>
        </p:spPr>
        <p:txBody>
          <a:bodyPr anchorCtr="0" anchor="t" bIns="91425" lIns="91425" spcFirstLastPara="1" rIns="91425" wrap="square" tIns="91425">
            <a:normAutofit fontScale="70000" lnSpcReduction="10000"/>
          </a:bodyPr>
          <a:lstStyle/>
          <a:p>
            <a:pPr indent="-308610" lvl="0" marL="457200" rtl="0" algn="l">
              <a:lnSpc>
                <a:spcPct val="150000"/>
              </a:lnSpc>
              <a:spcBef>
                <a:spcPts val="0"/>
              </a:spcBef>
              <a:spcAft>
                <a:spcPts val="0"/>
              </a:spcAft>
              <a:buClr>
                <a:schemeClr val="dk1"/>
              </a:buClr>
              <a:buSzPct val="100000"/>
              <a:buChar char="•"/>
            </a:pPr>
            <a:r>
              <a:rPr lang="en" sz="1800">
                <a:solidFill>
                  <a:schemeClr val="dk2"/>
                </a:solidFill>
              </a:rPr>
              <a:t>An IIFE (Immediately Invoked Function Expression) is a JavaScript function that runs as soon as it is defined.</a:t>
            </a:r>
            <a:endParaRPr sz="1800">
              <a:solidFill>
                <a:schemeClr val="dk2"/>
              </a:solidFill>
            </a:endParaRPr>
          </a:p>
          <a:p>
            <a:pPr indent="-308610" lvl="0" marL="457200" rtl="0" algn="l">
              <a:lnSpc>
                <a:spcPct val="150000"/>
              </a:lnSpc>
              <a:spcBef>
                <a:spcPts val="800"/>
              </a:spcBef>
              <a:spcAft>
                <a:spcPts val="0"/>
              </a:spcAft>
              <a:buClr>
                <a:schemeClr val="dk1"/>
              </a:buClr>
              <a:buSzPct val="100000"/>
              <a:buChar char="•"/>
            </a:pPr>
            <a:r>
              <a:rPr lang="en" sz="1800">
                <a:solidFill>
                  <a:schemeClr val="dk2"/>
                </a:solidFill>
              </a:rPr>
              <a:t>It is a design pattern which is also known as a </a:t>
            </a:r>
            <a:r>
              <a:rPr b="1" lang="en" sz="1800">
                <a:solidFill>
                  <a:schemeClr val="dk2"/>
                </a:solidFill>
              </a:rPr>
              <a:t>Self-Executing Anonymous Function</a:t>
            </a:r>
            <a:r>
              <a:rPr lang="en" sz="1800">
                <a:solidFill>
                  <a:schemeClr val="dk2"/>
                </a:solidFill>
              </a:rPr>
              <a:t>.</a:t>
            </a:r>
            <a:endParaRPr sz="1800">
              <a:solidFill>
                <a:schemeClr val="dk2"/>
              </a:solidFill>
            </a:endParaRPr>
          </a:p>
          <a:p>
            <a:pPr indent="-308610" lvl="0" marL="457200" rtl="0" algn="l">
              <a:lnSpc>
                <a:spcPct val="150000"/>
              </a:lnSpc>
              <a:spcBef>
                <a:spcPts val="800"/>
              </a:spcBef>
              <a:spcAft>
                <a:spcPts val="0"/>
              </a:spcAft>
              <a:buClr>
                <a:schemeClr val="dk1"/>
              </a:buClr>
              <a:buSzPct val="100000"/>
              <a:buChar char="•"/>
            </a:pPr>
            <a:r>
              <a:rPr lang="en" sz="1800">
                <a:solidFill>
                  <a:schemeClr val="dk2"/>
                </a:solidFill>
              </a:rPr>
              <a:t>We simply want to call a function in order to get an output and never want to use it again and don’t want our program to ever be able to accidentally access it.</a:t>
            </a:r>
            <a:endParaRPr sz="1800">
              <a:solidFill>
                <a:schemeClr val="dk2"/>
              </a:solidFill>
            </a:endParaRPr>
          </a:p>
        </p:txBody>
      </p:sp>
      <p:sp>
        <p:nvSpPr>
          <p:cNvPr id="217" name="Google Shape;217;p26"/>
          <p:cNvSpPr txBox="1"/>
          <p:nvPr/>
        </p:nvSpPr>
        <p:spPr>
          <a:xfrm>
            <a:off x="3504306" y="3399802"/>
            <a:ext cx="3870300" cy="7158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	console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log</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3F3F3F"/>
                </a:solidFill>
                <a:latin typeface="Consolas"/>
                <a:ea typeface="Consolas"/>
                <a:cs typeface="Consolas"/>
                <a:sym typeface="Consolas"/>
              </a:rPr>
              <a:t>I am Anonymous!!</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100"/>
              <a:buNone/>
            </a:pPr>
            <a:r>
              <a:rPr lang="en" sz="2100">
                <a:latin typeface="Lato Black"/>
                <a:ea typeface="Lato Black"/>
                <a:cs typeface="Lato Black"/>
                <a:sym typeface="Lato Black"/>
              </a:rPr>
              <a:t>IIFE (Immediately Invoked Function Expression)</a:t>
            </a:r>
            <a:endParaRPr b="1" sz="2300"/>
          </a:p>
        </p:txBody>
      </p:sp>
      <p:sp>
        <p:nvSpPr>
          <p:cNvPr id="223" name="Google Shape;223;p2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1.4.1 Map</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24" name="Google Shape;224;p2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25" name="Google Shape;225;p2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26" name="Google Shape;226;p2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27" name="Google Shape;227;p27"/>
          <p:cNvSpPr txBox="1"/>
          <p:nvPr/>
        </p:nvSpPr>
        <p:spPr>
          <a:xfrm>
            <a:off x="2303400" y="1146800"/>
            <a:ext cx="6272100" cy="3204000"/>
          </a:xfrm>
          <a:prstGeom prst="rect">
            <a:avLst/>
          </a:prstGeom>
          <a:noFill/>
          <a:ln>
            <a:noFill/>
          </a:ln>
        </p:spPr>
        <p:txBody>
          <a:bodyPr anchorCtr="0" anchor="t" bIns="91425" lIns="91425" spcFirstLastPara="1" rIns="91425" wrap="square" tIns="91425">
            <a:normAutofit lnSpcReduction="10000"/>
          </a:bodyPr>
          <a:lstStyle/>
          <a:p>
            <a:pPr indent="-266700" lvl="0" marL="254000" rtl="0" algn="l">
              <a:lnSpc>
                <a:spcPct val="150000"/>
              </a:lnSpc>
              <a:spcBef>
                <a:spcPts val="0"/>
              </a:spcBef>
              <a:spcAft>
                <a:spcPts val="0"/>
              </a:spcAft>
              <a:buClr>
                <a:schemeClr val="dk1"/>
              </a:buClr>
              <a:buSzPts val="1800"/>
              <a:buChar char="•"/>
            </a:pPr>
            <a:r>
              <a:rPr lang="en" sz="1800">
                <a:solidFill>
                  <a:schemeClr val="dk2"/>
                </a:solidFill>
              </a:rPr>
              <a:t>The </a:t>
            </a:r>
            <a:r>
              <a:rPr b="1" lang="en" sz="1800">
                <a:solidFill>
                  <a:schemeClr val="dk2"/>
                </a:solidFill>
              </a:rPr>
              <a:t>map() </a:t>
            </a:r>
            <a:r>
              <a:rPr lang="en" sz="1800">
                <a:solidFill>
                  <a:schemeClr val="dk2"/>
                </a:solidFill>
              </a:rPr>
              <a:t>method creates a new array with the results of calling a function for every array element.</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lang="en" sz="1800">
                <a:solidFill>
                  <a:schemeClr val="dk2"/>
                </a:solidFill>
              </a:rPr>
              <a:t>The </a:t>
            </a:r>
            <a:r>
              <a:rPr b="1" lang="en" sz="1800">
                <a:solidFill>
                  <a:schemeClr val="dk2"/>
                </a:solidFill>
              </a:rPr>
              <a:t>map() </a:t>
            </a:r>
            <a:r>
              <a:rPr lang="en" sz="1800">
                <a:solidFill>
                  <a:schemeClr val="dk2"/>
                </a:solidFill>
              </a:rPr>
              <a:t>method calls the provided function once for each element in an array, in order.</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lang="en" sz="1800">
                <a:solidFill>
                  <a:schemeClr val="dk2"/>
                </a:solidFill>
              </a:rPr>
              <a:t>This method does not change the original array.</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b="1" lang="en" sz="1800">
                <a:solidFill>
                  <a:schemeClr val="dk2"/>
                </a:solidFill>
              </a:rPr>
              <a:t>map() </a:t>
            </a:r>
            <a:r>
              <a:rPr lang="en" sz="1800">
                <a:solidFill>
                  <a:schemeClr val="dk2"/>
                </a:solidFill>
              </a:rPr>
              <a:t>does not execute the function for array elements without values.</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Map Function</a:t>
            </a:r>
            <a:endParaRPr b="1" sz="2300"/>
          </a:p>
        </p:txBody>
      </p:sp>
      <p:sp>
        <p:nvSpPr>
          <p:cNvPr id="233" name="Google Shape;233;p2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1.4.1 Map</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34" name="Google Shape;234;p2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35" name="Google Shape;235;p2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36" name="Google Shape;236;p2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37" name="Google Shape;237;p28"/>
          <p:cNvSpPr txBox="1"/>
          <p:nvPr/>
        </p:nvSpPr>
        <p:spPr>
          <a:xfrm>
            <a:off x="2303400" y="1146800"/>
            <a:ext cx="6272100" cy="3204000"/>
          </a:xfrm>
          <a:prstGeom prst="rect">
            <a:avLst/>
          </a:prstGeom>
          <a:noFill/>
          <a:ln>
            <a:noFill/>
          </a:ln>
        </p:spPr>
        <p:txBody>
          <a:bodyPr anchorCtr="0" anchor="t" bIns="91425" lIns="91425" spcFirstLastPara="1" rIns="91425" wrap="square" tIns="91425">
            <a:normAutofit/>
          </a:bodyPr>
          <a:lstStyle/>
          <a:p>
            <a:pPr indent="-152400" lvl="0" marL="254000" rtl="0" algn="l">
              <a:lnSpc>
                <a:spcPct val="150000"/>
              </a:lnSpc>
              <a:spcBef>
                <a:spcPts val="0"/>
              </a:spcBef>
              <a:spcAft>
                <a:spcPts val="0"/>
              </a:spcAft>
              <a:buNone/>
            </a:pPr>
            <a:r>
              <a:t/>
            </a:r>
            <a:endParaRPr sz="1500">
              <a:solidFill>
                <a:schemeClr val="dk2"/>
              </a:solidFill>
              <a:latin typeface="Arvo"/>
              <a:ea typeface="Arvo"/>
              <a:cs typeface="Arvo"/>
              <a:sym typeface="Arvo"/>
            </a:endParaRPr>
          </a:p>
          <a:p>
            <a:pPr indent="-247650" lvl="0" marL="254000" rtl="0" algn="l">
              <a:lnSpc>
                <a:spcPct val="150000"/>
              </a:lnSpc>
              <a:spcBef>
                <a:spcPts val="800"/>
              </a:spcBef>
              <a:spcAft>
                <a:spcPts val="0"/>
              </a:spcAft>
              <a:buClr>
                <a:schemeClr val="dk1"/>
              </a:buClr>
              <a:buSzPts val="1500"/>
              <a:buChar char="•"/>
            </a:pPr>
            <a:r>
              <a:rPr b="1" lang="en" sz="1500">
                <a:solidFill>
                  <a:schemeClr val="dk2"/>
                </a:solidFill>
                <a:latin typeface="Arvo"/>
                <a:ea typeface="Arvo"/>
                <a:cs typeface="Arvo"/>
                <a:sym typeface="Arvo"/>
              </a:rPr>
              <a:t>currentValue</a:t>
            </a:r>
            <a:r>
              <a:rPr lang="en" sz="1500">
                <a:solidFill>
                  <a:schemeClr val="dk2"/>
                </a:solidFill>
                <a:latin typeface="Arvo"/>
                <a:ea typeface="Arvo"/>
                <a:cs typeface="Arvo"/>
                <a:sym typeface="Arvo"/>
              </a:rPr>
              <a:t>: Required. The value of the current element</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index</a:t>
            </a:r>
            <a:r>
              <a:rPr lang="en" sz="1500">
                <a:solidFill>
                  <a:schemeClr val="dk2"/>
                </a:solidFill>
                <a:latin typeface="Arvo"/>
                <a:ea typeface="Arvo"/>
                <a:cs typeface="Arvo"/>
                <a:sym typeface="Arvo"/>
              </a:rPr>
              <a:t>: Optional. The array index of the current element</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arr</a:t>
            </a:r>
            <a:r>
              <a:rPr lang="en" sz="1500">
                <a:solidFill>
                  <a:schemeClr val="dk2"/>
                </a:solidFill>
                <a:latin typeface="Arvo"/>
                <a:ea typeface="Arvo"/>
                <a:cs typeface="Arvo"/>
                <a:sym typeface="Arvo"/>
              </a:rPr>
              <a:t>: Optional. The array object the current element belongs to</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thisValue</a:t>
            </a:r>
            <a:r>
              <a:rPr lang="en" sz="1500">
                <a:solidFill>
                  <a:schemeClr val="dk2"/>
                </a:solidFill>
                <a:latin typeface="Arvo"/>
                <a:ea typeface="Arvo"/>
                <a:cs typeface="Arvo"/>
                <a:sym typeface="Arvo"/>
              </a:rPr>
              <a:t>: Optional. A value to be passed to the function to be used as its "this" value.</a:t>
            </a:r>
            <a:endParaRPr sz="1800">
              <a:solidFill>
                <a:schemeClr val="dk2"/>
              </a:solidFill>
            </a:endParaRPr>
          </a:p>
        </p:txBody>
      </p:sp>
      <p:sp>
        <p:nvSpPr>
          <p:cNvPr id="238" name="Google Shape;238;p28"/>
          <p:cNvSpPr txBox="1"/>
          <p:nvPr/>
        </p:nvSpPr>
        <p:spPr>
          <a:xfrm>
            <a:off x="2710804" y="1146802"/>
            <a:ext cx="54573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array</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map</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currentValue</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index</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arr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thisValue</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Map Function</a:t>
            </a:r>
            <a:endParaRPr b="1" sz="2300"/>
          </a:p>
        </p:txBody>
      </p:sp>
      <p:sp>
        <p:nvSpPr>
          <p:cNvPr id="244" name="Google Shape;244;p2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1.4.1 Map</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45" name="Google Shape;245;p2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46" name="Google Shape;246;p2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47" name="Google Shape;247;p2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48" name="Google Shape;248;p29"/>
          <p:cNvSpPr txBox="1"/>
          <p:nvPr/>
        </p:nvSpPr>
        <p:spPr>
          <a:xfrm>
            <a:off x="2303400" y="1146800"/>
            <a:ext cx="6272100" cy="3204000"/>
          </a:xfrm>
          <a:prstGeom prst="rect">
            <a:avLst/>
          </a:prstGeom>
          <a:noFill/>
          <a:ln>
            <a:noFill/>
          </a:ln>
        </p:spPr>
        <p:txBody>
          <a:bodyPr anchorCtr="0" anchor="t" bIns="91425" lIns="91425" spcFirstLastPara="1" rIns="91425" wrap="square" tIns="91425">
            <a:normAutofit/>
          </a:bodyPr>
          <a:lstStyle/>
          <a:p>
            <a:pPr indent="-152400" lvl="0" marL="254000" rtl="0" algn="l">
              <a:lnSpc>
                <a:spcPct val="150000"/>
              </a:lnSpc>
              <a:spcBef>
                <a:spcPts val="0"/>
              </a:spcBef>
              <a:spcAft>
                <a:spcPts val="0"/>
              </a:spcAft>
              <a:buNone/>
            </a:pPr>
            <a:r>
              <a:t/>
            </a:r>
            <a:endParaRPr sz="1500">
              <a:solidFill>
                <a:schemeClr val="dk2"/>
              </a:solidFill>
              <a:latin typeface="Arvo"/>
              <a:ea typeface="Arvo"/>
              <a:cs typeface="Arvo"/>
              <a:sym typeface="Arvo"/>
            </a:endParaRPr>
          </a:p>
          <a:p>
            <a:pPr indent="0" lvl="0" marL="457200" rtl="0" algn="l">
              <a:lnSpc>
                <a:spcPct val="150000"/>
              </a:lnSpc>
              <a:spcBef>
                <a:spcPts val="800"/>
              </a:spcBef>
              <a:spcAft>
                <a:spcPts val="0"/>
              </a:spcAft>
              <a:buNone/>
            </a:pPr>
            <a:r>
              <a:t/>
            </a:r>
            <a:endParaRPr sz="1800">
              <a:solidFill>
                <a:schemeClr val="dk2"/>
              </a:solidFill>
            </a:endParaRPr>
          </a:p>
        </p:txBody>
      </p:sp>
      <p:pic>
        <p:nvPicPr>
          <p:cNvPr id="249" name="Google Shape;249;p29"/>
          <p:cNvPicPr preferRelativeResize="0"/>
          <p:nvPr/>
        </p:nvPicPr>
        <p:blipFill rotWithShape="1">
          <a:blip r:embed="rId5">
            <a:alphaModFix/>
          </a:blip>
          <a:srcRect b="0" l="0" r="0" t="0"/>
          <a:stretch/>
        </p:blipFill>
        <p:spPr>
          <a:xfrm>
            <a:off x="2423175" y="1445226"/>
            <a:ext cx="6272101" cy="19554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Reduce</a:t>
            </a:r>
            <a:r>
              <a:rPr lang="en" sz="2100">
                <a:latin typeface="Lato Black"/>
                <a:ea typeface="Lato Black"/>
                <a:cs typeface="Lato Black"/>
                <a:sym typeface="Lato Black"/>
              </a:rPr>
              <a:t> Function</a:t>
            </a:r>
            <a:endParaRPr b="1" sz="2300"/>
          </a:p>
        </p:txBody>
      </p:sp>
      <p:sp>
        <p:nvSpPr>
          <p:cNvPr id="255" name="Google Shape;255;p3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1.4.2 Reduce</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56" name="Google Shape;256;p3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57" name="Google Shape;257;p3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58" name="Google Shape;258;p3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59" name="Google Shape;259;p30"/>
          <p:cNvSpPr txBox="1"/>
          <p:nvPr/>
        </p:nvSpPr>
        <p:spPr>
          <a:xfrm>
            <a:off x="2303400" y="1146800"/>
            <a:ext cx="6272100" cy="3204000"/>
          </a:xfrm>
          <a:prstGeom prst="rect">
            <a:avLst/>
          </a:prstGeom>
          <a:noFill/>
          <a:ln>
            <a:noFill/>
          </a:ln>
        </p:spPr>
        <p:txBody>
          <a:bodyPr anchorCtr="0" anchor="t" bIns="91425" lIns="91425" spcFirstLastPara="1" rIns="91425" wrap="square" tIns="91425">
            <a:normAutofit fontScale="92500" lnSpcReduction="20000"/>
          </a:bodyPr>
          <a:lstStyle/>
          <a:p>
            <a:pPr indent="-258127" lvl="0" marL="254000" rtl="0" algn="l">
              <a:lnSpc>
                <a:spcPct val="150000"/>
              </a:lnSpc>
              <a:spcBef>
                <a:spcPts val="0"/>
              </a:spcBef>
              <a:spcAft>
                <a:spcPts val="0"/>
              </a:spcAft>
              <a:buClr>
                <a:schemeClr val="dk1"/>
              </a:buClr>
              <a:buSzPct val="100000"/>
              <a:buChar char="•"/>
            </a:pPr>
            <a:r>
              <a:rPr lang="en" sz="1800">
                <a:solidFill>
                  <a:schemeClr val="dk2"/>
                </a:solidFill>
              </a:rPr>
              <a:t>The </a:t>
            </a:r>
            <a:r>
              <a:rPr b="1" lang="en" sz="1800">
                <a:solidFill>
                  <a:schemeClr val="dk2"/>
                </a:solidFill>
              </a:rPr>
              <a:t>reduce()</a:t>
            </a:r>
            <a:r>
              <a:rPr lang="en" sz="1800">
                <a:solidFill>
                  <a:schemeClr val="dk2"/>
                </a:solidFill>
              </a:rPr>
              <a:t> method reduces the array to a single value.</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The </a:t>
            </a:r>
            <a:r>
              <a:rPr b="1" lang="en" sz="1800">
                <a:solidFill>
                  <a:schemeClr val="dk2"/>
                </a:solidFill>
              </a:rPr>
              <a:t>reduce() </a:t>
            </a:r>
            <a:r>
              <a:rPr lang="en" sz="1800">
                <a:solidFill>
                  <a:schemeClr val="dk2"/>
                </a:solidFill>
              </a:rPr>
              <a:t>method executes a provided function for each value of the array (from left-to-right).</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The return value of the function is stored in an accumulator (result/total).</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b="1" lang="en" sz="1800">
                <a:solidFill>
                  <a:schemeClr val="dk2"/>
                </a:solidFill>
              </a:rPr>
              <a:t>reduce() </a:t>
            </a:r>
            <a:r>
              <a:rPr lang="en" sz="1800">
                <a:solidFill>
                  <a:schemeClr val="dk2"/>
                </a:solidFill>
              </a:rPr>
              <a:t>does not execute the function for array elements without values.</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this method does not change the original array.</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Reduce Function</a:t>
            </a:r>
            <a:endParaRPr b="1" sz="2300"/>
          </a:p>
        </p:txBody>
      </p:sp>
      <p:sp>
        <p:nvSpPr>
          <p:cNvPr id="265" name="Google Shape;265;p3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1.4.2 Reduce</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66" name="Google Shape;266;p3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67" name="Google Shape;267;p3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68" name="Google Shape;268;p3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69" name="Google Shape;269;p31"/>
          <p:cNvSpPr txBox="1"/>
          <p:nvPr/>
        </p:nvSpPr>
        <p:spPr>
          <a:xfrm>
            <a:off x="2303400" y="1641400"/>
            <a:ext cx="6272100" cy="3204000"/>
          </a:xfrm>
          <a:prstGeom prst="rect">
            <a:avLst/>
          </a:prstGeom>
          <a:noFill/>
          <a:ln>
            <a:noFill/>
          </a:ln>
        </p:spPr>
        <p:txBody>
          <a:bodyPr anchorCtr="0" anchor="t" bIns="91425" lIns="91425" spcFirstLastPara="1" rIns="91425" wrap="square" tIns="91425">
            <a:normAutofit/>
          </a:bodyPr>
          <a:lstStyle/>
          <a:p>
            <a:pPr indent="-323850" lvl="0" marL="457200" rtl="0" algn="l">
              <a:lnSpc>
                <a:spcPct val="150000"/>
              </a:lnSpc>
              <a:spcBef>
                <a:spcPts val="800"/>
              </a:spcBef>
              <a:spcAft>
                <a:spcPts val="0"/>
              </a:spcAft>
              <a:buClr>
                <a:schemeClr val="dk1"/>
              </a:buClr>
              <a:buSzPts val="1500"/>
              <a:buChar char="•"/>
            </a:pPr>
            <a:r>
              <a:rPr b="1" lang="en" sz="1500">
                <a:solidFill>
                  <a:schemeClr val="dk2"/>
                </a:solidFill>
                <a:latin typeface="Arvo"/>
                <a:ea typeface="Arvo"/>
                <a:cs typeface="Arvo"/>
                <a:sym typeface="Arvo"/>
              </a:rPr>
              <a:t>total: </a:t>
            </a:r>
            <a:r>
              <a:rPr lang="en" sz="1500">
                <a:solidFill>
                  <a:schemeClr val="dk2"/>
                </a:solidFill>
                <a:latin typeface="Arvo"/>
                <a:ea typeface="Arvo"/>
                <a:cs typeface="Arvo"/>
                <a:sym typeface="Arvo"/>
              </a:rPr>
              <a:t>Required. The initialValue, or the previously returned value of the function</a:t>
            </a:r>
            <a:br>
              <a:rPr b="1"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currentValue</a:t>
            </a:r>
            <a:r>
              <a:rPr lang="en" sz="1500">
                <a:solidFill>
                  <a:schemeClr val="dk2"/>
                </a:solidFill>
                <a:latin typeface="Arvo"/>
                <a:ea typeface="Arvo"/>
                <a:cs typeface="Arvo"/>
                <a:sym typeface="Arvo"/>
              </a:rPr>
              <a:t>: Required. The value of the current element</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currentIndex</a:t>
            </a:r>
            <a:r>
              <a:rPr lang="en" sz="1500">
                <a:solidFill>
                  <a:schemeClr val="dk2"/>
                </a:solidFill>
                <a:latin typeface="Arvo"/>
                <a:ea typeface="Arvo"/>
                <a:cs typeface="Arvo"/>
                <a:sym typeface="Arvo"/>
              </a:rPr>
              <a:t>: Optional. The array index of the current element</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arr</a:t>
            </a:r>
            <a:r>
              <a:rPr lang="en" sz="1500">
                <a:solidFill>
                  <a:schemeClr val="dk2"/>
                </a:solidFill>
                <a:latin typeface="Arvo"/>
                <a:ea typeface="Arvo"/>
                <a:cs typeface="Arvo"/>
                <a:sym typeface="Arvo"/>
              </a:rPr>
              <a:t>: Optional. The array object the current element belongs to</a:t>
            </a:r>
            <a:br>
              <a:rPr lang="en" sz="1500">
                <a:solidFill>
                  <a:schemeClr val="dk2"/>
                </a:solidFill>
                <a:latin typeface="Arvo"/>
                <a:ea typeface="Arvo"/>
                <a:cs typeface="Arvo"/>
                <a:sym typeface="Arvo"/>
              </a:rPr>
            </a:br>
            <a:r>
              <a:rPr b="1" lang="en" sz="1500">
                <a:solidFill>
                  <a:schemeClr val="dk2"/>
                </a:solidFill>
                <a:latin typeface="Arvo"/>
                <a:ea typeface="Arvo"/>
                <a:cs typeface="Arvo"/>
                <a:sym typeface="Arvo"/>
              </a:rPr>
              <a:t>initialValue</a:t>
            </a:r>
            <a:r>
              <a:rPr lang="en" sz="1500">
                <a:solidFill>
                  <a:schemeClr val="dk2"/>
                </a:solidFill>
                <a:latin typeface="Arvo"/>
                <a:ea typeface="Arvo"/>
                <a:cs typeface="Arvo"/>
                <a:sym typeface="Arvo"/>
              </a:rPr>
              <a:t>: Optional. A value to be passed to the function as the initial value</a:t>
            </a:r>
            <a:endParaRPr sz="1800">
              <a:solidFill>
                <a:schemeClr val="dk2"/>
              </a:solidFill>
            </a:endParaRPr>
          </a:p>
        </p:txBody>
      </p:sp>
      <p:sp>
        <p:nvSpPr>
          <p:cNvPr id="270" name="Google Shape;270;p31"/>
          <p:cNvSpPr txBox="1"/>
          <p:nvPr/>
        </p:nvSpPr>
        <p:spPr>
          <a:xfrm>
            <a:off x="2240825" y="1052688"/>
            <a:ext cx="65199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array</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reduce</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total</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currentValue</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currentIndex</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arr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initialValue</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Reduce Function</a:t>
            </a:r>
            <a:endParaRPr b="1" sz="2300"/>
          </a:p>
        </p:txBody>
      </p:sp>
      <p:sp>
        <p:nvSpPr>
          <p:cNvPr id="276" name="Google Shape;276;p3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1.4.2 Reduce</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	</a:t>
            </a:r>
            <a:endParaRPr sz="10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77" name="Google Shape;277;p3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78" name="Google Shape;278;p3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79" name="Google Shape;279;p3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pic>
        <p:nvPicPr>
          <p:cNvPr id="280" name="Google Shape;280;p32"/>
          <p:cNvPicPr preferRelativeResize="0"/>
          <p:nvPr/>
        </p:nvPicPr>
        <p:blipFill rotWithShape="1">
          <a:blip r:embed="rId5">
            <a:alphaModFix/>
          </a:blip>
          <a:srcRect b="0" l="0" r="0" t="0"/>
          <a:stretch/>
        </p:blipFill>
        <p:spPr>
          <a:xfrm>
            <a:off x="2651927" y="1638193"/>
            <a:ext cx="5672364" cy="184221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Filter </a:t>
            </a:r>
            <a:r>
              <a:rPr lang="en" sz="2100">
                <a:latin typeface="Lato Black"/>
                <a:ea typeface="Lato Black"/>
                <a:cs typeface="Lato Black"/>
                <a:sym typeface="Lato Black"/>
              </a:rPr>
              <a:t>Function</a:t>
            </a:r>
            <a:endParaRPr b="1" sz="2300"/>
          </a:p>
        </p:txBody>
      </p:sp>
      <p:sp>
        <p:nvSpPr>
          <p:cNvPr id="286" name="Google Shape;286;p3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1.4.3 Filter</a:t>
            </a:r>
            <a:r>
              <a:rPr lang="en" sz="1000">
                <a:solidFill>
                  <a:schemeClr val="dk1"/>
                </a:solidFill>
              </a:rPr>
              <a:t>	</a:t>
            </a:r>
            <a:endParaRPr sz="10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87" name="Google Shape;287;p3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88" name="Google Shape;288;p3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89" name="Google Shape;289;p3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90" name="Google Shape;290;p33"/>
          <p:cNvSpPr txBox="1"/>
          <p:nvPr/>
        </p:nvSpPr>
        <p:spPr>
          <a:xfrm>
            <a:off x="2358900" y="1226425"/>
            <a:ext cx="6154200" cy="2329500"/>
          </a:xfrm>
          <a:prstGeom prst="rect">
            <a:avLst/>
          </a:prstGeom>
          <a:noFill/>
          <a:ln>
            <a:noFill/>
          </a:ln>
        </p:spPr>
        <p:txBody>
          <a:bodyPr anchorCtr="0" anchor="t" bIns="91425" lIns="91425" spcFirstLastPara="1" rIns="91425" wrap="square" tIns="91425">
            <a:normAutofit/>
          </a:bodyPr>
          <a:lstStyle/>
          <a:p>
            <a:pPr indent="-266700" lvl="0" marL="254000" rtl="0" algn="l">
              <a:lnSpc>
                <a:spcPct val="150000"/>
              </a:lnSpc>
              <a:spcBef>
                <a:spcPts val="0"/>
              </a:spcBef>
              <a:spcAft>
                <a:spcPts val="0"/>
              </a:spcAft>
              <a:buClr>
                <a:schemeClr val="dk1"/>
              </a:buClr>
              <a:buSzPts val="1800"/>
              <a:buChar char="•"/>
            </a:pPr>
            <a:r>
              <a:rPr lang="en" sz="1800">
                <a:solidFill>
                  <a:schemeClr val="dk2"/>
                </a:solidFill>
              </a:rPr>
              <a:t>The </a:t>
            </a:r>
            <a:r>
              <a:rPr b="1" lang="en" sz="1800">
                <a:solidFill>
                  <a:schemeClr val="dk2"/>
                </a:solidFill>
              </a:rPr>
              <a:t>filter() </a:t>
            </a:r>
            <a:r>
              <a:rPr lang="en" sz="1800">
                <a:solidFill>
                  <a:schemeClr val="dk2"/>
                </a:solidFill>
              </a:rPr>
              <a:t>method creates an array filled with all array elements that passes a test (provided as a function).</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b="1" lang="en" sz="1800">
                <a:solidFill>
                  <a:schemeClr val="dk2"/>
                </a:solidFill>
              </a:rPr>
              <a:t>filter() </a:t>
            </a:r>
            <a:r>
              <a:rPr lang="en" sz="1800">
                <a:solidFill>
                  <a:schemeClr val="dk2"/>
                </a:solidFill>
              </a:rPr>
              <a:t>does not execute the function for array elements without values.</a:t>
            </a:r>
            <a:endParaRPr sz="1800">
              <a:solidFill>
                <a:schemeClr val="dk2"/>
              </a:solidFill>
            </a:endParaRPr>
          </a:p>
          <a:p>
            <a:pPr indent="-266700" lvl="0" marL="254000" rtl="0" algn="l">
              <a:lnSpc>
                <a:spcPct val="150000"/>
              </a:lnSpc>
              <a:spcBef>
                <a:spcPts val="800"/>
              </a:spcBef>
              <a:spcAft>
                <a:spcPts val="0"/>
              </a:spcAft>
              <a:buClr>
                <a:schemeClr val="dk1"/>
              </a:buClr>
              <a:buSzPts val="1800"/>
              <a:buChar char="•"/>
            </a:pPr>
            <a:r>
              <a:rPr b="1" lang="en" sz="1800">
                <a:solidFill>
                  <a:schemeClr val="dk2"/>
                </a:solidFill>
              </a:rPr>
              <a:t>filter() </a:t>
            </a:r>
            <a:r>
              <a:rPr lang="en" sz="1800">
                <a:solidFill>
                  <a:schemeClr val="dk2"/>
                </a:solidFill>
              </a:rPr>
              <a:t>does not change the original array.</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Filter </a:t>
            </a:r>
            <a:r>
              <a:rPr lang="en" sz="2100">
                <a:latin typeface="Lato Black"/>
                <a:ea typeface="Lato Black"/>
                <a:cs typeface="Lato Black"/>
                <a:sym typeface="Lato Black"/>
              </a:rPr>
              <a:t>Function</a:t>
            </a:r>
            <a:endParaRPr b="1" sz="2300"/>
          </a:p>
        </p:txBody>
      </p:sp>
      <p:sp>
        <p:nvSpPr>
          <p:cNvPr id="296" name="Google Shape;296;p3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1.4.3 Filter</a:t>
            </a:r>
            <a:r>
              <a:rPr lang="en" sz="1000">
                <a:solidFill>
                  <a:schemeClr val="dk1"/>
                </a:solidFill>
              </a:rPr>
              <a:t>	</a:t>
            </a:r>
            <a:endParaRPr sz="10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97" name="Google Shape;297;p3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98" name="Google Shape;298;p3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99" name="Google Shape;299;p3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00" name="Google Shape;300;p34"/>
          <p:cNvSpPr txBox="1"/>
          <p:nvPr/>
        </p:nvSpPr>
        <p:spPr>
          <a:xfrm>
            <a:off x="2358900" y="1226425"/>
            <a:ext cx="6154200" cy="2329500"/>
          </a:xfrm>
          <a:prstGeom prst="rect">
            <a:avLst/>
          </a:prstGeom>
          <a:noFill/>
          <a:ln>
            <a:noFill/>
          </a:ln>
        </p:spPr>
        <p:txBody>
          <a:bodyPr anchorCtr="0" anchor="t" bIns="91425" lIns="91425" spcFirstLastPara="1" rIns="91425" wrap="square" tIns="91425">
            <a:normAutofit fontScale="85000"/>
          </a:bodyPr>
          <a:lstStyle/>
          <a:p>
            <a:pPr indent="-152400" lvl="0" marL="254000" rtl="0" algn="l">
              <a:lnSpc>
                <a:spcPct val="150000"/>
              </a:lnSpc>
              <a:spcBef>
                <a:spcPts val="0"/>
              </a:spcBef>
              <a:spcAft>
                <a:spcPts val="0"/>
              </a:spcAft>
              <a:buNone/>
            </a:pPr>
            <a:r>
              <a:t/>
            </a:r>
            <a:endParaRPr sz="1500">
              <a:solidFill>
                <a:schemeClr val="dk2"/>
              </a:solidFill>
              <a:latin typeface="Arvo"/>
              <a:ea typeface="Arvo"/>
              <a:cs typeface="Arvo"/>
              <a:sym typeface="Arvo"/>
            </a:endParaRPr>
          </a:p>
          <a:p>
            <a:pPr indent="-249555" lvl="0" marL="254000" rtl="0" algn="l">
              <a:lnSpc>
                <a:spcPct val="150000"/>
              </a:lnSpc>
              <a:spcBef>
                <a:spcPts val="800"/>
              </a:spcBef>
              <a:spcAft>
                <a:spcPts val="0"/>
              </a:spcAft>
              <a:buClr>
                <a:schemeClr val="dk1"/>
              </a:buClr>
              <a:buSzPct val="100000"/>
              <a:buChar char="•"/>
            </a:pPr>
            <a:r>
              <a:rPr b="1" lang="en" sz="1800">
                <a:solidFill>
                  <a:schemeClr val="dk2"/>
                </a:solidFill>
              </a:rPr>
              <a:t>currentValue</a:t>
            </a:r>
            <a:r>
              <a:rPr lang="en" sz="1800">
                <a:solidFill>
                  <a:schemeClr val="dk2"/>
                </a:solidFill>
              </a:rPr>
              <a:t>: Required. The value of the current element</a:t>
            </a:r>
            <a:br>
              <a:rPr lang="en" sz="1800">
                <a:solidFill>
                  <a:schemeClr val="dk2"/>
                </a:solidFill>
              </a:rPr>
            </a:br>
            <a:r>
              <a:rPr b="1" lang="en" sz="1800">
                <a:solidFill>
                  <a:schemeClr val="dk2"/>
                </a:solidFill>
              </a:rPr>
              <a:t>index</a:t>
            </a:r>
            <a:r>
              <a:rPr lang="en" sz="1800">
                <a:solidFill>
                  <a:schemeClr val="dk2"/>
                </a:solidFill>
              </a:rPr>
              <a:t>: Optional. The array index of the current element</a:t>
            </a:r>
            <a:br>
              <a:rPr lang="en" sz="1800">
                <a:solidFill>
                  <a:schemeClr val="dk2"/>
                </a:solidFill>
              </a:rPr>
            </a:br>
            <a:r>
              <a:rPr b="1" lang="en" sz="1800">
                <a:solidFill>
                  <a:schemeClr val="dk2"/>
                </a:solidFill>
              </a:rPr>
              <a:t>arr</a:t>
            </a:r>
            <a:r>
              <a:rPr lang="en" sz="1800">
                <a:solidFill>
                  <a:schemeClr val="dk2"/>
                </a:solidFill>
              </a:rPr>
              <a:t>: Optional. The array object the current element belongs to</a:t>
            </a:r>
            <a:br>
              <a:rPr lang="en" sz="1800">
                <a:solidFill>
                  <a:schemeClr val="dk2"/>
                </a:solidFill>
              </a:rPr>
            </a:br>
            <a:r>
              <a:rPr b="1" lang="en" sz="1800">
                <a:solidFill>
                  <a:schemeClr val="dk2"/>
                </a:solidFill>
              </a:rPr>
              <a:t>thisValue</a:t>
            </a:r>
            <a:r>
              <a:rPr lang="en" sz="1800">
                <a:solidFill>
                  <a:schemeClr val="dk2"/>
                </a:solidFill>
              </a:rPr>
              <a:t>: Optional. A value to be passed to the function to be used as its "this" value.</a:t>
            </a:r>
            <a:endParaRPr sz="1800">
              <a:solidFill>
                <a:schemeClr val="dk2"/>
              </a:solidFill>
            </a:endParaRPr>
          </a:p>
        </p:txBody>
      </p:sp>
      <p:sp>
        <p:nvSpPr>
          <p:cNvPr id="301" name="Google Shape;301;p34"/>
          <p:cNvSpPr txBox="1"/>
          <p:nvPr/>
        </p:nvSpPr>
        <p:spPr>
          <a:xfrm>
            <a:off x="2505729" y="1146802"/>
            <a:ext cx="57423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array</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filter</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currentValue</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index</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arr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thisValue</a:t>
            </a:r>
            <a:r>
              <a:rPr b="0" i="0" lang="en" sz="1400" u="none" cap="none" strike="noStrike">
                <a:solidFill>
                  <a:srgbClr val="AAAAAA"/>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5"/>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Filter Function</a:t>
            </a:r>
            <a:endParaRPr b="1" sz="2300"/>
          </a:p>
        </p:txBody>
      </p:sp>
      <p:sp>
        <p:nvSpPr>
          <p:cNvPr id="307" name="Google Shape;307;p3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b="1" lang="en" sz="1000">
                <a:solidFill>
                  <a:schemeClr val="dk1"/>
                </a:solidFill>
              </a:rPr>
              <a:t>1.4.3 Filter</a:t>
            </a:r>
            <a:r>
              <a:rPr lang="en" sz="1000">
                <a:solidFill>
                  <a:schemeClr val="dk1"/>
                </a:solidFill>
              </a:rPr>
              <a:t>	</a:t>
            </a:r>
            <a:endParaRPr sz="100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 sz="1000">
                <a:solidFill>
                  <a:schemeClr val="dk1"/>
                </a:solidFill>
              </a:rPr>
              <a:t>1.4.4 ForEach</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08" name="Google Shape;308;p3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09" name="Google Shape;309;p3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10" name="Google Shape;310;p3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11" name="Google Shape;311;p35"/>
          <p:cNvSpPr txBox="1"/>
          <p:nvPr/>
        </p:nvSpPr>
        <p:spPr>
          <a:xfrm>
            <a:off x="2358900" y="1226425"/>
            <a:ext cx="6154200" cy="2329500"/>
          </a:xfrm>
          <a:prstGeom prst="rect">
            <a:avLst/>
          </a:prstGeom>
          <a:noFill/>
          <a:ln>
            <a:noFill/>
          </a:ln>
        </p:spPr>
        <p:txBody>
          <a:bodyPr anchorCtr="0" anchor="t" bIns="91425" lIns="91425" spcFirstLastPara="1" rIns="91425" wrap="square" tIns="91425">
            <a:normAutofit/>
          </a:bodyPr>
          <a:lstStyle/>
          <a:p>
            <a:pPr indent="-152400" lvl="0" marL="254000" rtl="0" algn="l">
              <a:lnSpc>
                <a:spcPct val="150000"/>
              </a:lnSpc>
              <a:spcBef>
                <a:spcPts val="0"/>
              </a:spcBef>
              <a:spcAft>
                <a:spcPts val="0"/>
              </a:spcAft>
              <a:buNone/>
            </a:pPr>
            <a:r>
              <a:t/>
            </a:r>
            <a:endParaRPr sz="1500">
              <a:solidFill>
                <a:schemeClr val="dk2"/>
              </a:solidFill>
              <a:latin typeface="Arvo"/>
              <a:ea typeface="Arvo"/>
              <a:cs typeface="Arvo"/>
              <a:sym typeface="Arvo"/>
            </a:endParaRPr>
          </a:p>
          <a:p>
            <a:pPr indent="0" lvl="0" marL="457200" rtl="0" algn="l">
              <a:lnSpc>
                <a:spcPct val="150000"/>
              </a:lnSpc>
              <a:spcBef>
                <a:spcPts val="800"/>
              </a:spcBef>
              <a:spcAft>
                <a:spcPts val="0"/>
              </a:spcAft>
              <a:buNone/>
            </a:pPr>
            <a:r>
              <a:t/>
            </a:r>
            <a:endParaRPr sz="1800">
              <a:solidFill>
                <a:schemeClr val="dk2"/>
              </a:solidFill>
            </a:endParaRPr>
          </a:p>
        </p:txBody>
      </p:sp>
      <p:pic>
        <p:nvPicPr>
          <p:cNvPr id="312" name="Google Shape;312;p35"/>
          <p:cNvPicPr preferRelativeResize="0"/>
          <p:nvPr/>
        </p:nvPicPr>
        <p:blipFill rotWithShape="1">
          <a:blip r:embed="rId5">
            <a:alphaModFix/>
          </a:blip>
          <a:srcRect b="0" l="0" r="0" t="0"/>
          <a:stretch/>
        </p:blipFill>
        <p:spPr>
          <a:xfrm>
            <a:off x="2449178" y="1638843"/>
            <a:ext cx="5855396" cy="21165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ForEach</a:t>
            </a:r>
            <a:r>
              <a:rPr lang="en" sz="2100">
                <a:latin typeface="Lato Black"/>
                <a:ea typeface="Lato Black"/>
                <a:cs typeface="Lato Black"/>
                <a:sym typeface="Lato Black"/>
              </a:rPr>
              <a:t> Function</a:t>
            </a:r>
            <a:endParaRPr b="1" sz="2300"/>
          </a:p>
        </p:txBody>
      </p:sp>
      <p:sp>
        <p:nvSpPr>
          <p:cNvPr id="318" name="Google Shape;318;p3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t>
            </a:r>
            <a:r>
              <a:rPr lang="en" sz="1000">
                <a:solidFill>
                  <a:schemeClr val="dk1"/>
                </a:solidFill>
              </a:rPr>
              <a:t>1.4.3 Filter</a:t>
            </a:r>
            <a:endParaRPr sz="1000">
              <a:solidFill>
                <a:schemeClr val="dk1"/>
              </a:solidFill>
            </a:endParaRPr>
          </a:p>
          <a:p>
            <a:pPr indent="457200" lvl="0" marL="0" rtl="0" algn="l">
              <a:lnSpc>
                <a:spcPct val="115000"/>
              </a:lnSpc>
              <a:spcBef>
                <a:spcPts val="0"/>
              </a:spcBef>
              <a:spcAft>
                <a:spcPts val="0"/>
              </a:spcAft>
              <a:buNone/>
            </a:pPr>
            <a:r>
              <a:rPr b="1"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19" name="Google Shape;319;p3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20" name="Google Shape;320;p3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21" name="Google Shape;321;p3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22" name="Google Shape;322;p36"/>
          <p:cNvSpPr txBox="1"/>
          <p:nvPr/>
        </p:nvSpPr>
        <p:spPr>
          <a:xfrm>
            <a:off x="2358900" y="1226425"/>
            <a:ext cx="6154200" cy="3315900"/>
          </a:xfrm>
          <a:prstGeom prst="rect">
            <a:avLst/>
          </a:prstGeom>
          <a:noFill/>
          <a:ln>
            <a:noFill/>
          </a:ln>
        </p:spPr>
        <p:txBody>
          <a:bodyPr anchorCtr="0" anchor="t" bIns="91425" lIns="91425" spcFirstLastPara="1" rIns="91425" wrap="square" tIns="91425">
            <a:normAutofit fontScale="85000"/>
          </a:bodyPr>
          <a:lstStyle/>
          <a:p>
            <a:pPr indent="-249555" lvl="0" marL="254000" rtl="0" algn="l">
              <a:lnSpc>
                <a:spcPct val="150000"/>
              </a:lnSpc>
              <a:spcBef>
                <a:spcPts val="0"/>
              </a:spcBef>
              <a:spcAft>
                <a:spcPts val="0"/>
              </a:spcAft>
              <a:buClr>
                <a:schemeClr val="dk1"/>
              </a:buClr>
              <a:buSzPct val="100000"/>
              <a:buChar char="•"/>
            </a:pPr>
            <a:r>
              <a:rPr lang="en" sz="1800">
                <a:solidFill>
                  <a:schemeClr val="dk2"/>
                </a:solidFill>
              </a:rPr>
              <a:t>The </a:t>
            </a:r>
            <a:r>
              <a:rPr b="1" lang="en" sz="1800">
                <a:solidFill>
                  <a:schemeClr val="dk2"/>
                </a:solidFill>
              </a:rPr>
              <a:t>forEach() </a:t>
            </a:r>
            <a:r>
              <a:rPr lang="en" sz="1800">
                <a:solidFill>
                  <a:schemeClr val="dk2"/>
                </a:solidFill>
              </a:rPr>
              <a:t>method calls a function once for each element in an array, in order.</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The function is not executed for array elements without values.</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The provided function may perform any kind of operation on the elements of the given array.</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The return value of this function is always undefined. This function may or may not change the original array provided as it depends upon the functionality of the argument function.</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7"/>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ForEach Function</a:t>
            </a:r>
            <a:endParaRPr b="1" sz="2300"/>
          </a:p>
        </p:txBody>
      </p:sp>
      <p:sp>
        <p:nvSpPr>
          <p:cNvPr id="328" name="Google Shape;328;p3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b="1" lang="en" sz="1000">
                <a:solidFill>
                  <a:schemeClr val="dk1"/>
                </a:solidFill>
              </a:rPr>
              <a:t>1.4.4 ForEach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29" name="Google Shape;329;p3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30" name="Google Shape;330;p3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31" name="Google Shape;331;p3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32" name="Google Shape;332;p37"/>
          <p:cNvSpPr txBox="1"/>
          <p:nvPr/>
        </p:nvSpPr>
        <p:spPr>
          <a:xfrm>
            <a:off x="2358900" y="1985275"/>
            <a:ext cx="6154200" cy="2478300"/>
          </a:xfrm>
          <a:prstGeom prst="rect">
            <a:avLst/>
          </a:prstGeom>
          <a:noFill/>
          <a:ln>
            <a:noFill/>
          </a:ln>
        </p:spPr>
        <p:txBody>
          <a:bodyPr anchorCtr="0" anchor="t" bIns="91425" lIns="91425" spcFirstLastPara="1" rIns="91425" wrap="square" tIns="91425">
            <a:normAutofit fontScale="92500"/>
          </a:bodyPr>
          <a:lstStyle/>
          <a:p>
            <a:pPr indent="-258127" lvl="0" marL="254000" rtl="0" algn="l">
              <a:lnSpc>
                <a:spcPct val="150000"/>
              </a:lnSpc>
              <a:spcBef>
                <a:spcPts val="800"/>
              </a:spcBef>
              <a:spcAft>
                <a:spcPts val="0"/>
              </a:spcAft>
              <a:buClr>
                <a:schemeClr val="dk1"/>
              </a:buClr>
              <a:buSzPct val="100000"/>
              <a:buChar char="•"/>
            </a:pPr>
            <a:r>
              <a:rPr b="1" lang="en" sz="1800">
                <a:solidFill>
                  <a:schemeClr val="dk2"/>
                </a:solidFill>
              </a:rPr>
              <a:t>C</a:t>
            </a:r>
            <a:r>
              <a:rPr b="1" lang="en" sz="1800">
                <a:solidFill>
                  <a:schemeClr val="dk2"/>
                </a:solidFill>
              </a:rPr>
              <a:t>urrentValue</a:t>
            </a:r>
            <a:r>
              <a:rPr lang="en" sz="1800">
                <a:solidFill>
                  <a:schemeClr val="dk2"/>
                </a:solidFill>
              </a:rPr>
              <a:t>: Required. The value of the current element</a:t>
            </a:r>
            <a:br>
              <a:rPr lang="en" sz="1800">
                <a:solidFill>
                  <a:schemeClr val="dk2"/>
                </a:solidFill>
              </a:rPr>
            </a:br>
            <a:r>
              <a:rPr b="1" lang="en" sz="1800">
                <a:solidFill>
                  <a:schemeClr val="dk2"/>
                </a:solidFill>
              </a:rPr>
              <a:t>index</a:t>
            </a:r>
            <a:r>
              <a:rPr lang="en" sz="1800">
                <a:solidFill>
                  <a:schemeClr val="dk2"/>
                </a:solidFill>
              </a:rPr>
              <a:t>: Optional. The array index of the current element</a:t>
            </a:r>
            <a:br>
              <a:rPr lang="en" sz="1800">
                <a:solidFill>
                  <a:schemeClr val="dk2"/>
                </a:solidFill>
              </a:rPr>
            </a:br>
            <a:r>
              <a:rPr b="1" lang="en" sz="1800">
                <a:solidFill>
                  <a:schemeClr val="dk2"/>
                </a:solidFill>
              </a:rPr>
              <a:t>arr</a:t>
            </a:r>
            <a:r>
              <a:rPr lang="en" sz="1800">
                <a:solidFill>
                  <a:schemeClr val="dk2"/>
                </a:solidFill>
              </a:rPr>
              <a:t>: Optional. The array object the current element belongs to</a:t>
            </a:r>
            <a:br>
              <a:rPr lang="en" sz="1800">
                <a:solidFill>
                  <a:schemeClr val="dk2"/>
                </a:solidFill>
              </a:rPr>
            </a:br>
            <a:r>
              <a:rPr b="1" lang="en" sz="1800">
                <a:solidFill>
                  <a:schemeClr val="dk2"/>
                </a:solidFill>
              </a:rPr>
              <a:t>thisValue</a:t>
            </a:r>
            <a:r>
              <a:rPr lang="en" sz="1800">
                <a:solidFill>
                  <a:schemeClr val="dk2"/>
                </a:solidFill>
              </a:rPr>
              <a:t>: Optional. A value to be passed to the function to be used as its "this" value.</a:t>
            </a:r>
            <a:endParaRPr sz="1800">
              <a:solidFill>
                <a:schemeClr val="dk2"/>
              </a:solidFill>
            </a:endParaRPr>
          </a:p>
        </p:txBody>
      </p:sp>
      <p:sp>
        <p:nvSpPr>
          <p:cNvPr id="333" name="Google Shape;333;p37"/>
          <p:cNvSpPr txBox="1"/>
          <p:nvPr/>
        </p:nvSpPr>
        <p:spPr>
          <a:xfrm>
            <a:off x="2675829" y="1224627"/>
            <a:ext cx="58371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2AA30"/>
                </a:solidFill>
                <a:latin typeface="Consolas"/>
                <a:ea typeface="Consolas"/>
                <a:cs typeface="Consolas"/>
                <a:sym typeface="Consolas"/>
              </a:rPr>
              <a:t>array</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forEach</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function</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currentValue</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index</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arr</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thisValue</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8"/>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ForEach Function</a:t>
            </a:r>
            <a:endParaRPr b="1" sz="2300"/>
          </a:p>
        </p:txBody>
      </p:sp>
      <p:sp>
        <p:nvSpPr>
          <p:cNvPr id="339" name="Google Shape;339;p3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b="1" lang="en" sz="1000">
                <a:solidFill>
                  <a:schemeClr val="dk1"/>
                </a:solidFill>
              </a:rPr>
              <a:t>1.4.4 ForEach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40" name="Google Shape;340;p3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41" name="Google Shape;341;p3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42" name="Google Shape;342;p3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pic>
        <p:nvPicPr>
          <p:cNvPr id="343" name="Google Shape;343;p38"/>
          <p:cNvPicPr preferRelativeResize="0"/>
          <p:nvPr/>
        </p:nvPicPr>
        <p:blipFill rotWithShape="1">
          <a:blip r:embed="rId5">
            <a:alphaModFix/>
          </a:blip>
          <a:srcRect b="0" l="0" r="0" t="0"/>
          <a:stretch/>
        </p:blipFill>
        <p:spPr>
          <a:xfrm>
            <a:off x="2358900" y="2045600"/>
            <a:ext cx="6272099" cy="1835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9FFFE"/>
            </a:gs>
            <a:gs pos="100000">
              <a:srgbClr val="B4E2EE"/>
            </a:gs>
          </a:gsLst>
          <a:lin ang="18900044" scaled="0"/>
        </a:gradFill>
      </p:bgPr>
    </p:bg>
    <p:spTree>
      <p:nvGrpSpPr>
        <p:cNvPr id="347" name="Shape 347"/>
        <p:cNvGrpSpPr/>
        <p:nvPr/>
      </p:nvGrpSpPr>
      <p:grpSpPr>
        <a:xfrm>
          <a:off x="0" y="0"/>
          <a:ext cx="0" cy="0"/>
          <a:chOff x="0" y="0"/>
          <a:chExt cx="0" cy="0"/>
        </a:xfrm>
      </p:grpSpPr>
      <p:pic>
        <p:nvPicPr>
          <p:cNvPr id="348" name="Google Shape;348;p39"/>
          <p:cNvPicPr preferRelativeResize="0"/>
          <p:nvPr/>
        </p:nvPicPr>
        <p:blipFill rotWithShape="1">
          <a:blip r:embed="rId3">
            <a:alphaModFix/>
          </a:blip>
          <a:srcRect b="0" l="0" r="0" t="0"/>
          <a:stretch/>
        </p:blipFill>
        <p:spPr>
          <a:xfrm>
            <a:off x="0" y="0"/>
            <a:ext cx="9144000" cy="5212079"/>
          </a:xfrm>
          <a:prstGeom prst="rect">
            <a:avLst/>
          </a:prstGeom>
          <a:noFill/>
          <a:ln>
            <a:noFill/>
          </a:ln>
        </p:spPr>
      </p:pic>
      <p:sp>
        <p:nvSpPr>
          <p:cNvPr id="349" name="Google Shape;349;p39"/>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350" name="Google Shape;350;p39"/>
          <p:cNvPicPr preferRelativeResize="0"/>
          <p:nvPr/>
        </p:nvPicPr>
        <p:blipFill rotWithShape="1">
          <a:blip r:embed="rId4">
            <a:alphaModFix/>
          </a:blip>
          <a:srcRect b="0" l="0" r="0" t="0"/>
          <a:stretch/>
        </p:blipFill>
        <p:spPr>
          <a:xfrm>
            <a:off x="6671855" y="2681203"/>
            <a:ext cx="2472146" cy="2462296"/>
          </a:xfrm>
          <a:prstGeom prst="rect">
            <a:avLst/>
          </a:prstGeom>
          <a:noFill/>
          <a:ln>
            <a:noFill/>
          </a:ln>
        </p:spPr>
      </p:pic>
      <p:pic>
        <p:nvPicPr>
          <p:cNvPr id="351" name="Google Shape;351;p39"/>
          <p:cNvPicPr preferRelativeResize="0"/>
          <p:nvPr/>
        </p:nvPicPr>
        <p:blipFill rotWithShape="1">
          <a:blip r:embed="rId5">
            <a:alphaModFix/>
          </a:blip>
          <a:srcRect b="0" l="0" r="0" t="0"/>
          <a:stretch/>
        </p:blipFill>
        <p:spPr>
          <a:xfrm>
            <a:off x="206339" y="93287"/>
            <a:ext cx="1448822" cy="774630"/>
          </a:xfrm>
          <a:prstGeom prst="rect">
            <a:avLst/>
          </a:prstGeom>
          <a:noFill/>
          <a:ln>
            <a:noFill/>
          </a:ln>
        </p:spPr>
      </p:pic>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0"/>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DOM and Virtual DOM</a:t>
            </a:r>
            <a:endParaRPr b="1" sz="2300"/>
          </a:p>
        </p:txBody>
      </p:sp>
      <p:sp>
        <p:nvSpPr>
          <p:cNvPr id="357" name="Google Shape;357;p4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	</a:t>
            </a:r>
            <a:endParaRPr sz="1000">
              <a:solidFill>
                <a:schemeClr val="dk1"/>
              </a:solidFill>
            </a:endParaRPr>
          </a:p>
          <a:p>
            <a:pPr indent="0" lvl="0" marL="0" rtl="0" algn="l">
              <a:spcBef>
                <a:spcPts val="0"/>
              </a:spcBef>
              <a:spcAft>
                <a:spcPts val="0"/>
              </a:spcAft>
              <a:buNone/>
            </a:pPr>
            <a:r>
              <a:rPr b="1" lang="en" sz="1000">
                <a:solidFill>
                  <a:schemeClr val="dk1"/>
                </a:solidFill>
              </a:rPr>
              <a:t>1.6 DOM and Virtual DOM</a:t>
            </a:r>
            <a:endParaRPr b="1"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58" name="Google Shape;358;p4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59" name="Google Shape;359;p4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60" name="Google Shape;360;p4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61" name="Google Shape;361;p40"/>
          <p:cNvSpPr txBox="1"/>
          <p:nvPr/>
        </p:nvSpPr>
        <p:spPr>
          <a:xfrm>
            <a:off x="2358900" y="1146800"/>
            <a:ext cx="6153900" cy="3596700"/>
          </a:xfrm>
          <a:prstGeom prst="rect">
            <a:avLst/>
          </a:prstGeom>
          <a:noFill/>
          <a:ln>
            <a:noFill/>
          </a:ln>
        </p:spPr>
        <p:txBody>
          <a:bodyPr anchorCtr="0" anchor="t" bIns="91425" lIns="91425" spcFirstLastPara="1" rIns="91425" wrap="square" tIns="91425">
            <a:normAutofit fontScale="92500" lnSpcReduction="20000"/>
          </a:bodyPr>
          <a:lstStyle/>
          <a:p>
            <a:pPr indent="-258127" lvl="0" marL="254000" rtl="0" algn="l">
              <a:lnSpc>
                <a:spcPct val="150000"/>
              </a:lnSpc>
              <a:spcBef>
                <a:spcPts val="0"/>
              </a:spcBef>
              <a:spcAft>
                <a:spcPts val="0"/>
              </a:spcAft>
              <a:buClr>
                <a:schemeClr val="dk1"/>
              </a:buClr>
              <a:buSzPct val="100000"/>
              <a:buChar char="•"/>
            </a:pPr>
            <a:r>
              <a:rPr lang="en" sz="1800">
                <a:solidFill>
                  <a:schemeClr val="dk2"/>
                </a:solidFill>
              </a:rPr>
              <a:t>DOM stands for </a:t>
            </a:r>
            <a:r>
              <a:rPr b="1" lang="en" sz="1800">
                <a:solidFill>
                  <a:schemeClr val="dk2"/>
                </a:solidFill>
              </a:rPr>
              <a:t>Document Object Model</a:t>
            </a:r>
            <a:r>
              <a:rPr lang="en" sz="1800">
                <a:solidFill>
                  <a:schemeClr val="dk2"/>
                </a:solidFill>
              </a:rPr>
              <a:t>.</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is the data representation of the objects that comprise the structure and content of a document on the web.</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is a programming interface for valid HTML and well structured XML documents.</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defines the logical structure of documents and the way a document is accessed and manipulated.</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DOM is a way to represent the webpage in the structured hierarchical way.</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DOM and Virtual DOM</a:t>
            </a:r>
            <a:endParaRPr b="1" sz="2300"/>
          </a:p>
        </p:txBody>
      </p:sp>
      <p:sp>
        <p:nvSpPr>
          <p:cNvPr id="367" name="Google Shape;367;p4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b="1" lang="en" sz="1000">
                <a:solidFill>
                  <a:schemeClr val="dk1"/>
                </a:solidFill>
              </a:rPr>
              <a:t>1.6 DOM and Virtual DOM</a:t>
            </a:r>
            <a:endParaRPr b="1"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68" name="Google Shape;368;p4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69" name="Google Shape;369;p4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70" name="Google Shape;370;p4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71" name="Google Shape;371;p41"/>
          <p:cNvSpPr txBox="1"/>
          <p:nvPr/>
        </p:nvSpPr>
        <p:spPr>
          <a:xfrm>
            <a:off x="2358900" y="1146800"/>
            <a:ext cx="6153900" cy="35967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2"/>
                </a:solidFill>
              </a:rPr>
              <a:t>DOM can be thought of as a Tree of different html elements, its properties, methods and events.</a:t>
            </a:r>
            <a:endParaRPr sz="1800">
              <a:solidFill>
                <a:schemeClr val="dk2"/>
              </a:solidFill>
            </a:endParaRPr>
          </a:p>
          <a:p>
            <a:pPr indent="-342900" lvl="0" marL="457200" rtl="0" algn="l">
              <a:lnSpc>
                <a:spcPct val="150000"/>
              </a:lnSpc>
              <a:spcBef>
                <a:spcPts val="800"/>
              </a:spcBef>
              <a:spcAft>
                <a:spcPts val="0"/>
              </a:spcAft>
              <a:buClr>
                <a:schemeClr val="dk1"/>
              </a:buClr>
              <a:buSzPts val="1800"/>
              <a:buChar char="•"/>
            </a:pPr>
            <a:r>
              <a:rPr lang="en" sz="1800">
                <a:solidFill>
                  <a:schemeClr val="dk2"/>
                </a:solidFill>
              </a:rPr>
              <a:t>It is called an “Object Model”, because the document is modeled using objects. The model not only includes the structure but also the behavior of a document.</a:t>
            </a:r>
            <a:endParaRPr sz="1800">
              <a:solidFill>
                <a:schemeClr val="dk2"/>
              </a:solidFill>
            </a:endParaRPr>
          </a:p>
          <a:p>
            <a:pPr indent="-342900" lvl="0" marL="457200" rtl="0" algn="l">
              <a:lnSpc>
                <a:spcPct val="150000"/>
              </a:lnSpc>
              <a:spcBef>
                <a:spcPts val="800"/>
              </a:spcBef>
              <a:spcAft>
                <a:spcPts val="0"/>
              </a:spcAft>
              <a:buClr>
                <a:schemeClr val="dk1"/>
              </a:buClr>
              <a:buSzPts val="1800"/>
              <a:buChar char="•"/>
            </a:pPr>
            <a:r>
              <a:rPr lang="en" sz="1800">
                <a:solidFill>
                  <a:schemeClr val="dk2"/>
                </a:solidFill>
              </a:rPr>
              <a:t>JavaScript uses this Object Model to interact, manipulate and communicate with the structure of an html page.</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DOM and Virtual DOM</a:t>
            </a:r>
            <a:endParaRPr b="1" sz="2300"/>
          </a:p>
        </p:txBody>
      </p:sp>
      <p:sp>
        <p:nvSpPr>
          <p:cNvPr id="377" name="Google Shape;377;p4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b="1" lang="en" sz="1000">
                <a:solidFill>
                  <a:schemeClr val="dk1"/>
                </a:solidFill>
              </a:rPr>
              <a:t>1.6 DOM and Virtual DOM</a:t>
            </a:r>
            <a:endParaRPr b="1"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78" name="Google Shape;378;p4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79" name="Google Shape;379;p4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80" name="Google Shape;380;p4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81" name="Google Shape;381;p42"/>
          <p:cNvSpPr txBox="1"/>
          <p:nvPr/>
        </p:nvSpPr>
        <p:spPr>
          <a:xfrm>
            <a:off x="2240825" y="1146800"/>
            <a:ext cx="2815200" cy="2090400"/>
          </a:xfrm>
          <a:prstGeom prst="rect">
            <a:avLst/>
          </a:prstGeom>
          <a:solidFill>
            <a:srgbClr val="EEEEEE"/>
          </a:solidFill>
          <a:ln>
            <a:noFill/>
          </a:ln>
        </p:spPr>
        <p:txBody>
          <a:bodyPr anchorCtr="0" anchor="t" bIns="34275" lIns="68575" spcFirstLastPara="1" rIns="68575" wrap="square" tIns="34275">
            <a:normAutofit fontScale="92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2AA30"/>
                </a:solidFill>
                <a:latin typeface="Consolas"/>
                <a:ea typeface="Consolas"/>
                <a:cs typeface="Consolas"/>
                <a:sym typeface="Consolas"/>
              </a:rPr>
              <a:t>DOCTYPE</a:t>
            </a:r>
            <a:r>
              <a:rPr b="0" i="0" lang="en" sz="1400" u="none" cap="none" strike="noStrike">
                <a:solidFill>
                  <a:srgbClr val="999999"/>
                </a:solidFill>
                <a:latin typeface="Consolas"/>
                <a:ea typeface="Consolas"/>
                <a:cs typeface="Consolas"/>
                <a:sym typeface="Consolas"/>
              </a:rPr>
              <a:t> </a:t>
            </a:r>
            <a:r>
              <a:rPr b="0" i="0" lang="en" sz="1400" u="none" cap="none" strike="noStrike">
                <a:solidFill>
                  <a:srgbClr val="0077AA"/>
                </a:solidFill>
                <a:latin typeface="Consolas"/>
                <a:ea typeface="Consolas"/>
                <a:cs typeface="Consolas"/>
                <a:sym typeface="Consolas"/>
              </a:rPr>
              <a:t>html</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html</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head</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title</a:t>
            </a:r>
            <a:r>
              <a:rPr b="0" i="0" lang="en" sz="1400" u="none" cap="none" strike="noStrike">
                <a:solidFill>
                  <a:srgbClr val="999999"/>
                </a:solidFill>
                <a:latin typeface="Consolas"/>
                <a:ea typeface="Consolas"/>
                <a:cs typeface="Consolas"/>
                <a:sym typeface="Consolas"/>
              </a:rPr>
              <a:t>&gt;</a:t>
            </a:r>
            <a:r>
              <a:rPr b="0" i="0" lang="en" sz="1400" u="none" cap="none" strike="noStrike">
                <a:solidFill>
                  <a:srgbClr val="595959"/>
                </a:solidFill>
                <a:latin typeface="Consolas"/>
                <a:ea typeface="Consolas"/>
                <a:cs typeface="Consolas"/>
                <a:sym typeface="Consolas"/>
              </a:rPr>
              <a:t>My Title</a:t>
            </a: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title</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head</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body</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999999"/>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href</a:t>
            </a:r>
            <a:r>
              <a:rPr b="0" i="0" lang="en" sz="1400" u="none" cap="none" strike="noStrike">
                <a:solidFill>
                  <a:srgbClr val="999999"/>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a:t>
            </a:r>
            <a:r>
              <a:rPr b="0" i="0" lang="en" sz="1400" u="none" cap="none" strike="noStrike">
                <a:solidFill>
                  <a:srgbClr val="999999"/>
                </a:solidFill>
                <a:latin typeface="Consolas"/>
                <a:ea typeface="Consolas"/>
                <a:cs typeface="Consolas"/>
                <a:sym typeface="Consolas"/>
              </a:rPr>
              <a:t>”&gt;</a:t>
            </a:r>
            <a:r>
              <a:rPr b="0" i="0" lang="en" sz="1400" u="none" cap="none" strike="noStrike">
                <a:solidFill>
                  <a:srgbClr val="595959"/>
                </a:solidFill>
                <a:latin typeface="Consolas"/>
                <a:ea typeface="Consolas"/>
                <a:cs typeface="Consolas"/>
                <a:sym typeface="Consolas"/>
              </a:rPr>
              <a:t>My Link</a:t>
            </a: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999999"/>
                </a:solidFill>
                <a:latin typeface="Consolas"/>
                <a:ea typeface="Consolas"/>
                <a:cs typeface="Consolas"/>
                <a:sym typeface="Consolas"/>
              </a:rPr>
              <a:t>&gt;</a:t>
            </a:r>
            <a:br>
              <a:rPr b="0" i="0" lang="en" sz="1400" u="none" cap="none" strike="noStrike">
                <a:solidFill>
                  <a:srgbClr val="999999"/>
                </a:solidFill>
                <a:latin typeface="Consolas"/>
                <a:ea typeface="Consolas"/>
                <a:cs typeface="Consolas"/>
                <a:sym typeface="Consolas"/>
              </a:rPr>
            </a:b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h1</a:t>
            </a:r>
            <a:r>
              <a:rPr b="0" i="0" lang="en" sz="1400" u="none" cap="none" strike="noStrike">
                <a:solidFill>
                  <a:srgbClr val="999999"/>
                </a:solidFill>
                <a:latin typeface="Consolas"/>
                <a:ea typeface="Consolas"/>
                <a:cs typeface="Consolas"/>
                <a:sym typeface="Consolas"/>
              </a:rPr>
              <a:t>&gt;</a:t>
            </a:r>
            <a:r>
              <a:rPr b="0" i="0" lang="en" sz="1400" u="none" cap="none" strike="noStrike">
                <a:solidFill>
                  <a:srgbClr val="595959"/>
                </a:solidFill>
                <a:latin typeface="Consolas"/>
                <a:ea typeface="Consolas"/>
                <a:cs typeface="Consolas"/>
                <a:sym typeface="Consolas"/>
              </a:rPr>
              <a:t>My Header</a:t>
            </a: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h1</a:t>
            </a:r>
            <a:r>
              <a:rPr b="0" i="0" lang="en" sz="1400" u="none" cap="none" strike="noStrike">
                <a:solidFill>
                  <a:srgbClr val="99999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	&lt;/</a:t>
            </a:r>
            <a:r>
              <a:rPr b="0" i="0" lang="en" sz="1400" u="none" cap="none" strike="noStrike">
                <a:solidFill>
                  <a:srgbClr val="863A64"/>
                </a:solidFill>
                <a:latin typeface="Consolas"/>
                <a:ea typeface="Consolas"/>
                <a:cs typeface="Consolas"/>
                <a:sym typeface="Consolas"/>
              </a:rPr>
              <a:t>body</a:t>
            </a:r>
            <a:r>
              <a:rPr b="0" i="0" lang="en" sz="1400" u="none" cap="none" strike="noStrike">
                <a:solidFill>
                  <a:srgbClr val="999999"/>
                </a:solidFill>
                <a:latin typeface="Consolas"/>
                <a:ea typeface="Consolas"/>
                <a:cs typeface="Consolas"/>
                <a:sym typeface="Consolas"/>
              </a:rPr>
              <a:t>&gt;</a:t>
            </a:r>
            <a:endParaRPr b="0" i="0" sz="1400" u="none" cap="none" strike="noStrike">
              <a:solidFill>
                <a:srgbClr val="99999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ct val="100000"/>
              <a:buFont typeface="Arial"/>
              <a:buNone/>
            </a:pPr>
            <a:r>
              <a:rPr b="0" i="0" lang="en" sz="1400" u="none" cap="none" strike="noStrike">
                <a:solidFill>
                  <a:srgbClr val="999999"/>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html</a:t>
            </a:r>
            <a:r>
              <a:rPr b="0" i="0" lang="en" sz="1400" u="none" cap="none" strike="noStrike">
                <a:solidFill>
                  <a:srgbClr val="999999"/>
                </a:solidFill>
                <a:latin typeface="Consolas"/>
                <a:ea typeface="Consolas"/>
                <a:cs typeface="Consolas"/>
                <a:sym typeface="Consolas"/>
              </a:rPr>
              <a:t>&gt;</a:t>
            </a:r>
            <a:endParaRPr b="0" i="0" sz="1400" u="none" cap="none" strike="noStrike">
              <a:solidFill>
                <a:srgbClr val="999999"/>
              </a:solidFill>
              <a:latin typeface="Consolas"/>
              <a:ea typeface="Consolas"/>
              <a:cs typeface="Consolas"/>
              <a:sym typeface="Consolas"/>
            </a:endParaRPr>
          </a:p>
        </p:txBody>
      </p:sp>
      <p:pic>
        <p:nvPicPr>
          <p:cNvPr id="382" name="Google Shape;382;p42"/>
          <p:cNvPicPr preferRelativeResize="0"/>
          <p:nvPr/>
        </p:nvPicPr>
        <p:blipFill rotWithShape="1">
          <a:blip r:embed="rId5">
            <a:alphaModFix/>
          </a:blip>
          <a:srcRect b="0" l="0" r="0" t="0"/>
          <a:stretch/>
        </p:blipFill>
        <p:spPr>
          <a:xfrm>
            <a:off x="5056025" y="2806300"/>
            <a:ext cx="3819300" cy="2090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3"/>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DOM and Virtual DOM</a:t>
            </a:r>
            <a:endParaRPr b="1" sz="2300"/>
          </a:p>
        </p:txBody>
      </p:sp>
      <p:sp>
        <p:nvSpPr>
          <p:cNvPr id="388" name="Google Shape;388;p4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b="1" lang="en" sz="1000">
                <a:solidFill>
                  <a:schemeClr val="dk1"/>
                </a:solidFill>
              </a:rPr>
              <a:t>1.6 DOM and Virtual DOM</a:t>
            </a:r>
            <a:endParaRPr b="1"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89" name="Google Shape;389;p4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90" name="Google Shape;390;p4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91" name="Google Shape;391;p4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92" name="Google Shape;392;p43"/>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fontScale="92500" lnSpcReduction="10000"/>
          </a:bodyPr>
          <a:lstStyle/>
          <a:p>
            <a:pPr indent="-258127" lvl="0" marL="254000" rtl="0" algn="l">
              <a:lnSpc>
                <a:spcPct val="150000"/>
              </a:lnSpc>
              <a:spcBef>
                <a:spcPts val="0"/>
              </a:spcBef>
              <a:spcAft>
                <a:spcPts val="0"/>
              </a:spcAft>
              <a:buClr>
                <a:schemeClr val="dk1"/>
              </a:buClr>
              <a:buSzPct val="100000"/>
              <a:buChar char="•"/>
            </a:pPr>
            <a:r>
              <a:rPr lang="en" sz="1800">
                <a:solidFill>
                  <a:schemeClr val="dk2"/>
                </a:solidFill>
              </a:rPr>
              <a:t>It is a virtual tree which is kept in the browser’s memory and updated in runtime.</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is an object which is very similar to the JavaScript Object.</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Virtual DOM is simply a representation of JavaScript DOM object.</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has the same methods, properties and events like the original DOM.</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It is simple a concept used by many JavaScript frameworks and libraries, one of which is React JS.</a:t>
            </a:r>
            <a:endParaRPr sz="18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4"/>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DOM and Virtual DOM</a:t>
            </a:r>
            <a:endParaRPr b="1" sz="2300"/>
          </a:p>
        </p:txBody>
      </p:sp>
      <p:sp>
        <p:nvSpPr>
          <p:cNvPr id="398" name="Google Shape;398;p4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1.4 Higher Order Functions</a:t>
            </a:r>
            <a:endParaRPr b="1"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b="1" lang="en" sz="1000">
                <a:solidFill>
                  <a:schemeClr val="dk1"/>
                </a:solidFill>
              </a:rPr>
              <a:t>1.6 DOM and Virtual DOM</a:t>
            </a:r>
            <a:endParaRPr b="1"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99" name="Google Shape;399;p4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00" name="Google Shape;400;p4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01" name="Google Shape;401;p4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02" name="Google Shape;402;p44"/>
          <p:cNvSpPr txBox="1"/>
          <p:nvPr/>
        </p:nvSpPr>
        <p:spPr>
          <a:xfrm>
            <a:off x="2436925" y="1229750"/>
            <a:ext cx="6272100" cy="3451200"/>
          </a:xfrm>
          <a:prstGeom prst="rect">
            <a:avLst/>
          </a:prstGeom>
          <a:noFill/>
          <a:ln>
            <a:noFill/>
          </a:ln>
        </p:spPr>
        <p:txBody>
          <a:bodyPr anchorCtr="0" anchor="t" bIns="34275" lIns="68575" spcFirstLastPara="1" rIns="68575" wrap="square" tIns="34275">
            <a:normAutofit/>
          </a:bodyPr>
          <a:lstStyle/>
          <a:p>
            <a:pPr indent="-266700" lvl="0" marL="254000" rtl="0" algn="l">
              <a:lnSpc>
                <a:spcPct val="150000"/>
              </a:lnSpc>
              <a:spcBef>
                <a:spcPts val="0"/>
              </a:spcBef>
              <a:spcAft>
                <a:spcPts val="0"/>
              </a:spcAft>
              <a:buClr>
                <a:srgbClr val="000000"/>
              </a:buClr>
              <a:buSzPts val="1800"/>
              <a:buChar char="•"/>
            </a:pPr>
            <a:r>
              <a:rPr lang="en" sz="1800">
                <a:solidFill>
                  <a:srgbClr val="595959"/>
                </a:solidFill>
              </a:rPr>
              <a:t>While the DOM re-renders every node even when there is a small change in it. Virtual DOM looks for the node diff.</a:t>
            </a:r>
            <a:endParaRPr sz="1800">
              <a:solidFill>
                <a:srgbClr val="595959"/>
              </a:solidFill>
            </a:endParaRPr>
          </a:p>
          <a:p>
            <a:pPr indent="-266700" lvl="0" marL="254000" rtl="0" algn="l">
              <a:lnSpc>
                <a:spcPct val="150000"/>
              </a:lnSpc>
              <a:spcBef>
                <a:spcPts val="800"/>
              </a:spcBef>
              <a:spcAft>
                <a:spcPts val="0"/>
              </a:spcAft>
              <a:buClr>
                <a:srgbClr val="000000"/>
              </a:buClr>
              <a:buSzPts val="1800"/>
              <a:buChar char="•"/>
            </a:pPr>
            <a:r>
              <a:rPr lang="en" sz="1800">
                <a:solidFill>
                  <a:srgbClr val="595959"/>
                </a:solidFill>
              </a:rPr>
              <a:t>The VDOM looks for the node diff and only changes the required DOM nodes, resulting in better performance and fast load of the page.</a:t>
            </a:r>
            <a:endParaRPr sz="1800">
              <a:solidFill>
                <a:srgbClr val="595959"/>
              </a:solidFill>
            </a:endParaRPr>
          </a:p>
        </p:txBody>
      </p:sp>
      <p:pic>
        <p:nvPicPr>
          <p:cNvPr id="403" name="Google Shape;403;p44"/>
          <p:cNvPicPr preferRelativeResize="0"/>
          <p:nvPr/>
        </p:nvPicPr>
        <p:blipFill rotWithShape="1">
          <a:blip r:embed="rId5">
            <a:alphaModFix/>
          </a:blip>
          <a:srcRect b="0" l="0" r="0" t="0"/>
          <a:stretch/>
        </p:blipFill>
        <p:spPr>
          <a:xfrm>
            <a:off x="-4454" y="0"/>
            <a:ext cx="9148454" cy="514099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5"/>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09" name="Google Shape;409;p4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b="1" lang="en" sz="1000">
                <a:solidFill>
                  <a:schemeClr val="dk1"/>
                </a:solidFill>
              </a:rPr>
              <a:t>1.7 JavaScript Selectors</a:t>
            </a:r>
            <a:endParaRPr b="1"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10" name="Google Shape;410;p4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11" name="Google Shape;411;p4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12" name="Google Shape;412;p4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13" name="Google Shape;413;p45"/>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lnSpcReduction="20000"/>
          </a:bodyPr>
          <a:lstStyle/>
          <a:p>
            <a:pPr indent="-3238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JavaScript uses the CSS syntax to select and manipulate HTML elements in a DOM.</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Selectors are used to "find" (select) HTML elements based on their tag name, id, classes, types, attributes, values of attributes and much more.</a:t>
            </a:r>
            <a:endParaRPr sz="1500">
              <a:solidFill>
                <a:schemeClr val="dk2"/>
              </a:solidFill>
              <a:latin typeface="Arvo"/>
              <a:ea typeface="Arvo"/>
              <a:cs typeface="Arvo"/>
              <a:sym typeface="Arvo"/>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In JavaScript, we can select elements in multiple ways as follows:</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getElementById()</a:t>
            </a: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getElementsByClassName()</a:t>
            </a: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getElementsByTagName()</a:t>
            </a: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querySelector()</a:t>
            </a: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querySelectorAll()</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We also need to tell JavaScript from where to select these elements. In most cases it is always the “</a:t>
            </a:r>
            <a:r>
              <a:rPr b="1" lang="en" sz="1500">
                <a:solidFill>
                  <a:schemeClr val="dk2"/>
                </a:solidFill>
                <a:latin typeface="Arvo"/>
                <a:ea typeface="Arvo"/>
                <a:cs typeface="Arvo"/>
                <a:sym typeface="Arvo"/>
              </a:rPr>
              <a:t>document</a:t>
            </a:r>
            <a:r>
              <a:rPr lang="en" sz="1500">
                <a:solidFill>
                  <a:schemeClr val="dk2"/>
                </a:solidFill>
                <a:latin typeface="Arvo"/>
                <a:ea typeface="Arvo"/>
                <a:cs typeface="Arvo"/>
                <a:sym typeface="Arvo"/>
              </a:rPr>
              <a:t>” object.</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6"/>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19" name="Google Shape;419;p4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b="1" lang="en" sz="1000">
                <a:solidFill>
                  <a:schemeClr val="dk1"/>
                </a:solidFill>
              </a:rPr>
              <a:t>1.7 JavaScript Selectors</a:t>
            </a:r>
            <a:endParaRPr b="1" sz="1000">
              <a:solidFill>
                <a:schemeClr val="dk1"/>
              </a:solidFill>
            </a:endParaRPr>
          </a:p>
          <a:p>
            <a:pPr indent="0" lvl="0" marL="0" rtl="0" algn="l">
              <a:spcBef>
                <a:spcPts val="0"/>
              </a:spcBef>
              <a:spcAft>
                <a:spcPts val="0"/>
              </a:spcAft>
              <a:buNone/>
            </a:pPr>
            <a:r>
              <a:rPr lang="en" sz="1000">
                <a:solidFill>
                  <a:schemeClr val="dk1"/>
                </a:solidFill>
              </a:rPr>
              <a:t>1.8 JavaScript Events and event handlers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20" name="Google Shape;420;p4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21" name="Google Shape;421;p4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22" name="Google Shape;422;p4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23" name="Google Shape;423;p46"/>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50000"/>
              </a:lnSpc>
              <a:spcBef>
                <a:spcPts val="0"/>
              </a:spcBef>
              <a:spcAft>
                <a:spcPts val="0"/>
              </a:spcAft>
              <a:buClr>
                <a:schemeClr val="dk1"/>
              </a:buClr>
              <a:buSzPts val="1500"/>
              <a:buChar char="•"/>
            </a:pPr>
            <a:r>
              <a:rPr b="1" lang="en" sz="1500">
                <a:solidFill>
                  <a:schemeClr val="dk2"/>
                </a:solidFill>
                <a:latin typeface="Arvo"/>
                <a:ea typeface="Arvo"/>
                <a:cs typeface="Arvo"/>
                <a:sym typeface="Arvo"/>
              </a:rPr>
              <a:t>getElementById()</a:t>
            </a:r>
            <a:r>
              <a:rPr lang="en" sz="1500">
                <a:solidFill>
                  <a:schemeClr val="dk2"/>
                </a:solidFill>
                <a:latin typeface="Arvo"/>
                <a:ea typeface="Arvo"/>
                <a:cs typeface="Arvo"/>
                <a:sym typeface="Arvo"/>
              </a:rPr>
              <a:t> and </a:t>
            </a:r>
            <a:r>
              <a:rPr b="1" lang="en" sz="1500">
                <a:solidFill>
                  <a:schemeClr val="dk2"/>
                </a:solidFill>
                <a:latin typeface="Arvo"/>
                <a:ea typeface="Arvo"/>
                <a:cs typeface="Arvo"/>
                <a:sym typeface="Arvo"/>
              </a:rPr>
              <a:t>querySelector()</a:t>
            </a:r>
            <a:r>
              <a:rPr lang="en" sz="1500">
                <a:solidFill>
                  <a:schemeClr val="dk2"/>
                </a:solidFill>
                <a:latin typeface="Arvo"/>
                <a:ea typeface="Arvo"/>
                <a:cs typeface="Arvo"/>
                <a:sym typeface="Arvo"/>
              </a:rPr>
              <a:t> returns (selects) a single DOM.</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Where as other selectors either returns an </a:t>
            </a:r>
            <a:r>
              <a:rPr b="1" lang="en" sz="1500">
                <a:solidFill>
                  <a:schemeClr val="dk2"/>
                </a:solidFill>
                <a:latin typeface="Arvo"/>
                <a:ea typeface="Arvo"/>
                <a:cs typeface="Arvo"/>
                <a:sym typeface="Arvo"/>
              </a:rPr>
              <a:t>HTML collection</a:t>
            </a:r>
            <a:r>
              <a:rPr lang="en" sz="1500">
                <a:solidFill>
                  <a:schemeClr val="dk2"/>
                </a:solidFill>
                <a:latin typeface="Arvo"/>
                <a:ea typeface="Arvo"/>
                <a:cs typeface="Arvo"/>
                <a:sym typeface="Arvo"/>
              </a:rPr>
              <a:t> or an </a:t>
            </a:r>
            <a:r>
              <a:rPr b="1" lang="en" sz="1500">
                <a:solidFill>
                  <a:schemeClr val="dk2"/>
                </a:solidFill>
                <a:latin typeface="Arvo"/>
                <a:ea typeface="Arvo"/>
                <a:cs typeface="Arvo"/>
                <a:sym typeface="Arvo"/>
              </a:rPr>
              <a:t>Array of Node Lists</a:t>
            </a:r>
            <a:r>
              <a:rPr lang="en" sz="1500">
                <a:solidFill>
                  <a:schemeClr val="dk2"/>
                </a:solidFill>
                <a:latin typeface="Arvo"/>
                <a:ea typeface="Arvo"/>
                <a:cs typeface="Arvo"/>
                <a:sym typeface="Arvo"/>
              </a:rPr>
              <a:t>, depending upon which selector type you use.</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Depending upon which value the selectors return, we can manipulate the HTML DOM.</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b="1" lang="en" sz="1500">
                <a:solidFill>
                  <a:schemeClr val="dk2"/>
                </a:solidFill>
                <a:latin typeface="Arvo"/>
                <a:ea typeface="Arvo"/>
                <a:cs typeface="Arvo"/>
                <a:sym typeface="Arvo"/>
              </a:rPr>
              <a:t>querySelector()</a:t>
            </a:r>
            <a:r>
              <a:rPr lang="en" sz="1500">
                <a:solidFill>
                  <a:schemeClr val="dk2"/>
                </a:solidFill>
                <a:latin typeface="Arvo"/>
                <a:ea typeface="Arvo"/>
                <a:cs typeface="Arvo"/>
                <a:sym typeface="Arvo"/>
              </a:rPr>
              <a:t> and </a:t>
            </a:r>
            <a:r>
              <a:rPr b="1" lang="en" sz="1500">
                <a:solidFill>
                  <a:schemeClr val="dk2"/>
                </a:solidFill>
                <a:latin typeface="Arvo"/>
                <a:ea typeface="Arvo"/>
                <a:cs typeface="Arvo"/>
                <a:sym typeface="Arvo"/>
              </a:rPr>
              <a:t>querySelectorAll()</a:t>
            </a:r>
            <a:r>
              <a:rPr lang="en" sz="1500">
                <a:solidFill>
                  <a:schemeClr val="dk2"/>
                </a:solidFill>
                <a:latin typeface="Arvo"/>
                <a:ea typeface="Arvo"/>
                <a:cs typeface="Arvo"/>
                <a:sym typeface="Arvo"/>
              </a:rPr>
              <a:t> are the most preferred JS selector to use while programming.</a:t>
            </a:r>
            <a:endParaRPr sz="1500">
              <a:solidFill>
                <a:schemeClr val="dk2"/>
              </a:solidFill>
              <a:latin typeface="Arvo"/>
              <a:ea typeface="Arvo"/>
              <a:cs typeface="Arvo"/>
              <a:sym typeface="Arv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47"/>
          <p:cNvPicPr preferRelativeResize="0"/>
          <p:nvPr/>
        </p:nvPicPr>
        <p:blipFill rotWithShape="1">
          <a:blip r:embed="rId3">
            <a:alphaModFix/>
          </a:blip>
          <a:srcRect b="0" l="0" r="0" t="0"/>
          <a:stretch/>
        </p:blipFill>
        <p:spPr>
          <a:xfrm>
            <a:off x="6671855" y="2681203"/>
            <a:ext cx="2472146" cy="2462296"/>
          </a:xfrm>
          <a:prstGeom prst="rect">
            <a:avLst/>
          </a:prstGeom>
          <a:noFill/>
          <a:ln>
            <a:noFill/>
          </a:ln>
        </p:spPr>
      </p:pic>
      <p:pic>
        <p:nvPicPr>
          <p:cNvPr id="429" name="Google Shape;429;p47"/>
          <p:cNvPicPr preferRelativeResize="0"/>
          <p:nvPr/>
        </p:nvPicPr>
        <p:blipFill>
          <a:blip r:embed="rId4">
            <a:alphaModFix/>
          </a:blip>
          <a:stretch>
            <a:fillRect/>
          </a:stretch>
        </p:blipFill>
        <p:spPr>
          <a:xfrm>
            <a:off x="1490100" y="449400"/>
            <a:ext cx="6367056" cy="4244704"/>
          </a:xfrm>
          <a:prstGeom prst="rect">
            <a:avLst/>
          </a:prstGeom>
          <a:noFill/>
          <a:ln>
            <a:noFill/>
          </a:ln>
        </p:spPr>
      </p:pic>
      <p:pic>
        <p:nvPicPr>
          <p:cNvPr id="430" name="Google Shape;430;p47"/>
          <p:cNvPicPr preferRelativeResize="0"/>
          <p:nvPr/>
        </p:nvPicPr>
        <p:blipFill rotWithShape="1">
          <a:blip r:embed="rId5">
            <a:alphaModFix/>
          </a:blip>
          <a:srcRect b="0" l="0" r="0" t="0"/>
          <a:stretch/>
        </p:blipFill>
        <p:spPr>
          <a:xfrm>
            <a:off x="206339" y="93287"/>
            <a:ext cx="1448822" cy="774630"/>
          </a:xfrm>
          <a:prstGeom prst="rect">
            <a:avLst/>
          </a:prstGeom>
          <a:noFill/>
          <a:ln>
            <a:noFill/>
          </a:ln>
        </p:spPr>
      </p:pic>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9FFFE"/>
            </a:gs>
            <a:gs pos="100000">
              <a:srgbClr val="B4E2EE"/>
            </a:gs>
          </a:gsLst>
          <a:lin ang="18900044" scaled="0"/>
        </a:gradFill>
      </p:bgPr>
    </p:bg>
    <p:spTree>
      <p:nvGrpSpPr>
        <p:cNvPr id="434" name="Shape 434"/>
        <p:cNvGrpSpPr/>
        <p:nvPr/>
      </p:nvGrpSpPr>
      <p:grpSpPr>
        <a:xfrm>
          <a:off x="0" y="0"/>
          <a:ext cx="0" cy="0"/>
          <a:chOff x="0" y="0"/>
          <a:chExt cx="0" cy="0"/>
        </a:xfrm>
      </p:grpSpPr>
      <p:pic>
        <p:nvPicPr>
          <p:cNvPr id="435" name="Google Shape;435;p4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436" name="Google Shape;436;p48"/>
          <p:cNvPicPr preferRelativeResize="0"/>
          <p:nvPr/>
        </p:nvPicPr>
        <p:blipFill rotWithShape="1">
          <a:blip r:embed="rId4">
            <a:alphaModFix/>
          </a:blip>
          <a:srcRect b="0" l="0" r="0" t="0"/>
          <a:stretch/>
        </p:blipFill>
        <p:spPr>
          <a:xfrm>
            <a:off x="6671855" y="2681203"/>
            <a:ext cx="2472146" cy="2462296"/>
          </a:xfrm>
          <a:prstGeom prst="rect">
            <a:avLst/>
          </a:prstGeom>
          <a:noFill/>
          <a:ln>
            <a:noFill/>
          </a:ln>
        </p:spPr>
      </p:pic>
      <p:pic>
        <p:nvPicPr>
          <p:cNvPr id="437" name="Google Shape;437;p48"/>
          <p:cNvPicPr preferRelativeResize="0"/>
          <p:nvPr/>
        </p:nvPicPr>
        <p:blipFill rotWithShape="1">
          <a:blip r:embed="rId5">
            <a:alphaModFix/>
          </a:blip>
          <a:srcRect b="0" l="0" r="0" t="0"/>
          <a:stretch/>
        </p:blipFill>
        <p:spPr>
          <a:xfrm>
            <a:off x="206339" y="93287"/>
            <a:ext cx="1448822" cy="77463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9"/>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43" name="Google Shape;443;p4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44" name="Google Shape;444;p4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45" name="Google Shape;445;p4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46" name="Google Shape;446;p4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47" name="Google Shape;447;p49"/>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HTML events are things that happens to an HTML element.</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JavaScript's interaction with HTML is handled through events that occur when the user or the browser manipulates a page.</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When the page loads, it is called an event. When the user clicks a button, that click too is an event. </a:t>
            </a:r>
            <a:endParaRPr sz="1500">
              <a:solidFill>
                <a:schemeClr val="dk2"/>
              </a:solidFill>
              <a:latin typeface="Arvo"/>
              <a:ea typeface="Arvo"/>
              <a:cs typeface="Arvo"/>
              <a:sym typeface="Arvo"/>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We can use these events to execute JavaScript coded responses, which cause buttons to close windows, messages to be displayed to users, data to be validated, and virtually any other type of response imaginable.</a:t>
            </a:r>
            <a:endParaRPr b="1" sz="1500">
              <a:solidFill>
                <a:schemeClr val="dk2"/>
              </a:solidFill>
              <a:latin typeface="Arvo"/>
              <a:ea typeface="Arvo"/>
              <a:cs typeface="Arvo"/>
              <a:sym typeface="Arv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0"/>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53" name="Google Shape;453;p5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54" name="Google Shape;454;p5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55" name="Google Shape;455;p5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56" name="Google Shape;456;p5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57" name="Google Shape;457;p50"/>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fontScale="92500" lnSpcReduction="20000"/>
          </a:bodyPr>
          <a:lstStyle/>
          <a:p>
            <a:pPr indent="-316706" lvl="0" marL="457200" rtl="0" algn="l">
              <a:lnSpc>
                <a:spcPct val="150000"/>
              </a:lnSpc>
              <a:spcBef>
                <a:spcPts val="0"/>
              </a:spcBef>
              <a:spcAft>
                <a:spcPts val="0"/>
              </a:spcAft>
              <a:buClr>
                <a:schemeClr val="dk1"/>
              </a:buClr>
              <a:buSzPct val="100000"/>
              <a:buChar char="•"/>
            </a:pPr>
            <a:r>
              <a:rPr lang="en" sz="1500">
                <a:solidFill>
                  <a:schemeClr val="dk2"/>
                </a:solidFill>
                <a:latin typeface="Arvo"/>
                <a:ea typeface="Arvo"/>
                <a:cs typeface="Arvo"/>
                <a:sym typeface="Arvo"/>
              </a:rPr>
              <a:t>Events in JavaScript are handled by an </a:t>
            </a:r>
            <a:r>
              <a:rPr b="1" lang="en" sz="1500">
                <a:solidFill>
                  <a:schemeClr val="dk2"/>
                </a:solidFill>
                <a:latin typeface="Arvo"/>
                <a:ea typeface="Arvo"/>
                <a:cs typeface="Arvo"/>
                <a:sym typeface="Arvo"/>
              </a:rPr>
              <a:t>Event Handlers</a:t>
            </a:r>
            <a:r>
              <a:rPr lang="en" sz="1500">
                <a:solidFill>
                  <a:schemeClr val="dk2"/>
                </a:solidFill>
                <a:latin typeface="Arvo"/>
                <a:ea typeface="Arvo"/>
                <a:cs typeface="Arvo"/>
                <a:sym typeface="Arvo"/>
              </a:rPr>
              <a:t>.</a:t>
            </a:r>
            <a:endParaRPr sz="2800">
              <a:solidFill>
                <a:schemeClr val="dk2"/>
              </a:solidFill>
            </a:endParaRPr>
          </a:p>
          <a:p>
            <a:pPr indent="-316706" lvl="0" marL="4572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They are JavaScript code that are not added inside the </a:t>
            </a:r>
            <a:r>
              <a:rPr b="1" lang="en" sz="1500">
                <a:solidFill>
                  <a:schemeClr val="dk2"/>
                </a:solidFill>
                <a:latin typeface="Arvo"/>
                <a:ea typeface="Arvo"/>
                <a:cs typeface="Arvo"/>
                <a:sym typeface="Arvo"/>
              </a:rPr>
              <a:t>&lt;script&gt;</a:t>
            </a:r>
            <a:r>
              <a:rPr lang="en" sz="1500">
                <a:solidFill>
                  <a:schemeClr val="dk2"/>
                </a:solidFill>
                <a:latin typeface="Arvo"/>
                <a:ea typeface="Arvo"/>
                <a:cs typeface="Arvo"/>
                <a:sym typeface="Arvo"/>
              </a:rPr>
              <a:t> tags, but rather, inside the html tags, that execute JavaScript when something happens, such as pressing a button, moving your mouse over a link, submitting a form etc.</a:t>
            </a:r>
            <a:endParaRPr sz="2800">
              <a:solidFill>
                <a:schemeClr val="dk2"/>
              </a:solidFill>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0" lvl="0" marL="4572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316706" lvl="0" marL="4572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Here, </a:t>
            </a:r>
            <a:r>
              <a:rPr b="1" lang="en" sz="1500">
                <a:solidFill>
                  <a:schemeClr val="dk2"/>
                </a:solidFill>
                <a:latin typeface="Arvo"/>
                <a:ea typeface="Arvo"/>
                <a:cs typeface="Arvo"/>
                <a:sym typeface="Arvo"/>
              </a:rPr>
              <a:t>onClick</a:t>
            </a:r>
            <a:r>
              <a:rPr lang="en" sz="1500">
                <a:solidFill>
                  <a:schemeClr val="dk2"/>
                </a:solidFill>
                <a:latin typeface="Arvo"/>
                <a:ea typeface="Arvo"/>
                <a:cs typeface="Arvo"/>
                <a:sym typeface="Arvo"/>
              </a:rPr>
              <a:t> is the JavaScript event handler.</a:t>
            </a:r>
            <a:endParaRPr sz="2800">
              <a:solidFill>
                <a:schemeClr val="dk2"/>
              </a:solidFill>
            </a:endParaRPr>
          </a:p>
          <a:p>
            <a:pPr indent="-316706" lvl="0" marL="4572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While this is a good example of getting to know how events work, JavaScript also has a method called “</a:t>
            </a:r>
            <a:r>
              <a:rPr b="1" lang="en" sz="1500">
                <a:solidFill>
                  <a:schemeClr val="dk2"/>
                </a:solidFill>
                <a:latin typeface="Arvo"/>
                <a:ea typeface="Arvo"/>
                <a:cs typeface="Arvo"/>
                <a:sym typeface="Arvo"/>
              </a:rPr>
              <a:t>Event Listener</a:t>
            </a:r>
            <a:r>
              <a:rPr lang="en" sz="1500">
                <a:solidFill>
                  <a:schemeClr val="dk2"/>
                </a:solidFill>
                <a:latin typeface="Arvo"/>
                <a:ea typeface="Arvo"/>
                <a:cs typeface="Arvo"/>
                <a:sym typeface="Arvo"/>
              </a:rPr>
              <a:t>”. Lets Explore.</a:t>
            </a:r>
            <a:endParaRPr sz="1500">
              <a:solidFill>
                <a:schemeClr val="dk2"/>
              </a:solidFill>
              <a:latin typeface="Arvo"/>
              <a:ea typeface="Arvo"/>
              <a:cs typeface="Arvo"/>
              <a:sym typeface="Arvo"/>
            </a:endParaRPr>
          </a:p>
        </p:txBody>
      </p:sp>
      <p:sp>
        <p:nvSpPr>
          <p:cNvPr id="458" name="Google Shape;458;p50"/>
          <p:cNvSpPr txBox="1"/>
          <p:nvPr/>
        </p:nvSpPr>
        <p:spPr>
          <a:xfrm>
            <a:off x="2462357" y="2745591"/>
            <a:ext cx="62169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href</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http://google.com</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onClick</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63A64"/>
                </a:solidFill>
                <a:latin typeface="Consolas"/>
                <a:ea typeface="Consolas"/>
                <a:cs typeface="Consolas"/>
                <a:sym typeface="Consolas"/>
              </a:rPr>
              <a:t>alert</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hello!</a:t>
            </a:r>
            <a:r>
              <a:rPr b="0" i="0" lang="en" sz="1400" u="none" cap="none" strike="noStrike">
                <a:solidFill>
                  <a:srgbClr val="AAAAAA"/>
                </a:solidFill>
                <a:latin typeface="Consolas"/>
                <a:ea typeface="Consolas"/>
                <a:cs typeface="Consolas"/>
                <a:sym typeface="Consolas"/>
              </a:rPr>
              <a:t>')"&gt;</a:t>
            </a:r>
            <a:r>
              <a:rPr b="0" i="0" lang="en" sz="1400" u="none" cap="none" strike="noStrike">
                <a:solidFill>
                  <a:srgbClr val="3F3F3F"/>
                </a:solidFill>
                <a:latin typeface="Consolas"/>
                <a:ea typeface="Consolas"/>
                <a:cs typeface="Consolas"/>
                <a:sym typeface="Consolas"/>
              </a:rPr>
              <a:t>Google</a:t>
            </a:r>
            <a:r>
              <a:rPr b="0" i="0" lang="en" sz="1400" u="none" cap="none" strike="noStrike">
                <a:solidFill>
                  <a:srgbClr val="AAAAAA"/>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1"/>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64" name="Google Shape;464;p5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65" name="Google Shape;465;p5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66" name="Google Shape;466;p5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67" name="Google Shape;467;p5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68" name="Google Shape;468;p51"/>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An </a:t>
            </a:r>
            <a:r>
              <a:rPr b="1" lang="en" sz="1500">
                <a:solidFill>
                  <a:schemeClr val="dk2"/>
                </a:solidFill>
                <a:latin typeface="Arvo"/>
                <a:ea typeface="Arvo"/>
                <a:cs typeface="Arvo"/>
                <a:sym typeface="Arvo"/>
              </a:rPr>
              <a:t>event listener</a:t>
            </a:r>
            <a:r>
              <a:rPr lang="en" sz="1500">
                <a:solidFill>
                  <a:schemeClr val="dk2"/>
                </a:solidFill>
                <a:latin typeface="Arvo"/>
                <a:ea typeface="Arvo"/>
                <a:cs typeface="Arvo"/>
                <a:sym typeface="Arvo"/>
              </a:rPr>
              <a:t> is a method that attaches an </a:t>
            </a:r>
            <a:r>
              <a:rPr b="1" lang="en" sz="1500">
                <a:solidFill>
                  <a:schemeClr val="dk2"/>
                </a:solidFill>
                <a:latin typeface="Arvo"/>
                <a:ea typeface="Arvo"/>
                <a:cs typeface="Arvo"/>
                <a:sym typeface="Arvo"/>
              </a:rPr>
              <a:t>event handler</a:t>
            </a:r>
            <a:r>
              <a:rPr lang="en" sz="1500">
                <a:solidFill>
                  <a:schemeClr val="dk2"/>
                </a:solidFill>
                <a:latin typeface="Arvo"/>
                <a:ea typeface="Arvo"/>
                <a:cs typeface="Arvo"/>
                <a:sym typeface="Arvo"/>
              </a:rPr>
              <a:t> to a specific element.</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This way we do not always have to rely on writing our codes in HTML itself.</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The best way to work around with events is using an event listener method. </a:t>
            </a:r>
            <a:endParaRPr sz="2800">
              <a:solidFill>
                <a:schemeClr val="dk2"/>
              </a:solidFill>
            </a:endParaRPr>
          </a:p>
          <a:p>
            <a:pPr indent="-3238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To use an event listener, we must first select an element on which to attach the event.</a:t>
            </a:r>
            <a:endParaRPr sz="1500">
              <a:solidFill>
                <a:schemeClr val="dk2"/>
              </a:solidFill>
              <a:latin typeface="Arvo"/>
              <a:ea typeface="Arvo"/>
              <a:cs typeface="Arvo"/>
              <a:sym typeface="Arv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2"/>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74" name="Google Shape;474;p5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75" name="Google Shape;475;p5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76" name="Google Shape;476;p5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77" name="Google Shape;477;p5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78" name="Google Shape;478;p52"/>
          <p:cNvSpPr txBox="1"/>
          <p:nvPr/>
        </p:nvSpPr>
        <p:spPr>
          <a:xfrm>
            <a:off x="2178250" y="1146800"/>
            <a:ext cx="6785100" cy="3395400"/>
          </a:xfrm>
          <a:prstGeom prst="rect">
            <a:avLst/>
          </a:prstGeom>
          <a:noFill/>
          <a:ln>
            <a:noFill/>
          </a:ln>
        </p:spPr>
        <p:txBody>
          <a:bodyPr anchorCtr="0" anchor="t" bIns="91425" lIns="91425" spcFirstLastPara="1" rIns="91425" wrap="square" tIns="91425">
            <a:normAutofit fontScale="92500" lnSpcReduction="20000"/>
          </a:bodyPr>
          <a:lstStyle/>
          <a:p>
            <a:pPr indent="-316706" lvl="0" marL="457200" rtl="0" algn="l">
              <a:lnSpc>
                <a:spcPct val="150000"/>
              </a:lnSpc>
              <a:spcBef>
                <a:spcPts val="0"/>
              </a:spcBef>
              <a:spcAft>
                <a:spcPts val="0"/>
              </a:spcAft>
              <a:buClr>
                <a:schemeClr val="dk1"/>
              </a:buClr>
              <a:buSzPct val="100000"/>
              <a:buChar char="•"/>
            </a:pPr>
            <a:r>
              <a:rPr lang="en" sz="1500">
                <a:solidFill>
                  <a:schemeClr val="dk2"/>
                </a:solidFill>
                <a:latin typeface="Arvo"/>
                <a:ea typeface="Arvo"/>
                <a:cs typeface="Arvo"/>
                <a:sym typeface="Arvo"/>
              </a:rPr>
              <a:t>Now that we know how to select an element, lets look at the following example:</a:t>
            </a:r>
            <a:endParaRPr sz="2800">
              <a:solidFill>
                <a:schemeClr val="dk2"/>
              </a:solidFill>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0" lvl="0" marL="4572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316706" lvl="0" marL="4572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We created an </a:t>
            </a:r>
            <a:r>
              <a:rPr b="1" lang="en" sz="1500">
                <a:solidFill>
                  <a:schemeClr val="dk2"/>
                </a:solidFill>
                <a:latin typeface="Arvo"/>
                <a:ea typeface="Arvo"/>
                <a:cs typeface="Arvo"/>
                <a:sym typeface="Arvo"/>
              </a:rPr>
              <a:t>&lt;a&gt;</a:t>
            </a:r>
            <a:r>
              <a:rPr lang="en" sz="1500">
                <a:solidFill>
                  <a:schemeClr val="dk2"/>
                </a:solidFill>
                <a:latin typeface="Arvo"/>
                <a:ea typeface="Arvo"/>
                <a:cs typeface="Arvo"/>
                <a:sym typeface="Arvo"/>
              </a:rPr>
              <a:t> element and assigned an </a:t>
            </a:r>
            <a:r>
              <a:rPr b="1" lang="en" sz="1500">
                <a:solidFill>
                  <a:schemeClr val="dk2"/>
                </a:solidFill>
                <a:latin typeface="Arvo"/>
                <a:ea typeface="Arvo"/>
                <a:cs typeface="Arvo"/>
                <a:sym typeface="Arvo"/>
              </a:rPr>
              <a:t>ID</a:t>
            </a:r>
            <a:r>
              <a:rPr lang="en" sz="1500">
                <a:solidFill>
                  <a:schemeClr val="dk2"/>
                </a:solidFill>
                <a:latin typeface="Arvo"/>
                <a:ea typeface="Arvo"/>
                <a:cs typeface="Arvo"/>
                <a:sym typeface="Arvo"/>
              </a:rPr>
              <a:t> to it. We then selected that element using the </a:t>
            </a:r>
            <a:r>
              <a:rPr b="1" lang="en" sz="1500">
                <a:solidFill>
                  <a:schemeClr val="dk2"/>
                </a:solidFill>
                <a:latin typeface="Arvo"/>
                <a:ea typeface="Arvo"/>
                <a:cs typeface="Arvo"/>
                <a:sym typeface="Arvo"/>
              </a:rPr>
              <a:t>getElementById() </a:t>
            </a:r>
            <a:r>
              <a:rPr lang="en" sz="1500">
                <a:solidFill>
                  <a:schemeClr val="dk2"/>
                </a:solidFill>
                <a:latin typeface="Arvo"/>
                <a:ea typeface="Arvo"/>
                <a:cs typeface="Arvo"/>
                <a:sym typeface="Arvo"/>
              </a:rPr>
              <a:t>method in JavaScript. Finally we attached an event handler (click) to alert “hello!”.</a:t>
            </a:r>
            <a:endParaRPr sz="2800">
              <a:solidFill>
                <a:schemeClr val="dk2"/>
              </a:solidFill>
            </a:endParaRPr>
          </a:p>
          <a:p>
            <a:pPr indent="-316706" lvl="0" marL="4572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Now, whenever a user clicks the button, it will show an alert with the message “hello!”.</a:t>
            </a:r>
            <a:endParaRPr sz="1500">
              <a:solidFill>
                <a:schemeClr val="dk2"/>
              </a:solidFill>
              <a:latin typeface="Arvo"/>
              <a:ea typeface="Arvo"/>
              <a:cs typeface="Arvo"/>
              <a:sym typeface="Arvo"/>
            </a:endParaRPr>
          </a:p>
        </p:txBody>
      </p:sp>
      <p:sp>
        <p:nvSpPr>
          <p:cNvPr id="479" name="Google Shape;479;p52"/>
          <p:cNvSpPr txBox="1"/>
          <p:nvPr/>
        </p:nvSpPr>
        <p:spPr>
          <a:xfrm>
            <a:off x="2744947" y="1790000"/>
            <a:ext cx="5651700" cy="2847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AAAAAA"/>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href</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a:t>
            </a:r>
            <a:r>
              <a:rPr b="0" i="0" lang="en" sz="1400" u="none" cap="none" strike="noStrike">
                <a:solidFill>
                  <a:srgbClr val="AAAAAA"/>
                </a:solidFill>
                <a:latin typeface="Consolas"/>
                <a:ea typeface="Consolas"/>
                <a:cs typeface="Consolas"/>
                <a:sym typeface="Consolas"/>
              </a:rPr>
              <a:t>” </a:t>
            </a:r>
            <a:r>
              <a:rPr b="0" i="0" lang="en" sz="1400" u="none" cap="none" strike="noStrike">
                <a:solidFill>
                  <a:srgbClr val="82AA30"/>
                </a:solidFill>
                <a:latin typeface="Consolas"/>
                <a:ea typeface="Consolas"/>
                <a:cs typeface="Consolas"/>
                <a:sym typeface="Consolas"/>
              </a:rPr>
              <a:t>id</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myBtn</a:t>
            </a:r>
            <a:r>
              <a:rPr b="0" i="0" lang="en" sz="1400" u="none" cap="none" strike="noStrike">
                <a:solidFill>
                  <a:srgbClr val="AAAAAA"/>
                </a:solidFill>
                <a:latin typeface="Consolas"/>
                <a:ea typeface="Consolas"/>
                <a:cs typeface="Consolas"/>
                <a:sym typeface="Consolas"/>
              </a:rPr>
              <a:t>”&gt;</a:t>
            </a:r>
            <a:r>
              <a:rPr b="0" i="0" lang="en" sz="1400" u="none" cap="none" strike="noStrike">
                <a:solidFill>
                  <a:srgbClr val="3F3F3F"/>
                </a:solidFill>
                <a:latin typeface="Consolas"/>
                <a:ea typeface="Consolas"/>
                <a:cs typeface="Consolas"/>
                <a:sym typeface="Consolas"/>
              </a:rPr>
              <a:t>Show Alert</a:t>
            </a:r>
            <a:r>
              <a:rPr b="0" i="0" lang="en" sz="1400" u="none" cap="none" strike="noStrike">
                <a:solidFill>
                  <a:srgbClr val="AAAAAA"/>
                </a:solidFill>
                <a:latin typeface="Consolas"/>
                <a:ea typeface="Consolas"/>
                <a:cs typeface="Consolas"/>
                <a:sym typeface="Consolas"/>
              </a:rPr>
              <a:t>&lt;/</a:t>
            </a:r>
            <a:r>
              <a:rPr b="0" i="0" lang="en" sz="1400" u="none" cap="none" strike="noStrike">
                <a:solidFill>
                  <a:srgbClr val="863A64"/>
                </a:solidFill>
                <a:latin typeface="Consolas"/>
                <a:ea typeface="Consolas"/>
                <a:cs typeface="Consolas"/>
                <a:sym typeface="Consolas"/>
              </a:rPr>
              <a:t>a</a:t>
            </a:r>
            <a:r>
              <a:rPr b="0" i="0" lang="en" sz="1400" u="none" cap="none" strike="noStrike">
                <a:solidFill>
                  <a:srgbClr val="AAAAAA"/>
                </a:solidFill>
                <a:latin typeface="Consolas"/>
                <a:ea typeface="Consolas"/>
                <a:cs typeface="Consolas"/>
                <a:sym typeface="Consolas"/>
              </a:rPr>
              <a:t>&gt;</a:t>
            </a:r>
            <a:endParaRPr b="0" i="0" sz="1400" u="none" cap="none" strike="noStrike">
              <a:solidFill>
                <a:srgbClr val="AAAAAA"/>
              </a:solidFill>
              <a:latin typeface="Consolas"/>
              <a:ea typeface="Consolas"/>
              <a:cs typeface="Consolas"/>
              <a:sym typeface="Consolas"/>
            </a:endParaRPr>
          </a:p>
        </p:txBody>
      </p:sp>
      <p:sp>
        <p:nvSpPr>
          <p:cNvPr id="480" name="Google Shape;480;p52"/>
          <p:cNvSpPr txBox="1"/>
          <p:nvPr/>
        </p:nvSpPr>
        <p:spPr>
          <a:xfrm>
            <a:off x="2358901" y="2309250"/>
            <a:ext cx="6785100" cy="500100"/>
          </a:xfrm>
          <a:prstGeom prst="rect">
            <a:avLst/>
          </a:prstGeom>
          <a:solidFill>
            <a:srgbClr val="EEEEEE"/>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863A64"/>
                </a:solidFill>
                <a:latin typeface="Consolas"/>
                <a:ea typeface="Consolas"/>
                <a:cs typeface="Consolas"/>
                <a:sym typeface="Consolas"/>
              </a:rPr>
              <a:t>document</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63A64"/>
                </a:solidFill>
                <a:latin typeface="Consolas"/>
                <a:ea typeface="Consolas"/>
                <a:cs typeface="Consolas"/>
                <a:sym typeface="Consolas"/>
              </a:rPr>
              <a:t>getElementById</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myBtn</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63A64"/>
                </a:solidFill>
                <a:latin typeface="Consolas"/>
                <a:ea typeface="Consolas"/>
                <a:cs typeface="Consolas"/>
                <a:sym typeface="Consolas"/>
              </a:rPr>
              <a:t>addEventListener</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82AA30"/>
                </a:solidFill>
                <a:latin typeface="Consolas"/>
                <a:ea typeface="Consolas"/>
                <a:cs typeface="Consolas"/>
                <a:sym typeface="Consolas"/>
              </a:rPr>
              <a:t>click</a:t>
            </a:r>
            <a:r>
              <a:rPr b="0" i="0" lang="en" sz="1400" u="none" cap="none" strike="noStrike">
                <a:solidFill>
                  <a:srgbClr val="AAAAAA"/>
                </a:solidFill>
                <a:latin typeface="Consolas"/>
                <a:ea typeface="Consolas"/>
                <a:cs typeface="Consolas"/>
                <a:sym typeface="Consolas"/>
              </a:rPr>
              <a:t>", () =&gt; </a:t>
            </a:r>
            <a:r>
              <a:rPr b="0" i="0" lang="en" sz="1400" u="none" cap="none" strike="noStrike">
                <a:solidFill>
                  <a:srgbClr val="863A64"/>
                </a:solidFill>
                <a:latin typeface="Consolas"/>
                <a:ea typeface="Consolas"/>
                <a:cs typeface="Consolas"/>
                <a:sym typeface="Consolas"/>
              </a:rPr>
              <a:t>alert</a:t>
            </a:r>
            <a:r>
              <a:rPr b="0" i="0" lang="en" sz="1400" u="none" cap="none" strike="noStrike">
                <a:solidFill>
                  <a:srgbClr val="AAAAAA"/>
                </a:solidFill>
                <a:latin typeface="Consolas"/>
                <a:ea typeface="Consolas"/>
                <a:cs typeface="Consolas"/>
                <a:sym typeface="Consolas"/>
              </a:rPr>
              <a:t>(“</a:t>
            </a:r>
            <a:r>
              <a:rPr b="0" i="0" lang="en" sz="1400" u="none" cap="none" strike="noStrike">
                <a:solidFill>
                  <a:srgbClr val="0077AA"/>
                </a:solidFill>
                <a:latin typeface="Consolas"/>
                <a:ea typeface="Consolas"/>
                <a:cs typeface="Consolas"/>
                <a:sym typeface="Consolas"/>
              </a:rPr>
              <a:t>hello!</a:t>
            </a:r>
            <a:r>
              <a:rPr b="0" i="0" lang="en" sz="1400" u="none" cap="none" strike="noStrike">
                <a:solidFill>
                  <a:srgbClr val="AAAAAA"/>
                </a:solidFill>
                <a:latin typeface="Consolas"/>
                <a:ea typeface="Consolas"/>
                <a:cs typeface="Consolas"/>
                <a:sym typeface="Consolas"/>
              </a:rPr>
              <a:t>”));</a:t>
            </a:r>
            <a:endParaRPr b="0" i="0" sz="1400" u="none" cap="none" strike="noStrike">
              <a:solidFill>
                <a:srgbClr val="AAAAAA"/>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3"/>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86" name="Google Shape;486;p5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87" name="Google Shape;487;p5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88" name="Google Shape;488;p5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89" name="Google Shape;489;p5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90" name="Google Shape;490;p53"/>
          <p:cNvSpPr txBox="1"/>
          <p:nvPr/>
        </p:nvSpPr>
        <p:spPr>
          <a:xfrm>
            <a:off x="2240825" y="3420400"/>
            <a:ext cx="6785100" cy="1425000"/>
          </a:xfrm>
          <a:prstGeom prst="rect">
            <a:avLst/>
          </a:prstGeom>
          <a:noFill/>
          <a:ln>
            <a:noFill/>
          </a:ln>
        </p:spPr>
        <p:txBody>
          <a:bodyPr anchorCtr="0" anchor="t" bIns="91425" lIns="91425" spcFirstLastPara="1" rIns="91425" wrap="square" tIns="91425">
            <a:normAutofit/>
          </a:bodyPr>
          <a:lstStyle/>
          <a:p>
            <a:pPr indent="-304800" lvl="0" marL="457200" rtl="0" algn="just">
              <a:lnSpc>
                <a:spcPct val="150000"/>
              </a:lnSpc>
              <a:spcBef>
                <a:spcPts val="0"/>
              </a:spcBef>
              <a:spcAft>
                <a:spcPts val="0"/>
              </a:spcAft>
              <a:buClr>
                <a:schemeClr val="dk2"/>
              </a:buClr>
              <a:buSzPts val="1200"/>
              <a:buChar char="●"/>
            </a:pPr>
            <a:r>
              <a:rPr lang="en" sz="1200">
                <a:solidFill>
                  <a:schemeClr val="dk2"/>
                </a:solidFill>
                <a:latin typeface="Arvo"/>
                <a:ea typeface="Arvo"/>
                <a:cs typeface="Arvo"/>
                <a:sym typeface="Arvo"/>
              </a:rPr>
              <a:t>Now, in event.js file we have created a variable buttons using </a:t>
            </a:r>
            <a:r>
              <a:rPr b="1" lang="en" sz="1200">
                <a:solidFill>
                  <a:schemeClr val="dk2"/>
                </a:solidFill>
                <a:latin typeface="Arvo"/>
                <a:ea typeface="Arvo"/>
                <a:cs typeface="Arvo"/>
                <a:sym typeface="Arvo"/>
              </a:rPr>
              <a:t>const</a:t>
            </a:r>
            <a:r>
              <a:rPr lang="en" sz="1200">
                <a:solidFill>
                  <a:schemeClr val="dk2"/>
                </a:solidFill>
                <a:latin typeface="Arvo"/>
                <a:ea typeface="Arvo"/>
                <a:cs typeface="Arvo"/>
                <a:sym typeface="Arvo"/>
              </a:rPr>
              <a:t> keyword where we have selected all the buttons using </a:t>
            </a:r>
            <a:r>
              <a:rPr b="1" lang="en" sz="1200">
                <a:solidFill>
                  <a:schemeClr val="dk2"/>
                </a:solidFill>
                <a:latin typeface="Arvo"/>
                <a:ea typeface="Arvo"/>
                <a:cs typeface="Arvo"/>
                <a:sym typeface="Arvo"/>
              </a:rPr>
              <a:t>qerySelectorAll()</a:t>
            </a:r>
            <a:r>
              <a:rPr lang="en" sz="1200">
                <a:solidFill>
                  <a:schemeClr val="dk2"/>
                </a:solidFill>
                <a:latin typeface="Arvo"/>
                <a:ea typeface="Arvo"/>
                <a:cs typeface="Arvo"/>
                <a:sym typeface="Arvo"/>
              </a:rPr>
              <a:t>. We have given a behavior on those buttons which </a:t>
            </a:r>
            <a:r>
              <a:rPr b="1" lang="en" sz="1200">
                <a:solidFill>
                  <a:schemeClr val="dk2"/>
                </a:solidFill>
                <a:latin typeface="Arvo"/>
                <a:ea typeface="Arvo"/>
                <a:cs typeface="Arvo"/>
                <a:sym typeface="Arvo"/>
              </a:rPr>
              <a:t>on click </a:t>
            </a:r>
            <a:r>
              <a:rPr lang="en" sz="1200">
                <a:solidFill>
                  <a:schemeClr val="dk2"/>
                </a:solidFill>
                <a:latin typeface="Arvo"/>
                <a:ea typeface="Arvo"/>
                <a:cs typeface="Arvo"/>
                <a:sym typeface="Arvo"/>
              </a:rPr>
              <a:t>gives an alert of (‘Ouch! that tickles);</a:t>
            </a:r>
            <a:endParaRPr sz="1200">
              <a:solidFill>
                <a:schemeClr val="dk2"/>
              </a:solidFill>
              <a:latin typeface="Arvo"/>
              <a:ea typeface="Arvo"/>
              <a:cs typeface="Arvo"/>
              <a:sym typeface="Arvo"/>
            </a:endParaRPr>
          </a:p>
        </p:txBody>
      </p:sp>
      <p:pic>
        <p:nvPicPr>
          <p:cNvPr id="491" name="Google Shape;491;p53"/>
          <p:cNvPicPr preferRelativeResize="0"/>
          <p:nvPr/>
        </p:nvPicPr>
        <p:blipFill>
          <a:blip r:embed="rId5">
            <a:alphaModFix/>
          </a:blip>
          <a:stretch>
            <a:fillRect/>
          </a:stretch>
        </p:blipFill>
        <p:spPr>
          <a:xfrm>
            <a:off x="2481175" y="1314150"/>
            <a:ext cx="6031749" cy="18859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4"/>
          <p:cNvSpPr txBox="1"/>
          <p:nvPr>
            <p:ph type="title"/>
          </p:nvPr>
        </p:nvSpPr>
        <p:spPr>
          <a:xfrm>
            <a:off x="2358900" y="203850"/>
            <a:ext cx="67851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100"/>
              <a:buNone/>
            </a:pPr>
            <a:r>
              <a:rPr lang="en" sz="2100">
                <a:latin typeface="Lato Black"/>
                <a:ea typeface="Lato Black"/>
                <a:cs typeface="Lato Black"/>
                <a:sym typeface="Lato Black"/>
              </a:rPr>
              <a:t>JavaScript Selectors</a:t>
            </a:r>
            <a:endParaRPr b="1" sz="2300"/>
          </a:p>
        </p:txBody>
      </p:sp>
      <p:sp>
        <p:nvSpPr>
          <p:cNvPr id="497" name="Google Shape;497;p5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JavaScript Basic</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Arrow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Anonymous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IIFE (Immediately Invoked     Function Expression)</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Higher Order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1.4.1 Map</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1.4.2 Reduce</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1.4.3 Filter</a:t>
            </a:r>
            <a:endParaRPr sz="1000">
              <a:solidFill>
                <a:schemeClr val="dk1"/>
              </a:solidFill>
            </a:endParaRPr>
          </a:p>
          <a:p>
            <a:pPr indent="457200" lvl="0" marL="0" rtl="0" algn="l">
              <a:lnSpc>
                <a:spcPct val="115000"/>
              </a:lnSpc>
              <a:spcBef>
                <a:spcPts val="0"/>
              </a:spcBef>
              <a:spcAft>
                <a:spcPts val="0"/>
              </a:spcAft>
              <a:buNone/>
            </a:pPr>
            <a:r>
              <a:rPr lang="en" sz="1000">
                <a:solidFill>
                  <a:schemeClr val="dk1"/>
                </a:solidFill>
              </a:rPr>
              <a:t>1.4.4 ForEach</a:t>
            </a:r>
            <a:r>
              <a:rPr b="1"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1.6 DOM and Virtual DOM</a:t>
            </a:r>
            <a:endParaRPr sz="1000">
              <a:solidFill>
                <a:schemeClr val="dk1"/>
              </a:solidFill>
            </a:endParaRPr>
          </a:p>
          <a:p>
            <a:pPr indent="0" lvl="0" marL="0" rtl="0" algn="l">
              <a:spcBef>
                <a:spcPts val="0"/>
              </a:spcBef>
              <a:spcAft>
                <a:spcPts val="0"/>
              </a:spcAft>
              <a:buNone/>
            </a:pPr>
            <a:r>
              <a:rPr lang="en" sz="1000">
                <a:solidFill>
                  <a:schemeClr val="dk1"/>
                </a:solidFill>
              </a:rPr>
              <a:t>1.7 JavaScript Selectors</a:t>
            </a:r>
            <a:endParaRPr sz="1000">
              <a:solidFill>
                <a:schemeClr val="dk1"/>
              </a:solidFill>
            </a:endParaRPr>
          </a:p>
          <a:p>
            <a:pPr indent="0" lvl="0" marL="0" rtl="0" algn="l">
              <a:spcBef>
                <a:spcPts val="0"/>
              </a:spcBef>
              <a:spcAft>
                <a:spcPts val="0"/>
              </a:spcAft>
              <a:buNone/>
            </a:pPr>
            <a:r>
              <a:rPr b="1" lang="en" sz="1000">
                <a:solidFill>
                  <a:schemeClr val="dk1"/>
                </a:solidFill>
              </a:rPr>
              <a:t>1.8 JavaScript Events and event handlers</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98" name="Google Shape;498;p5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99" name="Google Shape;499;p5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00" name="Google Shape;500;p5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01" name="Google Shape;501;p54"/>
          <p:cNvSpPr txBox="1"/>
          <p:nvPr/>
        </p:nvSpPr>
        <p:spPr>
          <a:xfrm>
            <a:off x="2358900" y="1038725"/>
            <a:ext cx="6154200" cy="3532500"/>
          </a:xfrm>
          <a:prstGeom prst="rect">
            <a:avLst/>
          </a:prstGeom>
          <a:noFill/>
          <a:ln>
            <a:noFill/>
          </a:ln>
        </p:spPr>
        <p:txBody>
          <a:bodyPr anchorCtr="0" anchor="t" bIns="91425" lIns="91425" spcFirstLastPara="1" rIns="91425" wrap="square" tIns="91425">
            <a:sp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There are numerous event handlers for you to explore. Below are listed some of the most used handlers for you too look into:</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onClick</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ondblclick</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onkeypress</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onkeyup</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onmousein</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onmouseout</a:t>
            </a:r>
            <a:br>
              <a:rPr lang="en" sz="1500">
                <a:solidFill>
                  <a:schemeClr val="dk2"/>
                </a:solidFill>
                <a:latin typeface="Arvo"/>
                <a:ea typeface="Arvo"/>
                <a:cs typeface="Arvo"/>
                <a:sym typeface="Arvo"/>
              </a:rPr>
            </a:br>
            <a:r>
              <a:rPr lang="en" sz="1500">
                <a:solidFill>
                  <a:schemeClr val="dk2"/>
                </a:solidFill>
                <a:latin typeface="Arvo"/>
                <a:ea typeface="Arvo"/>
                <a:cs typeface="Arvo"/>
                <a:sym typeface="Arvo"/>
              </a:rPr>
              <a:t>- onsubmit</a:t>
            </a:r>
            <a:endParaRPr sz="2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5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07" name="Google Shape;507;p55"/>
          <p:cNvSpPr txBox="1"/>
          <p:nvPr>
            <p:ph idx="12" type="sldNum"/>
          </p:nvPr>
        </p:nvSpPr>
        <p:spPr>
          <a:xfrm>
            <a:off x="4843463" y="3575447"/>
            <a:ext cx="1543200" cy="205500"/>
          </a:xfrm>
          <a:prstGeom prst="rect">
            <a:avLst/>
          </a:prstGeom>
          <a:noFill/>
          <a:ln>
            <a:noFill/>
          </a:ln>
        </p:spPr>
        <p:txBody>
          <a:bodyPr anchorCtr="0" anchor="ctr" bIns="34275" lIns="68575" spcFirstLastPara="1" rIns="68575" wrap="square" tIns="34275">
            <a:normAutofit lnSpcReduction="20000"/>
          </a:bodyPr>
          <a:lstStyle/>
          <a:p>
            <a:pPr indent="0" lvl="0" marL="0" rtl="0" algn="r">
              <a:spcBef>
                <a:spcPts val="0"/>
              </a:spcBef>
              <a:spcAft>
                <a:spcPts val="0"/>
              </a:spcAft>
              <a:buNone/>
            </a:pPr>
            <a:fld id="{00000000-1234-1234-1234-123412341234}" type="slidenum">
              <a:rPr lang="en"/>
              <a:t>‹#›</a:t>
            </a:fld>
            <a:endParaRPr/>
          </a:p>
        </p:txBody>
      </p:sp>
      <p:pic>
        <p:nvPicPr>
          <p:cNvPr id="508" name="Google Shape;508;p55"/>
          <p:cNvPicPr preferRelativeResize="0"/>
          <p:nvPr/>
        </p:nvPicPr>
        <p:blipFill rotWithShape="1">
          <a:blip r:embed="rId4">
            <a:alphaModFix/>
          </a:blip>
          <a:srcRect b="0" l="0" r="0" t="0"/>
          <a:stretch/>
        </p:blipFill>
        <p:spPr>
          <a:xfrm>
            <a:off x="6672129" y="2676395"/>
            <a:ext cx="2471871" cy="2462023"/>
          </a:xfrm>
          <a:prstGeom prst="rect">
            <a:avLst/>
          </a:prstGeom>
          <a:noFill/>
          <a:ln>
            <a:noFill/>
          </a:ln>
        </p:spPr>
      </p:pic>
      <p:pic>
        <p:nvPicPr>
          <p:cNvPr id="509" name="Google Shape;509;p55"/>
          <p:cNvPicPr preferRelativeResize="0"/>
          <p:nvPr/>
        </p:nvPicPr>
        <p:blipFill rotWithShape="1">
          <a:blip r:embed="rId5">
            <a:alphaModFix/>
          </a:blip>
          <a:srcRect b="0" l="0" r="0" t="0"/>
          <a:stretch/>
        </p:blipFill>
        <p:spPr>
          <a:xfrm>
            <a:off x="1553024" y="-4"/>
            <a:ext cx="6038009" cy="5143500"/>
          </a:xfrm>
          <a:prstGeom prst="rect">
            <a:avLst/>
          </a:prstGeom>
          <a:noFill/>
          <a:ln>
            <a:noFill/>
          </a:ln>
        </p:spPr>
      </p:pic>
    </p:spTree>
  </p:cSld>
  <p:clrMapOvr>
    <a:masterClrMapping/>
  </p:clrMapOvr>
  <mc:AlternateContent>
    <mc:Choice Requires="p14">
      <p:transition spd="slow" p14:dur="40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