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Cp5UoYgCLOhKKVjMHcSxu4d5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47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38100" lvl="1" indent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38100" lvl="2" indent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38100" lvl="3" indent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38100" lvl="4" indent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38100" lvl="5" indent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38100" lvl="6" indent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38100" lvl="7" indent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38100" lvl="8" indent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96;g249310ac104_0_42">
            <a:extLst>
              <a:ext uri="{FF2B5EF4-FFF2-40B4-BE49-F238E27FC236}">
                <a16:creationId xmlns:a16="http://schemas.microsoft.com/office/drawing/2014/main" id="{F059F1B1-A880-E3A1-A379-B747F70C8C3E}"/>
              </a:ext>
            </a:extLst>
          </p:cNvPr>
          <p:cNvSpPr/>
          <p:nvPr userDrawn="1"/>
        </p:nvSpPr>
        <p:spPr>
          <a:xfrm>
            <a:off x="-39" y="-12458"/>
            <a:ext cx="2558414" cy="6870457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3" name="Google Shape;76;p1">
            <a:extLst>
              <a:ext uri="{FF2B5EF4-FFF2-40B4-BE49-F238E27FC236}">
                <a16:creationId xmlns:a16="http://schemas.microsoft.com/office/drawing/2014/main" id="{0444CCED-C68F-77EF-FAB5-244E91BA615C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B197AB-9A91-362F-CCE2-B130E635D9B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Operating_syste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en.wikipedia.org/wiki/Kernel_(computing)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cripting_languag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hyperlink" Target="http://en.wikipedia.org/wiki/Operating_system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hope.com/issues/chusedos.ht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929383" y="2514600"/>
            <a:ext cx="9653270" cy="0"/>
          </a:xfrm>
          <a:custGeom>
            <a:avLst/>
            <a:gdLst/>
            <a:ahLst/>
            <a:cxnLst/>
            <a:rect l="l" t="t" r="r" b="b"/>
            <a:pathLst>
              <a:path w="9653270" h="120000" extrusionOk="0">
                <a:moveTo>
                  <a:pt x="0" y="0"/>
                </a:moveTo>
                <a:lnTo>
                  <a:pt x="9653016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2002917" y="1139443"/>
            <a:ext cx="942403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Windows Operating System &amp; Command-  line interface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002917" y="3048000"/>
            <a:ext cx="34791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7</a:t>
            </a:r>
            <a:endParaRPr sz="2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2743200" y="715331"/>
            <a:ext cx="53340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1355958" y="6463176"/>
            <a:ext cx="173355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2973070" y="1813306"/>
            <a:ext cx="8556243" cy="360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end of this lecture you will: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243840" lvl="0" indent="-342900" algn="l" rtl="0">
              <a:lnSpc>
                <a:spcPct val="107931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Windows operating  system and its function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89280" lvl="0" indent="-342900" algn="l" rtl="0">
              <a:lnSpc>
                <a:spcPct val="107931"/>
              </a:lnSpc>
              <a:spcBef>
                <a:spcPts val="70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familiar with both graphic and  text based system manipulation</a:t>
            </a:r>
            <a:endParaRPr/>
          </a:p>
          <a:p>
            <a:pPr marL="355600" marR="378460" lvl="0" indent="-342900" algn="l" rtl="0">
              <a:lnSpc>
                <a:spcPct val="90000"/>
              </a:lnSpc>
              <a:spcBef>
                <a:spcPts val="65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familiar with text based  command line functions (Microsoft  Windows)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9744C-EA1A-2CE2-6751-12E0DB5F00F8}"/>
              </a:ext>
            </a:extLst>
          </p:cNvPr>
          <p:cNvSpPr txBox="1"/>
          <p:nvPr/>
        </p:nvSpPr>
        <p:spPr>
          <a:xfrm>
            <a:off x="135082" y="2646317"/>
            <a:ext cx="209896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1. Learning Outcomes</a:t>
            </a:r>
          </a:p>
          <a:p>
            <a:r>
              <a:rPr lang="en-US" sz="1100" dirty="0"/>
              <a:t>2. History of the Windows Operating System</a:t>
            </a:r>
          </a:p>
          <a:p>
            <a:r>
              <a:rPr lang="en-US" sz="1100" dirty="0"/>
              <a:t>3. Windows 95 &amp; 98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2694712" y="90458"/>
            <a:ext cx="9829800" cy="2044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2. History of the Windows Operating System</a:t>
            </a: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1355958" y="6463176"/>
            <a:ext cx="173355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2835681" y="1768602"/>
            <a:ext cx="9026100" cy="44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555625" lvl="0" indent="-342900" algn="l" rtl="0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25"/>
              <a:buFont typeface="Noto Sans Symbols"/>
              <a:buChar char="⚪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 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is a platform-independent acronym for Disk Operating System</a:t>
            </a:r>
            <a:endParaRPr dirty="0"/>
          </a:p>
          <a:p>
            <a:pPr marL="355600" marR="831850" lvl="0" indent="-342900" algn="l" rtl="0">
              <a:lnSpc>
                <a:spcPct val="92500"/>
              </a:lnSpc>
              <a:spcBef>
                <a:spcPts val="585"/>
              </a:spcBef>
              <a:spcAft>
                <a:spcPts val="0"/>
              </a:spcAft>
              <a:buClr>
                <a:srgbClr val="006666"/>
              </a:buClr>
              <a:buSzPts val="1925"/>
              <a:buFont typeface="Noto Sans Symbols"/>
              <a:buChar char="⚪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MS-DOS 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Microsoft’s disk-based operating  system (1981)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97678"/>
              </a:lnSpc>
              <a:spcBef>
                <a:spcPts val="250"/>
              </a:spcBef>
              <a:spcAft>
                <a:spcPts val="0"/>
              </a:spcAft>
              <a:buClr>
                <a:srgbClr val="006666"/>
              </a:buClr>
              <a:buSzPts val="1925"/>
              <a:buFont typeface="Noto Sans Symbols"/>
              <a:buChar char="⚪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1995, Microsoft released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95 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was both an operating system and graphical interface.</a:t>
            </a:r>
            <a:endParaRPr dirty="0"/>
          </a:p>
          <a:p>
            <a:pPr marL="355600" marR="0" lvl="0" indent="-342900" algn="l" rtl="0">
              <a:lnSpc>
                <a:spcPct val="97678"/>
              </a:lnSpc>
              <a:spcBef>
                <a:spcPts val="250"/>
              </a:spcBef>
              <a:spcAft>
                <a:spcPts val="0"/>
              </a:spcAft>
              <a:buClr>
                <a:srgbClr val="006666"/>
              </a:buClr>
              <a:buSzPts val="1925"/>
              <a:buFont typeface="Noto Sans Symbols"/>
              <a:buChar char="⚪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application software ran on top of the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97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system, including Microsoft’s Windows.</a:t>
            </a:r>
            <a:endParaRPr dirty="0"/>
          </a:p>
          <a:p>
            <a:pPr marL="927100" marR="0" lvl="0" indent="0" algn="l" rtl="0">
              <a:lnSpc>
                <a:spcPct val="75535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(MS-Windows = separate application that provided a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27100" marR="0" lvl="0" indent="0" algn="l" rtl="0">
              <a:lnSpc>
                <a:spcPct val="75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 user interface and tools)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27100" marR="0" lvl="0" indent="0" algn="l" rtl="0">
              <a:lnSpc>
                <a:spcPct val="7553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B6AB6-E880-6DAD-D43D-1A3B722DD7B7}"/>
              </a:ext>
            </a:extLst>
          </p:cNvPr>
          <p:cNvSpPr txBox="1"/>
          <p:nvPr/>
        </p:nvSpPr>
        <p:spPr>
          <a:xfrm>
            <a:off x="135082" y="2646317"/>
            <a:ext cx="209896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1. Learning Outcomes</a:t>
            </a:r>
          </a:p>
          <a:p>
            <a:r>
              <a:rPr lang="en-US" sz="1100" b="1" dirty="0"/>
              <a:t>2. History of the Windows Operating System</a:t>
            </a:r>
          </a:p>
          <a:p>
            <a:r>
              <a:rPr lang="en-US" sz="1100" dirty="0"/>
              <a:t>3. Windows 95 &amp; 98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2708069" y="459489"/>
            <a:ext cx="9078686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3.System Software vs Application Software.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950" y="1989950"/>
            <a:ext cx="7965174" cy="409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D37960-2CC7-29E5-D2DB-81EF5F9018D9}"/>
              </a:ext>
            </a:extLst>
          </p:cNvPr>
          <p:cNvSpPr txBox="1"/>
          <p:nvPr/>
        </p:nvSpPr>
        <p:spPr>
          <a:xfrm>
            <a:off x="135082" y="2646317"/>
            <a:ext cx="20989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3. System software Vs application software</a:t>
            </a:r>
          </a:p>
          <a:p>
            <a:r>
              <a:rPr lang="en-US" sz="1100" dirty="0"/>
              <a:t>4. What does an operating system do?</a:t>
            </a:r>
          </a:p>
          <a:p>
            <a:r>
              <a:rPr lang="en-US" sz="1100" dirty="0"/>
              <a:t>5. Where does the Operating System fit?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2656114" y="459494"/>
            <a:ext cx="9078686" cy="136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4. What does an Operating System do?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sldNum" idx="12"/>
          </p:nvPr>
        </p:nvSpPr>
        <p:spPr>
          <a:xfrm>
            <a:off x="8610600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2590800" y="1769021"/>
            <a:ext cx="9525000" cy="231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55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acts as a Resource Manager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6666"/>
              </a:buClr>
              <a:buSzPts val="1655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services for the applications installed  (executable software)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6666"/>
              </a:buClr>
              <a:buSzPts val="1655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key goals are: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5" descr="What are the functions of an Operating System? - Concepts A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838" y="2952750"/>
            <a:ext cx="641032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D23025-8A7E-65D9-0C9B-CFD8D97E724D}"/>
              </a:ext>
            </a:extLst>
          </p:cNvPr>
          <p:cNvSpPr txBox="1"/>
          <p:nvPr/>
        </p:nvSpPr>
        <p:spPr>
          <a:xfrm>
            <a:off x="135082" y="2646317"/>
            <a:ext cx="20989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 System software Vs application software</a:t>
            </a:r>
          </a:p>
          <a:p>
            <a:r>
              <a:rPr lang="en-US" sz="1100" b="1" dirty="0"/>
              <a:t>4.  What does an operating system do?</a:t>
            </a:r>
          </a:p>
          <a:p>
            <a:r>
              <a:rPr lang="en-US" sz="1100" dirty="0"/>
              <a:t>6. Where does the Operating System fit?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2649682" y="365125"/>
            <a:ext cx="954231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5. Where Does the Operating System Fit?</a:t>
            </a:r>
            <a:endParaRPr sz="4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6" descr="Untitl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6913" y="1620925"/>
            <a:ext cx="73152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4329288" y="3747438"/>
            <a:ext cx="353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Programs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5448300" y="5199063"/>
            <a:ext cx="13981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4583113" y="4508500"/>
            <a:ext cx="23968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348DB9-E041-09F0-EC2F-76CC4B267033}"/>
              </a:ext>
            </a:extLst>
          </p:cNvPr>
          <p:cNvSpPr txBox="1"/>
          <p:nvPr/>
        </p:nvSpPr>
        <p:spPr>
          <a:xfrm>
            <a:off x="135082" y="2646317"/>
            <a:ext cx="209896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 System software Vs application software</a:t>
            </a:r>
          </a:p>
          <a:p>
            <a:r>
              <a:rPr lang="en-US" sz="1100" dirty="0"/>
              <a:t>4. What does an operating system do?</a:t>
            </a:r>
          </a:p>
          <a:p>
            <a:r>
              <a:rPr lang="en-US" sz="1100" b="1" dirty="0"/>
              <a:t>5. Where does the Operating System fit?</a:t>
            </a:r>
          </a:p>
          <a:p>
            <a:r>
              <a:rPr lang="en-US" sz="1100" dirty="0"/>
              <a:t>6. The Kernel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3142536" y="715289"/>
            <a:ext cx="3809491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6. The Kernel</a:t>
            </a:r>
            <a:endParaRPr dirty="0"/>
          </a:p>
        </p:txBody>
      </p:sp>
      <p:sp>
        <p:nvSpPr>
          <p:cNvPr id="142" name="Google Shape;142;p7"/>
          <p:cNvSpPr txBox="1">
            <a:spLocks noGrp="1"/>
          </p:cNvSpPr>
          <p:nvPr>
            <p:ph type="sldNum" idx="12"/>
          </p:nvPr>
        </p:nvSpPr>
        <p:spPr>
          <a:xfrm>
            <a:off x="8932721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447082" y="3201161"/>
            <a:ext cx="4876800" cy="43794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7925" rIns="0" bIns="0" anchor="t" anchorCtr="0">
            <a:spAutoFit/>
          </a:bodyPr>
          <a:lstStyle/>
          <a:p>
            <a:pPr marL="0" marR="711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3447082" y="2286761"/>
            <a:ext cx="4876800" cy="43794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7925" rIns="0" bIns="0" anchor="t" anchorCtr="0">
            <a:spAutoFit/>
          </a:bodyPr>
          <a:lstStyle/>
          <a:p>
            <a:pPr marL="3778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programs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3447082" y="5106161"/>
            <a:ext cx="4800600" cy="438582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8575" rIns="0" bIns="0" anchor="t" anchorCtr="0">
            <a:spAutoFit/>
          </a:bodyPr>
          <a:lstStyle/>
          <a:p>
            <a:pPr marL="0" marR="6794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5733082" y="2820161"/>
            <a:ext cx="304800" cy="381000"/>
            <a:chOff x="5410961" y="2820161"/>
            <a:chExt cx="304800" cy="381000"/>
          </a:xfrm>
        </p:grpSpPr>
        <p:sp>
          <p:nvSpPr>
            <p:cNvPr id="147" name="Google Shape;147;p7"/>
            <p:cNvSpPr/>
            <p:nvPr/>
          </p:nvSpPr>
          <p:spPr>
            <a:xfrm>
              <a:off x="5410961" y="28201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285750"/>
                  </a:lnTo>
                  <a:lnTo>
                    <a:pt x="0" y="285750"/>
                  </a:lnTo>
                  <a:lnTo>
                    <a:pt x="152400" y="381000"/>
                  </a:lnTo>
                  <a:lnTo>
                    <a:pt x="304800" y="285750"/>
                  </a:lnTo>
                  <a:lnTo>
                    <a:pt x="228600" y="28575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410961" y="28201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0" y="285750"/>
                  </a:moveTo>
                  <a:lnTo>
                    <a:pt x="76200" y="28575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304800" y="285750"/>
                  </a:lnTo>
                  <a:lnTo>
                    <a:pt x="152400" y="38100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9" name="Google Shape;149;p7"/>
          <p:cNvGrpSpPr/>
          <p:nvPr/>
        </p:nvGrpSpPr>
        <p:grpSpPr>
          <a:xfrm>
            <a:off x="4894882" y="3734561"/>
            <a:ext cx="304800" cy="381000"/>
            <a:chOff x="4572761" y="3734561"/>
            <a:chExt cx="304800" cy="381000"/>
          </a:xfrm>
        </p:grpSpPr>
        <p:sp>
          <p:nvSpPr>
            <p:cNvPr id="150" name="Google Shape;150;p7"/>
            <p:cNvSpPr/>
            <p:nvPr/>
          </p:nvSpPr>
          <p:spPr>
            <a:xfrm>
              <a:off x="4572761" y="37345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285750"/>
                  </a:lnTo>
                  <a:lnTo>
                    <a:pt x="0" y="285750"/>
                  </a:lnTo>
                  <a:lnTo>
                    <a:pt x="152400" y="381000"/>
                  </a:lnTo>
                  <a:lnTo>
                    <a:pt x="304800" y="285750"/>
                  </a:lnTo>
                  <a:lnTo>
                    <a:pt x="228600" y="28575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4572761" y="37345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0" y="285750"/>
                  </a:moveTo>
                  <a:lnTo>
                    <a:pt x="76200" y="28575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304800" y="285750"/>
                  </a:lnTo>
                  <a:lnTo>
                    <a:pt x="152400" y="38100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2" name="Google Shape;152;p7"/>
          <p:cNvGrpSpPr/>
          <p:nvPr/>
        </p:nvGrpSpPr>
        <p:grpSpPr>
          <a:xfrm>
            <a:off x="2989882" y="4648961"/>
            <a:ext cx="5867400" cy="457200"/>
            <a:chOff x="2667761" y="4648961"/>
            <a:chExt cx="5867400" cy="457200"/>
          </a:xfrm>
        </p:grpSpPr>
        <p:sp>
          <p:nvSpPr>
            <p:cNvPr id="153" name="Google Shape;153;p7"/>
            <p:cNvSpPr/>
            <p:nvPr/>
          </p:nvSpPr>
          <p:spPr>
            <a:xfrm>
              <a:off x="2667761" y="4877561"/>
              <a:ext cx="5867400" cy="0"/>
            </a:xfrm>
            <a:custGeom>
              <a:avLst/>
              <a:gdLst/>
              <a:ahLst/>
              <a:cxnLst/>
              <a:rect l="l" t="t" r="r" b="b"/>
              <a:pathLst>
                <a:path w="5867400" h="120000" extrusionOk="0">
                  <a:moveTo>
                    <a:pt x="0" y="0"/>
                  </a:moveTo>
                  <a:lnTo>
                    <a:pt x="5867399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572761" y="464896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342900"/>
                  </a:lnTo>
                  <a:lnTo>
                    <a:pt x="0" y="342900"/>
                  </a:lnTo>
                  <a:lnTo>
                    <a:pt x="152400" y="457200"/>
                  </a:lnTo>
                  <a:lnTo>
                    <a:pt x="304800" y="342900"/>
                  </a:lnTo>
                  <a:lnTo>
                    <a:pt x="228600" y="3429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572761" y="464896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 extrusionOk="0">
                  <a:moveTo>
                    <a:pt x="0" y="342900"/>
                  </a:moveTo>
                  <a:lnTo>
                    <a:pt x="76200" y="3429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342900"/>
                  </a:lnTo>
                  <a:lnTo>
                    <a:pt x="304800" y="342900"/>
                  </a:lnTo>
                  <a:lnTo>
                    <a:pt x="1524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6" name="Google Shape;156;p7"/>
          <p:cNvSpPr txBox="1"/>
          <p:nvPr/>
        </p:nvSpPr>
        <p:spPr>
          <a:xfrm>
            <a:off x="5733082" y="4115561"/>
            <a:ext cx="914400" cy="49116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203200" marR="139700" lvl="0" indent="-5841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 driver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6878750" y="4138041"/>
            <a:ext cx="122682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• • • • • •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8" name="Google Shape;158;p7"/>
          <p:cNvGrpSpPr/>
          <p:nvPr/>
        </p:nvGrpSpPr>
        <p:grpSpPr>
          <a:xfrm>
            <a:off x="3751882" y="3734561"/>
            <a:ext cx="304800" cy="381000"/>
            <a:chOff x="3429761" y="3734561"/>
            <a:chExt cx="304800" cy="381000"/>
          </a:xfrm>
        </p:grpSpPr>
        <p:sp>
          <p:nvSpPr>
            <p:cNvPr id="159" name="Google Shape;159;p7"/>
            <p:cNvSpPr/>
            <p:nvPr/>
          </p:nvSpPr>
          <p:spPr>
            <a:xfrm>
              <a:off x="3429761" y="37345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285750"/>
                  </a:lnTo>
                  <a:lnTo>
                    <a:pt x="0" y="285750"/>
                  </a:lnTo>
                  <a:lnTo>
                    <a:pt x="152400" y="381000"/>
                  </a:lnTo>
                  <a:lnTo>
                    <a:pt x="304800" y="285750"/>
                  </a:lnTo>
                  <a:lnTo>
                    <a:pt x="228600" y="28575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3429761" y="37345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0" y="285750"/>
                  </a:moveTo>
                  <a:lnTo>
                    <a:pt x="76200" y="28575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304800" y="285750"/>
                  </a:lnTo>
                  <a:lnTo>
                    <a:pt x="152400" y="38100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1" name="Google Shape;161;p7"/>
          <p:cNvGrpSpPr/>
          <p:nvPr/>
        </p:nvGrpSpPr>
        <p:grpSpPr>
          <a:xfrm>
            <a:off x="6037882" y="3734561"/>
            <a:ext cx="304800" cy="381000"/>
            <a:chOff x="5715761" y="3734561"/>
            <a:chExt cx="304800" cy="381000"/>
          </a:xfrm>
        </p:grpSpPr>
        <p:sp>
          <p:nvSpPr>
            <p:cNvPr id="162" name="Google Shape;162;p7"/>
            <p:cNvSpPr/>
            <p:nvPr/>
          </p:nvSpPr>
          <p:spPr>
            <a:xfrm>
              <a:off x="5715761" y="37345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285750"/>
                  </a:lnTo>
                  <a:lnTo>
                    <a:pt x="0" y="285750"/>
                  </a:lnTo>
                  <a:lnTo>
                    <a:pt x="152400" y="381000"/>
                  </a:lnTo>
                  <a:lnTo>
                    <a:pt x="304800" y="285750"/>
                  </a:lnTo>
                  <a:lnTo>
                    <a:pt x="228600" y="28575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5715761" y="3734561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 extrusionOk="0">
                  <a:moveTo>
                    <a:pt x="0" y="285750"/>
                  </a:moveTo>
                  <a:lnTo>
                    <a:pt x="76200" y="28575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304800" y="285750"/>
                  </a:lnTo>
                  <a:lnTo>
                    <a:pt x="152400" y="38100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4" name="Google Shape;164;p7"/>
          <p:cNvGrpSpPr/>
          <p:nvPr/>
        </p:nvGrpSpPr>
        <p:grpSpPr>
          <a:xfrm>
            <a:off x="3751882" y="3201161"/>
            <a:ext cx="5486400" cy="1905000"/>
            <a:chOff x="3429761" y="3201161"/>
            <a:chExt cx="5486400" cy="1905000"/>
          </a:xfrm>
        </p:grpSpPr>
        <p:sp>
          <p:nvSpPr>
            <p:cNvPr id="165" name="Google Shape;165;p7"/>
            <p:cNvSpPr/>
            <p:nvPr/>
          </p:nvSpPr>
          <p:spPr>
            <a:xfrm>
              <a:off x="3429761" y="464896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342900"/>
                  </a:lnTo>
                  <a:lnTo>
                    <a:pt x="0" y="342900"/>
                  </a:lnTo>
                  <a:lnTo>
                    <a:pt x="152400" y="457200"/>
                  </a:lnTo>
                  <a:lnTo>
                    <a:pt x="304800" y="342900"/>
                  </a:lnTo>
                  <a:lnTo>
                    <a:pt x="228600" y="3429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3429761" y="464896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 extrusionOk="0">
                  <a:moveTo>
                    <a:pt x="0" y="342900"/>
                  </a:moveTo>
                  <a:lnTo>
                    <a:pt x="76200" y="3429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342900"/>
                  </a:lnTo>
                  <a:lnTo>
                    <a:pt x="304800" y="342900"/>
                  </a:lnTo>
                  <a:lnTo>
                    <a:pt x="1524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5715761" y="464896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 extrusionOk="0">
                  <a:moveTo>
                    <a:pt x="228600" y="0"/>
                  </a:moveTo>
                  <a:lnTo>
                    <a:pt x="76200" y="0"/>
                  </a:lnTo>
                  <a:lnTo>
                    <a:pt x="76200" y="342900"/>
                  </a:lnTo>
                  <a:lnTo>
                    <a:pt x="0" y="342900"/>
                  </a:lnTo>
                  <a:lnTo>
                    <a:pt x="152400" y="457200"/>
                  </a:lnTo>
                  <a:lnTo>
                    <a:pt x="304800" y="342900"/>
                  </a:lnTo>
                  <a:lnTo>
                    <a:pt x="228600" y="3429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5715761" y="4648961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 extrusionOk="0">
                  <a:moveTo>
                    <a:pt x="0" y="342900"/>
                  </a:moveTo>
                  <a:lnTo>
                    <a:pt x="76200" y="3429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342900"/>
                  </a:lnTo>
                  <a:lnTo>
                    <a:pt x="304800" y="342900"/>
                  </a:lnTo>
                  <a:lnTo>
                    <a:pt x="1524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8535161" y="3201161"/>
              <a:ext cx="381000" cy="1447800"/>
            </a:xfrm>
            <a:custGeom>
              <a:avLst/>
              <a:gdLst/>
              <a:ahLst/>
              <a:cxnLst/>
              <a:rect l="l" t="t" r="r" b="b"/>
              <a:pathLst>
                <a:path w="381000" h="1447800" extrusionOk="0">
                  <a:moveTo>
                    <a:pt x="0" y="0"/>
                  </a:moveTo>
                  <a:lnTo>
                    <a:pt x="60191" y="6146"/>
                  </a:lnTo>
                  <a:lnTo>
                    <a:pt x="112483" y="23266"/>
                  </a:lnTo>
                  <a:lnTo>
                    <a:pt x="153728" y="49377"/>
                  </a:lnTo>
                  <a:lnTo>
                    <a:pt x="180782" y="82499"/>
                  </a:lnTo>
                  <a:lnTo>
                    <a:pt x="190500" y="120650"/>
                  </a:lnTo>
                  <a:lnTo>
                    <a:pt x="190500" y="603250"/>
                  </a:lnTo>
                  <a:lnTo>
                    <a:pt x="200217" y="641400"/>
                  </a:lnTo>
                  <a:lnTo>
                    <a:pt x="227271" y="674522"/>
                  </a:lnTo>
                  <a:lnTo>
                    <a:pt x="268516" y="700633"/>
                  </a:lnTo>
                  <a:lnTo>
                    <a:pt x="320808" y="717753"/>
                  </a:lnTo>
                  <a:lnTo>
                    <a:pt x="381000" y="723900"/>
                  </a:lnTo>
                  <a:lnTo>
                    <a:pt x="320808" y="730046"/>
                  </a:lnTo>
                  <a:lnTo>
                    <a:pt x="268516" y="747166"/>
                  </a:lnTo>
                  <a:lnTo>
                    <a:pt x="227271" y="773277"/>
                  </a:lnTo>
                  <a:lnTo>
                    <a:pt x="200217" y="806399"/>
                  </a:lnTo>
                  <a:lnTo>
                    <a:pt x="190500" y="844550"/>
                  </a:lnTo>
                  <a:lnTo>
                    <a:pt x="190500" y="1327150"/>
                  </a:lnTo>
                  <a:lnTo>
                    <a:pt x="180782" y="1365300"/>
                  </a:lnTo>
                  <a:lnTo>
                    <a:pt x="153728" y="1398422"/>
                  </a:lnTo>
                  <a:lnTo>
                    <a:pt x="112483" y="1424533"/>
                  </a:lnTo>
                  <a:lnTo>
                    <a:pt x="60191" y="1441653"/>
                  </a:lnTo>
                  <a:lnTo>
                    <a:pt x="0" y="144780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9302290" y="3714369"/>
            <a:ext cx="5524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O/S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4590082" y="4115561"/>
            <a:ext cx="914400" cy="49116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203200" marR="139700" lvl="0" indent="-5841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 driver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3447082" y="4115561"/>
            <a:ext cx="914400" cy="49116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203200" marR="139700" lvl="0" indent="-5841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 driver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2912921" y="5946583"/>
            <a:ext cx="8153400" cy="60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“The software that contains the core components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operating system.”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809C9A-3A18-6A8B-814A-AD953CCD5B1D}"/>
              </a:ext>
            </a:extLst>
          </p:cNvPr>
          <p:cNvSpPr txBox="1"/>
          <p:nvPr/>
        </p:nvSpPr>
        <p:spPr>
          <a:xfrm>
            <a:off x="135082" y="2646317"/>
            <a:ext cx="209896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6. The Kernel</a:t>
            </a:r>
          </a:p>
          <a:p>
            <a:r>
              <a:rPr lang="en-US" sz="1100" dirty="0"/>
              <a:t>7. Talking to the Operating System</a:t>
            </a:r>
          </a:p>
          <a:p>
            <a:r>
              <a:rPr lang="en-US" sz="1100" dirty="0"/>
              <a:t>8. File System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>
            <a:spLocks noGrp="1"/>
          </p:cNvSpPr>
          <p:nvPr>
            <p:ph type="title"/>
          </p:nvPr>
        </p:nvSpPr>
        <p:spPr>
          <a:xfrm>
            <a:off x="2659111" y="668179"/>
            <a:ext cx="886441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7. Talking to the Operating System</a:t>
            </a:r>
            <a:endParaRPr dirty="0"/>
          </a:p>
        </p:txBody>
      </p:sp>
      <p:sp>
        <p:nvSpPr>
          <p:cNvPr id="180" name="Google Shape;180;p8"/>
          <p:cNvSpPr txBox="1">
            <a:spLocks noGrp="1"/>
          </p:cNvSpPr>
          <p:nvPr>
            <p:ph type="sldNum" idx="12"/>
          </p:nvPr>
        </p:nvSpPr>
        <p:spPr>
          <a:xfrm>
            <a:off x="8932721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2896919" y="1569848"/>
            <a:ext cx="8779002" cy="383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2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wants to: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data from disc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data on screen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O/S can do these things</a:t>
            </a:r>
            <a:endParaRPr/>
          </a:p>
          <a:p>
            <a:pPr marL="355600" marR="144780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program communicates with O/S  using a </a:t>
            </a:r>
            <a:r>
              <a:rPr lang="en-US" sz="290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System-call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 </a:t>
            </a: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how a program requests  a service from an</a:t>
            </a:r>
            <a:r>
              <a:rPr lang="en-US" sz="2500" b="0" i="0" u="none" strike="noStrike" cap="none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 b="0" i="0" u="sng" strike="noStrike" cap="none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operating system</a:t>
            </a: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</a:t>
            </a:r>
            <a:r>
              <a:rPr lang="en-US" sz="2500" b="0" i="0" u="none" strike="noStrike" cap="none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 b="0" i="0" u="sng" strike="noStrike" cap="none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kernel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2" name="Google Shape;182;p8"/>
          <p:cNvGrpSpPr/>
          <p:nvPr/>
        </p:nvGrpSpPr>
        <p:grpSpPr>
          <a:xfrm>
            <a:off x="7918499" y="2358389"/>
            <a:ext cx="1156335" cy="1084326"/>
            <a:chOff x="7596378" y="2358389"/>
            <a:chExt cx="1156335" cy="1084326"/>
          </a:xfrm>
        </p:grpSpPr>
        <p:sp>
          <p:nvSpPr>
            <p:cNvPr id="183" name="Google Shape;183;p8"/>
            <p:cNvSpPr/>
            <p:nvPr/>
          </p:nvSpPr>
          <p:spPr>
            <a:xfrm>
              <a:off x="7954518" y="2683255"/>
              <a:ext cx="798195" cy="759460"/>
            </a:xfrm>
            <a:custGeom>
              <a:avLst/>
              <a:gdLst/>
              <a:ahLst/>
              <a:cxnLst/>
              <a:rect l="l" t="t" r="r" b="b"/>
              <a:pathLst>
                <a:path w="798195" h="759460" extrusionOk="0">
                  <a:moveTo>
                    <a:pt x="768834" y="266879"/>
                  </a:moveTo>
                  <a:lnTo>
                    <a:pt x="749173" y="311912"/>
                  </a:lnTo>
                  <a:lnTo>
                    <a:pt x="715899" y="351917"/>
                  </a:lnTo>
                  <a:lnTo>
                    <a:pt x="685926" y="380746"/>
                  </a:lnTo>
                  <a:lnTo>
                    <a:pt x="650366" y="410718"/>
                  </a:lnTo>
                  <a:lnTo>
                    <a:pt x="609726" y="441960"/>
                  </a:lnTo>
                  <a:lnTo>
                    <a:pt x="540257" y="490474"/>
                  </a:lnTo>
                  <a:lnTo>
                    <a:pt x="462660" y="540766"/>
                  </a:lnTo>
                  <a:lnTo>
                    <a:pt x="378332" y="592455"/>
                  </a:lnTo>
                  <a:lnTo>
                    <a:pt x="319531" y="627380"/>
                  </a:lnTo>
                  <a:lnTo>
                    <a:pt x="135127" y="734060"/>
                  </a:lnTo>
                  <a:lnTo>
                    <a:pt x="149478" y="758952"/>
                  </a:lnTo>
                  <a:lnTo>
                    <a:pt x="273303" y="687578"/>
                  </a:lnTo>
                  <a:lnTo>
                    <a:pt x="392937" y="616966"/>
                  </a:lnTo>
                  <a:lnTo>
                    <a:pt x="450087" y="582168"/>
                  </a:lnTo>
                  <a:lnTo>
                    <a:pt x="504698" y="547878"/>
                  </a:lnTo>
                  <a:lnTo>
                    <a:pt x="556005" y="514350"/>
                  </a:lnTo>
                  <a:lnTo>
                    <a:pt x="604011" y="481203"/>
                  </a:lnTo>
                  <a:lnTo>
                    <a:pt x="647826" y="449072"/>
                  </a:lnTo>
                  <a:lnTo>
                    <a:pt x="686942" y="417576"/>
                  </a:lnTo>
                  <a:lnTo>
                    <a:pt x="721105" y="387096"/>
                  </a:lnTo>
                  <a:lnTo>
                    <a:pt x="749680" y="357632"/>
                  </a:lnTo>
                  <a:lnTo>
                    <a:pt x="781050" y="314579"/>
                  </a:lnTo>
                  <a:lnTo>
                    <a:pt x="796925" y="272669"/>
                  </a:lnTo>
                  <a:lnTo>
                    <a:pt x="797293" y="268478"/>
                  </a:lnTo>
                  <a:lnTo>
                    <a:pt x="768730" y="268478"/>
                  </a:lnTo>
                  <a:lnTo>
                    <a:pt x="768834" y="266879"/>
                  </a:lnTo>
                  <a:close/>
                </a:path>
                <a:path w="798195" h="759460" extrusionOk="0">
                  <a:moveTo>
                    <a:pt x="768984" y="266192"/>
                  </a:moveTo>
                  <a:lnTo>
                    <a:pt x="768834" y="266879"/>
                  </a:lnTo>
                  <a:lnTo>
                    <a:pt x="768730" y="268478"/>
                  </a:lnTo>
                  <a:lnTo>
                    <a:pt x="768984" y="266192"/>
                  </a:lnTo>
                  <a:close/>
                </a:path>
                <a:path w="798195" h="759460" extrusionOk="0">
                  <a:moveTo>
                    <a:pt x="797441" y="266192"/>
                  </a:moveTo>
                  <a:lnTo>
                    <a:pt x="768984" y="266192"/>
                  </a:lnTo>
                  <a:lnTo>
                    <a:pt x="768730" y="268478"/>
                  </a:lnTo>
                  <a:lnTo>
                    <a:pt x="797293" y="268478"/>
                  </a:lnTo>
                  <a:lnTo>
                    <a:pt x="797441" y="266192"/>
                  </a:lnTo>
                  <a:close/>
                </a:path>
                <a:path w="798195" h="759460" extrusionOk="0">
                  <a:moveTo>
                    <a:pt x="769398" y="258133"/>
                  </a:moveTo>
                  <a:lnTo>
                    <a:pt x="768834" y="266879"/>
                  </a:lnTo>
                  <a:lnTo>
                    <a:pt x="768984" y="266192"/>
                  </a:lnTo>
                  <a:lnTo>
                    <a:pt x="797441" y="266192"/>
                  </a:lnTo>
                  <a:lnTo>
                    <a:pt x="797900" y="259080"/>
                  </a:lnTo>
                  <a:lnTo>
                    <a:pt x="769492" y="259080"/>
                  </a:lnTo>
                  <a:lnTo>
                    <a:pt x="769398" y="258133"/>
                  </a:lnTo>
                  <a:close/>
                </a:path>
                <a:path w="798195" h="759460" extrusionOk="0">
                  <a:moveTo>
                    <a:pt x="798025" y="256667"/>
                  </a:moveTo>
                  <a:lnTo>
                    <a:pt x="769492" y="256667"/>
                  </a:lnTo>
                  <a:lnTo>
                    <a:pt x="769492" y="259080"/>
                  </a:lnTo>
                  <a:lnTo>
                    <a:pt x="797900" y="259080"/>
                  </a:lnTo>
                  <a:lnTo>
                    <a:pt x="797992" y="258133"/>
                  </a:lnTo>
                  <a:lnTo>
                    <a:pt x="798025" y="256667"/>
                  </a:lnTo>
                  <a:close/>
                </a:path>
                <a:path w="798195" h="759460" extrusionOk="0">
                  <a:moveTo>
                    <a:pt x="797080" y="247650"/>
                  </a:moveTo>
                  <a:lnTo>
                    <a:pt x="768350" y="247650"/>
                  </a:lnTo>
                  <a:lnTo>
                    <a:pt x="768857" y="250317"/>
                  </a:lnTo>
                  <a:lnTo>
                    <a:pt x="768616" y="250317"/>
                  </a:lnTo>
                  <a:lnTo>
                    <a:pt x="769398" y="258133"/>
                  </a:lnTo>
                  <a:lnTo>
                    <a:pt x="769492" y="256667"/>
                  </a:lnTo>
                  <a:lnTo>
                    <a:pt x="798025" y="256667"/>
                  </a:lnTo>
                  <a:lnTo>
                    <a:pt x="797940" y="256159"/>
                  </a:lnTo>
                  <a:lnTo>
                    <a:pt x="797350" y="250317"/>
                  </a:lnTo>
                  <a:lnTo>
                    <a:pt x="768857" y="250317"/>
                  </a:lnTo>
                  <a:lnTo>
                    <a:pt x="768490" y="249051"/>
                  </a:lnTo>
                  <a:lnTo>
                    <a:pt x="797222" y="249051"/>
                  </a:lnTo>
                  <a:lnTo>
                    <a:pt x="797080" y="247650"/>
                  </a:lnTo>
                  <a:close/>
                </a:path>
                <a:path w="798195" h="759460" extrusionOk="0">
                  <a:moveTo>
                    <a:pt x="768350" y="247650"/>
                  </a:moveTo>
                  <a:lnTo>
                    <a:pt x="768490" y="249051"/>
                  </a:lnTo>
                  <a:lnTo>
                    <a:pt x="768857" y="250317"/>
                  </a:lnTo>
                  <a:lnTo>
                    <a:pt x="768350" y="247650"/>
                  </a:lnTo>
                  <a:close/>
                </a:path>
                <a:path w="798195" h="759460" extrusionOk="0">
                  <a:moveTo>
                    <a:pt x="766044" y="240638"/>
                  </a:moveTo>
                  <a:lnTo>
                    <a:pt x="768490" y="249051"/>
                  </a:lnTo>
                  <a:lnTo>
                    <a:pt x="768350" y="247650"/>
                  </a:lnTo>
                  <a:lnTo>
                    <a:pt x="797080" y="247650"/>
                  </a:lnTo>
                  <a:lnTo>
                    <a:pt x="796798" y="244856"/>
                  </a:lnTo>
                  <a:lnTo>
                    <a:pt x="796543" y="243078"/>
                  </a:lnTo>
                  <a:lnTo>
                    <a:pt x="796136" y="241681"/>
                  </a:lnTo>
                  <a:lnTo>
                    <a:pt x="766572" y="241681"/>
                  </a:lnTo>
                  <a:lnTo>
                    <a:pt x="766044" y="240638"/>
                  </a:lnTo>
                  <a:close/>
                </a:path>
                <a:path w="798195" h="759460" extrusionOk="0">
                  <a:moveTo>
                    <a:pt x="765682" y="239395"/>
                  </a:moveTo>
                  <a:lnTo>
                    <a:pt x="766044" y="240638"/>
                  </a:lnTo>
                  <a:lnTo>
                    <a:pt x="766572" y="241681"/>
                  </a:lnTo>
                  <a:lnTo>
                    <a:pt x="765682" y="239395"/>
                  </a:lnTo>
                  <a:close/>
                </a:path>
                <a:path w="798195" h="759460" extrusionOk="0">
                  <a:moveTo>
                    <a:pt x="795445" y="239395"/>
                  </a:moveTo>
                  <a:lnTo>
                    <a:pt x="765682" y="239395"/>
                  </a:lnTo>
                  <a:lnTo>
                    <a:pt x="766572" y="241681"/>
                  </a:lnTo>
                  <a:lnTo>
                    <a:pt x="796136" y="241681"/>
                  </a:lnTo>
                  <a:lnTo>
                    <a:pt x="795445" y="239395"/>
                  </a:lnTo>
                  <a:close/>
                </a:path>
                <a:path w="798195" h="759460" extrusionOk="0">
                  <a:moveTo>
                    <a:pt x="792951" y="231140"/>
                  </a:moveTo>
                  <a:lnTo>
                    <a:pt x="761237" y="231140"/>
                  </a:lnTo>
                  <a:lnTo>
                    <a:pt x="762253" y="232918"/>
                  </a:lnTo>
                  <a:lnTo>
                    <a:pt x="766044" y="240638"/>
                  </a:lnTo>
                  <a:lnTo>
                    <a:pt x="765682" y="239395"/>
                  </a:lnTo>
                  <a:lnTo>
                    <a:pt x="795445" y="239395"/>
                  </a:lnTo>
                  <a:lnTo>
                    <a:pt x="792951" y="231140"/>
                  </a:lnTo>
                  <a:close/>
                </a:path>
                <a:path w="798195" h="759460" extrusionOk="0">
                  <a:moveTo>
                    <a:pt x="761834" y="232318"/>
                  </a:moveTo>
                  <a:lnTo>
                    <a:pt x="762137" y="232918"/>
                  </a:lnTo>
                  <a:lnTo>
                    <a:pt x="761834" y="232318"/>
                  </a:lnTo>
                  <a:close/>
                </a:path>
                <a:path w="798195" h="759460" extrusionOk="0">
                  <a:moveTo>
                    <a:pt x="761237" y="231140"/>
                  </a:moveTo>
                  <a:lnTo>
                    <a:pt x="761834" y="232318"/>
                  </a:lnTo>
                  <a:lnTo>
                    <a:pt x="762253" y="232918"/>
                  </a:lnTo>
                  <a:lnTo>
                    <a:pt x="761237" y="231140"/>
                  </a:lnTo>
                  <a:close/>
                </a:path>
                <a:path w="798195" h="759460" extrusionOk="0">
                  <a:moveTo>
                    <a:pt x="755633" y="223460"/>
                  </a:moveTo>
                  <a:lnTo>
                    <a:pt x="761834" y="232318"/>
                  </a:lnTo>
                  <a:lnTo>
                    <a:pt x="761237" y="231140"/>
                  </a:lnTo>
                  <a:lnTo>
                    <a:pt x="792951" y="231140"/>
                  </a:lnTo>
                  <a:lnTo>
                    <a:pt x="792733" y="230378"/>
                  </a:lnTo>
                  <a:lnTo>
                    <a:pt x="792479" y="229616"/>
                  </a:lnTo>
                  <a:lnTo>
                    <a:pt x="789783" y="224282"/>
                  </a:lnTo>
                  <a:lnTo>
                    <a:pt x="756411" y="224282"/>
                  </a:lnTo>
                  <a:lnTo>
                    <a:pt x="755633" y="223460"/>
                  </a:lnTo>
                  <a:close/>
                </a:path>
                <a:path w="798195" h="759460" extrusionOk="0">
                  <a:moveTo>
                    <a:pt x="755141" y="222758"/>
                  </a:moveTo>
                  <a:lnTo>
                    <a:pt x="755633" y="223460"/>
                  </a:lnTo>
                  <a:lnTo>
                    <a:pt x="756411" y="224282"/>
                  </a:lnTo>
                  <a:lnTo>
                    <a:pt x="755141" y="222758"/>
                  </a:lnTo>
                  <a:close/>
                </a:path>
                <a:path w="798195" h="759460" extrusionOk="0">
                  <a:moveTo>
                    <a:pt x="789012" y="222758"/>
                  </a:moveTo>
                  <a:lnTo>
                    <a:pt x="755141" y="222758"/>
                  </a:lnTo>
                  <a:lnTo>
                    <a:pt x="756411" y="224282"/>
                  </a:lnTo>
                  <a:lnTo>
                    <a:pt x="789783" y="224282"/>
                  </a:lnTo>
                  <a:lnTo>
                    <a:pt x="789012" y="222758"/>
                  </a:lnTo>
                  <a:close/>
                </a:path>
                <a:path w="798195" h="759460" extrusionOk="0">
                  <a:moveTo>
                    <a:pt x="86821" y="28350"/>
                  </a:moveTo>
                  <a:lnTo>
                    <a:pt x="83223" y="56669"/>
                  </a:lnTo>
                  <a:lnTo>
                    <a:pt x="139700" y="63881"/>
                  </a:lnTo>
                  <a:lnTo>
                    <a:pt x="310006" y="87630"/>
                  </a:lnTo>
                  <a:lnTo>
                    <a:pt x="405637" y="103251"/>
                  </a:lnTo>
                  <a:lnTo>
                    <a:pt x="465454" y="114300"/>
                  </a:lnTo>
                  <a:lnTo>
                    <a:pt x="521461" y="126111"/>
                  </a:lnTo>
                  <a:lnTo>
                    <a:pt x="573151" y="138684"/>
                  </a:lnTo>
                  <a:lnTo>
                    <a:pt x="620013" y="152146"/>
                  </a:lnTo>
                  <a:lnTo>
                    <a:pt x="661670" y="166497"/>
                  </a:lnTo>
                  <a:lnTo>
                    <a:pt x="696976" y="181864"/>
                  </a:lnTo>
                  <a:lnTo>
                    <a:pt x="737488" y="206248"/>
                  </a:lnTo>
                  <a:lnTo>
                    <a:pt x="755633" y="223460"/>
                  </a:lnTo>
                  <a:lnTo>
                    <a:pt x="755141" y="222758"/>
                  </a:lnTo>
                  <a:lnTo>
                    <a:pt x="789012" y="222758"/>
                  </a:lnTo>
                  <a:lnTo>
                    <a:pt x="786764" y="218313"/>
                  </a:lnTo>
                  <a:lnTo>
                    <a:pt x="786510" y="217678"/>
                  </a:lnTo>
                  <a:lnTo>
                    <a:pt x="786129" y="217043"/>
                  </a:lnTo>
                  <a:lnTo>
                    <a:pt x="785749" y="216535"/>
                  </a:lnTo>
                  <a:lnTo>
                    <a:pt x="778433" y="206248"/>
                  </a:lnTo>
                  <a:lnTo>
                    <a:pt x="778128" y="205740"/>
                  </a:lnTo>
                  <a:lnTo>
                    <a:pt x="777748" y="205232"/>
                  </a:lnTo>
                  <a:lnTo>
                    <a:pt x="777239" y="204724"/>
                  </a:lnTo>
                  <a:lnTo>
                    <a:pt x="768096" y="195072"/>
                  </a:lnTo>
                  <a:lnTo>
                    <a:pt x="727201" y="165354"/>
                  </a:lnTo>
                  <a:lnTo>
                    <a:pt x="692023" y="148082"/>
                  </a:lnTo>
                  <a:lnTo>
                    <a:pt x="651255" y="132461"/>
                  </a:lnTo>
                  <a:lnTo>
                    <a:pt x="605535" y="117983"/>
                  </a:lnTo>
                  <a:lnTo>
                    <a:pt x="554862" y="104521"/>
                  </a:lnTo>
                  <a:lnTo>
                    <a:pt x="499999" y="92202"/>
                  </a:lnTo>
                  <a:lnTo>
                    <a:pt x="441325" y="80645"/>
                  </a:lnTo>
                  <a:lnTo>
                    <a:pt x="379222" y="69723"/>
                  </a:lnTo>
                  <a:lnTo>
                    <a:pt x="314451" y="59436"/>
                  </a:lnTo>
                  <a:lnTo>
                    <a:pt x="143382" y="35560"/>
                  </a:lnTo>
                  <a:lnTo>
                    <a:pt x="86821" y="28350"/>
                  </a:lnTo>
                  <a:close/>
                </a:path>
                <a:path w="798195" h="759460" extrusionOk="0">
                  <a:moveTo>
                    <a:pt x="90424" y="0"/>
                  </a:moveTo>
                  <a:lnTo>
                    <a:pt x="0" y="31750"/>
                  </a:lnTo>
                  <a:lnTo>
                    <a:pt x="79628" y="84963"/>
                  </a:lnTo>
                  <a:lnTo>
                    <a:pt x="83223" y="56669"/>
                  </a:lnTo>
                  <a:lnTo>
                    <a:pt x="69087" y="54864"/>
                  </a:lnTo>
                  <a:lnTo>
                    <a:pt x="72643" y="26543"/>
                  </a:lnTo>
                  <a:lnTo>
                    <a:pt x="87051" y="26543"/>
                  </a:lnTo>
                  <a:lnTo>
                    <a:pt x="90424" y="0"/>
                  </a:lnTo>
                  <a:close/>
                </a:path>
                <a:path w="798195" h="759460" extrusionOk="0">
                  <a:moveTo>
                    <a:pt x="72643" y="26543"/>
                  </a:moveTo>
                  <a:lnTo>
                    <a:pt x="69087" y="54864"/>
                  </a:lnTo>
                  <a:lnTo>
                    <a:pt x="83223" y="56669"/>
                  </a:lnTo>
                  <a:lnTo>
                    <a:pt x="86821" y="28350"/>
                  </a:lnTo>
                  <a:lnTo>
                    <a:pt x="72643" y="26543"/>
                  </a:lnTo>
                  <a:close/>
                </a:path>
                <a:path w="798195" h="759460" extrusionOk="0">
                  <a:moveTo>
                    <a:pt x="87051" y="26543"/>
                  </a:moveTo>
                  <a:lnTo>
                    <a:pt x="72643" y="26543"/>
                  </a:lnTo>
                  <a:lnTo>
                    <a:pt x="86821" y="28350"/>
                  </a:lnTo>
                  <a:lnTo>
                    <a:pt x="87051" y="265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596378" y="2358389"/>
              <a:ext cx="304800" cy="685800"/>
            </a:xfrm>
            <a:custGeom>
              <a:avLst/>
              <a:gdLst/>
              <a:ahLst/>
              <a:cxnLst/>
              <a:rect l="l" t="t" r="r" b="b"/>
              <a:pathLst>
                <a:path w="304800" h="685800" extrusionOk="0">
                  <a:moveTo>
                    <a:pt x="0" y="0"/>
                  </a:moveTo>
                  <a:lnTo>
                    <a:pt x="59334" y="4482"/>
                  </a:lnTo>
                  <a:lnTo>
                    <a:pt x="107775" y="16716"/>
                  </a:lnTo>
                  <a:lnTo>
                    <a:pt x="140428" y="34879"/>
                  </a:lnTo>
                  <a:lnTo>
                    <a:pt x="152400" y="57150"/>
                  </a:lnTo>
                  <a:lnTo>
                    <a:pt x="152400" y="285750"/>
                  </a:lnTo>
                  <a:lnTo>
                    <a:pt x="164371" y="308020"/>
                  </a:lnTo>
                  <a:lnTo>
                    <a:pt x="197024" y="326183"/>
                  </a:lnTo>
                  <a:lnTo>
                    <a:pt x="245465" y="338417"/>
                  </a:lnTo>
                  <a:lnTo>
                    <a:pt x="304800" y="342900"/>
                  </a:lnTo>
                  <a:lnTo>
                    <a:pt x="245465" y="347382"/>
                  </a:lnTo>
                  <a:lnTo>
                    <a:pt x="197024" y="359616"/>
                  </a:lnTo>
                  <a:lnTo>
                    <a:pt x="164371" y="377779"/>
                  </a:lnTo>
                  <a:lnTo>
                    <a:pt x="152400" y="400050"/>
                  </a:lnTo>
                  <a:lnTo>
                    <a:pt x="152400" y="628650"/>
                  </a:lnTo>
                  <a:lnTo>
                    <a:pt x="140428" y="650920"/>
                  </a:lnTo>
                  <a:lnTo>
                    <a:pt x="107775" y="669083"/>
                  </a:lnTo>
                  <a:lnTo>
                    <a:pt x="59334" y="681317"/>
                  </a:lnTo>
                  <a:lnTo>
                    <a:pt x="0" y="68580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402A7E-4538-B7A7-6077-34164743028A}"/>
              </a:ext>
            </a:extLst>
          </p:cNvPr>
          <p:cNvSpPr txBox="1"/>
          <p:nvPr/>
        </p:nvSpPr>
        <p:spPr>
          <a:xfrm>
            <a:off x="135082" y="2646317"/>
            <a:ext cx="209896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6. The Kernel</a:t>
            </a:r>
          </a:p>
          <a:p>
            <a:r>
              <a:rPr lang="en-US" sz="1100" b="1" dirty="0"/>
              <a:t>7. Talking to the Operating System</a:t>
            </a:r>
          </a:p>
          <a:p>
            <a:r>
              <a:rPr lang="en-US" sz="1100" dirty="0"/>
              <a:t>8. File System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2814900" y="762000"/>
            <a:ext cx="4778501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8. File System</a:t>
            </a:r>
            <a:endParaRPr dirty="0"/>
          </a:p>
        </p:txBody>
      </p:sp>
      <p:sp>
        <p:nvSpPr>
          <p:cNvPr id="191" name="Google Shape;191;p9"/>
          <p:cNvSpPr txBox="1">
            <a:spLocks noGrp="1"/>
          </p:cNvSpPr>
          <p:nvPr>
            <p:ph type="sldNum" idx="12"/>
          </p:nvPr>
        </p:nvSpPr>
        <p:spPr>
          <a:xfrm>
            <a:off x="9036631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2814901" y="1673479"/>
            <a:ext cx="7826375" cy="415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software applications require the use  of a file system for operation</a:t>
            </a:r>
            <a:endParaRPr sz="2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813435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file system contains names and  locations</a:t>
            </a:r>
            <a:endParaRPr sz="2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480059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 include a directory structure,  made up of –</a:t>
            </a:r>
            <a:endParaRPr sz="2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Directories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(sub-directories)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(of different types e.g.)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.EXE	(executable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)[windows]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.DOCX (word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)[windows]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402" y="4143755"/>
            <a:ext cx="3500628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0FDC2C-7213-EABD-C99B-5C3246204C85}"/>
              </a:ext>
            </a:extLst>
          </p:cNvPr>
          <p:cNvSpPr txBox="1"/>
          <p:nvPr/>
        </p:nvSpPr>
        <p:spPr>
          <a:xfrm>
            <a:off x="135082" y="2646317"/>
            <a:ext cx="209896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6. The Kernel</a:t>
            </a:r>
          </a:p>
          <a:p>
            <a:r>
              <a:rPr lang="en-US" sz="1100" dirty="0"/>
              <a:t>7. Talking to the Operating System</a:t>
            </a:r>
          </a:p>
          <a:p>
            <a:r>
              <a:rPr lang="en-US" sz="1100" b="1" dirty="0"/>
              <a:t>8. File System</a:t>
            </a:r>
          </a:p>
          <a:p>
            <a:r>
              <a:rPr lang="en-US" sz="1100" dirty="0"/>
              <a:t>8.1. Why are there many File System?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2795157" y="572787"/>
            <a:ext cx="9448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8.1. Why are there many File Systems?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0"/>
          <p:cNvSpPr txBox="1">
            <a:spLocks noGrp="1"/>
          </p:cNvSpPr>
          <p:nvPr>
            <p:ph type="sldNum" idx="12"/>
          </p:nvPr>
        </p:nvSpPr>
        <p:spPr>
          <a:xfrm>
            <a:off x="8610600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2718957" y="2209800"/>
            <a:ext cx="8812530" cy="295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37909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file systems have different ways  of organizing their data.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996314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file systems operate faster than  others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have additional security features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728345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are geared towards large storage  capacity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file systems are more resistant to file  corruption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BA1DD-21EF-F56E-1C55-73AA910B3AB3}"/>
              </a:ext>
            </a:extLst>
          </p:cNvPr>
          <p:cNvSpPr txBox="1"/>
          <p:nvPr/>
        </p:nvSpPr>
        <p:spPr>
          <a:xfrm>
            <a:off x="135082" y="2646317"/>
            <a:ext cx="209896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8. File System</a:t>
            </a:r>
          </a:p>
          <a:p>
            <a:r>
              <a:rPr lang="en-US" sz="1100" b="1" dirty="0"/>
              <a:t>8.1. Why are there many File System?</a:t>
            </a:r>
          </a:p>
          <a:p>
            <a:r>
              <a:rPr lang="en-US" sz="1100" dirty="0"/>
              <a:t>8.2  File System development</a:t>
            </a:r>
          </a:p>
          <a:p>
            <a:r>
              <a:rPr lang="en-US" sz="1100" dirty="0"/>
              <a:t>8.3 File System: Example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2735071" y="645288"/>
            <a:ext cx="8208463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10.2. File System development</a:t>
            </a:r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sldNum" idx="12"/>
          </p:nvPr>
        </p:nvSpPr>
        <p:spPr>
          <a:xfrm>
            <a:off x="8610600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2713301" y="1675002"/>
            <a:ext cx="8230234" cy="453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26797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usually a trade-off between many  of these features: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Robustness </a:t>
            </a:r>
            <a:r>
              <a:rPr lang="en-US" sz="2400" b="0" i="0" u="none" strike="noStrike" cap="none" dirty="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</a:t>
            </a:r>
            <a:r>
              <a:rPr lang="en-US" sz="2400" b="1" i="0" u="none" strike="noStrike" cap="none" dirty="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(</a:t>
            </a:r>
            <a:r>
              <a:rPr lang="en-US" sz="2400" b="0" i="1" u="none" strike="noStrike" cap="none" dirty="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a major factor</a:t>
            </a:r>
            <a:r>
              <a:rPr lang="en-US" sz="2400" b="1" i="0" u="none" strike="noStrike" cap="none" dirty="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There’s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no-one 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file system for all uses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overall goal for system developers is: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 (</a:t>
            </a:r>
            <a:r>
              <a:rPr lang="en-US" sz="24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stable (</a:t>
            </a:r>
            <a:r>
              <a:rPr lang="en-US" sz="24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 screen of death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(</a:t>
            </a:r>
            <a:r>
              <a:rPr lang="en-US" sz="24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size and type of device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functionality and features (</a:t>
            </a:r>
            <a:r>
              <a:rPr lang="en-US" sz="24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usability)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F60F83-B9FD-1E0C-8CFC-3BDA6D313D28}"/>
              </a:ext>
            </a:extLst>
          </p:cNvPr>
          <p:cNvSpPr txBox="1"/>
          <p:nvPr/>
        </p:nvSpPr>
        <p:spPr>
          <a:xfrm>
            <a:off x="135081" y="2646317"/>
            <a:ext cx="238990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8. File System</a:t>
            </a:r>
          </a:p>
          <a:p>
            <a:r>
              <a:rPr lang="en-US" sz="1100" dirty="0"/>
              <a:t>8.1. Why are there many File System?</a:t>
            </a:r>
          </a:p>
          <a:p>
            <a:r>
              <a:rPr lang="en-US" sz="1100" b="1" dirty="0"/>
              <a:t>8.2  File System development</a:t>
            </a:r>
          </a:p>
          <a:p>
            <a:r>
              <a:rPr lang="en-US" sz="1100" dirty="0"/>
              <a:t>8.3 File System: Example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>
            <a:spLocks noGrp="1"/>
          </p:cNvSpPr>
          <p:nvPr>
            <p:ph type="title"/>
          </p:nvPr>
        </p:nvSpPr>
        <p:spPr>
          <a:xfrm>
            <a:off x="2648287" y="564480"/>
            <a:ext cx="6589234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8.3 File System: Example</a:t>
            </a:r>
            <a:endParaRPr dirty="0"/>
          </a:p>
        </p:txBody>
      </p:sp>
      <p:sp>
        <p:nvSpPr>
          <p:cNvPr id="216" name="Google Shape;216;p12"/>
          <p:cNvSpPr txBox="1">
            <a:spLocks noGrp="1"/>
          </p:cNvSpPr>
          <p:nvPr>
            <p:ph type="sldNum" idx="12"/>
          </p:nvPr>
        </p:nvSpPr>
        <p:spPr>
          <a:xfrm>
            <a:off x="8932721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5809282" y="3658361"/>
            <a:ext cx="9144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625" marR="0" lvl="0" indent="0" algn="l" rtl="0">
              <a:lnSpc>
                <a:spcPct val="11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4cs001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6952282" y="3658361"/>
            <a:ext cx="9144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625" marR="0" lvl="0" indent="0" algn="l" rtl="0">
              <a:lnSpc>
                <a:spcPct val="11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4cs002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8095282" y="3658361"/>
            <a:ext cx="9144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625" marR="0" lvl="0" indent="0" algn="l" rtl="0">
              <a:lnSpc>
                <a:spcPct val="11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4cs003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7485682" y="1765554"/>
            <a:ext cx="9144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8759" marR="0" lvl="0" indent="0" algn="l" rtl="0">
              <a:lnSpc>
                <a:spcPct val="11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5733082" y="2679954"/>
            <a:ext cx="10668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705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7104682" y="2679954"/>
            <a:ext cx="10668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972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8476282" y="2679954"/>
            <a:ext cx="1066800" cy="307975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5812330" y="4566920"/>
            <a:ext cx="98742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lect3.ppt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6966506" y="4552569"/>
            <a:ext cx="127000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tutorial.doc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8483902" y="4552569"/>
            <a:ext cx="166497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workshop.html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6266482" y="2998470"/>
            <a:ext cx="2286000" cy="660400"/>
          </a:xfrm>
          <a:custGeom>
            <a:avLst/>
            <a:gdLst/>
            <a:ahLst/>
            <a:cxnLst/>
            <a:rect l="l" t="t" r="r" b="b"/>
            <a:pathLst>
              <a:path w="2286000" h="660400" extrusionOk="0">
                <a:moveTo>
                  <a:pt x="0" y="0"/>
                </a:moveTo>
                <a:lnTo>
                  <a:pt x="0" y="659891"/>
                </a:lnTo>
              </a:path>
              <a:path w="2286000" h="660400" extrusionOk="0">
                <a:moveTo>
                  <a:pt x="0" y="431291"/>
                </a:moveTo>
                <a:lnTo>
                  <a:pt x="2285999" y="431291"/>
                </a:lnTo>
                <a:lnTo>
                  <a:pt x="2285999" y="659891"/>
                </a:lnTo>
              </a:path>
              <a:path w="2286000" h="660400" extrusionOk="0">
                <a:moveTo>
                  <a:pt x="1142999" y="431291"/>
                </a:moveTo>
                <a:lnTo>
                  <a:pt x="1142999" y="659891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8" name="Google Shape;228;p12"/>
          <p:cNvGrpSpPr/>
          <p:nvPr/>
        </p:nvGrpSpPr>
        <p:grpSpPr>
          <a:xfrm>
            <a:off x="6266482" y="2084070"/>
            <a:ext cx="4038600" cy="584200"/>
            <a:chOff x="5944361" y="2084070"/>
            <a:chExt cx="4038600" cy="584200"/>
          </a:xfrm>
        </p:grpSpPr>
        <p:sp>
          <p:nvSpPr>
            <p:cNvPr id="229" name="Google Shape;229;p12"/>
            <p:cNvSpPr/>
            <p:nvPr/>
          </p:nvSpPr>
          <p:spPr>
            <a:xfrm>
              <a:off x="5944361" y="2084070"/>
              <a:ext cx="3429000" cy="584200"/>
            </a:xfrm>
            <a:custGeom>
              <a:avLst/>
              <a:gdLst/>
              <a:ahLst/>
              <a:cxnLst/>
              <a:rect l="l" t="t" r="r" b="b"/>
              <a:pathLst>
                <a:path w="3429000" h="584200" extrusionOk="0">
                  <a:moveTo>
                    <a:pt x="0" y="583691"/>
                  </a:moveTo>
                  <a:lnTo>
                    <a:pt x="0" y="355091"/>
                  </a:lnTo>
                  <a:lnTo>
                    <a:pt x="3428999" y="355091"/>
                  </a:lnTo>
                </a:path>
                <a:path w="3429000" h="584200" extrusionOk="0">
                  <a:moveTo>
                    <a:pt x="1371599" y="583691"/>
                  </a:moveTo>
                  <a:lnTo>
                    <a:pt x="1371599" y="355091"/>
                  </a:lnTo>
                </a:path>
                <a:path w="3429000" h="584200" extrusionOk="0">
                  <a:moveTo>
                    <a:pt x="2743199" y="583691"/>
                  </a:moveTo>
                  <a:lnTo>
                    <a:pt x="2743199" y="355091"/>
                  </a:lnTo>
                </a:path>
                <a:path w="3429000" h="584200" extrusionOk="0">
                  <a:moveTo>
                    <a:pt x="1676399" y="355091"/>
                  </a:moveTo>
                  <a:lnTo>
                    <a:pt x="1676399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9373361" y="2439162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 h="120000" extrusionOk="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1" name="Google Shape;231;p12"/>
          <p:cNvSpPr/>
          <p:nvPr/>
        </p:nvSpPr>
        <p:spPr>
          <a:xfrm>
            <a:off x="7409482" y="3992117"/>
            <a:ext cx="0" cy="200025"/>
          </a:xfrm>
          <a:custGeom>
            <a:avLst/>
            <a:gdLst/>
            <a:ahLst/>
            <a:cxnLst/>
            <a:rect l="l" t="t" r="r" b="b"/>
            <a:pathLst>
              <a:path w="120000" h="200025" extrusionOk="0">
                <a:moveTo>
                  <a:pt x="0" y="0"/>
                </a:moveTo>
                <a:lnTo>
                  <a:pt x="0" y="199643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2" name="Google Shape;232;p12"/>
          <p:cNvGrpSpPr/>
          <p:nvPr/>
        </p:nvGrpSpPr>
        <p:grpSpPr>
          <a:xfrm>
            <a:off x="6266482" y="3989070"/>
            <a:ext cx="4114800" cy="584200"/>
            <a:chOff x="5944361" y="3989070"/>
            <a:chExt cx="4114800" cy="584200"/>
          </a:xfrm>
        </p:grpSpPr>
        <p:sp>
          <p:nvSpPr>
            <p:cNvPr id="233" name="Google Shape;233;p12"/>
            <p:cNvSpPr/>
            <p:nvPr/>
          </p:nvSpPr>
          <p:spPr>
            <a:xfrm>
              <a:off x="5944361" y="3989070"/>
              <a:ext cx="3505200" cy="584200"/>
            </a:xfrm>
            <a:custGeom>
              <a:avLst/>
              <a:gdLst/>
              <a:ahLst/>
              <a:cxnLst/>
              <a:rect l="l" t="t" r="r" b="b"/>
              <a:pathLst>
                <a:path w="3505200" h="584200" extrusionOk="0">
                  <a:moveTo>
                    <a:pt x="0" y="0"/>
                  </a:moveTo>
                  <a:lnTo>
                    <a:pt x="0" y="583691"/>
                  </a:lnTo>
                </a:path>
                <a:path w="3505200" h="584200" extrusionOk="0">
                  <a:moveTo>
                    <a:pt x="0" y="355091"/>
                  </a:moveTo>
                  <a:lnTo>
                    <a:pt x="3505199" y="356615"/>
                  </a:lnTo>
                </a:path>
                <a:path w="3505200" h="584200" extrusionOk="0">
                  <a:moveTo>
                    <a:pt x="1142999" y="355091"/>
                  </a:moveTo>
                  <a:lnTo>
                    <a:pt x="1142999" y="583691"/>
                  </a:lnTo>
                </a:path>
                <a:path w="3505200" h="584200" extrusionOk="0">
                  <a:moveTo>
                    <a:pt x="2819399" y="355091"/>
                  </a:moveTo>
                  <a:lnTo>
                    <a:pt x="2819399" y="583691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9449561" y="4344162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 h="120000" extrusionOk="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5" name="Google Shape;235;p12"/>
          <p:cNvSpPr txBox="1"/>
          <p:nvPr/>
        </p:nvSpPr>
        <p:spPr>
          <a:xfrm>
            <a:off x="2839515" y="5214366"/>
            <a:ext cx="4796790" cy="83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-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c:\modules\4cs015\lect3.ppt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16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Linux -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/modules/4cs015/lect3.ppt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2648301" y="4344162"/>
            <a:ext cx="622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2923972" y="4215758"/>
            <a:ext cx="2721610" cy="1033145"/>
          </a:xfrm>
          <a:custGeom>
            <a:avLst/>
            <a:gdLst/>
            <a:ahLst/>
            <a:cxnLst/>
            <a:rect l="l" t="t" r="r" b="b"/>
            <a:pathLst>
              <a:path w="2721610" h="1033145" extrusionOk="0">
                <a:moveTo>
                  <a:pt x="1436370" y="1025271"/>
                </a:moveTo>
                <a:lnTo>
                  <a:pt x="1420787" y="1007999"/>
                </a:lnTo>
                <a:lnTo>
                  <a:pt x="1379347" y="962037"/>
                </a:lnTo>
                <a:lnTo>
                  <a:pt x="1367751" y="991552"/>
                </a:lnTo>
                <a:lnTo>
                  <a:pt x="4572" y="456946"/>
                </a:lnTo>
                <a:lnTo>
                  <a:pt x="0" y="468884"/>
                </a:lnTo>
                <a:lnTo>
                  <a:pt x="1363116" y="1003388"/>
                </a:lnTo>
                <a:lnTo>
                  <a:pt x="1351534" y="1032891"/>
                </a:lnTo>
                <a:lnTo>
                  <a:pt x="1436370" y="1025271"/>
                </a:lnTo>
                <a:close/>
              </a:path>
              <a:path w="2721610" h="1033145" extrusionOk="0">
                <a:moveTo>
                  <a:pt x="2721102" y="953643"/>
                </a:moveTo>
                <a:lnTo>
                  <a:pt x="2704350" y="932561"/>
                </a:lnTo>
                <a:lnTo>
                  <a:pt x="2668143" y="886968"/>
                </a:lnTo>
                <a:lnTo>
                  <a:pt x="2654719" y="915644"/>
                </a:lnTo>
                <a:lnTo>
                  <a:pt x="690740" y="0"/>
                </a:lnTo>
                <a:lnTo>
                  <a:pt x="685419" y="11430"/>
                </a:lnTo>
                <a:lnTo>
                  <a:pt x="2649334" y="927176"/>
                </a:lnTo>
                <a:lnTo>
                  <a:pt x="2635885" y="955929"/>
                </a:lnTo>
                <a:lnTo>
                  <a:pt x="2721102" y="9536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3261209" y="3890613"/>
            <a:ext cx="121285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Delimiter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BCD1E-DB9E-7A01-F293-85CA10DEF20D}"/>
              </a:ext>
            </a:extLst>
          </p:cNvPr>
          <p:cNvSpPr txBox="1"/>
          <p:nvPr/>
        </p:nvSpPr>
        <p:spPr>
          <a:xfrm>
            <a:off x="135082" y="2646317"/>
            <a:ext cx="238231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8. File System</a:t>
            </a:r>
          </a:p>
          <a:p>
            <a:r>
              <a:rPr lang="en-US" sz="1100" dirty="0"/>
              <a:t>8.1. Why are there many File System?</a:t>
            </a:r>
          </a:p>
          <a:p>
            <a:r>
              <a:rPr lang="en-US" sz="1100" dirty="0"/>
              <a:t>8.2  File System development</a:t>
            </a:r>
          </a:p>
          <a:p>
            <a:r>
              <a:rPr lang="en-US" sz="1100" b="1" dirty="0"/>
              <a:t>8.3 File System: Example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 txBox="1">
            <a:spLocks noGrp="1"/>
          </p:cNvSpPr>
          <p:nvPr>
            <p:ph type="title"/>
          </p:nvPr>
        </p:nvSpPr>
        <p:spPr>
          <a:xfrm>
            <a:off x="2992584" y="668050"/>
            <a:ext cx="7093288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8.3 File System Example</a:t>
            </a:r>
            <a:endParaRPr dirty="0"/>
          </a:p>
        </p:txBody>
      </p:sp>
      <p:sp>
        <p:nvSpPr>
          <p:cNvPr id="245" name="Google Shape;245;p13"/>
          <p:cNvSpPr txBox="1">
            <a:spLocks noGrp="1"/>
          </p:cNvSpPr>
          <p:nvPr>
            <p:ph type="sldNum" idx="12"/>
          </p:nvPr>
        </p:nvSpPr>
        <p:spPr>
          <a:xfrm>
            <a:off x="8859984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2584" y="4118328"/>
            <a:ext cx="1839005" cy="25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 txBox="1"/>
          <p:nvPr/>
        </p:nvSpPr>
        <p:spPr>
          <a:xfrm>
            <a:off x="2852503" y="1816354"/>
            <a:ext cx="6189345" cy="165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784225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a filing cabinet.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3630929" lvl="0" indent="0" algn="l" rtl="0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drawer is the  equivalent to a 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 (eg. C: E: 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3327610" y="3423031"/>
            <a:ext cx="1036574" cy="1148970"/>
          </a:xfrm>
          <a:custGeom>
            <a:avLst/>
            <a:gdLst/>
            <a:ahLst/>
            <a:cxnLst/>
            <a:rect l="l" t="t" r="r" b="b"/>
            <a:pathLst>
              <a:path w="461010" h="1149985" extrusionOk="0">
                <a:moveTo>
                  <a:pt x="389516" y="1049424"/>
                </a:moveTo>
                <a:lnTo>
                  <a:pt x="353822" y="1062863"/>
                </a:lnTo>
                <a:lnTo>
                  <a:pt x="447548" y="1149731"/>
                </a:lnTo>
                <a:lnTo>
                  <a:pt x="456111" y="1067308"/>
                </a:lnTo>
                <a:lnTo>
                  <a:pt x="396239" y="1067308"/>
                </a:lnTo>
                <a:lnTo>
                  <a:pt x="389516" y="1049424"/>
                </a:lnTo>
                <a:close/>
              </a:path>
              <a:path w="461010" h="1149985" extrusionOk="0">
                <a:moveTo>
                  <a:pt x="425100" y="1036027"/>
                </a:moveTo>
                <a:lnTo>
                  <a:pt x="389516" y="1049424"/>
                </a:lnTo>
                <a:lnTo>
                  <a:pt x="396239" y="1067308"/>
                </a:lnTo>
                <a:lnTo>
                  <a:pt x="431800" y="1053846"/>
                </a:lnTo>
                <a:lnTo>
                  <a:pt x="425100" y="1036027"/>
                </a:lnTo>
                <a:close/>
              </a:path>
              <a:path w="461010" h="1149985" extrusionOk="0">
                <a:moveTo>
                  <a:pt x="460756" y="1022604"/>
                </a:moveTo>
                <a:lnTo>
                  <a:pt x="425100" y="1036027"/>
                </a:lnTo>
                <a:lnTo>
                  <a:pt x="431800" y="1053846"/>
                </a:lnTo>
                <a:lnTo>
                  <a:pt x="396239" y="1067308"/>
                </a:lnTo>
                <a:lnTo>
                  <a:pt x="456111" y="1067308"/>
                </a:lnTo>
                <a:lnTo>
                  <a:pt x="460756" y="1022604"/>
                </a:lnTo>
                <a:close/>
              </a:path>
              <a:path w="461010" h="1149985" extrusionOk="0">
                <a:moveTo>
                  <a:pt x="35560" y="0"/>
                </a:moveTo>
                <a:lnTo>
                  <a:pt x="0" y="13462"/>
                </a:lnTo>
                <a:lnTo>
                  <a:pt x="389516" y="1049424"/>
                </a:lnTo>
                <a:lnTo>
                  <a:pt x="425100" y="1036027"/>
                </a:lnTo>
                <a:lnTo>
                  <a:pt x="3556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9" name="Google Shape;249;p13"/>
          <p:cNvGrpSpPr/>
          <p:nvPr/>
        </p:nvGrpSpPr>
        <p:grpSpPr>
          <a:xfrm>
            <a:off x="7560012" y="2590800"/>
            <a:ext cx="2366772" cy="2839973"/>
            <a:chOff x="7310628" y="2590800"/>
            <a:chExt cx="2366772" cy="2839973"/>
          </a:xfrm>
        </p:grpSpPr>
        <p:pic>
          <p:nvPicPr>
            <p:cNvPr id="250" name="Google Shape;250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0628" y="2590800"/>
              <a:ext cx="2366772" cy="2366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3"/>
            <p:cNvSpPr/>
            <p:nvPr/>
          </p:nvSpPr>
          <p:spPr>
            <a:xfrm>
              <a:off x="8439658" y="4275708"/>
              <a:ext cx="942975" cy="1155065"/>
            </a:xfrm>
            <a:custGeom>
              <a:avLst/>
              <a:gdLst/>
              <a:ahLst/>
              <a:cxnLst/>
              <a:rect l="l" t="t" r="r" b="b"/>
              <a:pathLst>
                <a:path w="942975" h="1155064" extrusionOk="0">
                  <a:moveTo>
                    <a:pt x="856041" y="1078307"/>
                  </a:moveTo>
                  <a:lnTo>
                    <a:pt x="826389" y="1102360"/>
                  </a:lnTo>
                  <a:lnTo>
                    <a:pt x="942848" y="1155065"/>
                  </a:lnTo>
                  <a:lnTo>
                    <a:pt x="929089" y="1093089"/>
                  </a:lnTo>
                  <a:lnTo>
                    <a:pt x="868045" y="1093089"/>
                  </a:lnTo>
                  <a:lnTo>
                    <a:pt x="856041" y="1078307"/>
                  </a:lnTo>
                  <a:close/>
                </a:path>
                <a:path w="942975" h="1155064" extrusionOk="0">
                  <a:moveTo>
                    <a:pt x="885632" y="1054304"/>
                  </a:moveTo>
                  <a:lnTo>
                    <a:pt x="856041" y="1078307"/>
                  </a:lnTo>
                  <a:lnTo>
                    <a:pt x="868045" y="1093089"/>
                  </a:lnTo>
                  <a:lnTo>
                    <a:pt x="897636" y="1069086"/>
                  </a:lnTo>
                  <a:lnTo>
                    <a:pt x="885632" y="1054304"/>
                  </a:lnTo>
                  <a:close/>
                </a:path>
                <a:path w="942975" h="1155064" extrusionOk="0">
                  <a:moveTo>
                    <a:pt x="915162" y="1030351"/>
                  </a:moveTo>
                  <a:lnTo>
                    <a:pt x="885632" y="1054304"/>
                  </a:lnTo>
                  <a:lnTo>
                    <a:pt x="897636" y="1069086"/>
                  </a:lnTo>
                  <a:lnTo>
                    <a:pt x="868045" y="1093089"/>
                  </a:lnTo>
                  <a:lnTo>
                    <a:pt x="929089" y="1093089"/>
                  </a:lnTo>
                  <a:lnTo>
                    <a:pt x="915162" y="1030351"/>
                  </a:lnTo>
                  <a:close/>
                </a:path>
                <a:path w="942975" h="1155064" extrusionOk="0">
                  <a:moveTo>
                    <a:pt x="29464" y="0"/>
                  </a:moveTo>
                  <a:lnTo>
                    <a:pt x="0" y="24130"/>
                  </a:lnTo>
                  <a:lnTo>
                    <a:pt x="856041" y="1078307"/>
                  </a:lnTo>
                  <a:lnTo>
                    <a:pt x="885632" y="1054304"/>
                  </a:lnTo>
                  <a:lnTo>
                    <a:pt x="294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2" name="Google Shape;252;p13"/>
          <p:cNvSpPr txBox="1"/>
          <p:nvPr/>
        </p:nvSpPr>
        <p:spPr>
          <a:xfrm>
            <a:off x="5140916" y="3888485"/>
            <a:ext cx="2270700" cy="15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 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folder(s)  (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DIRECTORIES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98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contain  individuals 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FILE(S)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27541" y="5493511"/>
            <a:ext cx="958331" cy="10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 txBox="1"/>
          <p:nvPr/>
        </p:nvSpPr>
        <p:spPr>
          <a:xfrm>
            <a:off x="8391607" y="5603240"/>
            <a:ext cx="66802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40A5E9-70E2-B45A-C8ED-9CED0DBF1409}"/>
              </a:ext>
            </a:extLst>
          </p:cNvPr>
          <p:cNvSpPr txBox="1"/>
          <p:nvPr/>
        </p:nvSpPr>
        <p:spPr>
          <a:xfrm>
            <a:off x="135082" y="2646317"/>
            <a:ext cx="238231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8. File System</a:t>
            </a:r>
          </a:p>
          <a:p>
            <a:r>
              <a:rPr lang="en-US" sz="1100" dirty="0"/>
              <a:t>8.1. Why are there many File System?</a:t>
            </a:r>
          </a:p>
          <a:p>
            <a:r>
              <a:rPr lang="en-US" sz="1100" dirty="0"/>
              <a:t>8.2  File System development</a:t>
            </a:r>
          </a:p>
          <a:p>
            <a:r>
              <a:rPr lang="en-US" sz="1100" b="1" dirty="0"/>
              <a:t>8.3 File System: Example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/>
          <p:nvPr/>
        </p:nvSpPr>
        <p:spPr>
          <a:xfrm>
            <a:off x="11771819" y="6463995"/>
            <a:ext cx="221615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4"/>
          <p:cNvSpPr txBox="1">
            <a:spLocks noGrp="1"/>
          </p:cNvSpPr>
          <p:nvPr>
            <p:ph type="title"/>
          </p:nvPr>
        </p:nvSpPr>
        <p:spPr>
          <a:xfrm>
            <a:off x="2663903" y="687730"/>
            <a:ext cx="7457677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9. Using the OS (Windows)</a:t>
            </a:r>
            <a:endParaRPr dirty="0"/>
          </a:p>
        </p:txBody>
      </p:sp>
      <p:sp>
        <p:nvSpPr>
          <p:cNvPr id="262" name="Google Shape;262;p14"/>
          <p:cNvSpPr txBox="1"/>
          <p:nvPr/>
        </p:nvSpPr>
        <p:spPr>
          <a:xfrm>
            <a:off x="2631247" y="1552702"/>
            <a:ext cx="7814945" cy="2832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50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tells the O/S what to through the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 Interface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mouse)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99CCCC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based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line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type)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[cmd]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2631252" y="5101200"/>
            <a:ext cx="92214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50"/>
              <a:buFont typeface="Noto Sans Symbols"/>
              <a:buChar char="⚪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using the command-line option a shell  command(1 line) or script(multiple lines) is used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98755" lvl="0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006666"/>
              </a:buClr>
              <a:buSzPts val="1650"/>
              <a:buFont typeface="Noto Sans Symbols"/>
              <a:buChar char="⚪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</a:t>
            </a:r>
            <a:r>
              <a:rPr lang="en-US" sz="2400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u="sng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interpreted (by the command line  </a:t>
            </a:r>
            <a:r>
              <a:rPr lang="en-US" sz="24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interpreter) and then actioned by the</a:t>
            </a:r>
            <a:r>
              <a:rPr lang="en-US" sz="2400" u="sng" dirty="0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operating  system</a:t>
            </a:r>
            <a:r>
              <a:rPr lang="en-US" sz="24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7377" y="1929383"/>
            <a:ext cx="2357628" cy="160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7377" y="3643884"/>
            <a:ext cx="2394204" cy="14889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CCD99B-EEA3-136F-2B06-081270D90408}"/>
              </a:ext>
            </a:extLst>
          </p:cNvPr>
          <p:cNvSpPr txBox="1"/>
          <p:nvPr/>
        </p:nvSpPr>
        <p:spPr>
          <a:xfrm>
            <a:off x="135082" y="2646317"/>
            <a:ext cx="238231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9. Using the OS (Windows)</a:t>
            </a:r>
          </a:p>
          <a:p>
            <a:r>
              <a:rPr lang="en-US" sz="1100" dirty="0"/>
              <a:t>10. Text Based User Interfaces</a:t>
            </a:r>
          </a:p>
          <a:p>
            <a:r>
              <a:rPr lang="en-US" sz="1100" dirty="0"/>
              <a:t>11. Command Line Interface Features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2673930" y="708334"/>
            <a:ext cx="83820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10. Text Based User Interfaces</a:t>
            </a:r>
            <a:endParaRPr dirty="0"/>
          </a:p>
        </p:txBody>
      </p:sp>
      <p:sp>
        <p:nvSpPr>
          <p:cNvPr id="272" name="Google Shape;272;p15"/>
          <p:cNvSpPr txBox="1">
            <a:spLocks noGrp="1"/>
          </p:cNvSpPr>
          <p:nvPr>
            <p:ph type="sldNum" idx="12"/>
          </p:nvPr>
        </p:nvSpPr>
        <p:spPr>
          <a:xfrm>
            <a:off x="8922330" y="6439848"/>
            <a:ext cx="2767054" cy="19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2673930" y="2514600"/>
            <a:ext cx="8839200" cy="248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34163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Command Line Interpreter  (CLI)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196215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keyboard and screen/window for all  interaction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(executes) as a program and waits  for user to type in commands (if required)</a:t>
            </a:r>
            <a:endParaRPr sz="2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136525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functions are very powerful and  extremely useful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(can be dangerous / powerful – if  used incorrectly – delete or format drives)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2B844A-D66D-F792-9A16-CF36771192DA}"/>
              </a:ext>
            </a:extLst>
          </p:cNvPr>
          <p:cNvSpPr txBox="1"/>
          <p:nvPr/>
        </p:nvSpPr>
        <p:spPr>
          <a:xfrm>
            <a:off x="135082" y="2646317"/>
            <a:ext cx="238231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9. Using the OS (Windows)</a:t>
            </a:r>
          </a:p>
          <a:p>
            <a:r>
              <a:rPr lang="en-US" sz="1100" b="1" dirty="0"/>
              <a:t>10. Text Based User Interfaces</a:t>
            </a:r>
          </a:p>
          <a:p>
            <a:r>
              <a:rPr lang="en-US" sz="1100" dirty="0"/>
              <a:t>11. Command Line Interface Features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2687786" y="418622"/>
            <a:ext cx="876300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11. Command Line Interface Features</a:t>
            </a:r>
            <a:endParaRPr dirty="0"/>
          </a:p>
        </p:txBody>
      </p:sp>
      <p:sp>
        <p:nvSpPr>
          <p:cNvPr id="280" name="Google Shape;280;p16"/>
          <p:cNvSpPr txBox="1">
            <a:spLocks noGrp="1"/>
          </p:cNvSpPr>
          <p:nvPr>
            <p:ph type="sldNum" idx="12"/>
          </p:nvPr>
        </p:nvSpPr>
        <p:spPr>
          <a:xfrm>
            <a:off x="9088586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2687786" y="1767030"/>
            <a:ext cx="9253220" cy="413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5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commands</a:t>
            </a:r>
            <a:endParaRPr sz="2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sng" strike="noStrike" cap="none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Manipulate file system</a:t>
            </a:r>
            <a:r>
              <a:rPr lang="en-US" sz="2500" b="0" i="0" u="none" strike="noStrike" cap="none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copy, delete, rename files and  directories, etc.</a:t>
            </a:r>
            <a:endParaRPr sz="2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sng" strike="noStrike" cap="none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programs</a:t>
            </a:r>
            <a:r>
              <a:rPr lang="en-US" sz="2500" b="0" i="0" u="none" strike="noStrike" cap="none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etc.</a:t>
            </a:r>
            <a:endParaRPr sz="2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Input/output redirection</a:t>
            </a:r>
            <a:endParaRPr dirty="0"/>
          </a:p>
          <a:p>
            <a:pPr marL="756285" marR="271145" lvl="1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to program can be redirected from keyboard to  file</a:t>
            </a:r>
            <a:endParaRPr sz="2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1160145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CCCC"/>
              </a:buClr>
              <a:buSzPts val="1750"/>
              <a:buFont typeface="Noto Sans Symbols"/>
              <a:buChar char="●"/>
            </a:pPr>
            <a:r>
              <a:rPr lang="en-US" sz="2500" b="0" i="0" u="none" strike="noStrike" cap="none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from program can be redirected to a file  instead of display</a:t>
            </a:r>
            <a:endParaRPr sz="2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r>
              <a:rPr lang="en-US" sz="2500" b="1" dirty="0" err="1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</a:t>
            </a:r>
            <a:r>
              <a:rPr lang="en-US" sz="2500" b="1" dirty="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lang="en-US" sz="2500" b="1" dirty="0" err="1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filelist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BD5C2-3514-245C-0CF0-451041A8F7DF}"/>
              </a:ext>
            </a:extLst>
          </p:cNvPr>
          <p:cNvSpPr txBox="1"/>
          <p:nvPr/>
        </p:nvSpPr>
        <p:spPr>
          <a:xfrm>
            <a:off x="135082" y="2646317"/>
            <a:ext cx="23823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9. Using the OS (Windows)</a:t>
            </a:r>
          </a:p>
          <a:p>
            <a:r>
              <a:rPr lang="en-US" sz="1100" dirty="0"/>
              <a:t>10. Text Based User Interfaces</a:t>
            </a:r>
          </a:p>
          <a:p>
            <a:r>
              <a:rPr lang="en-US" sz="1100" b="1" dirty="0"/>
              <a:t>11. Command Line Interface Features</a:t>
            </a:r>
          </a:p>
          <a:p>
            <a:r>
              <a:rPr lang="en-US" sz="1100" dirty="0"/>
              <a:t>12. How to use Windows OS CMD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 txBox="1"/>
          <p:nvPr/>
        </p:nvSpPr>
        <p:spPr>
          <a:xfrm>
            <a:off x="11522435" y="6463995"/>
            <a:ext cx="221615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7"/>
          <p:cNvSpPr txBox="1">
            <a:spLocks noGrp="1"/>
          </p:cNvSpPr>
          <p:nvPr>
            <p:ph type="title"/>
          </p:nvPr>
        </p:nvSpPr>
        <p:spPr>
          <a:xfrm>
            <a:off x="2678027" y="564445"/>
            <a:ext cx="8305165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12. How to use Windows OS CMD</a:t>
            </a:r>
            <a:endParaRPr dirty="0"/>
          </a:p>
        </p:txBody>
      </p:sp>
      <p:sp>
        <p:nvSpPr>
          <p:cNvPr id="289" name="Google Shape;289;p17"/>
          <p:cNvSpPr txBox="1"/>
          <p:nvPr/>
        </p:nvSpPr>
        <p:spPr>
          <a:xfrm>
            <a:off x="2813791" y="1589009"/>
            <a:ext cx="771017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Starting CMD -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Click: start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cmd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7916"/>
              </a:lnSpc>
              <a:spcBef>
                <a:spcPts val="62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be presented with the command-line  interface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(the wordage content will differ)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2813791" y="4401972"/>
            <a:ext cx="7727315" cy="223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Remember –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lines are </a:t>
            </a:r>
            <a:r>
              <a:rPr lang="en-US" sz="20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sensitive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file or directory is deleted it is </a:t>
            </a:r>
            <a:r>
              <a:rPr lang="en-US" sz="20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moved into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Recycle Bin.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need help type -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wish to close the cmd-line window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exit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121" y="3643884"/>
            <a:ext cx="4916424" cy="856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D102D2-BA78-A258-78BF-C91273F53B4B}"/>
              </a:ext>
            </a:extLst>
          </p:cNvPr>
          <p:cNvSpPr txBox="1"/>
          <p:nvPr/>
        </p:nvSpPr>
        <p:spPr>
          <a:xfrm>
            <a:off x="135082" y="2646317"/>
            <a:ext cx="2514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9. Using the OS (Windows)</a:t>
            </a:r>
          </a:p>
          <a:p>
            <a:r>
              <a:rPr lang="en-US" sz="1100" dirty="0"/>
              <a:t>10. Text Based User Interfaces</a:t>
            </a:r>
          </a:p>
          <a:p>
            <a:r>
              <a:rPr lang="en-US" sz="1100" dirty="0"/>
              <a:t>11. Command Line Interface Features</a:t>
            </a:r>
          </a:p>
          <a:p>
            <a:r>
              <a:rPr lang="en-US" sz="1100" b="1" dirty="0"/>
              <a:t>12. How to use Windows OS CMD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/>
          <p:nvPr/>
        </p:nvSpPr>
        <p:spPr>
          <a:xfrm>
            <a:off x="11345788" y="6463995"/>
            <a:ext cx="221615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2576946" y="226956"/>
            <a:ext cx="914400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13. Features: Directory information (1)</a:t>
            </a:r>
            <a:endParaRPr dirty="0"/>
          </a:p>
        </p:txBody>
      </p:sp>
      <p:sp>
        <p:nvSpPr>
          <p:cNvPr id="299" name="Google Shape;299;p18"/>
          <p:cNvSpPr txBox="1"/>
          <p:nvPr/>
        </p:nvSpPr>
        <p:spPr>
          <a:xfrm>
            <a:off x="2637144" y="1642999"/>
            <a:ext cx="469709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drive (from d to k) = k: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2637144" y="2984373"/>
            <a:ext cx="43230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Listing directory contents = dir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2637144" y="5636488"/>
            <a:ext cx="7719059" cy="103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1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. &amp; .. are current and parent information respectively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help type (many switches available) = dir /?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changing into a directory = cd	old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5857" y="2071116"/>
            <a:ext cx="6362699" cy="867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5857" y="3357371"/>
            <a:ext cx="6362699" cy="21244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E94316-A033-3354-930C-6DF375067CCB}"/>
              </a:ext>
            </a:extLst>
          </p:cNvPr>
          <p:cNvSpPr txBox="1"/>
          <p:nvPr/>
        </p:nvSpPr>
        <p:spPr>
          <a:xfrm>
            <a:off x="62345" y="2646317"/>
            <a:ext cx="2566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13. Features Directory information (1)</a:t>
            </a:r>
          </a:p>
          <a:p>
            <a:r>
              <a:rPr lang="en-US" sz="1100" dirty="0"/>
              <a:t>14. Features Directory information (2)</a:t>
            </a:r>
          </a:p>
          <a:p>
            <a:r>
              <a:rPr lang="en-US" sz="1100" dirty="0"/>
              <a:t>15. File Manipulation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/>
        </p:nvSpPr>
        <p:spPr>
          <a:xfrm>
            <a:off x="11283442" y="6463995"/>
            <a:ext cx="221615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9"/>
          <p:cNvSpPr txBox="1">
            <a:spLocks noGrp="1"/>
          </p:cNvSpPr>
          <p:nvPr>
            <p:ph type="title"/>
          </p:nvPr>
        </p:nvSpPr>
        <p:spPr>
          <a:xfrm>
            <a:off x="2553027" y="299426"/>
            <a:ext cx="895203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14. Features: Directory information (2)</a:t>
            </a:r>
            <a:endParaRPr dirty="0"/>
          </a:p>
        </p:txBody>
      </p:sp>
      <p:sp>
        <p:nvSpPr>
          <p:cNvPr id="311" name="Google Shape;311;p19"/>
          <p:cNvSpPr txBox="1"/>
          <p:nvPr/>
        </p:nvSpPr>
        <p:spPr>
          <a:xfrm>
            <a:off x="2574798" y="1642999"/>
            <a:ext cx="272732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Wildcards = dir o*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2574798" y="3654933"/>
            <a:ext cx="419481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a directory = mkdir test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2574798" y="6337808"/>
            <a:ext cx="451231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a directory = rmdir test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7593032" y="6337808"/>
            <a:ext cx="17418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(or :)	rd test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883" y="2001011"/>
            <a:ext cx="6362700" cy="1551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1883" y="4000500"/>
            <a:ext cx="6362700" cy="23530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4423BA-C631-E839-EF18-624E2771621C}"/>
              </a:ext>
            </a:extLst>
          </p:cNvPr>
          <p:cNvSpPr txBox="1"/>
          <p:nvPr/>
        </p:nvSpPr>
        <p:spPr>
          <a:xfrm>
            <a:off x="62345" y="2646317"/>
            <a:ext cx="2566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13. Features Directory information (1)</a:t>
            </a:r>
          </a:p>
          <a:p>
            <a:r>
              <a:rPr lang="en-US" sz="1100" b="1" dirty="0"/>
              <a:t>14. Features Directory information (2)</a:t>
            </a:r>
          </a:p>
          <a:p>
            <a:r>
              <a:rPr lang="en-US" sz="1100" dirty="0"/>
              <a:t>15. File Manipulation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>
            <a:spLocks noGrp="1"/>
          </p:cNvSpPr>
          <p:nvPr>
            <p:ph type="title"/>
          </p:nvPr>
        </p:nvSpPr>
        <p:spPr>
          <a:xfrm>
            <a:off x="2772227" y="722257"/>
            <a:ext cx="6175248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15. File Manipulation (1)</a:t>
            </a:r>
            <a:endParaRPr dirty="0"/>
          </a:p>
        </p:txBody>
      </p:sp>
      <p:sp>
        <p:nvSpPr>
          <p:cNvPr id="323" name="Google Shape;323;p20"/>
          <p:cNvSpPr txBox="1">
            <a:spLocks noGrp="1"/>
          </p:cNvSpPr>
          <p:nvPr>
            <p:ph type="sldNum" idx="12"/>
          </p:nvPr>
        </p:nvSpPr>
        <p:spPr>
          <a:xfrm>
            <a:off x="8808029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2772227" y="1571066"/>
            <a:ext cx="5643880" cy="33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file =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[source] [destination 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2772227" y="2912440"/>
            <a:ext cx="5506720" cy="33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file =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[source] [destination 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2772227" y="4254246"/>
            <a:ext cx="631888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file =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[source] [destination 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7" name="Google Shape;3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0940" y="3285744"/>
            <a:ext cx="6362699" cy="85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0940" y="2001011"/>
            <a:ext cx="6362699" cy="85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0940" y="4572000"/>
            <a:ext cx="6362699" cy="21427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3D31F3-D73A-0CBE-56B9-D5A64B902581}"/>
              </a:ext>
            </a:extLst>
          </p:cNvPr>
          <p:cNvSpPr txBox="1"/>
          <p:nvPr/>
        </p:nvSpPr>
        <p:spPr>
          <a:xfrm>
            <a:off x="62345" y="2646317"/>
            <a:ext cx="25665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13. Features Directory information (1)</a:t>
            </a:r>
          </a:p>
          <a:p>
            <a:r>
              <a:rPr lang="en-US" sz="1100" dirty="0"/>
              <a:t>14. Features Directory information (2)</a:t>
            </a:r>
          </a:p>
          <a:p>
            <a:r>
              <a:rPr lang="en-US" sz="1100" b="1" dirty="0"/>
              <a:t>15. File Manipulation(1)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>
            <a:spLocks noGrp="1"/>
          </p:cNvSpPr>
          <p:nvPr>
            <p:ph type="title"/>
          </p:nvPr>
        </p:nvSpPr>
        <p:spPr>
          <a:xfrm>
            <a:off x="2520550" y="560309"/>
            <a:ext cx="749736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16. File Manipulation (2)</a:t>
            </a:r>
            <a:endParaRPr dirty="0"/>
          </a:p>
        </p:txBody>
      </p:sp>
      <p:sp>
        <p:nvSpPr>
          <p:cNvPr id="336" name="Google Shape;336;p21"/>
          <p:cNvSpPr txBox="1">
            <a:spLocks noGrp="1"/>
          </p:cNvSpPr>
          <p:nvPr>
            <p:ph type="sldNum" idx="12"/>
          </p:nvPr>
        </p:nvSpPr>
        <p:spPr>
          <a:xfrm>
            <a:off x="8610600" y="6439847"/>
            <a:ext cx="304573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2574797" y="1642999"/>
            <a:ext cx="4254151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file = del [filename]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2574798" y="2984373"/>
            <a:ext cx="6639972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file = software-package [filename]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3511" y="2001011"/>
            <a:ext cx="7064399" cy="751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1" y="3429000"/>
            <a:ext cx="7064399" cy="75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3511" y="4287011"/>
            <a:ext cx="7064399" cy="22372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6F4F10-7AB8-1BE5-645A-7F160B4988D2}"/>
              </a:ext>
            </a:extLst>
          </p:cNvPr>
          <p:cNvSpPr txBox="1"/>
          <p:nvPr/>
        </p:nvSpPr>
        <p:spPr>
          <a:xfrm>
            <a:off x="62345" y="2646317"/>
            <a:ext cx="2566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16. File Manipulation(2)</a:t>
            </a:r>
          </a:p>
          <a:p>
            <a:r>
              <a:rPr lang="en-US" sz="1100" dirty="0"/>
              <a:t>17. System Interrogation and change</a:t>
            </a:r>
          </a:p>
          <a:p>
            <a:r>
              <a:rPr lang="en-US" sz="1100" dirty="0"/>
              <a:t>18. Executing Applications</a:t>
            </a:r>
          </a:p>
          <a:p>
            <a:r>
              <a:rPr lang="en-US" sz="1100" dirty="0"/>
              <a:t>19. Understanding File Extensions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/>
        </p:nvSpPr>
        <p:spPr>
          <a:xfrm>
            <a:off x="11563999" y="6463995"/>
            <a:ext cx="221615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2"/>
          <p:cNvSpPr txBox="1">
            <a:spLocks noGrp="1"/>
          </p:cNvSpPr>
          <p:nvPr>
            <p:ph type="title"/>
          </p:nvPr>
        </p:nvSpPr>
        <p:spPr>
          <a:xfrm>
            <a:off x="2710829" y="685800"/>
            <a:ext cx="9228328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17. System Interrogation and change</a:t>
            </a:r>
            <a:endParaRPr dirty="0"/>
          </a:p>
        </p:txBody>
      </p:sp>
      <p:sp>
        <p:nvSpPr>
          <p:cNvPr id="349" name="Google Shape;349;p22"/>
          <p:cNvSpPr txBox="1"/>
          <p:nvPr/>
        </p:nvSpPr>
        <p:spPr>
          <a:xfrm>
            <a:off x="2710829" y="1613128"/>
            <a:ext cx="7776209" cy="476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1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[ set new time]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[ set new date]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[ show directory structure from current location ]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Tasklist [ show all running processes and applications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Taskkill [ kill a process or application ]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Diskcopy [ copy a drive to another ] [diskcopy	c: a:]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 [ format a drive – killing all contents]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Shutdown [ close down the computer]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7916"/>
              </a:lnSpc>
              <a:spcBef>
                <a:spcPts val="625"/>
              </a:spcBef>
              <a:spcAft>
                <a:spcPts val="0"/>
              </a:spcAft>
              <a:buClr>
                <a:srgbClr val="006666"/>
              </a:buClr>
              <a:buSzPts val="1650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powerful commands that can be used from  the </a:t>
            </a: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command-line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called upon from within  </a:t>
            </a:r>
            <a:r>
              <a:rPr lang="en-US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application [e.g.	C:\notepad.exe	]</a:t>
            </a:r>
            <a:endParaRPr/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VB.NET, c#, etc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Batchfile	(e.g.	C:\MyBatchFile.bat)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coming up……..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7E17F-D187-EBC4-F423-1C1BDE5A4837}"/>
              </a:ext>
            </a:extLst>
          </p:cNvPr>
          <p:cNvSpPr txBox="1"/>
          <p:nvPr/>
        </p:nvSpPr>
        <p:spPr>
          <a:xfrm>
            <a:off x="62345" y="2646317"/>
            <a:ext cx="256655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16. File Manipulation(2)</a:t>
            </a:r>
          </a:p>
          <a:p>
            <a:r>
              <a:rPr lang="en-US" sz="1100" b="1" dirty="0"/>
              <a:t>17. System Interrogation and change</a:t>
            </a:r>
          </a:p>
          <a:p>
            <a:r>
              <a:rPr lang="en-US" sz="1100" dirty="0"/>
              <a:t>18. Executing Applications</a:t>
            </a:r>
          </a:p>
          <a:p>
            <a:r>
              <a:rPr lang="en-US" sz="1100" dirty="0"/>
              <a:t>19. Understanding File Extensions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>
            <a:spLocks noGrp="1"/>
          </p:cNvSpPr>
          <p:nvPr>
            <p:ph type="title"/>
          </p:nvPr>
        </p:nvSpPr>
        <p:spPr>
          <a:xfrm>
            <a:off x="2616362" y="727135"/>
            <a:ext cx="679780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18. Executing Applications</a:t>
            </a:r>
            <a:endParaRPr dirty="0"/>
          </a:p>
        </p:txBody>
      </p:sp>
      <p:sp>
        <p:nvSpPr>
          <p:cNvPr id="356" name="Google Shape;356;p23"/>
          <p:cNvSpPr txBox="1">
            <a:spLocks noGrp="1"/>
          </p:cNvSpPr>
          <p:nvPr>
            <p:ph type="sldNum" idx="12"/>
          </p:nvPr>
        </p:nvSpPr>
        <p:spPr>
          <a:xfrm>
            <a:off x="8652164" y="6439847"/>
            <a:ext cx="3138118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2616362" y="1744726"/>
            <a:ext cx="8793992" cy="149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650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a program = application-name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6666"/>
              </a:buClr>
              <a:buSzPts val="1650"/>
              <a:buFont typeface="Noto Sans Symbols"/>
              <a:buChar char="⚪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notepad.exe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or without [.exe]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or without filename [with starts application only]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3065941" y="5144261"/>
            <a:ext cx="2371021" cy="600164"/>
          </a:xfrm>
          <a:prstGeom prst="rect">
            <a:avLst/>
          </a:prstGeom>
          <a:noFill/>
          <a:ln w="25400" cap="flat" cmpd="sng">
            <a:solidFill>
              <a:srgbClr val="2294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19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used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5781710" y="5144261"/>
            <a:ext cx="3512948" cy="600164"/>
          </a:xfrm>
          <a:prstGeom prst="rect">
            <a:avLst/>
          </a:prstGeom>
          <a:noFill/>
          <a:ln w="25400" cap="flat" cmpd="sng">
            <a:solidFill>
              <a:srgbClr val="2294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file to be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with </a:t>
            </a: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0" name="Google Shape;360;p23"/>
          <p:cNvGrpSpPr/>
          <p:nvPr/>
        </p:nvGrpSpPr>
        <p:grpSpPr>
          <a:xfrm>
            <a:off x="3351692" y="3572255"/>
            <a:ext cx="7969075" cy="1583817"/>
            <a:chOff x="3310128" y="3572255"/>
            <a:chExt cx="6966204" cy="1583817"/>
          </a:xfrm>
        </p:grpSpPr>
        <p:sp>
          <p:nvSpPr>
            <p:cNvPr id="361" name="Google Shape;361;p23"/>
            <p:cNvSpPr/>
            <p:nvPr/>
          </p:nvSpPr>
          <p:spPr>
            <a:xfrm>
              <a:off x="4051554" y="4413122"/>
              <a:ext cx="3229610" cy="742950"/>
            </a:xfrm>
            <a:custGeom>
              <a:avLst/>
              <a:gdLst/>
              <a:ahLst/>
              <a:cxnLst/>
              <a:rect l="l" t="t" r="r" b="b"/>
              <a:pathLst>
                <a:path w="3229609" h="742950" extrusionOk="0">
                  <a:moveTo>
                    <a:pt x="474218" y="16383"/>
                  </a:moveTo>
                  <a:lnTo>
                    <a:pt x="376047" y="65913"/>
                  </a:lnTo>
                  <a:lnTo>
                    <a:pt x="369824" y="68961"/>
                  </a:lnTo>
                  <a:lnTo>
                    <a:pt x="367284" y="76708"/>
                  </a:lnTo>
                  <a:lnTo>
                    <a:pt x="373634" y="89154"/>
                  </a:lnTo>
                  <a:lnTo>
                    <a:pt x="381254" y="91694"/>
                  </a:lnTo>
                  <a:lnTo>
                    <a:pt x="424319" y="69926"/>
                  </a:lnTo>
                  <a:lnTo>
                    <a:pt x="0" y="723900"/>
                  </a:lnTo>
                  <a:lnTo>
                    <a:pt x="21336" y="737616"/>
                  </a:lnTo>
                  <a:lnTo>
                    <a:pt x="445554" y="83908"/>
                  </a:lnTo>
                  <a:lnTo>
                    <a:pt x="443611" y="124968"/>
                  </a:lnTo>
                  <a:lnTo>
                    <a:pt x="443357" y="131953"/>
                  </a:lnTo>
                  <a:lnTo>
                    <a:pt x="448691" y="137922"/>
                  </a:lnTo>
                  <a:lnTo>
                    <a:pt x="455676" y="138303"/>
                  </a:lnTo>
                  <a:lnTo>
                    <a:pt x="462788" y="138557"/>
                  </a:lnTo>
                  <a:lnTo>
                    <a:pt x="468630" y="133223"/>
                  </a:lnTo>
                  <a:lnTo>
                    <a:pt x="469061" y="124968"/>
                  </a:lnTo>
                  <a:lnTo>
                    <a:pt x="473532" y="30607"/>
                  </a:lnTo>
                  <a:lnTo>
                    <a:pt x="474218" y="16383"/>
                  </a:lnTo>
                  <a:close/>
                </a:path>
                <a:path w="3229609" h="742950" extrusionOk="0">
                  <a:moveTo>
                    <a:pt x="3229483" y="718947"/>
                  </a:moveTo>
                  <a:lnTo>
                    <a:pt x="1545285" y="31851"/>
                  </a:lnTo>
                  <a:lnTo>
                    <a:pt x="1586103" y="26035"/>
                  </a:lnTo>
                  <a:lnTo>
                    <a:pt x="1593088" y="25146"/>
                  </a:lnTo>
                  <a:lnTo>
                    <a:pt x="1597914" y="18669"/>
                  </a:lnTo>
                  <a:lnTo>
                    <a:pt x="1597240" y="14097"/>
                  </a:lnTo>
                  <a:lnTo>
                    <a:pt x="1595882" y="4826"/>
                  </a:lnTo>
                  <a:lnTo>
                    <a:pt x="1589532" y="0"/>
                  </a:lnTo>
                  <a:lnTo>
                    <a:pt x="1582547" y="889"/>
                  </a:lnTo>
                  <a:lnTo>
                    <a:pt x="1473708" y="16383"/>
                  </a:lnTo>
                  <a:lnTo>
                    <a:pt x="1544955" y="109093"/>
                  </a:lnTo>
                  <a:lnTo>
                    <a:pt x="1552956" y="110109"/>
                  </a:lnTo>
                  <a:lnTo>
                    <a:pt x="1558544" y="105918"/>
                  </a:lnTo>
                  <a:lnTo>
                    <a:pt x="1564005" y="101600"/>
                  </a:lnTo>
                  <a:lnTo>
                    <a:pt x="1565148" y="93599"/>
                  </a:lnTo>
                  <a:lnTo>
                    <a:pt x="1560830" y="88138"/>
                  </a:lnTo>
                  <a:lnTo>
                    <a:pt x="1535658" y="55359"/>
                  </a:lnTo>
                  <a:lnTo>
                    <a:pt x="3219958" y="742569"/>
                  </a:lnTo>
                  <a:lnTo>
                    <a:pt x="3229483" y="718947"/>
                  </a:lnTo>
                  <a:close/>
                </a:path>
              </a:pathLst>
            </a:custGeom>
            <a:solidFill>
              <a:srgbClr val="2DCA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362" name="Google Shape;362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10128" y="3572255"/>
              <a:ext cx="6966204" cy="8229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0D1671C-FD6D-9657-697E-C56CC65E2F1E}"/>
              </a:ext>
            </a:extLst>
          </p:cNvPr>
          <p:cNvSpPr txBox="1"/>
          <p:nvPr/>
        </p:nvSpPr>
        <p:spPr>
          <a:xfrm>
            <a:off x="62345" y="2646317"/>
            <a:ext cx="2566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16. File Manipulation(2)</a:t>
            </a:r>
          </a:p>
          <a:p>
            <a:r>
              <a:rPr lang="en-US" sz="1100" dirty="0"/>
              <a:t>17. System Interrogation and change</a:t>
            </a:r>
          </a:p>
          <a:p>
            <a:r>
              <a:rPr lang="en-US" sz="1100" b="1" dirty="0"/>
              <a:t>18. Executing Applications</a:t>
            </a:r>
          </a:p>
          <a:p>
            <a:r>
              <a:rPr lang="en-US" sz="1100" dirty="0"/>
              <a:t>19. Understanding File Extensions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>
            <a:spLocks noGrp="1"/>
          </p:cNvSpPr>
          <p:nvPr>
            <p:ph type="title"/>
          </p:nvPr>
        </p:nvSpPr>
        <p:spPr>
          <a:xfrm>
            <a:off x="2783519" y="270118"/>
            <a:ext cx="762000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19. Understanding File Extensions</a:t>
            </a:r>
            <a:endParaRPr dirty="0"/>
          </a:p>
        </p:txBody>
      </p:sp>
      <p:sp>
        <p:nvSpPr>
          <p:cNvPr id="369" name="Google Shape;369;p24"/>
          <p:cNvSpPr txBox="1">
            <a:spLocks noGrp="1"/>
          </p:cNvSpPr>
          <p:nvPr>
            <p:ph type="sldNum" idx="12"/>
          </p:nvPr>
        </p:nvSpPr>
        <p:spPr>
          <a:xfrm>
            <a:off x="8870375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2834573" y="1571066"/>
            <a:ext cx="7760334" cy="598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8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graphical interface provides an icon that helps the  user identify the type of file (associated with the software  used to open a particular file) -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2834573" y="4437202"/>
            <a:ext cx="6574790" cy="203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1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Test.txt = text file (notepad)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Test.docx = microsoft word file (word)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Test.mp3 = sound file (anyplayer)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Test.mp4 = video file (anyplayer)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Test.jpg = picture file (Irfanview)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Test.exe (.com or .bat) = system executable file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2" name="Google Shape;372;p24"/>
          <p:cNvGrpSpPr/>
          <p:nvPr/>
        </p:nvGrpSpPr>
        <p:grpSpPr>
          <a:xfrm>
            <a:off x="2783519" y="2642616"/>
            <a:ext cx="8001762" cy="1715642"/>
            <a:chOff x="2523744" y="2642616"/>
            <a:chExt cx="8001762" cy="1715642"/>
          </a:xfrm>
        </p:grpSpPr>
        <p:pic>
          <p:nvPicPr>
            <p:cNvPr id="373" name="Google Shape;373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23744" y="2642616"/>
              <a:ext cx="7896635" cy="13228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24"/>
            <p:cNvSpPr/>
            <p:nvPr/>
          </p:nvSpPr>
          <p:spPr>
            <a:xfrm>
              <a:off x="2524506" y="3929633"/>
              <a:ext cx="8001000" cy="428625"/>
            </a:xfrm>
            <a:custGeom>
              <a:avLst/>
              <a:gdLst/>
              <a:ahLst/>
              <a:cxnLst/>
              <a:rect l="l" t="t" r="r" b="b"/>
              <a:pathLst>
                <a:path w="8001000" h="428625" extrusionOk="0">
                  <a:moveTo>
                    <a:pt x="8001000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8001000" y="428244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75" name="Google Shape;375;p24"/>
          <p:cNvSpPr txBox="1"/>
          <p:nvPr/>
        </p:nvSpPr>
        <p:spPr>
          <a:xfrm>
            <a:off x="2784280" y="3929634"/>
            <a:ext cx="8001000" cy="353943"/>
          </a:xfrm>
          <a:prstGeom prst="rect">
            <a:avLst/>
          </a:prstGeom>
          <a:noFill/>
          <a:ln w="25400" cap="flat" cmpd="sng">
            <a:solidFill>
              <a:srgbClr val="2294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name, extension,	date,	type,	&amp; size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F2650D-00E9-F239-7642-4A7418E70994}"/>
              </a:ext>
            </a:extLst>
          </p:cNvPr>
          <p:cNvSpPr txBox="1"/>
          <p:nvPr/>
        </p:nvSpPr>
        <p:spPr>
          <a:xfrm>
            <a:off x="62345" y="2646317"/>
            <a:ext cx="256655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18. Executing Applications</a:t>
            </a:r>
          </a:p>
          <a:p>
            <a:r>
              <a:rPr lang="en-US" sz="1100" b="1" dirty="0"/>
              <a:t>19. Understanding File Extensions</a:t>
            </a:r>
          </a:p>
          <a:p>
            <a:r>
              <a:rPr lang="en-US" sz="1100" dirty="0"/>
              <a:t>20. Executing </a:t>
            </a:r>
            <a:r>
              <a:rPr lang="en-US" sz="1100" dirty="0" err="1"/>
              <a:t>cmd</a:t>
            </a:r>
            <a:r>
              <a:rPr lang="en-US" sz="1100" dirty="0"/>
              <a:t>-lines from software</a:t>
            </a:r>
          </a:p>
          <a:p>
            <a:r>
              <a:rPr lang="en-US" sz="1100" dirty="0"/>
              <a:t>21. Batch Files (intro….)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"/>
          <p:cNvSpPr txBox="1"/>
          <p:nvPr/>
        </p:nvSpPr>
        <p:spPr>
          <a:xfrm>
            <a:off x="11501653" y="6463995"/>
            <a:ext cx="221615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5"/>
          <p:cNvSpPr txBox="1">
            <a:spLocks noGrp="1"/>
          </p:cNvSpPr>
          <p:nvPr>
            <p:ph type="title"/>
          </p:nvPr>
        </p:nvSpPr>
        <p:spPr>
          <a:xfrm>
            <a:off x="2656611" y="763507"/>
            <a:ext cx="92964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20. Executing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cmd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-lines from software</a:t>
            </a:r>
            <a:endParaRPr dirty="0"/>
          </a:p>
        </p:txBody>
      </p:sp>
      <p:sp>
        <p:nvSpPr>
          <p:cNvPr id="383" name="Google Shape;383;p25"/>
          <p:cNvSpPr txBox="1"/>
          <p:nvPr/>
        </p:nvSpPr>
        <p:spPr>
          <a:xfrm>
            <a:off x="2793009" y="1605788"/>
            <a:ext cx="7446600" cy="38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0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899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6666"/>
              </a:buClr>
              <a:buSzPts val="1250"/>
              <a:buFont typeface="Noto Sans Symbols"/>
              <a:buChar char="⚪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&lt;stdio.h&gt;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 {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006666"/>
              </a:buClr>
              <a:buSzPts val="1150"/>
              <a:buFont typeface="Noto Sans Symbols"/>
              <a:buChar char="⚪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system("</a:t>
            </a:r>
            <a:r>
              <a:rPr lang="en-US" sz="1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");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006666"/>
              </a:buClr>
              <a:buSzPts val="1150"/>
              <a:buFont typeface="Noto Sans Symbols"/>
              <a:buChar char="⚪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0;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6666"/>
              </a:buClr>
              <a:buSzPts val="1150"/>
              <a:buFont typeface="Noto Sans Symbols"/>
              <a:buChar char="⚪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6666"/>
              </a:buClr>
              <a:buSzPts val="1250"/>
              <a:buFont typeface="Noto Sans Symbols"/>
              <a:buChar char="⚪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Batchfile </a:t>
            </a:r>
            <a:r>
              <a:rPr lang="en-US" sz="16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(see next slide for details)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@ECHO OFF :: This batch file shows directory information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ECHO Please wait...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PAUSE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BB129-B286-6DD7-BEF6-6C9EF54F8FBC}"/>
              </a:ext>
            </a:extLst>
          </p:cNvPr>
          <p:cNvSpPr txBox="1"/>
          <p:nvPr/>
        </p:nvSpPr>
        <p:spPr>
          <a:xfrm>
            <a:off x="62345" y="2646317"/>
            <a:ext cx="25665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18. Executing Applications</a:t>
            </a:r>
          </a:p>
          <a:p>
            <a:r>
              <a:rPr lang="en-US" sz="1100" dirty="0"/>
              <a:t>19. Understanding File Extensions</a:t>
            </a:r>
          </a:p>
          <a:p>
            <a:r>
              <a:rPr lang="en-US" sz="1100" b="1" dirty="0"/>
              <a:t>20. Executing </a:t>
            </a:r>
            <a:r>
              <a:rPr lang="en-US" sz="1100" b="1" dirty="0" err="1"/>
              <a:t>cmd</a:t>
            </a:r>
            <a:r>
              <a:rPr lang="en-US" sz="1100" b="1" dirty="0"/>
              <a:t>-lines from software</a:t>
            </a:r>
          </a:p>
          <a:p>
            <a:r>
              <a:rPr lang="en-US" sz="1100" dirty="0"/>
              <a:t>21. Batch Files (intro….)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6"/>
          <p:cNvSpPr txBox="1">
            <a:spLocks noGrp="1"/>
          </p:cNvSpPr>
          <p:nvPr>
            <p:ph type="title"/>
          </p:nvPr>
        </p:nvSpPr>
        <p:spPr>
          <a:xfrm>
            <a:off x="2730663" y="600142"/>
            <a:ext cx="601853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21. Batch Files (intro….)</a:t>
            </a:r>
            <a:endParaRPr dirty="0"/>
          </a:p>
        </p:txBody>
      </p:sp>
      <p:sp>
        <p:nvSpPr>
          <p:cNvPr id="390" name="Google Shape;390;p26"/>
          <p:cNvSpPr txBox="1">
            <a:spLocks noGrp="1"/>
          </p:cNvSpPr>
          <p:nvPr>
            <p:ph type="sldNum" idx="12"/>
          </p:nvPr>
        </p:nvSpPr>
        <p:spPr>
          <a:xfrm>
            <a:off x="8766465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2730663" y="1699717"/>
            <a:ext cx="7202170" cy="185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file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script file in that can be run under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Windows.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77165" lvl="0" indent="-342900" algn="l" rtl="0">
              <a:lnSpc>
                <a:spcPct val="108000"/>
              </a:lnSpc>
              <a:spcBef>
                <a:spcPts val="509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consists of a series of commands executed by the  command-line interpreter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006666"/>
              </a:buClr>
              <a:buSzPts val="1400"/>
              <a:buFont typeface="Noto Sans Symbols"/>
              <a:buChar char="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stored in a plain text file with a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.bat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2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99CCCC"/>
              </a:buClr>
              <a:buSzPts val="125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 batch file = c:\notepad test.bat (executable)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1841" y="3717035"/>
            <a:ext cx="6774180" cy="23835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E29160-F3C9-1A92-A74E-C0C36F12ADAD}"/>
              </a:ext>
            </a:extLst>
          </p:cNvPr>
          <p:cNvSpPr txBox="1"/>
          <p:nvPr/>
        </p:nvSpPr>
        <p:spPr>
          <a:xfrm>
            <a:off x="62345" y="2646317"/>
            <a:ext cx="256655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18. Executing Applications</a:t>
            </a:r>
          </a:p>
          <a:p>
            <a:r>
              <a:rPr lang="en-US" sz="1100" dirty="0"/>
              <a:t>19. Understanding File Extensions</a:t>
            </a:r>
          </a:p>
          <a:p>
            <a:r>
              <a:rPr lang="en-US" sz="1100" dirty="0"/>
              <a:t>20. Executing </a:t>
            </a:r>
            <a:r>
              <a:rPr lang="en-US" sz="1100" dirty="0" err="1"/>
              <a:t>cmd</a:t>
            </a:r>
            <a:r>
              <a:rPr lang="en-US" sz="1100" dirty="0"/>
              <a:t>-lines from software</a:t>
            </a:r>
          </a:p>
          <a:p>
            <a:r>
              <a:rPr lang="en-US" sz="1100" b="1" dirty="0"/>
              <a:t>21. Batch Files (intro….)</a:t>
            </a:r>
          </a:p>
          <a:p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>
            <a:spLocks noGrp="1"/>
          </p:cNvSpPr>
          <p:nvPr>
            <p:ph type="title"/>
          </p:nvPr>
        </p:nvSpPr>
        <p:spPr>
          <a:xfrm>
            <a:off x="2802085" y="685800"/>
            <a:ext cx="49530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22. Coming up….</a:t>
            </a:r>
            <a:endParaRPr dirty="0"/>
          </a:p>
        </p:txBody>
      </p:sp>
      <p:sp>
        <p:nvSpPr>
          <p:cNvPr id="399" name="Google Shape;399;p27"/>
          <p:cNvSpPr txBox="1">
            <a:spLocks noGrp="1"/>
          </p:cNvSpPr>
          <p:nvPr>
            <p:ph type="sldNum" idx="12"/>
          </p:nvPr>
        </p:nvSpPr>
        <p:spPr>
          <a:xfrm>
            <a:off x="8974285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2938483" y="2101723"/>
            <a:ext cx="6445250" cy="258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0" lvl="0" indent="-3429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on batch files in 2 weeks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time……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week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Linux operating system……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line control……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9C38FF-EFAC-CEF3-19E4-F104D1BAE78E}"/>
              </a:ext>
            </a:extLst>
          </p:cNvPr>
          <p:cNvSpPr txBox="1"/>
          <p:nvPr/>
        </p:nvSpPr>
        <p:spPr>
          <a:xfrm>
            <a:off x="62345" y="2646317"/>
            <a:ext cx="25665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22. Coming up</a:t>
            </a:r>
            <a:r>
              <a:rPr lang="en-US" sz="1100" dirty="0"/>
              <a:t>…..</a:t>
            </a:r>
          </a:p>
          <a:p>
            <a:r>
              <a:rPr lang="en-US" sz="1100" dirty="0"/>
              <a:t>23. Summary</a:t>
            </a:r>
          </a:p>
          <a:p>
            <a:r>
              <a:rPr lang="en-US" sz="1100" dirty="0"/>
              <a:t>24. Workshop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 txBox="1">
            <a:spLocks noGrp="1"/>
          </p:cNvSpPr>
          <p:nvPr>
            <p:ph type="title"/>
          </p:nvPr>
        </p:nvSpPr>
        <p:spPr>
          <a:xfrm>
            <a:off x="2751445" y="685800"/>
            <a:ext cx="352120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23. Summary</a:t>
            </a:r>
            <a:endParaRPr dirty="0"/>
          </a:p>
        </p:txBody>
      </p:sp>
      <p:sp>
        <p:nvSpPr>
          <p:cNvPr id="407" name="Google Shape;407;p28"/>
          <p:cNvSpPr txBox="1">
            <a:spLocks noGrp="1"/>
          </p:cNvSpPr>
          <p:nvPr>
            <p:ph type="sldNum" idx="12"/>
          </p:nvPr>
        </p:nvSpPr>
        <p:spPr>
          <a:xfrm>
            <a:off x="8787247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2751445" y="1571647"/>
            <a:ext cx="7815580" cy="477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5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Systems (Windows)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and service manager for the hardware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 User Interface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Line interface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features of a file system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Directory structures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and files extensions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39700" lvl="0" indent="-342900" algn="l" rtl="0">
              <a:lnSpc>
                <a:spcPct val="107931"/>
              </a:lnSpc>
              <a:spcBef>
                <a:spcPts val="745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use the command-line interface  in the Windows OS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Noto Sans Symbol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dir, rmdir, mkdir, etc.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7931"/>
              </a:lnSpc>
              <a:spcBef>
                <a:spcPts val="750"/>
              </a:spcBef>
              <a:spcAft>
                <a:spcPts val="0"/>
              </a:spcAft>
              <a:buClr>
                <a:srgbClr val="006666"/>
              </a:buClr>
              <a:buSzPts val="2000"/>
              <a:buFont typeface="Noto Sans Symbols"/>
              <a:buChar char="⚪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execute command-line functions  from within other programs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2E2AA9-5AF0-F258-4588-3AA26B5AFA05}"/>
              </a:ext>
            </a:extLst>
          </p:cNvPr>
          <p:cNvSpPr txBox="1"/>
          <p:nvPr/>
        </p:nvSpPr>
        <p:spPr>
          <a:xfrm>
            <a:off x="62345" y="2646317"/>
            <a:ext cx="25665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22. Coming up…..</a:t>
            </a:r>
          </a:p>
          <a:p>
            <a:r>
              <a:rPr lang="en-US" sz="1100" b="1" dirty="0"/>
              <a:t>23. Summary</a:t>
            </a:r>
          </a:p>
          <a:p>
            <a:r>
              <a:rPr lang="en-US" sz="1100" dirty="0"/>
              <a:t>24. Workshop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 txBox="1">
            <a:spLocks noGrp="1"/>
          </p:cNvSpPr>
          <p:nvPr>
            <p:ph type="title"/>
          </p:nvPr>
        </p:nvSpPr>
        <p:spPr>
          <a:xfrm>
            <a:off x="2718957" y="685800"/>
            <a:ext cx="44958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24. Workshop</a:t>
            </a:r>
            <a:endParaRPr dirty="0"/>
          </a:p>
        </p:txBody>
      </p:sp>
      <p:sp>
        <p:nvSpPr>
          <p:cNvPr id="415" name="Google Shape;415;p29"/>
          <p:cNvSpPr txBox="1">
            <a:spLocks noGrp="1"/>
          </p:cNvSpPr>
          <p:nvPr>
            <p:ph type="body" idx="1"/>
          </p:nvPr>
        </p:nvSpPr>
        <p:spPr>
          <a:xfrm>
            <a:off x="2566557" y="1825625"/>
            <a:ext cx="9067800" cy="265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61785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Finish previous workshop material</a:t>
            </a:r>
            <a:endParaRPr/>
          </a:p>
          <a:p>
            <a:pPr marL="617855" marR="396875" lvl="0" indent="-342900" algn="l" rtl="0">
              <a:lnSpc>
                <a:spcPct val="107857"/>
              </a:lnSpc>
              <a:spcBef>
                <a:spcPts val="72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Start new material on command line  control (graded)</a:t>
            </a:r>
            <a:endParaRPr/>
          </a:p>
          <a:p>
            <a:pPr marL="1018539" lvl="1" indent="-287019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Windows command line – 25%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18539" lvl="1" indent="-28701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Linux command line – 25%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18539" lvl="1" indent="-28701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99CCCC"/>
              </a:buClr>
              <a:buSzPts val="165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Windows batch file control – 50%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17855" lvl="0" indent="-3429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Portfolio – Submission date is week 12</a:t>
            </a:r>
            <a:endParaRPr/>
          </a:p>
        </p:txBody>
      </p:sp>
      <p:sp>
        <p:nvSpPr>
          <p:cNvPr id="416" name="Google Shape;416;p29"/>
          <p:cNvSpPr txBox="1">
            <a:spLocks noGrp="1"/>
          </p:cNvSpPr>
          <p:nvPr>
            <p:ph type="sldNum" idx="12"/>
          </p:nvPr>
        </p:nvSpPr>
        <p:spPr>
          <a:xfrm>
            <a:off x="8891157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1201A9-CE47-629D-5A0E-BF4F5BF0703E}"/>
              </a:ext>
            </a:extLst>
          </p:cNvPr>
          <p:cNvSpPr txBox="1"/>
          <p:nvPr/>
        </p:nvSpPr>
        <p:spPr>
          <a:xfrm>
            <a:off x="62345" y="2646317"/>
            <a:ext cx="25665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22. Coming up…..</a:t>
            </a:r>
          </a:p>
          <a:p>
            <a:r>
              <a:rPr lang="en-US" sz="1100" dirty="0"/>
              <a:t>23. Summary</a:t>
            </a:r>
          </a:p>
          <a:p>
            <a:r>
              <a:rPr lang="en-US" sz="1100" b="1" dirty="0"/>
              <a:t>24. Workshop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>
            <a:spLocks noGrp="1"/>
          </p:cNvSpPr>
          <p:nvPr>
            <p:ph type="title"/>
          </p:nvPr>
        </p:nvSpPr>
        <p:spPr>
          <a:xfrm>
            <a:off x="2709881" y="423446"/>
            <a:ext cx="8779002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31. How to use Windows CMD – Links</a:t>
            </a:r>
            <a:endParaRPr/>
          </a:p>
        </p:txBody>
      </p:sp>
      <p:sp>
        <p:nvSpPr>
          <p:cNvPr id="423" name="Google Shape;423;p30"/>
          <p:cNvSpPr txBox="1">
            <a:spLocks noGrp="1"/>
          </p:cNvSpPr>
          <p:nvPr>
            <p:ph type="sldNum" idx="12"/>
          </p:nvPr>
        </p:nvSpPr>
        <p:spPr>
          <a:xfrm>
            <a:off x="8745683" y="643984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2709881" y="1834133"/>
            <a:ext cx="7458709" cy="83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0" lvl="0" indent="-3429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rgbClr val="006666"/>
              </a:buClr>
              <a:buSzPts val="1950"/>
              <a:buFont typeface="Noto Sans Symbols"/>
              <a:buChar char="⚪"/>
            </a:pPr>
            <a:r>
              <a:rPr lang="en-US" sz="2800" u="sng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https://www.computerhope.com/issues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/chusedos.htm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EC76D-51FF-DB56-4BA4-CA9598FEC269}"/>
              </a:ext>
            </a:extLst>
          </p:cNvPr>
          <p:cNvSpPr txBox="1"/>
          <p:nvPr/>
        </p:nvSpPr>
        <p:spPr>
          <a:xfrm>
            <a:off x="62345" y="2646317"/>
            <a:ext cx="25665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25. How to use Windows CMD- Links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character with rainbow&#10;&#10;Description automatically generated">
            <a:extLst>
              <a:ext uri="{FF2B5EF4-FFF2-40B4-BE49-F238E27FC236}">
                <a16:creationId xmlns:a16="http://schemas.microsoft.com/office/drawing/2014/main" id="{2229B65F-AE4F-2403-29D3-B691EC11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-342900"/>
            <a:ext cx="12801600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9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340</TotalTime>
  <Words>2129</Words>
  <Application>Microsoft Office PowerPoint</Application>
  <PresentationFormat>Widescreen</PresentationFormat>
  <Paragraphs>351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Noto Sans Symbols</vt:lpstr>
      <vt:lpstr>Times New Roman</vt:lpstr>
      <vt:lpstr>Office Theme</vt:lpstr>
      <vt:lpstr>Windows Operating System &amp; Command-  line interface</vt:lpstr>
      <vt:lpstr>1. Learning Outcomes</vt:lpstr>
      <vt:lpstr>2. History of the Windows Operating System </vt:lpstr>
      <vt:lpstr>3.System Software vs Application Software.</vt:lpstr>
      <vt:lpstr>4. What does an Operating System do?</vt:lpstr>
      <vt:lpstr>5. Where Does the Operating System Fit?</vt:lpstr>
      <vt:lpstr>6. The Kernel</vt:lpstr>
      <vt:lpstr>7. Talking to the Operating System</vt:lpstr>
      <vt:lpstr>8. File System</vt:lpstr>
      <vt:lpstr>8.1. Why are there many File Systems?</vt:lpstr>
      <vt:lpstr>10.2. File System development</vt:lpstr>
      <vt:lpstr>8.3 File System: Example</vt:lpstr>
      <vt:lpstr>8.3 File System Example</vt:lpstr>
      <vt:lpstr>9. Using the OS (Windows)</vt:lpstr>
      <vt:lpstr>10. Text Based User Interfaces</vt:lpstr>
      <vt:lpstr>11. Command Line Interface Features</vt:lpstr>
      <vt:lpstr>12. How to use Windows OS CMD</vt:lpstr>
      <vt:lpstr>13. Features: Directory information (1)</vt:lpstr>
      <vt:lpstr>14. Features: Directory information (2)</vt:lpstr>
      <vt:lpstr>15. File Manipulation (1)</vt:lpstr>
      <vt:lpstr>16. File Manipulation (2)</vt:lpstr>
      <vt:lpstr>17. System Interrogation and change</vt:lpstr>
      <vt:lpstr>18. Executing Applications</vt:lpstr>
      <vt:lpstr>19. Understanding File Extensions</vt:lpstr>
      <vt:lpstr>20. Executing cmd-lines from software</vt:lpstr>
      <vt:lpstr>21. Batch Files (intro….)</vt:lpstr>
      <vt:lpstr>22. Coming up….</vt:lpstr>
      <vt:lpstr>23. Summary</vt:lpstr>
      <vt:lpstr>24. Workshop</vt:lpstr>
      <vt:lpstr>31. How to use Windows CMD – Links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sanjeevchamling@gmail.com</cp:lastModifiedBy>
  <cp:revision>6</cp:revision>
  <dcterms:created xsi:type="dcterms:W3CDTF">2023-03-29T04:35:04Z</dcterms:created>
  <dcterms:modified xsi:type="dcterms:W3CDTF">2024-12-29T03:14:15Z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2023-03-29T00:00:00Z</vt:filetime>
  </property>
</Properties>
</file>