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80" r:id="rId8"/>
    <p:sldId id="262" r:id="rId9"/>
    <p:sldId id="263" r:id="rId10"/>
    <p:sldId id="264" r:id="rId11"/>
    <p:sldId id="265" r:id="rId12"/>
    <p:sldId id="266" r:id="rId13"/>
    <p:sldId id="267" r:id="rId14"/>
    <p:sldId id="282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1" r:id="rId27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nZNeFNRZwDOnalY9BrH1mHtSk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1DEC03-9E19-4A8A-91A2-E13AE0757FD2}">
  <a:tblStyle styleId="{C61DEC03-9E19-4A8A-91A2-E13AE0757F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5" autoAdjust="0"/>
    <p:restoredTop sz="94698"/>
  </p:normalViewPr>
  <p:slideViewPr>
    <p:cSldViewPr snapToGrid="0">
      <p:cViewPr varScale="1">
        <p:scale>
          <a:sx n="146" d="100"/>
          <a:sy n="146" d="100"/>
        </p:scale>
        <p:origin x="1216" y="16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24713DFC-28C9-1F78-FC8F-7F1FCA0C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>
            <a:extLst>
              <a:ext uri="{FF2B5EF4-FFF2-40B4-BE49-F238E27FC236}">
                <a16:creationId xmlns:a16="http://schemas.microsoft.com/office/drawing/2014/main" id="{E411F5B9-206B-CAC1-6379-9248C3DC4D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>
            <a:extLst>
              <a:ext uri="{FF2B5EF4-FFF2-40B4-BE49-F238E27FC236}">
                <a16:creationId xmlns:a16="http://schemas.microsoft.com/office/drawing/2014/main" id="{AD0C13A9-F5C9-8042-8FCC-F87B50173A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5955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207BD7F5-8BD5-B597-F337-A2F33025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>
            <a:extLst>
              <a:ext uri="{FF2B5EF4-FFF2-40B4-BE49-F238E27FC236}">
                <a16:creationId xmlns:a16="http://schemas.microsoft.com/office/drawing/2014/main" id="{FAE1E6C7-9489-AD4F-7780-051385E8A6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3:notes">
            <a:extLst>
              <a:ext uri="{FF2B5EF4-FFF2-40B4-BE49-F238E27FC236}">
                <a16:creationId xmlns:a16="http://schemas.microsoft.com/office/drawing/2014/main" id="{11F1CBC6-D971-3AC6-80E5-1BD44D9FC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49640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spcBef>
                <a:spcPts val="0"/>
              </a:spcBef>
              <a:buNone/>
              <a:defRPr/>
            </a:lvl1pPr>
            <a:lvl2pPr marL="38100" lvl="1" indent="0" algn="r">
              <a:spcBef>
                <a:spcPts val="0"/>
              </a:spcBef>
              <a:buNone/>
              <a:defRPr/>
            </a:lvl2pPr>
            <a:lvl3pPr marL="38100" lvl="2" indent="0" algn="r">
              <a:spcBef>
                <a:spcPts val="0"/>
              </a:spcBef>
              <a:buNone/>
              <a:defRPr/>
            </a:lvl3pPr>
            <a:lvl4pPr marL="38100" lvl="3" indent="0" algn="r">
              <a:spcBef>
                <a:spcPts val="0"/>
              </a:spcBef>
              <a:buNone/>
              <a:defRPr/>
            </a:lvl4pPr>
            <a:lvl5pPr marL="38100" lvl="4" indent="0" algn="r">
              <a:spcBef>
                <a:spcPts val="0"/>
              </a:spcBef>
              <a:buNone/>
              <a:defRPr/>
            </a:lvl5pPr>
            <a:lvl6pPr marL="38100" lvl="5" indent="0" algn="r">
              <a:spcBef>
                <a:spcPts val="0"/>
              </a:spcBef>
              <a:buNone/>
              <a:defRPr/>
            </a:lvl6pPr>
            <a:lvl7pPr marL="38100" lvl="6" indent="0" algn="r">
              <a:spcBef>
                <a:spcPts val="0"/>
              </a:spcBef>
              <a:buNone/>
              <a:defRPr/>
            </a:lvl7pPr>
            <a:lvl8pPr marL="38100" lvl="7" indent="0" algn="r">
              <a:spcBef>
                <a:spcPts val="0"/>
              </a:spcBef>
              <a:buNone/>
              <a:defRPr/>
            </a:lvl8pPr>
            <a:lvl9pPr marL="38100" lvl="8" indent="0" algn="r"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spcBef>
                <a:spcPts val="0"/>
              </a:spcBef>
              <a:buNone/>
              <a:defRPr/>
            </a:lvl1pPr>
            <a:lvl2pPr marL="38100" lvl="1" indent="0" algn="r">
              <a:spcBef>
                <a:spcPts val="0"/>
              </a:spcBef>
              <a:buNone/>
              <a:defRPr/>
            </a:lvl2pPr>
            <a:lvl3pPr marL="38100" lvl="2" indent="0" algn="r">
              <a:spcBef>
                <a:spcPts val="0"/>
              </a:spcBef>
              <a:buNone/>
              <a:defRPr/>
            </a:lvl3pPr>
            <a:lvl4pPr marL="38100" lvl="3" indent="0" algn="r">
              <a:spcBef>
                <a:spcPts val="0"/>
              </a:spcBef>
              <a:buNone/>
              <a:defRPr/>
            </a:lvl4pPr>
            <a:lvl5pPr marL="38100" lvl="4" indent="0" algn="r">
              <a:spcBef>
                <a:spcPts val="0"/>
              </a:spcBef>
              <a:buNone/>
              <a:defRPr/>
            </a:lvl5pPr>
            <a:lvl6pPr marL="38100" lvl="5" indent="0" algn="r">
              <a:spcBef>
                <a:spcPts val="0"/>
              </a:spcBef>
              <a:buNone/>
              <a:defRPr/>
            </a:lvl6pPr>
            <a:lvl7pPr marL="38100" lvl="6" indent="0" algn="r">
              <a:spcBef>
                <a:spcPts val="0"/>
              </a:spcBef>
              <a:buNone/>
              <a:defRPr/>
            </a:lvl7pPr>
            <a:lvl8pPr marL="38100" lvl="7" indent="0" algn="r">
              <a:spcBef>
                <a:spcPts val="0"/>
              </a:spcBef>
              <a:buNone/>
              <a:defRPr/>
            </a:lvl8pPr>
            <a:lvl9pPr marL="38100" lvl="8" indent="0" algn="r"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spcBef>
                <a:spcPts val="0"/>
              </a:spcBef>
              <a:buNone/>
              <a:defRPr/>
            </a:lvl1pPr>
            <a:lvl2pPr marL="38100" lvl="1" indent="0" algn="r">
              <a:spcBef>
                <a:spcPts val="0"/>
              </a:spcBef>
              <a:buNone/>
              <a:defRPr/>
            </a:lvl2pPr>
            <a:lvl3pPr marL="38100" lvl="2" indent="0" algn="r">
              <a:spcBef>
                <a:spcPts val="0"/>
              </a:spcBef>
              <a:buNone/>
              <a:defRPr/>
            </a:lvl3pPr>
            <a:lvl4pPr marL="38100" lvl="3" indent="0" algn="r">
              <a:spcBef>
                <a:spcPts val="0"/>
              </a:spcBef>
              <a:buNone/>
              <a:defRPr/>
            </a:lvl4pPr>
            <a:lvl5pPr marL="38100" lvl="4" indent="0" algn="r">
              <a:spcBef>
                <a:spcPts val="0"/>
              </a:spcBef>
              <a:buNone/>
              <a:defRPr/>
            </a:lvl5pPr>
            <a:lvl6pPr marL="38100" lvl="5" indent="0" algn="r">
              <a:spcBef>
                <a:spcPts val="0"/>
              </a:spcBef>
              <a:buNone/>
              <a:defRPr/>
            </a:lvl6pPr>
            <a:lvl7pPr marL="38100" lvl="6" indent="0" algn="r">
              <a:spcBef>
                <a:spcPts val="0"/>
              </a:spcBef>
              <a:buNone/>
              <a:defRPr/>
            </a:lvl7pPr>
            <a:lvl8pPr marL="38100" lvl="7" indent="0" algn="r">
              <a:spcBef>
                <a:spcPts val="0"/>
              </a:spcBef>
              <a:buNone/>
              <a:defRPr/>
            </a:lvl8pPr>
            <a:lvl9pPr marL="38100" lvl="8" indent="0" algn="r"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spcBef>
                <a:spcPts val="0"/>
              </a:spcBef>
              <a:buNone/>
              <a:defRPr/>
            </a:lvl1pPr>
            <a:lvl2pPr marL="38100" lvl="1" indent="0" algn="r">
              <a:spcBef>
                <a:spcPts val="0"/>
              </a:spcBef>
              <a:buNone/>
              <a:defRPr/>
            </a:lvl2pPr>
            <a:lvl3pPr marL="38100" lvl="2" indent="0" algn="r">
              <a:spcBef>
                <a:spcPts val="0"/>
              </a:spcBef>
              <a:buNone/>
              <a:defRPr/>
            </a:lvl3pPr>
            <a:lvl4pPr marL="38100" lvl="3" indent="0" algn="r">
              <a:spcBef>
                <a:spcPts val="0"/>
              </a:spcBef>
              <a:buNone/>
              <a:defRPr/>
            </a:lvl4pPr>
            <a:lvl5pPr marL="38100" lvl="4" indent="0" algn="r">
              <a:spcBef>
                <a:spcPts val="0"/>
              </a:spcBef>
              <a:buNone/>
              <a:defRPr/>
            </a:lvl5pPr>
            <a:lvl6pPr marL="38100" lvl="5" indent="0" algn="r">
              <a:spcBef>
                <a:spcPts val="0"/>
              </a:spcBef>
              <a:buNone/>
              <a:defRPr/>
            </a:lvl6pPr>
            <a:lvl7pPr marL="38100" lvl="6" indent="0" algn="r">
              <a:spcBef>
                <a:spcPts val="0"/>
              </a:spcBef>
              <a:buNone/>
              <a:defRPr/>
            </a:lvl7pPr>
            <a:lvl8pPr marL="38100" lvl="7" indent="0" algn="r">
              <a:spcBef>
                <a:spcPts val="0"/>
              </a:spcBef>
              <a:buNone/>
              <a:defRPr/>
            </a:lvl8pPr>
            <a:lvl9pPr marL="38100" lvl="8" indent="0" algn="r"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spcBef>
                <a:spcPts val="0"/>
              </a:spcBef>
              <a:buNone/>
              <a:defRPr/>
            </a:lvl1pPr>
            <a:lvl2pPr marL="38100" lvl="1" indent="0" algn="r">
              <a:spcBef>
                <a:spcPts val="0"/>
              </a:spcBef>
              <a:buNone/>
              <a:defRPr/>
            </a:lvl2pPr>
            <a:lvl3pPr marL="38100" lvl="2" indent="0" algn="r">
              <a:spcBef>
                <a:spcPts val="0"/>
              </a:spcBef>
              <a:buNone/>
              <a:defRPr/>
            </a:lvl3pPr>
            <a:lvl4pPr marL="38100" lvl="3" indent="0" algn="r">
              <a:spcBef>
                <a:spcPts val="0"/>
              </a:spcBef>
              <a:buNone/>
              <a:defRPr/>
            </a:lvl4pPr>
            <a:lvl5pPr marL="38100" lvl="4" indent="0" algn="r">
              <a:spcBef>
                <a:spcPts val="0"/>
              </a:spcBef>
              <a:buNone/>
              <a:defRPr/>
            </a:lvl5pPr>
            <a:lvl6pPr marL="38100" lvl="5" indent="0" algn="r">
              <a:spcBef>
                <a:spcPts val="0"/>
              </a:spcBef>
              <a:buNone/>
              <a:defRPr/>
            </a:lvl6pPr>
            <a:lvl7pPr marL="38100" lvl="6" indent="0" algn="r">
              <a:spcBef>
                <a:spcPts val="0"/>
              </a:spcBef>
              <a:buNone/>
              <a:defRPr/>
            </a:lvl7pPr>
            <a:lvl8pPr marL="38100" lvl="7" indent="0" algn="r">
              <a:spcBef>
                <a:spcPts val="0"/>
              </a:spcBef>
              <a:buNone/>
              <a:defRPr/>
            </a:lvl8pPr>
            <a:lvl9pPr marL="38100" lvl="8" indent="0" algn="r"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spcBef>
                <a:spcPts val="0"/>
              </a:spcBef>
              <a:buNone/>
              <a:defRPr/>
            </a:lvl1pPr>
            <a:lvl2pPr marL="38100" lvl="1" indent="0" algn="r">
              <a:spcBef>
                <a:spcPts val="0"/>
              </a:spcBef>
              <a:buNone/>
              <a:defRPr/>
            </a:lvl2pPr>
            <a:lvl3pPr marL="38100" lvl="2" indent="0" algn="r">
              <a:spcBef>
                <a:spcPts val="0"/>
              </a:spcBef>
              <a:buNone/>
              <a:defRPr/>
            </a:lvl3pPr>
            <a:lvl4pPr marL="38100" lvl="3" indent="0" algn="r">
              <a:spcBef>
                <a:spcPts val="0"/>
              </a:spcBef>
              <a:buNone/>
              <a:defRPr/>
            </a:lvl4pPr>
            <a:lvl5pPr marL="38100" lvl="4" indent="0" algn="r">
              <a:spcBef>
                <a:spcPts val="0"/>
              </a:spcBef>
              <a:buNone/>
              <a:defRPr/>
            </a:lvl5pPr>
            <a:lvl6pPr marL="38100" lvl="5" indent="0" algn="r">
              <a:spcBef>
                <a:spcPts val="0"/>
              </a:spcBef>
              <a:buNone/>
              <a:defRPr/>
            </a:lvl6pPr>
            <a:lvl7pPr marL="38100" lvl="6" indent="0" algn="r">
              <a:spcBef>
                <a:spcPts val="0"/>
              </a:spcBef>
              <a:buNone/>
              <a:defRPr/>
            </a:lvl7pPr>
            <a:lvl8pPr marL="38100" lvl="7" indent="0" algn="r">
              <a:spcBef>
                <a:spcPts val="0"/>
              </a:spcBef>
              <a:buNone/>
              <a:defRPr/>
            </a:lvl8pPr>
            <a:lvl9pPr marL="38100" lvl="8" indent="0" algn="r"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spcBef>
                <a:spcPts val="0"/>
              </a:spcBef>
              <a:buNone/>
              <a:defRPr/>
            </a:lvl1pPr>
            <a:lvl2pPr marL="38100" lvl="1" indent="0" algn="r">
              <a:spcBef>
                <a:spcPts val="0"/>
              </a:spcBef>
              <a:buNone/>
              <a:defRPr/>
            </a:lvl2pPr>
            <a:lvl3pPr marL="38100" lvl="2" indent="0" algn="r">
              <a:spcBef>
                <a:spcPts val="0"/>
              </a:spcBef>
              <a:buNone/>
              <a:defRPr/>
            </a:lvl3pPr>
            <a:lvl4pPr marL="38100" lvl="3" indent="0" algn="r">
              <a:spcBef>
                <a:spcPts val="0"/>
              </a:spcBef>
              <a:buNone/>
              <a:defRPr/>
            </a:lvl4pPr>
            <a:lvl5pPr marL="38100" lvl="4" indent="0" algn="r">
              <a:spcBef>
                <a:spcPts val="0"/>
              </a:spcBef>
              <a:buNone/>
              <a:defRPr/>
            </a:lvl5pPr>
            <a:lvl6pPr marL="38100" lvl="5" indent="0" algn="r">
              <a:spcBef>
                <a:spcPts val="0"/>
              </a:spcBef>
              <a:buNone/>
              <a:defRPr/>
            </a:lvl6pPr>
            <a:lvl7pPr marL="38100" lvl="6" indent="0" algn="r">
              <a:spcBef>
                <a:spcPts val="0"/>
              </a:spcBef>
              <a:buNone/>
              <a:defRPr/>
            </a:lvl7pPr>
            <a:lvl8pPr marL="38100" lvl="7" indent="0" algn="r">
              <a:spcBef>
                <a:spcPts val="0"/>
              </a:spcBef>
              <a:buNone/>
              <a:defRPr/>
            </a:lvl8pPr>
            <a:lvl9pPr marL="38100" lvl="8" indent="0" algn="r"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spcBef>
                <a:spcPts val="0"/>
              </a:spcBef>
              <a:buNone/>
              <a:defRPr/>
            </a:lvl1pPr>
            <a:lvl2pPr marL="38100" lvl="1" indent="0" algn="r">
              <a:spcBef>
                <a:spcPts val="0"/>
              </a:spcBef>
              <a:buNone/>
              <a:defRPr/>
            </a:lvl2pPr>
            <a:lvl3pPr marL="38100" lvl="2" indent="0" algn="r">
              <a:spcBef>
                <a:spcPts val="0"/>
              </a:spcBef>
              <a:buNone/>
              <a:defRPr/>
            </a:lvl3pPr>
            <a:lvl4pPr marL="38100" lvl="3" indent="0" algn="r">
              <a:spcBef>
                <a:spcPts val="0"/>
              </a:spcBef>
              <a:buNone/>
              <a:defRPr/>
            </a:lvl4pPr>
            <a:lvl5pPr marL="38100" lvl="4" indent="0" algn="r">
              <a:spcBef>
                <a:spcPts val="0"/>
              </a:spcBef>
              <a:buNone/>
              <a:defRPr/>
            </a:lvl5pPr>
            <a:lvl6pPr marL="38100" lvl="5" indent="0" algn="r">
              <a:spcBef>
                <a:spcPts val="0"/>
              </a:spcBef>
              <a:buNone/>
              <a:defRPr/>
            </a:lvl6pPr>
            <a:lvl7pPr marL="38100" lvl="6" indent="0" algn="r">
              <a:spcBef>
                <a:spcPts val="0"/>
              </a:spcBef>
              <a:buNone/>
              <a:defRPr/>
            </a:lvl7pPr>
            <a:lvl8pPr marL="38100" lvl="7" indent="0" algn="r">
              <a:spcBef>
                <a:spcPts val="0"/>
              </a:spcBef>
              <a:buNone/>
              <a:defRPr/>
            </a:lvl8pPr>
            <a:lvl9pPr marL="38100" lvl="8" indent="0" algn="r"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spcBef>
                <a:spcPts val="0"/>
              </a:spcBef>
              <a:buNone/>
              <a:defRPr/>
            </a:lvl1pPr>
            <a:lvl2pPr marL="38100" lvl="1" indent="0" algn="r">
              <a:spcBef>
                <a:spcPts val="0"/>
              </a:spcBef>
              <a:buNone/>
              <a:defRPr/>
            </a:lvl2pPr>
            <a:lvl3pPr marL="38100" lvl="2" indent="0" algn="r">
              <a:spcBef>
                <a:spcPts val="0"/>
              </a:spcBef>
              <a:buNone/>
              <a:defRPr/>
            </a:lvl3pPr>
            <a:lvl4pPr marL="38100" lvl="3" indent="0" algn="r">
              <a:spcBef>
                <a:spcPts val="0"/>
              </a:spcBef>
              <a:buNone/>
              <a:defRPr/>
            </a:lvl4pPr>
            <a:lvl5pPr marL="38100" lvl="4" indent="0" algn="r">
              <a:spcBef>
                <a:spcPts val="0"/>
              </a:spcBef>
              <a:buNone/>
              <a:defRPr/>
            </a:lvl5pPr>
            <a:lvl6pPr marL="38100" lvl="5" indent="0" algn="r">
              <a:spcBef>
                <a:spcPts val="0"/>
              </a:spcBef>
              <a:buNone/>
              <a:defRPr/>
            </a:lvl6pPr>
            <a:lvl7pPr marL="38100" lvl="6" indent="0" algn="r">
              <a:spcBef>
                <a:spcPts val="0"/>
              </a:spcBef>
              <a:buNone/>
              <a:defRPr/>
            </a:lvl7pPr>
            <a:lvl8pPr marL="38100" lvl="7" indent="0" algn="r">
              <a:spcBef>
                <a:spcPts val="0"/>
              </a:spcBef>
              <a:buNone/>
              <a:defRPr/>
            </a:lvl8pPr>
            <a:lvl9pPr marL="38100" lvl="8" indent="0" algn="r"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lvl="0" indent="0" algn="r">
              <a:spcBef>
                <a:spcPts val="0"/>
              </a:spcBef>
              <a:buNone/>
              <a:defRPr/>
            </a:lvl1pPr>
            <a:lvl2pPr marL="38100" lvl="1" indent="0" algn="r">
              <a:spcBef>
                <a:spcPts val="0"/>
              </a:spcBef>
              <a:buNone/>
              <a:defRPr/>
            </a:lvl2pPr>
            <a:lvl3pPr marL="38100" lvl="2" indent="0" algn="r">
              <a:spcBef>
                <a:spcPts val="0"/>
              </a:spcBef>
              <a:buNone/>
              <a:defRPr/>
            </a:lvl3pPr>
            <a:lvl4pPr marL="38100" lvl="3" indent="0" algn="r">
              <a:spcBef>
                <a:spcPts val="0"/>
              </a:spcBef>
              <a:buNone/>
              <a:defRPr/>
            </a:lvl4pPr>
            <a:lvl5pPr marL="38100" lvl="4" indent="0" algn="r">
              <a:spcBef>
                <a:spcPts val="0"/>
              </a:spcBef>
              <a:buNone/>
              <a:defRPr/>
            </a:lvl5pPr>
            <a:lvl6pPr marL="38100" lvl="5" indent="0" algn="r">
              <a:spcBef>
                <a:spcPts val="0"/>
              </a:spcBef>
              <a:buNone/>
              <a:defRPr/>
            </a:lvl6pPr>
            <a:lvl7pPr marL="38100" lvl="6" indent="0" algn="r">
              <a:spcBef>
                <a:spcPts val="0"/>
              </a:spcBef>
              <a:buNone/>
              <a:defRPr/>
            </a:lvl7pPr>
            <a:lvl8pPr marL="38100" lvl="7" indent="0" algn="r">
              <a:spcBef>
                <a:spcPts val="0"/>
              </a:spcBef>
              <a:buNone/>
              <a:defRPr/>
            </a:lvl8pPr>
            <a:lvl9pPr marL="38100" lvl="8" indent="0" algn="r">
              <a:spcBef>
                <a:spcPts val="0"/>
              </a:spcBef>
              <a:buNone/>
              <a:defRPr/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3810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Google Shape;196;g249310ac104_0_42">
            <a:extLst>
              <a:ext uri="{FF2B5EF4-FFF2-40B4-BE49-F238E27FC236}">
                <a16:creationId xmlns:a16="http://schemas.microsoft.com/office/drawing/2014/main" id="{E62781FA-409F-4EB8-6DAE-7776BAC9E1EC}"/>
              </a:ext>
            </a:extLst>
          </p:cNvPr>
          <p:cNvSpPr/>
          <p:nvPr userDrawn="1"/>
        </p:nvSpPr>
        <p:spPr>
          <a:xfrm>
            <a:off x="-39" y="-12458"/>
            <a:ext cx="2558414" cy="6870457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30200" lvl="0" indent="-228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endParaRPr lang="en-US" sz="1000" dirty="0"/>
          </a:p>
        </p:txBody>
      </p:sp>
      <p:pic>
        <p:nvPicPr>
          <p:cNvPr id="3" name="Google Shape;76;p1">
            <a:extLst>
              <a:ext uri="{FF2B5EF4-FFF2-40B4-BE49-F238E27FC236}">
                <a16:creationId xmlns:a16="http://schemas.microsoft.com/office/drawing/2014/main" id="{9157412A-2E64-F4D1-E073-2FC7E14502C9}"/>
              </a:ext>
            </a:extLst>
          </p:cNvPr>
          <p:cNvPicPr preferRelativeResize="0"/>
          <p:nvPr userDrawn="1"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86883" y="93287"/>
            <a:ext cx="2135055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A542EF-9724-AC7C-1ADB-DED21896304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45663" y="6274756"/>
            <a:ext cx="2135055" cy="446719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tannica.com/biography/Linus-Torvald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447800" y="2514600"/>
            <a:ext cx="7239000" cy="0"/>
          </a:xfrm>
          <a:custGeom>
            <a:avLst/>
            <a:gdLst/>
            <a:ahLst/>
            <a:cxnLst/>
            <a:rect l="l" t="t" r="r" b="b"/>
            <a:pathLst>
              <a:path w="7239000" h="120000" extrusionOk="0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21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title"/>
          </p:nvPr>
        </p:nvSpPr>
        <p:spPr>
          <a:xfrm>
            <a:off x="1521967" y="1139443"/>
            <a:ext cx="6656070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>
                <a:latin typeface="Arial"/>
                <a:ea typeface="Arial"/>
                <a:cs typeface="Arial"/>
                <a:sym typeface="Arial"/>
              </a:rPr>
              <a:t>Linux Operating Systems &amp;  Command-line interface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>
            <a:spLocks noGrp="1"/>
          </p:cNvSpPr>
          <p:nvPr>
            <p:ph type="sldNum" idx="12"/>
          </p:nvPr>
        </p:nvSpPr>
        <p:spPr>
          <a:xfrm>
            <a:off x="8610600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521971" y="3458083"/>
            <a:ext cx="3893100" cy="14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Lecture 8</a:t>
            </a:r>
            <a:endParaRPr sz="29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5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2781303" y="320475"/>
            <a:ext cx="54219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1. Learning Outcomes</a:t>
            </a:r>
            <a:endParaRPr/>
          </a:p>
        </p:txBody>
      </p:sp>
      <p:sp>
        <p:nvSpPr>
          <p:cNvPr id="93" name="Google Shape;93;p2"/>
          <p:cNvSpPr txBox="1">
            <a:spLocks noGrp="1"/>
          </p:cNvSpPr>
          <p:nvPr>
            <p:ph type="sldNum" idx="12"/>
          </p:nvPr>
        </p:nvSpPr>
        <p:spPr>
          <a:xfrm>
            <a:off x="7010402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2781304" y="1489886"/>
            <a:ext cx="6934200" cy="3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By the end of this lecture you will: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5"/>
              </a:spcBef>
              <a:spcAft>
                <a:spcPts val="0"/>
              </a:spcAft>
              <a:buNone/>
            </a:pPr>
            <a:endParaRPr sz="3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1038225" lvl="0" indent="-457200" algn="l" rtl="0">
              <a:lnSpc>
                <a:spcPct val="156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Understand the Linux operating  system and its function</a:t>
            </a:r>
            <a:endParaRPr dirty="0"/>
          </a:p>
          <a:p>
            <a:pPr marL="469900" marR="744855" lvl="0" indent="-457200" algn="l" rtl="0">
              <a:lnSpc>
                <a:spcPct val="1565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Be familiar with its folder and file  structure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744855" lvl="0" indent="-457200" algn="l" rtl="0">
              <a:lnSpc>
                <a:spcPct val="1565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Understand Linux file permissions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744855" lvl="0" indent="-457200" algn="l" rtl="0">
              <a:lnSpc>
                <a:spcPct val="1565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Be familiar with text based  command line functions in Linux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C2D317-5C73-9EA7-D1C4-39867EBB1F4D}"/>
              </a:ext>
            </a:extLst>
          </p:cNvPr>
          <p:cNvSpPr txBox="1"/>
          <p:nvPr/>
        </p:nvSpPr>
        <p:spPr>
          <a:xfrm>
            <a:off x="79088" y="2798058"/>
            <a:ext cx="2130711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Learning Outcomes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History of Linux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Linux OS features</a:t>
            </a: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2795156" y="289300"/>
            <a:ext cx="4511561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2. History of Linux</a:t>
            </a:r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sldNum" idx="12"/>
          </p:nvPr>
        </p:nvSpPr>
        <p:spPr>
          <a:xfrm>
            <a:off x="9576956" y="6439853"/>
            <a:ext cx="2439158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2795156" y="1143000"/>
            <a:ext cx="4946071" cy="5354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354965" marR="187960" lvl="0" indent="-342900" algn="l" rtl="0">
              <a:lnSpc>
                <a:spcPct val="129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Linux began in </a:t>
            </a:r>
            <a:r>
              <a:rPr lang="en-US" sz="20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1991 </a:t>
            </a: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a personal  </a:t>
            </a:r>
            <a:r>
              <a:rPr lang="en-US" sz="20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by Finnish student </a:t>
            </a:r>
            <a:r>
              <a:rPr lang="en-US" sz="2000" u="sng">
                <a:solidFill>
                  <a:srgbClr val="006666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 Torvalds</a:t>
            </a:r>
            <a:r>
              <a:rPr lang="en-US" sz="20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54965" marR="187960" lvl="0" indent="-342900" algn="l" rtl="0">
              <a:lnSpc>
                <a:spcPct val="1295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Since the release of its </a:t>
            </a:r>
            <a:r>
              <a:rPr lang="en-US" sz="20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open source code</a:t>
            </a: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it has grown from a  small number of C files to 23 million  lines of code.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03225" marR="90805" lvl="0" indent="-342900" algn="l" rtl="0">
              <a:lnSpc>
                <a:spcPct val="1295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Started it for fun but ended up with  such a large project.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55600" marR="0" lvl="0" indent="-3429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 is </a:t>
            </a:r>
            <a:r>
              <a:rPr lang="en-US" sz="20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free </a:t>
            </a: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operating system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55600" marR="0" lvl="0" indent="-342900" algn="l" rtl="0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Some would say: </a:t>
            </a: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Limited support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54965" marR="1012189" lvl="0" indent="0" algn="l" rtl="0">
              <a:lnSpc>
                <a:spcPct val="1295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(vastly improved – written by  contributors)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199797" y="360980"/>
            <a:ext cx="1809393" cy="238810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B0C774-07D8-43A1-8F89-441DF10FC62D}"/>
              </a:ext>
            </a:extLst>
          </p:cNvPr>
          <p:cNvSpPr txBox="1"/>
          <p:nvPr/>
        </p:nvSpPr>
        <p:spPr>
          <a:xfrm>
            <a:off x="79088" y="2798058"/>
            <a:ext cx="2016899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Learning Outcomes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History of Linux</a:t>
            </a:r>
            <a:endParaRPr lang="en-US" sz="16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Linux OS features</a:t>
            </a: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2576945" y="139484"/>
            <a:ext cx="4724400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2.1 Distros</a:t>
            </a:r>
            <a:endParaRPr b="1"/>
          </a:p>
        </p:txBody>
      </p:sp>
      <p:sp>
        <p:nvSpPr>
          <p:cNvPr id="110" name="Google Shape;110;p4"/>
          <p:cNvSpPr txBox="1">
            <a:spLocks noGrp="1"/>
          </p:cNvSpPr>
          <p:nvPr>
            <p:ph type="sldNum" idx="12"/>
          </p:nvPr>
        </p:nvSpPr>
        <p:spPr>
          <a:xfrm>
            <a:off x="9358745" y="6408680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12" name="Google Shape;11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4035" y="2275114"/>
            <a:ext cx="6298881" cy="243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1C807C-BADC-AC32-751C-071D09EF393A}"/>
              </a:ext>
            </a:extLst>
          </p:cNvPr>
          <p:cNvSpPr txBox="1"/>
          <p:nvPr/>
        </p:nvSpPr>
        <p:spPr>
          <a:xfrm>
            <a:off x="79088" y="2798058"/>
            <a:ext cx="20168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Learning Outcomes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History of Linux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2.1 Distros</a:t>
            </a:r>
            <a:endParaRPr lang="en-US" sz="16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2.1 Who use Linux?</a:t>
            </a:r>
            <a:endParaRPr lang="en-US" sz="16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Linux OS features</a:t>
            </a: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2649684" y="170657"/>
            <a:ext cx="4724400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2.1  Who use Linux</a:t>
            </a:r>
            <a:endParaRPr b="1"/>
          </a:p>
        </p:txBody>
      </p:sp>
      <p:sp>
        <p:nvSpPr>
          <p:cNvPr id="118" name="Google Shape;118;p5"/>
          <p:cNvSpPr txBox="1">
            <a:spLocks noGrp="1"/>
          </p:cNvSpPr>
          <p:nvPr>
            <p:ph type="sldNum" idx="12"/>
          </p:nvPr>
        </p:nvSpPr>
        <p:spPr>
          <a:xfrm>
            <a:off x="9431484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030684" y="1143000"/>
            <a:ext cx="4572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Big names that use Linux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7009" y="1905000"/>
            <a:ext cx="188595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5" descr="File:Google logo (2010-2013).svg - Wikimedia Common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0384" y="2468638"/>
            <a:ext cx="1651000" cy="80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7184" y="3907600"/>
            <a:ext cx="20574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7010" y="3848100"/>
            <a:ext cx="2176399" cy="21763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89DEEB-64EC-BABD-6C85-C98D9BBD381C}"/>
              </a:ext>
            </a:extLst>
          </p:cNvPr>
          <p:cNvSpPr txBox="1"/>
          <p:nvPr/>
        </p:nvSpPr>
        <p:spPr>
          <a:xfrm>
            <a:off x="79088" y="2798058"/>
            <a:ext cx="20168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Learning Outcomes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History of Linux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2.1 Distros</a:t>
            </a:r>
            <a:endParaRPr lang="en-US" sz="16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2.1 Who use Linux?</a:t>
            </a:r>
            <a:endParaRPr lang="en-US" sz="16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Linux OS features</a:t>
            </a: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>
            <a:spLocks noGrp="1"/>
          </p:cNvSpPr>
          <p:nvPr>
            <p:ph type="title"/>
          </p:nvPr>
        </p:nvSpPr>
        <p:spPr>
          <a:xfrm>
            <a:off x="2795155" y="148125"/>
            <a:ext cx="58860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3. Linux OS features</a:t>
            </a:r>
            <a:endParaRPr/>
          </a:p>
        </p:txBody>
      </p:sp>
      <p:sp>
        <p:nvSpPr>
          <p:cNvPr id="130" name="Google Shape;130;p6"/>
          <p:cNvSpPr txBox="1">
            <a:spLocks noGrp="1"/>
          </p:cNvSpPr>
          <p:nvPr>
            <p:ph type="sldNum" idx="12"/>
          </p:nvPr>
        </p:nvSpPr>
        <p:spPr>
          <a:xfrm>
            <a:off x="9348357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2555671" y="1048671"/>
            <a:ext cx="6498354" cy="843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845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with file system construction; operating system’s all operate in a different manner (ext3) file system</a:t>
            </a:r>
          </a:p>
          <a:p>
            <a:pPr marL="2984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2566557" y="1636002"/>
            <a:ext cx="7085776" cy="179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8450" marR="0" lvl="0" indent="-285750" algn="l" rtl="0">
              <a:lnSpc>
                <a:spcPct val="150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Mostly used in server OS for web servers, database servers, file servers, email servers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98450" marR="0" lvl="0" indent="-285750" algn="l" rtl="0"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This makes the software non-compatible between</a:t>
            </a:r>
          </a:p>
          <a:p>
            <a:pPr marL="12700">
              <a:spcBef>
                <a:spcPts val="290"/>
              </a:spcBef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systems(Windows, Linux)</a:t>
            </a:r>
            <a:endParaRPr lang="en-US" sz="1800" dirty="0"/>
          </a:p>
          <a:p>
            <a:pPr marL="298450" marR="0" lvl="0" indent="-285750" algn="l" rtl="0"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2566557" y="3798332"/>
            <a:ext cx="6498354" cy="2288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625" rIns="0" bIns="0" anchor="t" anchorCtr="0">
            <a:spAutoFit/>
          </a:bodyPr>
          <a:lstStyle/>
          <a:p>
            <a:pPr marL="298450" marR="0" lvl="0" indent="-285750" algn="l" rtl="0">
              <a:spcBef>
                <a:spcPts val="2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 has features like:</a:t>
            </a:r>
            <a:endParaRPr dirty="0"/>
          </a:p>
          <a:p>
            <a:pPr marL="756285" marR="0" lvl="0" indent="-287019" algn="l" rtl="0">
              <a:spcBef>
                <a:spcPts val="195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Arial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Open Source	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availability to all contributors</a:t>
            </a:r>
            <a:endParaRPr dirty="0"/>
          </a:p>
          <a:p>
            <a:pPr marL="756285" marR="0" lvl="0" indent="-287019" algn="l" rtl="0">
              <a:lnSpc>
                <a:spcPct val="113888"/>
              </a:lnSpc>
              <a:spcBef>
                <a:spcPts val="18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Arial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Multi-User environment	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access many resources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0" algn="l" rtl="0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disk/ram/application at same time</a:t>
            </a:r>
            <a:endParaRPr dirty="0"/>
          </a:p>
          <a:p>
            <a:pPr marL="756285" marR="5080" lvl="0" indent="-287019" algn="l" rtl="0">
              <a:lnSpc>
                <a:spcPct val="107722"/>
              </a:lnSpc>
              <a:spcBef>
                <a:spcPts val="43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Arial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Multiprogramming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– multiple applications can run at same  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044886-08F0-1C83-DA62-96DDE5D21E24}"/>
              </a:ext>
            </a:extLst>
          </p:cNvPr>
          <p:cNvSpPr txBox="1"/>
          <p:nvPr/>
        </p:nvSpPr>
        <p:spPr>
          <a:xfrm>
            <a:off x="79089" y="2798058"/>
            <a:ext cx="243551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Learning Outcomes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History of Linux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Linux OS features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Comparison (Windows vs Linux)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C003155F-2D4C-486B-BACA-D70FFAB3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>
            <a:extLst>
              <a:ext uri="{FF2B5EF4-FFF2-40B4-BE49-F238E27FC236}">
                <a16:creationId xmlns:a16="http://schemas.microsoft.com/office/drawing/2014/main" id="{F68268FA-1E2A-3CD3-90A6-4E94510409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95155" y="148125"/>
            <a:ext cx="58860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3. Linux OS features</a:t>
            </a:r>
            <a:endParaRPr/>
          </a:p>
        </p:txBody>
      </p:sp>
      <p:sp>
        <p:nvSpPr>
          <p:cNvPr id="130" name="Google Shape;130;p6">
            <a:extLst>
              <a:ext uri="{FF2B5EF4-FFF2-40B4-BE49-F238E27FC236}">
                <a16:creationId xmlns:a16="http://schemas.microsoft.com/office/drawing/2014/main" id="{3167687F-AF53-7588-64B4-A2E04D5613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348357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34" name="Google Shape;134;p6">
            <a:extLst>
              <a:ext uri="{FF2B5EF4-FFF2-40B4-BE49-F238E27FC236}">
                <a16:creationId xmlns:a16="http://schemas.microsoft.com/office/drawing/2014/main" id="{C63E766A-5F5F-8C95-E5CF-A9B61B9E4E16}"/>
              </a:ext>
            </a:extLst>
          </p:cNvPr>
          <p:cNvSpPr txBox="1"/>
          <p:nvPr/>
        </p:nvSpPr>
        <p:spPr>
          <a:xfrm>
            <a:off x="2514601" y="1209238"/>
            <a:ext cx="6390408" cy="1903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625" rIns="0" bIns="0" anchor="t" anchorCtr="0">
            <a:spAutoFit/>
          </a:bodyPr>
          <a:lstStyle/>
          <a:p>
            <a:pPr marL="756285" marR="0" lvl="0" indent="-287019" algn="l" rtl="0">
              <a:spcBef>
                <a:spcPts val="165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Arial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Standard File System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– Hierarchy of directories and files</a:t>
            </a:r>
            <a:endParaRPr dirty="0"/>
          </a:p>
          <a:p>
            <a:pPr marL="756285" marR="0" lvl="0" indent="-287019" algn="l" rtl="0">
              <a:lnSpc>
                <a:spcPct val="113888"/>
              </a:lnSpc>
              <a:spcBef>
                <a:spcPts val="18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Arial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Security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– authentication protection, controlled access and</a:t>
            </a:r>
            <a:endParaRPr dirty="0"/>
          </a:p>
          <a:p>
            <a:pPr marL="756285" marR="0" lvl="0" indent="0" algn="l" rtl="0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encryption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019" algn="l" rtl="0">
              <a:spcBef>
                <a:spcPts val="185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Arial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Shell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– Command line interpreter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170ADA-4B77-649E-CF10-A3ADBA101C4D}"/>
              </a:ext>
            </a:extLst>
          </p:cNvPr>
          <p:cNvSpPr txBox="1"/>
          <p:nvPr/>
        </p:nvSpPr>
        <p:spPr>
          <a:xfrm>
            <a:off x="79089" y="2798058"/>
            <a:ext cx="243551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Learning Outcomes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History of Linux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Linux OS features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Comparison (Windows vs Linux)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366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>
            <a:spLocks noGrp="1"/>
          </p:cNvSpPr>
          <p:nvPr>
            <p:ph type="title"/>
          </p:nvPr>
        </p:nvSpPr>
        <p:spPr>
          <a:xfrm>
            <a:off x="2608117" y="430264"/>
            <a:ext cx="7392593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 b="1" dirty="0"/>
              <a:t>4. Comparison (Windows vs Linux)</a:t>
            </a:r>
            <a:endParaRPr sz="3600" dirty="0"/>
          </a:p>
        </p:txBody>
      </p:sp>
      <p:sp>
        <p:nvSpPr>
          <p:cNvPr id="141" name="Google Shape;141;p7"/>
          <p:cNvSpPr txBox="1">
            <a:spLocks noGrp="1"/>
          </p:cNvSpPr>
          <p:nvPr>
            <p:ph type="sldNum" idx="12"/>
          </p:nvPr>
        </p:nvSpPr>
        <p:spPr>
          <a:xfrm>
            <a:off x="8610600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2726808" y="5375436"/>
            <a:ext cx="6238942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Result </a:t>
            </a:r>
            <a:r>
              <a:rPr lang="en-US" sz="24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50/50 </a:t>
            </a: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depends on user requirements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43" name="Google Shape;143;p7"/>
          <p:cNvGraphicFramePr/>
          <p:nvPr>
            <p:extLst>
              <p:ext uri="{D42A27DB-BD31-4B8C-83A1-F6EECF244321}">
                <p14:modId xmlns:p14="http://schemas.microsoft.com/office/powerpoint/2010/main" val="1232640863"/>
              </p:ext>
            </p:extLst>
          </p:nvPr>
        </p:nvGraphicFramePr>
        <p:xfrm>
          <a:off x="2726808" y="1484092"/>
          <a:ext cx="6104090" cy="3004783"/>
        </p:xfrm>
        <a:graphic>
          <a:graphicData uri="http://schemas.openxmlformats.org/drawingml/2006/table">
            <a:tbl>
              <a:tblPr firstRow="1" bandRow="1">
                <a:noFill/>
                <a:tableStyleId>{C61DEC03-9E19-4A8A-91A2-E13AE0757FD2}</a:tableStyleId>
              </a:tblPr>
              <a:tblGrid>
                <a:gridCol w="337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254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Topic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549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Linux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549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Windows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549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674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Price (cost)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549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EBEB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549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254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Ease of Use (graphic interface)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549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6F6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549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6F6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549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254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Reliability (up-time)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549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EBEB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549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254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Software (availability)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549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6F6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549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58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Hardware (compatibility)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6072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EBEB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6072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254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Security (vulnerability)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6072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6F6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6072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254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Support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6072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EBEB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</a:t>
                      </a:r>
                      <a:endParaRPr sz="16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36072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D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296396D-4427-E9FA-B98F-4A0A0523F4DB}"/>
              </a:ext>
            </a:extLst>
          </p:cNvPr>
          <p:cNvSpPr txBox="1"/>
          <p:nvPr/>
        </p:nvSpPr>
        <p:spPr>
          <a:xfrm>
            <a:off x="79089" y="2798058"/>
            <a:ext cx="24355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Learning Outcomes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History of Linux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Linux OS features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Comparison (Windows vs Linux)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Using the OS (Linux)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820378" y="370995"/>
            <a:ext cx="5274139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5.Using the OS (Linux)</a:t>
            </a:r>
            <a:endParaRPr dirty="0"/>
          </a:p>
        </p:txBody>
      </p:sp>
      <p:sp>
        <p:nvSpPr>
          <p:cNvPr id="150" name="Google Shape;150;p8"/>
          <p:cNvSpPr txBox="1">
            <a:spLocks noGrp="1"/>
          </p:cNvSpPr>
          <p:nvPr>
            <p:ph type="sldNum" idx="12"/>
          </p:nvPr>
        </p:nvSpPr>
        <p:spPr>
          <a:xfrm>
            <a:off x="9348360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2639290" y="1164299"/>
            <a:ext cx="3917375" cy="5481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659130" lvl="0" indent="0" algn="l" rtl="0">
              <a:lnSpc>
                <a:spcPct val="107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Very (</a:t>
            </a:r>
            <a:r>
              <a:rPr lang="en-US" sz="24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very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 similar to the  Microsoft Windows</a:t>
            </a:r>
            <a:endParaRPr dirty="0"/>
          </a:p>
          <a:p>
            <a:pPr marL="12700" marR="0" lvl="0" indent="0" algn="l" rtl="0"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User Interface 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–</a:t>
            </a:r>
            <a:endParaRPr dirty="0"/>
          </a:p>
          <a:p>
            <a:pPr marL="0" marR="0" lvl="0" indent="0" algn="l" rtl="0">
              <a:spcBef>
                <a:spcPts val="20"/>
              </a:spcBef>
              <a:spcAft>
                <a:spcPts val="0"/>
              </a:spcAft>
              <a:buNone/>
            </a:pPr>
            <a:endParaRPr sz="27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020" algn="l" rtl="0">
              <a:spcBef>
                <a:spcPts val="0"/>
              </a:spcBef>
              <a:spcAft>
                <a:spcPts val="0"/>
              </a:spcAft>
              <a:buClr>
                <a:srgbClr val="99CCCC"/>
              </a:buClr>
              <a:buSzPts val="1700"/>
              <a:buFont typeface="Arial"/>
              <a:buChar char="●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Graphical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020" algn="l" rtl="0">
              <a:spcBef>
                <a:spcPts val="215"/>
              </a:spcBef>
              <a:spcAft>
                <a:spcPts val="0"/>
              </a:spcAft>
              <a:buClr>
                <a:srgbClr val="99CCCC"/>
              </a:buClr>
              <a:buSzPts val="1700"/>
              <a:buFont typeface="Arial"/>
              <a:buChar char="●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 window 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+ mouse)</a:t>
            </a:r>
            <a:endParaRPr dirty="0"/>
          </a:p>
          <a:p>
            <a:pPr marL="756285" marR="0" lvl="0" indent="-287020" algn="l" rtl="0">
              <a:spcBef>
                <a:spcPts val="219"/>
              </a:spcBef>
              <a:spcAft>
                <a:spcPts val="0"/>
              </a:spcAft>
              <a:buClr>
                <a:srgbClr val="99CCCC"/>
              </a:buClr>
              <a:buSzPts val="1700"/>
              <a:buFont typeface="Arial"/>
              <a:buChar char="●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Linux desktop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15"/>
              </a:spcBef>
              <a:spcAft>
                <a:spcPts val="0"/>
              </a:spcAft>
              <a:buClr>
                <a:srgbClr val="99CCCC"/>
              </a:buClr>
              <a:buSzPts val="2700"/>
              <a:buFont typeface="Arial"/>
              <a:buNone/>
            </a:pPr>
            <a:endParaRPr sz="27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020" algn="l" rtl="0">
              <a:spcBef>
                <a:spcPts val="5"/>
              </a:spcBef>
              <a:spcAft>
                <a:spcPts val="0"/>
              </a:spcAft>
              <a:buClr>
                <a:srgbClr val="99CCCC"/>
              </a:buClr>
              <a:buSzPts val="1700"/>
              <a:buFont typeface="Arial"/>
              <a:buChar char="●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Text based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020" algn="l" rtl="0">
              <a:spcBef>
                <a:spcPts val="215"/>
              </a:spcBef>
              <a:spcAft>
                <a:spcPts val="0"/>
              </a:spcAft>
              <a:buClr>
                <a:srgbClr val="99CCCC"/>
              </a:buClr>
              <a:buSzPts val="1700"/>
              <a:buFont typeface="Arial"/>
              <a:buChar char="●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command line 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+ type)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020" algn="l" rtl="0">
              <a:spcBef>
                <a:spcPts val="204"/>
              </a:spcBef>
              <a:spcAft>
                <a:spcPts val="0"/>
              </a:spcAft>
              <a:buClr>
                <a:srgbClr val="99CCCC"/>
              </a:buClr>
              <a:buSzPts val="1700"/>
              <a:buFont typeface="Arial"/>
              <a:buChar char="●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terminal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]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120384" y="3622058"/>
            <a:ext cx="3023616" cy="22814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073140" y="1219200"/>
            <a:ext cx="3070860" cy="23149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902826-4D72-0968-DC67-A539B12D0F51}"/>
              </a:ext>
            </a:extLst>
          </p:cNvPr>
          <p:cNvSpPr txBox="1"/>
          <p:nvPr/>
        </p:nvSpPr>
        <p:spPr>
          <a:xfrm>
            <a:off x="79089" y="2798058"/>
            <a:ext cx="243551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Learning Outcomes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History of Linux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Linux OS features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Comparison (Windows vs Linux)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Using the OS (Linux)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Terminal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>
            <a:spLocks noGrp="1"/>
          </p:cNvSpPr>
          <p:nvPr>
            <p:ph type="title"/>
          </p:nvPr>
        </p:nvSpPr>
        <p:spPr>
          <a:xfrm>
            <a:off x="2935681" y="451438"/>
            <a:ext cx="39720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6. Terminal</a:t>
            </a:r>
            <a:endParaRPr/>
          </a:p>
        </p:txBody>
      </p:sp>
      <p:sp>
        <p:nvSpPr>
          <p:cNvPr id="160" name="Google Shape;160;p9"/>
          <p:cNvSpPr txBox="1">
            <a:spLocks noGrp="1"/>
          </p:cNvSpPr>
          <p:nvPr>
            <p:ph type="sldNum" idx="12"/>
          </p:nvPr>
        </p:nvSpPr>
        <p:spPr>
          <a:xfrm>
            <a:off x="9410703" y="6439853"/>
            <a:ext cx="2910752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2628903" y="1300930"/>
            <a:ext cx="6515097" cy="5173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marR="508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Terminal </a:t>
            </a:r>
            <a:r>
              <a:rPr lang="en-US" sz="2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a command line program which is  pre-installed on Linux</a:t>
            </a:r>
            <a:endParaRPr sz="2200" dirty="0"/>
          </a:p>
          <a:p>
            <a:pPr marL="355600" marR="0" lvl="0" indent="-342900" algn="l" rtl="0"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Allows you to navigate through folders and</a:t>
            </a:r>
            <a:endParaRPr sz="2200" dirty="0"/>
          </a:p>
          <a:p>
            <a:pPr marL="35496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execute files (file and folder management)</a:t>
            </a:r>
            <a:endParaRPr sz="2200" dirty="0"/>
          </a:p>
          <a:p>
            <a:pPr marL="354965" marR="958850" lvl="0" indent="-342900" algn="l" rtl="0"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Gives easy access to add </a:t>
            </a:r>
            <a:r>
              <a:rPr lang="en-US" sz="2200" b="1" u="sng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arguments</a:t>
            </a:r>
            <a:r>
              <a:rPr lang="en-US" sz="22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 executable programs or commands</a:t>
            </a:r>
            <a:endParaRPr sz="2200" dirty="0"/>
          </a:p>
          <a:p>
            <a:pPr marL="756285" marR="0" lvl="0" indent="-287654" algn="l" rtl="0">
              <a:spcBef>
                <a:spcPts val="310"/>
              </a:spcBef>
              <a:spcAft>
                <a:spcPts val="0"/>
              </a:spcAft>
              <a:buClr>
                <a:srgbClr val="99CCCC"/>
              </a:buClr>
              <a:buSzPts val="1100"/>
              <a:buFont typeface="Arial"/>
              <a:buChar char="●"/>
            </a:pP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E.g.</a:t>
            </a: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54965" marR="147955" lvl="0" indent="-342900" algn="l" rtl="0">
              <a:spcBef>
                <a:spcPts val="14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Windows allows you to double click on  executables, some versions of Linux need the  </a:t>
            </a:r>
            <a:r>
              <a:rPr lang="en-US" sz="22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terminal </a:t>
            </a:r>
            <a:r>
              <a:rPr lang="en-US" sz="2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	</a:t>
            </a:r>
            <a:r>
              <a:rPr lang="en-US" sz="22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./nameofprogram.sh</a:t>
            </a:r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3940928" y="4333009"/>
            <a:ext cx="4374214" cy="7360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98328C-7185-146B-E143-8359FB14813C}"/>
              </a:ext>
            </a:extLst>
          </p:cNvPr>
          <p:cNvSpPr txBox="1"/>
          <p:nvPr/>
        </p:nvSpPr>
        <p:spPr>
          <a:xfrm>
            <a:off x="79089" y="2798058"/>
            <a:ext cx="24355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Terminal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How do you Run Linux on Windows ?</a:t>
            </a:r>
          </a:p>
          <a:p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Terminal Command Groups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>
            <a:spLocks noGrp="1"/>
          </p:cNvSpPr>
          <p:nvPr>
            <p:ph type="title"/>
          </p:nvPr>
        </p:nvSpPr>
        <p:spPr>
          <a:xfrm>
            <a:off x="2421089" y="266490"/>
            <a:ext cx="7143750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579755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7. How do you Run Linux Terminal  on Windows?</a:t>
            </a:r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sldNum" idx="12"/>
          </p:nvPr>
        </p:nvSpPr>
        <p:spPr>
          <a:xfrm>
            <a:off x="9660089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5486401" y="3456435"/>
            <a:ext cx="3657599" cy="27157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2976264" y="1665881"/>
            <a:ext cx="5985179" cy="3581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49021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Windows Subsystem for Linux  (WSL)</a:t>
            </a:r>
            <a:endParaRPr sz="2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5080" lvl="0" indent="0" algn="l" rtl="0"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Step 1: </a:t>
            </a: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Enable the Windows Subsystem for  Linux optional feature.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0485" marR="3561079" lvl="0" indent="0" algn="l" rtl="0">
              <a:spcBef>
                <a:spcPts val="919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You can enable it  using the ‘</a:t>
            </a:r>
            <a:r>
              <a:rPr lang="en-US" sz="23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programs  and features</a:t>
            </a:r>
            <a:r>
              <a:rPr lang="en-US" sz="2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’  settings.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204316-8EFF-8BDE-26CE-77A80EC9CDE4}"/>
              </a:ext>
            </a:extLst>
          </p:cNvPr>
          <p:cNvSpPr txBox="1"/>
          <p:nvPr/>
        </p:nvSpPr>
        <p:spPr>
          <a:xfrm>
            <a:off x="79089" y="2798058"/>
            <a:ext cx="24355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Terminal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How do you Run Linux on Windows ?</a:t>
            </a:r>
          </a:p>
          <a:p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Terminal Command Groups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>
            <a:spLocks noGrp="1"/>
          </p:cNvSpPr>
          <p:nvPr>
            <p:ph type="title"/>
          </p:nvPr>
        </p:nvSpPr>
        <p:spPr>
          <a:xfrm>
            <a:off x="2332605" y="-68180"/>
            <a:ext cx="7756965" cy="2044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579755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7. How do you Run Linux Terminal  on Windows? (contd..)f</a:t>
            </a:r>
            <a:endParaRPr dirty="0"/>
          </a:p>
        </p:txBody>
      </p:sp>
      <p:sp>
        <p:nvSpPr>
          <p:cNvPr id="178" name="Google Shape;178;p11"/>
          <p:cNvSpPr txBox="1">
            <a:spLocks noGrp="1"/>
          </p:cNvSpPr>
          <p:nvPr>
            <p:ph type="body" idx="1"/>
          </p:nvPr>
        </p:nvSpPr>
        <p:spPr>
          <a:xfrm>
            <a:off x="2736276" y="2154457"/>
            <a:ext cx="6677888" cy="25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1318260" lvl="0" indent="-12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pc="-150" dirty="0"/>
              <a:t>Windows Subsystem for Linux  (WSL)</a:t>
            </a:r>
            <a:endParaRPr spc="-150" dirty="0"/>
          </a:p>
          <a:p>
            <a:pPr marL="12700" marR="643890" lvl="0" indent="-12700" algn="l" rtl="0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spc="-150" dirty="0"/>
              <a:t>Step 2:</a:t>
            </a:r>
            <a:r>
              <a:rPr lang="en-US" sz="2400" spc="-150" dirty="0">
                <a:latin typeface="Verdana"/>
                <a:ea typeface="Verdana"/>
                <a:cs typeface="Verdana"/>
                <a:sym typeface="Verdana"/>
              </a:rPr>
              <a:t>Enable the Virtual Machine platform  and Install WSL2.</a:t>
            </a:r>
            <a:endParaRPr spc="-150" dirty="0"/>
          </a:p>
          <a:p>
            <a:pPr marL="12700" lvl="0" indent="-12700" algn="l" rtl="0">
              <a:lnSpc>
                <a:spcPct val="9869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 spc="-150" dirty="0">
                <a:latin typeface="Verdana"/>
                <a:ea typeface="Verdana"/>
                <a:cs typeface="Verdana"/>
                <a:sym typeface="Verdana"/>
              </a:rPr>
              <a:t>The virtual machine has to be enabled before</a:t>
            </a:r>
            <a:endParaRPr spc="-150" dirty="0"/>
          </a:p>
          <a:p>
            <a:pPr marL="12700" marR="5080" lvl="0" indent="-127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 spc="-150" dirty="0">
                <a:latin typeface="Verdana"/>
                <a:ea typeface="Verdana"/>
                <a:cs typeface="Verdana"/>
                <a:sym typeface="Verdana"/>
              </a:rPr>
              <a:t>installing WSL, this can be done using the following  command.</a:t>
            </a:r>
            <a:endParaRPr spc="-150" dirty="0"/>
          </a:p>
        </p:txBody>
      </p:sp>
      <p:sp>
        <p:nvSpPr>
          <p:cNvPr id="179" name="Google Shape;179;p11"/>
          <p:cNvSpPr txBox="1">
            <a:spLocks noGrp="1"/>
          </p:cNvSpPr>
          <p:nvPr>
            <p:ph type="sldNum" idx="12"/>
          </p:nvPr>
        </p:nvSpPr>
        <p:spPr>
          <a:xfrm>
            <a:off x="9213276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80" name="Google Shape;180;p11"/>
          <p:cNvSpPr txBox="1"/>
          <p:nvPr/>
        </p:nvSpPr>
        <p:spPr>
          <a:xfrm>
            <a:off x="2613062" y="4820499"/>
            <a:ext cx="6530938" cy="478336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dism.exe /online /enable-feature /</a:t>
            </a:r>
            <a:r>
              <a:rPr lang="en-US" sz="1400" i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featurename:Microsoft-Windows-Subsystem-Linux</a:t>
            </a:r>
            <a:r>
              <a:rPr lang="en-US" sz="1400" i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/all /</a:t>
            </a:r>
            <a:r>
              <a:rPr lang="en-US" sz="1400" i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norestart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3900931" y="5410084"/>
            <a:ext cx="3955200" cy="1227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D420B7-9E23-3637-1F68-A38EE10A6853}"/>
              </a:ext>
            </a:extLst>
          </p:cNvPr>
          <p:cNvSpPr txBox="1"/>
          <p:nvPr/>
        </p:nvSpPr>
        <p:spPr>
          <a:xfrm>
            <a:off x="79089" y="2798058"/>
            <a:ext cx="24355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Terminal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How do you Run Linux on Windows ?</a:t>
            </a:r>
          </a:p>
          <a:p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Terminal Command Groups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>
            <a:spLocks noGrp="1"/>
          </p:cNvSpPr>
          <p:nvPr>
            <p:ph type="title"/>
          </p:nvPr>
        </p:nvSpPr>
        <p:spPr>
          <a:xfrm>
            <a:off x="2268894" y="316694"/>
            <a:ext cx="7886700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579755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7. How do you Run Linux Terminal  on Windows? (contd..)</a:t>
            </a:r>
            <a:endParaRPr/>
          </a:p>
        </p:txBody>
      </p:sp>
      <p:sp>
        <p:nvSpPr>
          <p:cNvPr id="188" name="Google Shape;188;p12"/>
          <p:cNvSpPr txBox="1">
            <a:spLocks noGrp="1"/>
          </p:cNvSpPr>
          <p:nvPr>
            <p:ph type="sldNum" idx="12"/>
          </p:nvPr>
        </p:nvSpPr>
        <p:spPr>
          <a:xfrm>
            <a:off x="9452269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89" name="Google Shape;189;p12"/>
          <p:cNvSpPr txBox="1"/>
          <p:nvPr/>
        </p:nvSpPr>
        <p:spPr>
          <a:xfrm>
            <a:off x="2822869" y="1907796"/>
            <a:ext cx="7010400" cy="3755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114173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Windows Subsystem for Linux  (WSL)</a:t>
            </a:r>
            <a:endParaRPr sz="29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5080" lvl="0" indent="0" algn="l" rtl="0"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Open </a:t>
            </a:r>
            <a:r>
              <a:rPr lang="en-US" sz="2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Powershell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or command-prompt </a:t>
            </a:r>
          </a:p>
          <a:p>
            <a:pPr marL="12700" marR="5080" lvl="0" indent="0" algn="l" rtl="0"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 write  the following command.</a:t>
            </a:r>
            <a:endParaRPr dirty="0"/>
          </a:p>
          <a:p>
            <a:pPr marL="12700" marR="0" lvl="0" indent="0" algn="l" rtl="0">
              <a:spcBef>
                <a:spcPts val="465"/>
              </a:spcBef>
              <a:spcAft>
                <a:spcPts val="0"/>
              </a:spcAft>
              <a:buNone/>
            </a:pPr>
            <a:r>
              <a:rPr lang="en-US" sz="23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wsl</a:t>
            </a:r>
            <a:r>
              <a:rPr lang="en-US" sz="23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--install</a:t>
            </a:r>
            <a:endParaRPr sz="23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3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wsl</a:t>
            </a:r>
            <a:r>
              <a:rPr lang="en-US" sz="23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--set-default-version 2</a:t>
            </a:r>
            <a:endParaRPr dirty="0"/>
          </a:p>
          <a:p>
            <a:pPr marL="12700" marR="1614170" lvl="0" indent="0" algn="l" rtl="0">
              <a:spcBef>
                <a:spcPts val="969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Step 3: 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Download and Install a Linux  distribution from Microsoft Store.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2692240" y="5608521"/>
            <a:ext cx="4232148" cy="109118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3568A6-5111-EF69-93B6-664418090994}"/>
              </a:ext>
            </a:extLst>
          </p:cNvPr>
          <p:cNvSpPr txBox="1"/>
          <p:nvPr/>
        </p:nvSpPr>
        <p:spPr>
          <a:xfrm>
            <a:off x="79089" y="2798058"/>
            <a:ext cx="24355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Terminal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How do you Run Linux on Windows ?</a:t>
            </a:r>
          </a:p>
          <a:p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Terminal Command Groups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C09E73B4-870F-40DE-1D15-9C1CF2372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>
            <a:extLst>
              <a:ext uri="{FF2B5EF4-FFF2-40B4-BE49-F238E27FC236}">
                <a16:creationId xmlns:a16="http://schemas.microsoft.com/office/drawing/2014/main" id="{5FCD7CBE-9E4B-C56B-855C-C4C17E67F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91693" y="182118"/>
            <a:ext cx="6487389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8. Terminal Command Groups</a:t>
            </a:r>
            <a:endParaRPr dirty="0"/>
          </a:p>
        </p:txBody>
      </p:sp>
      <p:sp>
        <p:nvSpPr>
          <p:cNvPr id="197" name="Google Shape;197;p13">
            <a:extLst>
              <a:ext uri="{FF2B5EF4-FFF2-40B4-BE49-F238E27FC236}">
                <a16:creationId xmlns:a16="http://schemas.microsoft.com/office/drawing/2014/main" id="{E5DB3184-49E5-16EF-2EBE-ABF3211C29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21093" y="6980180"/>
            <a:ext cx="2375427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98" name="Google Shape;198;p13">
            <a:extLst>
              <a:ext uri="{FF2B5EF4-FFF2-40B4-BE49-F238E27FC236}">
                <a16:creationId xmlns:a16="http://schemas.microsoft.com/office/drawing/2014/main" id="{3872EDCA-BFC3-20AB-0EBF-5ED63B3CAFC2}"/>
              </a:ext>
            </a:extLst>
          </p:cNvPr>
          <p:cNvSpPr txBox="1"/>
          <p:nvPr/>
        </p:nvSpPr>
        <p:spPr>
          <a:xfrm>
            <a:off x="2791693" y="1620339"/>
            <a:ext cx="6004550" cy="2774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Terminal Navigation Commands –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5080" lvl="0" indent="-287019" algn="l" rtl="0">
              <a:spcBef>
                <a:spcPts val="40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Arial"/>
              <a:buChar char="●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These commands help the user navigate the system.  No amount of terminal knowledge will help you if you  can’t change directories or get help on a command you  don’t remember how to use.</a:t>
            </a:r>
            <a:endParaRPr dirty="0"/>
          </a:p>
          <a:p>
            <a:pPr marL="1270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Management Commands –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1D4F8A-5A65-838A-562A-2677918B2D64}"/>
              </a:ext>
            </a:extLst>
          </p:cNvPr>
          <p:cNvSpPr txBox="1"/>
          <p:nvPr/>
        </p:nvSpPr>
        <p:spPr>
          <a:xfrm>
            <a:off x="79089" y="2798058"/>
            <a:ext cx="243551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Terminal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How do you Run Linux on Windows ?</a:t>
            </a:r>
          </a:p>
          <a:p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Terminal Command Groups</a:t>
            </a:r>
          </a:p>
          <a:p>
            <a:r>
              <a:rPr lang="en-US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9. Terminal Navigation Commands (some)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67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>
            <a:spLocks noGrp="1"/>
          </p:cNvSpPr>
          <p:nvPr>
            <p:ph type="sldNum" idx="12"/>
          </p:nvPr>
        </p:nvSpPr>
        <p:spPr>
          <a:xfrm>
            <a:off x="8610600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98" name="Google Shape;198;p13"/>
          <p:cNvSpPr txBox="1"/>
          <p:nvPr/>
        </p:nvSpPr>
        <p:spPr>
          <a:xfrm>
            <a:off x="2722419" y="1589167"/>
            <a:ext cx="6151418" cy="346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Management Commands –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147955" lvl="0" indent="-287019" algn="l" rtl="0">
              <a:spcBef>
                <a:spcPts val="40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Arial"/>
              <a:buChar char="●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Most Linux distributions	come with a graphical  desktop environment — but for complicated tasks, it’s  often easier and faster to use the command line.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26464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6666"/>
                </a:solidFill>
                <a:latin typeface="Arial"/>
                <a:ea typeface="Arial"/>
                <a:cs typeface="Arial"/>
                <a:sym typeface="Arial"/>
              </a:rPr>
              <a:t>⚪ </a:t>
            </a:r>
            <a:r>
              <a:rPr lang="en-US" sz="1500" i="1" dirty="0">
                <a:solidFill>
                  <a:srgbClr val="3B7777"/>
                </a:solidFill>
                <a:latin typeface="Verdana"/>
                <a:ea typeface="Verdana"/>
                <a:cs typeface="Verdana"/>
                <a:sym typeface="Verdana"/>
              </a:rPr>
              <a:t>$ tar </a:t>
            </a:r>
            <a:r>
              <a:rPr lang="en-US" sz="1500" i="1" dirty="0" err="1">
                <a:solidFill>
                  <a:srgbClr val="3B7777"/>
                </a:solidFill>
                <a:latin typeface="Verdana"/>
                <a:ea typeface="Verdana"/>
                <a:cs typeface="Verdana"/>
                <a:sym typeface="Verdana"/>
              </a:rPr>
              <a:t>xvzf</a:t>
            </a:r>
            <a:r>
              <a:rPr lang="en-US" sz="1500" i="1" dirty="0">
                <a:solidFill>
                  <a:srgbClr val="3B7777"/>
                </a:solidFill>
                <a:latin typeface="Verdana"/>
                <a:ea typeface="Verdana"/>
                <a:cs typeface="Verdana"/>
                <a:sym typeface="Verdana"/>
              </a:rPr>
              <a:t> file.tar.gz -C /path/to/</a:t>
            </a:r>
            <a:r>
              <a:rPr lang="en-US" sz="1500" i="1" dirty="0" err="1">
                <a:solidFill>
                  <a:srgbClr val="3B7777"/>
                </a:solidFill>
                <a:latin typeface="Verdana"/>
                <a:ea typeface="Verdana"/>
                <a:cs typeface="Verdana"/>
                <a:sym typeface="Verdana"/>
              </a:rPr>
              <a:t>somedirectory</a:t>
            </a:r>
            <a:endParaRPr sz="15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505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System Management Commands –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654" algn="l" rtl="0">
              <a:spcBef>
                <a:spcPts val="395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Arial"/>
              <a:buChar char="●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These time-tested commands tend to offer a lot more</a:t>
            </a:r>
            <a:endParaRPr dirty="0"/>
          </a:p>
          <a:p>
            <a:pPr marL="75628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power in terms of what you can do.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826E4B-F524-B9E6-5740-231ECB170492}"/>
              </a:ext>
            </a:extLst>
          </p:cNvPr>
          <p:cNvSpPr txBox="1"/>
          <p:nvPr/>
        </p:nvSpPr>
        <p:spPr>
          <a:xfrm>
            <a:off x="79089" y="2798058"/>
            <a:ext cx="243551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Terminal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How do you Run Linux on Windows ?</a:t>
            </a:r>
          </a:p>
          <a:p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Terminal Command Groups</a:t>
            </a:r>
          </a:p>
          <a:p>
            <a:r>
              <a:rPr lang="en-US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9. Terminal Navigation Commands (some)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  <p:sp>
        <p:nvSpPr>
          <p:cNvPr id="5" name="Google Shape;196;p13">
            <a:extLst>
              <a:ext uri="{FF2B5EF4-FFF2-40B4-BE49-F238E27FC236}">
                <a16:creationId xmlns:a16="http://schemas.microsoft.com/office/drawing/2014/main" id="{D4B21959-1321-844E-AA99-F3F62048FD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91693" y="182118"/>
            <a:ext cx="6487389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8. Terminal Command Groups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>
            <a:spLocks noGrp="1"/>
          </p:cNvSpPr>
          <p:nvPr>
            <p:ph type="title"/>
          </p:nvPr>
        </p:nvSpPr>
        <p:spPr>
          <a:xfrm>
            <a:off x="2433207" y="47537"/>
            <a:ext cx="7410450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579755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9.Terminal Navigation Commands  (some)</a:t>
            </a:r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ldNum" idx="12"/>
          </p:nvPr>
        </p:nvSpPr>
        <p:spPr>
          <a:xfrm>
            <a:off x="9462657" y="6180078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06" name="Google Shape;206;p14"/>
          <p:cNvSpPr txBox="1"/>
          <p:nvPr/>
        </p:nvSpPr>
        <p:spPr>
          <a:xfrm>
            <a:off x="2727451" y="1378653"/>
            <a:ext cx="6811409" cy="105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355600" marR="5080" lvl="0" indent="-342900" algn="l" rtl="0">
              <a:lnSpc>
                <a:spcPct val="12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ls </a:t>
            </a: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[No arguments needed] – list current directory  (folder) content with highlighting (files and  folders) e.g.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2633930" y="3893333"/>
            <a:ext cx="7410450" cy="264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655570" marR="2498725" lvl="0" indent="1269" algn="l" rtl="0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[ NB// blue = folder name ] </a:t>
            </a: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655570" marR="2498725" lvl="0" indent="1269" algn="l" rtl="0">
              <a:lnSpc>
                <a:spcPct val="1157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[white = file name	]</a:t>
            </a:r>
            <a:endParaRPr sz="245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pwd</a:t>
            </a:r>
            <a:r>
              <a:rPr lang="en-US" sz="18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– current directory (absolute address)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cd “</a:t>
            </a:r>
            <a:r>
              <a:rPr lang="en-US" sz="18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NameOfFolder</a:t>
            </a:r>
            <a:r>
              <a:rPr lang="en-US" sz="18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”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– change directory (folder)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lnSpc>
                <a:spcPct val="151944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man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Displays a help page (manual), very useful </a:t>
            </a:r>
          </a:p>
          <a:p>
            <a:pPr marL="12700" marR="0" lvl="0" indent="0" algn="l" rtl="0">
              <a:lnSpc>
                <a:spcPct val="151944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learning how to use a command.</a:t>
            </a:r>
            <a:endParaRPr dirty="0"/>
          </a:p>
        </p:txBody>
      </p:sp>
      <p:grpSp>
        <p:nvGrpSpPr>
          <p:cNvPr id="208" name="Google Shape;208;p14"/>
          <p:cNvGrpSpPr/>
          <p:nvPr/>
        </p:nvGrpSpPr>
        <p:grpSpPr>
          <a:xfrm>
            <a:off x="3290461" y="2251488"/>
            <a:ext cx="5301403" cy="1531493"/>
            <a:chOff x="1908048" y="2473579"/>
            <a:chExt cx="6016752" cy="1531493"/>
          </a:xfrm>
        </p:grpSpPr>
        <p:sp>
          <p:nvSpPr>
            <p:cNvPr id="209" name="Google Shape;209;p14"/>
            <p:cNvSpPr/>
            <p:nvPr/>
          </p:nvSpPr>
          <p:spPr>
            <a:xfrm>
              <a:off x="1908048" y="3069336"/>
              <a:ext cx="6016752" cy="93573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7236713" y="3021330"/>
              <a:ext cx="576580" cy="360045"/>
            </a:xfrm>
            <a:custGeom>
              <a:avLst/>
              <a:gdLst/>
              <a:ahLst/>
              <a:cxnLst/>
              <a:rect l="l" t="t" r="r" b="b"/>
              <a:pathLst>
                <a:path w="576579" h="360045" extrusionOk="0">
                  <a:moveTo>
                    <a:pt x="576072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576072" y="359663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33CCCC">
                <a:alpha val="12156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7236713" y="3021330"/>
              <a:ext cx="576580" cy="360045"/>
            </a:xfrm>
            <a:custGeom>
              <a:avLst/>
              <a:gdLst/>
              <a:ahLst/>
              <a:cxnLst/>
              <a:rect l="l" t="t" r="r" b="b"/>
              <a:pathLst>
                <a:path w="576579" h="360045" extrusionOk="0">
                  <a:moveTo>
                    <a:pt x="0" y="359663"/>
                  </a:moveTo>
                  <a:lnTo>
                    <a:pt x="576072" y="359663"/>
                  </a:lnTo>
                  <a:lnTo>
                    <a:pt x="576072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</a:pathLst>
            </a:custGeom>
            <a:noFill/>
            <a:ln w="25900" cap="flat" cmpd="sng">
              <a:solidFill>
                <a:srgbClr val="22949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3130169" y="2473579"/>
              <a:ext cx="4106545" cy="589915"/>
            </a:xfrm>
            <a:custGeom>
              <a:avLst/>
              <a:gdLst/>
              <a:ahLst/>
              <a:cxnLst/>
              <a:rect l="l" t="t" r="r" b="b"/>
              <a:pathLst>
                <a:path w="4106545" h="589914" extrusionOk="0">
                  <a:moveTo>
                    <a:pt x="4015423" y="555140"/>
                  </a:moveTo>
                  <a:lnTo>
                    <a:pt x="3985386" y="589661"/>
                  </a:lnTo>
                  <a:lnTo>
                    <a:pt x="4079508" y="556768"/>
                  </a:lnTo>
                  <a:lnTo>
                    <a:pt x="4028058" y="556768"/>
                  </a:lnTo>
                  <a:lnTo>
                    <a:pt x="4015423" y="555140"/>
                  </a:lnTo>
                  <a:close/>
                </a:path>
                <a:path w="4106545" h="589914" extrusionOk="0">
                  <a:moveTo>
                    <a:pt x="4020297" y="517284"/>
                  </a:moveTo>
                  <a:lnTo>
                    <a:pt x="4030472" y="537845"/>
                  </a:lnTo>
                  <a:lnTo>
                    <a:pt x="4015423" y="555140"/>
                  </a:lnTo>
                  <a:lnTo>
                    <a:pt x="4028058" y="556768"/>
                  </a:lnTo>
                  <a:lnTo>
                    <a:pt x="4033011" y="518922"/>
                  </a:lnTo>
                  <a:lnTo>
                    <a:pt x="4020297" y="517284"/>
                  </a:lnTo>
                  <a:close/>
                </a:path>
                <a:path w="4106545" h="589914" extrusionOk="0">
                  <a:moveTo>
                    <a:pt x="3999991" y="476250"/>
                  </a:moveTo>
                  <a:lnTo>
                    <a:pt x="4020297" y="517284"/>
                  </a:lnTo>
                  <a:lnTo>
                    <a:pt x="4033011" y="518922"/>
                  </a:lnTo>
                  <a:lnTo>
                    <a:pt x="4028058" y="556768"/>
                  </a:lnTo>
                  <a:lnTo>
                    <a:pt x="4079508" y="556768"/>
                  </a:lnTo>
                  <a:lnTo>
                    <a:pt x="4106036" y="547497"/>
                  </a:lnTo>
                  <a:lnTo>
                    <a:pt x="3999991" y="476250"/>
                  </a:lnTo>
                  <a:close/>
                </a:path>
                <a:path w="4106545" h="589914" extrusionOk="0">
                  <a:moveTo>
                    <a:pt x="4825" y="0"/>
                  </a:moveTo>
                  <a:lnTo>
                    <a:pt x="0" y="37846"/>
                  </a:lnTo>
                  <a:lnTo>
                    <a:pt x="4015423" y="555140"/>
                  </a:lnTo>
                  <a:lnTo>
                    <a:pt x="4030472" y="537845"/>
                  </a:lnTo>
                  <a:lnTo>
                    <a:pt x="4020297" y="517284"/>
                  </a:lnTo>
                  <a:lnTo>
                    <a:pt x="4825" y="0"/>
                  </a:lnTo>
                  <a:close/>
                </a:path>
              </a:pathLst>
            </a:custGeom>
            <a:solidFill>
              <a:srgbClr val="2DCAC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946CC88-9952-5A55-18AB-B8764E401240}"/>
              </a:ext>
            </a:extLst>
          </p:cNvPr>
          <p:cNvSpPr txBox="1"/>
          <p:nvPr/>
        </p:nvSpPr>
        <p:spPr>
          <a:xfrm>
            <a:off x="79089" y="2798058"/>
            <a:ext cx="24355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9. Terminal Navigation Commands (some)</a:t>
            </a:r>
          </a:p>
          <a:p>
            <a:r>
              <a:rPr lang="en-US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10. File Management Commands (some)</a:t>
            </a:r>
          </a:p>
          <a:p>
            <a:r>
              <a:rPr lang="en-US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11. Permissions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"/>
          <p:cNvSpPr txBox="1">
            <a:spLocks noGrp="1"/>
          </p:cNvSpPr>
          <p:nvPr>
            <p:ph type="title"/>
          </p:nvPr>
        </p:nvSpPr>
        <p:spPr>
          <a:xfrm>
            <a:off x="2083428" y="255335"/>
            <a:ext cx="7886700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579755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10. File Management Commands  (some)</a:t>
            </a:r>
            <a:endParaRPr dirty="0"/>
          </a:p>
        </p:txBody>
      </p:sp>
      <p:sp>
        <p:nvSpPr>
          <p:cNvPr id="220" name="Google Shape;220;p15"/>
          <p:cNvSpPr txBox="1"/>
          <p:nvPr/>
        </p:nvSpPr>
        <p:spPr>
          <a:xfrm>
            <a:off x="2677399" y="1612522"/>
            <a:ext cx="6851167" cy="500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1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mkdir</a:t>
            </a: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– make directory (folder)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rmdir</a:t>
            </a: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– remove directory (folder)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lnSpc>
                <a:spcPct val="13675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cat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When used on a single text file, it will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54965" marR="0" lvl="0" indent="0" algn="l" rtl="0">
              <a:lnSpc>
                <a:spcPct val="136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display the contents of that file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219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cp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Makes a copy of a file (same directory)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54965" marR="5080" lvl="0" indent="-342900" algn="l" rtl="0">
              <a:lnSpc>
                <a:spcPct val="1295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find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Searches to find files that match a given</a:t>
            </a:r>
          </a:p>
          <a:p>
            <a:pPr marL="354965" marR="5080" lvl="0" indent="-342900" algn="l" rtl="0">
              <a:lnSpc>
                <a:spcPct val="1295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set of criteria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mv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Moves a file (source to target)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rename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Changes the name of a file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rm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Removes a file(s) that match a criteria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54965" marR="466090" lvl="0" indent="-342900" algn="l" rtl="0">
              <a:lnSpc>
                <a:spcPct val="1295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zip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Various formats for  compressing and decompressing file archives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Changes permissions (file / folder)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CDAF7A-7AFD-F106-ACC1-0D27F4A91EC7}"/>
              </a:ext>
            </a:extLst>
          </p:cNvPr>
          <p:cNvSpPr txBox="1"/>
          <p:nvPr/>
        </p:nvSpPr>
        <p:spPr>
          <a:xfrm>
            <a:off x="79089" y="2798058"/>
            <a:ext cx="24355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9. Terminal Navigation Commands (some)</a:t>
            </a:r>
          </a:p>
          <a:p>
            <a:r>
              <a:rPr lang="en-US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10. File Management Commands (some)</a:t>
            </a:r>
          </a:p>
          <a:p>
            <a:r>
              <a:rPr lang="en-US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11. Permissions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 txBox="1">
            <a:spLocks noGrp="1"/>
          </p:cNvSpPr>
          <p:nvPr>
            <p:ph type="title"/>
          </p:nvPr>
        </p:nvSpPr>
        <p:spPr>
          <a:xfrm>
            <a:off x="2696849" y="131525"/>
            <a:ext cx="61563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11. Permissions</a:t>
            </a:r>
            <a:endParaRPr/>
          </a:p>
        </p:txBody>
      </p:sp>
      <p:sp>
        <p:nvSpPr>
          <p:cNvPr id="228" name="Google Shape;228;p16"/>
          <p:cNvSpPr txBox="1"/>
          <p:nvPr/>
        </p:nvSpPr>
        <p:spPr>
          <a:xfrm>
            <a:off x="2570021" y="738397"/>
            <a:ext cx="8007924" cy="5345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125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6666"/>
                </a:solidFill>
                <a:latin typeface="Arial"/>
                <a:ea typeface="Arial"/>
                <a:cs typeface="Arial"/>
                <a:sym typeface="Arial"/>
              </a:rPr>
              <a:t>⚪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By default Linux applies permissions to files </a:t>
            </a:r>
          </a:p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(and folders)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6666"/>
                </a:solidFill>
                <a:latin typeface="Arial"/>
                <a:ea typeface="Arial"/>
                <a:cs typeface="Arial"/>
                <a:sym typeface="Arial"/>
              </a:rPr>
              <a:t>⚪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There are 3 types of permissions, read, write and </a:t>
            </a:r>
          </a:p>
          <a:p>
            <a:pPr marL="12700" marR="0" lvl="0" indent="0" algn="l" rtl="0"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execute</a:t>
            </a:r>
            <a:endParaRPr dirty="0"/>
          </a:p>
          <a:p>
            <a:pPr marL="127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6666"/>
                </a:solidFill>
                <a:latin typeface="Arial"/>
                <a:ea typeface="Arial"/>
                <a:cs typeface="Arial"/>
                <a:sym typeface="Arial"/>
              </a:rPr>
              <a:t>⚪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Numerically values can be represented as:</a:t>
            </a:r>
            <a:endParaRPr lang="en-US" dirty="0"/>
          </a:p>
          <a:p>
            <a:pPr marL="469265" marR="0" lvl="0" indent="0" algn="l" rtl="0">
              <a:spcBef>
                <a:spcPts val="305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0 = No Permission, 1 = Execute, 2 = Write, 4 =Read</a:t>
            </a:r>
          </a:p>
          <a:p>
            <a:pPr marL="12700" marR="0" lvl="0" indent="0" algn="l" rtl="0"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6666"/>
                </a:solidFill>
                <a:latin typeface="Arial"/>
                <a:ea typeface="Arial"/>
                <a:cs typeface="Arial"/>
                <a:sym typeface="Arial"/>
              </a:rPr>
              <a:t>⚪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can use </a:t>
            </a:r>
            <a:r>
              <a:rPr lang="en-US" sz="1800" b="1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8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change mode (permissions)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265" marR="3644265" lvl="0" indent="0" algn="l" rtl="0"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400 </a:t>
            </a:r>
            <a:r>
              <a:rPr lang="en-US" sz="18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Read by user  </a:t>
            </a:r>
            <a:r>
              <a:rPr lang="en-US" sz="18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040 </a:t>
            </a:r>
            <a:r>
              <a:rPr lang="en-US" sz="18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Read by group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26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004 </a:t>
            </a:r>
            <a:r>
              <a:rPr lang="en-US" sz="18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Read by other (World )</a:t>
            </a:r>
            <a:endParaRPr dirty="0"/>
          </a:p>
          <a:p>
            <a:pPr marL="0" marR="0" lvl="0" indent="0" algn="l" rtl="0">
              <a:spcBef>
                <a:spcPts val="35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265" marR="360552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200 </a:t>
            </a:r>
            <a:r>
              <a:rPr lang="en-US" sz="18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Write by user  </a:t>
            </a:r>
            <a:r>
              <a:rPr lang="en-US" sz="18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020 </a:t>
            </a:r>
            <a:r>
              <a:rPr lang="en-US" sz="18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Write by group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26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002 </a:t>
            </a:r>
            <a:r>
              <a:rPr lang="en-US" sz="18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Write by other (World)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35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265" marR="332105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100 </a:t>
            </a:r>
            <a:r>
              <a:rPr lang="en-US" sz="18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execute by user  </a:t>
            </a:r>
            <a:r>
              <a:rPr lang="en-US" sz="18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010 </a:t>
            </a:r>
            <a:r>
              <a:rPr lang="en-US" sz="18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execute by group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26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001 </a:t>
            </a:r>
            <a:r>
              <a:rPr lang="en-US" sz="18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execute by other (World)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7A9A7A-F529-1FD7-CAAF-338821B64CD1}"/>
              </a:ext>
            </a:extLst>
          </p:cNvPr>
          <p:cNvSpPr txBox="1"/>
          <p:nvPr/>
        </p:nvSpPr>
        <p:spPr>
          <a:xfrm>
            <a:off x="79089" y="2798058"/>
            <a:ext cx="24355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9. Terminal Navigation Commands (some)</a:t>
            </a:r>
          </a:p>
          <a:p>
            <a:r>
              <a:rPr lang="en-US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10. File Management Commands (some)</a:t>
            </a:r>
          </a:p>
          <a:p>
            <a:r>
              <a:rPr lang="en-US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11. Permissions</a:t>
            </a:r>
            <a:endParaRPr lang="en-US" sz="16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 txBox="1">
            <a:spLocks noGrp="1"/>
          </p:cNvSpPr>
          <p:nvPr>
            <p:ph type="title"/>
          </p:nvPr>
        </p:nvSpPr>
        <p:spPr>
          <a:xfrm>
            <a:off x="2863396" y="-89761"/>
            <a:ext cx="4602480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11.1 Changing Permissions</a:t>
            </a:r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type="sldNum" idx="12"/>
          </p:nvPr>
        </p:nvSpPr>
        <p:spPr>
          <a:xfrm>
            <a:off x="9618526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2603620" y="1143004"/>
            <a:ext cx="8296443" cy="484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example : </a:t>
            </a:r>
            <a:r>
              <a:rPr lang="en-US" sz="2400" b="1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700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Sum the value (by </a:t>
            </a:r>
            <a:r>
              <a:rPr lang="en-US" sz="20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collective;owner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group, world)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5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422021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4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400 </a:t>
            </a:r>
            <a:r>
              <a:rPr lang="en-US" sz="1400" i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4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- Read by user  </a:t>
            </a:r>
          </a:p>
          <a:p>
            <a:pPr marL="469900" marR="422021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040 </a:t>
            </a:r>
            <a:r>
              <a:rPr lang="en-US" sz="14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Read </a:t>
            </a:r>
            <a:r>
              <a:rPr lang="en-US" sz="1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bygroup</a:t>
            </a:r>
            <a:endParaRPr sz="1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004 </a:t>
            </a:r>
            <a:r>
              <a:rPr lang="en-US" sz="14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Read by other (World)</a:t>
            </a:r>
            <a:endParaRPr dirty="0"/>
          </a:p>
          <a:p>
            <a:pPr marL="0" marR="0" lvl="0" indent="0" algn="l" rtl="0">
              <a:spcBef>
                <a:spcPts val="40"/>
              </a:spcBef>
              <a:spcAft>
                <a:spcPts val="0"/>
              </a:spcAft>
              <a:buNone/>
            </a:pPr>
            <a:endParaRPr sz="135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418909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4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200 </a:t>
            </a:r>
            <a:r>
              <a:rPr lang="en-US" sz="1400" i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4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- Write by user  </a:t>
            </a:r>
          </a:p>
          <a:p>
            <a:pPr marL="469900" marR="418909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020 </a:t>
            </a:r>
            <a:r>
              <a:rPr lang="en-US" sz="14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Write by group</a:t>
            </a:r>
            <a:endParaRPr sz="1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002 </a:t>
            </a:r>
            <a:r>
              <a:rPr lang="en-US" sz="14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Write by other (World)</a:t>
            </a:r>
            <a:endParaRPr sz="1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spcBef>
                <a:spcPts val="40"/>
              </a:spcBef>
              <a:spcAft>
                <a:spcPts val="0"/>
              </a:spcAft>
              <a:buNone/>
            </a:pPr>
            <a:endParaRPr sz="135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397002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4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100 </a:t>
            </a:r>
            <a:r>
              <a:rPr lang="en-US" sz="1400" i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4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- execute by user  </a:t>
            </a:r>
          </a:p>
          <a:p>
            <a:pPr marL="469900" marR="397002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010 </a:t>
            </a:r>
            <a:r>
              <a:rPr lang="en-US" sz="14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execute by group</a:t>
            </a:r>
            <a:endParaRPr sz="1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001 </a:t>
            </a:r>
            <a:r>
              <a:rPr lang="en-US" sz="1400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 </a:t>
            </a:r>
            <a:r>
              <a:rPr lang="en-US" sz="1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execute by other (World)</a:t>
            </a:r>
            <a:endParaRPr dirty="0"/>
          </a:p>
          <a:p>
            <a:pPr marL="0" marR="0" lvl="0" indent="0" algn="l" rtl="0">
              <a:spcBef>
                <a:spcPts val="5"/>
              </a:spcBef>
              <a:spcAft>
                <a:spcPts val="0"/>
              </a:spcAft>
              <a:buNone/>
            </a:pPr>
            <a:endParaRPr sz="195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So; 400 + 200 + 100 = 700</a:t>
            </a:r>
            <a:endParaRPr dirty="0"/>
          </a:p>
          <a:p>
            <a:pPr marL="12700" marR="0" lvl="0" indent="0" algn="l" rtl="0"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Thus;700 means </a:t>
            </a: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Read/Write/Execute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by </a:t>
            </a: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USER</a:t>
            </a:r>
          </a:p>
          <a:p>
            <a:pPr marL="12700" marR="0" lvl="0" indent="0" algn="l" rtl="0"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only 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[ </a:t>
            </a:r>
            <a:r>
              <a:rPr lang="en-US" sz="18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chmod</a:t>
            </a: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777 = give full access to everyone ]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166F99-CEF2-6235-633C-98EDCA801170}"/>
              </a:ext>
            </a:extLst>
          </p:cNvPr>
          <p:cNvSpPr txBox="1"/>
          <p:nvPr/>
        </p:nvSpPr>
        <p:spPr>
          <a:xfrm>
            <a:off x="79089" y="2798058"/>
            <a:ext cx="243551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11. Permissions</a:t>
            </a:r>
          </a:p>
          <a:p>
            <a:r>
              <a:rPr lang="en-US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11.1. Changing Permissions</a:t>
            </a:r>
          </a:p>
          <a:p>
            <a:r>
              <a:rPr lang="en-US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11.2 Viewing Permissions</a:t>
            </a:r>
            <a:endParaRPr lang="en-US"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>
            <a:spLocks noGrp="1"/>
          </p:cNvSpPr>
          <p:nvPr>
            <p:ph type="title"/>
          </p:nvPr>
        </p:nvSpPr>
        <p:spPr>
          <a:xfrm>
            <a:off x="2587291" y="151650"/>
            <a:ext cx="72537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11.2 Viewing Permissions</a:t>
            </a:r>
            <a:endParaRPr/>
          </a:p>
        </p:txBody>
      </p:sp>
      <p:sp>
        <p:nvSpPr>
          <p:cNvPr id="243" name="Google Shape;243;p18"/>
          <p:cNvSpPr txBox="1">
            <a:spLocks noGrp="1"/>
          </p:cNvSpPr>
          <p:nvPr>
            <p:ph type="sldNum" idx="12"/>
          </p:nvPr>
        </p:nvSpPr>
        <p:spPr>
          <a:xfrm>
            <a:off x="9369141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2287761" y="841649"/>
            <a:ext cx="6085560" cy="147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225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6666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letters represent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019" algn="l" rtl="0">
              <a:spcBef>
                <a:spcPts val="300"/>
              </a:spcBef>
              <a:spcAft>
                <a:spcPts val="0"/>
              </a:spcAft>
              <a:buClr>
                <a:srgbClr val="99CCCC"/>
              </a:buClr>
              <a:buSzPts val="1100"/>
              <a:buFont typeface="Arial"/>
              <a:buChar char="●"/>
            </a:pPr>
            <a:r>
              <a:rPr lang="en-US" sz="1600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Read permissions. (opened and viewed)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019" algn="l" rtl="0">
              <a:spcBef>
                <a:spcPts val="300"/>
              </a:spcBef>
              <a:spcAft>
                <a:spcPts val="0"/>
              </a:spcAft>
              <a:buClr>
                <a:srgbClr val="99CCCC"/>
              </a:buClr>
              <a:buSzPts val="1100"/>
              <a:buFont typeface="Arial"/>
              <a:buChar char="●"/>
            </a:pPr>
            <a:r>
              <a:rPr lang="en-US" sz="1600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</a:t>
            </a: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Write permissions. (edited, modified, and deleted)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019" algn="l" rtl="0">
              <a:spcBef>
                <a:spcPts val="305"/>
              </a:spcBef>
              <a:spcAft>
                <a:spcPts val="0"/>
              </a:spcAft>
              <a:buClr>
                <a:srgbClr val="99CCCC"/>
              </a:buClr>
              <a:buSzPts val="1100"/>
              <a:buFont typeface="Arial"/>
              <a:buChar char="●"/>
            </a:pPr>
            <a:r>
              <a:rPr lang="en-US" sz="1600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Execute permissions. (program can be run)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2727956" y="2260938"/>
            <a:ext cx="7253605" cy="66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700" rIns="0" bIns="0" anchor="t" anchorCtr="0">
            <a:spAutoFit/>
          </a:bodyPr>
          <a:lstStyle/>
          <a:p>
            <a:pPr marL="299085" marR="0" lvl="0" indent="-287019" algn="l" rtl="0">
              <a:spcBef>
                <a:spcPts val="0"/>
              </a:spcBef>
              <a:spcAft>
                <a:spcPts val="0"/>
              </a:spcAft>
              <a:buClr>
                <a:srgbClr val="99CCCC"/>
              </a:buClr>
              <a:buSzPts val="11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-: No permission has been granted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99085" marR="0" lvl="0" indent="-287019" algn="l" rtl="0">
              <a:spcBef>
                <a:spcPts val="405"/>
              </a:spcBef>
              <a:spcAft>
                <a:spcPts val="0"/>
              </a:spcAft>
              <a:buClr>
                <a:srgbClr val="99CCCC"/>
              </a:buClr>
              <a:buSzPts val="11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Thus; </a:t>
            </a:r>
            <a:r>
              <a:rPr lang="en-US" sz="200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rwx </a:t>
            </a: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means full permissions have been granted by collective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2738842" y="3393898"/>
            <a:ext cx="6207731" cy="20480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9F6A7E-F93D-0C2C-F723-6F686D08A3BD}"/>
              </a:ext>
            </a:extLst>
          </p:cNvPr>
          <p:cNvSpPr txBox="1"/>
          <p:nvPr/>
        </p:nvSpPr>
        <p:spPr>
          <a:xfrm>
            <a:off x="79089" y="2798058"/>
            <a:ext cx="243551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11. Permissions</a:t>
            </a:r>
          </a:p>
          <a:p>
            <a:r>
              <a:rPr lang="en-US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11.1. Changing Permissions</a:t>
            </a:r>
          </a:p>
          <a:p>
            <a:r>
              <a:rPr lang="en-US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11.2 Viewing Permissions</a:t>
            </a:r>
            <a:endParaRPr lang="en-US" sz="16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"/>
          <p:cNvSpPr txBox="1">
            <a:spLocks noGrp="1"/>
          </p:cNvSpPr>
          <p:nvPr>
            <p:ph type="title"/>
          </p:nvPr>
        </p:nvSpPr>
        <p:spPr>
          <a:xfrm>
            <a:off x="2200092" y="245475"/>
            <a:ext cx="7682400" cy="13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579755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12. System Management Commands  (some)</a:t>
            </a:r>
            <a:endParaRPr/>
          </a:p>
        </p:txBody>
      </p:sp>
      <p:sp>
        <p:nvSpPr>
          <p:cNvPr id="253" name="Google Shape;253;p19"/>
          <p:cNvSpPr txBox="1">
            <a:spLocks noGrp="1"/>
          </p:cNvSpPr>
          <p:nvPr>
            <p:ph type="sldNum" idx="12"/>
          </p:nvPr>
        </p:nvSpPr>
        <p:spPr>
          <a:xfrm>
            <a:off x="9483442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2632367" y="1612522"/>
            <a:ext cx="6542803" cy="469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1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df</a:t>
            </a: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Displays disk free space on your system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free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Displays RAM (used and free)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lnSpc>
                <a:spcPct val="13675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ip</a:t>
            </a: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Displays network details, can also be used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54965" marR="0" lvl="0" indent="0" algn="l" rtl="0">
              <a:lnSpc>
                <a:spcPct val="136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configure network-related settings</a:t>
            </a:r>
            <a:endParaRPr dirty="0"/>
          </a:p>
          <a:p>
            <a:pPr marL="12700" marR="0" lvl="0" indent="0" algn="l" rtl="0">
              <a:spcBef>
                <a:spcPts val="219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ps</a:t>
            </a: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Displays currently running processes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whoami</a:t>
            </a: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Displays the current user name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mount</a:t>
            </a:r>
            <a:r>
              <a:rPr lang="en-US" sz="2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lang="en-US" sz="2000" b="1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umount</a:t>
            </a: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Attaches and detaches a</a:t>
            </a:r>
            <a:endParaRPr dirty="0"/>
          </a:p>
          <a:p>
            <a:pPr marL="0" marR="615315" lvl="0" indent="0" algn="r" rtl="0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separate filesystem (e.g. hard drives or USB)</a:t>
            </a:r>
            <a:endParaRPr dirty="0"/>
          </a:p>
          <a:p>
            <a:pPr marL="354965" marR="5080" lvl="0" indent="-342900" algn="just" rtl="0">
              <a:lnSpc>
                <a:spcPct val="1295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kill</a:t>
            </a:r>
            <a:r>
              <a:rPr lang="en-US" sz="2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lang="en-US" sz="2000" b="1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killall</a:t>
            </a: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— Use to end a process according to </a:t>
            </a:r>
          </a:p>
          <a:p>
            <a:pPr marL="354965" marR="5080" lvl="0" indent="-342900" algn="just" rtl="0">
              <a:lnSpc>
                <a:spcPct val="1295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its process ID (often used in conjunction with the  </a:t>
            </a:r>
            <a:r>
              <a:rPr lang="en-US" sz="20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ps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command) whereas you can use </a:t>
            </a:r>
            <a:r>
              <a:rPr lang="en-US" sz="20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killall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to end  all processes whose names match your query.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40AFBC-02E7-8504-EEC2-F144BF8D5DB3}"/>
              </a:ext>
            </a:extLst>
          </p:cNvPr>
          <p:cNvSpPr txBox="1"/>
          <p:nvPr/>
        </p:nvSpPr>
        <p:spPr>
          <a:xfrm>
            <a:off x="79089" y="2798058"/>
            <a:ext cx="24355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12. System Management Commands (some)</a:t>
            </a:r>
          </a:p>
          <a:p>
            <a:r>
              <a:rPr lang="en-US" dirty="0"/>
              <a:t>13. Linux Scripts</a:t>
            </a:r>
          </a:p>
          <a:p>
            <a:r>
              <a:rPr lang="en-US" dirty="0"/>
              <a:t>14. Summary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"/>
          <p:cNvSpPr txBox="1">
            <a:spLocks noGrp="1"/>
          </p:cNvSpPr>
          <p:nvPr>
            <p:ph type="title"/>
          </p:nvPr>
        </p:nvSpPr>
        <p:spPr>
          <a:xfrm>
            <a:off x="2407233" y="110371"/>
            <a:ext cx="6762750" cy="136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579755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12. System Management Commands  (contd.)</a:t>
            </a:r>
            <a:endParaRPr/>
          </a:p>
        </p:txBody>
      </p:sp>
      <p:sp>
        <p:nvSpPr>
          <p:cNvPr id="261" name="Google Shape;261;p20"/>
          <p:cNvSpPr txBox="1">
            <a:spLocks noGrp="1"/>
          </p:cNvSpPr>
          <p:nvPr>
            <p:ph type="sldNum" idx="12"/>
          </p:nvPr>
        </p:nvSpPr>
        <p:spPr>
          <a:xfrm>
            <a:off x="9265233" y="6263206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2594269" y="1399298"/>
            <a:ext cx="6629400" cy="5368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925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Need to know of……...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55600" marR="1223010" lvl="0" indent="-343535" algn="l" rtl="0">
              <a:spcBef>
                <a:spcPts val="495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Install new packages, upgrade </a:t>
            </a:r>
            <a:r>
              <a:rPr lang="en-US" sz="2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packages,remove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packages,etc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dirty="0"/>
          </a:p>
          <a:p>
            <a:pPr marL="355600" marR="5080" lvl="0" indent="-343535" algn="l" rtl="0">
              <a:lnSpc>
                <a:spcPct val="107916"/>
              </a:lnSpc>
              <a:spcBef>
                <a:spcPts val="545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apt 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(advanced package tool) – although </a:t>
            </a:r>
          </a:p>
          <a:p>
            <a:pPr marL="355600" marR="5080" lvl="0" indent="-343535" algn="l" rtl="0">
              <a:lnSpc>
                <a:spcPct val="107916"/>
              </a:lnSpc>
              <a:spcBef>
                <a:spcPts val="545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 isn’t a  command in itself, there are three commands  that you must know to make full use of </a:t>
            </a:r>
            <a:r>
              <a:rPr lang="en-US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apt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285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1347470" lvl="0" indent="-287019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Arial"/>
              <a:buChar char="●"/>
            </a:pP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add-apt-repository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(for locating third-party  packages)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019" algn="l" rtl="0">
              <a:spcBef>
                <a:spcPts val="125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Arial"/>
              <a:buChar char="●"/>
            </a:pP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apt-get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(for actually installing packages)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019" algn="l" rtl="0">
              <a:spcBef>
                <a:spcPts val="155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Arial"/>
              <a:buChar char="●"/>
            </a:pPr>
            <a:r>
              <a:rPr lang="en-US" sz="20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apt-cache </a:t>
            </a: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(for searching your repositories)</a:t>
            </a:r>
            <a:endParaRPr dirty="0"/>
          </a:p>
          <a:p>
            <a:pPr marL="756285" marR="0" lvl="0" indent="-287019" algn="l" rtl="0">
              <a:lnSpc>
                <a:spcPct val="114000"/>
              </a:lnSpc>
              <a:spcBef>
                <a:spcPts val="170"/>
              </a:spcBef>
              <a:spcAft>
                <a:spcPts val="0"/>
              </a:spcAft>
              <a:buClr>
                <a:srgbClr val="99CCCC"/>
              </a:buClr>
              <a:buSzPts val="1400"/>
              <a:buFont typeface="Arial"/>
              <a:buChar char="●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[ If your Linux version doesn’t use APT, it may use YUM, RPM, or some other alternative ]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228E83-B962-9F77-298E-B3C5779104D3}"/>
              </a:ext>
            </a:extLst>
          </p:cNvPr>
          <p:cNvSpPr txBox="1"/>
          <p:nvPr/>
        </p:nvSpPr>
        <p:spPr>
          <a:xfrm>
            <a:off x="79089" y="2798058"/>
            <a:ext cx="24355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12. System Management Commands (some)</a:t>
            </a:r>
          </a:p>
          <a:p>
            <a:r>
              <a:rPr lang="en-US" dirty="0"/>
              <a:t>13. Linux Scripts</a:t>
            </a:r>
          </a:p>
          <a:p>
            <a:r>
              <a:rPr lang="en-US" dirty="0"/>
              <a:t>14. Summary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 txBox="1">
            <a:spLocks noGrp="1"/>
          </p:cNvSpPr>
          <p:nvPr>
            <p:ph type="title"/>
          </p:nvPr>
        </p:nvSpPr>
        <p:spPr>
          <a:xfrm>
            <a:off x="2803080" y="234164"/>
            <a:ext cx="4626420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13. Linux Scripts</a:t>
            </a:r>
            <a:endParaRPr dirty="0"/>
          </a:p>
        </p:txBody>
      </p:sp>
      <p:sp>
        <p:nvSpPr>
          <p:cNvPr id="269" name="Google Shape;269;p21"/>
          <p:cNvSpPr txBox="1">
            <a:spLocks noGrp="1"/>
          </p:cNvSpPr>
          <p:nvPr>
            <p:ph type="sldNum" idx="12"/>
          </p:nvPr>
        </p:nvSpPr>
        <p:spPr>
          <a:xfrm>
            <a:off x="9410706" y="6065777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2628906" y="963013"/>
            <a:ext cx="6338449" cy="58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354965" marR="5080" lvl="0" indent="-3429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Similar to Microsoft Batch files (.bat) Linux shell  scripts can be created and executed (.</a:t>
            </a:r>
            <a:r>
              <a:rPr lang="en-US" sz="24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</a:t>
            </a: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2000" u="sng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Stages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654" algn="l" rtl="0">
              <a:lnSpc>
                <a:spcPct val="114062"/>
              </a:lnSpc>
              <a:spcBef>
                <a:spcPts val="115"/>
              </a:spcBef>
              <a:spcAft>
                <a:spcPts val="0"/>
              </a:spcAft>
              <a:buClr>
                <a:srgbClr val="99CCCC"/>
              </a:buClr>
              <a:buSzPts val="1100"/>
              <a:buFont typeface="Arial"/>
              <a:buChar char="●"/>
            </a:pPr>
            <a:r>
              <a:rPr lang="en-US" sz="16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Create a file using 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the </a:t>
            </a:r>
            <a:r>
              <a:rPr lang="en-US" sz="16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 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editor (or any other-editor).	And</a:t>
            </a: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0" algn="l" rtl="0">
              <a:lnSpc>
                <a:spcPct val="114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Name	the script file with </a:t>
            </a:r>
            <a:r>
              <a:rPr lang="en-US" sz="16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extension .</a:t>
            </a:r>
            <a:r>
              <a:rPr lang="en-US" sz="1600" b="1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</a:t>
            </a: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654" algn="l" rtl="0">
              <a:spcBef>
                <a:spcPts val="300"/>
              </a:spcBef>
              <a:spcAft>
                <a:spcPts val="0"/>
              </a:spcAft>
              <a:buClr>
                <a:srgbClr val="99CCCC"/>
              </a:buClr>
              <a:buSzPts val="1100"/>
              <a:buFont typeface="Arial"/>
              <a:buChar char="●"/>
            </a:pP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Start the script with </a:t>
            </a:r>
            <a:r>
              <a:rPr lang="en-US" sz="16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#!/bin/sh</a:t>
            </a: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155700" marR="189865" lvl="0" indent="-229235" algn="l" rtl="0"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006666"/>
                </a:solidFill>
                <a:latin typeface="Arial"/>
                <a:ea typeface="Arial"/>
                <a:cs typeface="Arial"/>
                <a:sym typeface="Arial"/>
              </a:rPr>
              <a:t>⚪	</a:t>
            </a:r>
            <a:r>
              <a:rPr lang="en-US" sz="13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["#!" is an operator called shebang which directs the script to the interpreter  location ]</a:t>
            </a:r>
            <a:endParaRPr sz="13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654" algn="l" rtl="0">
              <a:spcBef>
                <a:spcPts val="305"/>
              </a:spcBef>
              <a:spcAft>
                <a:spcPts val="0"/>
              </a:spcAft>
              <a:buClr>
                <a:srgbClr val="99CCCC"/>
              </a:buClr>
              <a:buSzPts val="1100"/>
              <a:buFont typeface="Arial"/>
              <a:buChar char="●"/>
            </a:pP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some code (script)</a:t>
            </a: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654" algn="l" rtl="0">
              <a:spcBef>
                <a:spcPts val="300"/>
              </a:spcBef>
              <a:spcAft>
                <a:spcPts val="0"/>
              </a:spcAft>
              <a:buClr>
                <a:srgbClr val="99CCCC"/>
              </a:buClr>
              <a:buSzPts val="1100"/>
              <a:buFont typeface="Arial"/>
              <a:buChar char="●"/>
            </a:pP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Save the script file as </a:t>
            </a:r>
            <a:r>
              <a:rPr lang="en-US" sz="16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filename.sh</a:t>
            </a: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756285" marR="0" lvl="0" indent="-287654" algn="l" rtl="0">
              <a:spcBef>
                <a:spcPts val="300"/>
              </a:spcBef>
              <a:spcAft>
                <a:spcPts val="0"/>
              </a:spcAft>
              <a:buClr>
                <a:srgbClr val="99CCCC"/>
              </a:buClr>
              <a:buSzPts val="1100"/>
              <a:buFont typeface="Arial"/>
              <a:buChar char="●"/>
            </a:pP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-US" sz="16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executing </a:t>
            </a: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script type </a:t>
            </a:r>
            <a:r>
              <a:rPr lang="en-US" sz="16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bash filename.sh</a:t>
            </a: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spcBef>
                <a:spcPts val="155"/>
              </a:spcBef>
              <a:spcAft>
                <a:spcPts val="0"/>
              </a:spcAft>
              <a:buNone/>
            </a:pPr>
            <a:r>
              <a:rPr lang="en-US" sz="2000" u="sng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Example script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265" marR="0" lvl="0" indent="0" algn="l" rtl="0"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#!/bin/sh</a:t>
            </a: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265" marR="4511675" lvl="0" indent="0" algn="l" rtl="0">
              <a:lnSpc>
                <a:spcPct val="105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echo “What is your name?"  read name</a:t>
            </a: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265" marR="0" lvl="0" indent="0" algn="l" rtl="0"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echo "How do you do, $name“</a:t>
            </a:r>
            <a:endParaRPr sz="1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025D70-2B5D-4214-CD88-5259675016A6}"/>
              </a:ext>
            </a:extLst>
          </p:cNvPr>
          <p:cNvSpPr txBox="1"/>
          <p:nvPr/>
        </p:nvSpPr>
        <p:spPr>
          <a:xfrm>
            <a:off x="79089" y="2798058"/>
            <a:ext cx="24355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12. System Management Commands (some)</a:t>
            </a:r>
          </a:p>
          <a:p>
            <a:r>
              <a:rPr lang="en-US" b="1" dirty="0"/>
              <a:t>13. Linux Scripts</a:t>
            </a:r>
          </a:p>
          <a:p>
            <a:r>
              <a:rPr lang="en-US" dirty="0"/>
              <a:t>14. Summary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 txBox="1">
            <a:spLocks noGrp="1"/>
          </p:cNvSpPr>
          <p:nvPr>
            <p:ph type="title"/>
          </p:nvPr>
        </p:nvSpPr>
        <p:spPr>
          <a:xfrm>
            <a:off x="2812476" y="223566"/>
            <a:ext cx="3124200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14. Summary</a:t>
            </a:r>
            <a:endParaRPr dirty="0"/>
          </a:p>
        </p:txBody>
      </p:sp>
      <p:sp>
        <p:nvSpPr>
          <p:cNvPr id="277" name="Google Shape;277;p22"/>
          <p:cNvSpPr txBox="1">
            <a:spLocks noGrp="1"/>
          </p:cNvSpPr>
          <p:nvPr>
            <p:ph type="sldNum" idx="12"/>
          </p:nvPr>
        </p:nvSpPr>
        <p:spPr>
          <a:xfrm>
            <a:off x="8610600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2687785" y="1031240"/>
            <a:ext cx="6456215" cy="586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350" rIns="0" bIns="0" anchor="t" anchorCtr="0">
            <a:spAutoFit/>
          </a:bodyPr>
          <a:lstStyle/>
          <a:p>
            <a:pPr marL="4699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Another OS but </a:t>
            </a:r>
            <a:r>
              <a:rPr lang="en-US" sz="2000" u="sng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FREE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265" marR="730885" lvl="0" indent="-457200" algn="l" rtl="0">
              <a:lnSpc>
                <a:spcPct val="151000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Selection of OS should be made and  </a:t>
            </a:r>
            <a:r>
              <a:rPr lang="en-US" sz="2000" u="sng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depend on user needs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265" marR="299085" lvl="0" indent="-457200" algn="l" rtl="0">
              <a:lnSpc>
                <a:spcPct val="1515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Linux uses a </a:t>
            </a:r>
            <a:r>
              <a:rPr lang="en-US" sz="2000" u="sng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Familiar file and directory </a:t>
            </a:r>
            <a:r>
              <a:rPr lang="en-US" sz="20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u="sng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structure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265" marR="1035050" lvl="0" indent="-457200" algn="l" rtl="0">
              <a:lnSpc>
                <a:spcPct val="151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Command line commands permit  </a:t>
            </a:r>
            <a:r>
              <a:rPr lang="en-US" sz="2000" u="sng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navigation</a:t>
            </a:r>
            <a:r>
              <a:rPr lang="en-US" sz="2000" u="sng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2000" u="sng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file control </a:t>
            </a:r>
            <a:r>
              <a:rPr lang="en-US" sz="2000" u="sng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lang="en-US" sz="2000" u="sng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system </a:t>
            </a:r>
            <a:r>
              <a:rPr lang="en-US" sz="20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u="sng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management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265" marR="1185545" lvl="0" indent="-457200" algn="l" rtl="0">
              <a:lnSpc>
                <a:spcPct val="151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Linux uses an effective </a:t>
            </a:r>
            <a:r>
              <a:rPr lang="en-US" sz="2000" u="sng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simple file </a:t>
            </a:r>
            <a:r>
              <a:rPr lang="en-US" sz="20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u="sng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permission system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265" marR="5080" lvl="0" indent="-457200" algn="l" rtl="0">
              <a:lnSpc>
                <a:spcPct val="1515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Shell scripts can be written that execute  similar to that of (windows) batch files.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23E206-EE87-928F-F3D1-E2792DE2E431}"/>
              </a:ext>
            </a:extLst>
          </p:cNvPr>
          <p:cNvSpPr txBox="1"/>
          <p:nvPr/>
        </p:nvSpPr>
        <p:spPr>
          <a:xfrm>
            <a:off x="79089" y="2798058"/>
            <a:ext cx="2435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13. Linux Scripts</a:t>
            </a:r>
          </a:p>
          <a:p>
            <a:r>
              <a:rPr lang="en-US" b="1" dirty="0"/>
              <a:t>14. Summary</a:t>
            </a:r>
          </a:p>
          <a:p>
            <a:r>
              <a:rPr lang="en-US" dirty="0"/>
              <a:t>15. Workshop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 txBox="1">
            <a:spLocks noGrp="1"/>
          </p:cNvSpPr>
          <p:nvPr>
            <p:ph type="title"/>
          </p:nvPr>
        </p:nvSpPr>
        <p:spPr>
          <a:xfrm>
            <a:off x="2944093" y="746039"/>
            <a:ext cx="3716480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15. Workshop</a:t>
            </a:r>
            <a:endParaRPr dirty="0"/>
          </a:p>
        </p:txBody>
      </p:sp>
      <p:sp>
        <p:nvSpPr>
          <p:cNvPr id="285" name="Google Shape;285;p23"/>
          <p:cNvSpPr txBox="1">
            <a:spLocks noGrp="1"/>
          </p:cNvSpPr>
          <p:nvPr>
            <p:ph type="sldNum" idx="12"/>
          </p:nvPr>
        </p:nvSpPr>
        <p:spPr>
          <a:xfrm>
            <a:off x="9421093" y="6439853"/>
            <a:ext cx="2743200" cy="198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L="381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2694711" y="1774526"/>
            <a:ext cx="7239000" cy="748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325" rIns="0" bIns="0" anchor="t" anchorCtr="0">
            <a:spAutoFit/>
          </a:bodyPr>
          <a:lstStyle/>
          <a:p>
            <a:pPr marL="469265" marR="5080" lvl="0" indent="-457200" algn="l" rtl="0">
              <a:lnSpc>
                <a:spcPct val="16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Complete Linux Workshop/Assignment  material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9900" marR="0" lvl="0" indent="-457200" algn="l" rtl="0">
              <a:spcBef>
                <a:spcPts val="2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Submission date is the end of module.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EF5BCB-A287-B603-B9A0-AADA811D470C}"/>
              </a:ext>
            </a:extLst>
          </p:cNvPr>
          <p:cNvSpPr txBox="1"/>
          <p:nvPr/>
        </p:nvSpPr>
        <p:spPr>
          <a:xfrm>
            <a:off x="79089" y="2798058"/>
            <a:ext cx="24355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13. Linux Scripts</a:t>
            </a:r>
          </a:p>
          <a:p>
            <a:r>
              <a:rPr lang="en-US" dirty="0"/>
              <a:t>14. Summary</a:t>
            </a:r>
          </a:p>
          <a:p>
            <a:r>
              <a:rPr lang="en-US" b="1" dirty="0"/>
              <a:t>15. Workshop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ith curly hair and a green plaid shirt&#10;&#10;Description automatically generated">
            <a:extLst>
              <a:ext uri="{FF2B5EF4-FFF2-40B4-BE49-F238E27FC236}">
                <a16:creationId xmlns:a16="http://schemas.microsoft.com/office/drawing/2014/main" id="{0CF92B11-B211-5FF6-B495-86C57EC3A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391"/>
            <a:ext cx="9854648" cy="68683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B88AB5-5924-1021-2F15-417A4CF43A31}"/>
              </a:ext>
            </a:extLst>
          </p:cNvPr>
          <p:cNvSpPr txBox="1"/>
          <p:nvPr/>
        </p:nvSpPr>
        <p:spPr>
          <a:xfrm>
            <a:off x="-689264" y="1567128"/>
            <a:ext cx="5133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 Black" panose="020F0502020204030204" pitchFamily="18" charset="0"/>
              </a:rPr>
              <a:t>WOW!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FEA70-14EB-1BB5-57DA-4C96C5235239}"/>
              </a:ext>
            </a:extLst>
          </p:cNvPr>
          <p:cNvSpPr txBox="1"/>
          <p:nvPr/>
        </p:nvSpPr>
        <p:spPr>
          <a:xfrm>
            <a:off x="-762001" y="2272249"/>
            <a:ext cx="51331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 Black" panose="020F0502020204030204" pitchFamily="18" charset="0"/>
              </a:rPr>
              <a:t>THANK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 Black" panose="020F0502020204030204" pitchFamily="18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02608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2103</Words>
  <Application>Microsoft Macintosh PowerPoint</Application>
  <PresentationFormat>On-screen Show (4:3)</PresentationFormat>
  <Paragraphs>343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Amasis MT Pro Black</vt:lpstr>
      <vt:lpstr>Arial</vt:lpstr>
      <vt:lpstr>Calibri</vt:lpstr>
      <vt:lpstr>Times New Roman</vt:lpstr>
      <vt:lpstr>Verdana</vt:lpstr>
      <vt:lpstr>Office Theme</vt:lpstr>
      <vt:lpstr>Linux Operating Systems &amp;  Command-line interface</vt:lpstr>
      <vt:lpstr>1. Learning Outcomes</vt:lpstr>
      <vt:lpstr>2. History of Linux</vt:lpstr>
      <vt:lpstr>2.1 Distros</vt:lpstr>
      <vt:lpstr>2.1  Who use Linux</vt:lpstr>
      <vt:lpstr>3. Linux OS features</vt:lpstr>
      <vt:lpstr>3. Linux OS features</vt:lpstr>
      <vt:lpstr>4. Comparison (Windows vs Linux)</vt:lpstr>
      <vt:lpstr>5.Using the OS (Linux)</vt:lpstr>
      <vt:lpstr>6. Terminal</vt:lpstr>
      <vt:lpstr>7. How do you Run Linux Terminal  on Windows?</vt:lpstr>
      <vt:lpstr>7. How do you Run Linux Terminal  on Windows? (contd..)f</vt:lpstr>
      <vt:lpstr>7. How do you Run Linux Terminal  on Windows? (contd..)</vt:lpstr>
      <vt:lpstr>8. Terminal Command Groups</vt:lpstr>
      <vt:lpstr>8. Terminal Command Groups</vt:lpstr>
      <vt:lpstr>9.Terminal Navigation Commands  (some)</vt:lpstr>
      <vt:lpstr>10. File Management Commands  (some)</vt:lpstr>
      <vt:lpstr>11. Permissions</vt:lpstr>
      <vt:lpstr>11.1 Changing Permissions</vt:lpstr>
      <vt:lpstr>11.2 Viewing Permissions</vt:lpstr>
      <vt:lpstr>12. System Management Commands  (some)</vt:lpstr>
      <vt:lpstr>12. System Management Commands  (contd.)</vt:lpstr>
      <vt:lpstr>13. Linux Scripts</vt:lpstr>
      <vt:lpstr>14. Summary</vt:lpstr>
      <vt:lpstr>15. Workshop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Jeffrey Ting</dc:creator>
  <cp:lastModifiedBy>Mishra, Sagar</cp:lastModifiedBy>
  <cp:revision>9</cp:revision>
  <dcterms:created xsi:type="dcterms:W3CDTF">2023-04-05T03:57:35Z</dcterms:created>
  <dcterms:modified xsi:type="dcterms:W3CDTF">2025-12-31T02:02:24Z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2023-04-05T00:00:00Z</vt:filetime>
  </property>
</Properties>
</file>