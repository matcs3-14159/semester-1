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y="6858000" cx="12192000"/>
  <p:notesSz cx="6669075" cy="9753600"/>
  <p:embeddedFontLst>
    <p:embeddedFont>
      <p:font typeface="Play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ino5p0+3nRzsrNbEqm2BJGgZuZ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B77F0C-AAFB-4675-99CA-E559E6F9A81F}">
  <a:tblStyle styleId="{99B77F0C-AAFB-4675-99CA-E559E6F9A8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lay-regular.fntdata"/><Relationship Id="rId50" Type="http://schemas.openxmlformats.org/officeDocument/2006/relationships/slide" Target="slides/slide43.xml"/><Relationship Id="rId53" Type="http://customschemas.google.com/relationships/presentationmetadata" Target="metadata"/><Relationship Id="rId52" Type="http://schemas.openxmlformats.org/officeDocument/2006/relationships/font" Target="fonts/Play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778250" y="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4137" y="731837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26465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778250" y="926465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/>
        </p:nvSpPr>
        <p:spPr>
          <a:xfrm>
            <a:off x="3778250" y="926465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2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62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6:notes"/>
          <p:cNvSpPr txBox="1"/>
          <p:nvPr/>
        </p:nvSpPr>
        <p:spPr>
          <a:xfrm>
            <a:off x="3778250" y="926465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6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coming in and out at the bottom.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7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17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8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18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19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20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5" name="Google Shape;555;p21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2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22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23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p25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4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p24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6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26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7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27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8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4" name="Google Shape;614;p28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9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29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0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30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1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31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2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7" name="Google Shape;667;p32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3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8" name="Google Shape;688;p33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4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p34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5:notes"/>
          <p:cNvSpPr txBox="1"/>
          <p:nvPr/>
        </p:nvSpPr>
        <p:spPr>
          <a:xfrm>
            <a:off x="3778250" y="9264650"/>
            <a:ext cx="288925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5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p35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Fetch (fetch)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Decode (dec)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Access operands from register (reg)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Combine the operands to form the result or a memory addr. (ALU)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Access memory for a data operand, if necessary (mem)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Write the result back to the register bank (res)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6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3" name="Google Shape;733;p36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7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p37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8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p38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9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p39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0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p40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1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p41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2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4" name="Google Shape;814;p42:notes"/>
          <p:cNvSpPr/>
          <p:nvPr>
            <p:ph idx="2" type="sldImg"/>
          </p:nvPr>
        </p:nvSpPr>
        <p:spPr>
          <a:xfrm>
            <a:off x="84138" y="731838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3:notes"/>
          <p:cNvSpPr txBox="1"/>
          <p:nvPr>
            <p:ph idx="1" type="body"/>
          </p:nvPr>
        </p:nvSpPr>
        <p:spPr>
          <a:xfrm>
            <a:off x="666750" y="4632325"/>
            <a:ext cx="5335587" cy="43894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63:notes"/>
          <p:cNvSpPr/>
          <p:nvPr>
            <p:ph idx="2" type="sldImg"/>
          </p:nvPr>
        </p:nvSpPr>
        <p:spPr>
          <a:xfrm>
            <a:off x="84137" y="731837"/>
            <a:ext cx="65024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 txBox="1"/>
          <p:nvPr>
            <p:ph type="title"/>
          </p:nvPr>
        </p:nvSpPr>
        <p:spPr>
          <a:xfrm>
            <a:off x="1826847" y="301625"/>
            <a:ext cx="975164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8"/>
          <p:cNvSpPr txBox="1"/>
          <p:nvPr>
            <p:ph idx="10" type="dt"/>
          </p:nvPr>
        </p:nvSpPr>
        <p:spPr>
          <a:xfrm>
            <a:off x="7964487" y="6272212"/>
            <a:ext cx="32734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1" type="ftr"/>
          </p:nvPr>
        </p:nvSpPr>
        <p:spPr>
          <a:xfrm>
            <a:off x="1087437" y="6272212"/>
            <a:ext cx="6327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12" type="sldNum"/>
          </p:nvPr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_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/>
          <p:nvPr>
            <p:ph type="title"/>
          </p:nvPr>
        </p:nvSpPr>
        <p:spPr>
          <a:xfrm>
            <a:off x="1069975" y="484187"/>
            <a:ext cx="10058400" cy="160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9"/>
          <p:cNvSpPr txBox="1"/>
          <p:nvPr>
            <p:ph idx="10" type="dt"/>
          </p:nvPr>
        </p:nvSpPr>
        <p:spPr>
          <a:xfrm>
            <a:off x="7964487" y="6272212"/>
            <a:ext cx="32734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9"/>
          <p:cNvSpPr txBox="1"/>
          <p:nvPr>
            <p:ph idx="11" type="ftr"/>
          </p:nvPr>
        </p:nvSpPr>
        <p:spPr>
          <a:xfrm>
            <a:off x="1087437" y="6272212"/>
            <a:ext cx="6327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12" type="sldNum"/>
          </p:nvPr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0"/>
          <p:cNvSpPr txBox="1"/>
          <p:nvPr>
            <p:ph type="title"/>
          </p:nvPr>
        </p:nvSpPr>
        <p:spPr>
          <a:xfrm>
            <a:off x="1826684" y="301625"/>
            <a:ext cx="975148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" type="body"/>
          </p:nvPr>
        </p:nvSpPr>
        <p:spPr>
          <a:xfrm>
            <a:off x="1826684" y="1827213"/>
            <a:ext cx="4773083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530"/>
              <a:buChar char="▪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2" type="body"/>
          </p:nvPr>
        </p:nvSpPr>
        <p:spPr>
          <a:xfrm>
            <a:off x="6802967" y="1827213"/>
            <a:ext cx="477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530"/>
              <a:buChar char="▪"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10" type="dt"/>
          </p:nvPr>
        </p:nvSpPr>
        <p:spPr>
          <a:xfrm>
            <a:off x="7964487" y="6272212"/>
            <a:ext cx="32734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11" type="ftr"/>
          </p:nvPr>
        </p:nvSpPr>
        <p:spPr>
          <a:xfrm>
            <a:off x="1087437" y="6272212"/>
            <a:ext cx="6327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0"/>
          <p:cNvSpPr txBox="1"/>
          <p:nvPr>
            <p:ph idx="12" type="sldNum"/>
          </p:nvPr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1"/>
          <p:cNvSpPr txBox="1"/>
          <p:nvPr>
            <p:ph type="title"/>
          </p:nvPr>
        </p:nvSpPr>
        <p:spPr>
          <a:xfrm>
            <a:off x="1826847" y="301625"/>
            <a:ext cx="975164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1"/>
          <p:cNvSpPr txBox="1"/>
          <p:nvPr>
            <p:ph idx="1" type="body"/>
          </p:nvPr>
        </p:nvSpPr>
        <p:spPr>
          <a:xfrm>
            <a:off x="1826847" y="1827213"/>
            <a:ext cx="4781061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530"/>
              <a:buChar char="▪"/>
              <a:defRPr/>
            </a:lvl9pPr>
          </a:lstStyle>
          <a:p/>
        </p:txBody>
      </p:sp>
      <p:sp>
        <p:nvSpPr>
          <p:cNvPr id="57" name="Google Shape;57;p71"/>
          <p:cNvSpPr/>
          <p:nvPr>
            <p:ph idx="2" type="clipArt"/>
          </p:nvPr>
        </p:nvSpPr>
        <p:spPr>
          <a:xfrm>
            <a:off x="6795476" y="1827213"/>
            <a:ext cx="4783016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71"/>
          <p:cNvSpPr txBox="1"/>
          <p:nvPr>
            <p:ph idx="10" type="dt"/>
          </p:nvPr>
        </p:nvSpPr>
        <p:spPr>
          <a:xfrm>
            <a:off x="7964487" y="6272212"/>
            <a:ext cx="32734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1"/>
          <p:cNvSpPr txBox="1"/>
          <p:nvPr>
            <p:ph idx="11" type="ftr"/>
          </p:nvPr>
        </p:nvSpPr>
        <p:spPr>
          <a:xfrm>
            <a:off x="1087437" y="6272212"/>
            <a:ext cx="6327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12" type="sldNum"/>
          </p:nvPr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ckwell"/>
              <a:buNone/>
              <a:defRPr b="1" i="0" sz="14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64" name="Google Shape;64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7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7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p7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7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7"/>
          <p:cNvSpPr txBox="1"/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Rockwell"/>
              <a:buNone/>
              <a:defRPr b="0"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7"/>
          <p:cNvSpPr txBox="1"/>
          <p:nvPr>
            <p:ph idx="1" type="body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57"/>
          <p:cNvSpPr txBox="1"/>
          <p:nvPr>
            <p:ph idx="10" type="dt"/>
          </p:nvPr>
        </p:nvSpPr>
        <p:spPr>
          <a:xfrm>
            <a:off x="8593137" y="6272212"/>
            <a:ext cx="2644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7"/>
          <p:cNvSpPr txBox="1"/>
          <p:nvPr>
            <p:ph idx="11" type="ftr"/>
          </p:nvPr>
        </p:nvSpPr>
        <p:spPr>
          <a:xfrm>
            <a:off x="2182812" y="6272212"/>
            <a:ext cx="6327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57"/>
          <p:cNvSpPr txBox="1"/>
          <p:nvPr>
            <p:ph idx="12" type="sldNum"/>
          </p:nvPr>
        </p:nvSpPr>
        <p:spPr>
          <a:xfrm>
            <a:off x="842962" y="2506662"/>
            <a:ext cx="1189037" cy="719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5" name="Google Shape;15;p64"/>
          <p:cNvSpPr/>
          <p:nvPr/>
        </p:nvSpPr>
        <p:spPr>
          <a:xfrm>
            <a:off x="-39" y="-12458"/>
            <a:ext cx="2558414" cy="6870457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C9DA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330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6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86883" y="93287"/>
            <a:ext cx="2135055" cy="103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5663" y="6274756"/>
            <a:ext cx="2135055" cy="44671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rotWithShape="1">
            <a:blip r:embed="rId1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ckwel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113" name="Google Shape;113;p56"/>
          <p:cNvGrpSpPr/>
          <p:nvPr/>
        </p:nvGrpSpPr>
        <p:grpSpPr>
          <a:xfrm>
            <a:off x="896937" y="2325687"/>
            <a:ext cx="1081087" cy="1081087"/>
            <a:chOff x="9685338" y="4460675"/>
            <a:chExt cx="1080904" cy="1080902"/>
          </a:xfrm>
        </p:grpSpPr>
        <p:sp>
          <p:nvSpPr>
            <p:cNvPr id="114" name="Google Shape;114;p56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2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ckwell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15" name="Google Shape;115;p56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64646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116" name="Google Shape;116;p56"/>
          <p:cNvSpPr txBox="1"/>
          <p:nvPr>
            <p:ph type="title"/>
          </p:nvPr>
        </p:nvSpPr>
        <p:spPr>
          <a:xfrm>
            <a:off x="1069975" y="484187"/>
            <a:ext cx="10058400" cy="160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Rockwell"/>
              <a:buNone/>
              <a:defRPr b="0" i="0" sz="5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6"/>
          <p:cNvSpPr txBox="1"/>
          <p:nvPr>
            <p:ph idx="1" type="body"/>
          </p:nvPr>
        </p:nvSpPr>
        <p:spPr>
          <a:xfrm>
            <a:off x="1069975" y="2120900"/>
            <a:ext cx="10058400" cy="4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18" name="Google Shape;118;p56"/>
          <p:cNvSpPr txBox="1"/>
          <p:nvPr>
            <p:ph idx="10" type="dt"/>
          </p:nvPr>
        </p:nvSpPr>
        <p:spPr>
          <a:xfrm>
            <a:off x="8593137" y="6272212"/>
            <a:ext cx="2644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19" name="Google Shape;119;p56"/>
          <p:cNvSpPr txBox="1"/>
          <p:nvPr>
            <p:ph idx="11" type="ftr"/>
          </p:nvPr>
        </p:nvSpPr>
        <p:spPr>
          <a:xfrm>
            <a:off x="2182812" y="6272212"/>
            <a:ext cx="63277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0" name="Google Shape;120;p56"/>
          <p:cNvSpPr txBox="1"/>
          <p:nvPr>
            <p:ph idx="12" type="sldNum"/>
          </p:nvPr>
        </p:nvSpPr>
        <p:spPr>
          <a:xfrm>
            <a:off x="842962" y="2506662"/>
            <a:ext cx="1189037" cy="719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ckwell"/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title"/>
          </p:nvPr>
        </p:nvSpPr>
        <p:spPr>
          <a:xfrm>
            <a:off x="2712031" y="52465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1. OBJECTIVES</a:t>
            </a:r>
            <a:endParaRPr/>
          </a:p>
        </p:txBody>
      </p:sp>
      <p:sp>
        <p:nvSpPr>
          <p:cNvPr id="132" name="Google Shape;132;p2"/>
          <p:cNvSpPr txBox="1"/>
          <p:nvPr>
            <p:ph idx="1" type="body"/>
          </p:nvPr>
        </p:nvSpPr>
        <p:spPr>
          <a:xfrm>
            <a:off x="2864431" y="2141537"/>
            <a:ext cx="7772400" cy="160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By the end of this session you will be able to: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Describe the history of development of the CPU.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Explain how cache, pipelines and superscalar operation can improve performance.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11353800" y="6254750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of Computers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2857503" y="469788"/>
            <a:ext cx="7477433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0" i="0" lang="en-US" sz="3600" u="none" cap="none" strike="noStrike">
                <a:latin typeface="Rockwell"/>
                <a:ea typeface="Rockwell"/>
                <a:cs typeface="Rockwell"/>
                <a:sym typeface="Rockwell"/>
              </a:rPr>
              <a:t>2. HISTORY OF COMPUTERS</a:t>
            </a:r>
            <a:endParaRPr/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2895603" y="1720850"/>
            <a:ext cx="9258300" cy="27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Charles Babbage is considered to the father of computer.</a:t>
            </a:r>
            <a:endParaRPr b="0" i="0" sz="20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He designed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“Difference Engine”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1822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He designed a fully automatic </a:t>
            </a:r>
            <a:r>
              <a:rPr b="1" lang="en-US">
                <a:latin typeface="Lucida Sans"/>
                <a:ea typeface="Lucida Sans"/>
                <a:cs typeface="Lucida Sans"/>
                <a:sym typeface="Lucida Sans"/>
              </a:rPr>
              <a:t>“A</a:t>
            </a: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nalytical engine</a:t>
            </a:r>
            <a:r>
              <a:rPr b="1" lang="en-US">
                <a:latin typeface="Lucida Sans"/>
                <a:ea typeface="Lucida Sans"/>
                <a:cs typeface="Lucida Sans"/>
                <a:sym typeface="Lucida Sans"/>
              </a:rPr>
              <a:t>”</a:t>
            </a: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 1842 for performing basic arithmetic functions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His efforts established a number of principles that are fundamental to the design of any digital computer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11353800" y="6254750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fld id="{00000000-1234-1234-1234-123412341234}" type="slidenum">
              <a:rPr b="1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of Computers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2951021" y="241823"/>
            <a:ext cx="7477433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0" i="0" lang="en-US" sz="3600" u="none" cap="none" strike="noStrike">
                <a:latin typeface="Rockwell"/>
                <a:ea typeface="Rockwell"/>
                <a:cs typeface="Rockwell"/>
                <a:sym typeface="Rockwell"/>
              </a:rPr>
              <a:t>2. HISTORY OF COMPUTERS</a:t>
            </a:r>
            <a:endParaRPr/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2809733" y="1436687"/>
            <a:ext cx="7902575" cy="499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First computers programmed by wiring.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1944: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EDVAC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lectronic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iscrete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ariable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utomatic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omputer) – first conceptual stored program computer.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Von Neumann, Eckert, &amp; Mauchly.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1948: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First (prototype) stored program computer – Mark I at Manchester University.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Harvard Mark III &amp; IV. Howard Aiken.</a:t>
            </a:r>
            <a:endParaRPr/>
          </a:p>
          <a:p>
            <a:pPr indent="-182562" lvl="2" marL="7302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Harvard Architecture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/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fully automatic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/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controlled by paper tape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/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reliable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/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beginning modern computer era.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1353800" y="6251575"/>
            <a:ext cx="4619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None/>
            </a:pPr>
            <a:fld id="{00000000-1234-1234-1234-123412341234}" type="slidenum">
              <a:rPr b="1" i="0" lang="en-US" sz="11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 of Computers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2648054" y="185738"/>
            <a:ext cx="9251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0" i="0" lang="en-US" sz="4000" u="none" cap="none" strike="noStrike">
                <a:latin typeface="Rockwell"/>
                <a:ea typeface="Rockwell"/>
                <a:cs typeface="Rockwell"/>
                <a:sym typeface="Rockwell"/>
              </a:rPr>
              <a:t>3. COMPUTER ARCHITECTURE</a:t>
            </a:r>
            <a:endParaRPr/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2648054" y="1798637"/>
            <a:ext cx="4695666" cy="3940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Classic computer architecture.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and program instructions stored in same memory.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Fetch-execute cycle.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Suffers from Von Neumann ‘bottleneck’.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11430000" y="6248400"/>
            <a:ext cx="376237" cy="423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0672" y="1508126"/>
            <a:ext cx="3625825" cy="45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7036531" y="4092769"/>
            <a:ext cx="184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Bottleneck. 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Small compared to main memory </a:t>
            </a: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&amp;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rate at which today's CPUs 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 flipH="1" rot="10800000">
            <a:off x="8412162" y="3768725"/>
            <a:ext cx="209550" cy="6683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2" name="Google Shape;162;p5"/>
          <p:cNvSpPr txBox="1"/>
          <p:nvPr/>
        </p:nvSpPr>
        <p:spPr>
          <a:xfrm>
            <a:off x="2476428" y="1167622"/>
            <a:ext cx="557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ckwel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3. 1. VON NEUMANN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Computer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3.1. Von Neumann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3.2. Harvard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3.3. Modified Harvard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2291" y="1722329"/>
            <a:ext cx="4775342" cy="429881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>
            <p:ph type="title"/>
          </p:nvPr>
        </p:nvSpPr>
        <p:spPr>
          <a:xfrm>
            <a:off x="2785456" y="314154"/>
            <a:ext cx="6324600" cy="1408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ckwell"/>
              <a:buNone/>
            </a:pPr>
            <a:r>
              <a:rPr b="0" i="0" lang="en-US" sz="3600" u="none" cap="none" strike="noStrike">
                <a:latin typeface="Rockwell"/>
                <a:ea typeface="Rockwell"/>
                <a:cs typeface="Rockwell"/>
                <a:sym typeface="Rockwell"/>
              </a:rPr>
              <a:t>3.2. HARVARD</a:t>
            </a:r>
            <a:endParaRPr/>
          </a:p>
        </p:txBody>
      </p:sp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2789241" y="1368425"/>
            <a:ext cx="4775342" cy="411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and programs stored in separate memory areas.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Allows for faster operation.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Simultaneous access of both data and programs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Allows data and instruction bus to be different sizes.</a:t>
            </a:r>
            <a:endParaRPr/>
          </a:p>
        </p:txBody>
      </p:sp>
      <p:sp>
        <p:nvSpPr>
          <p:cNvPr id="171" name="Google Shape;171;p6"/>
          <p:cNvSpPr txBox="1"/>
          <p:nvPr/>
        </p:nvSpPr>
        <p:spPr>
          <a:xfrm>
            <a:off x="10096500" y="6318250"/>
            <a:ext cx="390525" cy="319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Computer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3.1. Von Neumann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3.2. Harvard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3.3. Modified Harvard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type="title"/>
          </p:nvPr>
        </p:nvSpPr>
        <p:spPr>
          <a:xfrm>
            <a:off x="2715496" y="603342"/>
            <a:ext cx="9055532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3.3. MODIFIED HARVARD</a:t>
            </a:r>
            <a:endParaRPr/>
          </a:p>
        </p:txBody>
      </p:sp>
      <p:sp>
        <p:nvSpPr>
          <p:cNvPr id="178" name="Google Shape;178;p7"/>
          <p:cNvSpPr txBox="1"/>
          <p:nvPr>
            <p:ph idx="1" type="body"/>
          </p:nvPr>
        </p:nvSpPr>
        <p:spPr>
          <a:xfrm>
            <a:off x="2537696" y="1974561"/>
            <a:ext cx="5082303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Hybrid approach – combination of von Neumann and Harvard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Single Main Memory for both Data and Program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Separate High-speed Memory Caches for Data and Instructions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Simultaneous access of both data and programs from caches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10644187" y="1752600"/>
            <a:ext cx="936625" cy="4032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7620000" y="1752600"/>
            <a:ext cx="863600" cy="40322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7"/>
          <p:cNvGrpSpPr/>
          <p:nvPr/>
        </p:nvGrpSpPr>
        <p:grpSpPr>
          <a:xfrm>
            <a:off x="8988425" y="2184400"/>
            <a:ext cx="1079500" cy="2736850"/>
            <a:chOff x="6588224" y="2276872"/>
            <a:chExt cx="1080120" cy="2736304"/>
          </a:xfrm>
        </p:grpSpPr>
        <p:sp>
          <p:nvSpPr>
            <p:cNvPr id="182" name="Google Shape;182;p7"/>
            <p:cNvSpPr txBox="1"/>
            <p:nvPr/>
          </p:nvSpPr>
          <p:spPr>
            <a:xfrm>
              <a:off x="6588224" y="2276872"/>
              <a:ext cx="1080120" cy="2736304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6732770" y="2421306"/>
              <a:ext cx="791029" cy="107928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Data Cache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 txBox="1"/>
            <p:nvPr/>
          </p:nvSpPr>
          <p:spPr>
            <a:xfrm>
              <a:off x="6732770" y="3789458"/>
              <a:ext cx="791029" cy="107928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Instr. Cache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5" name="Google Shape;185;p7"/>
          <p:cNvCxnSpPr/>
          <p:nvPr/>
        </p:nvCxnSpPr>
        <p:spPr>
          <a:xfrm>
            <a:off x="10067925" y="3336925"/>
            <a:ext cx="576262" cy="1587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186" name="Google Shape;186;p7"/>
          <p:cNvCxnSpPr/>
          <p:nvPr/>
        </p:nvCxnSpPr>
        <p:spPr>
          <a:xfrm>
            <a:off x="10067925" y="3622675"/>
            <a:ext cx="576262" cy="1587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87" name="Google Shape;187;p7"/>
          <p:cNvSpPr txBox="1"/>
          <p:nvPr/>
        </p:nvSpPr>
        <p:spPr>
          <a:xfrm>
            <a:off x="10067925" y="2905125"/>
            <a:ext cx="608012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10067925" y="3697287"/>
            <a:ext cx="6096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Addr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7"/>
          <p:cNvCxnSpPr/>
          <p:nvPr/>
        </p:nvCxnSpPr>
        <p:spPr>
          <a:xfrm>
            <a:off x="8483600" y="2760662"/>
            <a:ext cx="649287" cy="1587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190" name="Google Shape;190;p7"/>
          <p:cNvCxnSpPr/>
          <p:nvPr/>
        </p:nvCxnSpPr>
        <p:spPr>
          <a:xfrm>
            <a:off x="8483600" y="2974975"/>
            <a:ext cx="649287" cy="1587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191" name="Google Shape;191;p7"/>
          <p:cNvCxnSpPr/>
          <p:nvPr/>
        </p:nvCxnSpPr>
        <p:spPr>
          <a:xfrm>
            <a:off x="8483600" y="4057650"/>
            <a:ext cx="649287" cy="1587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cxnSp>
        <p:nvCxnSpPr>
          <p:cNvPr id="192" name="Google Shape;192;p7"/>
          <p:cNvCxnSpPr/>
          <p:nvPr/>
        </p:nvCxnSpPr>
        <p:spPr>
          <a:xfrm>
            <a:off x="8483600" y="4271962"/>
            <a:ext cx="649287" cy="1587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</p:cxnSp>
      <p:sp>
        <p:nvSpPr>
          <p:cNvPr id="193" name="Google Shape;193;p7"/>
          <p:cNvSpPr txBox="1"/>
          <p:nvPr/>
        </p:nvSpPr>
        <p:spPr>
          <a:xfrm>
            <a:off x="11501437" y="6259512"/>
            <a:ext cx="3095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Computer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3.1. Von Neumann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3.2. Harvard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3.3. Modified Harvard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>
            <p:ph type="title"/>
          </p:nvPr>
        </p:nvSpPr>
        <p:spPr>
          <a:xfrm>
            <a:off x="2571234" y="350732"/>
            <a:ext cx="2975035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4.CPU</a:t>
            </a:r>
            <a:endParaRPr/>
          </a:p>
        </p:txBody>
      </p:sp>
      <p:sp>
        <p:nvSpPr>
          <p:cNvPr id="200" name="Google Shape;200;p8"/>
          <p:cNvSpPr txBox="1"/>
          <p:nvPr>
            <p:ph idx="1" type="body"/>
          </p:nvPr>
        </p:nvSpPr>
        <p:spPr>
          <a:xfrm>
            <a:off x="2571234" y="1818409"/>
            <a:ext cx="5624512" cy="4265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Noto Sans Symbols"/>
              <a:buChar char="▪"/>
            </a:pPr>
            <a:r>
              <a:rPr b="0" i="0" lang="en-US" sz="2500" u="none" cap="none" strike="noStrike">
                <a:latin typeface="Lucida Sans"/>
                <a:ea typeface="Lucida Sans"/>
                <a:cs typeface="Lucida Sans"/>
                <a:sym typeface="Lucida Sans"/>
              </a:rPr>
              <a:t>CPU consists of transistors, combined together as gates.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Noto Sans Symbols"/>
              <a:buChar char="▪"/>
            </a:pPr>
            <a:r>
              <a:rPr b="0" i="0" lang="en-US" sz="2500" u="none" cap="none" strike="noStrike">
                <a:latin typeface="Lucida Sans"/>
                <a:ea typeface="Lucida Sans"/>
                <a:cs typeface="Lucida Sans"/>
                <a:sym typeface="Lucida Sans"/>
              </a:rPr>
              <a:t>CPU works in cycles – fetch, decode, execute.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Noto Sans Symbols"/>
              <a:buChar char="▪"/>
            </a:pPr>
            <a:r>
              <a:rPr b="0" i="0" lang="en-US" sz="2500" u="none" cap="none" strike="noStrike">
                <a:latin typeface="Lucida Sans"/>
                <a:ea typeface="Lucida Sans"/>
                <a:cs typeface="Lucida Sans"/>
                <a:sym typeface="Lucida Sans"/>
              </a:rPr>
              <a:t>Usually each step handled by different part of CPU.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Noto Sans Symbols"/>
              <a:buChar char="▪"/>
            </a:pPr>
            <a:r>
              <a:rPr b="0" i="0" lang="en-US" sz="2500" u="none" cap="none" strike="noStrike">
                <a:latin typeface="Lucida Sans"/>
                <a:ea typeface="Lucida Sans"/>
                <a:cs typeface="Lucida Sans"/>
                <a:sym typeface="Lucida Sans"/>
              </a:rPr>
              <a:t>Where would adders be found?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8"/>
          <p:cNvGrpSpPr/>
          <p:nvPr/>
        </p:nvGrpSpPr>
        <p:grpSpPr>
          <a:xfrm>
            <a:off x="8305800" y="1447800"/>
            <a:ext cx="3402012" cy="3140075"/>
            <a:chOff x="1519" y="1071"/>
            <a:chExt cx="2813" cy="2222"/>
          </a:xfrm>
        </p:grpSpPr>
        <p:sp>
          <p:nvSpPr>
            <p:cNvPr id="203" name="Google Shape;203;p8"/>
            <p:cNvSpPr/>
            <p:nvPr/>
          </p:nvSpPr>
          <p:spPr>
            <a:xfrm>
              <a:off x="1519" y="1796"/>
              <a:ext cx="1361" cy="1497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Arithmetic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&amp; Logic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2971" y="1796"/>
              <a:ext cx="1361" cy="1497"/>
            </a:xfrm>
            <a:prstGeom prst="roundRect">
              <a:avLst>
                <a:gd fmla="val 16667" name="adj"/>
              </a:avLst>
            </a:prstGeom>
            <a:solidFill>
              <a:srgbClr val="D9D9D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Registers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1565" y="1071"/>
              <a:ext cx="2721" cy="72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Control Unit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8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type="title"/>
          </p:nvPr>
        </p:nvSpPr>
        <p:spPr>
          <a:xfrm>
            <a:off x="2983776" y="-122376"/>
            <a:ext cx="2975035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4.CPU</a:t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4414" y="1234500"/>
            <a:ext cx="6273208" cy="4845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 txBox="1"/>
          <p:nvPr/>
        </p:nvSpPr>
        <p:spPr>
          <a:xfrm>
            <a:off x="6277788" y="5879361"/>
            <a:ext cx="2014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CPU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2"/>
          <p:cNvSpPr txBox="1"/>
          <p:nvPr>
            <p:ph type="title"/>
          </p:nvPr>
        </p:nvSpPr>
        <p:spPr>
          <a:xfrm>
            <a:off x="2813655" y="0"/>
            <a:ext cx="2975035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4.CPU</a:t>
            </a:r>
            <a:endParaRPr/>
          </a:p>
        </p:txBody>
      </p:sp>
      <p:sp>
        <p:nvSpPr>
          <p:cNvPr id="221" name="Google Shape;221;p62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2"/>
          <p:cNvSpPr txBox="1"/>
          <p:nvPr/>
        </p:nvSpPr>
        <p:spPr>
          <a:xfrm>
            <a:off x="5873750" y="5710237"/>
            <a:ext cx="2014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ckwel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CPU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9285" y="1304115"/>
            <a:ext cx="7121235" cy="424977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2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>
            <p:ph type="title"/>
          </p:nvPr>
        </p:nvSpPr>
        <p:spPr>
          <a:xfrm>
            <a:off x="2736276" y="46026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4.1. TYPES OF CPU DESIGN</a:t>
            </a:r>
            <a:endParaRPr/>
          </a:p>
        </p:txBody>
      </p:sp>
      <p:sp>
        <p:nvSpPr>
          <p:cNvPr id="230" name="Google Shape;230;p10"/>
          <p:cNvSpPr txBox="1"/>
          <p:nvPr>
            <p:ph idx="1" type="body"/>
          </p:nvPr>
        </p:nvSpPr>
        <p:spPr>
          <a:xfrm>
            <a:off x="2666426" y="1827212"/>
            <a:ext cx="8143875" cy="433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Accumulator: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 ALU operations work on data in accumulator (special register).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Stack: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 ALU operations work on data stored on the stack.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Register-register: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 ALU operations work on data stored in registers.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type="title"/>
          </p:nvPr>
        </p:nvSpPr>
        <p:spPr>
          <a:xfrm>
            <a:off x="2544112" y="162475"/>
            <a:ext cx="10161300" cy="16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4000" u="none" cap="none" strike="noStrike">
                <a:latin typeface="Rockwell"/>
                <a:ea typeface="Rockwell"/>
                <a:cs typeface="Rockwell"/>
                <a:sym typeface="Rockwell"/>
              </a:rPr>
              <a:t>4.2. EXAMPLE ARCHITECTURE</a:t>
            </a:r>
            <a:endParaRPr sz="4000"/>
          </a:p>
        </p:txBody>
      </p:sp>
      <p:sp>
        <p:nvSpPr>
          <p:cNvPr id="238" name="Google Shape;238;p11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765675" y="5221287"/>
            <a:ext cx="996950" cy="72548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Logic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830887" y="5221287"/>
            <a:ext cx="996950" cy="725487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799012" y="4868862"/>
            <a:ext cx="1995487" cy="352425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Unit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" name="Google Shape;242;p11"/>
          <p:cNvGrpSpPr/>
          <p:nvPr/>
        </p:nvGrpSpPr>
        <p:grpSpPr>
          <a:xfrm>
            <a:off x="4466437" y="1987575"/>
            <a:ext cx="2725737" cy="2592387"/>
            <a:chOff x="1474" y="981"/>
            <a:chExt cx="1860" cy="1633"/>
          </a:xfrm>
        </p:grpSpPr>
        <p:sp>
          <p:nvSpPr>
            <p:cNvPr id="243" name="Google Shape;243;p11"/>
            <p:cNvSpPr txBox="1"/>
            <p:nvPr/>
          </p:nvSpPr>
          <p:spPr>
            <a:xfrm>
              <a:off x="1474" y="981"/>
              <a:ext cx="1860" cy="158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4" name="Google Shape;244;p11"/>
            <p:cNvSpPr txBox="1"/>
            <p:nvPr/>
          </p:nvSpPr>
          <p:spPr>
            <a:xfrm>
              <a:off x="1474" y="981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5" name="Google Shape;245;p11"/>
            <p:cNvSpPr txBox="1"/>
            <p:nvPr/>
          </p:nvSpPr>
          <p:spPr>
            <a:xfrm>
              <a:off x="1474" y="1117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6" name="Google Shape;246;p11"/>
            <p:cNvSpPr txBox="1"/>
            <p:nvPr/>
          </p:nvSpPr>
          <p:spPr>
            <a:xfrm>
              <a:off x="1474" y="1253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7" name="Google Shape;247;p11"/>
            <p:cNvSpPr txBox="1"/>
            <p:nvPr/>
          </p:nvSpPr>
          <p:spPr>
            <a:xfrm>
              <a:off x="1474" y="1389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8" name="Google Shape;248;p11"/>
            <p:cNvSpPr txBox="1"/>
            <p:nvPr/>
          </p:nvSpPr>
          <p:spPr>
            <a:xfrm>
              <a:off x="1474" y="1525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9" name="Google Shape;249;p11"/>
            <p:cNvSpPr txBox="1"/>
            <p:nvPr/>
          </p:nvSpPr>
          <p:spPr>
            <a:xfrm>
              <a:off x="1474" y="1661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1474" y="1797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1" name="Google Shape;251;p11"/>
            <p:cNvSpPr txBox="1"/>
            <p:nvPr/>
          </p:nvSpPr>
          <p:spPr>
            <a:xfrm>
              <a:off x="1474" y="1933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2" name="Google Shape;252;p11"/>
            <p:cNvSpPr txBox="1"/>
            <p:nvPr/>
          </p:nvSpPr>
          <p:spPr>
            <a:xfrm>
              <a:off x="1474" y="2069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1474" y="2205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4" name="Google Shape;254;p11"/>
            <p:cNvSpPr txBox="1"/>
            <p:nvPr/>
          </p:nvSpPr>
          <p:spPr>
            <a:xfrm>
              <a:off x="1474" y="2341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1474" y="2478"/>
              <a:ext cx="1860" cy="13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256" name="Google Shape;256;p11"/>
          <p:cNvSpPr/>
          <p:nvPr/>
        </p:nvSpPr>
        <p:spPr>
          <a:xfrm>
            <a:off x="5495925" y="4437062"/>
            <a:ext cx="533400" cy="4318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 rot="5400000">
            <a:off x="5654675" y="4519600"/>
            <a:ext cx="21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7539037" y="2800350"/>
            <a:ext cx="17494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(RAM)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 txBox="1"/>
          <p:nvPr/>
        </p:nvSpPr>
        <p:spPr>
          <a:xfrm>
            <a:off x="7756525" y="4508500"/>
            <a:ext cx="11334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11"/>
          <p:cNvCxnSpPr/>
          <p:nvPr/>
        </p:nvCxnSpPr>
        <p:spPr>
          <a:xfrm rot="10800000">
            <a:off x="6029325" y="4724400"/>
            <a:ext cx="14620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61" name="Google Shape;261;p11"/>
          <p:cNvGrpSpPr/>
          <p:nvPr/>
        </p:nvGrpSpPr>
        <p:grpSpPr>
          <a:xfrm>
            <a:off x="2838450" y="4221162"/>
            <a:ext cx="1063625" cy="792162"/>
            <a:chOff x="1474" y="981"/>
            <a:chExt cx="1860" cy="1633"/>
          </a:xfrm>
        </p:grpSpPr>
        <p:sp>
          <p:nvSpPr>
            <p:cNvPr id="262" name="Google Shape;262;p11"/>
            <p:cNvSpPr txBox="1"/>
            <p:nvPr/>
          </p:nvSpPr>
          <p:spPr>
            <a:xfrm>
              <a:off x="1474" y="981"/>
              <a:ext cx="1860" cy="1587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3" name="Google Shape;263;p11"/>
            <p:cNvSpPr txBox="1"/>
            <p:nvPr/>
          </p:nvSpPr>
          <p:spPr>
            <a:xfrm>
              <a:off x="1474" y="981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4" name="Google Shape;264;p11"/>
            <p:cNvSpPr txBox="1"/>
            <p:nvPr/>
          </p:nvSpPr>
          <p:spPr>
            <a:xfrm>
              <a:off x="1474" y="1117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5" name="Google Shape;265;p11"/>
            <p:cNvSpPr txBox="1"/>
            <p:nvPr/>
          </p:nvSpPr>
          <p:spPr>
            <a:xfrm>
              <a:off x="1474" y="1253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6" name="Google Shape;266;p11"/>
            <p:cNvSpPr txBox="1"/>
            <p:nvPr/>
          </p:nvSpPr>
          <p:spPr>
            <a:xfrm>
              <a:off x="1474" y="1389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7" name="Google Shape;267;p11"/>
            <p:cNvSpPr txBox="1"/>
            <p:nvPr/>
          </p:nvSpPr>
          <p:spPr>
            <a:xfrm>
              <a:off x="1474" y="1525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8" name="Google Shape;268;p11"/>
            <p:cNvSpPr txBox="1"/>
            <p:nvPr/>
          </p:nvSpPr>
          <p:spPr>
            <a:xfrm>
              <a:off x="1474" y="1661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9" name="Google Shape;269;p11"/>
            <p:cNvSpPr txBox="1"/>
            <p:nvPr/>
          </p:nvSpPr>
          <p:spPr>
            <a:xfrm>
              <a:off x="1474" y="1797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0" name="Google Shape;270;p11"/>
            <p:cNvSpPr txBox="1"/>
            <p:nvPr/>
          </p:nvSpPr>
          <p:spPr>
            <a:xfrm>
              <a:off x="1474" y="1933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1" name="Google Shape;271;p11"/>
            <p:cNvSpPr txBox="1"/>
            <p:nvPr/>
          </p:nvSpPr>
          <p:spPr>
            <a:xfrm>
              <a:off x="1474" y="2069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2" name="Google Shape;272;p11"/>
            <p:cNvSpPr txBox="1"/>
            <p:nvPr/>
          </p:nvSpPr>
          <p:spPr>
            <a:xfrm>
              <a:off x="1474" y="2205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3" name="Google Shape;273;p11"/>
            <p:cNvSpPr txBox="1"/>
            <p:nvPr/>
          </p:nvSpPr>
          <p:spPr>
            <a:xfrm>
              <a:off x="1474" y="2341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4" name="Google Shape;274;p11"/>
            <p:cNvSpPr txBox="1"/>
            <p:nvPr/>
          </p:nvSpPr>
          <p:spPr>
            <a:xfrm>
              <a:off x="1474" y="2478"/>
              <a:ext cx="1860" cy="136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cxnSp>
        <p:nvCxnSpPr>
          <p:cNvPr id="275" name="Google Shape;275;p11"/>
          <p:cNvCxnSpPr/>
          <p:nvPr/>
        </p:nvCxnSpPr>
        <p:spPr>
          <a:xfrm>
            <a:off x="3902075" y="4221162"/>
            <a:ext cx="6635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11"/>
          <p:cNvCxnSpPr/>
          <p:nvPr/>
        </p:nvCxnSpPr>
        <p:spPr>
          <a:xfrm flipH="1" rot="10800000">
            <a:off x="3902075" y="4437062"/>
            <a:ext cx="598487" cy="5746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7" name="Google Shape;277;p11"/>
          <p:cNvSpPr txBox="1"/>
          <p:nvPr/>
        </p:nvSpPr>
        <p:spPr>
          <a:xfrm>
            <a:off x="2952750" y="3735387"/>
            <a:ext cx="762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 txBox="1"/>
          <p:nvPr/>
        </p:nvSpPr>
        <p:spPr>
          <a:xfrm>
            <a:off x="7689850" y="5372100"/>
            <a:ext cx="1063625" cy="73025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279" name="Google Shape;279;p11"/>
          <p:cNvCxnSpPr/>
          <p:nvPr/>
        </p:nvCxnSpPr>
        <p:spPr>
          <a:xfrm rot="10800000">
            <a:off x="6826250" y="5372100"/>
            <a:ext cx="7985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0" name="Google Shape;280;p11"/>
          <p:cNvSpPr txBox="1"/>
          <p:nvPr/>
        </p:nvSpPr>
        <p:spPr>
          <a:xfrm>
            <a:off x="7670800" y="5516562"/>
            <a:ext cx="20256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Accumulator is a special register, stored in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 txBox="1"/>
          <p:nvPr>
            <p:ph type="title"/>
          </p:nvPr>
        </p:nvSpPr>
        <p:spPr>
          <a:xfrm>
            <a:off x="2604655" y="2206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4800" u="none" cap="none" strike="noStrike">
                <a:latin typeface="Rockwell"/>
                <a:ea typeface="Rockwell"/>
                <a:cs typeface="Rockwell"/>
                <a:sym typeface="Rockwell"/>
              </a:rPr>
              <a:t>CODE SEQUENCE EXAMPLES</a:t>
            </a:r>
            <a:endParaRPr sz="4800"/>
          </a:p>
        </p:txBody>
      </p:sp>
      <p:sp>
        <p:nvSpPr>
          <p:cNvPr id="287" name="Google Shape;287;p12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12"/>
          <p:cNvGraphicFramePr/>
          <p:nvPr/>
        </p:nvGraphicFramePr>
        <p:xfrm>
          <a:off x="2800206" y="1839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{99B77F0C-AAFB-4675-99CA-E559E6F9A81F}</a:tableStyleId>
              </a:tblPr>
              <a:tblGrid>
                <a:gridCol w="1531925"/>
                <a:gridCol w="1392225"/>
                <a:gridCol w="2062150"/>
                <a:gridCol w="2590800"/>
              </a:tblGrid>
              <a:tr h="8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Stack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Acc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Reg-Mem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1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Load-Store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Push A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Load A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Load R1, A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Load R1, A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Push B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 B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  R1, B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Load R2, B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Store C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Store R3, C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Add R3, R2, R1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Pop C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Rockwell"/>
                        <a:ea typeface="Rockwell"/>
                        <a:cs typeface="Rockwell"/>
                        <a:sym typeface="Rockwell"/>
                      </a:endParaRPr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Rockwell"/>
                        <a:ea typeface="Rockwell"/>
                        <a:cs typeface="Rockwell"/>
                        <a:sym typeface="Rockwell"/>
                      </a:endParaRPr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Verdana"/>
                        <a:buNone/>
                      </a:pPr>
                      <a:r>
                        <a:rPr b="0" i="0" lang="en-US" sz="25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Store R3, C</a:t>
                      </a:r>
                      <a:endParaRPr sz="1800" u="none" cap="none" strike="noStrike"/>
                    </a:p>
                  </a:txBody>
                  <a:tcPr marT="45725" marB="45725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" name="Google Shape;289;p12"/>
          <p:cNvSpPr txBox="1"/>
          <p:nvPr/>
        </p:nvSpPr>
        <p:spPr>
          <a:xfrm>
            <a:off x="5392594" y="6381750"/>
            <a:ext cx="34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of: C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"/>
          <p:cNvSpPr txBox="1"/>
          <p:nvPr>
            <p:ph type="title"/>
          </p:nvPr>
        </p:nvSpPr>
        <p:spPr>
          <a:xfrm>
            <a:off x="2541449" y="500625"/>
            <a:ext cx="1033080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u="none" cap="none" strike="noStrike">
                <a:latin typeface="Rockwell"/>
                <a:ea typeface="Rockwell"/>
                <a:cs typeface="Rockwell"/>
                <a:sym typeface="Rockwell"/>
              </a:rPr>
              <a:t>4.3. ARCHITECTURE BIT SIZING</a:t>
            </a:r>
            <a:endParaRPr/>
          </a:p>
        </p:txBody>
      </p:sp>
      <p:sp>
        <p:nvSpPr>
          <p:cNvPr id="296" name="Google Shape;296;p13"/>
          <p:cNvSpPr txBox="1"/>
          <p:nvPr>
            <p:ph idx="1" type="body"/>
          </p:nvPr>
        </p:nvSpPr>
        <p:spPr>
          <a:xfrm>
            <a:off x="2685124" y="2128825"/>
            <a:ext cx="99147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Most CPU’s are rated by the number of bits they have: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16 bit (8086).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32 bit (80386).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64 bit (Core 2)</a:t>
            </a:r>
            <a:endParaRPr/>
          </a:p>
          <a:p>
            <a:pPr indent="-85723" lvl="0" marL="18288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850" y="2667000"/>
            <a:ext cx="2206625" cy="12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3"/>
          <p:cNvSpPr txBox="1"/>
          <p:nvPr/>
        </p:nvSpPr>
        <p:spPr>
          <a:xfrm>
            <a:off x="5359400" y="3727450"/>
            <a:ext cx="27178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cida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INTEL 8086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cida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Released: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June 8, 1978,</a:t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00" name="Google Shape;30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9587" y="2462212"/>
            <a:ext cx="2206625" cy="21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3"/>
          <p:cNvSpPr txBox="1"/>
          <p:nvPr/>
        </p:nvSpPr>
        <p:spPr>
          <a:xfrm>
            <a:off x="8201025" y="4556125"/>
            <a:ext cx="2873375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cida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INTEL 80386 (i386)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cida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Released: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October, 1985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02" name="Google Shape;3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22562" y="4278312"/>
            <a:ext cx="2312987" cy="198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 txBox="1"/>
          <p:nvPr/>
        </p:nvSpPr>
        <p:spPr>
          <a:xfrm>
            <a:off x="4832350" y="5248275"/>
            <a:ext cx="30353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cida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INTEL CORE i7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ucida San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Released: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November, 2008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4.CPU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4.1. Types of CPU Design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4.2. Example Architecture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4.3. Architecture Bit Sizing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3900" y="1921721"/>
            <a:ext cx="3848100" cy="281768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 txBox="1"/>
          <p:nvPr>
            <p:ph type="title"/>
          </p:nvPr>
        </p:nvSpPr>
        <p:spPr>
          <a:xfrm>
            <a:off x="2715491" y="351721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5. BUS</a:t>
            </a:r>
            <a:endParaRPr/>
          </a:p>
        </p:txBody>
      </p:sp>
      <p:sp>
        <p:nvSpPr>
          <p:cNvPr id="311" name="Google Shape;311;p14"/>
          <p:cNvSpPr txBox="1"/>
          <p:nvPr>
            <p:ph idx="1" type="body"/>
          </p:nvPr>
        </p:nvSpPr>
        <p:spPr>
          <a:xfrm>
            <a:off x="2628900" y="1427018"/>
            <a:ext cx="5715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599" lvl="0" marL="18256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82562" lvl="0" marL="182562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Char char="▪"/>
            </a:pPr>
            <a:r>
              <a:rPr b="0" i="0" lang="en-US" sz="1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bus is a high-speed internal connection. Buses are used to send control signals and data between the processor and other components.</a:t>
            </a:r>
            <a:endParaRPr/>
          </a:p>
          <a:p>
            <a:pPr indent="-182562" lvl="0" marL="182562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Char char="▪"/>
            </a:pPr>
            <a:r>
              <a:rPr b="0" i="0" lang="en-US" sz="1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Three types of bus are used.</a:t>
            </a:r>
            <a:endParaRPr/>
          </a:p>
          <a:p>
            <a:pPr indent="-182562" lvl="1" marL="4572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19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Address bus </a:t>
            </a: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- carries memory addresses from the processor to other components bus is unidirectional. such as primary storage and input/output devices. The address is unidirectional.</a:t>
            </a:r>
            <a:endParaRPr/>
          </a:p>
          <a:p>
            <a:pPr indent="-182561" lvl="1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445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82561" lvl="1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Char char="▪"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Data bus - </a:t>
            </a: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carries the data between the processor and other components. The data bus is bidirectional.</a:t>
            </a:r>
            <a:endParaRPr/>
          </a:p>
          <a:p>
            <a:pPr indent="-182561" lvl="1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82561" lvl="1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275"/>
              <a:buFont typeface="Noto Sans Symbols"/>
              <a:buChar char="▪"/>
            </a:pPr>
            <a:r>
              <a:rPr b="1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Control bus - </a:t>
            </a: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carries control signals from the processor to other components. The control bus also carries the clock's pulses. </a:t>
            </a:r>
            <a:endParaRPr/>
          </a:p>
        </p:txBody>
      </p:sp>
      <p:sp>
        <p:nvSpPr>
          <p:cNvPr id="312" name="Google Shape;312;p14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5.1. Data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5.2. Address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5.3. Register Sizing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>
            <p:ph type="title"/>
          </p:nvPr>
        </p:nvSpPr>
        <p:spPr>
          <a:xfrm>
            <a:off x="2627034" y="27898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5.1. DATA BUS</a:t>
            </a:r>
            <a:endParaRPr/>
          </a:p>
        </p:txBody>
      </p:sp>
      <p:sp>
        <p:nvSpPr>
          <p:cNvPr id="319" name="Google Shape;319;p15"/>
          <p:cNvSpPr txBox="1"/>
          <p:nvPr>
            <p:ph idx="1" type="body"/>
          </p:nvPr>
        </p:nvSpPr>
        <p:spPr>
          <a:xfrm>
            <a:off x="2599071" y="1822450"/>
            <a:ext cx="3914775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Determines how much data can be copied from / to memory at a time (cycle?).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Advantages of Harvard vs. Von Neumann?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5"/>
          <p:cNvGrpSpPr/>
          <p:nvPr/>
        </p:nvGrpSpPr>
        <p:grpSpPr>
          <a:xfrm>
            <a:off x="6851652" y="1557337"/>
            <a:ext cx="4635500" cy="4221162"/>
            <a:chOff x="4413739" y="1773238"/>
            <a:chExt cx="4635012" cy="4221162"/>
          </a:xfrm>
        </p:grpSpPr>
        <p:sp>
          <p:nvSpPr>
            <p:cNvPr id="322" name="Google Shape;322;p15"/>
            <p:cNvSpPr txBox="1"/>
            <p:nvPr/>
          </p:nvSpPr>
          <p:spPr>
            <a:xfrm>
              <a:off x="8288216" y="2413001"/>
              <a:ext cx="76053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5"/>
            <p:cNvSpPr txBox="1"/>
            <p:nvPr/>
          </p:nvSpPr>
          <p:spPr>
            <a:xfrm>
              <a:off x="8288216" y="2717801"/>
              <a:ext cx="76053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0001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 txBox="1"/>
            <p:nvPr/>
          </p:nvSpPr>
          <p:spPr>
            <a:xfrm>
              <a:off x="8288216" y="3708401"/>
              <a:ext cx="76053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4002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 txBox="1"/>
            <p:nvPr/>
          </p:nvSpPr>
          <p:spPr>
            <a:xfrm>
              <a:off x="8288216" y="4013201"/>
              <a:ext cx="76053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4003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5"/>
            <p:cNvSpPr txBox="1"/>
            <p:nvPr/>
          </p:nvSpPr>
          <p:spPr>
            <a:xfrm>
              <a:off x="8288216" y="4318001"/>
              <a:ext cx="76053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4004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" name="Google Shape;327;p15"/>
            <p:cNvGrpSpPr/>
            <p:nvPr/>
          </p:nvGrpSpPr>
          <p:grpSpPr>
            <a:xfrm>
              <a:off x="4413739" y="1773238"/>
              <a:ext cx="3916973" cy="4221162"/>
              <a:chOff x="4413739" y="1773238"/>
              <a:chExt cx="3916973" cy="4221162"/>
            </a:xfrm>
          </p:grpSpPr>
          <p:sp>
            <p:nvSpPr>
              <p:cNvPr id="328" name="Google Shape;328;p15"/>
              <p:cNvSpPr txBox="1"/>
              <p:nvPr/>
            </p:nvSpPr>
            <p:spPr>
              <a:xfrm>
                <a:off x="4533900" y="2641600"/>
                <a:ext cx="1014046" cy="32004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329" name="Google Shape;329;p15"/>
              <p:cNvSpPr txBox="1"/>
              <p:nvPr/>
            </p:nvSpPr>
            <p:spPr>
              <a:xfrm>
                <a:off x="4413739" y="1844675"/>
                <a:ext cx="1216269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CPU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5"/>
              <p:cNvSpPr txBox="1"/>
              <p:nvPr/>
            </p:nvSpPr>
            <p:spPr>
              <a:xfrm>
                <a:off x="7272705" y="2489200"/>
                <a:ext cx="1015511" cy="35052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331" name="Google Shape;331;p15"/>
              <p:cNvSpPr txBox="1"/>
              <p:nvPr/>
            </p:nvSpPr>
            <p:spPr>
              <a:xfrm>
                <a:off x="7098324" y="1773238"/>
                <a:ext cx="121773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Memory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2" name="Google Shape;332;p15"/>
              <p:cNvCxnSpPr/>
              <p:nvPr/>
            </p:nvCxnSpPr>
            <p:spPr>
              <a:xfrm>
                <a:off x="7272705" y="27940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15"/>
              <p:cNvCxnSpPr/>
              <p:nvPr/>
            </p:nvCxnSpPr>
            <p:spPr>
              <a:xfrm>
                <a:off x="7272705" y="30988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15"/>
              <p:cNvCxnSpPr/>
              <p:nvPr/>
            </p:nvCxnSpPr>
            <p:spPr>
              <a:xfrm>
                <a:off x="7272705" y="37846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15"/>
              <p:cNvCxnSpPr/>
              <p:nvPr/>
            </p:nvCxnSpPr>
            <p:spPr>
              <a:xfrm>
                <a:off x="7272705" y="40894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15"/>
              <p:cNvCxnSpPr/>
              <p:nvPr/>
            </p:nvCxnSpPr>
            <p:spPr>
              <a:xfrm>
                <a:off x="7272705" y="43942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15"/>
              <p:cNvCxnSpPr/>
              <p:nvPr/>
            </p:nvCxnSpPr>
            <p:spPr>
              <a:xfrm>
                <a:off x="7272705" y="46990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15"/>
              <p:cNvCxnSpPr/>
              <p:nvPr/>
            </p:nvCxnSpPr>
            <p:spPr>
              <a:xfrm>
                <a:off x="7272705" y="53848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5"/>
              <p:cNvCxnSpPr/>
              <p:nvPr/>
            </p:nvCxnSpPr>
            <p:spPr>
              <a:xfrm>
                <a:off x="7272705" y="5689600"/>
                <a:ext cx="101551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5"/>
              <p:cNvCxnSpPr/>
              <p:nvPr/>
            </p:nvCxnSpPr>
            <p:spPr>
              <a:xfrm>
                <a:off x="7779727" y="3173413"/>
                <a:ext cx="0" cy="533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5"/>
              <p:cNvCxnSpPr/>
              <p:nvPr/>
            </p:nvCxnSpPr>
            <p:spPr>
              <a:xfrm>
                <a:off x="7781192" y="4775200"/>
                <a:ext cx="0" cy="533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2" name="Google Shape;342;p15"/>
              <p:cNvSpPr txBox="1"/>
              <p:nvPr/>
            </p:nvSpPr>
            <p:spPr>
              <a:xfrm>
                <a:off x="7214089" y="4051301"/>
                <a:ext cx="1116623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33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10110001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15"/>
              <p:cNvSpPr txBox="1"/>
              <p:nvPr/>
            </p:nvSpPr>
            <p:spPr>
              <a:xfrm>
                <a:off x="4680439" y="2794001"/>
                <a:ext cx="537797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5"/>
              <p:cNvSpPr txBox="1"/>
              <p:nvPr/>
            </p:nvSpPr>
            <p:spPr>
              <a:xfrm>
                <a:off x="4583724" y="3175000"/>
                <a:ext cx="912935" cy="369332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4003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5"/>
              <p:cNvSpPr txBox="1"/>
              <p:nvPr/>
            </p:nvSpPr>
            <p:spPr>
              <a:xfrm>
                <a:off x="4813789" y="5373688"/>
                <a:ext cx="60373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5"/>
              <p:cNvSpPr txBox="1"/>
              <p:nvPr/>
            </p:nvSpPr>
            <p:spPr>
              <a:xfrm>
                <a:off x="4583724" y="4927600"/>
                <a:ext cx="912935" cy="369332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33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3300"/>
                    </a:solidFill>
                    <a:latin typeface="Arial"/>
                    <a:ea typeface="Arial"/>
                    <a:cs typeface="Arial"/>
                    <a:sym typeface="Arial"/>
                  </a:rPr>
                  <a:t>????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descr="Wide downward diagonal" id="347" name="Google Shape;347;p15"/>
              <p:cNvSpPr txBox="1"/>
              <p:nvPr/>
            </p:nvSpPr>
            <p:spPr>
              <a:xfrm>
                <a:off x="5547946" y="4546600"/>
                <a:ext cx="1724758" cy="381000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  <p:sp>
            <p:nvSpPr>
              <p:cNvPr id="348" name="Google Shape;348;p15"/>
              <p:cNvSpPr txBox="1"/>
              <p:nvPr/>
            </p:nvSpPr>
            <p:spPr>
              <a:xfrm>
                <a:off x="5700347" y="3098801"/>
                <a:ext cx="137013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Address Bus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5"/>
              <p:cNvSpPr txBox="1"/>
              <p:nvPr/>
            </p:nvSpPr>
            <p:spPr>
              <a:xfrm>
                <a:off x="5751635" y="4927601"/>
                <a:ext cx="1370134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Data Bus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0" name="Google Shape;350;p15"/>
              <p:cNvCxnSpPr/>
              <p:nvPr/>
            </p:nvCxnSpPr>
            <p:spPr>
              <a:xfrm>
                <a:off x="5547946" y="4241800"/>
                <a:ext cx="172475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351" name="Google Shape;351;p15"/>
              <p:cNvSpPr txBox="1"/>
              <p:nvPr/>
            </p:nvSpPr>
            <p:spPr>
              <a:xfrm>
                <a:off x="4614497" y="4051301"/>
                <a:ext cx="933450" cy="3667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descr="Wide upward diagonal" id="352" name="Google Shape;352;p15"/>
              <p:cNvSpPr txBox="1"/>
              <p:nvPr/>
            </p:nvSpPr>
            <p:spPr>
              <a:xfrm>
                <a:off x="5547946" y="3479800"/>
                <a:ext cx="1724758" cy="457200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endParaRPr>
              </a:p>
            </p:txBody>
          </p:sp>
        </p:grpSp>
      </p:grpSp>
      <p:sp>
        <p:nvSpPr>
          <p:cNvPr id="353" name="Google Shape;353;p15"/>
          <p:cNvSpPr txBox="1"/>
          <p:nvPr/>
        </p:nvSpPr>
        <p:spPr>
          <a:xfrm>
            <a:off x="8205789" y="333375"/>
            <a:ext cx="319087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PC</a:t>
            </a: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Program counter. Register / holds the address of the current instruction.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6750052" y="5805487"/>
            <a:ext cx="4652962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IR</a:t>
            </a:r>
            <a:r>
              <a:rPr b="0" i="0" lang="en-US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Instruction register. Holds the current instruction while it is executed.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5.1. Data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5.2. Address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5.3. Register Sizing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"/>
          <p:cNvSpPr txBox="1"/>
          <p:nvPr>
            <p:ph type="title"/>
          </p:nvPr>
        </p:nvSpPr>
        <p:spPr>
          <a:xfrm>
            <a:off x="2770917" y="32628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5.2. ADDRESS BUS</a:t>
            </a:r>
            <a:endParaRPr/>
          </a:p>
        </p:txBody>
      </p:sp>
      <p:sp>
        <p:nvSpPr>
          <p:cNvPr id="362" name="Google Shape;362;p16"/>
          <p:cNvSpPr txBox="1"/>
          <p:nvPr>
            <p:ph idx="1" type="body"/>
          </p:nvPr>
        </p:nvSpPr>
        <p:spPr>
          <a:xfrm>
            <a:off x="2566988" y="1831433"/>
            <a:ext cx="3529012" cy="316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Determines how much memory can be accessed. 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Matched with program counter / pointer</a:t>
            </a:r>
            <a:endParaRPr/>
          </a:p>
        </p:txBody>
      </p:sp>
      <p:sp>
        <p:nvSpPr>
          <p:cNvPr id="363" name="Google Shape;363;p16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16"/>
          <p:cNvGrpSpPr/>
          <p:nvPr/>
        </p:nvGrpSpPr>
        <p:grpSpPr>
          <a:xfrm>
            <a:off x="6280295" y="1700212"/>
            <a:ext cx="5370512" cy="4421187"/>
            <a:chOff x="703" y="1008"/>
            <a:chExt cx="3836" cy="2785"/>
          </a:xfrm>
        </p:grpSpPr>
        <p:sp>
          <p:nvSpPr>
            <p:cNvPr id="365" name="Google Shape;365;p16"/>
            <p:cNvSpPr txBox="1"/>
            <p:nvPr/>
          </p:nvSpPr>
          <p:spPr>
            <a:xfrm>
              <a:off x="1828" y="3677"/>
              <a:ext cx="2342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 Bus                                                  Data  Bus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6"/>
            <p:cNvSpPr txBox="1"/>
            <p:nvPr/>
          </p:nvSpPr>
          <p:spPr>
            <a:xfrm>
              <a:off x="1828" y="3564"/>
              <a:ext cx="527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   write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6"/>
            <p:cNvSpPr txBox="1"/>
            <p:nvPr/>
          </p:nvSpPr>
          <p:spPr>
            <a:xfrm>
              <a:off x="775" y="3564"/>
              <a:ext cx="512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Chip Select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8" name="Google Shape;368;p16"/>
            <p:cNvCxnSpPr/>
            <p:nvPr/>
          </p:nvCxnSpPr>
          <p:spPr>
            <a:xfrm flipH="1">
              <a:off x="1878" y="1345"/>
              <a:ext cx="38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9" name="Google Shape;369;p16"/>
            <p:cNvSpPr txBox="1"/>
            <p:nvPr/>
          </p:nvSpPr>
          <p:spPr>
            <a:xfrm>
              <a:off x="3418" y="1247"/>
              <a:ext cx="159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0" name="Google Shape;370;p16"/>
            <p:cNvSpPr txBox="1"/>
            <p:nvPr/>
          </p:nvSpPr>
          <p:spPr>
            <a:xfrm>
              <a:off x="3839" y="1247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1" name="Google Shape;371;p16"/>
            <p:cNvSpPr txBox="1"/>
            <p:nvPr/>
          </p:nvSpPr>
          <p:spPr>
            <a:xfrm>
              <a:off x="2945" y="1247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2" name="Google Shape;372;p16"/>
            <p:cNvSpPr txBox="1"/>
            <p:nvPr/>
          </p:nvSpPr>
          <p:spPr>
            <a:xfrm>
              <a:off x="2682" y="1247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3" name="Google Shape;373;p16"/>
            <p:cNvSpPr txBox="1"/>
            <p:nvPr/>
          </p:nvSpPr>
          <p:spPr>
            <a:xfrm>
              <a:off x="3208" y="1247"/>
              <a:ext cx="157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4" name="Google Shape;374;p16"/>
            <p:cNvSpPr txBox="1"/>
            <p:nvPr/>
          </p:nvSpPr>
          <p:spPr>
            <a:xfrm>
              <a:off x="3629" y="1247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75" name="Google Shape;375;p16"/>
            <p:cNvSpPr txBox="1"/>
            <p:nvPr/>
          </p:nvSpPr>
          <p:spPr>
            <a:xfrm>
              <a:off x="3523" y="1276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6" name="Google Shape;376;p16"/>
            <p:cNvCxnSpPr/>
            <p:nvPr/>
          </p:nvCxnSpPr>
          <p:spPr>
            <a:xfrm>
              <a:off x="2840" y="1303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7" name="Google Shape;377;p16"/>
            <p:cNvCxnSpPr/>
            <p:nvPr/>
          </p:nvCxnSpPr>
          <p:spPr>
            <a:xfrm>
              <a:off x="2840" y="1359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16"/>
            <p:cNvCxnSpPr/>
            <p:nvPr/>
          </p:nvCxnSpPr>
          <p:spPr>
            <a:xfrm>
              <a:off x="3103" y="1303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" name="Google Shape;379;p16"/>
            <p:cNvCxnSpPr/>
            <p:nvPr/>
          </p:nvCxnSpPr>
          <p:spPr>
            <a:xfrm>
              <a:off x="3103" y="1359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" name="Google Shape;380;p16"/>
            <p:cNvCxnSpPr/>
            <p:nvPr/>
          </p:nvCxnSpPr>
          <p:spPr>
            <a:xfrm>
              <a:off x="3734" y="1359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1" name="Google Shape;381;p16"/>
            <p:cNvCxnSpPr/>
            <p:nvPr/>
          </p:nvCxnSpPr>
          <p:spPr>
            <a:xfrm>
              <a:off x="3734" y="1303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2" name="Google Shape;382;p16"/>
            <p:cNvCxnSpPr/>
            <p:nvPr/>
          </p:nvCxnSpPr>
          <p:spPr>
            <a:xfrm>
              <a:off x="3365" y="1359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" name="Google Shape;383;p16"/>
            <p:cNvCxnSpPr/>
            <p:nvPr/>
          </p:nvCxnSpPr>
          <p:spPr>
            <a:xfrm>
              <a:off x="3365" y="1303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384" name="Google Shape;38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" y="1079"/>
              <a:ext cx="263" cy="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" y="1359"/>
              <a:ext cx="263" cy="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6" name="Google Shape;386;p16"/>
            <p:cNvSpPr/>
            <p:nvPr/>
          </p:nvSpPr>
          <p:spPr>
            <a:xfrm>
              <a:off x="2524" y="1191"/>
              <a:ext cx="158" cy="112"/>
            </a:xfrm>
            <a:custGeom>
              <a:rect b="b" l="l" r="r" t="t"/>
              <a:pathLst>
                <a:path extrusionOk="0" h="112" w="168">
                  <a:moveTo>
                    <a:pt x="0" y="0"/>
                  </a:moveTo>
                  <a:lnTo>
                    <a:pt x="56" y="0"/>
                  </a:lnTo>
                  <a:lnTo>
                    <a:pt x="56" y="112"/>
                  </a:lnTo>
                  <a:lnTo>
                    <a:pt x="168" y="11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2524" y="1359"/>
              <a:ext cx="158" cy="113"/>
            </a:xfrm>
            <a:custGeom>
              <a:rect b="b" l="l" r="r" t="t"/>
              <a:pathLst>
                <a:path extrusionOk="0" h="113" w="168">
                  <a:moveTo>
                    <a:pt x="0" y="113"/>
                  </a:moveTo>
                  <a:lnTo>
                    <a:pt x="56" y="113"/>
                  </a:lnTo>
                  <a:lnTo>
                    <a:pt x="56" y="0"/>
                  </a:lnTo>
                  <a:lnTo>
                    <a:pt x="16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2261" y="1247"/>
              <a:ext cx="106" cy="169"/>
            </a:xfrm>
            <a:custGeom>
              <a:rect b="b" l="l" r="r" t="t"/>
              <a:pathLst>
                <a:path extrusionOk="0" h="169" w="112">
                  <a:moveTo>
                    <a:pt x="112" y="0"/>
                  </a:moveTo>
                  <a:lnTo>
                    <a:pt x="0" y="0"/>
                  </a:lnTo>
                  <a:lnTo>
                    <a:pt x="0" y="16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389" name="Google Shape;389;p16"/>
            <p:cNvCxnSpPr/>
            <p:nvPr/>
          </p:nvCxnSpPr>
          <p:spPr>
            <a:xfrm>
              <a:off x="2261" y="1416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0" name="Google Shape;390;p16"/>
            <p:cNvCxnSpPr/>
            <p:nvPr/>
          </p:nvCxnSpPr>
          <p:spPr>
            <a:xfrm flipH="1">
              <a:off x="2090" y="1121"/>
              <a:ext cx="27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1" name="Google Shape;391;p16"/>
            <p:cNvSpPr txBox="1"/>
            <p:nvPr/>
          </p:nvSpPr>
          <p:spPr>
            <a:xfrm>
              <a:off x="3418" y="2314"/>
              <a:ext cx="159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92" name="Google Shape;392;p16"/>
            <p:cNvSpPr txBox="1"/>
            <p:nvPr/>
          </p:nvSpPr>
          <p:spPr>
            <a:xfrm>
              <a:off x="3839" y="2314"/>
              <a:ext cx="158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93" name="Google Shape;393;p16"/>
            <p:cNvSpPr txBox="1"/>
            <p:nvPr/>
          </p:nvSpPr>
          <p:spPr>
            <a:xfrm>
              <a:off x="2945" y="2314"/>
              <a:ext cx="158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94" name="Google Shape;394;p16"/>
            <p:cNvSpPr txBox="1"/>
            <p:nvPr/>
          </p:nvSpPr>
          <p:spPr>
            <a:xfrm>
              <a:off x="2682" y="2314"/>
              <a:ext cx="158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95" name="Google Shape;395;p16"/>
            <p:cNvSpPr txBox="1"/>
            <p:nvPr/>
          </p:nvSpPr>
          <p:spPr>
            <a:xfrm>
              <a:off x="3208" y="2314"/>
              <a:ext cx="157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96" name="Google Shape;396;p16"/>
            <p:cNvSpPr txBox="1"/>
            <p:nvPr/>
          </p:nvSpPr>
          <p:spPr>
            <a:xfrm>
              <a:off x="3629" y="2314"/>
              <a:ext cx="158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397" name="Google Shape;397;p16"/>
            <p:cNvSpPr txBox="1"/>
            <p:nvPr/>
          </p:nvSpPr>
          <p:spPr>
            <a:xfrm>
              <a:off x="3523" y="2343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8" name="Google Shape;398;p16"/>
            <p:cNvCxnSpPr/>
            <p:nvPr/>
          </p:nvCxnSpPr>
          <p:spPr>
            <a:xfrm>
              <a:off x="2840" y="2370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" name="Google Shape;399;p16"/>
            <p:cNvCxnSpPr/>
            <p:nvPr/>
          </p:nvCxnSpPr>
          <p:spPr>
            <a:xfrm>
              <a:off x="2840" y="2426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16"/>
            <p:cNvCxnSpPr/>
            <p:nvPr/>
          </p:nvCxnSpPr>
          <p:spPr>
            <a:xfrm>
              <a:off x="3103" y="2370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16"/>
            <p:cNvCxnSpPr/>
            <p:nvPr/>
          </p:nvCxnSpPr>
          <p:spPr>
            <a:xfrm>
              <a:off x="3103" y="2426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16"/>
            <p:cNvCxnSpPr/>
            <p:nvPr/>
          </p:nvCxnSpPr>
          <p:spPr>
            <a:xfrm>
              <a:off x="3734" y="2426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" name="Google Shape;403;p16"/>
            <p:cNvCxnSpPr/>
            <p:nvPr/>
          </p:nvCxnSpPr>
          <p:spPr>
            <a:xfrm>
              <a:off x="3734" y="2370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16"/>
            <p:cNvCxnSpPr/>
            <p:nvPr/>
          </p:nvCxnSpPr>
          <p:spPr>
            <a:xfrm>
              <a:off x="3365" y="2426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16"/>
            <p:cNvCxnSpPr/>
            <p:nvPr/>
          </p:nvCxnSpPr>
          <p:spPr>
            <a:xfrm>
              <a:off x="3365" y="2370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406" name="Google Shape;406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" y="2153"/>
              <a:ext cx="263" cy="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0" y="2426"/>
              <a:ext cx="263" cy="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16"/>
            <p:cNvSpPr/>
            <p:nvPr/>
          </p:nvSpPr>
          <p:spPr>
            <a:xfrm>
              <a:off x="2524" y="2258"/>
              <a:ext cx="158" cy="112"/>
            </a:xfrm>
            <a:custGeom>
              <a:rect b="b" l="l" r="r" t="t"/>
              <a:pathLst>
                <a:path extrusionOk="0" h="112" w="168">
                  <a:moveTo>
                    <a:pt x="0" y="0"/>
                  </a:moveTo>
                  <a:lnTo>
                    <a:pt x="56" y="0"/>
                  </a:lnTo>
                  <a:lnTo>
                    <a:pt x="56" y="112"/>
                  </a:lnTo>
                  <a:lnTo>
                    <a:pt x="168" y="11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2524" y="2426"/>
              <a:ext cx="158" cy="113"/>
            </a:xfrm>
            <a:custGeom>
              <a:rect b="b" l="l" r="r" t="t"/>
              <a:pathLst>
                <a:path extrusionOk="0" h="113" w="168">
                  <a:moveTo>
                    <a:pt x="0" y="113"/>
                  </a:moveTo>
                  <a:lnTo>
                    <a:pt x="56" y="113"/>
                  </a:lnTo>
                  <a:lnTo>
                    <a:pt x="56" y="0"/>
                  </a:lnTo>
                  <a:lnTo>
                    <a:pt x="16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2261" y="2314"/>
              <a:ext cx="106" cy="168"/>
            </a:xfrm>
            <a:custGeom>
              <a:rect b="b" l="l" r="r" t="t"/>
              <a:pathLst>
                <a:path extrusionOk="0" h="168" w="112">
                  <a:moveTo>
                    <a:pt x="112" y="0"/>
                  </a:moveTo>
                  <a:lnTo>
                    <a:pt x="0" y="0"/>
                  </a:lnTo>
                  <a:lnTo>
                    <a:pt x="0" y="16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411" name="Google Shape;411;p16"/>
            <p:cNvCxnSpPr/>
            <p:nvPr/>
          </p:nvCxnSpPr>
          <p:spPr>
            <a:xfrm>
              <a:off x="2261" y="2482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12" name="Google Shape;412;p16"/>
            <p:cNvSpPr txBox="1"/>
            <p:nvPr/>
          </p:nvSpPr>
          <p:spPr>
            <a:xfrm>
              <a:off x="3418" y="1809"/>
              <a:ext cx="159" cy="16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3" name="Google Shape;413;p16"/>
            <p:cNvSpPr txBox="1"/>
            <p:nvPr/>
          </p:nvSpPr>
          <p:spPr>
            <a:xfrm>
              <a:off x="3839" y="1809"/>
              <a:ext cx="158" cy="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4" name="Google Shape;414;p16"/>
            <p:cNvSpPr txBox="1"/>
            <p:nvPr/>
          </p:nvSpPr>
          <p:spPr>
            <a:xfrm>
              <a:off x="2945" y="1809"/>
              <a:ext cx="158" cy="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5" name="Google Shape;415;p16"/>
            <p:cNvSpPr txBox="1"/>
            <p:nvPr/>
          </p:nvSpPr>
          <p:spPr>
            <a:xfrm>
              <a:off x="2682" y="1809"/>
              <a:ext cx="158" cy="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6" name="Google Shape;416;p16"/>
            <p:cNvSpPr txBox="1"/>
            <p:nvPr/>
          </p:nvSpPr>
          <p:spPr>
            <a:xfrm>
              <a:off x="3208" y="1809"/>
              <a:ext cx="157" cy="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7" name="Google Shape;417;p16"/>
            <p:cNvSpPr txBox="1"/>
            <p:nvPr/>
          </p:nvSpPr>
          <p:spPr>
            <a:xfrm>
              <a:off x="3629" y="1809"/>
              <a:ext cx="158" cy="16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18" name="Google Shape;418;p16"/>
            <p:cNvSpPr txBox="1"/>
            <p:nvPr/>
          </p:nvSpPr>
          <p:spPr>
            <a:xfrm>
              <a:off x="3523" y="1838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9" name="Google Shape;419;p16"/>
            <p:cNvCxnSpPr/>
            <p:nvPr/>
          </p:nvCxnSpPr>
          <p:spPr>
            <a:xfrm>
              <a:off x="2840" y="1865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0" name="Google Shape;420;p16"/>
            <p:cNvCxnSpPr/>
            <p:nvPr/>
          </p:nvCxnSpPr>
          <p:spPr>
            <a:xfrm>
              <a:off x="2840" y="1921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1" name="Google Shape;421;p16"/>
            <p:cNvCxnSpPr/>
            <p:nvPr/>
          </p:nvCxnSpPr>
          <p:spPr>
            <a:xfrm>
              <a:off x="3103" y="1865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2" name="Google Shape;422;p16"/>
            <p:cNvCxnSpPr/>
            <p:nvPr/>
          </p:nvCxnSpPr>
          <p:spPr>
            <a:xfrm>
              <a:off x="3103" y="1921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3" name="Google Shape;423;p16"/>
            <p:cNvCxnSpPr/>
            <p:nvPr/>
          </p:nvCxnSpPr>
          <p:spPr>
            <a:xfrm>
              <a:off x="3734" y="1921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4" name="Google Shape;424;p16"/>
            <p:cNvCxnSpPr/>
            <p:nvPr/>
          </p:nvCxnSpPr>
          <p:spPr>
            <a:xfrm>
              <a:off x="3734" y="1865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5" name="Google Shape;425;p16"/>
            <p:cNvCxnSpPr/>
            <p:nvPr/>
          </p:nvCxnSpPr>
          <p:spPr>
            <a:xfrm>
              <a:off x="3365" y="1921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26" name="Google Shape;426;p16"/>
            <p:cNvCxnSpPr/>
            <p:nvPr/>
          </p:nvCxnSpPr>
          <p:spPr>
            <a:xfrm>
              <a:off x="3365" y="1865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427" name="Google Shape;42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" y="1640"/>
              <a:ext cx="263" cy="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0" y="1928"/>
              <a:ext cx="263" cy="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16"/>
            <p:cNvSpPr/>
            <p:nvPr/>
          </p:nvSpPr>
          <p:spPr>
            <a:xfrm>
              <a:off x="2524" y="1752"/>
              <a:ext cx="158" cy="113"/>
            </a:xfrm>
            <a:custGeom>
              <a:rect b="b" l="l" r="r" t="t"/>
              <a:pathLst>
                <a:path extrusionOk="0" h="113" w="168">
                  <a:moveTo>
                    <a:pt x="0" y="0"/>
                  </a:moveTo>
                  <a:lnTo>
                    <a:pt x="56" y="0"/>
                  </a:lnTo>
                  <a:lnTo>
                    <a:pt x="56" y="113"/>
                  </a:lnTo>
                  <a:lnTo>
                    <a:pt x="168" y="113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0" name="Google Shape;430;p16"/>
            <p:cNvSpPr/>
            <p:nvPr/>
          </p:nvSpPr>
          <p:spPr>
            <a:xfrm>
              <a:off x="2524" y="1921"/>
              <a:ext cx="158" cy="112"/>
            </a:xfrm>
            <a:custGeom>
              <a:rect b="b" l="l" r="r" t="t"/>
              <a:pathLst>
                <a:path extrusionOk="0" h="112" w="168">
                  <a:moveTo>
                    <a:pt x="0" y="112"/>
                  </a:moveTo>
                  <a:lnTo>
                    <a:pt x="56" y="112"/>
                  </a:lnTo>
                  <a:lnTo>
                    <a:pt x="56" y="0"/>
                  </a:lnTo>
                  <a:lnTo>
                    <a:pt x="16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2261" y="1809"/>
              <a:ext cx="106" cy="168"/>
            </a:xfrm>
            <a:custGeom>
              <a:rect b="b" l="l" r="r" t="t"/>
              <a:pathLst>
                <a:path extrusionOk="0" h="168" w="112">
                  <a:moveTo>
                    <a:pt x="112" y="0"/>
                  </a:moveTo>
                  <a:lnTo>
                    <a:pt x="0" y="0"/>
                  </a:lnTo>
                  <a:lnTo>
                    <a:pt x="0" y="168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432" name="Google Shape;432;p16"/>
            <p:cNvCxnSpPr/>
            <p:nvPr/>
          </p:nvCxnSpPr>
          <p:spPr>
            <a:xfrm>
              <a:off x="2261" y="1977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3" name="Google Shape;433;p16"/>
            <p:cNvSpPr txBox="1"/>
            <p:nvPr/>
          </p:nvSpPr>
          <p:spPr>
            <a:xfrm>
              <a:off x="3418" y="2819"/>
              <a:ext cx="159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4" name="Google Shape;434;p16"/>
            <p:cNvSpPr txBox="1"/>
            <p:nvPr/>
          </p:nvSpPr>
          <p:spPr>
            <a:xfrm>
              <a:off x="3839" y="2819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5" name="Google Shape;435;p16"/>
            <p:cNvSpPr txBox="1"/>
            <p:nvPr/>
          </p:nvSpPr>
          <p:spPr>
            <a:xfrm>
              <a:off x="2945" y="2819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6" name="Google Shape;436;p16"/>
            <p:cNvSpPr txBox="1"/>
            <p:nvPr/>
          </p:nvSpPr>
          <p:spPr>
            <a:xfrm>
              <a:off x="2682" y="2819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7" name="Google Shape;437;p16"/>
            <p:cNvSpPr txBox="1"/>
            <p:nvPr/>
          </p:nvSpPr>
          <p:spPr>
            <a:xfrm>
              <a:off x="3208" y="2819"/>
              <a:ext cx="157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3629" y="2819"/>
              <a:ext cx="158" cy="169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39" name="Google Shape;439;p16"/>
            <p:cNvSpPr txBox="1"/>
            <p:nvPr/>
          </p:nvSpPr>
          <p:spPr>
            <a:xfrm>
              <a:off x="3523" y="2849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16"/>
            <p:cNvCxnSpPr/>
            <p:nvPr/>
          </p:nvCxnSpPr>
          <p:spPr>
            <a:xfrm>
              <a:off x="2840" y="2875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1" name="Google Shape;441;p16"/>
            <p:cNvCxnSpPr/>
            <p:nvPr/>
          </p:nvCxnSpPr>
          <p:spPr>
            <a:xfrm>
              <a:off x="2841" y="2952"/>
              <a:ext cx="9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2" name="Google Shape;442;p16"/>
            <p:cNvCxnSpPr/>
            <p:nvPr/>
          </p:nvCxnSpPr>
          <p:spPr>
            <a:xfrm>
              <a:off x="3103" y="2875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3" name="Google Shape;443;p16"/>
            <p:cNvCxnSpPr/>
            <p:nvPr/>
          </p:nvCxnSpPr>
          <p:spPr>
            <a:xfrm>
              <a:off x="3111" y="2952"/>
              <a:ext cx="9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4" name="Google Shape;444;p16"/>
            <p:cNvCxnSpPr/>
            <p:nvPr/>
          </p:nvCxnSpPr>
          <p:spPr>
            <a:xfrm>
              <a:off x="3734" y="2932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5" name="Google Shape;445;p16"/>
            <p:cNvCxnSpPr/>
            <p:nvPr/>
          </p:nvCxnSpPr>
          <p:spPr>
            <a:xfrm>
              <a:off x="3734" y="2875"/>
              <a:ext cx="105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6" name="Google Shape;446;p16"/>
            <p:cNvCxnSpPr/>
            <p:nvPr/>
          </p:nvCxnSpPr>
          <p:spPr>
            <a:xfrm>
              <a:off x="3365" y="2932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7" name="Google Shape;447;p16"/>
            <p:cNvCxnSpPr/>
            <p:nvPr/>
          </p:nvCxnSpPr>
          <p:spPr>
            <a:xfrm>
              <a:off x="3365" y="2875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448" name="Google Shape;44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" y="2651"/>
              <a:ext cx="263" cy="2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9" name="Google Shape;449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14" y="2932"/>
              <a:ext cx="263" cy="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" name="Google Shape;450;p16"/>
            <p:cNvSpPr/>
            <p:nvPr/>
          </p:nvSpPr>
          <p:spPr>
            <a:xfrm>
              <a:off x="2524" y="2763"/>
              <a:ext cx="158" cy="112"/>
            </a:xfrm>
            <a:custGeom>
              <a:rect b="b" l="l" r="r" t="t"/>
              <a:pathLst>
                <a:path extrusionOk="0" h="112" w="168">
                  <a:moveTo>
                    <a:pt x="0" y="0"/>
                  </a:moveTo>
                  <a:lnTo>
                    <a:pt x="56" y="0"/>
                  </a:lnTo>
                  <a:lnTo>
                    <a:pt x="56" y="112"/>
                  </a:lnTo>
                  <a:lnTo>
                    <a:pt x="168" y="112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2524" y="2932"/>
              <a:ext cx="158" cy="112"/>
            </a:xfrm>
            <a:custGeom>
              <a:rect b="b" l="l" r="r" t="t"/>
              <a:pathLst>
                <a:path extrusionOk="0" h="112" w="168">
                  <a:moveTo>
                    <a:pt x="0" y="112"/>
                  </a:moveTo>
                  <a:lnTo>
                    <a:pt x="56" y="112"/>
                  </a:lnTo>
                  <a:lnTo>
                    <a:pt x="56" y="0"/>
                  </a:lnTo>
                  <a:lnTo>
                    <a:pt x="168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2261" y="2819"/>
              <a:ext cx="106" cy="169"/>
            </a:xfrm>
            <a:custGeom>
              <a:rect b="b" l="l" r="r" t="t"/>
              <a:pathLst>
                <a:path extrusionOk="0" h="169" w="112">
                  <a:moveTo>
                    <a:pt x="112" y="0"/>
                  </a:moveTo>
                  <a:lnTo>
                    <a:pt x="0" y="0"/>
                  </a:lnTo>
                  <a:lnTo>
                    <a:pt x="0" y="169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453" name="Google Shape;453;p16"/>
            <p:cNvCxnSpPr/>
            <p:nvPr/>
          </p:nvCxnSpPr>
          <p:spPr>
            <a:xfrm>
              <a:off x="2261" y="2988"/>
              <a:ext cx="10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" name="Google Shape;454;p16"/>
            <p:cNvCxnSpPr/>
            <p:nvPr/>
          </p:nvCxnSpPr>
          <p:spPr>
            <a:xfrm>
              <a:off x="3931" y="1177"/>
              <a:ext cx="0" cy="23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" name="Google Shape;455;p16"/>
            <p:cNvCxnSpPr/>
            <p:nvPr/>
          </p:nvCxnSpPr>
          <p:spPr>
            <a:xfrm flipH="1" rot="10800000">
              <a:off x="3299" y="1177"/>
              <a:ext cx="1" cy="23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" name="Google Shape;456;p16"/>
            <p:cNvCxnSpPr/>
            <p:nvPr/>
          </p:nvCxnSpPr>
          <p:spPr>
            <a:xfrm flipH="1" rot="10800000">
              <a:off x="3036" y="1177"/>
              <a:ext cx="1" cy="23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7" name="Google Shape;457;p16"/>
            <p:cNvCxnSpPr/>
            <p:nvPr/>
          </p:nvCxnSpPr>
          <p:spPr>
            <a:xfrm flipH="1" rot="10800000">
              <a:off x="2773" y="1177"/>
              <a:ext cx="1" cy="23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" name="Google Shape;458;p16"/>
            <p:cNvCxnSpPr/>
            <p:nvPr/>
          </p:nvCxnSpPr>
          <p:spPr>
            <a:xfrm>
              <a:off x="3509" y="1121"/>
              <a:ext cx="1" cy="2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" name="Google Shape;459;p16"/>
            <p:cNvCxnSpPr/>
            <p:nvPr/>
          </p:nvCxnSpPr>
          <p:spPr>
            <a:xfrm>
              <a:off x="3719" y="1177"/>
              <a:ext cx="1" cy="23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" name="Google Shape;460;p16"/>
            <p:cNvCxnSpPr/>
            <p:nvPr/>
          </p:nvCxnSpPr>
          <p:spPr>
            <a:xfrm flipH="1">
              <a:off x="1878" y="1907"/>
              <a:ext cx="38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" name="Google Shape;461;p16"/>
            <p:cNvCxnSpPr/>
            <p:nvPr/>
          </p:nvCxnSpPr>
          <p:spPr>
            <a:xfrm flipH="1">
              <a:off x="1878" y="2918"/>
              <a:ext cx="38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" name="Google Shape;462;p16"/>
            <p:cNvCxnSpPr/>
            <p:nvPr/>
          </p:nvCxnSpPr>
          <p:spPr>
            <a:xfrm flipH="1">
              <a:off x="1878" y="2412"/>
              <a:ext cx="38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" name="Google Shape;463;p16"/>
            <p:cNvCxnSpPr/>
            <p:nvPr/>
          </p:nvCxnSpPr>
          <p:spPr>
            <a:xfrm flipH="1" rot="10800000">
              <a:off x="2195" y="1513"/>
              <a:ext cx="151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4" name="Google Shape;464;p16"/>
            <p:cNvCxnSpPr/>
            <p:nvPr/>
          </p:nvCxnSpPr>
          <p:spPr>
            <a:xfrm flipH="1" rot="10800000">
              <a:off x="2195" y="2074"/>
              <a:ext cx="151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5" name="Google Shape;465;p16"/>
            <p:cNvCxnSpPr/>
            <p:nvPr/>
          </p:nvCxnSpPr>
          <p:spPr>
            <a:xfrm flipH="1" rot="10800000">
              <a:off x="2195" y="2579"/>
              <a:ext cx="151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6" name="Google Shape;466;p16"/>
            <p:cNvCxnSpPr/>
            <p:nvPr/>
          </p:nvCxnSpPr>
          <p:spPr>
            <a:xfrm flipH="1" rot="10800000">
              <a:off x="2195" y="3085"/>
              <a:ext cx="151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7" name="Google Shape;467;p16"/>
            <p:cNvCxnSpPr/>
            <p:nvPr/>
          </p:nvCxnSpPr>
          <p:spPr>
            <a:xfrm flipH="1">
              <a:off x="2090" y="1682"/>
              <a:ext cx="27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8" name="Google Shape;468;p16"/>
            <p:cNvCxnSpPr/>
            <p:nvPr/>
          </p:nvCxnSpPr>
          <p:spPr>
            <a:xfrm flipH="1">
              <a:off x="2090" y="2188"/>
              <a:ext cx="27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9" name="Google Shape;469;p16"/>
            <p:cNvCxnSpPr/>
            <p:nvPr/>
          </p:nvCxnSpPr>
          <p:spPr>
            <a:xfrm flipH="1">
              <a:off x="2090" y="2693"/>
              <a:ext cx="27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0" name="Google Shape;470;p16"/>
            <p:cNvCxnSpPr/>
            <p:nvPr/>
          </p:nvCxnSpPr>
          <p:spPr>
            <a:xfrm>
              <a:off x="2196" y="1514"/>
              <a:ext cx="1" cy="179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71" name="Google Shape;471;p16"/>
            <p:cNvCxnSpPr/>
            <p:nvPr/>
          </p:nvCxnSpPr>
          <p:spPr>
            <a:xfrm>
              <a:off x="2091" y="1121"/>
              <a:ext cx="0" cy="213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72" name="Google Shape;472;p16"/>
            <p:cNvSpPr txBox="1"/>
            <p:nvPr/>
          </p:nvSpPr>
          <p:spPr>
            <a:xfrm>
              <a:off x="1406" y="1096"/>
              <a:ext cx="474" cy="2246"/>
            </a:xfrm>
            <a:prstGeom prst="rect">
              <a:avLst/>
            </a:prstGeom>
            <a:solidFill>
              <a:srgbClr val="CCFFCC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3" name="Google Shape;473;p16"/>
            <p:cNvSpPr txBox="1"/>
            <p:nvPr/>
          </p:nvSpPr>
          <p:spPr>
            <a:xfrm>
              <a:off x="1564" y="1599"/>
              <a:ext cx="7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6"/>
            <p:cNvSpPr txBox="1"/>
            <p:nvPr/>
          </p:nvSpPr>
          <p:spPr>
            <a:xfrm>
              <a:off x="1564" y="1824"/>
              <a:ext cx="68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6"/>
            <p:cNvSpPr txBox="1"/>
            <p:nvPr/>
          </p:nvSpPr>
          <p:spPr>
            <a:xfrm>
              <a:off x="1564" y="1992"/>
              <a:ext cx="73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6"/>
            <p:cNvSpPr txBox="1"/>
            <p:nvPr/>
          </p:nvSpPr>
          <p:spPr>
            <a:xfrm>
              <a:off x="1564" y="2161"/>
              <a:ext cx="7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6"/>
            <p:cNvSpPr txBox="1"/>
            <p:nvPr/>
          </p:nvSpPr>
          <p:spPr>
            <a:xfrm>
              <a:off x="1564" y="2329"/>
              <a:ext cx="7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6"/>
            <p:cNvSpPr txBox="1"/>
            <p:nvPr/>
          </p:nvSpPr>
          <p:spPr>
            <a:xfrm>
              <a:off x="1564" y="2498"/>
              <a:ext cx="68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6"/>
            <p:cNvSpPr txBox="1"/>
            <p:nvPr/>
          </p:nvSpPr>
          <p:spPr>
            <a:xfrm>
              <a:off x="1564" y="2666"/>
              <a:ext cx="73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6"/>
            <p:cNvSpPr txBox="1"/>
            <p:nvPr/>
          </p:nvSpPr>
          <p:spPr>
            <a:xfrm>
              <a:off x="1301" y="1008"/>
              <a:ext cx="2788" cy="2359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481" name="Google Shape;481;p16"/>
            <p:cNvCxnSpPr/>
            <p:nvPr/>
          </p:nvCxnSpPr>
          <p:spPr>
            <a:xfrm flipH="1">
              <a:off x="880" y="1795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2" name="Google Shape;482;p16"/>
            <p:cNvCxnSpPr/>
            <p:nvPr/>
          </p:nvCxnSpPr>
          <p:spPr>
            <a:xfrm flipH="1">
              <a:off x="880" y="2468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3" name="Google Shape;483;p16"/>
            <p:cNvCxnSpPr/>
            <p:nvPr/>
          </p:nvCxnSpPr>
          <p:spPr>
            <a:xfrm flipH="1">
              <a:off x="880" y="2412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4" name="Google Shape;484;p16"/>
            <p:cNvCxnSpPr/>
            <p:nvPr/>
          </p:nvCxnSpPr>
          <p:spPr>
            <a:xfrm flipH="1">
              <a:off x="880" y="2356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5" name="Google Shape;485;p16"/>
            <p:cNvCxnSpPr/>
            <p:nvPr/>
          </p:nvCxnSpPr>
          <p:spPr>
            <a:xfrm flipH="1">
              <a:off x="880" y="2300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6" name="Google Shape;486;p16"/>
            <p:cNvCxnSpPr/>
            <p:nvPr/>
          </p:nvCxnSpPr>
          <p:spPr>
            <a:xfrm flipH="1">
              <a:off x="880" y="2244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7" name="Google Shape;487;p16"/>
            <p:cNvCxnSpPr/>
            <p:nvPr/>
          </p:nvCxnSpPr>
          <p:spPr>
            <a:xfrm flipH="1">
              <a:off x="880" y="2188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8" name="Google Shape;488;p16"/>
            <p:cNvCxnSpPr/>
            <p:nvPr/>
          </p:nvCxnSpPr>
          <p:spPr>
            <a:xfrm flipH="1">
              <a:off x="880" y="2131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89" name="Google Shape;489;p16"/>
            <p:cNvCxnSpPr/>
            <p:nvPr/>
          </p:nvCxnSpPr>
          <p:spPr>
            <a:xfrm flipH="1">
              <a:off x="880" y="2075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0" name="Google Shape;490;p16"/>
            <p:cNvCxnSpPr/>
            <p:nvPr/>
          </p:nvCxnSpPr>
          <p:spPr>
            <a:xfrm flipH="1">
              <a:off x="880" y="2019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1" name="Google Shape;491;p16"/>
            <p:cNvCxnSpPr/>
            <p:nvPr/>
          </p:nvCxnSpPr>
          <p:spPr>
            <a:xfrm flipH="1">
              <a:off x="880" y="1963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2" name="Google Shape;492;p16"/>
            <p:cNvCxnSpPr/>
            <p:nvPr/>
          </p:nvCxnSpPr>
          <p:spPr>
            <a:xfrm flipH="1">
              <a:off x="880" y="1907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3" name="Google Shape;493;p16"/>
            <p:cNvCxnSpPr/>
            <p:nvPr/>
          </p:nvCxnSpPr>
          <p:spPr>
            <a:xfrm flipH="1">
              <a:off x="880" y="1851"/>
              <a:ext cx="526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4" name="Google Shape;494;p16"/>
            <p:cNvSpPr txBox="1"/>
            <p:nvPr/>
          </p:nvSpPr>
          <p:spPr>
            <a:xfrm>
              <a:off x="775" y="1543"/>
              <a:ext cx="35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6"/>
            <p:cNvSpPr txBox="1"/>
            <p:nvPr/>
          </p:nvSpPr>
          <p:spPr>
            <a:xfrm>
              <a:off x="775" y="1655"/>
              <a:ext cx="171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" name="Google Shape;496;p16"/>
            <p:cNvCxnSpPr/>
            <p:nvPr/>
          </p:nvCxnSpPr>
          <p:spPr>
            <a:xfrm>
              <a:off x="2091" y="3311"/>
              <a:ext cx="0" cy="5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7" name="Google Shape;497;p16"/>
            <p:cNvCxnSpPr/>
            <p:nvPr/>
          </p:nvCxnSpPr>
          <p:spPr>
            <a:xfrm>
              <a:off x="2091" y="3367"/>
              <a:ext cx="0" cy="1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8" name="Google Shape;498;p16"/>
            <p:cNvCxnSpPr/>
            <p:nvPr/>
          </p:nvCxnSpPr>
          <p:spPr>
            <a:xfrm>
              <a:off x="2196" y="3367"/>
              <a:ext cx="1" cy="11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99" name="Google Shape;499;p16"/>
            <p:cNvCxnSpPr/>
            <p:nvPr/>
          </p:nvCxnSpPr>
          <p:spPr>
            <a:xfrm>
              <a:off x="1670" y="3311"/>
              <a:ext cx="1" cy="16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0" name="Google Shape;500;p16"/>
            <p:cNvCxnSpPr/>
            <p:nvPr/>
          </p:nvCxnSpPr>
          <p:spPr>
            <a:xfrm flipH="1">
              <a:off x="880" y="3479"/>
              <a:ext cx="79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01" name="Google Shape;501;p16"/>
            <p:cNvSpPr/>
            <p:nvPr/>
          </p:nvSpPr>
          <p:spPr>
            <a:xfrm>
              <a:off x="2355" y="2443"/>
              <a:ext cx="175" cy="91"/>
            </a:xfrm>
            <a:custGeom>
              <a:rect b="b" l="l" r="r" t="t"/>
              <a:pathLst>
                <a:path extrusionOk="0" fill="none" h="21600" w="21716">
                  <a:moveTo>
                    <a:pt x="0" y="0"/>
                  </a:moveTo>
                  <a:cubicBezTo>
                    <a:pt x="38" y="0"/>
                    <a:pt x="77" y="-1"/>
                    <a:pt x="116" y="0"/>
                  </a:cubicBezTo>
                  <a:cubicBezTo>
                    <a:pt x="12045" y="0"/>
                    <a:pt x="21716" y="9670"/>
                    <a:pt x="21716" y="21600"/>
                  </a:cubicBezTo>
                </a:path>
                <a:path extrusionOk="0" h="21600" w="21716">
                  <a:moveTo>
                    <a:pt x="0" y="0"/>
                  </a:moveTo>
                  <a:cubicBezTo>
                    <a:pt x="38" y="0"/>
                    <a:pt x="77" y="-1"/>
                    <a:pt x="116" y="0"/>
                  </a:cubicBezTo>
                  <a:cubicBezTo>
                    <a:pt x="12045" y="0"/>
                    <a:pt x="21716" y="9670"/>
                    <a:pt x="21716" y="21600"/>
                  </a:cubicBezTo>
                  <a:lnTo>
                    <a:pt x="116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2355" y="2544"/>
              <a:ext cx="176" cy="89"/>
            </a:xfrm>
            <a:custGeom>
              <a:rect b="b" l="l" r="r" t="t"/>
              <a:pathLst>
                <a:path extrusionOk="0" fill="none" h="21848" w="21717">
                  <a:moveTo>
                    <a:pt x="21715" y="0"/>
                  </a:moveTo>
                  <a:cubicBezTo>
                    <a:pt x="21716" y="82"/>
                    <a:pt x="21717" y="165"/>
                    <a:pt x="21717" y="248"/>
                  </a:cubicBezTo>
                  <a:cubicBezTo>
                    <a:pt x="21717" y="12177"/>
                    <a:pt x="12046" y="21848"/>
                    <a:pt x="117" y="21848"/>
                  </a:cubicBezTo>
                  <a:cubicBezTo>
                    <a:pt x="78" y="21848"/>
                    <a:pt x="39" y="21847"/>
                    <a:pt x="0" y="21847"/>
                  </a:cubicBezTo>
                </a:path>
                <a:path extrusionOk="0" h="21848" w="21717">
                  <a:moveTo>
                    <a:pt x="21715" y="0"/>
                  </a:moveTo>
                  <a:cubicBezTo>
                    <a:pt x="21716" y="82"/>
                    <a:pt x="21717" y="165"/>
                    <a:pt x="21717" y="248"/>
                  </a:cubicBezTo>
                  <a:cubicBezTo>
                    <a:pt x="21717" y="12177"/>
                    <a:pt x="12046" y="21848"/>
                    <a:pt x="117" y="21848"/>
                  </a:cubicBezTo>
                  <a:cubicBezTo>
                    <a:pt x="78" y="21848"/>
                    <a:pt x="39" y="21847"/>
                    <a:pt x="0" y="21847"/>
                  </a:cubicBezTo>
                  <a:lnTo>
                    <a:pt x="117" y="248"/>
                  </a:lnTo>
                  <a:lnTo>
                    <a:pt x="21715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2355" y="2776"/>
              <a:ext cx="175" cy="88"/>
            </a:xfrm>
            <a:custGeom>
              <a:rect b="b" l="l" r="r" t="t"/>
              <a:pathLst>
                <a:path extrusionOk="0" fill="none" h="21600" w="21716">
                  <a:moveTo>
                    <a:pt x="21716" y="0"/>
                  </a:moveTo>
                  <a:cubicBezTo>
                    <a:pt x="21716" y="11929"/>
                    <a:pt x="12045" y="21600"/>
                    <a:pt x="116" y="21600"/>
                  </a:cubicBezTo>
                  <a:cubicBezTo>
                    <a:pt x="77" y="21600"/>
                    <a:pt x="38" y="21599"/>
                    <a:pt x="0" y="21599"/>
                  </a:cubicBezTo>
                </a:path>
                <a:path extrusionOk="0" h="21600" w="21716">
                  <a:moveTo>
                    <a:pt x="21716" y="0"/>
                  </a:moveTo>
                  <a:cubicBezTo>
                    <a:pt x="21716" y="11929"/>
                    <a:pt x="12045" y="21600"/>
                    <a:pt x="116" y="21600"/>
                  </a:cubicBezTo>
                  <a:cubicBezTo>
                    <a:pt x="77" y="21600"/>
                    <a:pt x="38" y="21599"/>
                    <a:pt x="0" y="21599"/>
                  </a:cubicBezTo>
                  <a:lnTo>
                    <a:pt x="116" y="0"/>
                  </a:lnTo>
                  <a:lnTo>
                    <a:pt x="2171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2359" y="3053"/>
              <a:ext cx="175" cy="89"/>
            </a:xfrm>
            <a:custGeom>
              <a:rect b="b" l="l" r="r" t="t"/>
              <a:pathLst>
                <a:path extrusionOk="0" fill="none" h="21848" w="21600">
                  <a:moveTo>
                    <a:pt x="21598" y="0"/>
                  </a:moveTo>
                  <a:cubicBezTo>
                    <a:pt x="21599" y="82"/>
                    <a:pt x="21600" y="165"/>
                    <a:pt x="21600" y="248"/>
                  </a:cubicBezTo>
                  <a:cubicBezTo>
                    <a:pt x="21600" y="12177"/>
                    <a:pt x="11929" y="21847"/>
                    <a:pt x="0" y="21848"/>
                  </a:cubicBezTo>
                </a:path>
                <a:path extrusionOk="0" h="21848" w="21600">
                  <a:moveTo>
                    <a:pt x="21598" y="0"/>
                  </a:moveTo>
                  <a:cubicBezTo>
                    <a:pt x="21599" y="82"/>
                    <a:pt x="21600" y="165"/>
                    <a:pt x="21600" y="248"/>
                  </a:cubicBezTo>
                  <a:cubicBezTo>
                    <a:pt x="21600" y="12177"/>
                    <a:pt x="11929" y="21847"/>
                    <a:pt x="0" y="21848"/>
                  </a:cubicBezTo>
                  <a:lnTo>
                    <a:pt x="0" y="248"/>
                  </a:lnTo>
                  <a:lnTo>
                    <a:pt x="21598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2355" y="2278"/>
              <a:ext cx="176" cy="88"/>
            </a:xfrm>
            <a:custGeom>
              <a:rect b="b" l="l" r="r" t="t"/>
              <a:pathLst>
                <a:path extrusionOk="0" fill="none" h="21600" w="21717">
                  <a:moveTo>
                    <a:pt x="21717" y="0"/>
                  </a:moveTo>
                  <a:cubicBezTo>
                    <a:pt x="21717" y="11929"/>
                    <a:pt x="12046" y="21600"/>
                    <a:pt x="117" y="21600"/>
                  </a:cubicBezTo>
                  <a:cubicBezTo>
                    <a:pt x="78" y="21600"/>
                    <a:pt x="39" y="21599"/>
                    <a:pt x="0" y="21599"/>
                  </a:cubicBezTo>
                </a:path>
                <a:path extrusionOk="0" h="21600" w="21717">
                  <a:moveTo>
                    <a:pt x="21717" y="0"/>
                  </a:moveTo>
                  <a:cubicBezTo>
                    <a:pt x="21717" y="11929"/>
                    <a:pt x="12046" y="21600"/>
                    <a:pt x="117" y="21600"/>
                  </a:cubicBezTo>
                  <a:cubicBezTo>
                    <a:pt x="78" y="21600"/>
                    <a:pt x="39" y="21599"/>
                    <a:pt x="0" y="21599"/>
                  </a:cubicBezTo>
                  <a:lnTo>
                    <a:pt x="117" y="0"/>
                  </a:lnTo>
                  <a:lnTo>
                    <a:pt x="21717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2354" y="2045"/>
              <a:ext cx="181" cy="96"/>
            </a:xfrm>
            <a:custGeom>
              <a:rect b="b" l="l" r="r" t="t"/>
              <a:pathLst>
                <a:path extrusionOk="0" fill="none" h="21831" w="21716">
                  <a:moveTo>
                    <a:pt x="21714" y="0"/>
                  </a:moveTo>
                  <a:cubicBezTo>
                    <a:pt x="21715" y="76"/>
                    <a:pt x="21716" y="153"/>
                    <a:pt x="21716" y="231"/>
                  </a:cubicBezTo>
                  <a:cubicBezTo>
                    <a:pt x="21716" y="12160"/>
                    <a:pt x="12045" y="21831"/>
                    <a:pt x="116" y="21831"/>
                  </a:cubicBezTo>
                  <a:cubicBezTo>
                    <a:pt x="77" y="21831"/>
                    <a:pt x="38" y="21830"/>
                    <a:pt x="0" y="21830"/>
                  </a:cubicBezTo>
                </a:path>
                <a:path extrusionOk="0" h="21831" w="21716">
                  <a:moveTo>
                    <a:pt x="21714" y="0"/>
                  </a:moveTo>
                  <a:cubicBezTo>
                    <a:pt x="21715" y="76"/>
                    <a:pt x="21716" y="153"/>
                    <a:pt x="21716" y="231"/>
                  </a:cubicBezTo>
                  <a:cubicBezTo>
                    <a:pt x="21716" y="12160"/>
                    <a:pt x="12045" y="21831"/>
                    <a:pt x="116" y="21831"/>
                  </a:cubicBezTo>
                  <a:cubicBezTo>
                    <a:pt x="77" y="21831"/>
                    <a:pt x="38" y="21830"/>
                    <a:pt x="0" y="21830"/>
                  </a:cubicBezTo>
                  <a:lnTo>
                    <a:pt x="116" y="231"/>
                  </a:lnTo>
                  <a:lnTo>
                    <a:pt x="21714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7" name="Google Shape;507;p16"/>
            <p:cNvSpPr txBox="1"/>
            <p:nvPr/>
          </p:nvSpPr>
          <p:spPr>
            <a:xfrm>
              <a:off x="2945" y="1831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6"/>
            <p:cNvSpPr txBox="1"/>
            <p:nvPr/>
          </p:nvSpPr>
          <p:spPr>
            <a:xfrm>
              <a:off x="2675" y="1831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6"/>
            <p:cNvSpPr txBox="1"/>
            <p:nvPr/>
          </p:nvSpPr>
          <p:spPr>
            <a:xfrm>
              <a:off x="3201" y="1838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6"/>
            <p:cNvSpPr txBox="1"/>
            <p:nvPr/>
          </p:nvSpPr>
          <p:spPr>
            <a:xfrm>
              <a:off x="3839" y="1838"/>
              <a:ext cx="129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6"/>
            <p:cNvSpPr txBox="1"/>
            <p:nvPr/>
          </p:nvSpPr>
          <p:spPr>
            <a:xfrm>
              <a:off x="825" y="2554"/>
              <a:ext cx="483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 bits wide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6"/>
            <p:cNvSpPr txBox="1"/>
            <p:nvPr/>
          </p:nvSpPr>
          <p:spPr>
            <a:xfrm>
              <a:off x="703" y="1768"/>
              <a:ext cx="134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6"/>
            <p:cNvSpPr txBox="1"/>
            <p:nvPr/>
          </p:nvSpPr>
          <p:spPr>
            <a:xfrm>
              <a:off x="723" y="2442"/>
              <a:ext cx="134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" name="Google Shape;514;p16"/>
            <p:cNvCxnSpPr/>
            <p:nvPr/>
          </p:nvCxnSpPr>
          <p:spPr>
            <a:xfrm flipH="1">
              <a:off x="933" y="1738"/>
              <a:ext cx="315" cy="787"/>
            </a:xfrm>
            <a:prstGeom prst="straightConnector1">
              <a:avLst/>
            </a:prstGeom>
            <a:noFill/>
            <a:ln cap="flat" cmpd="sng" w="14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15" name="Google Shape;515;p16"/>
            <p:cNvSpPr txBox="1"/>
            <p:nvPr/>
          </p:nvSpPr>
          <p:spPr>
            <a:xfrm>
              <a:off x="2721" y="3508"/>
              <a:ext cx="1818" cy="1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0                                             Data 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6" name="Google Shape;516;p16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5.1. Data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5.2. Address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5.3. Register Sizing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"/>
          <p:cNvSpPr txBox="1"/>
          <p:nvPr>
            <p:ph type="title"/>
          </p:nvPr>
        </p:nvSpPr>
        <p:spPr>
          <a:xfrm>
            <a:off x="2951021" y="45896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5.2. ADDRESS BUS</a:t>
            </a:r>
            <a:endParaRPr/>
          </a:p>
        </p:txBody>
      </p:sp>
      <p:sp>
        <p:nvSpPr>
          <p:cNvPr id="522" name="Google Shape;522;p17"/>
          <p:cNvSpPr txBox="1"/>
          <p:nvPr>
            <p:ph idx="1" type="body"/>
          </p:nvPr>
        </p:nvSpPr>
        <p:spPr>
          <a:xfrm>
            <a:off x="2798621" y="2032000"/>
            <a:ext cx="9691255" cy="4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Each ‘line’ in memory corresponds to a bit in a register (the MAR – memory address register).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So 8 lines = 8 bits = 2 </a:t>
            </a:r>
            <a:r>
              <a:rPr b="0" baseline="3000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8 </a:t>
            </a: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= ??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32 lines = 32 bits = 2 </a:t>
            </a:r>
            <a:r>
              <a:rPr b="0" baseline="3000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32  </a:t>
            </a: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= 4GB.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64 lines = 64 bits = 2 </a:t>
            </a:r>
            <a:r>
              <a:rPr b="0" baseline="3000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64  </a:t>
            </a: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= 18.5 EB (exabytes), 1.85x10</a:t>
            </a:r>
            <a:r>
              <a:rPr b="0" baseline="3000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19  </a:t>
            </a: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bytes</a:t>
            </a:r>
            <a:endParaRPr/>
          </a:p>
          <a:p>
            <a:pPr indent="-31750" lvl="0" marL="18288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5.1. Data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5.2. Address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5.3. Register Sizing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8"/>
          <p:cNvSpPr txBox="1"/>
          <p:nvPr>
            <p:ph type="title"/>
          </p:nvPr>
        </p:nvSpPr>
        <p:spPr>
          <a:xfrm>
            <a:off x="2699912" y="-25539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5.3. REGISTER SIZING</a:t>
            </a:r>
            <a:endParaRPr/>
          </a:p>
        </p:txBody>
      </p:sp>
      <p:sp>
        <p:nvSpPr>
          <p:cNvPr id="530" name="Google Shape;530;p18"/>
          <p:cNvSpPr txBox="1"/>
          <p:nvPr>
            <p:ph idx="1" type="body"/>
          </p:nvPr>
        </p:nvSpPr>
        <p:spPr>
          <a:xfrm>
            <a:off x="2699912" y="1827212"/>
            <a:ext cx="4714875" cy="4554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Registers are the internal ‘memory’ of a CPU.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They determine the maximum memory that can be addressed (PC).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They determine the size of ALU operations.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Can be 8-bit, 16-bit, 32-bit, 64-bt (or more!)</a:t>
            </a:r>
            <a:endParaRPr/>
          </a:p>
        </p:txBody>
      </p:sp>
      <p:sp>
        <p:nvSpPr>
          <p:cNvPr id="531" name="Google Shape;531;p18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9538" y="2218751"/>
            <a:ext cx="3089275" cy="44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8"/>
          <p:cNvSpPr txBox="1"/>
          <p:nvPr/>
        </p:nvSpPr>
        <p:spPr>
          <a:xfrm>
            <a:off x="7291387" y="188912"/>
            <a:ext cx="31924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34" name="Google Shape;534;p18"/>
          <p:cNvSpPr txBox="1"/>
          <p:nvPr/>
        </p:nvSpPr>
        <p:spPr>
          <a:xfrm>
            <a:off x="6936345" y="970661"/>
            <a:ext cx="4999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EAX,EBX,ECX,EDX: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general purpose registers.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ESP: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stack pointer (top).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EBP: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Stack base Pointer.</a:t>
            </a:r>
            <a:endParaRPr b="0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EFLAGS: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condition codes.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EIP:</a:t>
            </a: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program counter (instruction pointer).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 txBox="1"/>
          <p:nvPr/>
        </p:nvSpPr>
        <p:spPr>
          <a:xfrm>
            <a:off x="135082" y="2646317"/>
            <a:ext cx="209896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5.1. Data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5.2. Address Bus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5.3. Register Sizing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9"/>
          <p:cNvSpPr txBox="1"/>
          <p:nvPr>
            <p:ph type="title"/>
          </p:nvPr>
        </p:nvSpPr>
        <p:spPr>
          <a:xfrm>
            <a:off x="2837930" y="46995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NEXT STEPS…</a:t>
            </a:r>
            <a:endParaRPr/>
          </a:p>
        </p:txBody>
      </p:sp>
      <p:sp>
        <p:nvSpPr>
          <p:cNvPr id="541" name="Google Shape;541;p19"/>
          <p:cNvSpPr txBox="1"/>
          <p:nvPr>
            <p:ph idx="1" type="body"/>
          </p:nvPr>
        </p:nvSpPr>
        <p:spPr>
          <a:xfrm>
            <a:off x="2998933" y="1827212"/>
            <a:ext cx="8135937" cy="4338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Late fifties / early sixties number computers available increased rapidly.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Generally each generation had a different architecture than previous one (enhancements / improvements).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Different instruction sets.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Machines customised for customers.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Was this a problem?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380"/>
              <a:buFont typeface="Noto Sans Symbols"/>
              <a:buChar char="▪"/>
            </a:pPr>
            <a:r>
              <a:rPr b="0" i="0" lang="en-US" sz="28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IBM solution: system 360.</a:t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 txBox="1"/>
          <p:nvPr/>
        </p:nvSpPr>
        <p:spPr>
          <a:xfrm>
            <a:off x="738966" y="3020390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STEPS…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"/>
          <p:cNvSpPr txBox="1"/>
          <p:nvPr>
            <p:ph type="title"/>
          </p:nvPr>
        </p:nvSpPr>
        <p:spPr>
          <a:xfrm>
            <a:off x="2687209" y="46026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SYSTEM 360 (PROTOCOL)</a:t>
            </a:r>
            <a:endParaRPr/>
          </a:p>
        </p:txBody>
      </p:sp>
      <p:sp>
        <p:nvSpPr>
          <p:cNvPr id="549" name="Google Shape;549;p20"/>
          <p:cNvSpPr txBox="1"/>
          <p:nvPr>
            <p:ph idx="1" type="body"/>
          </p:nvPr>
        </p:nvSpPr>
        <p:spPr>
          <a:xfrm>
            <a:off x="2615770" y="1773237"/>
            <a:ext cx="5100637" cy="482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System 360 popularised use of microcode across the ‘range’.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i.e.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same instruction set.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Example: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Multiplication.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Any program written for one model would work on all.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Binary compatibility.</a:t>
            </a:r>
            <a:endParaRPr/>
          </a:p>
        </p:txBody>
      </p:sp>
      <p:sp>
        <p:nvSpPr>
          <p:cNvPr id="550" name="Google Shape;550;p20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9758" y="1773237"/>
            <a:ext cx="3184525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0"/>
          <p:cNvSpPr txBox="1"/>
          <p:nvPr/>
        </p:nvSpPr>
        <p:spPr>
          <a:xfrm>
            <a:off x="738966" y="3020390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360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1"/>
          <p:cNvSpPr txBox="1"/>
          <p:nvPr>
            <p:ph type="title"/>
          </p:nvPr>
        </p:nvSpPr>
        <p:spPr>
          <a:xfrm>
            <a:off x="2570018" y="22066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0" i="0" lang="en-US" sz="4000" u="none" cap="none" strike="noStrike">
                <a:latin typeface="Rockwell"/>
                <a:ea typeface="Rockwell"/>
                <a:cs typeface="Rockwell"/>
                <a:sym typeface="Rockwell"/>
              </a:rPr>
              <a:t>6. CISC - COMPLEX INSTRUCTION SET COMPUTER</a:t>
            </a:r>
            <a:endParaRPr/>
          </a:p>
        </p:txBody>
      </p:sp>
      <p:sp>
        <p:nvSpPr>
          <p:cNvPr id="558" name="Google Shape;558;p21"/>
          <p:cNvSpPr txBox="1"/>
          <p:nvPr>
            <p:ph idx="1" type="body"/>
          </p:nvPr>
        </p:nvSpPr>
        <p:spPr>
          <a:xfrm>
            <a:off x="2615766" y="1879167"/>
            <a:ext cx="8215312" cy="4265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Originally, CPU speed and Memory speed the same.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Instructions varied in size, 1 – 5 words (16 bit).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Depending on data bus size, could take up to 5 cycles / instruction.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Decoding may include microcode.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1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CISC</a:t>
            </a: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– designed to make programming easier – either for assembly programmer or compiler programmer.</a:t>
            </a:r>
            <a:endParaRPr/>
          </a:p>
        </p:txBody>
      </p:sp>
      <p:sp>
        <p:nvSpPr>
          <p:cNvPr id="559" name="Google Shape;559;p21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1"/>
          <p:cNvSpPr txBox="1"/>
          <p:nvPr/>
        </p:nvSpPr>
        <p:spPr>
          <a:xfrm>
            <a:off x="135082" y="2646317"/>
            <a:ext cx="20989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CISC - Complex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Compute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 Evolution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 RISC - Reduced 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6.3. Instruction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6.4. RISC v.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VAX Vs. MIPS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"/>
          <p:cNvSpPr txBox="1"/>
          <p:nvPr>
            <p:ph type="title"/>
          </p:nvPr>
        </p:nvSpPr>
        <p:spPr>
          <a:xfrm>
            <a:off x="2759825" y="405246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6.1. EVOLUTION</a:t>
            </a:r>
            <a:endParaRPr/>
          </a:p>
        </p:txBody>
      </p:sp>
      <p:sp>
        <p:nvSpPr>
          <p:cNvPr id="566" name="Google Shape;566;p22"/>
          <p:cNvSpPr txBox="1"/>
          <p:nvPr>
            <p:ph idx="1" type="body"/>
          </p:nvPr>
        </p:nvSpPr>
        <p:spPr>
          <a:xfrm>
            <a:off x="2759825" y="1733694"/>
            <a:ext cx="8297862" cy="4122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Mid seventies – John Cocke @ IBM initiated research on performance of microcoded CPU’s.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1980 – Patterson built on this work, coined term RISC.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1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Conclusions: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Most programs use only small % of available instructions.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Microcoded instructions not always best / most efficient way of performing task.</a:t>
            </a:r>
            <a:endParaRPr/>
          </a:p>
        </p:txBody>
      </p:sp>
      <p:sp>
        <p:nvSpPr>
          <p:cNvPr id="567" name="Google Shape;567;p22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2"/>
          <p:cNvSpPr txBox="1"/>
          <p:nvPr/>
        </p:nvSpPr>
        <p:spPr>
          <a:xfrm>
            <a:off x="135082" y="2646317"/>
            <a:ext cx="20989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CISC - Complex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 Evolution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 RISC - Reduced 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6.3. Instruction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6.4. RISC v.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VAX Vs. MIPS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3"/>
          <p:cNvSpPr txBox="1"/>
          <p:nvPr>
            <p:ph type="title"/>
          </p:nvPr>
        </p:nvSpPr>
        <p:spPr>
          <a:xfrm>
            <a:off x="2651350" y="46026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ckwell"/>
              <a:buNone/>
            </a:pPr>
            <a:r>
              <a:rPr b="0" i="0" lang="en-US" sz="4000" u="none" cap="none" strike="noStrike">
                <a:latin typeface="Rockwell"/>
                <a:ea typeface="Rockwell"/>
                <a:cs typeface="Rockwell"/>
                <a:sym typeface="Rockwell"/>
              </a:rPr>
              <a:t>6.2. RISC - REDUCED INSTRUCTION SET COMPUTER</a:t>
            </a:r>
            <a:endParaRPr/>
          </a:p>
        </p:txBody>
      </p:sp>
      <p:sp>
        <p:nvSpPr>
          <p:cNvPr id="574" name="Google Shape;574;p23"/>
          <p:cNvSpPr txBox="1"/>
          <p:nvPr>
            <p:ph idx="1" type="body"/>
          </p:nvPr>
        </p:nvSpPr>
        <p:spPr>
          <a:xfrm>
            <a:off x="2650842" y="2124075"/>
            <a:ext cx="10058400" cy="404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RISC should really be Reduced Complexity Instructions (RISC)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Ideal specification: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Each instruction executes in one cycle – increases processing efficiency.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 microcode.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 instructions work on registers, except load / store.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May need more store as have more instructions.</a:t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3"/>
          <p:cNvSpPr txBox="1"/>
          <p:nvPr/>
        </p:nvSpPr>
        <p:spPr>
          <a:xfrm>
            <a:off x="135082" y="2646317"/>
            <a:ext cx="20989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CISC - Complex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 Evolution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 RISC - Reduced 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6.3. Instruction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6.4. RISC v.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VAX Vs. MIPS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5"/>
          <p:cNvSpPr txBox="1"/>
          <p:nvPr>
            <p:ph type="title"/>
          </p:nvPr>
        </p:nvSpPr>
        <p:spPr>
          <a:xfrm>
            <a:off x="2621977" y="53517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6.3. INSTRUCTION USAGE</a:t>
            </a:r>
            <a:endParaRPr/>
          </a:p>
        </p:txBody>
      </p:sp>
      <p:sp>
        <p:nvSpPr>
          <p:cNvPr id="582" name="Google Shape;582;p25"/>
          <p:cNvSpPr txBox="1"/>
          <p:nvPr>
            <p:ph idx="1" type="body"/>
          </p:nvPr>
        </p:nvSpPr>
        <p:spPr>
          <a:xfrm>
            <a:off x="3126802" y="5157787"/>
            <a:ext cx="7445375" cy="109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Which is the most important type of instruction to optimise?</a:t>
            </a:r>
            <a:endParaRPr/>
          </a:p>
        </p:txBody>
      </p:sp>
      <p:sp>
        <p:nvSpPr>
          <p:cNvPr id="583" name="Google Shape;583;p25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4" name="Google Shape;584;p25"/>
          <p:cNvGraphicFramePr/>
          <p:nvPr/>
        </p:nvGraphicFramePr>
        <p:xfrm>
          <a:off x="3509539" y="1936812"/>
          <a:ext cx="7705723" cy="3602038"/>
        </p:xfrm>
        <a:graphic>
          <a:graphicData uri="http://schemas.openxmlformats.org/presentationml/2006/ole">
            <mc:AlternateContent>
              <mc:Choice Requires="v">
                <p:oleObj r:id="rId4" imgH="3602038" imgW="7705723" progId="Word.Document.8" spid="_x0000_s1">
                  <p:embed/>
                </p:oleObj>
              </mc:Choice>
              <mc:Fallback>
                <p:oleObj r:id="rId5" imgH="3602038" imgW="7705723" progId="Word.Document.8">
                  <p:embed/>
                  <p:pic>
                    <p:nvPicPr>
                      <p:cNvPr id="584" name="Google Shape;584;p2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09539" y="1936812"/>
                        <a:ext cx="7705723" cy="360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5" name="Google Shape;585;p25"/>
          <p:cNvSpPr txBox="1"/>
          <p:nvPr/>
        </p:nvSpPr>
        <p:spPr>
          <a:xfrm>
            <a:off x="135082" y="2646317"/>
            <a:ext cx="20989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CISC - Complex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 Evolution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 RISC - Reduced 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6.3. Instruction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6.4. RISC v.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VAX Vs. MIPS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9650" y="3429000"/>
            <a:ext cx="4772025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4"/>
          <p:cNvSpPr txBox="1"/>
          <p:nvPr>
            <p:ph type="title"/>
          </p:nvPr>
        </p:nvSpPr>
        <p:spPr>
          <a:xfrm>
            <a:off x="2573483" y="45720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6.4. RISC V. CISC</a:t>
            </a:r>
            <a:endParaRPr/>
          </a:p>
        </p:txBody>
      </p:sp>
      <p:sp>
        <p:nvSpPr>
          <p:cNvPr id="592" name="Google Shape;592;p24"/>
          <p:cNvSpPr txBox="1"/>
          <p:nvPr>
            <p:ph idx="1" type="body"/>
          </p:nvPr>
        </p:nvSpPr>
        <p:spPr>
          <a:xfrm>
            <a:off x="3029095" y="1916112"/>
            <a:ext cx="7313612" cy="432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Performance: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RISC optimises cycles / instruction.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CISC optimises instructions per program.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Trade – off.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How do we optimise cycle time?</a:t>
            </a:r>
            <a:endParaRPr/>
          </a:p>
        </p:txBody>
      </p:sp>
      <p:sp>
        <p:nvSpPr>
          <p:cNvPr id="593" name="Google Shape;593;p24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4"/>
          <p:cNvSpPr txBox="1"/>
          <p:nvPr/>
        </p:nvSpPr>
        <p:spPr>
          <a:xfrm>
            <a:off x="135082" y="2646317"/>
            <a:ext cx="20989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CISC - Complex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 Evolution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 RISC - Reduced 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6.3. Instruction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6.4. RISC v.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VAX Vs. MIPS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6"/>
          <p:cNvSpPr txBox="1"/>
          <p:nvPr>
            <p:ph type="title"/>
          </p:nvPr>
        </p:nvSpPr>
        <p:spPr>
          <a:xfrm>
            <a:off x="2678444" y="289163"/>
            <a:ext cx="975164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1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EXAMPLE:</a:t>
            </a: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 VAX VS. MIPS</a:t>
            </a:r>
            <a:endParaRPr/>
          </a:p>
        </p:txBody>
      </p:sp>
      <p:graphicFrame>
        <p:nvGraphicFramePr>
          <p:cNvPr id="600" name="Google Shape;600;p26"/>
          <p:cNvGraphicFramePr/>
          <p:nvPr/>
        </p:nvGraphicFramePr>
        <p:xfrm>
          <a:off x="3577361" y="1700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{99B77F0C-AAFB-4675-99CA-E559E6F9A81F}</a:tableStyleId>
              </a:tblPr>
              <a:tblGrid>
                <a:gridCol w="3657600"/>
                <a:gridCol w="2190750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 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1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Value (mean)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VAX CPI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9.9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MIPS CPI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1.7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CPI Ratio (VAX/MIPS)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5.8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Instruction Ratio (MIPS/VAX)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2.2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RISC factor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Verdana"/>
                        <a:buNone/>
                      </a:pPr>
                      <a:r>
                        <a:rPr b="0" i="0" lang="en-US" sz="19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2.7</a:t>
                      </a:r>
                      <a:endParaRPr sz="1800" u="none" cap="none" strike="noStrike"/>
                    </a:p>
                  </a:txBody>
                  <a:tcPr marT="45700" marB="45700" marR="84400" marL="844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1" name="Google Shape;601;p26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6"/>
          <p:cNvSpPr txBox="1"/>
          <p:nvPr/>
        </p:nvSpPr>
        <p:spPr>
          <a:xfrm>
            <a:off x="2531198" y="4545012"/>
            <a:ext cx="8707437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⚪"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Cycles Per Instruction (CPI):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instructions may take one or more cycles to complete.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⚪"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VAX</a:t>
            </a: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– CISC architecture.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MIPS</a:t>
            </a: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– RISC architecture.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⚪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RISC factor = CPI ratio / Instruction ratio.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6"/>
          <p:cNvSpPr txBox="1"/>
          <p:nvPr/>
        </p:nvSpPr>
        <p:spPr>
          <a:xfrm>
            <a:off x="135082" y="2646317"/>
            <a:ext cx="209896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CISC - Complex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 Evolution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 RISC - Reduced instruction set computer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6.3. Instruction Usage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6.4. RISC v.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VAX Vs. MIPS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"/>
          <p:cNvSpPr txBox="1"/>
          <p:nvPr>
            <p:ph type="title"/>
          </p:nvPr>
        </p:nvSpPr>
        <p:spPr>
          <a:xfrm>
            <a:off x="2934166" y="41694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4800" u="none" cap="none" strike="noStrike">
                <a:latin typeface="Rockwell"/>
                <a:ea typeface="Rockwell"/>
                <a:cs typeface="Rockwell"/>
                <a:sym typeface="Rockwell"/>
              </a:rPr>
              <a:t>7. MODERN ENHANCEMENTS</a:t>
            </a:r>
            <a:endParaRPr sz="4800"/>
          </a:p>
        </p:txBody>
      </p:sp>
      <p:sp>
        <p:nvSpPr>
          <p:cNvPr id="609" name="Google Shape;609;p27"/>
          <p:cNvSpPr txBox="1"/>
          <p:nvPr>
            <p:ph idx="1" type="body"/>
          </p:nvPr>
        </p:nvSpPr>
        <p:spPr>
          <a:xfrm>
            <a:off x="2958668" y="1827212"/>
            <a:ext cx="8215312" cy="4194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How do we improve cycle times?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Cycle time = </a:t>
            </a: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I-time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+ </a:t>
            </a:r>
            <a:r>
              <a:rPr b="1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E-time</a:t>
            </a: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where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I-time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= time taken to fetch instruction from memory (or cache).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E-time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– time taken by ALU to execute instruction.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7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Modern Enhancements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7.1. Clock Speed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7.2. Clock Cycles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8"/>
          <p:cNvSpPr txBox="1"/>
          <p:nvPr>
            <p:ph type="title"/>
          </p:nvPr>
        </p:nvSpPr>
        <p:spPr>
          <a:xfrm>
            <a:off x="2591210" y="458786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7.1. CLOCK SPEED</a:t>
            </a:r>
            <a:endParaRPr/>
          </a:p>
        </p:txBody>
      </p:sp>
      <p:sp>
        <p:nvSpPr>
          <p:cNvPr id="617" name="Google Shape;617;p28"/>
          <p:cNvSpPr txBox="1"/>
          <p:nvPr>
            <p:ph idx="1" type="body"/>
          </p:nvPr>
        </p:nvSpPr>
        <p:spPr>
          <a:xfrm>
            <a:off x="2728772" y="1773237"/>
            <a:ext cx="4497387" cy="462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System clock like ‘heartbeat’ for system.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All system synchronised to clock.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Ideal condition is CPU performs one instruction (or more!) per clock cycle.</a:t>
            </a:r>
            <a:endParaRPr/>
          </a:p>
        </p:txBody>
      </p:sp>
      <p:sp>
        <p:nvSpPr>
          <p:cNvPr id="618" name="Google Shape;618;p28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D05694_" id="619" name="Google Shape;6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9509" y="1773237"/>
            <a:ext cx="3584575" cy="41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28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Modern Enhancements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7.1. Clock Speed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7.2. Clock Cycles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9"/>
          <p:cNvSpPr txBox="1"/>
          <p:nvPr>
            <p:ph type="title"/>
          </p:nvPr>
        </p:nvSpPr>
        <p:spPr>
          <a:xfrm>
            <a:off x="2736276" y="51206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7.2. CLOCK CYCLES</a:t>
            </a:r>
            <a:endParaRPr/>
          </a:p>
        </p:txBody>
      </p:sp>
      <p:sp>
        <p:nvSpPr>
          <p:cNvPr id="626" name="Google Shape;626;p29"/>
          <p:cNvSpPr txBox="1"/>
          <p:nvPr>
            <p:ph idx="1" type="body"/>
          </p:nvPr>
        </p:nvSpPr>
        <p:spPr>
          <a:xfrm>
            <a:off x="2736276" y="2146300"/>
            <a:ext cx="10058400" cy="4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Cycles measured in Hertz.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 MHz = 1 million cycles/sec.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 GHz =  1,000 million cycles/sec.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Remember ideal: &gt; 1 instruction/cycle!</a:t>
            </a:r>
            <a:endParaRPr/>
          </a:p>
        </p:txBody>
      </p:sp>
      <p:sp>
        <p:nvSpPr>
          <p:cNvPr id="627" name="Google Shape;627;p29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9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Modern Enhancements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7.1. Clock Speed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7.2. Clock Cycles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0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0"/>
          <p:cNvSpPr txBox="1"/>
          <p:nvPr>
            <p:ph type="title"/>
          </p:nvPr>
        </p:nvSpPr>
        <p:spPr>
          <a:xfrm>
            <a:off x="2604889" y="90700"/>
            <a:ext cx="11494890" cy="16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4800" u="none" cap="none" strike="noStrike">
                <a:latin typeface="Rockwell"/>
                <a:ea typeface="Rockwell"/>
                <a:cs typeface="Rockwell"/>
                <a:sym typeface="Rockwell"/>
              </a:rPr>
              <a:t>8.OPERATIONS (ORIGINAL CISC)</a:t>
            </a:r>
            <a:endParaRPr sz="4800"/>
          </a:p>
        </p:txBody>
      </p:sp>
      <p:cxnSp>
        <p:nvCxnSpPr>
          <p:cNvPr id="635" name="Google Shape;635;p30"/>
          <p:cNvCxnSpPr/>
          <p:nvPr/>
        </p:nvCxnSpPr>
        <p:spPr>
          <a:xfrm>
            <a:off x="3420754" y="3830637"/>
            <a:ext cx="528066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6" name="Google Shape;636;p30"/>
          <p:cNvSpPr/>
          <p:nvPr/>
        </p:nvSpPr>
        <p:spPr>
          <a:xfrm>
            <a:off x="3931294" y="3068637"/>
            <a:ext cx="75438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6522094" y="3068637"/>
            <a:ext cx="75438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638" name="Google Shape;638;p30"/>
          <p:cNvCxnSpPr/>
          <p:nvPr/>
        </p:nvCxnSpPr>
        <p:spPr>
          <a:xfrm>
            <a:off x="4441834" y="6650037"/>
            <a:ext cx="1257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9" name="Google Shape;639;p30"/>
          <p:cNvCxnSpPr/>
          <p:nvPr/>
        </p:nvCxnSpPr>
        <p:spPr>
          <a:xfrm>
            <a:off x="5603875" y="6650037"/>
            <a:ext cx="114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0" name="Google Shape;640;p30"/>
          <p:cNvCxnSpPr/>
          <p:nvPr/>
        </p:nvCxnSpPr>
        <p:spPr>
          <a:xfrm>
            <a:off x="6061084" y="6040437"/>
            <a:ext cx="8382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1" name="Google Shape;641;p30"/>
          <p:cNvSpPr/>
          <p:nvPr/>
        </p:nvSpPr>
        <p:spPr>
          <a:xfrm>
            <a:off x="3295024" y="3457575"/>
            <a:ext cx="502920" cy="914400"/>
          </a:xfrm>
          <a:prstGeom prst="curvedRightArrow">
            <a:avLst>
              <a:gd fmla="val 13625" name="adj1"/>
              <a:gd fmla="val 19606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42" name="Google Shape;642;p30"/>
          <p:cNvSpPr txBox="1"/>
          <p:nvPr/>
        </p:nvSpPr>
        <p:spPr>
          <a:xfrm>
            <a:off x="4565341" y="4206875"/>
            <a:ext cx="493141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Fetch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press button, open door.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0"/>
          <p:cNvSpPr/>
          <p:nvPr/>
        </p:nvSpPr>
        <p:spPr>
          <a:xfrm rot="-5460000">
            <a:off x="3919864" y="4592637"/>
            <a:ext cx="1005840" cy="609600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44" name="Google Shape;644;p30"/>
          <p:cNvSpPr txBox="1"/>
          <p:nvPr/>
        </p:nvSpPr>
        <p:spPr>
          <a:xfrm>
            <a:off x="6235392" y="5014912"/>
            <a:ext cx="335978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take order.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D08184_" id="645" name="Google Shape;6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5509" y="1844675"/>
            <a:ext cx="2823686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0"/>
          <p:cNvSpPr txBox="1"/>
          <p:nvPr/>
        </p:nvSpPr>
        <p:spPr>
          <a:xfrm>
            <a:off x="3106492" y="1712912"/>
            <a:ext cx="5053012" cy="1025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30"/>
              <a:buFont typeface="Noto Sans Symbols"/>
              <a:buChar char="⚪"/>
            </a:pPr>
            <a:r>
              <a:rPr b="1" i="0" lang="en-US" sz="2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Analogy:</a:t>
            </a:r>
            <a:r>
              <a:rPr b="0" i="0" lang="en-US" sz="2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The fast food outlet…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0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Operations(Original CISC)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1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1"/>
          <p:cNvSpPr txBox="1"/>
          <p:nvPr>
            <p:ph type="title"/>
          </p:nvPr>
        </p:nvSpPr>
        <p:spPr>
          <a:xfrm>
            <a:off x="2800350" y="36411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8. OPERATIONS</a:t>
            </a:r>
            <a:endParaRPr/>
          </a:p>
        </p:txBody>
      </p:sp>
      <p:cxnSp>
        <p:nvCxnSpPr>
          <p:cNvPr id="654" name="Google Shape;654;p31"/>
          <p:cNvCxnSpPr/>
          <p:nvPr/>
        </p:nvCxnSpPr>
        <p:spPr>
          <a:xfrm>
            <a:off x="2800350" y="3038475"/>
            <a:ext cx="480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5" name="Google Shape;655;p31"/>
          <p:cNvSpPr/>
          <p:nvPr/>
        </p:nvSpPr>
        <p:spPr>
          <a:xfrm>
            <a:off x="3105150" y="2276475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56" name="Google Shape;656;p31"/>
          <p:cNvSpPr/>
          <p:nvPr/>
        </p:nvSpPr>
        <p:spPr>
          <a:xfrm>
            <a:off x="5695950" y="2276475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657" name="Google Shape;657;p31"/>
          <p:cNvCxnSpPr/>
          <p:nvPr/>
        </p:nvCxnSpPr>
        <p:spPr>
          <a:xfrm>
            <a:off x="3638550" y="5857875"/>
            <a:ext cx="114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8" name="Google Shape;658;p31"/>
          <p:cNvCxnSpPr/>
          <p:nvPr/>
        </p:nvCxnSpPr>
        <p:spPr>
          <a:xfrm>
            <a:off x="6000750" y="5857875"/>
            <a:ext cx="114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9" name="Google Shape;659;p31"/>
          <p:cNvCxnSpPr/>
          <p:nvPr/>
        </p:nvCxnSpPr>
        <p:spPr>
          <a:xfrm>
            <a:off x="5238750" y="5248275"/>
            <a:ext cx="7620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31"/>
          <p:cNvSpPr/>
          <p:nvPr/>
        </p:nvSpPr>
        <p:spPr>
          <a:xfrm rot="-5460000">
            <a:off x="5695950" y="3495675"/>
            <a:ext cx="914400" cy="609600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61" name="Google Shape;661;p31"/>
          <p:cNvSpPr txBox="1"/>
          <p:nvPr/>
        </p:nvSpPr>
        <p:spPr>
          <a:xfrm>
            <a:off x="2600325" y="3559175"/>
            <a:ext cx="322421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make food.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1"/>
          <p:cNvSpPr txBox="1"/>
          <p:nvPr/>
        </p:nvSpPr>
        <p:spPr>
          <a:xfrm>
            <a:off x="4003675" y="4298950"/>
            <a:ext cx="42195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handover to customer.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D08184_" id="663" name="Google Shape;66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550" y="1844675"/>
            <a:ext cx="2566987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1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Operations(Original CISC)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2"/>
          <p:cNvSpPr txBox="1"/>
          <p:nvPr>
            <p:ph type="title"/>
          </p:nvPr>
        </p:nvSpPr>
        <p:spPr>
          <a:xfrm>
            <a:off x="2825317" y="48555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9. CACHE</a:t>
            </a:r>
            <a:endParaRPr/>
          </a:p>
        </p:txBody>
      </p:sp>
      <p:cxnSp>
        <p:nvCxnSpPr>
          <p:cNvPr id="671" name="Google Shape;671;p32"/>
          <p:cNvCxnSpPr/>
          <p:nvPr/>
        </p:nvCxnSpPr>
        <p:spPr>
          <a:xfrm flipH="1" rot="10800000">
            <a:off x="4164454" y="3068637"/>
            <a:ext cx="4370387" cy="428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2" name="Google Shape;672;p32"/>
          <p:cNvSpPr/>
          <p:nvPr/>
        </p:nvSpPr>
        <p:spPr>
          <a:xfrm>
            <a:off x="4469254" y="23495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7060054" y="23495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674" name="Google Shape;674;p32"/>
          <p:cNvCxnSpPr/>
          <p:nvPr/>
        </p:nvCxnSpPr>
        <p:spPr>
          <a:xfrm>
            <a:off x="5002654" y="5930900"/>
            <a:ext cx="114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5" name="Google Shape;675;p32"/>
          <p:cNvCxnSpPr/>
          <p:nvPr/>
        </p:nvCxnSpPr>
        <p:spPr>
          <a:xfrm>
            <a:off x="6388100" y="5930900"/>
            <a:ext cx="114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6" name="Google Shape;676;p32"/>
          <p:cNvCxnSpPr/>
          <p:nvPr/>
        </p:nvCxnSpPr>
        <p:spPr>
          <a:xfrm>
            <a:off x="6602854" y="5321300"/>
            <a:ext cx="762000" cy="60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7" name="Google Shape;677;p32"/>
          <p:cNvSpPr/>
          <p:nvPr/>
        </p:nvSpPr>
        <p:spPr>
          <a:xfrm rot="-5460000">
            <a:off x="4393054" y="3568700"/>
            <a:ext cx="914400" cy="609600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78" name="Google Shape;678;p32"/>
          <p:cNvSpPr/>
          <p:nvPr/>
        </p:nvSpPr>
        <p:spPr>
          <a:xfrm>
            <a:off x="4545454" y="44831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5612254" y="44831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6755254" y="44831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7822054" y="44831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82" name="Google Shape;682;p32"/>
          <p:cNvSpPr txBox="1"/>
          <p:nvPr/>
        </p:nvSpPr>
        <p:spPr>
          <a:xfrm>
            <a:off x="2859529" y="4219575"/>
            <a:ext cx="1952625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 -&gt;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2"/>
          <p:cNvSpPr txBox="1"/>
          <p:nvPr/>
        </p:nvSpPr>
        <p:spPr>
          <a:xfrm>
            <a:off x="8875426" y="1602010"/>
            <a:ext cx="2725737" cy="4770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30"/>
              <a:buFont typeface="Noto Sans Symbols"/>
              <a:buChar char="⚪"/>
            </a:pPr>
            <a:r>
              <a:rPr b="0" i="0" lang="en-US" sz="2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Expensive and high speed memory.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2"/>
              </a:buClr>
              <a:buSzPts val="2030"/>
              <a:buFont typeface="Noto Sans Symbols"/>
              <a:buChar char="⚪"/>
            </a:pPr>
            <a:r>
              <a:rPr b="0" i="0" lang="en-US" sz="2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Speed up memory retrieval.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2"/>
              </a:buClr>
              <a:buSzPts val="2030"/>
              <a:buFont typeface="Noto Sans Symbols"/>
              <a:buChar char="⚪"/>
            </a:pPr>
            <a:r>
              <a:rPr b="0" i="0" lang="en-US" sz="2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Relatively small amount.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D08184_" id="684" name="Google Shape;68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511" y="230950"/>
            <a:ext cx="922337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2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Cache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9.1. Cache and Memory Hierarchy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3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3"/>
          <p:cNvSpPr txBox="1"/>
          <p:nvPr>
            <p:ph type="title"/>
          </p:nvPr>
        </p:nvSpPr>
        <p:spPr>
          <a:xfrm>
            <a:off x="2673931" y="342321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9.1. CACHE AND MEMORY HIERARCHY</a:t>
            </a:r>
            <a:endParaRPr/>
          </a:p>
        </p:txBody>
      </p:sp>
      <p:pic>
        <p:nvPicPr>
          <p:cNvPr id="692" name="Google Shape;6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7555" y="2314186"/>
            <a:ext cx="4729162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3931" y="2405152"/>
            <a:ext cx="4563624" cy="294226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3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Cache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9.1. Cache and Memory Hierarchy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4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4"/>
          <p:cNvSpPr txBox="1"/>
          <p:nvPr>
            <p:ph type="title"/>
          </p:nvPr>
        </p:nvSpPr>
        <p:spPr>
          <a:xfrm>
            <a:off x="2628900" y="333757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10.PIPELINE</a:t>
            </a:r>
            <a:endParaRPr/>
          </a:p>
        </p:txBody>
      </p:sp>
      <p:cxnSp>
        <p:nvCxnSpPr>
          <p:cNvPr id="701" name="Google Shape;701;p34"/>
          <p:cNvCxnSpPr/>
          <p:nvPr/>
        </p:nvCxnSpPr>
        <p:spPr>
          <a:xfrm>
            <a:off x="3505200" y="3124200"/>
            <a:ext cx="480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2" name="Google Shape;702;p34"/>
          <p:cNvSpPr/>
          <p:nvPr/>
        </p:nvSpPr>
        <p:spPr>
          <a:xfrm>
            <a:off x="3810000" y="23622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6400800" y="23622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4" name="Google Shape;704;p34"/>
          <p:cNvSpPr/>
          <p:nvPr/>
        </p:nvSpPr>
        <p:spPr>
          <a:xfrm rot="-60000">
            <a:off x="5181600" y="4191000"/>
            <a:ext cx="914400" cy="609600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5" name="Google Shape;705;p34"/>
          <p:cNvSpPr/>
          <p:nvPr/>
        </p:nvSpPr>
        <p:spPr>
          <a:xfrm>
            <a:off x="4035425" y="36449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6" name="Google Shape;706;p34"/>
          <p:cNvSpPr/>
          <p:nvPr/>
        </p:nvSpPr>
        <p:spPr>
          <a:xfrm>
            <a:off x="5364162" y="3573462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7" name="Google Shape;707;p34"/>
          <p:cNvSpPr/>
          <p:nvPr/>
        </p:nvSpPr>
        <p:spPr>
          <a:xfrm>
            <a:off x="6694487" y="36449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8" name="Google Shape;708;p34"/>
          <p:cNvSpPr/>
          <p:nvPr/>
        </p:nvSpPr>
        <p:spPr>
          <a:xfrm rot="-5460000">
            <a:off x="3886200" y="4724400"/>
            <a:ext cx="914400" cy="609600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4038600" y="56388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0" name="Google Shape;710;p34"/>
          <p:cNvSpPr/>
          <p:nvPr/>
        </p:nvSpPr>
        <p:spPr>
          <a:xfrm>
            <a:off x="5105400" y="56388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1" name="Google Shape;711;p34"/>
          <p:cNvSpPr/>
          <p:nvPr/>
        </p:nvSpPr>
        <p:spPr>
          <a:xfrm>
            <a:off x="6248400" y="56388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7315200" y="5638800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3" name="Google Shape;713;p34"/>
          <p:cNvSpPr txBox="1"/>
          <p:nvPr/>
        </p:nvSpPr>
        <p:spPr>
          <a:xfrm>
            <a:off x="3636962" y="3213100"/>
            <a:ext cx="13112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4"/>
          <p:cNvSpPr txBox="1"/>
          <p:nvPr/>
        </p:nvSpPr>
        <p:spPr>
          <a:xfrm>
            <a:off x="5013325" y="3165475"/>
            <a:ext cx="1366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4"/>
          <p:cNvSpPr txBox="1"/>
          <p:nvPr/>
        </p:nvSpPr>
        <p:spPr>
          <a:xfrm>
            <a:off x="6629400" y="3200400"/>
            <a:ext cx="10302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4"/>
          <p:cNvSpPr txBox="1"/>
          <p:nvPr/>
        </p:nvSpPr>
        <p:spPr>
          <a:xfrm>
            <a:off x="8289925" y="3546475"/>
            <a:ext cx="224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simultaneously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4"/>
          <p:cNvSpPr/>
          <p:nvPr/>
        </p:nvSpPr>
        <p:spPr>
          <a:xfrm>
            <a:off x="5159375" y="1628775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descr="BD08184_" id="718" name="Google Shape;7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825" y="1350917"/>
            <a:ext cx="922337" cy="129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9" name="Google Shape;719;p34"/>
          <p:cNvCxnSpPr/>
          <p:nvPr/>
        </p:nvCxnSpPr>
        <p:spPr>
          <a:xfrm>
            <a:off x="8355012" y="4005262"/>
            <a:ext cx="1662112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0" name="Google Shape;720;p34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Pipeline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5"/>
          <p:cNvSpPr txBox="1"/>
          <p:nvPr>
            <p:ph type="title"/>
          </p:nvPr>
        </p:nvSpPr>
        <p:spPr>
          <a:xfrm>
            <a:off x="2576368" y="220663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10. PIPELINES</a:t>
            </a:r>
            <a:endParaRPr/>
          </a:p>
        </p:txBody>
      </p:sp>
      <p:sp>
        <p:nvSpPr>
          <p:cNvPr id="727" name="Google Shape;727;p35"/>
          <p:cNvSpPr txBox="1"/>
          <p:nvPr>
            <p:ph idx="1" type="body"/>
          </p:nvPr>
        </p:nvSpPr>
        <p:spPr>
          <a:xfrm>
            <a:off x="2642759" y="1771650"/>
            <a:ext cx="8502650" cy="2160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615"/>
              <a:buFont typeface="Noto Sans Symbols"/>
              <a:buChar char="▪"/>
            </a:pPr>
            <a:r>
              <a:rPr b="0" i="0" lang="en-US" sz="19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Concept of using each functional unit simultaneously.</a:t>
            </a:r>
            <a:endParaRPr/>
          </a:p>
          <a:p>
            <a:pPr indent="-182562" lvl="0" marL="182562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615"/>
              <a:buFont typeface="Noto Sans Symbols"/>
              <a:buChar char="▪"/>
            </a:pPr>
            <a:r>
              <a:rPr b="0" i="0" lang="en-US" sz="19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Theoretically:</a:t>
            </a:r>
            <a:endParaRPr/>
          </a:p>
          <a:p>
            <a:pPr indent="-182561" lvl="1" marL="457200" marR="0" rtl="0" algn="l">
              <a:lnSpc>
                <a:spcPct val="7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 stage pipeline = n* increase in speed.</a:t>
            </a:r>
            <a:endParaRPr/>
          </a:p>
          <a:p>
            <a:pPr indent="-182561" lvl="1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Problems in practice?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Pipeline Hazards.</a:t>
            </a:r>
            <a:endParaRPr/>
          </a:p>
          <a:p>
            <a:pPr indent="-182561" lvl="1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Instruction 2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operand is the output from 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Instruction 1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/>
          </a:p>
          <a:p>
            <a:pPr indent="-182562" lvl="2" marL="73025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445"/>
              <a:buFont typeface="Noto Sans Symbols"/>
              <a:buChar char="▪"/>
            </a:pPr>
            <a:r>
              <a:rPr b="0" i="0" lang="en-US" sz="1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Stall / read-after-write hazard.</a:t>
            </a:r>
            <a:endParaRPr/>
          </a:p>
          <a:p>
            <a:pPr indent="-182561" lvl="1" marL="45720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Branching.</a:t>
            </a:r>
            <a:endParaRPr/>
          </a:p>
        </p:txBody>
      </p:sp>
      <p:sp>
        <p:nvSpPr>
          <p:cNvPr id="728" name="Google Shape;728;p35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9" name="Google Shape;72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0934" y="4005262"/>
            <a:ext cx="6948487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35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Pipeline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6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6"/>
          <p:cNvSpPr txBox="1"/>
          <p:nvPr>
            <p:ph type="title"/>
          </p:nvPr>
        </p:nvSpPr>
        <p:spPr>
          <a:xfrm>
            <a:off x="2944963" y="49428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11. SUPERSCALAR</a:t>
            </a:r>
            <a:endParaRPr/>
          </a:p>
        </p:txBody>
      </p:sp>
      <p:cxnSp>
        <p:nvCxnSpPr>
          <p:cNvPr id="737" name="Google Shape;737;p36"/>
          <p:cNvCxnSpPr/>
          <p:nvPr/>
        </p:nvCxnSpPr>
        <p:spPr>
          <a:xfrm>
            <a:off x="5078563" y="3144837"/>
            <a:ext cx="480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8" name="Google Shape;738;p36"/>
          <p:cNvSpPr/>
          <p:nvPr/>
        </p:nvSpPr>
        <p:spPr>
          <a:xfrm>
            <a:off x="5383363" y="2459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39" name="Google Shape;739;p36"/>
          <p:cNvSpPr/>
          <p:nvPr/>
        </p:nvSpPr>
        <p:spPr>
          <a:xfrm rot="-5460000">
            <a:off x="4926163" y="4440237"/>
            <a:ext cx="914400" cy="609600"/>
          </a:xfrm>
          <a:custGeom>
            <a:rect b="b" l="l" r="r" t="t"/>
            <a:pathLst>
              <a:path extrusionOk="0" h="21600" w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extrusionOk="0" h="21600" w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extrusionOk="0" h="21600" w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0" name="Google Shape;740;p36"/>
          <p:cNvSpPr/>
          <p:nvPr/>
        </p:nvSpPr>
        <p:spPr>
          <a:xfrm>
            <a:off x="5002363" y="34496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1" name="Google Shape;741;p36"/>
          <p:cNvSpPr/>
          <p:nvPr/>
        </p:nvSpPr>
        <p:spPr>
          <a:xfrm>
            <a:off x="6069163" y="34496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2" name="Google Shape;742;p36"/>
          <p:cNvSpPr/>
          <p:nvPr/>
        </p:nvSpPr>
        <p:spPr>
          <a:xfrm>
            <a:off x="7212163" y="34496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3" name="Google Shape;743;p36"/>
          <p:cNvSpPr/>
          <p:nvPr/>
        </p:nvSpPr>
        <p:spPr>
          <a:xfrm>
            <a:off x="8278963" y="34496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4" name="Google Shape;744;p36"/>
          <p:cNvSpPr/>
          <p:nvPr/>
        </p:nvSpPr>
        <p:spPr>
          <a:xfrm>
            <a:off x="6297763" y="2459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5" name="Google Shape;745;p36"/>
          <p:cNvSpPr/>
          <p:nvPr/>
        </p:nvSpPr>
        <p:spPr>
          <a:xfrm>
            <a:off x="8812363" y="2459037"/>
            <a:ext cx="685800" cy="533400"/>
          </a:xfrm>
          <a:prstGeom prst="smileyFace">
            <a:avLst>
              <a:gd fmla="val 4653" name="adj"/>
            </a:avLst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7135963" y="1773237"/>
            <a:ext cx="685800" cy="533400"/>
          </a:xfrm>
          <a:prstGeom prst="smileyFace">
            <a:avLst>
              <a:gd fmla="val 4653" name="adj"/>
            </a:avLst>
          </a:prstGeom>
          <a:solidFill>
            <a:srgbClr val="00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7974163" y="1773237"/>
            <a:ext cx="685800" cy="533400"/>
          </a:xfrm>
          <a:prstGeom prst="smileyFace">
            <a:avLst>
              <a:gd fmla="val 4653" name="adj"/>
            </a:avLst>
          </a:prstGeom>
          <a:solidFill>
            <a:srgbClr val="00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9650563" y="2459037"/>
            <a:ext cx="685800" cy="533400"/>
          </a:xfrm>
          <a:prstGeom prst="smileyFace">
            <a:avLst>
              <a:gd fmla="val 4653" name="adj"/>
            </a:avLst>
          </a:prstGeom>
          <a:solidFill>
            <a:srgbClr val="CC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49" name="Google Shape;749;p36"/>
          <p:cNvSpPr txBox="1"/>
          <p:nvPr/>
        </p:nvSpPr>
        <p:spPr>
          <a:xfrm>
            <a:off x="5137300" y="1890712"/>
            <a:ext cx="112395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6"/>
          <p:cNvSpPr txBox="1"/>
          <p:nvPr/>
        </p:nvSpPr>
        <p:spPr>
          <a:xfrm>
            <a:off x="7335988" y="2370137"/>
            <a:ext cx="117316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9099700" y="1890712"/>
            <a:ext cx="8350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9345763" y="34496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10412563" y="34496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5002363" y="5507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6069163" y="5507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7212163" y="5507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8278963" y="5507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8" name="Google Shape;758;p36"/>
          <p:cNvSpPr/>
          <p:nvPr/>
        </p:nvSpPr>
        <p:spPr>
          <a:xfrm>
            <a:off x="9345763" y="5507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59" name="Google Shape;759;p36"/>
          <p:cNvSpPr/>
          <p:nvPr/>
        </p:nvSpPr>
        <p:spPr>
          <a:xfrm>
            <a:off x="10412563" y="5507037"/>
            <a:ext cx="685800" cy="533400"/>
          </a:xfrm>
          <a:prstGeom prst="smileyFace">
            <a:avLst>
              <a:gd fmla="val 4653" name="adj"/>
            </a:avLst>
          </a:prstGeom>
          <a:solidFill>
            <a:schemeClr val="hlink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60" name="Google Shape;760;p36"/>
          <p:cNvSpPr txBox="1"/>
          <p:nvPr/>
        </p:nvSpPr>
        <p:spPr>
          <a:xfrm>
            <a:off x="2767163" y="3883025"/>
            <a:ext cx="2459037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Multiple, independent, functional units.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6"/>
          <p:cNvSpPr txBox="1"/>
          <p:nvPr/>
        </p:nvSpPr>
        <p:spPr>
          <a:xfrm>
            <a:off x="2721125" y="5035550"/>
            <a:ext cx="23923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Instruction-level parallelism.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D08184_" id="762" name="Google Shape;7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3463" y="115887"/>
            <a:ext cx="922337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6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Superscalar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7"/>
          <p:cNvSpPr txBox="1"/>
          <p:nvPr>
            <p:ph type="title"/>
          </p:nvPr>
        </p:nvSpPr>
        <p:spPr>
          <a:xfrm>
            <a:off x="2735680" y="225649"/>
            <a:ext cx="975148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11. SUPERSCALAR</a:t>
            </a:r>
            <a:endParaRPr/>
          </a:p>
        </p:txBody>
      </p:sp>
      <p:sp>
        <p:nvSpPr>
          <p:cNvPr id="769" name="Google Shape;769;p37"/>
          <p:cNvSpPr txBox="1"/>
          <p:nvPr>
            <p:ph idx="1" type="body"/>
          </p:nvPr>
        </p:nvSpPr>
        <p:spPr>
          <a:xfrm>
            <a:off x="2802363" y="2066170"/>
            <a:ext cx="6071473" cy="2106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Concept of adding more functional units.</a:t>
            </a:r>
            <a:endParaRPr/>
          </a:p>
          <a:p>
            <a:pPr indent="-182562" lvl="0" marL="182562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125"/>
              <a:buFont typeface="Noto Sans Symbols"/>
              <a:buChar char="▪"/>
            </a:pPr>
            <a:r>
              <a:rPr b="0" i="0" lang="en-US" sz="25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Theoretically:</a:t>
            </a:r>
            <a:endParaRPr/>
          </a:p>
          <a:p>
            <a:pPr indent="-182561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 units = N instructions processing in parallel.</a:t>
            </a:r>
            <a:endParaRPr/>
          </a:p>
          <a:p>
            <a:pPr indent="-182561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Problems in practice? </a:t>
            </a:r>
            <a:r>
              <a:rPr b="1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Order of instruction?</a:t>
            </a:r>
            <a:endParaRPr/>
          </a:p>
        </p:txBody>
      </p:sp>
      <p:sp>
        <p:nvSpPr>
          <p:cNvPr id="770" name="Google Shape;770;p37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-05" id="771" name="Google Shape;7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8162" y="4680675"/>
            <a:ext cx="7032625" cy="2039937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37"/>
          <p:cNvSpPr txBox="1"/>
          <p:nvPr/>
        </p:nvSpPr>
        <p:spPr>
          <a:xfrm>
            <a:off x="2735680" y="5442358"/>
            <a:ext cx="1196975" cy="738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Common instruction fetch unit.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7"/>
          <p:cNvSpPr txBox="1"/>
          <p:nvPr/>
        </p:nvSpPr>
        <p:spPr>
          <a:xfrm>
            <a:off x="10952343" y="2429674"/>
            <a:ext cx="11304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 = 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 = c + 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 = E * 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37"/>
          <p:cNvSpPr txBox="1"/>
          <p:nvPr/>
        </p:nvSpPr>
        <p:spPr>
          <a:xfrm>
            <a:off x="7095268" y="2619387"/>
            <a:ext cx="24606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75" name="Google Shape;775;p37"/>
          <p:cNvSpPr/>
          <p:nvPr/>
        </p:nvSpPr>
        <p:spPr>
          <a:xfrm>
            <a:off x="10701768" y="2444499"/>
            <a:ext cx="200100" cy="1009800"/>
          </a:xfrm>
          <a:prstGeom prst="leftBrace">
            <a:avLst>
              <a:gd fmla="val 166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76" name="Google Shape;776;p37"/>
          <p:cNvSpPr txBox="1"/>
          <p:nvPr/>
        </p:nvSpPr>
        <p:spPr>
          <a:xfrm>
            <a:off x="8052536" y="2487699"/>
            <a:ext cx="299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Which instructions can be perform simultaneously?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37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Superscalar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8"/>
          <p:cNvSpPr txBox="1"/>
          <p:nvPr>
            <p:ph type="title"/>
          </p:nvPr>
        </p:nvSpPr>
        <p:spPr>
          <a:xfrm>
            <a:off x="2673931" y="397398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12. CO-PROCESSORS</a:t>
            </a:r>
            <a:endParaRPr/>
          </a:p>
        </p:txBody>
      </p:sp>
      <p:sp>
        <p:nvSpPr>
          <p:cNvPr id="783" name="Google Shape;783;p38"/>
          <p:cNvSpPr txBox="1"/>
          <p:nvPr>
            <p:ph idx="1" type="body"/>
          </p:nvPr>
        </p:nvSpPr>
        <p:spPr>
          <a:xfrm>
            <a:off x="2532643" y="1700212"/>
            <a:ext cx="8224837" cy="482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Concept of providing hardware to perform specialist tasks (floating point, multimedia, etc).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Theoretically: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‘Special’ tasks processed simultaneously, faster than ALU.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Problems in practice?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1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Examples</a:t>
            </a: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– MMX (Flynn, SIMD).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Single Instruction, Multiple Data streams (SIMD).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One instruction operates on multiple data items at the same time.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MMX – Hardware / multimedia performance boost.</a:t>
            </a:r>
            <a:endParaRPr/>
          </a:p>
        </p:txBody>
      </p:sp>
      <p:sp>
        <p:nvSpPr>
          <p:cNvPr id="784" name="Google Shape;784;p38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38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 Co-processors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9"/>
          <p:cNvSpPr txBox="1"/>
          <p:nvPr>
            <p:ph type="title"/>
          </p:nvPr>
        </p:nvSpPr>
        <p:spPr>
          <a:xfrm>
            <a:off x="2703301" y="51206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14. POST CISC</a:t>
            </a:r>
            <a:endParaRPr/>
          </a:p>
        </p:txBody>
      </p:sp>
      <p:sp>
        <p:nvSpPr>
          <p:cNvPr id="791" name="Google Shape;791;p39"/>
          <p:cNvSpPr txBox="1"/>
          <p:nvPr>
            <p:ph idx="1" type="body"/>
          </p:nvPr>
        </p:nvSpPr>
        <p:spPr>
          <a:xfrm>
            <a:off x="2723430" y="2209800"/>
            <a:ext cx="10058400" cy="40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Most modern processors tend to combine the best of CISC (backward compatibility) with that of RISC (performance). 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X86 processors (Intel, AMD, etc) tend to use a hybrid design.</a:t>
            </a:r>
            <a:endParaRPr/>
          </a:p>
        </p:txBody>
      </p:sp>
      <p:sp>
        <p:nvSpPr>
          <p:cNvPr id="792" name="Google Shape;792;p39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39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Post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14.1. Pentium Pro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14.2. Pentium 4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0"/>
          <p:cNvSpPr txBox="1"/>
          <p:nvPr>
            <p:ph type="title"/>
          </p:nvPr>
        </p:nvSpPr>
        <p:spPr>
          <a:xfrm>
            <a:off x="2606169" y="301625"/>
            <a:ext cx="975164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13. PENTIUM PRO</a:t>
            </a:r>
            <a:endParaRPr/>
          </a:p>
        </p:txBody>
      </p:sp>
      <p:sp>
        <p:nvSpPr>
          <p:cNvPr id="799" name="Google Shape;799;p40"/>
          <p:cNvSpPr txBox="1"/>
          <p:nvPr>
            <p:ph idx="1" type="body"/>
          </p:nvPr>
        </p:nvSpPr>
        <p:spPr>
          <a:xfrm>
            <a:off x="2843072" y="1628775"/>
            <a:ext cx="3240087" cy="4410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Division between front end and back end.</a:t>
            </a:r>
            <a:endParaRPr/>
          </a:p>
          <a:p>
            <a:pPr indent="-182562" lvl="0" marL="182562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Front end – fetch &amp; decodes, convert to micro-ops.</a:t>
            </a:r>
            <a:endParaRPr/>
          </a:p>
          <a:p>
            <a:pPr indent="-182562" lvl="0" marL="182562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Reorder buffer (ROB).</a:t>
            </a:r>
            <a:endParaRPr/>
          </a:p>
          <a:p>
            <a:pPr indent="-182562" lvl="0" marL="182562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2040"/>
              <a:buFont typeface="Noto Sans Symbols"/>
              <a:buChar char="▪"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Reservation station.</a:t>
            </a:r>
            <a:endParaRPr/>
          </a:p>
        </p:txBody>
      </p:sp>
      <p:pic>
        <p:nvPicPr>
          <p:cNvPr descr="pentium-pro" id="800" name="Google Shape;800;p40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5495" y="946701"/>
            <a:ext cx="5257796" cy="5774222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40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0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Post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14.1. Pentium Pro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14.2. Pentium 4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1"/>
          <p:cNvSpPr txBox="1"/>
          <p:nvPr>
            <p:ph type="title"/>
          </p:nvPr>
        </p:nvSpPr>
        <p:spPr>
          <a:xfrm>
            <a:off x="2546241" y="337345"/>
            <a:ext cx="882459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14. PENTIUM 4</a:t>
            </a:r>
            <a:endParaRPr/>
          </a:p>
        </p:txBody>
      </p:sp>
      <p:sp>
        <p:nvSpPr>
          <p:cNvPr id="808" name="Google Shape;808;p41"/>
          <p:cNvSpPr txBox="1"/>
          <p:nvPr>
            <p:ph idx="1" type="body"/>
          </p:nvPr>
        </p:nvSpPr>
        <p:spPr>
          <a:xfrm>
            <a:off x="2744647" y="1639166"/>
            <a:ext cx="38004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16k trace cache (12,000 micro-ops) (L1).</a:t>
            </a:r>
            <a:endParaRPr/>
          </a:p>
          <a:p>
            <a:pPr indent="-182562" lvl="0" marL="182562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8 general purpose registers.</a:t>
            </a:r>
            <a:endParaRPr/>
          </a:p>
          <a:p>
            <a:pPr indent="-182562" lvl="0" marL="182562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128 rename registers.</a:t>
            </a:r>
            <a:endParaRPr/>
          </a:p>
          <a:p>
            <a:pPr indent="-182562" lvl="0" marL="182562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2 simple ALU (double speed).</a:t>
            </a:r>
            <a:endParaRPr/>
          </a:p>
          <a:p>
            <a:pPr indent="-182562" lvl="0" marL="182562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1 complex ALU.</a:t>
            </a:r>
            <a:endParaRPr/>
          </a:p>
          <a:p>
            <a:pPr indent="-182562" lvl="0" marL="182562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FPU (dual pipeline, stack based).</a:t>
            </a:r>
            <a:endParaRPr/>
          </a:p>
          <a:p>
            <a:pPr indent="-182562" lvl="0" marL="182562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85"/>
              <a:buFont typeface="Noto Sans Symbols"/>
              <a:buChar char="▪"/>
            </a:pPr>
            <a:r>
              <a:rPr b="0" i="0" lang="en-US" sz="21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SSE(Streaming SIMD Extension).</a:t>
            </a:r>
            <a:endParaRPr/>
          </a:p>
        </p:txBody>
      </p:sp>
      <p:pic>
        <p:nvPicPr>
          <p:cNvPr id="809" name="Google Shape;809;p41"/>
          <p:cNvPicPr preferRelativeResize="0"/>
          <p:nvPr>
            <p:ph idx="2" type="clip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5429" y="1059873"/>
            <a:ext cx="4601512" cy="5798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41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1"/>
          <p:cNvSpPr txBox="1"/>
          <p:nvPr/>
        </p:nvSpPr>
        <p:spPr>
          <a:xfrm>
            <a:off x="135082" y="2646317"/>
            <a:ext cx="2098964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 Post CISC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14.1. Pentium Pro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14.2. Pentium 4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2"/>
          <p:cNvSpPr txBox="1"/>
          <p:nvPr>
            <p:ph type="title"/>
          </p:nvPr>
        </p:nvSpPr>
        <p:spPr>
          <a:xfrm>
            <a:off x="300989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ckwell"/>
              <a:buNone/>
            </a:pPr>
            <a:r>
              <a:rPr b="0" i="0" lang="en-US" sz="5400" u="none" cap="none" strike="noStrike">
                <a:latin typeface="Rockwell"/>
                <a:ea typeface="Rockwell"/>
                <a:cs typeface="Rockwell"/>
                <a:sym typeface="Rockwell"/>
              </a:rPr>
              <a:t>SUMMARY</a:t>
            </a:r>
            <a:endParaRPr/>
          </a:p>
        </p:txBody>
      </p:sp>
      <p:sp>
        <p:nvSpPr>
          <p:cNvPr id="817" name="Google Shape;817;p42"/>
          <p:cNvSpPr txBox="1"/>
          <p:nvPr>
            <p:ph idx="1" type="body"/>
          </p:nvPr>
        </p:nvSpPr>
        <p:spPr>
          <a:xfrm>
            <a:off x="3009899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Storage options (stack, accumulator or register).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CISC vs. RISC.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Modern enhancements (cache, pipelines, superscalar).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</a:pPr>
            <a:r>
              <a:rPr b="0" i="0" lang="en-US" sz="2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Modern processor examples.</a:t>
            </a:r>
            <a:endParaRPr/>
          </a:p>
        </p:txBody>
      </p:sp>
      <p:sp>
        <p:nvSpPr>
          <p:cNvPr id="818" name="Google Shape;818;p42"/>
          <p:cNvSpPr txBox="1"/>
          <p:nvPr/>
        </p:nvSpPr>
        <p:spPr>
          <a:xfrm>
            <a:off x="11310937" y="6272212"/>
            <a:ext cx="6397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2"/>
          <p:cNvSpPr txBox="1"/>
          <p:nvPr/>
        </p:nvSpPr>
        <p:spPr>
          <a:xfrm>
            <a:off x="135082" y="2646317"/>
            <a:ext cx="209896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ign with a picture of a person&#10;&#10;Description automatically generated" id="824" name="Google Shape;82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95" y="76738"/>
            <a:ext cx="11953009" cy="632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Jackson, Martin (Dr)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