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96" r:id="rId26"/>
    <p:sldId id="280" r:id="rId27"/>
    <p:sldId id="281" r:id="rId28"/>
    <p:sldId id="282" r:id="rId29"/>
    <p:sldId id="297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7" roundtripDataSignature="AMtx7mj5JHBagB4WAEY89aubFwYgCeWg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8647F8-FBD6-49B0-A662-ADF347D42048}">
  <a:tblStyle styleId="{068647F8-FBD6-49B0-A662-ADF347D4204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7" autoAdjust="0"/>
    <p:restoredTop sz="94660"/>
  </p:normalViewPr>
  <p:slideViewPr>
    <p:cSldViewPr snapToGrid="0">
      <p:cViewPr varScale="1">
        <p:scale>
          <a:sx n="98" d="100"/>
          <a:sy n="98" d="100"/>
        </p:scale>
        <p:origin x="379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3298" y="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1E53D31-DAF0-CE6E-EE91-16DE24FB1E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AAB5DA-07CA-B60F-1201-CDEB733FA2E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B6909-0882-4102-A4D2-A25C54402CB3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56921B-B2F0-6757-B17C-8487D89535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609DEE-50ED-B5CC-F3C6-640E645A14B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D287E9-D10E-48E8-8DE5-0EDC361DD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6242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4" name="Google Shape;6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1" name="Google Shape;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0" name="Google Shape;8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7" name="Google Shape;9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6" name="Google Shape;1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8" name="Google Shape;1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" name="Google Shape;1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7" name="Google Shape;17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9" name="Google Shape;18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8" name="Google Shape;19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0" name="Google Shape;2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9" name="Google Shape;23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7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7" name="Google Shape;25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8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4" name="Google Shape;26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9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5" name="Google Shape;27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0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6" name="Google Shape;28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8" name="Google Shape;29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2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3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1" name="Google Shape;32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4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5" name="Google Shape;33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5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3" name="Google Shape;35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a033c0b0d8_0_11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0" name="Google Shape;360;g2a033c0b0d8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a02aecf6f1_0_3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6" name="Google Shape;366;g2a02aecf6f1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6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4" name="Google Shape;37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7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1" name="Google Shape;38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8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8" name="Google Shape;38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9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5" name="Google Shape;39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1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5" name="Google Shape;40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0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2" name="Google Shape;41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2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0" name="Google Shape;42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3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0" name="Google Shape;43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4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8" name="Google Shape;43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a03aa18a03_0_1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6" name="Google Shape;446;g2a03aa18a0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5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7" name="Google Shape;45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6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64" name="Google Shape;46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7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2" name="Google Shape;47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2a033c0b0d8_0_10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2a033c0b0d8_0_10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2a033c0b0d8_0_1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2a033c0b0d8_0_1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2a033c0b0d8_0_1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2a033c0b0d8_0_1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g2a033c0b0d8_0_11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g2a033c0b0d8_0_1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2a033c0b0d8_0_1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2a033c0b0d8_0_1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2a033c0b0d8_0_12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g2a033c0b0d8_0_12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2a033c0b0d8_0_1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userDrawn="1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2a033c0b0d8_0_1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userDrawn="1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2a033c0b0d8_0_1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g2a033c0b0d8_0_13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g2a033c0b0d8_0_1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2a033c0b0d8_0_13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g2a033c0b0d8_0_1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a033c0b0d8_0_13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g2a033c0b0d8_0_13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g2a033c0b0d8_0_1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2a033c0b0d8_0_1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a033c0b0d8_0_145"/>
          <p:cNvSpPr txBox="1">
            <a:spLocks noGrp="1"/>
          </p:cNvSpPr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2a033c0b0d8_0_145"/>
          <p:cNvSpPr txBox="1">
            <a:spLocks noGrp="1"/>
          </p:cNvSpPr>
          <p:nvPr>
            <p:ph type="body" idx="1"/>
          </p:nvPr>
        </p:nvSpPr>
        <p:spPr>
          <a:xfrm>
            <a:off x="457110" y="1203390"/>
            <a:ext cx="4015800" cy="29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g2a033c0b0d8_0_145"/>
          <p:cNvSpPr txBox="1">
            <a:spLocks noGrp="1"/>
          </p:cNvSpPr>
          <p:nvPr>
            <p:ph type="body" idx="2"/>
          </p:nvPr>
        </p:nvSpPr>
        <p:spPr>
          <a:xfrm>
            <a:off x="4673970" y="1203390"/>
            <a:ext cx="4015800" cy="29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2a033c0b0d8_0_10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96;g249310ac104_0_42">
            <a:extLst>
              <a:ext uri="{FF2B5EF4-FFF2-40B4-BE49-F238E27FC236}">
                <a16:creationId xmlns:a16="http://schemas.microsoft.com/office/drawing/2014/main" id="{7E674647-0027-FEE4-54A1-F7CAEDF1FC23}"/>
              </a:ext>
            </a:extLst>
          </p:cNvPr>
          <p:cNvSpPr/>
          <p:nvPr userDrawn="1"/>
        </p:nvSpPr>
        <p:spPr>
          <a:xfrm>
            <a:off x="-39" y="-12457"/>
            <a:ext cx="1930439" cy="518407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30200" lvl="0" indent="-228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</a:pPr>
            <a:endParaRPr lang="en-US" sz="1000" dirty="0"/>
          </a:p>
        </p:txBody>
      </p:sp>
      <p:pic>
        <p:nvPicPr>
          <p:cNvPr id="12" name="Google Shape;76;p1">
            <a:extLst>
              <a:ext uri="{FF2B5EF4-FFF2-40B4-BE49-F238E27FC236}">
                <a16:creationId xmlns:a16="http://schemas.microsoft.com/office/drawing/2014/main" id="{5E857004-0A93-BA27-CFC1-809413B6D223}"/>
              </a:ext>
            </a:extLst>
          </p:cNvPr>
          <p:cNvPicPr preferRelativeResize="0"/>
          <p:nvPr userDrawn="1"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86883" y="93287"/>
            <a:ext cx="1610995" cy="780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7E595F-8137-57DF-0BA5-AEF16EE11CD7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59682" y="4663217"/>
            <a:ext cx="1610995" cy="33707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/>
        </p:nvSpPr>
        <p:spPr>
          <a:xfrm>
            <a:off x="632457" y="403973"/>
            <a:ext cx="67461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7200" rIns="0" bIns="0" anchor="t" anchorCtr="0">
            <a:noAutofit/>
          </a:bodyPr>
          <a:lstStyle/>
          <a:p>
            <a:pPr marL="12700" marR="0" lvl="0" indent="2197100" algn="just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 2:  4CS015</a:t>
            </a:r>
            <a:endParaRPr sz="3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"/>
          <p:cNvSpPr/>
          <p:nvPr/>
        </p:nvSpPr>
        <p:spPr>
          <a:xfrm>
            <a:off x="8290080" y="4834080"/>
            <a:ext cx="185490" cy="13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" marR="0" lvl="0" indent="0" algn="l" rtl="0">
              <a:lnSpc>
                <a:spcPct val="119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3332144" y="1113762"/>
            <a:ext cx="261802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Electronics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 txBox="1"/>
          <p:nvPr/>
        </p:nvSpPr>
        <p:spPr>
          <a:xfrm>
            <a:off x="2060450" y="670850"/>
            <a:ext cx="6837600" cy="24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975" rIns="0" bIns="0" anchor="t" anchorCtr="0">
            <a:no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</a:t>
            </a:r>
            <a:r>
              <a:rPr lang="en" sz="33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Coverage</a:t>
            </a:r>
            <a:endParaRPr sz="33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1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◆"/>
            </a:pPr>
            <a:r>
              <a:rPr lang="en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Logic and Logic Gates</a:t>
            </a:r>
            <a:endParaRPr sz="2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828800" marR="0" lvl="2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Truth Table</a:t>
            </a:r>
            <a:endParaRPr sz="2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1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◆"/>
            </a:pPr>
            <a:r>
              <a:rPr lang="en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Algebra Laws</a:t>
            </a:r>
            <a:endParaRPr sz="2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1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◆"/>
            </a:pPr>
            <a:r>
              <a:rPr lang="en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Combinational Circuit</a:t>
            </a:r>
            <a:endParaRPr sz="2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8290080" y="4834080"/>
            <a:ext cx="185490" cy="13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" marR="0" lvl="0" indent="0" algn="l" rtl="0">
              <a:lnSpc>
                <a:spcPct val="119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C6C6DD-A677-5A2E-18A9-B57D4E125ED8}"/>
              </a:ext>
            </a:extLst>
          </p:cNvPr>
          <p:cNvSpPr txBox="1"/>
          <p:nvPr/>
        </p:nvSpPr>
        <p:spPr>
          <a:xfrm>
            <a:off x="89877" y="1793317"/>
            <a:ext cx="23719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A.Coverage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Boolean Logic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1.1 Basic Definitions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/>
          <p:nvPr/>
        </p:nvSpPr>
        <p:spPr>
          <a:xfrm>
            <a:off x="8290080" y="4834080"/>
            <a:ext cx="185490" cy="13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" marR="0" lvl="0" indent="0" algn="l" rtl="0">
              <a:lnSpc>
                <a:spcPct val="119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3"/>
          <p:cNvSpPr txBox="1">
            <a:spLocks noGrp="1"/>
          </p:cNvSpPr>
          <p:nvPr>
            <p:ph type="title"/>
          </p:nvPr>
        </p:nvSpPr>
        <p:spPr>
          <a:xfrm>
            <a:off x="1991800" y="389175"/>
            <a:ext cx="5544000" cy="5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1.   </a:t>
            </a:r>
            <a:r>
              <a:rPr lang="en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Logic History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3"/>
          <p:cNvSpPr txBox="1">
            <a:spLocks noGrp="1"/>
          </p:cNvSpPr>
          <p:nvPr>
            <p:ph type="body" idx="2"/>
          </p:nvPr>
        </p:nvSpPr>
        <p:spPr>
          <a:xfrm>
            <a:off x="2153800" y="1382700"/>
            <a:ext cx="4996500" cy="3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" sz="2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George Boole (1815-1864)</a:t>
            </a:r>
            <a:endParaRPr sz="25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20700" lvl="1" indent="-1905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200"/>
              <a:buChar char="•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“An Investigation into the Laws of Thought”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20700" lvl="1" indent="-1905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200"/>
              <a:buChar char="•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Defined an algebra for solving logical problems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20700" lvl="1" indent="-1905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200"/>
              <a:buChar char="•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to dealing with facts True or False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20700" lvl="1" indent="-1905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200"/>
              <a:buChar char="•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known as Boolean Algebra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7" name="Google Shape;7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4550" y="1208063"/>
            <a:ext cx="1847850" cy="24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F66F11-D1A9-9143-079D-915A632956BE}"/>
              </a:ext>
            </a:extLst>
          </p:cNvPr>
          <p:cNvSpPr txBox="1"/>
          <p:nvPr/>
        </p:nvSpPr>
        <p:spPr>
          <a:xfrm>
            <a:off x="0" y="1908852"/>
            <a:ext cx="33776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Boolean Logic History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1.1 Basic Definitions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/>
          <p:nvPr/>
        </p:nvSpPr>
        <p:spPr>
          <a:xfrm>
            <a:off x="8290080" y="4834080"/>
            <a:ext cx="185400" cy="1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" marR="0" lvl="0" indent="0" algn="l" rtl="0">
              <a:lnSpc>
                <a:spcPct val="119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4"/>
          <p:cNvSpPr txBox="1">
            <a:spLocks noGrp="1"/>
          </p:cNvSpPr>
          <p:nvPr>
            <p:ph type="title"/>
          </p:nvPr>
        </p:nvSpPr>
        <p:spPr>
          <a:xfrm>
            <a:off x="2286050" y="475700"/>
            <a:ext cx="56706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1.1 </a:t>
            </a:r>
            <a:r>
              <a:rPr lang="en" sz="33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asic Logic Definitions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4"/>
          <p:cNvSpPr txBox="1">
            <a:spLocks noGrp="1"/>
          </p:cNvSpPr>
          <p:nvPr>
            <p:ph type="body" idx="2"/>
          </p:nvPr>
        </p:nvSpPr>
        <p:spPr>
          <a:xfrm>
            <a:off x="2756650" y="1162575"/>
            <a:ext cx="5811600" cy="20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177800" lvl="0" indent="-152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 Logic System a variable can have one of two  possible states.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7800" lvl="0" indent="-152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capital letters are used to represent variables.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7800" lvl="0" indent="-152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bits 1 and 0 are also used as constants.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5" name="Google Shape;85;p4"/>
          <p:cNvGraphicFramePr/>
          <p:nvPr/>
        </p:nvGraphicFramePr>
        <p:xfrm>
          <a:off x="3164955" y="3458560"/>
          <a:ext cx="4398100" cy="640950"/>
        </p:xfrm>
        <a:graphic>
          <a:graphicData uri="http://schemas.openxmlformats.org/drawingml/2006/table">
            <a:tbl>
              <a:tblPr>
                <a:noFill/>
                <a:tableStyleId>{068647F8-FBD6-49B0-A662-ADF347D42048}</a:tableStyleId>
              </a:tblPr>
              <a:tblGrid>
                <a:gridCol w="75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4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3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TRUE</a:t>
                      </a:r>
                      <a:endParaRPr sz="1500" b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254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</a:t>
                      </a:r>
                      <a:endParaRPr sz="1500" b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CLOSED</a:t>
                      </a:r>
                      <a:endParaRPr sz="1500" b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1778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‘1’</a:t>
                      </a:r>
                      <a:endParaRPr sz="1500" b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254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500" b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5v</a:t>
                      </a:r>
                      <a:endParaRPr sz="1500" b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FALSE</a:t>
                      </a:r>
                      <a:endParaRPr sz="1500" b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254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OFF</a:t>
                      </a:r>
                      <a:endParaRPr sz="1500" b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</a:t>
                      </a:r>
                      <a:endParaRPr sz="1500" b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1778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‘0’</a:t>
                      </a:r>
                      <a:endParaRPr sz="1500" b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2921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500" b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1v</a:t>
                      </a:r>
                      <a:endParaRPr sz="1500" b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A425BE6-1CA6-1AC9-C0A5-862AB96A304F}"/>
              </a:ext>
            </a:extLst>
          </p:cNvPr>
          <p:cNvSpPr txBox="1"/>
          <p:nvPr/>
        </p:nvSpPr>
        <p:spPr>
          <a:xfrm>
            <a:off x="113323" y="1887101"/>
            <a:ext cx="19499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Boolean Logic 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1.1 Basic Definitions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1.2 Logic States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/>
          <p:nvPr/>
        </p:nvSpPr>
        <p:spPr>
          <a:xfrm>
            <a:off x="8290080" y="4834080"/>
            <a:ext cx="185400" cy="1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" marR="0" lvl="0" indent="0" algn="l" rtl="0">
              <a:lnSpc>
                <a:spcPct val="119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5"/>
          <p:cNvSpPr txBox="1">
            <a:spLocks noGrp="1"/>
          </p:cNvSpPr>
          <p:nvPr>
            <p:ph type="title"/>
          </p:nvPr>
        </p:nvSpPr>
        <p:spPr>
          <a:xfrm>
            <a:off x="2805000" y="536725"/>
            <a:ext cx="65448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1.2 Logic States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5"/>
          <p:cNvSpPr txBox="1">
            <a:spLocks noGrp="1"/>
          </p:cNvSpPr>
          <p:nvPr>
            <p:ph type="body" idx="2"/>
          </p:nvPr>
        </p:nvSpPr>
        <p:spPr>
          <a:xfrm>
            <a:off x="3196750" y="1229975"/>
            <a:ext cx="51975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 switch is closed: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20700" lvl="1" indent="-2032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200"/>
              <a:buChar char="•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light will be ON.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20700" lvl="1" indent="-2032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200"/>
              <a:buChar char="•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can represent Logic TRUE.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7800" lvl="0" indent="-152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 switch is open: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20700" lvl="1" indent="-2032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200"/>
              <a:buChar char="•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light will be OFF.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20700" lvl="1" indent="-2032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200"/>
              <a:buChar char="•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can represent Logic FALSE.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7800" lvl="0" indent="-152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switch is a Logic variable.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4EB902-A1D8-610F-5910-B151F458D0D8}"/>
              </a:ext>
            </a:extLst>
          </p:cNvPr>
          <p:cNvSpPr txBox="1"/>
          <p:nvPr/>
        </p:nvSpPr>
        <p:spPr>
          <a:xfrm>
            <a:off x="0" y="2051845"/>
            <a:ext cx="198510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Boolean Logic 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Basic Definitions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1.2 Logic States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Boolean Operators</a:t>
            </a: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/>
          <p:nvPr/>
        </p:nvSpPr>
        <p:spPr>
          <a:xfrm>
            <a:off x="8290080" y="4834080"/>
            <a:ext cx="185400" cy="1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" marR="0" lvl="0" indent="0" algn="l" rtl="0">
              <a:lnSpc>
                <a:spcPct val="119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6"/>
          <p:cNvSpPr txBox="1">
            <a:spLocks noGrp="1"/>
          </p:cNvSpPr>
          <p:nvPr>
            <p:ph type="title"/>
          </p:nvPr>
        </p:nvSpPr>
        <p:spPr>
          <a:xfrm>
            <a:off x="2805000" y="536725"/>
            <a:ext cx="56199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2. Boolean Operators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6"/>
          <p:cNvSpPr txBox="1">
            <a:spLocks noGrp="1"/>
          </p:cNvSpPr>
          <p:nvPr>
            <p:ph type="body" idx="2"/>
          </p:nvPr>
        </p:nvSpPr>
        <p:spPr>
          <a:xfrm>
            <a:off x="3196750" y="1229975"/>
            <a:ext cx="51975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lvl="0" indent="-152400" algn="l" rtl="0">
              <a:lnSpc>
                <a:spcPct val="94343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 defined three basic operations that could be used with these  Boolean variables.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2" indent="-3683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Font typeface="Noto Sans Symbols"/>
              <a:buChar char="■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2" indent="-3683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Font typeface="Noto Sans Symbols"/>
              <a:buChar char="■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2" indent="-3683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Font typeface="Noto Sans Symbols"/>
              <a:buChar char="■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7800" lvl="0" indent="-152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logical expressions can be built from these three.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FEB4AC-2F97-8236-EFD8-421112A3A45E}"/>
              </a:ext>
            </a:extLst>
          </p:cNvPr>
          <p:cNvSpPr txBox="1"/>
          <p:nvPr/>
        </p:nvSpPr>
        <p:spPr>
          <a:xfrm>
            <a:off x="58615" y="2499436"/>
            <a:ext cx="20046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Boolean Operators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/>
          <p:nvPr/>
        </p:nvSpPr>
        <p:spPr>
          <a:xfrm>
            <a:off x="8290080" y="4834080"/>
            <a:ext cx="185400" cy="1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" marR="0" lvl="0" indent="0" algn="l" rtl="0">
              <a:lnSpc>
                <a:spcPct val="119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7"/>
          <p:cNvSpPr txBox="1">
            <a:spLocks noGrp="1"/>
          </p:cNvSpPr>
          <p:nvPr>
            <p:ph type="title"/>
          </p:nvPr>
        </p:nvSpPr>
        <p:spPr>
          <a:xfrm>
            <a:off x="2805000" y="536725"/>
            <a:ext cx="65448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2. Boolean Operators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3370388" y="1986100"/>
            <a:ext cx="2036100" cy="5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875" rIns="0" bIns="0" anchor="t" anchorCtr="0">
            <a:noAutofit/>
          </a:bodyPr>
          <a:lstStyle/>
          <a:p>
            <a:pPr marL="3556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Logical	</a:t>
            </a:r>
            <a:r>
              <a:rPr lang="en" sz="2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1875" y="1826500"/>
            <a:ext cx="2892450" cy="287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7"/>
          <p:cNvSpPr/>
          <p:nvPr/>
        </p:nvSpPr>
        <p:spPr>
          <a:xfrm>
            <a:off x="3370412" y="2929313"/>
            <a:ext cx="2244300" cy="3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325" rIns="0" bIns="0" anchor="t" anchorCtr="0">
            <a:noAutofit/>
          </a:bodyPr>
          <a:lstStyle/>
          <a:p>
            <a:pPr marL="3556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Logical	</a:t>
            </a:r>
            <a:r>
              <a:rPr lang="en" sz="2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3370387" y="3888250"/>
            <a:ext cx="2036100" cy="3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325" rIns="0" bIns="0" anchor="t" anchorCtr="0">
            <a:noAutofit/>
          </a:bodyPr>
          <a:lstStyle/>
          <a:p>
            <a:pPr marL="3556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Logical	</a:t>
            </a:r>
            <a:r>
              <a:rPr lang="en" sz="2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ADB2DA-B422-3095-97A9-136C97A43412}"/>
              </a:ext>
            </a:extLst>
          </p:cNvPr>
          <p:cNvSpPr txBox="1"/>
          <p:nvPr/>
        </p:nvSpPr>
        <p:spPr>
          <a:xfrm>
            <a:off x="85970" y="2306406"/>
            <a:ext cx="18053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Boolean Operators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Logical AND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2.2 Logical OR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2.3 Logical NOT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/>
          <p:nvPr/>
        </p:nvSpPr>
        <p:spPr>
          <a:xfrm>
            <a:off x="8290080" y="4834080"/>
            <a:ext cx="185400" cy="1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" marR="0" lvl="0" indent="0" algn="l" rtl="0">
              <a:lnSpc>
                <a:spcPct val="119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8"/>
          <p:cNvSpPr txBox="1">
            <a:spLocks noGrp="1"/>
          </p:cNvSpPr>
          <p:nvPr>
            <p:ph type="title"/>
          </p:nvPr>
        </p:nvSpPr>
        <p:spPr>
          <a:xfrm>
            <a:off x="2805000" y="536725"/>
            <a:ext cx="58257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2.1 Logical AND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3422851" y="1239275"/>
            <a:ext cx="4590000" cy="2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325" rIns="0" bIns="0" anchor="t" anchorCtr="0">
            <a:noAutofit/>
          </a:bodyPr>
          <a:lstStyle/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can we switch the light on?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3525" y="1885175"/>
            <a:ext cx="4681425" cy="247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FF88085-91D3-0652-F34E-28A096F27798}"/>
              </a:ext>
            </a:extLst>
          </p:cNvPr>
          <p:cNvSpPr txBox="1"/>
          <p:nvPr/>
        </p:nvSpPr>
        <p:spPr>
          <a:xfrm>
            <a:off x="85970" y="2306406"/>
            <a:ext cx="18053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Boolean Operators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2.1 Logical AND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2.2 Logical OR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2.3 Logical NOT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/>
          <p:nvPr/>
        </p:nvSpPr>
        <p:spPr>
          <a:xfrm>
            <a:off x="8290080" y="4834080"/>
            <a:ext cx="185400" cy="1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" marR="0" lvl="0" indent="0" algn="l" rtl="0">
              <a:lnSpc>
                <a:spcPct val="119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9"/>
          <p:cNvSpPr txBox="1">
            <a:spLocks noGrp="1"/>
          </p:cNvSpPr>
          <p:nvPr>
            <p:ph type="title"/>
          </p:nvPr>
        </p:nvSpPr>
        <p:spPr>
          <a:xfrm>
            <a:off x="2805000" y="536725"/>
            <a:ext cx="58257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2.1 Logical AND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9"/>
          <p:cNvSpPr txBox="1"/>
          <p:nvPr/>
        </p:nvSpPr>
        <p:spPr>
          <a:xfrm>
            <a:off x="3445325" y="1177825"/>
            <a:ext cx="5260500" cy="25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marR="0" lvl="0" indent="-12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●"/>
            </a:pPr>
            <a:r>
              <a:rPr lang="en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Boolean Expression: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= A     AND B	</a:t>
            </a:r>
            <a:r>
              <a:rPr lang="en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   F= A∙B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-127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●"/>
            </a:pPr>
            <a:r>
              <a:rPr lang="en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Gate Diagram:</a:t>
            </a: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5422835" y="2466723"/>
            <a:ext cx="825817" cy="542925"/>
          </a:xfrm>
          <a:custGeom>
            <a:avLst/>
            <a:gdLst/>
            <a:ahLst/>
            <a:cxnLst/>
            <a:rect l="l" t="t" r="r" b="b"/>
            <a:pathLst>
              <a:path w="1101090" h="723900" extrusionOk="0">
                <a:moveTo>
                  <a:pt x="1092009" y="348513"/>
                </a:moveTo>
                <a:lnTo>
                  <a:pt x="852754" y="348513"/>
                </a:lnTo>
                <a:lnTo>
                  <a:pt x="851331" y="325437"/>
                </a:lnTo>
                <a:lnTo>
                  <a:pt x="849249" y="293890"/>
                </a:lnTo>
                <a:lnTo>
                  <a:pt x="847166" y="265645"/>
                </a:lnTo>
                <a:lnTo>
                  <a:pt x="842594" y="239255"/>
                </a:lnTo>
                <a:lnTo>
                  <a:pt x="836320" y="213360"/>
                </a:lnTo>
                <a:lnTo>
                  <a:pt x="836244" y="213093"/>
                </a:lnTo>
                <a:lnTo>
                  <a:pt x="836244" y="360514"/>
                </a:lnTo>
                <a:lnTo>
                  <a:pt x="832154" y="424345"/>
                </a:lnTo>
                <a:lnTo>
                  <a:pt x="829640" y="450240"/>
                </a:lnTo>
                <a:lnTo>
                  <a:pt x="825474" y="476148"/>
                </a:lnTo>
                <a:lnTo>
                  <a:pt x="818794" y="502056"/>
                </a:lnTo>
                <a:lnTo>
                  <a:pt x="814628" y="523265"/>
                </a:lnTo>
                <a:lnTo>
                  <a:pt x="805865" y="543979"/>
                </a:lnTo>
                <a:lnTo>
                  <a:pt x="799617" y="561873"/>
                </a:lnTo>
                <a:lnTo>
                  <a:pt x="790854" y="580250"/>
                </a:lnTo>
                <a:lnTo>
                  <a:pt x="762482" y="622160"/>
                </a:lnTo>
                <a:lnTo>
                  <a:pt x="719112" y="660781"/>
                </a:lnTo>
                <a:lnTo>
                  <a:pt x="676148" y="684326"/>
                </a:lnTo>
                <a:lnTo>
                  <a:pt x="636943" y="694690"/>
                </a:lnTo>
                <a:lnTo>
                  <a:pt x="608571" y="699871"/>
                </a:lnTo>
                <a:lnTo>
                  <a:pt x="593559" y="705053"/>
                </a:lnTo>
                <a:lnTo>
                  <a:pt x="591477" y="705053"/>
                </a:lnTo>
                <a:lnTo>
                  <a:pt x="580631" y="707885"/>
                </a:lnTo>
                <a:lnTo>
                  <a:pt x="422541" y="707885"/>
                </a:lnTo>
                <a:lnTo>
                  <a:pt x="307416" y="705053"/>
                </a:lnTo>
                <a:lnTo>
                  <a:pt x="264464" y="705053"/>
                </a:lnTo>
                <a:lnTo>
                  <a:pt x="264464" y="546328"/>
                </a:lnTo>
                <a:lnTo>
                  <a:pt x="264464" y="525614"/>
                </a:lnTo>
                <a:lnTo>
                  <a:pt x="264464" y="192620"/>
                </a:lnTo>
                <a:lnTo>
                  <a:pt x="264464" y="171894"/>
                </a:lnTo>
                <a:lnTo>
                  <a:pt x="264464" y="15544"/>
                </a:lnTo>
                <a:lnTo>
                  <a:pt x="595642" y="15544"/>
                </a:lnTo>
                <a:lnTo>
                  <a:pt x="598157" y="15544"/>
                </a:lnTo>
                <a:lnTo>
                  <a:pt x="606488" y="15544"/>
                </a:lnTo>
                <a:lnTo>
                  <a:pt x="619417" y="18376"/>
                </a:lnTo>
                <a:lnTo>
                  <a:pt x="634860" y="20713"/>
                </a:lnTo>
                <a:lnTo>
                  <a:pt x="651954" y="25908"/>
                </a:lnTo>
                <a:lnTo>
                  <a:pt x="671563" y="31076"/>
                </a:lnTo>
                <a:lnTo>
                  <a:pt x="714933" y="54635"/>
                </a:lnTo>
                <a:lnTo>
                  <a:pt x="749554" y="83362"/>
                </a:lnTo>
                <a:lnTo>
                  <a:pt x="780008" y="122440"/>
                </a:lnTo>
                <a:lnTo>
                  <a:pt x="797102" y="156362"/>
                </a:lnTo>
                <a:lnTo>
                  <a:pt x="805865" y="174256"/>
                </a:lnTo>
                <a:lnTo>
                  <a:pt x="812546" y="194983"/>
                </a:lnTo>
                <a:lnTo>
                  <a:pt x="818794" y="218528"/>
                </a:lnTo>
                <a:lnTo>
                  <a:pt x="825474" y="242087"/>
                </a:lnTo>
                <a:lnTo>
                  <a:pt x="829640" y="267982"/>
                </a:lnTo>
                <a:lnTo>
                  <a:pt x="832154" y="296710"/>
                </a:lnTo>
                <a:lnTo>
                  <a:pt x="834237" y="327799"/>
                </a:lnTo>
                <a:lnTo>
                  <a:pt x="836244" y="360514"/>
                </a:lnTo>
                <a:lnTo>
                  <a:pt x="836244" y="213093"/>
                </a:lnTo>
                <a:lnTo>
                  <a:pt x="821309" y="166712"/>
                </a:lnTo>
                <a:lnTo>
                  <a:pt x="803783" y="127635"/>
                </a:lnTo>
                <a:lnTo>
                  <a:pt x="771245" y="80543"/>
                </a:lnTo>
                <a:lnTo>
                  <a:pt x="725779" y="39090"/>
                </a:lnTo>
                <a:lnTo>
                  <a:pt x="712851" y="28727"/>
                </a:lnTo>
                <a:lnTo>
                  <a:pt x="699922" y="23545"/>
                </a:lnTo>
                <a:lnTo>
                  <a:pt x="678230" y="13182"/>
                </a:lnTo>
                <a:lnTo>
                  <a:pt x="656551" y="5168"/>
                </a:lnTo>
                <a:lnTo>
                  <a:pt x="636943" y="0"/>
                </a:lnTo>
                <a:lnTo>
                  <a:pt x="598157" y="0"/>
                </a:lnTo>
                <a:lnTo>
                  <a:pt x="597522" y="0"/>
                </a:lnTo>
                <a:lnTo>
                  <a:pt x="255701" y="0"/>
                </a:lnTo>
                <a:lnTo>
                  <a:pt x="246938" y="0"/>
                </a:lnTo>
                <a:lnTo>
                  <a:pt x="246938" y="5168"/>
                </a:lnTo>
                <a:lnTo>
                  <a:pt x="246938" y="171894"/>
                </a:lnTo>
                <a:lnTo>
                  <a:pt x="8750" y="171894"/>
                </a:lnTo>
                <a:lnTo>
                  <a:pt x="0" y="171894"/>
                </a:lnTo>
                <a:lnTo>
                  <a:pt x="0" y="192620"/>
                </a:lnTo>
                <a:lnTo>
                  <a:pt x="8750" y="192620"/>
                </a:lnTo>
                <a:lnTo>
                  <a:pt x="246938" y="192620"/>
                </a:lnTo>
                <a:lnTo>
                  <a:pt x="246938" y="525614"/>
                </a:lnTo>
                <a:lnTo>
                  <a:pt x="8750" y="525614"/>
                </a:lnTo>
                <a:lnTo>
                  <a:pt x="0" y="525614"/>
                </a:lnTo>
                <a:lnTo>
                  <a:pt x="0" y="546328"/>
                </a:lnTo>
                <a:lnTo>
                  <a:pt x="8750" y="546328"/>
                </a:lnTo>
                <a:lnTo>
                  <a:pt x="246938" y="546328"/>
                </a:lnTo>
                <a:lnTo>
                  <a:pt x="246938" y="723417"/>
                </a:lnTo>
                <a:lnTo>
                  <a:pt x="255701" y="723417"/>
                </a:lnTo>
                <a:lnTo>
                  <a:pt x="264325" y="723900"/>
                </a:lnTo>
                <a:lnTo>
                  <a:pt x="599122" y="723900"/>
                </a:lnTo>
                <a:lnTo>
                  <a:pt x="600240" y="723417"/>
                </a:lnTo>
                <a:lnTo>
                  <a:pt x="602322" y="723417"/>
                </a:lnTo>
                <a:lnTo>
                  <a:pt x="641108" y="715416"/>
                </a:lnTo>
                <a:lnTo>
                  <a:pt x="682409" y="702703"/>
                </a:lnTo>
                <a:lnTo>
                  <a:pt x="727875" y="679145"/>
                </a:lnTo>
                <a:lnTo>
                  <a:pt x="762482" y="648068"/>
                </a:lnTo>
                <a:lnTo>
                  <a:pt x="773328" y="637705"/>
                </a:lnTo>
                <a:lnTo>
                  <a:pt x="786269" y="624522"/>
                </a:lnTo>
                <a:lnTo>
                  <a:pt x="795020" y="608977"/>
                </a:lnTo>
                <a:lnTo>
                  <a:pt x="805865" y="590600"/>
                </a:lnTo>
                <a:lnTo>
                  <a:pt x="823391" y="551510"/>
                </a:lnTo>
                <a:lnTo>
                  <a:pt x="836320" y="507238"/>
                </a:lnTo>
                <a:lnTo>
                  <a:pt x="847166" y="452615"/>
                </a:lnTo>
                <a:lnTo>
                  <a:pt x="852766" y="369709"/>
                </a:lnTo>
                <a:lnTo>
                  <a:pt x="1092009" y="369709"/>
                </a:lnTo>
                <a:lnTo>
                  <a:pt x="1092009" y="348513"/>
                </a:lnTo>
                <a:close/>
                <a:moveTo>
                  <a:pt x="1100785" y="348513"/>
                </a:moveTo>
                <a:lnTo>
                  <a:pt x="1092022" y="348513"/>
                </a:lnTo>
                <a:lnTo>
                  <a:pt x="1092022" y="369709"/>
                </a:lnTo>
                <a:lnTo>
                  <a:pt x="1100785" y="369709"/>
                </a:lnTo>
                <a:lnTo>
                  <a:pt x="1100785" y="34851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Google Shape;131;p9"/>
          <p:cNvSpPr/>
          <p:nvPr/>
        </p:nvSpPr>
        <p:spPr>
          <a:xfrm>
            <a:off x="5144248" y="2466725"/>
            <a:ext cx="185400" cy="7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75" rIns="0" bIns="0" anchor="t" anchorCtr="0">
            <a:noAutofit/>
          </a:bodyPr>
          <a:lstStyle/>
          <a:p>
            <a:pPr marL="1270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 B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6341825" y="2621338"/>
            <a:ext cx="1203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52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3" name="Google Shape;133;p9"/>
          <p:cNvGraphicFramePr/>
          <p:nvPr/>
        </p:nvGraphicFramePr>
        <p:xfrm>
          <a:off x="4805260" y="3480678"/>
          <a:ext cx="3428700" cy="1257400"/>
        </p:xfrm>
        <a:graphic>
          <a:graphicData uri="http://schemas.openxmlformats.org/drawingml/2006/table">
            <a:tbl>
              <a:tblPr>
                <a:noFill/>
                <a:tableStyleId>{068647F8-FBD6-49B0-A662-ADF347D42048}</a:tableStyleId>
              </a:tblPr>
              <a:tblGrid>
                <a:gridCol w="11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 A</a:t>
                      </a:r>
                      <a:endParaRPr sz="12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 B</a:t>
                      </a:r>
                      <a:endParaRPr sz="12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Output F</a:t>
                      </a:r>
                      <a:endParaRPr sz="12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4" name="Google Shape;134;p9"/>
          <p:cNvSpPr/>
          <p:nvPr/>
        </p:nvSpPr>
        <p:spPr>
          <a:xfrm>
            <a:off x="3445325" y="3057500"/>
            <a:ext cx="22980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450" rIns="0" bIns="0" anchor="t" anchorCtr="0">
            <a:noAutofit/>
          </a:bodyPr>
          <a:lstStyle/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Truth Table: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984E3F-A2E7-8C6E-0AD1-069472676A18}"/>
              </a:ext>
            </a:extLst>
          </p:cNvPr>
          <p:cNvSpPr txBox="1"/>
          <p:nvPr/>
        </p:nvSpPr>
        <p:spPr>
          <a:xfrm>
            <a:off x="85970" y="2306406"/>
            <a:ext cx="18053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Boolean Operators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2.1 Logical AND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2.1.1 AND Relationship   2.2 Logical OR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2.3 Logical NOT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/>
          <p:nvPr/>
        </p:nvSpPr>
        <p:spPr>
          <a:xfrm>
            <a:off x="8290080" y="4834080"/>
            <a:ext cx="185400" cy="1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" marR="0" lvl="0" indent="0" algn="l" rtl="0">
              <a:lnSpc>
                <a:spcPct val="119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0"/>
          <p:cNvSpPr txBox="1">
            <a:spLocks noGrp="1"/>
          </p:cNvSpPr>
          <p:nvPr>
            <p:ph type="title"/>
          </p:nvPr>
        </p:nvSpPr>
        <p:spPr>
          <a:xfrm>
            <a:off x="2163975" y="452800"/>
            <a:ext cx="58257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200" dirty="0">
                <a:latin typeface="Times New Roman"/>
                <a:ea typeface="Times New Roman"/>
                <a:cs typeface="Times New Roman"/>
                <a:sym typeface="Times New Roman"/>
              </a:rPr>
              <a:t> 2.1.1 AND Relationship</a:t>
            </a:r>
            <a:endParaRPr sz="2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2331875" y="1093900"/>
            <a:ext cx="5623500" cy="26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425" rIns="0" bIns="0" anchor="t" anchorCtr="0">
            <a:noAutofit/>
          </a:bodyPr>
          <a:lstStyle/>
          <a:p>
            <a:pPr marL="17780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representation  </a:t>
            </a:r>
            <a:r>
              <a:rPr lang="en" sz="2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(Period)</a:t>
            </a:r>
            <a:endParaRPr sz="2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marR="0" lvl="0" indent="-152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F,A and B are Boolean variables.</a:t>
            </a:r>
            <a:endParaRPr sz="2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marR="0" lvl="0" indent="-152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the expression	F = A∙B means</a:t>
            </a:r>
            <a:endParaRPr sz="2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20700" marR="0" lvl="1" indent="-1905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is only true when A AND B are both true.</a:t>
            </a:r>
            <a:endParaRPr sz="2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marR="0" lvl="0" indent="-152400" algn="l" rtl="0">
              <a:lnSpc>
                <a:spcPct val="94343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A is capable of being 1 or 0 and B is capable of being 1 or 0 there  are 4 possible states. 00, 01, 10 or 11</a:t>
            </a:r>
            <a:endParaRPr sz="2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3" name="Google Shape;143;p10"/>
          <p:cNvGraphicFramePr/>
          <p:nvPr/>
        </p:nvGraphicFramePr>
        <p:xfrm>
          <a:off x="4469585" y="3612503"/>
          <a:ext cx="3428700" cy="1257400"/>
        </p:xfrm>
        <a:graphic>
          <a:graphicData uri="http://schemas.openxmlformats.org/drawingml/2006/table">
            <a:tbl>
              <a:tblPr>
                <a:noFill/>
                <a:tableStyleId>{068647F8-FBD6-49B0-A662-ADF347D42048}</a:tableStyleId>
              </a:tblPr>
              <a:tblGrid>
                <a:gridCol w="11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 A</a:t>
                      </a:r>
                      <a:endParaRPr sz="12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 B</a:t>
                      </a:r>
                      <a:endParaRPr sz="12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Output F</a:t>
                      </a:r>
                      <a:endParaRPr sz="12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362AE51-1451-7B5D-4A7D-59C5DEDC3EAA}"/>
              </a:ext>
            </a:extLst>
          </p:cNvPr>
          <p:cNvSpPr txBox="1"/>
          <p:nvPr/>
        </p:nvSpPr>
        <p:spPr>
          <a:xfrm>
            <a:off x="85970" y="2306406"/>
            <a:ext cx="18053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Boolean Operators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2.1 Logical AND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2.1.1 AND Relationship 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2.2 Logical OR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2.3 Logical NOT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/>
          <p:nvPr/>
        </p:nvSpPr>
        <p:spPr>
          <a:xfrm>
            <a:off x="8290080" y="4834080"/>
            <a:ext cx="185400" cy="1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" marR="0" lvl="0" indent="0" algn="l" rtl="0">
              <a:lnSpc>
                <a:spcPct val="119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1"/>
          <p:cNvSpPr txBox="1">
            <a:spLocks noGrp="1"/>
          </p:cNvSpPr>
          <p:nvPr>
            <p:ph type="title"/>
          </p:nvPr>
        </p:nvSpPr>
        <p:spPr>
          <a:xfrm>
            <a:off x="2805000" y="536725"/>
            <a:ext cx="58257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2.2 Logical OR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51" name="Google Shape;151;p11"/>
          <p:cNvGrpSpPr/>
          <p:nvPr/>
        </p:nvGrpSpPr>
        <p:grpSpPr>
          <a:xfrm>
            <a:off x="4465370" y="2082775"/>
            <a:ext cx="3514590" cy="1590240"/>
            <a:chOff x="3506760" y="3727800"/>
            <a:chExt cx="4686120" cy="2120320"/>
          </a:xfrm>
        </p:grpSpPr>
        <p:sp>
          <p:nvSpPr>
            <p:cNvPr id="152" name="Google Shape;152;p11"/>
            <p:cNvSpPr/>
            <p:nvPr/>
          </p:nvSpPr>
          <p:spPr>
            <a:xfrm>
              <a:off x="3506760" y="3846600"/>
              <a:ext cx="2685415" cy="2001520"/>
            </a:xfrm>
            <a:custGeom>
              <a:avLst/>
              <a:gdLst/>
              <a:ahLst/>
              <a:cxnLst/>
              <a:rect l="l" t="t" r="r" b="b"/>
              <a:pathLst>
                <a:path w="2685415" h="2001520" extrusionOk="0">
                  <a:moveTo>
                    <a:pt x="1999488" y="1658112"/>
                  </a:moveTo>
                  <a:lnTo>
                    <a:pt x="2002618" y="1611587"/>
                  </a:lnTo>
                  <a:lnTo>
                    <a:pt x="2011738" y="1566963"/>
                  </a:lnTo>
                  <a:lnTo>
                    <a:pt x="2026437" y="1524648"/>
                  </a:lnTo>
                  <a:lnTo>
                    <a:pt x="2046308" y="1485053"/>
                  </a:lnTo>
                  <a:lnTo>
                    <a:pt x="2070942" y="1448585"/>
                  </a:lnTo>
                  <a:lnTo>
                    <a:pt x="2099929" y="1415653"/>
                  </a:lnTo>
                  <a:lnTo>
                    <a:pt x="2132861" y="1386666"/>
                  </a:lnTo>
                  <a:lnTo>
                    <a:pt x="2169329" y="1362032"/>
                  </a:lnTo>
                  <a:lnTo>
                    <a:pt x="2208924" y="1342161"/>
                  </a:lnTo>
                  <a:lnTo>
                    <a:pt x="2251239" y="1327462"/>
                  </a:lnTo>
                  <a:lnTo>
                    <a:pt x="2295863" y="1318342"/>
                  </a:lnTo>
                  <a:lnTo>
                    <a:pt x="2342388" y="1315212"/>
                  </a:lnTo>
                  <a:lnTo>
                    <a:pt x="2388912" y="1318342"/>
                  </a:lnTo>
                  <a:lnTo>
                    <a:pt x="2433536" y="1327462"/>
                  </a:lnTo>
                  <a:lnTo>
                    <a:pt x="2475851" y="1342161"/>
                  </a:lnTo>
                  <a:lnTo>
                    <a:pt x="2515446" y="1362032"/>
                  </a:lnTo>
                  <a:lnTo>
                    <a:pt x="2551914" y="1386666"/>
                  </a:lnTo>
                  <a:lnTo>
                    <a:pt x="2584846" y="1415653"/>
                  </a:lnTo>
                  <a:lnTo>
                    <a:pt x="2613833" y="1448585"/>
                  </a:lnTo>
                  <a:lnTo>
                    <a:pt x="2638467" y="1485053"/>
                  </a:lnTo>
                  <a:lnTo>
                    <a:pt x="2658338" y="1524648"/>
                  </a:lnTo>
                  <a:lnTo>
                    <a:pt x="2673037" y="1566963"/>
                  </a:lnTo>
                  <a:lnTo>
                    <a:pt x="2682157" y="1611587"/>
                  </a:lnTo>
                  <a:lnTo>
                    <a:pt x="2685288" y="1658112"/>
                  </a:lnTo>
                  <a:lnTo>
                    <a:pt x="2682157" y="1704642"/>
                  </a:lnTo>
                  <a:lnTo>
                    <a:pt x="2673037" y="1749269"/>
                  </a:lnTo>
                  <a:lnTo>
                    <a:pt x="2658338" y="1791585"/>
                  </a:lnTo>
                  <a:lnTo>
                    <a:pt x="2638467" y="1831181"/>
                  </a:lnTo>
                  <a:lnTo>
                    <a:pt x="2613833" y="1867649"/>
                  </a:lnTo>
                  <a:lnTo>
                    <a:pt x="2584846" y="1900580"/>
                  </a:lnTo>
                  <a:lnTo>
                    <a:pt x="2551914" y="1929565"/>
                  </a:lnTo>
                  <a:lnTo>
                    <a:pt x="2515446" y="1954196"/>
                  </a:lnTo>
                  <a:lnTo>
                    <a:pt x="2475851" y="1974065"/>
                  </a:lnTo>
                  <a:lnTo>
                    <a:pt x="2433536" y="1988763"/>
                  </a:lnTo>
                  <a:lnTo>
                    <a:pt x="2388912" y="1997881"/>
                  </a:lnTo>
                  <a:lnTo>
                    <a:pt x="2342388" y="2001012"/>
                  </a:lnTo>
                  <a:lnTo>
                    <a:pt x="2295863" y="1997881"/>
                  </a:lnTo>
                  <a:lnTo>
                    <a:pt x="2251239" y="1988763"/>
                  </a:lnTo>
                  <a:lnTo>
                    <a:pt x="2208924" y="1974065"/>
                  </a:lnTo>
                  <a:lnTo>
                    <a:pt x="2169329" y="1954196"/>
                  </a:lnTo>
                  <a:lnTo>
                    <a:pt x="2132861" y="1929565"/>
                  </a:lnTo>
                  <a:lnTo>
                    <a:pt x="2099929" y="1900580"/>
                  </a:lnTo>
                  <a:lnTo>
                    <a:pt x="2070942" y="1867649"/>
                  </a:lnTo>
                  <a:lnTo>
                    <a:pt x="2046308" y="1831181"/>
                  </a:lnTo>
                  <a:lnTo>
                    <a:pt x="2026437" y="1791585"/>
                  </a:lnTo>
                  <a:lnTo>
                    <a:pt x="2011738" y="1749269"/>
                  </a:lnTo>
                  <a:lnTo>
                    <a:pt x="2002618" y="1704642"/>
                  </a:lnTo>
                  <a:lnTo>
                    <a:pt x="1999488" y="1658112"/>
                  </a:lnTo>
                  <a:close/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Google Shape;153;p11"/>
            <p:cNvSpPr/>
            <p:nvPr/>
          </p:nvSpPr>
          <p:spPr>
            <a:xfrm>
              <a:off x="4187880" y="3727800"/>
              <a:ext cx="237300" cy="237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1"/>
            <p:cNvSpPr/>
            <p:nvPr/>
          </p:nvSpPr>
          <p:spPr>
            <a:xfrm>
              <a:off x="3506760" y="3846600"/>
              <a:ext cx="4171315" cy="1714500"/>
            </a:xfrm>
            <a:custGeom>
              <a:avLst/>
              <a:gdLst/>
              <a:ahLst/>
              <a:cxnLst/>
              <a:rect l="l" t="t" r="r" b="b"/>
              <a:pathLst>
                <a:path w="4171315" h="1714500" extrusionOk="0">
                  <a:moveTo>
                    <a:pt x="0" y="0"/>
                  </a:moveTo>
                  <a:lnTo>
                    <a:pt x="0" y="1714500"/>
                  </a:lnTo>
                  <a:moveTo>
                    <a:pt x="0" y="1714500"/>
                  </a:moveTo>
                  <a:lnTo>
                    <a:pt x="1999488" y="1714500"/>
                  </a:lnTo>
                  <a:moveTo>
                    <a:pt x="2685288" y="1658112"/>
                  </a:moveTo>
                  <a:lnTo>
                    <a:pt x="4171187" y="165811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Google Shape;155;p11"/>
            <p:cNvSpPr/>
            <p:nvPr/>
          </p:nvSpPr>
          <p:spPr>
            <a:xfrm>
              <a:off x="4129920" y="4413600"/>
              <a:ext cx="237300" cy="237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1"/>
            <p:cNvSpPr/>
            <p:nvPr/>
          </p:nvSpPr>
          <p:spPr>
            <a:xfrm>
              <a:off x="4934880" y="3846600"/>
              <a:ext cx="972820" cy="300"/>
            </a:xfrm>
            <a:custGeom>
              <a:avLst/>
              <a:gdLst/>
              <a:ahLst/>
              <a:cxnLst/>
              <a:rect l="l" t="t" r="r" b="b"/>
              <a:pathLst>
                <a:path w="972820" h="120000" extrusionOk="0">
                  <a:moveTo>
                    <a:pt x="0" y="0"/>
                  </a:moveTo>
                  <a:lnTo>
                    <a:pt x="972312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Google Shape;157;p11"/>
            <p:cNvSpPr/>
            <p:nvPr/>
          </p:nvSpPr>
          <p:spPr>
            <a:xfrm>
              <a:off x="4701600" y="3727800"/>
              <a:ext cx="237300" cy="237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1"/>
            <p:cNvSpPr/>
            <p:nvPr/>
          </p:nvSpPr>
          <p:spPr>
            <a:xfrm>
              <a:off x="5678280" y="3846600"/>
              <a:ext cx="2514600" cy="1828800"/>
            </a:xfrm>
            <a:custGeom>
              <a:avLst/>
              <a:gdLst/>
              <a:ahLst/>
              <a:cxnLst/>
              <a:rect l="l" t="t" r="r" b="b"/>
              <a:pathLst>
                <a:path w="2514600" h="1828800" extrusionOk="0">
                  <a:moveTo>
                    <a:pt x="0" y="0"/>
                  </a:moveTo>
                  <a:lnTo>
                    <a:pt x="685800" y="0"/>
                  </a:lnTo>
                  <a:moveTo>
                    <a:pt x="457200" y="0"/>
                  </a:moveTo>
                  <a:lnTo>
                    <a:pt x="2514600" y="0"/>
                  </a:lnTo>
                  <a:moveTo>
                    <a:pt x="2514600" y="0"/>
                  </a:moveTo>
                  <a:lnTo>
                    <a:pt x="2514600" y="1658112"/>
                  </a:lnTo>
                  <a:moveTo>
                    <a:pt x="2171700" y="1429512"/>
                  </a:moveTo>
                  <a:lnTo>
                    <a:pt x="2171700" y="182880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Google Shape;159;p11"/>
            <p:cNvSpPr/>
            <p:nvPr/>
          </p:nvSpPr>
          <p:spPr>
            <a:xfrm>
              <a:off x="4759560" y="4413600"/>
              <a:ext cx="237300" cy="237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" name="Google Shape;160;p11"/>
          <p:cNvSpPr/>
          <p:nvPr/>
        </p:nvSpPr>
        <p:spPr>
          <a:xfrm>
            <a:off x="7637060" y="3072595"/>
            <a:ext cx="300" cy="600075"/>
          </a:xfrm>
          <a:custGeom>
            <a:avLst/>
            <a:gdLst/>
            <a:ahLst/>
            <a:cxnLst/>
            <a:rect l="l" t="t" r="r" b="b"/>
            <a:pathLst>
              <a:path w="120000" h="800100" extrusionOk="0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61" name="Google Shape;161;p11"/>
          <p:cNvGrpSpPr/>
          <p:nvPr/>
        </p:nvGrpSpPr>
        <p:grpSpPr>
          <a:xfrm>
            <a:off x="5022110" y="2384905"/>
            <a:ext cx="472440" cy="87401"/>
            <a:chOff x="4249080" y="4130640"/>
            <a:chExt cx="629920" cy="116534"/>
          </a:xfrm>
        </p:grpSpPr>
        <p:sp>
          <p:nvSpPr>
            <p:cNvPr id="162" name="Google Shape;162;p11"/>
            <p:cNvSpPr/>
            <p:nvPr/>
          </p:nvSpPr>
          <p:spPr>
            <a:xfrm>
              <a:off x="4249080" y="4130640"/>
              <a:ext cx="629920" cy="4685"/>
            </a:xfrm>
            <a:custGeom>
              <a:avLst/>
              <a:gdLst/>
              <a:ahLst/>
              <a:cxnLst/>
              <a:rect l="l" t="t" r="r" b="b"/>
              <a:pathLst>
                <a:path w="629920" h="5079" extrusionOk="0">
                  <a:moveTo>
                    <a:pt x="0" y="4572"/>
                  </a:moveTo>
                  <a:lnTo>
                    <a:pt x="629412" y="4572"/>
                  </a:lnTo>
                  <a:moveTo>
                    <a:pt x="0" y="0"/>
                  </a:moveTo>
                  <a:lnTo>
                    <a:pt x="629412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Google Shape;163;p11"/>
            <p:cNvSpPr/>
            <p:nvPr/>
          </p:nvSpPr>
          <p:spPr>
            <a:xfrm>
              <a:off x="4477680" y="4133160"/>
              <a:ext cx="228029" cy="114014"/>
            </a:xfrm>
            <a:custGeom>
              <a:avLst/>
              <a:gdLst/>
              <a:ahLst/>
              <a:cxnLst/>
              <a:rect l="l" t="t" r="r" b="b"/>
              <a:pathLst>
                <a:path w="228600" h="114300" extrusionOk="0">
                  <a:moveTo>
                    <a:pt x="228600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228600" y="1143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Google Shape;164;p11"/>
            <p:cNvSpPr/>
            <p:nvPr/>
          </p:nvSpPr>
          <p:spPr>
            <a:xfrm>
              <a:off x="4477680" y="4133160"/>
              <a:ext cx="228029" cy="114014"/>
            </a:xfrm>
            <a:custGeom>
              <a:avLst/>
              <a:gdLst/>
              <a:ahLst/>
              <a:cxnLst/>
              <a:rect l="l" t="t" r="r" b="b"/>
              <a:pathLst>
                <a:path w="228600" h="114300" extrusionOk="0">
                  <a:moveTo>
                    <a:pt x="0" y="114300"/>
                  </a:moveTo>
                  <a:lnTo>
                    <a:pt x="228600" y="1143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5" name="Google Shape;165;p11"/>
          <p:cNvGrpSpPr/>
          <p:nvPr/>
        </p:nvGrpSpPr>
        <p:grpSpPr>
          <a:xfrm>
            <a:off x="5065310" y="2856055"/>
            <a:ext cx="471010" cy="87131"/>
            <a:chOff x="4306680" y="4758840"/>
            <a:chExt cx="628014" cy="116174"/>
          </a:xfrm>
        </p:grpSpPr>
        <p:sp>
          <p:nvSpPr>
            <p:cNvPr id="166" name="Google Shape;166;p11"/>
            <p:cNvSpPr/>
            <p:nvPr/>
          </p:nvSpPr>
          <p:spPr>
            <a:xfrm>
              <a:off x="4306680" y="4758840"/>
              <a:ext cx="628014" cy="4685"/>
            </a:xfrm>
            <a:custGeom>
              <a:avLst/>
              <a:gdLst/>
              <a:ahLst/>
              <a:cxnLst/>
              <a:rect l="l" t="t" r="r" b="b"/>
              <a:pathLst>
                <a:path w="628014" h="5079" extrusionOk="0">
                  <a:moveTo>
                    <a:pt x="0" y="4572"/>
                  </a:moveTo>
                  <a:lnTo>
                    <a:pt x="627888" y="4572"/>
                  </a:lnTo>
                  <a:moveTo>
                    <a:pt x="0" y="0"/>
                  </a:moveTo>
                  <a:lnTo>
                    <a:pt x="627888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Google Shape;167;p11"/>
            <p:cNvSpPr/>
            <p:nvPr/>
          </p:nvSpPr>
          <p:spPr>
            <a:xfrm>
              <a:off x="4477680" y="4761000"/>
              <a:ext cx="228029" cy="114014"/>
            </a:xfrm>
            <a:custGeom>
              <a:avLst/>
              <a:gdLst/>
              <a:ahLst/>
              <a:cxnLst/>
              <a:rect l="l" t="t" r="r" b="b"/>
              <a:pathLst>
                <a:path w="228600" h="114300" extrusionOk="0">
                  <a:moveTo>
                    <a:pt x="228600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228600" y="1143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Google Shape;168;p11"/>
            <p:cNvSpPr/>
            <p:nvPr/>
          </p:nvSpPr>
          <p:spPr>
            <a:xfrm>
              <a:off x="4477680" y="4761000"/>
              <a:ext cx="228029" cy="114014"/>
            </a:xfrm>
            <a:custGeom>
              <a:avLst/>
              <a:gdLst/>
              <a:ahLst/>
              <a:cxnLst/>
              <a:rect l="l" t="t" r="r" b="b"/>
              <a:pathLst>
                <a:path w="228600" h="114300" extrusionOk="0">
                  <a:moveTo>
                    <a:pt x="0" y="114300"/>
                  </a:moveTo>
                  <a:lnTo>
                    <a:pt x="228600" y="1143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9" name="Google Shape;169;p11"/>
          <p:cNvSpPr/>
          <p:nvPr/>
        </p:nvSpPr>
        <p:spPr>
          <a:xfrm>
            <a:off x="7002304" y="2943525"/>
            <a:ext cx="78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45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Battery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5673073" y="2257725"/>
            <a:ext cx="981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45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 A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5839342" y="2716363"/>
            <a:ext cx="14943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450" rIns="0" bIns="0" anchor="t" anchorCtr="0">
            <a:noAutofit/>
          </a:bodyPr>
          <a:lstStyle/>
          <a:p>
            <a:pPr marL="12700" marR="0" lvl="0" indent="0" algn="l" rtl="0">
              <a:lnSpc>
                <a:spcPct val="104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 B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96900" marR="0" lvl="0" indent="0" algn="l" rtl="0">
              <a:lnSpc>
                <a:spcPct val="104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4465370" y="2171875"/>
            <a:ext cx="3514725" cy="1243965"/>
          </a:xfrm>
          <a:custGeom>
            <a:avLst/>
            <a:gdLst/>
            <a:ahLst/>
            <a:cxnLst/>
            <a:rect l="l" t="t" r="r" b="b"/>
            <a:pathLst>
              <a:path w="4686300" h="1658620" extrusionOk="0">
                <a:moveTo>
                  <a:pt x="627888" y="685800"/>
                </a:moveTo>
                <a:lnTo>
                  <a:pt x="0" y="685800"/>
                </a:lnTo>
                <a:moveTo>
                  <a:pt x="4343400" y="1658112"/>
                </a:moveTo>
                <a:lnTo>
                  <a:pt x="4686300" y="1658112"/>
                </a:lnTo>
                <a:moveTo>
                  <a:pt x="1485900" y="743712"/>
                </a:moveTo>
                <a:lnTo>
                  <a:pt x="2685288" y="743712"/>
                </a:lnTo>
                <a:moveTo>
                  <a:pt x="2685288" y="743712"/>
                </a:moveTo>
                <a:lnTo>
                  <a:pt x="2685288" y="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3" name="Google Shape;173;p11"/>
          <p:cNvSpPr/>
          <p:nvPr/>
        </p:nvSpPr>
        <p:spPr>
          <a:xfrm>
            <a:off x="3306215" y="1177815"/>
            <a:ext cx="45243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75" rIns="0" bIns="0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can we switch on the light?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E6B860-A5B2-EF01-A7D9-1A0D8DB08AF6}"/>
              </a:ext>
            </a:extLst>
          </p:cNvPr>
          <p:cNvSpPr txBox="1"/>
          <p:nvPr/>
        </p:nvSpPr>
        <p:spPr>
          <a:xfrm>
            <a:off x="85970" y="2306406"/>
            <a:ext cx="18053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Boolean Operators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Logical AND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2.2 Logical OR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 Logical NOT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/>
          <p:nvPr/>
        </p:nvSpPr>
        <p:spPr>
          <a:xfrm>
            <a:off x="8290080" y="4834080"/>
            <a:ext cx="185400" cy="1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" marR="0" lvl="0" indent="0" algn="l" rtl="0">
              <a:lnSpc>
                <a:spcPct val="119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2"/>
          <p:cNvSpPr txBox="1">
            <a:spLocks noGrp="1"/>
          </p:cNvSpPr>
          <p:nvPr>
            <p:ph type="title"/>
          </p:nvPr>
        </p:nvSpPr>
        <p:spPr>
          <a:xfrm>
            <a:off x="2805000" y="536725"/>
            <a:ext cx="58257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2.2 Logical OR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1" name="Google Shape;181;p12" descr="File:Logic-gate-or-us.png - Wikimedia Common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45010" y="2097595"/>
            <a:ext cx="2685690" cy="109404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2"/>
          <p:cNvSpPr/>
          <p:nvPr/>
        </p:nvSpPr>
        <p:spPr>
          <a:xfrm>
            <a:off x="3358750" y="1177825"/>
            <a:ext cx="4149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75" rIns="0" bIns="0" anchor="t" anchorCtr="0">
            <a:noAutofit/>
          </a:bodyPr>
          <a:lstStyle/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Expression: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3370800" y="1602575"/>
            <a:ext cx="51471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75" rIns="0" bIns="0" anchor="t" anchorCtr="0">
            <a:noAutofit/>
          </a:bodyPr>
          <a:lstStyle/>
          <a:p>
            <a:pPr marL="698500" marR="0" lvl="0" indent="0" algn="l" rtl="0">
              <a:lnSpc>
                <a:spcPct val="113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= A OR  B </a:t>
            </a:r>
            <a:r>
              <a:rPr lang="en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alternatively	 </a:t>
            </a:r>
            <a:r>
              <a:rPr lang="en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=A+B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Gate Diagram: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4" name="Google Shape;184;p12"/>
          <p:cNvGraphicFramePr/>
          <p:nvPr/>
        </p:nvGraphicFramePr>
        <p:xfrm>
          <a:off x="4003505" y="3348065"/>
          <a:ext cx="3428700" cy="1486000"/>
        </p:xfrm>
        <a:graphic>
          <a:graphicData uri="http://schemas.openxmlformats.org/drawingml/2006/table">
            <a:tbl>
              <a:tblPr>
                <a:noFill/>
                <a:tableStyleId>{068647F8-FBD6-49B0-A662-ADF347D42048}</a:tableStyleId>
              </a:tblPr>
              <a:tblGrid>
                <a:gridCol w="11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0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Input A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Input B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Output F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5" name="Google Shape;185;p12"/>
          <p:cNvSpPr/>
          <p:nvPr/>
        </p:nvSpPr>
        <p:spPr>
          <a:xfrm>
            <a:off x="3358746" y="2862225"/>
            <a:ext cx="2032500" cy="3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75" rIns="0" bIns="0" anchor="t" anchorCtr="0">
            <a:noAutofit/>
          </a:bodyPr>
          <a:lstStyle/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Truth Table: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03D9F2-F20A-A705-49AD-58B5370EB061}"/>
              </a:ext>
            </a:extLst>
          </p:cNvPr>
          <p:cNvSpPr txBox="1"/>
          <p:nvPr/>
        </p:nvSpPr>
        <p:spPr>
          <a:xfrm>
            <a:off x="85970" y="2306406"/>
            <a:ext cx="21726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Boolean Operators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Logical AND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2.2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OR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2.2.1 OR Relationship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2.3 Logical NOT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"/>
          <p:cNvSpPr/>
          <p:nvPr/>
        </p:nvSpPr>
        <p:spPr>
          <a:xfrm>
            <a:off x="8290080" y="4834080"/>
            <a:ext cx="185400" cy="1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" marR="0" lvl="0" indent="0" algn="l" rtl="0">
              <a:lnSpc>
                <a:spcPct val="119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3"/>
          <p:cNvSpPr txBox="1">
            <a:spLocks noGrp="1"/>
          </p:cNvSpPr>
          <p:nvPr>
            <p:ph type="title"/>
          </p:nvPr>
        </p:nvSpPr>
        <p:spPr>
          <a:xfrm>
            <a:off x="2441975" y="289100"/>
            <a:ext cx="52449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2.2.1 OR Relationship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3"/>
          <p:cNvSpPr txBox="1"/>
          <p:nvPr/>
        </p:nvSpPr>
        <p:spPr>
          <a:xfrm>
            <a:off x="2503050" y="812650"/>
            <a:ext cx="6196800" cy="27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Boolean representation </a:t>
            </a:r>
            <a:r>
              <a:rPr lang="en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(Plus)</a:t>
            </a:r>
            <a:endParaRPr sz="2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marR="0" lvl="0" indent="-152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F,A and B are Boolean variables.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marR="0" lvl="0" indent="-152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Then the expression	F = A+B means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20700" marR="0" lvl="1" indent="-1905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 is only true when A OR B, OR both, are true.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marR="0" lvl="0" indent="-152400" algn="l" rtl="0">
              <a:lnSpc>
                <a:spcPct val="94687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A is capable of being 1 or 0 and B is capable of being 1 or 0 there  are 4 possible states. 00, 01, 10 or 11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4" name="Google Shape;194;p13"/>
          <p:cNvGraphicFramePr/>
          <p:nvPr/>
        </p:nvGraphicFramePr>
        <p:xfrm>
          <a:off x="4458855" y="3236815"/>
          <a:ext cx="3083625" cy="1714600"/>
        </p:xfrm>
        <a:graphic>
          <a:graphicData uri="http://schemas.openxmlformats.org/drawingml/2006/table">
            <a:tbl>
              <a:tblPr>
                <a:noFill/>
                <a:tableStyleId>{068647F8-FBD6-49B0-A662-ADF347D42048}</a:tableStyleId>
              </a:tblPr>
              <a:tblGrid>
                <a:gridCol w="102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7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4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Input A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Input B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Output F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DB72649-A066-29A2-2BD4-EA4204060C8C}"/>
              </a:ext>
            </a:extLst>
          </p:cNvPr>
          <p:cNvSpPr txBox="1"/>
          <p:nvPr/>
        </p:nvSpPr>
        <p:spPr>
          <a:xfrm>
            <a:off x="85970" y="2306406"/>
            <a:ext cx="21726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Boolean Operators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Logical AND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2.2 Logical OR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2.2.1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Relationship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2.3 Logical NOT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"/>
          <p:cNvSpPr/>
          <p:nvPr/>
        </p:nvSpPr>
        <p:spPr>
          <a:xfrm>
            <a:off x="8290080" y="4834080"/>
            <a:ext cx="185400" cy="1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" marR="0" lvl="0" indent="0" algn="l" rtl="0">
              <a:lnSpc>
                <a:spcPct val="119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4"/>
          <p:cNvSpPr txBox="1">
            <a:spLocks noGrp="1"/>
          </p:cNvSpPr>
          <p:nvPr>
            <p:ph type="title"/>
          </p:nvPr>
        </p:nvSpPr>
        <p:spPr>
          <a:xfrm>
            <a:off x="2130250" y="387375"/>
            <a:ext cx="52449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2.3 Logical Not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2" name="Google Shape;202;p14"/>
          <p:cNvGrpSpPr/>
          <p:nvPr/>
        </p:nvGrpSpPr>
        <p:grpSpPr>
          <a:xfrm>
            <a:off x="6838195" y="640050"/>
            <a:ext cx="2143125" cy="1931711"/>
            <a:chOff x="4550760" y="2932200"/>
            <a:chExt cx="2857500" cy="2575615"/>
          </a:xfrm>
        </p:grpSpPr>
        <p:sp>
          <p:nvSpPr>
            <p:cNvPr id="203" name="Google Shape;203;p14"/>
            <p:cNvSpPr/>
            <p:nvPr/>
          </p:nvSpPr>
          <p:spPr>
            <a:xfrm>
              <a:off x="4550760" y="3051000"/>
              <a:ext cx="685800" cy="300"/>
            </a:xfrm>
            <a:custGeom>
              <a:avLst/>
              <a:gdLst/>
              <a:ahLst/>
              <a:cxnLst/>
              <a:rect l="l" t="t" r="r" b="b"/>
              <a:pathLst>
                <a:path w="685800" h="120000" extrusionOk="0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5231880" y="2932200"/>
              <a:ext cx="237300" cy="237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4550760" y="3051000"/>
              <a:ext cx="2857500" cy="2456815"/>
            </a:xfrm>
            <a:custGeom>
              <a:avLst/>
              <a:gdLst/>
              <a:ahLst/>
              <a:cxnLst/>
              <a:rect l="l" t="t" r="r" b="b"/>
              <a:pathLst>
                <a:path w="2857500" h="2456815" extrusionOk="0">
                  <a:moveTo>
                    <a:pt x="0" y="1999488"/>
                  </a:moveTo>
                  <a:lnTo>
                    <a:pt x="1143000" y="1999488"/>
                  </a:lnTo>
                  <a:moveTo>
                    <a:pt x="0" y="0"/>
                  </a:moveTo>
                  <a:lnTo>
                    <a:pt x="0" y="1999488"/>
                  </a:lnTo>
                  <a:moveTo>
                    <a:pt x="0" y="1143000"/>
                  </a:moveTo>
                  <a:lnTo>
                    <a:pt x="800100" y="1143000"/>
                  </a:lnTo>
                  <a:moveTo>
                    <a:pt x="800100" y="1143000"/>
                  </a:moveTo>
                  <a:lnTo>
                    <a:pt x="803230" y="1096475"/>
                  </a:lnTo>
                  <a:lnTo>
                    <a:pt x="812350" y="1051851"/>
                  </a:lnTo>
                  <a:lnTo>
                    <a:pt x="827049" y="1009536"/>
                  </a:lnTo>
                  <a:lnTo>
                    <a:pt x="846920" y="969941"/>
                  </a:lnTo>
                  <a:lnTo>
                    <a:pt x="871554" y="933473"/>
                  </a:lnTo>
                  <a:lnTo>
                    <a:pt x="900541" y="900541"/>
                  </a:lnTo>
                  <a:lnTo>
                    <a:pt x="933473" y="871554"/>
                  </a:lnTo>
                  <a:lnTo>
                    <a:pt x="969941" y="846920"/>
                  </a:lnTo>
                  <a:lnTo>
                    <a:pt x="1009536" y="827049"/>
                  </a:lnTo>
                  <a:lnTo>
                    <a:pt x="1051851" y="812350"/>
                  </a:lnTo>
                  <a:lnTo>
                    <a:pt x="1096475" y="803230"/>
                  </a:lnTo>
                  <a:lnTo>
                    <a:pt x="1143000" y="800100"/>
                  </a:lnTo>
                  <a:lnTo>
                    <a:pt x="1189524" y="803230"/>
                  </a:lnTo>
                  <a:lnTo>
                    <a:pt x="1234148" y="812350"/>
                  </a:lnTo>
                  <a:lnTo>
                    <a:pt x="1276463" y="827049"/>
                  </a:lnTo>
                  <a:lnTo>
                    <a:pt x="1316058" y="846920"/>
                  </a:lnTo>
                  <a:lnTo>
                    <a:pt x="1352526" y="871554"/>
                  </a:lnTo>
                  <a:lnTo>
                    <a:pt x="1385458" y="900541"/>
                  </a:lnTo>
                  <a:lnTo>
                    <a:pt x="1414445" y="933473"/>
                  </a:lnTo>
                  <a:lnTo>
                    <a:pt x="1439079" y="969941"/>
                  </a:lnTo>
                  <a:lnTo>
                    <a:pt x="1458950" y="1009536"/>
                  </a:lnTo>
                  <a:lnTo>
                    <a:pt x="1473649" y="1051851"/>
                  </a:lnTo>
                  <a:lnTo>
                    <a:pt x="1482769" y="1096475"/>
                  </a:lnTo>
                  <a:lnTo>
                    <a:pt x="1485900" y="1143000"/>
                  </a:lnTo>
                  <a:lnTo>
                    <a:pt x="1482769" y="1189524"/>
                  </a:lnTo>
                  <a:lnTo>
                    <a:pt x="1473649" y="1234148"/>
                  </a:lnTo>
                  <a:lnTo>
                    <a:pt x="1458950" y="1276463"/>
                  </a:lnTo>
                  <a:lnTo>
                    <a:pt x="1439079" y="1316058"/>
                  </a:lnTo>
                  <a:lnTo>
                    <a:pt x="1414445" y="1352526"/>
                  </a:lnTo>
                  <a:lnTo>
                    <a:pt x="1385458" y="1385458"/>
                  </a:lnTo>
                  <a:lnTo>
                    <a:pt x="1352526" y="1414445"/>
                  </a:lnTo>
                  <a:lnTo>
                    <a:pt x="1316058" y="1439079"/>
                  </a:lnTo>
                  <a:lnTo>
                    <a:pt x="1276463" y="1458950"/>
                  </a:lnTo>
                  <a:lnTo>
                    <a:pt x="1234148" y="1473649"/>
                  </a:lnTo>
                  <a:lnTo>
                    <a:pt x="1189524" y="1482769"/>
                  </a:lnTo>
                  <a:lnTo>
                    <a:pt x="1143000" y="1485900"/>
                  </a:lnTo>
                  <a:lnTo>
                    <a:pt x="1096475" y="1482769"/>
                  </a:lnTo>
                  <a:lnTo>
                    <a:pt x="1051851" y="1473649"/>
                  </a:lnTo>
                  <a:lnTo>
                    <a:pt x="1009536" y="1458950"/>
                  </a:lnTo>
                  <a:lnTo>
                    <a:pt x="969941" y="1439079"/>
                  </a:lnTo>
                  <a:lnTo>
                    <a:pt x="933473" y="1414445"/>
                  </a:lnTo>
                  <a:lnTo>
                    <a:pt x="900541" y="1385458"/>
                  </a:lnTo>
                  <a:lnTo>
                    <a:pt x="871554" y="1352526"/>
                  </a:lnTo>
                  <a:lnTo>
                    <a:pt x="846920" y="1316058"/>
                  </a:lnTo>
                  <a:lnTo>
                    <a:pt x="827049" y="1276463"/>
                  </a:lnTo>
                  <a:lnTo>
                    <a:pt x="812350" y="1234148"/>
                  </a:lnTo>
                  <a:lnTo>
                    <a:pt x="803230" y="1189524"/>
                  </a:lnTo>
                  <a:lnTo>
                    <a:pt x="800100" y="1143000"/>
                  </a:lnTo>
                  <a:close/>
                  <a:moveTo>
                    <a:pt x="1485900" y="1085088"/>
                  </a:moveTo>
                  <a:lnTo>
                    <a:pt x="2857500" y="1085088"/>
                  </a:lnTo>
                  <a:moveTo>
                    <a:pt x="1143000" y="1656588"/>
                  </a:moveTo>
                  <a:lnTo>
                    <a:pt x="1143000" y="2456688"/>
                  </a:lnTo>
                  <a:moveTo>
                    <a:pt x="1313688" y="1828800"/>
                  </a:moveTo>
                  <a:lnTo>
                    <a:pt x="1313688" y="2228088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" name="Google Shape;206;p14"/>
            <p:cNvSpPr/>
            <p:nvPr/>
          </p:nvSpPr>
          <p:spPr>
            <a:xfrm>
              <a:off x="5978520" y="3051000"/>
              <a:ext cx="972820" cy="300"/>
            </a:xfrm>
            <a:custGeom>
              <a:avLst/>
              <a:gdLst/>
              <a:ahLst/>
              <a:cxnLst/>
              <a:rect l="l" t="t" r="r" b="b"/>
              <a:pathLst>
                <a:path w="972820" h="120000" extrusionOk="0">
                  <a:moveTo>
                    <a:pt x="0" y="0"/>
                  </a:moveTo>
                  <a:lnTo>
                    <a:pt x="972312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7" name="Google Shape;207;p14"/>
            <p:cNvSpPr/>
            <p:nvPr/>
          </p:nvSpPr>
          <p:spPr>
            <a:xfrm>
              <a:off x="5745600" y="2932200"/>
              <a:ext cx="237300" cy="2373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4"/>
            <p:cNvSpPr/>
            <p:nvPr/>
          </p:nvSpPr>
          <p:spPr>
            <a:xfrm>
              <a:off x="5922360" y="3051000"/>
              <a:ext cx="1485900" cy="1999614"/>
            </a:xfrm>
            <a:custGeom>
              <a:avLst/>
              <a:gdLst/>
              <a:ahLst/>
              <a:cxnLst/>
              <a:rect l="l" t="t" r="r" b="b"/>
              <a:pathLst>
                <a:path w="1485900" h="1999614" extrusionOk="0">
                  <a:moveTo>
                    <a:pt x="800100" y="0"/>
                  </a:moveTo>
                  <a:lnTo>
                    <a:pt x="1485900" y="0"/>
                  </a:lnTo>
                  <a:moveTo>
                    <a:pt x="1485900" y="0"/>
                  </a:moveTo>
                  <a:lnTo>
                    <a:pt x="1485900" y="1999488"/>
                  </a:lnTo>
                  <a:moveTo>
                    <a:pt x="0" y="1999488"/>
                  </a:moveTo>
                  <a:lnTo>
                    <a:pt x="1485900" y="1999488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9" name="Google Shape;209;p14"/>
          <p:cNvGrpSpPr/>
          <p:nvPr/>
        </p:nvGrpSpPr>
        <p:grpSpPr>
          <a:xfrm>
            <a:off x="7394665" y="941100"/>
            <a:ext cx="472440" cy="87401"/>
            <a:chOff x="5292720" y="3333600"/>
            <a:chExt cx="629920" cy="116534"/>
          </a:xfrm>
        </p:grpSpPr>
        <p:sp>
          <p:nvSpPr>
            <p:cNvPr id="210" name="Google Shape;210;p14"/>
            <p:cNvSpPr/>
            <p:nvPr/>
          </p:nvSpPr>
          <p:spPr>
            <a:xfrm>
              <a:off x="5292720" y="3333600"/>
              <a:ext cx="629920" cy="4685"/>
            </a:xfrm>
            <a:custGeom>
              <a:avLst/>
              <a:gdLst/>
              <a:ahLst/>
              <a:cxnLst/>
              <a:rect l="l" t="t" r="r" b="b"/>
              <a:pathLst>
                <a:path w="629920" h="5079" extrusionOk="0">
                  <a:moveTo>
                    <a:pt x="0" y="4572"/>
                  </a:moveTo>
                  <a:lnTo>
                    <a:pt x="629412" y="4572"/>
                  </a:lnTo>
                  <a:moveTo>
                    <a:pt x="0" y="0"/>
                  </a:moveTo>
                  <a:lnTo>
                    <a:pt x="629412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" name="Google Shape;211;p14"/>
            <p:cNvSpPr/>
            <p:nvPr/>
          </p:nvSpPr>
          <p:spPr>
            <a:xfrm>
              <a:off x="5521320" y="3336120"/>
              <a:ext cx="228029" cy="114014"/>
            </a:xfrm>
            <a:custGeom>
              <a:avLst/>
              <a:gdLst/>
              <a:ahLst/>
              <a:cxnLst/>
              <a:rect l="l" t="t" r="r" b="b"/>
              <a:pathLst>
                <a:path w="228600" h="114300" extrusionOk="0">
                  <a:moveTo>
                    <a:pt x="228600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228600" y="1143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" name="Google Shape;212;p14"/>
            <p:cNvSpPr/>
            <p:nvPr/>
          </p:nvSpPr>
          <p:spPr>
            <a:xfrm>
              <a:off x="5521320" y="3336120"/>
              <a:ext cx="228029" cy="114014"/>
            </a:xfrm>
            <a:custGeom>
              <a:avLst/>
              <a:gdLst/>
              <a:ahLst/>
              <a:cxnLst/>
              <a:rect l="l" t="t" r="r" b="b"/>
              <a:pathLst>
                <a:path w="228600" h="114300" extrusionOk="0">
                  <a:moveTo>
                    <a:pt x="0" y="114300"/>
                  </a:moveTo>
                  <a:lnTo>
                    <a:pt x="228600" y="1143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3" name="Google Shape;213;p14"/>
          <p:cNvSpPr/>
          <p:nvPr/>
        </p:nvSpPr>
        <p:spPr>
          <a:xfrm>
            <a:off x="7997122" y="1965075"/>
            <a:ext cx="773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45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Battery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6993975" y="731100"/>
            <a:ext cx="2064300" cy="5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0450" rIns="0" bIns="0" anchor="t" anchorCtr="0">
            <a:noAutofit/>
          </a:bodyPr>
          <a:lstStyle/>
          <a:p>
            <a:pPr marL="939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 A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Light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2199050" y="1207025"/>
            <a:ext cx="4662300" cy="5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975" rIns="0" bIns="0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can </a:t>
            </a:r>
            <a:r>
              <a:rPr lang="en" sz="24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</a:t>
            </a:r>
            <a:r>
              <a:rPr lang="en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 the light off?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2199045" y="1677197"/>
            <a:ext cx="3909900" cy="7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700" rIns="0" bIns="0" anchor="t" anchorCtr="0">
            <a:noAutofit/>
          </a:bodyPr>
          <a:lstStyle/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Expression: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68300" algn="l" rtl="0">
              <a:lnSpc>
                <a:spcPct val="1078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= NOT A	 </a:t>
            </a:r>
            <a:r>
              <a:rPr lang="en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F=!A or  F=A’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7" name="Google Shape;217;p14"/>
          <p:cNvGrpSpPr/>
          <p:nvPr/>
        </p:nvGrpSpPr>
        <p:grpSpPr>
          <a:xfrm>
            <a:off x="5735167" y="2992810"/>
            <a:ext cx="852618" cy="782392"/>
            <a:chOff x="7067520" y="4483080"/>
            <a:chExt cx="908684" cy="668654"/>
          </a:xfrm>
        </p:grpSpPr>
        <p:sp>
          <p:nvSpPr>
            <p:cNvPr id="218" name="Google Shape;218;p14"/>
            <p:cNvSpPr/>
            <p:nvPr/>
          </p:nvSpPr>
          <p:spPr>
            <a:xfrm>
              <a:off x="7932600" y="4744800"/>
              <a:ext cx="35292" cy="116888"/>
            </a:xfrm>
            <a:custGeom>
              <a:avLst/>
              <a:gdLst/>
              <a:ahLst/>
              <a:cxnLst/>
              <a:rect l="l" t="t" r="r" b="b"/>
              <a:pathLst>
                <a:path w="35559" h="117475" extrusionOk="0">
                  <a:moveTo>
                    <a:pt x="0" y="64670"/>
                  </a:moveTo>
                  <a:lnTo>
                    <a:pt x="4598" y="93882"/>
                  </a:lnTo>
                  <a:lnTo>
                    <a:pt x="17057" y="117322"/>
                  </a:lnTo>
                  <a:moveTo>
                    <a:pt x="35371" y="0"/>
                  </a:moveTo>
                  <a:lnTo>
                    <a:pt x="17057" y="15035"/>
                  </a:lnTo>
                  <a:lnTo>
                    <a:pt x="4598" y="37342"/>
                  </a:lnTo>
                  <a:lnTo>
                    <a:pt x="0" y="64670"/>
                  </a:lnTo>
                </a:path>
              </a:pathLst>
            </a:custGeom>
            <a:noFill/>
            <a:ln w="489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7067520" y="4483080"/>
              <a:ext cx="908684" cy="668654"/>
            </a:xfrm>
            <a:custGeom>
              <a:avLst/>
              <a:gdLst/>
              <a:ahLst/>
              <a:cxnLst/>
              <a:rect l="l" t="t" r="r" b="b"/>
              <a:pathLst>
                <a:path w="908684" h="668654" extrusionOk="0">
                  <a:moveTo>
                    <a:pt x="908380" y="333159"/>
                  </a:moveTo>
                  <a:lnTo>
                    <a:pt x="888111" y="322681"/>
                  </a:lnTo>
                  <a:lnTo>
                    <a:pt x="855370" y="303682"/>
                  </a:lnTo>
                  <a:lnTo>
                    <a:pt x="855370" y="335000"/>
                  </a:lnTo>
                  <a:lnTo>
                    <a:pt x="349554" y="628738"/>
                  </a:lnTo>
                  <a:lnTo>
                    <a:pt x="349554" y="41262"/>
                  </a:lnTo>
                  <a:lnTo>
                    <a:pt x="855370" y="335000"/>
                  </a:lnTo>
                  <a:lnTo>
                    <a:pt x="855370" y="303682"/>
                  </a:lnTo>
                  <a:lnTo>
                    <a:pt x="344068" y="6781"/>
                  </a:lnTo>
                  <a:lnTo>
                    <a:pt x="327088" y="0"/>
                  </a:lnTo>
                  <a:lnTo>
                    <a:pt x="327088" y="17233"/>
                  </a:lnTo>
                  <a:lnTo>
                    <a:pt x="339166" y="17233"/>
                  </a:lnTo>
                  <a:lnTo>
                    <a:pt x="327088" y="17246"/>
                  </a:lnTo>
                  <a:lnTo>
                    <a:pt x="327088" y="319608"/>
                  </a:lnTo>
                  <a:lnTo>
                    <a:pt x="11506" y="319608"/>
                  </a:lnTo>
                  <a:lnTo>
                    <a:pt x="0" y="319608"/>
                  </a:lnTo>
                  <a:lnTo>
                    <a:pt x="0" y="347319"/>
                  </a:lnTo>
                  <a:lnTo>
                    <a:pt x="11506" y="347319"/>
                  </a:lnTo>
                  <a:lnTo>
                    <a:pt x="327088" y="347319"/>
                  </a:lnTo>
                  <a:lnTo>
                    <a:pt x="327088" y="649058"/>
                  </a:lnTo>
                  <a:lnTo>
                    <a:pt x="327088" y="668147"/>
                  </a:lnTo>
                  <a:lnTo>
                    <a:pt x="336080" y="668147"/>
                  </a:lnTo>
                  <a:lnTo>
                    <a:pt x="344068" y="663232"/>
                  </a:lnTo>
                  <a:lnTo>
                    <a:pt x="888111" y="347319"/>
                  </a:lnTo>
                  <a:lnTo>
                    <a:pt x="908380" y="3331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0" name="Google Shape;220;p14"/>
          <p:cNvSpPr/>
          <p:nvPr/>
        </p:nvSpPr>
        <p:spPr>
          <a:xfrm rot="10800000" flipH="1">
            <a:off x="6693271" y="3318238"/>
            <a:ext cx="451246" cy="67333"/>
          </a:xfrm>
          <a:custGeom>
            <a:avLst/>
            <a:gdLst/>
            <a:ahLst/>
            <a:cxnLst/>
            <a:rect l="l" t="t" r="r" b="b"/>
            <a:pathLst>
              <a:path w="481329" h="27939" extrusionOk="0">
                <a:moveTo>
                  <a:pt x="470052" y="0"/>
                </a:moveTo>
                <a:lnTo>
                  <a:pt x="11506" y="0"/>
                </a:lnTo>
                <a:lnTo>
                  <a:pt x="0" y="0"/>
                </a:lnTo>
                <a:lnTo>
                  <a:pt x="0" y="27711"/>
                </a:lnTo>
                <a:lnTo>
                  <a:pt x="11480" y="27711"/>
                </a:lnTo>
                <a:lnTo>
                  <a:pt x="470052" y="27711"/>
                </a:lnTo>
                <a:lnTo>
                  <a:pt x="470052" y="0"/>
                </a:lnTo>
                <a:close/>
                <a:moveTo>
                  <a:pt x="481025" y="0"/>
                </a:moveTo>
                <a:lnTo>
                  <a:pt x="470077" y="0"/>
                </a:lnTo>
                <a:lnTo>
                  <a:pt x="470077" y="27711"/>
                </a:lnTo>
                <a:lnTo>
                  <a:pt x="481025" y="27711"/>
                </a:lnTo>
                <a:lnTo>
                  <a:pt x="4810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1" name="Google Shape;221;p14"/>
          <p:cNvSpPr/>
          <p:nvPr/>
        </p:nvSpPr>
        <p:spPr>
          <a:xfrm>
            <a:off x="5438852" y="3108305"/>
            <a:ext cx="2112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7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7199128" y="3108305"/>
            <a:ext cx="1956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7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20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6546868" y="3255755"/>
            <a:ext cx="146400" cy="192300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2199050" y="2641325"/>
            <a:ext cx="2664900" cy="3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75" rIns="0" bIns="0" anchor="t" anchorCtr="0">
            <a:noAutofit/>
          </a:bodyPr>
          <a:lstStyle/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Gate Diagram: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5" name="Google Shape;225;p14"/>
          <p:cNvGraphicFramePr/>
          <p:nvPr/>
        </p:nvGraphicFramePr>
        <p:xfrm>
          <a:off x="3865055" y="3841925"/>
          <a:ext cx="2973150" cy="1099800"/>
        </p:xfrm>
        <a:graphic>
          <a:graphicData uri="http://schemas.openxmlformats.org/drawingml/2006/table">
            <a:tbl>
              <a:tblPr>
                <a:noFill/>
                <a:tableStyleId>{068647F8-FBD6-49B0-A662-ADF347D42048}</a:tableStyleId>
              </a:tblPr>
              <a:tblGrid>
                <a:gridCol w="148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6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6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 A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Output F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6" name="Google Shape;226;p14"/>
          <p:cNvSpPr/>
          <p:nvPr/>
        </p:nvSpPr>
        <p:spPr>
          <a:xfrm>
            <a:off x="2199053" y="3108325"/>
            <a:ext cx="2285700" cy="3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75" rIns="0" bIns="0" anchor="t" anchorCtr="0">
            <a:noAutofit/>
          </a:bodyPr>
          <a:lstStyle/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●"/>
            </a:pPr>
            <a:r>
              <a:rPr lang="en" sz="2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Truth Table: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749146-C200-B284-FFE9-9711DA21C6CD}"/>
              </a:ext>
            </a:extLst>
          </p:cNvPr>
          <p:cNvSpPr txBox="1"/>
          <p:nvPr/>
        </p:nvSpPr>
        <p:spPr>
          <a:xfrm>
            <a:off x="85970" y="2306406"/>
            <a:ext cx="18053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Boolean Operators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Logical AND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Logical OR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2.3 </a:t>
            </a: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Logical NOT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2.3.1 NOT Relationship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/>
          <p:nvPr/>
        </p:nvSpPr>
        <p:spPr>
          <a:xfrm>
            <a:off x="8290080" y="4834080"/>
            <a:ext cx="185400" cy="1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" marR="0" lvl="0" indent="0" algn="l" rtl="0">
              <a:lnSpc>
                <a:spcPct val="119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5"/>
          <p:cNvSpPr txBox="1">
            <a:spLocks noGrp="1"/>
          </p:cNvSpPr>
          <p:nvPr>
            <p:ph type="title"/>
          </p:nvPr>
        </p:nvSpPr>
        <p:spPr>
          <a:xfrm>
            <a:off x="2394600" y="373050"/>
            <a:ext cx="54774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2.3.1 NOT Relationship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15"/>
          <p:cNvSpPr txBox="1"/>
          <p:nvPr/>
        </p:nvSpPr>
        <p:spPr>
          <a:xfrm>
            <a:off x="2510700" y="1014150"/>
            <a:ext cx="6435600" cy="28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NOT relationship reverses the value.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marR="0" lvl="0" indent="-152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True is False etc…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marR="0" lvl="0" indent="-152400" algn="l" rtl="0">
              <a:lnSpc>
                <a:spcPct val="94343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Symbol  (    )    used is usually a bar above the variable or expression to  be reversed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marR="0" lvl="0" indent="-152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 if A= true then	A’ = false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marR="0" lvl="0" indent="-152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some circumstances we use !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marR="0" lvl="0" indent="-152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if B = true !B = false	(easier to type)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4383745" y="2013258"/>
            <a:ext cx="257175" cy="300"/>
          </a:xfrm>
          <a:custGeom>
            <a:avLst/>
            <a:gdLst/>
            <a:ahLst/>
            <a:cxnLst/>
            <a:rect l="l" t="t" r="r" b="b"/>
            <a:pathLst>
              <a:path w="342900" h="120000" extrusionOk="0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288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3F0C4D-EB6D-6565-45A2-9F8C2F86790E}"/>
              </a:ext>
            </a:extLst>
          </p:cNvPr>
          <p:cNvSpPr txBox="1"/>
          <p:nvPr/>
        </p:nvSpPr>
        <p:spPr>
          <a:xfrm>
            <a:off x="85970" y="2306406"/>
            <a:ext cx="180535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Boolean Operators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Logical AND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Logical OR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2.3 Logical NOT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2.3.1 NOT Relationship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Integrated Circuit and Logic gates</a:t>
            </a: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"/>
          <p:cNvSpPr/>
          <p:nvPr/>
        </p:nvSpPr>
        <p:spPr>
          <a:xfrm>
            <a:off x="8290080" y="4834080"/>
            <a:ext cx="185400" cy="1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" marR="0" lvl="0" indent="0" algn="l" rtl="0">
              <a:lnSpc>
                <a:spcPct val="119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6"/>
          <p:cNvSpPr txBox="1">
            <a:spLocks noGrp="1"/>
          </p:cNvSpPr>
          <p:nvPr>
            <p:ph type="title"/>
          </p:nvPr>
        </p:nvSpPr>
        <p:spPr>
          <a:xfrm>
            <a:off x="2388600" y="489950"/>
            <a:ext cx="64056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3. Integrated Circuit and Logic Gates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44" name="Google Shape;244;p16"/>
          <p:cNvGrpSpPr/>
          <p:nvPr/>
        </p:nvGrpSpPr>
        <p:grpSpPr>
          <a:xfrm>
            <a:off x="3462518" y="2896542"/>
            <a:ext cx="1482587" cy="1287066"/>
            <a:chOff x="2805840" y="3537360"/>
            <a:chExt cx="1794900" cy="1539000"/>
          </a:xfrm>
        </p:grpSpPr>
        <p:sp>
          <p:nvSpPr>
            <p:cNvPr id="245" name="Google Shape;245;p16"/>
            <p:cNvSpPr/>
            <p:nvPr/>
          </p:nvSpPr>
          <p:spPr>
            <a:xfrm>
              <a:off x="2805840" y="3537360"/>
              <a:ext cx="1794900" cy="1539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6"/>
            <p:cNvSpPr/>
            <p:nvPr/>
          </p:nvSpPr>
          <p:spPr>
            <a:xfrm>
              <a:off x="3703320" y="4239720"/>
              <a:ext cx="349250" cy="269875"/>
            </a:xfrm>
            <a:custGeom>
              <a:avLst/>
              <a:gdLst/>
              <a:ahLst/>
              <a:cxnLst/>
              <a:rect l="l" t="t" r="r" b="b"/>
              <a:pathLst>
                <a:path w="349250" h="269875" extrusionOk="0">
                  <a:moveTo>
                    <a:pt x="234695" y="0"/>
                  </a:moveTo>
                  <a:lnTo>
                    <a:pt x="174497" y="72389"/>
                  </a:lnTo>
                  <a:lnTo>
                    <a:pt x="135000" y="28701"/>
                  </a:lnTo>
                  <a:lnTo>
                    <a:pt x="118109" y="78866"/>
                  </a:lnTo>
                  <a:lnTo>
                    <a:pt x="5968" y="28701"/>
                  </a:lnTo>
                  <a:lnTo>
                    <a:pt x="74802" y="95122"/>
                  </a:lnTo>
                  <a:lnTo>
                    <a:pt x="0" y="107568"/>
                  </a:lnTo>
                  <a:lnTo>
                    <a:pt x="60197" y="147065"/>
                  </a:lnTo>
                  <a:lnTo>
                    <a:pt x="2158" y="182117"/>
                  </a:lnTo>
                  <a:lnTo>
                    <a:pt x="91566" y="173989"/>
                  </a:lnTo>
                  <a:lnTo>
                    <a:pt x="76962" y="219963"/>
                  </a:lnTo>
                  <a:lnTo>
                    <a:pt x="124713" y="195198"/>
                  </a:lnTo>
                  <a:lnTo>
                    <a:pt x="137032" y="269747"/>
                  </a:lnTo>
                  <a:lnTo>
                    <a:pt x="170179" y="186562"/>
                  </a:lnTo>
                  <a:lnTo>
                    <a:pt x="213994" y="246506"/>
                  </a:lnTo>
                  <a:lnTo>
                    <a:pt x="226567" y="180593"/>
                  </a:lnTo>
                  <a:lnTo>
                    <a:pt x="293115" y="225932"/>
                  </a:lnTo>
                  <a:lnTo>
                    <a:pt x="272033" y="161670"/>
                  </a:lnTo>
                  <a:lnTo>
                    <a:pt x="348995" y="165988"/>
                  </a:lnTo>
                  <a:lnTo>
                    <a:pt x="284479" y="130809"/>
                  </a:lnTo>
                  <a:lnTo>
                    <a:pt x="340867" y="101599"/>
                  </a:lnTo>
                  <a:lnTo>
                    <a:pt x="269875" y="91312"/>
                  </a:lnTo>
                  <a:lnTo>
                    <a:pt x="296925" y="55625"/>
                  </a:lnTo>
                  <a:lnTo>
                    <a:pt x="228726" y="66547"/>
                  </a:lnTo>
                  <a:lnTo>
                    <a:pt x="2346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7" name="Google Shape;247;p16"/>
            <p:cNvSpPr/>
            <p:nvPr/>
          </p:nvSpPr>
          <p:spPr>
            <a:xfrm>
              <a:off x="3703320" y="4239720"/>
              <a:ext cx="349250" cy="269875"/>
            </a:xfrm>
            <a:custGeom>
              <a:avLst/>
              <a:gdLst/>
              <a:ahLst/>
              <a:cxnLst/>
              <a:rect l="l" t="t" r="r" b="b"/>
              <a:pathLst>
                <a:path w="349250" h="269875" extrusionOk="0">
                  <a:moveTo>
                    <a:pt x="174497" y="72389"/>
                  </a:moveTo>
                  <a:lnTo>
                    <a:pt x="234695" y="0"/>
                  </a:lnTo>
                  <a:lnTo>
                    <a:pt x="228726" y="66547"/>
                  </a:lnTo>
                  <a:lnTo>
                    <a:pt x="296925" y="55625"/>
                  </a:lnTo>
                  <a:lnTo>
                    <a:pt x="269875" y="91312"/>
                  </a:lnTo>
                  <a:lnTo>
                    <a:pt x="340867" y="101599"/>
                  </a:lnTo>
                  <a:lnTo>
                    <a:pt x="284479" y="130809"/>
                  </a:lnTo>
                  <a:lnTo>
                    <a:pt x="348995" y="165988"/>
                  </a:lnTo>
                  <a:lnTo>
                    <a:pt x="272033" y="161670"/>
                  </a:lnTo>
                  <a:lnTo>
                    <a:pt x="293115" y="225932"/>
                  </a:lnTo>
                  <a:lnTo>
                    <a:pt x="226567" y="180593"/>
                  </a:lnTo>
                  <a:lnTo>
                    <a:pt x="213994" y="246506"/>
                  </a:lnTo>
                  <a:lnTo>
                    <a:pt x="170179" y="186562"/>
                  </a:lnTo>
                  <a:lnTo>
                    <a:pt x="137032" y="269747"/>
                  </a:lnTo>
                  <a:lnTo>
                    <a:pt x="124713" y="195198"/>
                  </a:lnTo>
                  <a:lnTo>
                    <a:pt x="76962" y="219963"/>
                  </a:lnTo>
                  <a:lnTo>
                    <a:pt x="91566" y="173989"/>
                  </a:lnTo>
                  <a:lnTo>
                    <a:pt x="2158" y="182117"/>
                  </a:lnTo>
                  <a:lnTo>
                    <a:pt x="60197" y="147065"/>
                  </a:lnTo>
                  <a:lnTo>
                    <a:pt x="0" y="107568"/>
                  </a:lnTo>
                  <a:lnTo>
                    <a:pt x="74802" y="95122"/>
                  </a:lnTo>
                  <a:lnTo>
                    <a:pt x="5968" y="28701"/>
                  </a:lnTo>
                  <a:lnTo>
                    <a:pt x="118109" y="78866"/>
                  </a:lnTo>
                  <a:lnTo>
                    <a:pt x="135000" y="28701"/>
                  </a:lnTo>
                  <a:lnTo>
                    <a:pt x="174497" y="7238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8" name="Google Shape;248;p16"/>
          <p:cNvGrpSpPr/>
          <p:nvPr/>
        </p:nvGrpSpPr>
        <p:grpSpPr>
          <a:xfrm>
            <a:off x="4494654" y="1812396"/>
            <a:ext cx="4240663" cy="2349367"/>
            <a:chOff x="4055400" y="2241000"/>
            <a:chExt cx="5133975" cy="2809240"/>
          </a:xfrm>
        </p:grpSpPr>
        <p:sp>
          <p:nvSpPr>
            <p:cNvPr id="249" name="Google Shape;249;p16"/>
            <p:cNvSpPr/>
            <p:nvPr/>
          </p:nvSpPr>
          <p:spPr>
            <a:xfrm>
              <a:off x="4055400" y="2241000"/>
              <a:ext cx="5133975" cy="2809240"/>
            </a:xfrm>
            <a:custGeom>
              <a:avLst/>
              <a:gdLst/>
              <a:ahLst/>
              <a:cxnLst/>
              <a:rect l="l" t="t" r="r" b="b"/>
              <a:pathLst>
                <a:path w="5133975" h="2809240" extrusionOk="0">
                  <a:moveTo>
                    <a:pt x="4665345" y="0"/>
                  </a:moveTo>
                  <a:lnTo>
                    <a:pt x="1811401" y="0"/>
                  </a:lnTo>
                  <a:lnTo>
                    <a:pt x="1763532" y="2416"/>
                  </a:lnTo>
                  <a:lnTo>
                    <a:pt x="1717047" y="9509"/>
                  </a:lnTo>
                  <a:lnTo>
                    <a:pt x="1672182" y="21042"/>
                  </a:lnTo>
                  <a:lnTo>
                    <a:pt x="1629171" y="36782"/>
                  </a:lnTo>
                  <a:lnTo>
                    <a:pt x="1588250" y="56492"/>
                  </a:lnTo>
                  <a:lnTo>
                    <a:pt x="1549654" y="79938"/>
                  </a:lnTo>
                  <a:lnTo>
                    <a:pt x="1513617" y="106884"/>
                  </a:lnTo>
                  <a:lnTo>
                    <a:pt x="1480375" y="137096"/>
                  </a:lnTo>
                  <a:lnTo>
                    <a:pt x="1450163" y="170338"/>
                  </a:lnTo>
                  <a:lnTo>
                    <a:pt x="1423217" y="206375"/>
                  </a:lnTo>
                  <a:lnTo>
                    <a:pt x="1399771" y="244971"/>
                  </a:lnTo>
                  <a:lnTo>
                    <a:pt x="1380061" y="285892"/>
                  </a:lnTo>
                  <a:lnTo>
                    <a:pt x="1364321" y="328903"/>
                  </a:lnTo>
                  <a:lnTo>
                    <a:pt x="1352788" y="373768"/>
                  </a:lnTo>
                  <a:lnTo>
                    <a:pt x="1345695" y="420253"/>
                  </a:lnTo>
                  <a:lnTo>
                    <a:pt x="1343279" y="468122"/>
                  </a:lnTo>
                  <a:lnTo>
                    <a:pt x="1343279" y="1638427"/>
                  </a:lnTo>
                  <a:lnTo>
                    <a:pt x="0" y="2116963"/>
                  </a:lnTo>
                  <a:lnTo>
                    <a:pt x="1343279" y="2340610"/>
                  </a:lnTo>
                  <a:lnTo>
                    <a:pt x="1345695" y="2388478"/>
                  </a:lnTo>
                  <a:lnTo>
                    <a:pt x="1352788" y="2434963"/>
                  </a:lnTo>
                  <a:lnTo>
                    <a:pt x="1364321" y="2479828"/>
                  </a:lnTo>
                  <a:lnTo>
                    <a:pt x="1380061" y="2522839"/>
                  </a:lnTo>
                  <a:lnTo>
                    <a:pt x="1399771" y="2563760"/>
                  </a:lnTo>
                  <a:lnTo>
                    <a:pt x="1423217" y="2602357"/>
                  </a:lnTo>
                  <a:lnTo>
                    <a:pt x="1450163" y="2638393"/>
                  </a:lnTo>
                  <a:lnTo>
                    <a:pt x="1480375" y="2671635"/>
                  </a:lnTo>
                  <a:lnTo>
                    <a:pt x="1513617" y="2701847"/>
                  </a:lnTo>
                  <a:lnTo>
                    <a:pt x="1549654" y="2728793"/>
                  </a:lnTo>
                  <a:lnTo>
                    <a:pt x="1588250" y="2752239"/>
                  </a:lnTo>
                  <a:lnTo>
                    <a:pt x="1629171" y="2771949"/>
                  </a:lnTo>
                  <a:lnTo>
                    <a:pt x="1672182" y="2787689"/>
                  </a:lnTo>
                  <a:lnTo>
                    <a:pt x="1717047" y="2799222"/>
                  </a:lnTo>
                  <a:lnTo>
                    <a:pt x="1763532" y="2806315"/>
                  </a:lnTo>
                  <a:lnTo>
                    <a:pt x="1811401" y="2808732"/>
                  </a:lnTo>
                  <a:lnTo>
                    <a:pt x="4665345" y="2808732"/>
                  </a:lnTo>
                  <a:lnTo>
                    <a:pt x="4713213" y="2806315"/>
                  </a:lnTo>
                  <a:lnTo>
                    <a:pt x="4759698" y="2799222"/>
                  </a:lnTo>
                  <a:lnTo>
                    <a:pt x="4804563" y="2787689"/>
                  </a:lnTo>
                  <a:lnTo>
                    <a:pt x="4847574" y="2771949"/>
                  </a:lnTo>
                  <a:lnTo>
                    <a:pt x="4888495" y="2752239"/>
                  </a:lnTo>
                  <a:lnTo>
                    <a:pt x="4927092" y="2728793"/>
                  </a:lnTo>
                  <a:lnTo>
                    <a:pt x="4963128" y="2701847"/>
                  </a:lnTo>
                  <a:lnTo>
                    <a:pt x="4996370" y="2671635"/>
                  </a:lnTo>
                  <a:lnTo>
                    <a:pt x="5026582" y="2638393"/>
                  </a:lnTo>
                  <a:lnTo>
                    <a:pt x="5053528" y="2602357"/>
                  </a:lnTo>
                  <a:lnTo>
                    <a:pt x="5076974" y="2563760"/>
                  </a:lnTo>
                  <a:lnTo>
                    <a:pt x="5096684" y="2522839"/>
                  </a:lnTo>
                  <a:lnTo>
                    <a:pt x="5112424" y="2479828"/>
                  </a:lnTo>
                  <a:lnTo>
                    <a:pt x="5123957" y="2434963"/>
                  </a:lnTo>
                  <a:lnTo>
                    <a:pt x="5131050" y="2388478"/>
                  </a:lnTo>
                  <a:lnTo>
                    <a:pt x="5133467" y="2340610"/>
                  </a:lnTo>
                  <a:lnTo>
                    <a:pt x="5133467" y="468122"/>
                  </a:lnTo>
                  <a:lnTo>
                    <a:pt x="5131050" y="420253"/>
                  </a:lnTo>
                  <a:lnTo>
                    <a:pt x="5123957" y="373768"/>
                  </a:lnTo>
                  <a:lnTo>
                    <a:pt x="5112424" y="328903"/>
                  </a:lnTo>
                  <a:lnTo>
                    <a:pt x="5096684" y="285892"/>
                  </a:lnTo>
                  <a:lnTo>
                    <a:pt x="5076974" y="244971"/>
                  </a:lnTo>
                  <a:lnTo>
                    <a:pt x="5053528" y="206375"/>
                  </a:lnTo>
                  <a:lnTo>
                    <a:pt x="5026582" y="170338"/>
                  </a:lnTo>
                  <a:lnTo>
                    <a:pt x="4996370" y="137096"/>
                  </a:lnTo>
                  <a:lnTo>
                    <a:pt x="4963128" y="106884"/>
                  </a:lnTo>
                  <a:lnTo>
                    <a:pt x="4927092" y="79938"/>
                  </a:lnTo>
                  <a:lnTo>
                    <a:pt x="4888495" y="56492"/>
                  </a:lnTo>
                  <a:lnTo>
                    <a:pt x="4847574" y="36782"/>
                  </a:lnTo>
                  <a:lnTo>
                    <a:pt x="4804563" y="21042"/>
                  </a:lnTo>
                  <a:lnTo>
                    <a:pt x="4759698" y="9509"/>
                  </a:lnTo>
                  <a:lnTo>
                    <a:pt x="4713213" y="2416"/>
                  </a:lnTo>
                  <a:lnTo>
                    <a:pt x="466534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0" name="Google Shape;250;p16"/>
            <p:cNvSpPr/>
            <p:nvPr/>
          </p:nvSpPr>
          <p:spPr>
            <a:xfrm>
              <a:off x="4055400" y="2241000"/>
              <a:ext cx="5133975" cy="2809240"/>
            </a:xfrm>
            <a:custGeom>
              <a:avLst/>
              <a:gdLst/>
              <a:ahLst/>
              <a:cxnLst/>
              <a:rect l="l" t="t" r="r" b="b"/>
              <a:pathLst>
                <a:path w="5133975" h="2809240" extrusionOk="0">
                  <a:moveTo>
                    <a:pt x="1343279" y="468122"/>
                  </a:moveTo>
                  <a:lnTo>
                    <a:pt x="1345695" y="420253"/>
                  </a:lnTo>
                  <a:lnTo>
                    <a:pt x="1352788" y="373768"/>
                  </a:lnTo>
                  <a:lnTo>
                    <a:pt x="1364321" y="328903"/>
                  </a:lnTo>
                  <a:lnTo>
                    <a:pt x="1380061" y="285892"/>
                  </a:lnTo>
                  <a:lnTo>
                    <a:pt x="1399771" y="244971"/>
                  </a:lnTo>
                  <a:lnTo>
                    <a:pt x="1423217" y="206375"/>
                  </a:lnTo>
                  <a:lnTo>
                    <a:pt x="1450163" y="170338"/>
                  </a:lnTo>
                  <a:lnTo>
                    <a:pt x="1480375" y="137096"/>
                  </a:lnTo>
                  <a:lnTo>
                    <a:pt x="1513617" y="106884"/>
                  </a:lnTo>
                  <a:lnTo>
                    <a:pt x="1549654" y="79938"/>
                  </a:lnTo>
                  <a:lnTo>
                    <a:pt x="1588250" y="56492"/>
                  </a:lnTo>
                  <a:lnTo>
                    <a:pt x="1629171" y="36782"/>
                  </a:lnTo>
                  <a:lnTo>
                    <a:pt x="1672182" y="21042"/>
                  </a:lnTo>
                  <a:lnTo>
                    <a:pt x="1717047" y="9509"/>
                  </a:lnTo>
                  <a:lnTo>
                    <a:pt x="1763532" y="2416"/>
                  </a:lnTo>
                  <a:lnTo>
                    <a:pt x="1811401" y="0"/>
                  </a:lnTo>
                  <a:lnTo>
                    <a:pt x="1974977" y="0"/>
                  </a:lnTo>
                  <a:lnTo>
                    <a:pt x="2922524" y="0"/>
                  </a:lnTo>
                  <a:lnTo>
                    <a:pt x="4665345" y="0"/>
                  </a:lnTo>
                  <a:lnTo>
                    <a:pt x="4713213" y="2416"/>
                  </a:lnTo>
                  <a:lnTo>
                    <a:pt x="4759698" y="9509"/>
                  </a:lnTo>
                  <a:lnTo>
                    <a:pt x="4804563" y="21042"/>
                  </a:lnTo>
                  <a:lnTo>
                    <a:pt x="4847574" y="36782"/>
                  </a:lnTo>
                  <a:lnTo>
                    <a:pt x="4888495" y="56492"/>
                  </a:lnTo>
                  <a:lnTo>
                    <a:pt x="4927092" y="79938"/>
                  </a:lnTo>
                  <a:lnTo>
                    <a:pt x="4963128" y="106884"/>
                  </a:lnTo>
                  <a:lnTo>
                    <a:pt x="4996370" y="137096"/>
                  </a:lnTo>
                  <a:lnTo>
                    <a:pt x="5026582" y="170338"/>
                  </a:lnTo>
                  <a:lnTo>
                    <a:pt x="5053528" y="206375"/>
                  </a:lnTo>
                  <a:lnTo>
                    <a:pt x="5076974" y="244971"/>
                  </a:lnTo>
                  <a:lnTo>
                    <a:pt x="5096684" y="285892"/>
                  </a:lnTo>
                  <a:lnTo>
                    <a:pt x="5112424" y="328903"/>
                  </a:lnTo>
                  <a:lnTo>
                    <a:pt x="5123957" y="373768"/>
                  </a:lnTo>
                  <a:lnTo>
                    <a:pt x="5131050" y="420253"/>
                  </a:lnTo>
                  <a:lnTo>
                    <a:pt x="5133467" y="468122"/>
                  </a:lnTo>
                  <a:lnTo>
                    <a:pt x="5133467" y="1638427"/>
                  </a:lnTo>
                  <a:lnTo>
                    <a:pt x="5133467" y="2340610"/>
                  </a:lnTo>
                  <a:lnTo>
                    <a:pt x="5131050" y="2388478"/>
                  </a:lnTo>
                  <a:lnTo>
                    <a:pt x="5123957" y="2434963"/>
                  </a:lnTo>
                  <a:lnTo>
                    <a:pt x="5112424" y="2479828"/>
                  </a:lnTo>
                  <a:lnTo>
                    <a:pt x="5096684" y="2522839"/>
                  </a:lnTo>
                  <a:lnTo>
                    <a:pt x="5076974" y="2563760"/>
                  </a:lnTo>
                  <a:lnTo>
                    <a:pt x="5053528" y="2602357"/>
                  </a:lnTo>
                  <a:lnTo>
                    <a:pt x="5026582" y="2638393"/>
                  </a:lnTo>
                  <a:lnTo>
                    <a:pt x="4996370" y="2671635"/>
                  </a:lnTo>
                  <a:lnTo>
                    <a:pt x="4963128" y="2701847"/>
                  </a:lnTo>
                  <a:lnTo>
                    <a:pt x="4927092" y="2728793"/>
                  </a:lnTo>
                  <a:lnTo>
                    <a:pt x="4888495" y="2752239"/>
                  </a:lnTo>
                  <a:lnTo>
                    <a:pt x="4847574" y="2771949"/>
                  </a:lnTo>
                  <a:lnTo>
                    <a:pt x="4804563" y="2787689"/>
                  </a:lnTo>
                  <a:lnTo>
                    <a:pt x="4759698" y="2799222"/>
                  </a:lnTo>
                  <a:lnTo>
                    <a:pt x="4713213" y="2806315"/>
                  </a:lnTo>
                  <a:lnTo>
                    <a:pt x="4665345" y="2808732"/>
                  </a:lnTo>
                  <a:lnTo>
                    <a:pt x="2922524" y="2808732"/>
                  </a:lnTo>
                  <a:lnTo>
                    <a:pt x="1974977" y="2808732"/>
                  </a:lnTo>
                  <a:lnTo>
                    <a:pt x="1811401" y="2808732"/>
                  </a:lnTo>
                  <a:lnTo>
                    <a:pt x="1763532" y="2806315"/>
                  </a:lnTo>
                  <a:lnTo>
                    <a:pt x="1717047" y="2799222"/>
                  </a:lnTo>
                  <a:lnTo>
                    <a:pt x="1672182" y="2787689"/>
                  </a:lnTo>
                  <a:lnTo>
                    <a:pt x="1629171" y="2771949"/>
                  </a:lnTo>
                  <a:lnTo>
                    <a:pt x="1588250" y="2752239"/>
                  </a:lnTo>
                  <a:lnTo>
                    <a:pt x="1549654" y="2728793"/>
                  </a:lnTo>
                  <a:lnTo>
                    <a:pt x="1513617" y="2701847"/>
                  </a:lnTo>
                  <a:lnTo>
                    <a:pt x="1480375" y="2671635"/>
                  </a:lnTo>
                  <a:lnTo>
                    <a:pt x="1450163" y="2638393"/>
                  </a:lnTo>
                  <a:lnTo>
                    <a:pt x="1423217" y="2602357"/>
                  </a:lnTo>
                  <a:lnTo>
                    <a:pt x="1399771" y="2563760"/>
                  </a:lnTo>
                  <a:lnTo>
                    <a:pt x="1380061" y="2522839"/>
                  </a:lnTo>
                  <a:lnTo>
                    <a:pt x="1364321" y="2479828"/>
                  </a:lnTo>
                  <a:lnTo>
                    <a:pt x="1352788" y="2434963"/>
                  </a:lnTo>
                  <a:lnTo>
                    <a:pt x="1345695" y="2388478"/>
                  </a:lnTo>
                  <a:lnTo>
                    <a:pt x="1343279" y="2340610"/>
                  </a:lnTo>
                  <a:lnTo>
                    <a:pt x="0" y="2116963"/>
                  </a:lnTo>
                  <a:lnTo>
                    <a:pt x="1343279" y="1638427"/>
                  </a:lnTo>
                  <a:lnTo>
                    <a:pt x="1343279" y="468122"/>
                  </a:lnTo>
                  <a:close/>
                </a:path>
              </a:pathLst>
            </a:custGeom>
            <a:noFill/>
            <a:ln w="1022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5696640" y="2673000"/>
              <a:ext cx="1226400" cy="19566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6"/>
            <p:cNvSpPr/>
            <p:nvPr/>
          </p:nvSpPr>
          <p:spPr>
            <a:xfrm>
              <a:off x="5691960" y="2668680"/>
              <a:ext cx="1236345" cy="1965960"/>
            </a:xfrm>
            <a:custGeom>
              <a:avLst/>
              <a:gdLst/>
              <a:ahLst/>
              <a:cxnLst/>
              <a:rect l="l" t="t" r="r" b="b"/>
              <a:pathLst>
                <a:path w="1236345" h="1965960" extrusionOk="0">
                  <a:moveTo>
                    <a:pt x="0" y="1965959"/>
                  </a:moveTo>
                  <a:lnTo>
                    <a:pt x="1235964" y="1965959"/>
                  </a:lnTo>
                  <a:lnTo>
                    <a:pt x="1235964" y="0"/>
                  </a:lnTo>
                  <a:lnTo>
                    <a:pt x="0" y="0"/>
                  </a:lnTo>
                  <a:lnTo>
                    <a:pt x="0" y="196595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7491960" y="3320640"/>
              <a:ext cx="1546500" cy="7251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7043760" y="3482280"/>
              <a:ext cx="309000" cy="3927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144C906-573C-CCFE-0F6D-7ABF529CD8B9}"/>
              </a:ext>
            </a:extLst>
          </p:cNvPr>
          <p:cNvSpPr txBox="1"/>
          <p:nvPr/>
        </p:nvSpPr>
        <p:spPr>
          <a:xfrm>
            <a:off x="85970" y="2306406"/>
            <a:ext cx="18053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Integrated Circuit and Logic gates</a:t>
            </a: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7"/>
          <p:cNvSpPr txBox="1">
            <a:spLocks noGrp="1"/>
          </p:cNvSpPr>
          <p:nvPr>
            <p:ph type="title"/>
          </p:nvPr>
        </p:nvSpPr>
        <p:spPr>
          <a:xfrm>
            <a:off x="2918875" y="489950"/>
            <a:ext cx="58752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4. Other Logic Gates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17"/>
          <p:cNvSpPr txBox="1"/>
          <p:nvPr/>
        </p:nvSpPr>
        <p:spPr>
          <a:xfrm>
            <a:off x="2918875" y="1297875"/>
            <a:ext cx="5875200" cy="36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marR="0" lvl="0" indent="-152400" algn="l" rtl="0">
              <a:lnSpc>
                <a:spcPct val="9434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make life a little easier the basic logical  functions are expanded to include: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NAND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3683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■"/>
            </a:pPr>
            <a:r>
              <a:rPr lang="en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an AND with a NOT output.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3683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■"/>
            </a:pPr>
            <a:r>
              <a:rPr lang="en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an OR with a NOT output.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XOR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3683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■"/>
            </a:pPr>
            <a:r>
              <a:rPr lang="en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the Exclusive OR function.</a:t>
            </a: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683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XNOR</a:t>
            </a:r>
            <a:endParaRPr sz="22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2" indent="-3683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■"/>
            </a:pPr>
            <a:r>
              <a:rPr lang="en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Complement of XOR.</a:t>
            </a: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D617FF-5C62-A079-598A-F1E2EE7ECFB2}"/>
              </a:ext>
            </a:extLst>
          </p:cNvPr>
          <p:cNvSpPr txBox="1"/>
          <p:nvPr/>
        </p:nvSpPr>
        <p:spPr>
          <a:xfrm>
            <a:off x="85970" y="2306406"/>
            <a:ext cx="18053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Other Logic Gates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4.1 NAND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4.2 NOR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4.3 XOR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4.4 XNOR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8"/>
          <p:cNvSpPr txBox="1">
            <a:spLocks noGrp="1"/>
          </p:cNvSpPr>
          <p:nvPr>
            <p:ph type="title"/>
          </p:nvPr>
        </p:nvSpPr>
        <p:spPr>
          <a:xfrm>
            <a:off x="2918875" y="138262"/>
            <a:ext cx="58752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4.1 NAND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7" name="Google Shape;267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44727" y="1856687"/>
            <a:ext cx="2487446" cy="8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8"/>
          <p:cNvSpPr/>
          <p:nvPr/>
        </p:nvSpPr>
        <p:spPr>
          <a:xfrm>
            <a:off x="2571199" y="2498412"/>
            <a:ext cx="24120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450" rIns="0" bIns="0" anchor="t" anchorCtr="0">
            <a:noAutofit/>
          </a:bodyPr>
          <a:lstStyle/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Truth Table: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8"/>
          <p:cNvSpPr/>
          <p:nvPr/>
        </p:nvSpPr>
        <p:spPr>
          <a:xfrm>
            <a:off x="7117620" y="1334986"/>
            <a:ext cx="324326" cy="300"/>
          </a:xfrm>
          <a:custGeom>
            <a:avLst/>
            <a:gdLst/>
            <a:ahLst/>
            <a:cxnLst/>
            <a:rect l="l" t="t" r="r" b="b"/>
            <a:pathLst>
              <a:path w="432434" h="120000" extrusionOk="0">
                <a:moveTo>
                  <a:pt x="0" y="0"/>
                </a:moveTo>
                <a:lnTo>
                  <a:pt x="432053" y="0"/>
                </a:lnTo>
              </a:path>
            </a:pathLst>
          </a:custGeom>
          <a:noFill/>
          <a:ln w="259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1" name="Google Shape;271;p18"/>
          <p:cNvSpPr/>
          <p:nvPr/>
        </p:nvSpPr>
        <p:spPr>
          <a:xfrm>
            <a:off x="2571200" y="813587"/>
            <a:ext cx="5212200" cy="10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6675" rIns="0" bIns="0" anchor="t" anchorCtr="0">
            <a:noAutofit/>
          </a:bodyPr>
          <a:lstStyle/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Expression: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9850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r>
              <a:rPr lang="en" sz="2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= NOT(A  AND B)  F = A∙B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Gate Diagram: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DD7D88-111A-A9E3-B309-ACDE7A51F27D}"/>
              </a:ext>
            </a:extLst>
          </p:cNvPr>
          <p:cNvSpPr txBox="1"/>
          <p:nvPr/>
        </p:nvSpPr>
        <p:spPr>
          <a:xfrm>
            <a:off x="85970" y="2306406"/>
            <a:ext cx="18053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Other Logic Gates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 NAND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4.2 NOR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4.3 XOR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4.4 XNOR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768FF4B-C2F0-B6E3-A0A5-0476356558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3955063"/>
                  </p:ext>
                </p:extLst>
              </p:nvPr>
            </p:nvGraphicFramePr>
            <p:xfrm>
              <a:off x="3901564" y="3056112"/>
              <a:ext cx="2724798" cy="1854200"/>
            </p:xfrm>
            <a:graphic>
              <a:graphicData uri="http://schemas.openxmlformats.org/drawingml/2006/table">
                <a:tbl>
                  <a:tblPr firstRow="1" bandRow="1">
                    <a:tableStyleId>{068647F8-FBD6-49B0-A662-ADF347D42048}</a:tableStyleId>
                  </a:tblPr>
                  <a:tblGrid>
                    <a:gridCol w="481783">
                      <a:extLst>
                        <a:ext uri="{9D8B030D-6E8A-4147-A177-3AD203B41FA5}">
                          <a16:colId xmlns:a16="http://schemas.microsoft.com/office/drawing/2014/main" val="1564498146"/>
                        </a:ext>
                      </a:extLst>
                    </a:gridCol>
                    <a:gridCol w="500184">
                      <a:extLst>
                        <a:ext uri="{9D8B030D-6E8A-4147-A177-3AD203B41FA5}">
                          <a16:colId xmlns:a16="http://schemas.microsoft.com/office/drawing/2014/main" val="389394230"/>
                        </a:ext>
                      </a:extLst>
                    </a:gridCol>
                    <a:gridCol w="875323">
                      <a:extLst>
                        <a:ext uri="{9D8B030D-6E8A-4147-A177-3AD203B41FA5}">
                          <a16:colId xmlns:a16="http://schemas.microsoft.com/office/drawing/2014/main" val="2181222389"/>
                        </a:ext>
                      </a:extLst>
                    </a:gridCol>
                    <a:gridCol w="867508">
                      <a:extLst>
                        <a:ext uri="{9D8B030D-6E8A-4147-A177-3AD203B41FA5}">
                          <a16:colId xmlns:a16="http://schemas.microsoft.com/office/drawing/2014/main" val="18000889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A.B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6254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97687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7115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85178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165115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768FF4B-C2F0-B6E3-A0A5-0476356558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3955063"/>
                  </p:ext>
                </p:extLst>
              </p:nvPr>
            </p:nvGraphicFramePr>
            <p:xfrm>
              <a:off x="3901564" y="3056112"/>
              <a:ext cx="2724798" cy="1854200"/>
            </p:xfrm>
            <a:graphic>
              <a:graphicData uri="http://schemas.openxmlformats.org/drawingml/2006/table">
                <a:tbl>
                  <a:tblPr firstRow="1" bandRow="1">
                    <a:tableStyleId>{068647F8-FBD6-49B0-A662-ADF347D42048}</a:tableStyleId>
                  </a:tblPr>
                  <a:tblGrid>
                    <a:gridCol w="481783">
                      <a:extLst>
                        <a:ext uri="{9D8B030D-6E8A-4147-A177-3AD203B41FA5}">
                          <a16:colId xmlns:a16="http://schemas.microsoft.com/office/drawing/2014/main" val="1564498146"/>
                        </a:ext>
                      </a:extLst>
                    </a:gridCol>
                    <a:gridCol w="500184">
                      <a:extLst>
                        <a:ext uri="{9D8B030D-6E8A-4147-A177-3AD203B41FA5}">
                          <a16:colId xmlns:a16="http://schemas.microsoft.com/office/drawing/2014/main" val="389394230"/>
                        </a:ext>
                      </a:extLst>
                    </a:gridCol>
                    <a:gridCol w="875323">
                      <a:extLst>
                        <a:ext uri="{9D8B030D-6E8A-4147-A177-3AD203B41FA5}">
                          <a16:colId xmlns:a16="http://schemas.microsoft.com/office/drawing/2014/main" val="2181222389"/>
                        </a:ext>
                      </a:extLst>
                    </a:gridCol>
                    <a:gridCol w="867508">
                      <a:extLst>
                        <a:ext uri="{9D8B030D-6E8A-4147-A177-3AD203B41FA5}">
                          <a16:colId xmlns:a16="http://schemas.microsoft.com/office/drawing/2014/main" val="18000889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A.B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14685" t="-1639" r="-1399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6254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97687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7115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85178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1651156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9"/>
          <p:cNvSpPr txBox="1">
            <a:spLocks noGrp="1"/>
          </p:cNvSpPr>
          <p:nvPr>
            <p:ph type="title"/>
          </p:nvPr>
        </p:nvSpPr>
        <p:spPr>
          <a:xfrm>
            <a:off x="2918875" y="-25867"/>
            <a:ext cx="58752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4.2 NOR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19"/>
          <p:cNvSpPr/>
          <p:nvPr/>
        </p:nvSpPr>
        <p:spPr>
          <a:xfrm>
            <a:off x="2918874" y="2334283"/>
            <a:ext cx="24120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450" rIns="0" bIns="0" anchor="t" anchorCtr="0">
            <a:noAutofit/>
          </a:bodyPr>
          <a:lstStyle/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Truth Table: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9"/>
          <p:cNvSpPr/>
          <p:nvPr/>
        </p:nvSpPr>
        <p:spPr>
          <a:xfrm>
            <a:off x="6504294" y="1292257"/>
            <a:ext cx="324325" cy="300"/>
          </a:xfrm>
          <a:custGeom>
            <a:avLst/>
            <a:gdLst/>
            <a:ahLst/>
            <a:cxnLst/>
            <a:rect l="l" t="t" r="r" b="b"/>
            <a:pathLst>
              <a:path w="432434" h="120000" extrusionOk="0">
                <a:moveTo>
                  <a:pt x="0" y="0"/>
                </a:moveTo>
                <a:lnTo>
                  <a:pt x="432053" y="0"/>
                </a:lnTo>
              </a:path>
            </a:pathLst>
          </a:custGeom>
          <a:noFill/>
          <a:ln w="259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280" name="Google Shape;28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25149" y="1662284"/>
            <a:ext cx="2181027" cy="10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9"/>
          <p:cNvSpPr/>
          <p:nvPr/>
        </p:nvSpPr>
        <p:spPr>
          <a:xfrm>
            <a:off x="2918875" y="850733"/>
            <a:ext cx="4884900" cy="10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7500" rIns="0" bIns="0" anchor="t" anchorCtr="0">
            <a:noAutofit/>
          </a:bodyPr>
          <a:lstStyle/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Expression: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 b="1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" sz="2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= NOT(A OR B) , F = A+B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Gate Diagram: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2BA20E-C5E4-EB20-2994-49CD3EF978DD}"/>
              </a:ext>
            </a:extLst>
          </p:cNvPr>
          <p:cNvSpPr txBox="1"/>
          <p:nvPr/>
        </p:nvSpPr>
        <p:spPr>
          <a:xfrm>
            <a:off x="85970" y="2306406"/>
            <a:ext cx="18053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Other Logic Gates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4.1 NAND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4.2 NOR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4.3 XOR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4.4 XNOR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1DA18B2-B020-E328-C8DC-8CB0F8550D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6851896"/>
                  </p:ext>
                </p:extLst>
              </p:nvPr>
            </p:nvGraphicFramePr>
            <p:xfrm>
              <a:off x="3865465" y="3075111"/>
              <a:ext cx="2724798" cy="1854200"/>
            </p:xfrm>
            <a:graphic>
              <a:graphicData uri="http://schemas.openxmlformats.org/drawingml/2006/table">
                <a:tbl>
                  <a:tblPr firstRow="1" bandRow="1">
                    <a:tableStyleId>{068647F8-FBD6-49B0-A662-ADF347D42048}</a:tableStyleId>
                  </a:tblPr>
                  <a:tblGrid>
                    <a:gridCol w="481783">
                      <a:extLst>
                        <a:ext uri="{9D8B030D-6E8A-4147-A177-3AD203B41FA5}">
                          <a16:colId xmlns:a16="http://schemas.microsoft.com/office/drawing/2014/main" val="1564498146"/>
                        </a:ext>
                      </a:extLst>
                    </a:gridCol>
                    <a:gridCol w="500184">
                      <a:extLst>
                        <a:ext uri="{9D8B030D-6E8A-4147-A177-3AD203B41FA5}">
                          <a16:colId xmlns:a16="http://schemas.microsoft.com/office/drawing/2014/main" val="389394230"/>
                        </a:ext>
                      </a:extLst>
                    </a:gridCol>
                    <a:gridCol w="875323">
                      <a:extLst>
                        <a:ext uri="{9D8B030D-6E8A-4147-A177-3AD203B41FA5}">
                          <a16:colId xmlns:a16="http://schemas.microsoft.com/office/drawing/2014/main" val="2181222389"/>
                        </a:ext>
                      </a:extLst>
                    </a:gridCol>
                    <a:gridCol w="867508">
                      <a:extLst>
                        <a:ext uri="{9D8B030D-6E8A-4147-A177-3AD203B41FA5}">
                          <a16:colId xmlns:a16="http://schemas.microsoft.com/office/drawing/2014/main" val="18000889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A+B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6254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97687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7115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85178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165115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1DA18B2-B020-E328-C8DC-8CB0F8550D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6851896"/>
                  </p:ext>
                </p:extLst>
              </p:nvPr>
            </p:nvGraphicFramePr>
            <p:xfrm>
              <a:off x="3865465" y="3075111"/>
              <a:ext cx="2724798" cy="1854200"/>
            </p:xfrm>
            <a:graphic>
              <a:graphicData uri="http://schemas.openxmlformats.org/drawingml/2006/table">
                <a:tbl>
                  <a:tblPr firstRow="1" bandRow="1">
                    <a:tableStyleId>{068647F8-FBD6-49B0-A662-ADF347D42048}</a:tableStyleId>
                  </a:tblPr>
                  <a:tblGrid>
                    <a:gridCol w="481783">
                      <a:extLst>
                        <a:ext uri="{9D8B030D-6E8A-4147-A177-3AD203B41FA5}">
                          <a16:colId xmlns:a16="http://schemas.microsoft.com/office/drawing/2014/main" val="1564498146"/>
                        </a:ext>
                      </a:extLst>
                    </a:gridCol>
                    <a:gridCol w="500184">
                      <a:extLst>
                        <a:ext uri="{9D8B030D-6E8A-4147-A177-3AD203B41FA5}">
                          <a16:colId xmlns:a16="http://schemas.microsoft.com/office/drawing/2014/main" val="389394230"/>
                        </a:ext>
                      </a:extLst>
                    </a:gridCol>
                    <a:gridCol w="875323">
                      <a:extLst>
                        <a:ext uri="{9D8B030D-6E8A-4147-A177-3AD203B41FA5}">
                          <a16:colId xmlns:a16="http://schemas.microsoft.com/office/drawing/2014/main" val="2181222389"/>
                        </a:ext>
                      </a:extLst>
                    </a:gridCol>
                    <a:gridCol w="867508">
                      <a:extLst>
                        <a:ext uri="{9D8B030D-6E8A-4147-A177-3AD203B41FA5}">
                          <a16:colId xmlns:a16="http://schemas.microsoft.com/office/drawing/2014/main" val="18000889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A+B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13986" t="-1639" r="-1399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6254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97687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7115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85178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1651156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0"/>
          <p:cNvSpPr txBox="1">
            <a:spLocks noGrp="1"/>
          </p:cNvSpPr>
          <p:nvPr>
            <p:ph type="title"/>
          </p:nvPr>
        </p:nvSpPr>
        <p:spPr>
          <a:xfrm>
            <a:off x="2345598" y="21589"/>
            <a:ext cx="58752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4.3 XOR</a:t>
            </a:r>
            <a:endParaRPr sz="2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20"/>
          <p:cNvSpPr/>
          <p:nvPr/>
        </p:nvSpPr>
        <p:spPr>
          <a:xfrm>
            <a:off x="2773299" y="2842475"/>
            <a:ext cx="24120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450" rIns="0" bIns="0" anchor="t" anchorCtr="0">
            <a:noAutofit/>
          </a:bodyPr>
          <a:lstStyle/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Truth Table: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0"/>
          <p:cNvSpPr/>
          <p:nvPr/>
        </p:nvSpPr>
        <p:spPr>
          <a:xfrm>
            <a:off x="2773298" y="713294"/>
            <a:ext cx="5875199" cy="207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425" rIns="0" bIns="0" anchor="t" anchorCtr="0">
            <a:noAutofit/>
          </a:bodyPr>
          <a:lstStyle/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low output when both the inputs are either low</a:t>
            </a: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0or high 1.</a:t>
            </a:r>
            <a:endParaRPr lang="en" sz="2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Expression:</a:t>
            </a:r>
            <a:endParaRPr sz="2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9850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= A XOR B or F = A</a:t>
            </a:r>
            <a:r>
              <a:rPr lang="en" sz="2200" b="1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⊕</a:t>
            </a:r>
            <a:r>
              <a:rPr lang="en" sz="2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2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Gate Diagram:</a:t>
            </a: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20"/>
          <p:cNvSpPr/>
          <p:nvPr/>
        </p:nvSpPr>
        <p:spPr>
          <a:xfrm>
            <a:off x="6200322" y="2411675"/>
            <a:ext cx="1146092" cy="719886"/>
          </a:xfrm>
          <a:custGeom>
            <a:avLst/>
            <a:gdLst/>
            <a:ahLst/>
            <a:cxnLst/>
            <a:rect l="l" t="t" r="r" b="b"/>
            <a:pathLst>
              <a:path w="1134745" h="751839" extrusionOk="0">
                <a:moveTo>
                  <a:pt x="259219" y="354177"/>
                </a:moveTo>
                <a:lnTo>
                  <a:pt x="257073" y="281800"/>
                </a:lnTo>
                <a:lnTo>
                  <a:pt x="252349" y="220091"/>
                </a:lnTo>
                <a:lnTo>
                  <a:pt x="250456" y="203581"/>
                </a:lnTo>
                <a:lnTo>
                  <a:pt x="254927" y="203581"/>
                </a:lnTo>
                <a:lnTo>
                  <a:pt x="254927" y="182206"/>
                </a:lnTo>
                <a:lnTo>
                  <a:pt x="248005" y="182206"/>
                </a:lnTo>
                <a:lnTo>
                  <a:pt x="245897" y="163741"/>
                </a:lnTo>
                <a:lnTo>
                  <a:pt x="239014" y="118059"/>
                </a:lnTo>
                <a:lnTo>
                  <a:pt x="236867" y="99110"/>
                </a:lnTo>
                <a:lnTo>
                  <a:pt x="225691" y="48107"/>
                </a:lnTo>
                <a:lnTo>
                  <a:pt x="219227" y="23812"/>
                </a:lnTo>
                <a:lnTo>
                  <a:pt x="212356" y="5359"/>
                </a:lnTo>
                <a:lnTo>
                  <a:pt x="211594" y="2438"/>
                </a:lnTo>
                <a:lnTo>
                  <a:pt x="198526" y="2438"/>
                </a:lnTo>
                <a:lnTo>
                  <a:pt x="192163" y="5359"/>
                </a:lnTo>
                <a:lnTo>
                  <a:pt x="196875" y="13131"/>
                </a:lnTo>
                <a:lnTo>
                  <a:pt x="203339" y="32080"/>
                </a:lnTo>
                <a:lnTo>
                  <a:pt x="210210" y="56362"/>
                </a:lnTo>
                <a:lnTo>
                  <a:pt x="216662" y="85521"/>
                </a:lnTo>
                <a:lnTo>
                  <a:pt x="219227" y="101561"/>
                </a:lnTo>
                <a:lnTo>
                  <a:pt x="223545" y="123418"/>
                </a:lnTo>
                <a:lnTo>
                  <a:pt x="229984" y="169087"/>
                </a:lnTo>
                <a:lnTo>
                  <a:pt x="231140" y="182206"/>
                </a:lnTo>
                <a:lnTo>
                  <a:pt x="9029" y="182206"/>
                </a:lnTo>
                <a:lnTo>
                  <a:pt x="0" y="182206"/>
                </a:lnTo>
                <a:lnTo>
                  <a:pt x="0" y="203581"/>
                </a:lnTo>
                <a:lnTo>
                  <a:pt x="9029" y="203581"/>
                </a:lnTo>
                <a:lnTo>
                  <a:pt x="233032" y="203581"/>
                </a:lnTo>
                <a:lnTo>
                  <a:pt x="234721" y="222529"/>
                </a:lnTo>
                <a:lnTo>
                  <a:pt x="239014" y="284238"/>
                </a:lnTo>
                <a:lnTo>
                  <a:pt x="241173" y="356628"/>
                </a:lnTo>
                <a:lnTo>
                  <a:pt x="241173" y="394512"/>
                </a:lnTo>
                <a:lnTo>
                  <a:pt x="239014" y="466902"/>
                </a:lnTo>
                <a:lnTo>
                  <a:pt x="234721" y="528612"/>
                </a:lnTo>
                <a:lnTo>
                  <a:pt x="232562" y="552907"/>
                </a:lnTo>
                <a:lnTo>
                  <a:pt x="9029" y="552907"/>
                </a:lnTo>
                <a:lnTo>
                  <a:pt x="0" y="552907"/>
                </a:lnTo>
                <a:lnTo>
                  <a:pt x="0" y="574281"/>
                </a:lnTo>
                <a:lnTo>
                  <a:pt x="9029" y="574281"/>
                </a:lnTo>
                <a:lnTo>
                  <a:pt x="230682" y="574281"/>
                </a:lnTo>
                <a:lnTo>
                  <a:pt x="223545" y="627722"/>
                </a:lnTo>
                <a:lnTo>
                  <a:pt x="216662" y="665619"/>
                </a:lnTo>
                <a:lnTo>
                  <a:pt x="196875" y="738022"/>
                </a:lnTo>
                <a:lnTo>
                  <a:pt x="194310" y="746277"/>
                </a:lnTo>
                <a:lnTo>
                  <a:pt x="200279" y="749198"/>
                </a:lnTo>
                <a:lnTo>
                  <a:pt x="211175" y="749198"/>
                </a:lnTo>
                <a:lnTo>
                  <a:pt x="212356" y="743356"/>
                </a:lnTo>
                <a:lnTo>
                  <a:pt x="225691" y="703033"/>
                </a:lnTo>
                <a:lnTo>
                  <a:pt x="232562" y="670966"/>
                </a:lnTo>
                <a:lnTo>
                  <a:pt x="239014" y="633069"/>
                </a:lnTo>
                <a:lnTo>
                  <a:pt x="245897" y="587883"/>
                </a:lnTo>
                <a:lnTo>
                  <a:pt x="247434" y="574281"/>
                </a:lnTo>
                <a:lnTo>
                  <a:pt x="254927" y="574281"/>
                </a:lnTo>
                <a:lnTo>
                  <a:pt x="254927" y="552907"/>
                </a:lnTo>
                <a:lnTo>
                  <a:pt x="249859" y="552907"/>
                </a:lnTo>
                <a:lnTo>
                  <a:pt x="252349" y="531050"/>
                </a:lnTo>
                <a:lnTo>
                  <a:pt x="257073" y="469341"/>
                </a:lnTo>
                <a:lnTo>
                  <a:pt x="259219" y="396951"/>
                </a:lnTo>
                <a:lnTo>
                  <a:pt x="259219" y="394512"/>
                </a:lnTo>
                <a:lnTo>
                  <a:pt x="259219" y="354190"/>
                </a:lnTo>
                <a:close/>
                <a:moveTo>
                  <a:pt x="884224" y="364883"/>
                </a:moveTo>
                <a:lnTo>
                  <a:pt x="875626" y="364883"/>
                </a:lnTo>
                <a:lnTo>
                  <a:pt x="875626" y="365086"/>
                </a:lnTo>
                <a:lnTo>
                  <a:pt x="864450" y="338150"/>
                </a:lnTo>
                <a:lnTo>
                  <a:pt x="860107" y="329272"/>
                </a:lnTo>
                <a:lnTo>
                  <a:pt x="860107" y="375348"/>
                </a:lnTo>
                <a:lnTo>
                  <a:pt x="848537" y="402297"/>
                </a:lnTo>
                <a:lnTo>
                  <a:pt x="819746" y="461568"/>
                </a:lnTo>
                <a:lnTo>
                  <a:pt x="784072" y="515010"/>
                </a:lnTo>
                <a:lnTo>
                  <a:pt x="728192" y="576719"/>
                </a:lnTo>
                <a:lnTo>
                  <a:pt x="687781" y="611695"/>
                </a:lnTo>
                <a:lnTo>
                  <a:pt x="645655" y="641337"/>
                </a:lnTo>
                <a:lnTo>
                  <a:pt x="603097" y="665619"/>
                </a:lnTo>
                <a:lnTo>
                  <a:pt x="562698" y="684085"/>
                </a:lnTo>
                <a:lnTo>
                  <a:pt x="522719" y="700608"/>
                </a:lnTo>
                <a:lnTo>
                  <a:pt x="453517" y="719074"/>
                </a:lnTo>
                <a:lnTo>
                  <a:pt x="380009" y="729754"/>
                </a:lnTo>
                <a:lnTo>
                  <a:pt x="366255" y="729754"/>
                </a:lnTo>
                <a:lnTo>
                  <a:pt x="364109" y="729754"/>
                </a:lnTo>
                <a:lnTo>
                  <a:pt x="278257" y="729754"/>
                </a:lnTo>
                <a:lnTo>
                  <a:pt x="279425" y="727329"/>
                </a:lnTo>
                <a:lnTo>
                  <a:pt x="288442" y="703033"/>
                </a:lnTo>
                <a:lnTo>
                  <a:pt x="297053" y="665619"/>
                </a:lnTo>
                <a:lnTo>
                  <a:pt x="301777" y="641337"/>
                </a:lnTo>
                <a:lnTo>
                  <a:pt x="306082" y="617042"/>
                </a:lnTo>
                <a:lnTo>
                  <a:pt x="310375" y="584974"/>
                </a:lnTo>
                <a:lnTo>
                  <a:pt x="315099" y="552907"/>
                </a:lnTo>
                <a:lnTo>
                  <a:pt x="319405" y="515010"/>
                </a:lnTo>
                <a:lnTo>
                  <a:pt x="324129" y="426580"/>
                </a:lnTo>
                <a:lnTo>
                  <a:pt x="324129" y="386270"/>
                </a:lnTo>
                <a:lnTo>
                  <a:pt x="326275" y="386270"/>
                </a:lnTo>
                <a:lnTo>
                  <a:pt x="326275" y="375577"/>
                </a:lnTo>
                <a:lnTo>
                  <a:pt x="324129" y="324561"/>
                </a:lnTo>
                <a:lnTo>
                  <a:pt x="319405" y="236131"/>
                </a:lnTo>
                <a:lnTo>
                  <a:pt x="315099" y="198234"/>
                </a:lnTo>
                <a:lnTo>
                  <a:pt x="310375" y="166179"/>
                </a:lnTo>
                <a:lnTo>
                  <a:pt x="306070" y="134099"/>
                </a:lnTo>
                <a:lnTo>
                  <a:pt x="297053" y="85521"/>
                </a:lnTo>
                <a:lnTo>
                  <a:pt x="288442" y="48107"/>
                </a:lnTo>
                <a:lnTo>
                  <a:pt x="278231" y="21386"/>
                </a:lnTo>
                <a:lnTo>
                  <a:pt x="364109" y="21386"/>
                </a:lnTo>
                <a:lnTo>
                  <a:pt x="366255" y="21386"/>
                </a:lnTo>
                <a:lnTo>
                  <a:pt x="380009" y="21386"/>
                </a:lnTo>
                <a:lnTo>
                  <a:pt x="424281" y="26720"/>
                </a:lnTo>
                <a:lnTo>
                  <a:pt x="487045" y="39852"/>
                </a:lnTo>
                <a:lnTo>
                  <a:pt x="562686" y="67056"/>
                </a:lnTo>
                <a:lnTo>
                  <a:pt x="603097" y="85521"/>
                </a:lnTo>
                <a:lnTo>
                  <a:pt x="645655" y="109804"/>
                </a:lnTo>
                <a:lnTo>
                  <a:pt x="665429" y="123418"/>
                </a:lnTo>
                <a:lnTo>
                  <a:pt x="687781" y="136525"/>
                </a:lnTo>
                <a:lnTo>
                  <a:pt x="707986" y="155473"/>
                </a:lnTo>
                <a:lnTo>
                  <a:pt x="728192" y="171513"/>
                </a:lnTo>
                <a:lnTo>
                  <a:pt x="745807" y="192900"/>
                </a:lnTo>
                <a:lnTo>
                  <a:pt x="784072" y="236131"/>
                </a:lnTo>
                <a:lnTo>
                  <a:pt x="819746" y="289572"/>
                </a:lnTo>
                <a:lnTo>
                  <a:pt x="833069" y="316293"/>
                </a:lnTo>
                <a:lnTo>
                  <a:pt x="848537" y="345922"/>
                </a:lnTo>
                <a:lnTo>
                  <a:pt x="860107" y="375348"/>
                </a:lnTo>
                <a:lnTo>
                  <a:pt x="860107" y="329272"/>
                </a:lnTo>
                <a:lnTo>
                  <a:pt x="833069" y="276466"/>
                </a:lnTo>
                <a:lnTo>
                  <a:pt x="779335" y="198234"/>
                </a:lnTo>
                <a:lnTo>
                  <a:pt x="739368" y="155473"/>
                </a:lnTo>
                <a:lnTo>
                  <a:pt x="696810" y="120510"/>
                </a:lnTo>
                <a:lnTo>
                  <a:pt x="654253" y="90855"/>
                </a:lnTo>
                <a:lnTo>
                  <a:pt x="612127" y="67056"/>
                </a:lnTo>
                <a:lnTo>
                  <a:pt x="569569" y="45199"/>
                </a:lnTo>
                <a:lnTo>
                  <a:pt x="549363" y="37414"/>
                </a:lnTo>
                <a:lnTo>
                  <a:pt x="529602" y="29159"/>
                </a:lnTo>
                <a:lnTo>
                  <a:pt x="509397" y="23812"/>
                </a:lnTo>
                <a:lnTo>
                  <a:pt x="491337" y="18478"/>
                </a:lnTo>
                <a:lnTo>
                  <a:pt x="455663" y="10680"/>
                </a:lnTo>
                <a:lnTo>
                  <a:pt x="426872" y="5359"/>
                </a:lnTo>
                <a:lnTo>
                  <a:pt x="382155" y="0"/>
                </a:lnTo>
                <a:lnTo>
                  <a:pt x="366255" y="0"/>
                </a:lnTo>
                <a:lnTo>
                  <a:pt x="263525" y="12"/>
                </a:lnTo>
                <a:lnTo>
                  <a:pt x="248043" y="0"/>
                </a:lnTo>
                <a:lnTo>
                  <a:pt x="254914" y="16040"/>
                </a:lnTo>
                <a:lnTo>
                  <a:pt x="261366" y="32080"/>
                </a:lnTo>
                <a:lnTo>
                  <a:pt x="279425" y="90855"/>
                </a:lnTo>
                <a:lnTo>
                  <a:pt x="288442" y="139458"/>
                </a:lnTo>
                <a:lnTo>
                  <a:pt x="301777" y="238569"/>
                </a:lnTo>
                <a:lnTo>
                  <a:pt x="303923" y="278892"/>
                </a:lnTo>
                <a:lnTo>
                  <a:pt x="308229" y="375577"/>
                </a:lnTo>
                <a:lnTo>
                  <a:pt x="301777" y="512572"/>
                </a:lnTo>
                <a:lnTo>
                  <a:pt x="297053" y="547560"/>
                </a:lnTo>
                <a:lnTo>
                  <a:pt x="292747" y="582053"/>
                </a:lnTo>
                <a:lnTo>
                  <a:pt x="283718" y="638898"/>
                </a:lnTo>
                <a:lnTo>
                  <a:pt x="270395" y="695261"/>
                </a:lnTo>
                <a:lnTo>
                  <a:pt x="254914" y="735101"/>
                </a:lnTo>
                <a:lnTo>
                  <a:pt x="248043" y="751624"/>
                </a:lnTo>
                <a:lnTo>
                  <a:pt x="263525" y="751624"/>
                </a:lnTo>
                <a:lnTo>
                  <a:pt x="366255" y="751624"/>
                </a:lnTo>
                <a:lnTo>
                  <a:pt x="382155" y="751624"/>
                </a:lnTo>
                <a:lnTo>
                  <a:pt x="426872" y="746277"/>
                </a:lnTo>
                <a:lnTo>
                  <a:pt x="455663" y="740448"/>
                </a:lnTo>
                <a:lnTo>
                  <a:pt x="491337" y="732675"/>
                </a:lnTo>
                <a:lnTo>
                  <a:pt x="509397" y="727329"/>
                </a:lnTo>
                <a:lnTo>
                  <a:pt x="529602" y="719074"/>
                </a:lnTo>
                <a:lnTo>
                  <a:pt x="569569" y="705954"/>
                </a:lnTo>
                <a:lnTo>
                  <a:pt x="612127" y="684085"/>
                </a:lnTo>
                <a:lnTo>
                  <a:pt x="654253" y="660285"/>
                </a:lnTo>
                <a:lnTo>
                  <a:pt x="696810" y="630643"/>
                </a:lnTo>
                <a:lnTo>
                  <a:pt x="739368" y="595668"/>
                </a:lnTo>
                <a:lnTo>
                  <a:pt x="779335" y="552907"/>
                </a:lnTo>
                <a:lnTo>
                  <a:pt x="833069" y="474675"/>
                </a:lnTo>
                <a:lnTo>
                  <a:pt x="864450" y="412991"/>
                </a:lnTo>
                <a:lnTo>
                  <a:pt x="875626" y="386080"/>
                </a:lnTo>
                <a:lnTo>
                  <a:pt x="875626" y="386270"/>
                </a:lnTo>
                <a:lnTo>
                  <a:pt x="884224" y="386270"/>
                </a:lnTo>
                <a:lnTo>
                  <a:pt x="884224" y="364883"/>
                </a:lnTo>
                <a:close/>
                <a:moveTo>
                  <a:pt x="1134402" y="364883"/>
                </a:moveTo>
                <a:lnTo>
                  <a:pt x="1125385" y="364883"/>
                </a:lnTo>
                <a:lnTo>
                  <a:pt x="884237" y="364883"/>
                </a:lnTo>
                <a:lnTo>
                  <a:pt x="884237" y="386270"/>
                </a:lnTo>
                <a:lnTo>
                  <a:pt x="1125385" y="386270"/>
                </a:lnTo>
                <a:lnTo>
                  <a:pt x="1134402" y="386270"/>
                </a:lnTo>
                <a:lnTo>
                  <a:pt x="1134402" y="36488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2" name="Google Shape;292;p20"/>
          <p:cNvSpPr/>
          <p:nvPr/>
        </p:nvSpPr>
        <p:spPr>
          <a:xfrm>
            <a:off x="5962752" y="2481798"/>
            <a:ext cx="183600" cy="10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75" rIns="0" bIns="0" anchor="t" anchorCtr="0">
            <a:noAutofit/>
          </a:bodyPr>
          <a:lstStyle/>
          <a:p>
            <a:pPr marL="12700" marR="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 B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7400402" y="2572493"/>
            <a:ext cx="1665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32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4" name="Google Shape;294;p20"/>
          <p:cNvGraphicFramePr/>
          <p:nvPr/>
        </p:nvGraphicFramePr>
        <p:xfrm>
          <a:off x="4037833" y="3348257"/>
          <a:ext cx="4069275" cy="1372875"/>
        </p:xfrm>
        <a:graphic>
          <a:graphicData uri="http://schemas.openxmlformats.org/drawingml/2006/table">
            <a:tbl>
              <a:tblPr>
                <a:noFill/>
                <a:tableStyleId>{068647F8-FBD6-49B0-A662-ADF347D42048}</a:tableStyleId>
              </a:tblPr>
              <a:tblGrid>
                <a:gridCol w="135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6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Input A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Input B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Output F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DB262CD-1B51-98FF-6F48-38F16108FDCC}"/>
              </a:ext>
            </a:extLst>
          </p:cNvPr>
          <p:cNvSpPr txBox="1"/>
          <p:nvPr/>
        </p:nvSpPr>
        <p:spPr>
          <a:xfrm>
            <a:off x="85970" y="2306406"/>
            <a:ext cx="18053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Other Logic Gates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4.1 NAND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4.2 NOR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4.3 XOR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4.4 XNOR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1"/>
          <p:cNvSpPr txBox="1">
            <a:spLocks noGrp="1"/>
          </p:cNvSpPr>
          <p:nvPr>
            <p:ph type="title"/>
          </p:nvPr>
        </p:nvSpPr>
        <p:spPr>
          <a:xfrm>
            <a:off x="2231908" y="-15932"/>
            <a:ext cx="58752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4.4 XNOR</a:t>
            </a:r>
            <a:endParaRPr sz="2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2523849" y="2895875"/>
            <a:ext cx="24120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450" rIns="0" bIns="0" anchor="t" anchorCtr="0">
            <a:noAutofit/>
          </a:bodyPr>
          <a:lstStyle/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Truth Table: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2530325" y="565277"/>
            <a:ext cx="5875200" cy="243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425" rIns="0" bIns="0" anchor="t" anchorCtr="0">
            <a:noAutofit/>
          </a:bodyPr>
          <a:lstStyle/>
          <a:p>
            <a:pPr marL="457200" indent="-368300">
              <a:buSzPts val="2200"/>
              <a:buFont typeface="Times New Roman"/>
              <a:buChar char="●"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high output when both the inputs are either low</a:t>
            </a: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or high 1.</a:t>
            </a:r>
            <a:endParaRPr lang="en" sz="2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Expression:</a:t>
            </a:r>
            <a:endParaRPr sz="2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9850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= A  XNOR  B or F = A ☉ B</a:t>
            </a:r>
            <a:endParaRPr sz="22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Gate Diagram:</a:t>
            </a: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03" name="Google Shape;303;p21"/>
          <p:cNvGraphicFramePr/>
          <p:nvPr/>
        </p:nvGraphicFramePr>
        <p:xfrm>
          <a:off x="4037833" y="3348257"/>
          <a:ext cx="4069275" cy="1372875"/>
        </p:xfrm>
        <a:graphic>
          <a:graphicData uri="http://schemas.openxmlformats.org/drawingml/2006/table">
            <a:tbl>
              <a:tblPr>
                <a:noFill/>
                <a:tableStyleId>{068647F8-FBD6-49B0-A662-ADF347D42048}</a:tableStyleId>
              </a:tblPr>
              <a:tblGrid>
                <a:gridCol w="135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6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Input A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Input B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Output F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0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04" name="Google Shape;30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67925" y="2264946"/>
            <a:ext cx="2412000" cy="86760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AE4A8D-9181-2335-B335-2D41ABB2E70E}"/>
              </a:ext>
            </a:extLst>
          </p:cNvPr>
          <p:cNvSpPr txBox="1"/>
          <p:nvPr/>
        </p:nvSpPr>
        <p:spPr>
          <a:xfrm>
            <a:off x="85970" y="2306406"/>
            <a:ext cx="180535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Other Logic Gates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4.1 NAND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4.2 NOR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4.3 XOR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4.4 XNOR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Boolean Algebra laws</a:t>
            </a: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2"/>
          <p:cNvSpPr txBox="1">
            <a:spLocks noGrp="1"/>
          </p:cNvSpPr>
          <p:nvPr>
            <p:ph type="title"/>
          </p:nvPr>
        </p:nvSpPr>
        <p:spPr>
          <a:xfrm>
            <a:off x="2285475" y="232800"/>
            <a:ext cx="58752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5. Boolean Algebra Laws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2646175" y="1109400"/>
            <a:ext cx="6147900" cy="6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7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operations </a:t>
            </a:r>
            <a:r>
              <a:rPr lang="en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+, .</a:t>
            </a:r>
            <a:r>
              <a:rPr lang="en" sz="22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’ </a:t>
            </a:r>
            <a:r>
              <a:rPr lang="en" sz="22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consequently satisfy the basic laws  1, 2 and 3 of Boolean algebra. That is:</a:t>
            </a:r>
            <a:endParaRPr sz="22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22"/>
          <p:cNvSpPr/>
          <p:nvPr/>
        </p:nvSpPr>
        <p:spPr>
          <a:xfrm>
            <a:off x="2918875" y="1976663"/>
            <a:ext cx="18354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45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+ B ≡ B + A</a:t>
            </a:r>
            <a:endParaRPr sz="22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⋅ B ≡ B ⋅ A     </a:t>
            </a:r>
            <a:endParaRPr sz="22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22"/>
          <p:cNvSpPr txBox="1"/>
          <p:nvPr/>
        </p:nvSpPr>
        <p:spPr>
          <a:xfrm>
            <a:off x="6404350" y="2162175"/>
            <a:ext cx="2580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Commutative Laws</a:t>
            </a:r>
            <a:endParaRPr sz="1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2874900" y="3005950"/>
            <a:ext cx="33942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45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 + B) + C ≡ A + (B + C)</a:t>
            </a:r>
            <a:endParaRPr sz="22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 ⋅ B) ⋅ C ≡ A ⋅ (B ⋅ C)  </a:t>
            </a:r>
            <a:endParaRPr sz="22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6538075" y="3088675"/>
            <a:ext cx="2580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45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Associative Laws</a:t>
            </a:r>
            <a:endParaRPr sz="22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2159675" y="4056525"/>
            <a:ext cx="4705800" cy="6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45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   A ⋅ (B + C) ≡ (A ⋅ B) + (A ⋅ C)</a:t>
            </a:r>
            <a:endParaRPr sz="22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  A + (B ⋅ C) ≡ (A + B) ⋅ (A + C)</a:t>
            </a:r>
            <a:endParaRPr sz="22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p22"/>
          <p:cNvSpPr txBox="1"/>
          <p:nvPr/>
        </p:nvSpPr>
        <p:spPr>
          <a:xfrm>
            <a:off x="5758150" y="4218875"/>
            <a:ext cx="3226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985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Distributive Laws</a:t>
            </a:r>
            <a:endParaRPr sz="22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5B1780-CCB3-A0E9-22E0-B00E2FE9E069}"/>
              </a:ext>
            </a:extLst>
          </p:cNvPr>
          <p:cNvSpPr txBox="1"/>
          <p:nvPr/>
        </p:nvSpPr>
        <p:spPr>
          <a:xfrm>
            <a:off x="85970" y="2306406"/>
            <a:ext cx="180535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Other Logic Gates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4.1 NAND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4.2 NOR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4.3 XOR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4.4 XNOR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Boolean Algebra laws</a:t>
            </a: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3"/>
          <p:cNvSpPr txBox="1">
            <a:spLocks noGrp="1"/>
          </p:cNvSpPr>
          <p:nvPr>
            <p:ph type="title"/>
          </p:nvPr>
        </p:nvSpPr>
        <p:spPr>
          <a:xfrm>
            <a:off x="2328350" y="236625"/>
            <a:ext cx="58752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5. Boolean Algebra Laws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23"/>
          <p:cNvSpPr txBox="1"/>
          <p:nvPr/>
        </p:nvSpPr>
        <p:spPr>
          <a:xfrm>
            <a:off x="2328350" y="1113213"/>
            <a:ext cx="5745600" cy="27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Identity Law                        Negation Law</a:t>
            </a:r>
            <a:endParaRPr sz="18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+ 0 = A                                low = high</a:t>
            </a:r>
            <a:endParaRPr sz="18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. 1 = A                                 ( 0 = 1 )</a:t>
            </a:r>
            <a:endParaRPr sz="18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Idempotent Law</a:t>
            </a:r>
            <a:endParaRPr sz="110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+ A = A </a:t>
            </a:r>
            <a:endParaRPr sz="110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. A = A 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Complement Law</a:t>
            </a:r>
            <a:endParaRPr sz="110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. A’ = 0  </a:t>
            </a:r>
            <a:endParaRPr sz="110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+ A’ = 1  </a:t>
            </a:r>
            <a:endParaRPr sz="14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23"/>
          <p:cNvSpPr txBox="1"/>
          <p:nvPr/>
        </p:nvSpPr>
        <p:spPr>
          <a:xfrm>
            <a:off x="4930375" y="2324950"/>
            <a:ext cx="4021200" cy="24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Negation Law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    =   A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Domination Law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 + high = high          A . low = low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 + 1 = 1)                    A . 0 =0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6" name="Google Shape;326;p23"/>
          <p:cNvGrpSpPr/>
          <p:nvPr/>
        </p:nvGrpSpPr>
        <p:grpSpPr>
          <a:xfrm flipH="1">
            <a:off x="5765174" y="2729243"/>
            <a:ext cx="278625" cy="73598"/>
            <a:chOff x="3662805" y="5386296"/>
            <a:chExt cx="213000" cy="35933"/>
          </a:xfrm>
        </p:grpSpPr>
        <p:cxnSp>
          <p:nvCxnSpPr>
            <p:cNvPr id="327" name="Google Shape;327;p23"/>
            <p:cNvCxnSpPr/>
            <p:nvPr/>
          </p:nvCxnSpPr>
          <p:spPr>
            <a:xfrm rot="10800000" flipH="1">
              <a:off x="3662805" y="5386296"/>
              <a:ext cx="213000" cy="360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cxnSp>
          <p:nvCxnSpPr>
            <p:cNvPr id="328" name="Google Shape;328;p23"/>
            <p:cNvCxnSpPr/>
            <p:nvPr/>
          </p:nvCxnSpPr>
          <p:spPr>
            <a:xfrm rot="10800000" flipH="1">
              <a:off x="3662805" y="5418629"/>
              <a:ext cx="213000" cy="360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</p:grpSp>
      <p:sp>
        <p:nvSpPr>
          <p:cNvPr id="329" name="Google Shape;329;p23"/>
          <p:cNvSpPr txBox="1"/>
          <p:nvPr/>
        </p:nvSpPr>
        <p:spPr>
          <a:xfrm>
            <a:off x="2435700" y="3864250"/>
            <a:ext cx="21363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Absorption Law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+ (A .B) = 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. (A + B) = A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31" name="Google Shape;331;p23"/>
          <p:cNvCxnSpPr/>
          <p:nvPr/>
        </p:nvCxnSpPr>
        <p:spPr>
          <a:xfrm>
            <a:off x="5174025" y="1434675"/>
            <a:ext cx="3282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2" name="Google Shape;332;p23"/>
          <p:cNvCxnSpPr/>
          <p:nvPr/>
        </p:nvCxnSpPr>
        <p:spPr>
          <a:xfrm>
            <a:off x="5174025" y="1709175"/>
            <a:ext cx="3282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FA2B4FE-D235-6F0C-4372-B27967F54C43}"/>
              </a:ext>
            </a:extLst>
          </p:cNvPr>
          <p:cNvSpPr txBox="1"/>
          <p:nvPr/>
        </p:nvSpPr>
        <p:spPr>
          <a:xfrm>
            <a:off x="85970" y="2306406"/>
            <a:ext cx="18053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Boolean Algebra laws</a:t>
            </a: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4"/>
          <p:cNvSpPr txBox="1">
            <a:spLocks noGrp="1"/>
          </p:cNvSpPr>
          <p:nvPr>
            <p:ph type="title"/>
          </p:nvPr>
        </p:nvSpPr>
        <p:spPr>
          <a:xfrm>
            <a:off x="2426525" y="-75327"/>
            <a:ext cx="58752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600" b="1" dirty="0">
                <a:latin typeface="Times New Roman"/>
                <a:ea typeface="Times New Roman"/>
                <a:cs typeface="Times New Roman"/>
                <a:sym typeface="Times New Roman"/>
              </a:rPr>
              <a:t>5.1  DeMorgan’s Laws</a:t>
            </a: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24"/>
          <p:cNvSpPr/>
          <p:nvPr/>
        </p:nvSpPr>
        <p:spPr>
          <a:xfrm>
            <a:off x="3014981" y="1802090"/>
            <a:ext cx="4454400" cy="1164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4"/>
          <p:cNvSpPr txBox="1"/>
          <p:nvPr/>
        </p:nvSpPr>
        <p:spPr>
          <a:xfrm>
            <a:off x="3014975" y="1465793"/>
            <a:ext cx="24477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A+B = A .B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0" name="Google Shape;340;p24"/>
          <p:cNvGrpSpPr/>
          <p:nvPr/>
        </p:nvGrpSpPr>
        <p:grpSpPr>
          <a:xfrm>
            <a:off x="3078044" y="1465779"/>
            <a:ext cx="906536" cy="6526"/>
            <a:chOff x="1846118" y="1955085"/>
            <a:chExt cx="1208714" cy="8701"/>
          </a:xfrm>
        </p:grpSpPr>
        <p:cxnSp>
          <p:nvCxnSpPr>
            <p:cNvPr id="341" name="Google Shape;341;p24"/>
            <p:cNvCxnSpPr/>
            <p:nvPr/>
          </p:nvCxnSpPr>
          <p:spPr>
            <a:xfrm>
              <a:off x="1846118" y="1958686"/>
              <a:ext cx="559500" cy="510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cxnSp>
          <p:nvCxnSpPr>
            <p:cNvPr id="342" name="Google Shape;342;p24"/>
            <p:cNvCxnSpPr/>
            <p:nvPr/>
          </p:nvCxnSpPr>
          <p:spPr>
            <a:xfrm rot="10800000" flipH="1">
              <a:off x="2538845" y="1955085"/>
              <a:ext cx="195600" cy="360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cxnSp>
          <p:nvCxnSpPr>
            <p:cNvPr id="343" name="Google Shape;343;p24"/>
            <p:cNvCxnSpPr/>
            <p:nvPr/>
          </p:nvCxnSpPr>
          <p:spPr>
            <a:xfrm>
              <a:off x="2859232" y="1958686"/>
              <a:ext cx="195600" cy="510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E476602-4978-72F2-D572-E4BA97B9FA42}"/>
              </a:ext>
            </a:extLst>
          </p:cNvPr>
          <p:cNvSpPr txBox="1"/>
          <p:nvPr/>
        </p:nvSpPr>
        <p:spPr>
          <a:xfrm>
            <a:off x="85970" y="2306406"/>
            <a:ext cx="18053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Boolean Algebra laws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5.1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DeMorgan’s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Laws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Universal Gate</a:t>
            </a:r>
          </a:p>
        </p:txBody>
      </p:sp>
      <p:sp>
        <p:nvSpPr>
          <p:cNvPr id="3" name="Google Shape;337;p24">
            <a:extLst>
              <a:ext uri="{FF2B5EF4-FFF2-40B4-BE49-F238E27FC236}">
                <a16:creationId xmlns:a16="http://schemas.microsoft.com/office/drawing/2014/main" id="{99E17CBE-52C2-0038-E5C5-2CCA44DED488}"/>
              </a:ext>
            </a:extLst>
          </p:cNvPr>
          <p:cNvSpPr txBox="1">
            <a:spLocks/>
          </p:cNvSpPr>
          <p:nvPr/>
        </p:nvSpPr>
        <p:spPr>
          <a:xfrm>
            <a:off x="2088319" y="509717"/>
            <a:ext cx="7311444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De Morgan’s 1</a:t>
            </a:r>
            <a:r>
              <a:rPr lang="en-US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Law: “</a:t>
            </a: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The complement of a sum is equal to the product of the complements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</a:p>
          <a:p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D30778F-995E-DA3B-731B-2B01D2C3D9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2126112"/>
                  </p:ext>
                </p:extLst>
              </p:nvPr>
            </p:nvGraphicFramePr>
            <p:xfrm>
              <a:off x="3217137" y="3206599"/>
              <a:ext cx="4491075" cy="1854200"/>
            </p:xfrm>
            <a:graphic>
              <a:graphicData uri="http://schemas.openxmlformats.org/drawingml/2006/table">
                <a:tbl>
                  <a:tblPr firstRow="1" bandRow="1">
                    <a:tableStyleId>{068647F8-FBD6-49B0-A662-ADF347D42048}</a:tableStyleId>
                  </a:tblPr>
                  <a:tblGrid>
                    <a:gridCol w="481783">
                      <a:extLst>
                        <a:ext uri="{9D8B030D-6E8A-4147-A177-3AD203B41FA5}">
                          <a16:colId xmlns:a16="http://schemas.microsoft.com/office/drawing/2014/main" val="1564498146"/>
                        </a:ext>
                      </a:extLst>
                    </a:gridCol>
                    <a:gridCol w="500184">
                      <a:extLst>
                        <a:ext uri="{9D8B030D-6E8A-4147-A177-3AD203B41FA5}">
                          <a16:colId xmlns:a16="http://schemas.microsoft.com/office/drawing/2014/main" val="389394230"/>
                        </a:ext>
                      </a:extLst>
                    </a:gridCol>
                    <a:gridCol w="875323">
                      <a:extLst>
                        <a:ext uri="{9D8B030D-6E8A-4147-A177-3AD203B41FA5}">
                          <a16:colId xmlns:a16="http://schemas.microsoft.com/office/drawing/2014/main" val="2181222389"/>
                        </a:ext>
                      </a:extLst>
                    </a:gridCol>
                    <a:gridCol w="867508">
                      <a:extLst>
                        <a:ext uri="{9D8B030D-6E8A-4147-A177-3AD203B41FA5}">
                          <a16:colId xmlns:a16="http://schemas.microsoft.com/office/drawing/2014/main" val="1800088919"/>
                        </a:ext>
                      </a:extLst>
                    </a:gridCol>
                    <a:gridCol w="547077">
                      <a:extLst>
                        <a:ext uri="{9D8B030D-6E8A-4147-A177-3AD203B41FA5}">
                          <a16:colId xmlns:a16="http://schemas.microsoft.com/office/drawing/2014/main" val="4141681200"/>
                        </a:ext>
                      </a:extLst>
                    </a:gridCol>
                    <a:gridCol w="539262">
                      <a:extLst>
                        <a:ext uri="{9D8B030D-6E8A-4147-A177-3AD203B41FA5}">
                          <a16:colId xmlns:a16="http://schemas.microsoft.com/office/drawing/2014/main" val="2154372410"/>
                        </a:ext>
                      </a:extLst>
                    </a:gridCol>
                    <a:gridCol w="679938">
                      <a:extLst>
                        <a:ext uri="{9D8B030D-6E8A-4147-A177-3AD203B41FA5}">
                          <a16:colId xmlns:a16="http://schemas.microsoft.com/office/drawing/2014/main" val="27848727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A+B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b="1" dirty="0"/>
                            <a:t>.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</m:acc>
                            </m:oMath>
                          </a14:m>
                          <a:endParaRPr lang="en-US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6254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97687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7115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85178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165115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D30778F-995E-DA3B-731B-2B01D2C3D9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2126112"/>
                  </p:ext>
                </p:extLst>
              </p:nvPr>
            </p:nvGraphicFramePr>
            <p:xfrm>
              <a:off x="3217137" y="3206599"/>
              <a:ext cx="4491075" cy="1854200"/>
            </p:xfrm>
            <a:graphic>
              <a:graphicData uri="http://schemas.openxmlformats.org/drawingml/2006/table">
                <a:tbl>
                  <a:tblPr firstRow="1" bandRow="1">
                    <a:tableStyleId>{068647F8-FBD6-49B0-A662-ADF347D42048}</a:tableStyleId>
                  </a:tblPr>
                  <a:tblGrid>
                    <a:gridCol w="481783">
                      <a:extLst>
                        <a:ext uri="{9D8B030D-6E8A-4147-A177-3AD203B41FA5}">
                          <a16:colId xmlns:a16="http://schemas.microsoft.com/office/drawing/2014/main" val="1564498146"/>
                        </a:ext>
                      </a:extLst>
                    </a:gridCol>
                    <a:gridCol w="500184">
                      <a:extLst>
                        <a:ext uri="{9D8B030D-6E8A-4147-A177-3AD203B41FA5}">
                          <a16:colId xmlns:a16="http://schemas.microsoft.com/office/drawing/2014/main" val="389394230"/>
                        </a:ext>
                      </a:extLst>
                    </a:gridCol>
                    <a:gridCol w="875323">
                      <a:extLst>
                        <a:ext uri="{9D8B030D-6E8A-4147-A177-3AD203B41FA5}">
                          <a16:colId xmlns:a16="http://schemas.microsoft.com/office/drawing/2014/main" val="2181222389"/>
                        </a:ext>
                      </a:extLst>
                    </a:gridCol>
                    <a:gridCol w="867508">
                      <a:extLst>
                        <a:ext uri="{9D8B030D-6E8A-4147-A177-3AD203B41FA5}">
                          <a16:colId xmlns:a16="http://schemas.microsoft.com/office/drawing/2014/main" val="1800088919"/>
                        </a:ext>
                      </a:extLst>
                    </a:gridCol>
                    <a:gridCol w="547077">
                      <a:extLst>
                        <a:ext uri="{9D8B030D-6E8A-4147-A177-3AD203B41FA5}">
                          <a16:colId xmlns:a16="http://schemas.microsoft.com/office/drawing/2014/main" val="4141681200"/>
                        </a:ext>
                      </a:extLst>
                    </a:gridCol>
                    <a:gridCol w="539262">
                      <a:extLst>
                        <a:ext uri="{9D8B030D-6E8A-4147-A177-3AD203B41FA5}">
                          <a16:colId xmlns:a16="http://schemas.microsoft.com/office/drawing/2014/main" val="2154372410"/>
                        </a:ext>
                      </a:extLst>
                    </a:gridCol>
                    <a:gridCol w="679938">
                      <a:extLst>
                        <a:ext uri="{9D8B030D-6E8A-4147-A177-3AD203B41FA5}">
                          <a16:colId xmlns:a16="http://schemas.microsoft.com/office/drawing/2014/main" val="27848727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A+B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13986" t="-3279" r="-20419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98889" t="-3279" r="-224444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12500" t="-3279" r="-129545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59821" t="-3279" r="-1786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6254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97687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7115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85178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1651156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37;p24">
            <a:extLst>
              <a:ext uri="{FF2B5EF4-FFF2-40B4-BE49-F238E27FC236}">
                <a16:creationId xmlns:a16="http://schemas.microsoft.com/office/drawing/2014/main" id="{796462EC-CEC4-4A11-9B02-25C601939B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26525" y="-75327"/>
            <a:ext cx="58752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600" b="1" dirty="0">
                <a:latin typeface="Times New Roman"/>
                <a:ea typeface="Times New Roman"/>
                <a:cs typeface="Times New Roman"/>
                <a:sym typeface="Times New Roman"/>
              </a:rPr>
              <a:t>5.1  DeMorgan’s Laws</a:t>
            </a: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346;p24">
            <a:extLst>
              <a:ext uri="{FF2B5EF4-FFF2-40B4-BE49-F238E27FC236}">
                <a16:creationId xmlns:a16="http://schemas.microsoft.com/office/drawing/2014/main" id="{6BC8BD75-BC01-4852-D2F1-41115CB76116}"/>
              </a:ext>
            </a:extLst>
          </p:cNvPr>
          <p:cNvSpPr txBox="1"/>
          <p:nvPr/>
        </p:nvSpPr>
        <p:spPr>
          <a:xfrm>
            <a:off x="3241994" y="1469525"/>
            <a:ext cx="24477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" sz="15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= A</a:t>
            </a:r>
            <a:r>
              <a:rPr lang="en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" sz="15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.B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oogle Shape;347;p24">
            <a:extLst>
              <a:ext uri="{FF2B5EF4-FFF2-40B4-BE49-F238E27FC236}">
                <a16:creationId xmlns:a16="http://schemas.microsoft.com/office/drawing/2014/main" id="{2924450F-B7BE-3A95-1A99-AA0581F4B00F}"/>
              </a:ext>
            </a:extLst>
          </p:cNvPr>
          <p:cNvGrpSpPr/>
          <p:nvPr/>
        </p:nvGrpSpPr>
        <p:grpSpPr>
          <a:xfrm>
            <a:off x="3300887" y="1469455"/>
            <a:ext cx="906535" cy="6526"/>
            <a:chOff x="1846118" y="1955085"/>
            <a:chExt cx="1208714" cy="8701"/>
          </a:xfrm>
        </p:grpSpPr>
        <p:cxnSp>
          <p:nvCxnSpPr>
            <p:cNvPr id="15" name="Google Shape;348;p24">
              <a:extLst>
                <a:ext uri="{FF2B5EF4-FFF2-40B4-BE49-F238E27FC236}">
                  <a16:creationId xmlns:a16="http://schemas.microsoft.com/office/drawing/2014/main" id="{FC8B22FA-A5DD-D9BE-7181-22CB12657131}"/>
                </a:ext>
              </a:extLst>
            </p:cNvPr>
            <p:cNvCxnSpPr/>
            <p:nvPr/>
          </p:nvCxnSpPr>
          <p:spPr>
            <a:xfrm>
              <a:off x="1846118" y="1958686"/>
              <a:ext cx="559500" cy="510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</p:cxnSp>
        <p:cxnSp>
          <p:nvCxnSpPr>
            <p:cNvPr id="16" name="Google Shape;349;p24">
              <a:extLst>
                <a:ext uri="{FF2B5EF4-FFF2-40B4-BE49-F238E27FC236}">
                  <a16:creationId xmlns:a16="http://schemas.microsoft.com/office/drawing/2014/main" id="{F827750D-BF15-2D83-C9D5-B9B6644BC321}"/>
                </a:ext>
              </a:extLst>
            </p:cNvPr>
            <p:cNvCxnSpPr/>
            <p:nvPr/>
          </p:nvCxnSpPr>
          <p:spPr>
            <a:xfrm rot="10800000" flipH="1">
              <a:off x="2538845" y="1955085"/>
              <a:ext cx="195600" cy="360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</p:cxnSp>
        <p:cxnSp>
          <p:nvCxnSpPr>
            <p:cNvPr id="17" name="Google Shape;350;p24">
              <a:extLst>
                <a:ext uri="{FF2B5EF4-FFF2-40B4-BE49-F238E27FC236}">
                  <a16:creationId xmlns:a16="http://schemas.microsoft.com/office/drawing/2014/main" id="{4D0BF3A6-1DB6-5562-48FC-05946EC402FA}"/>
                </a:ext>
              </a:extLst>
            </p:cNvPr>
            <p:cNvCxnSpPr/>
            <p:nvPr/>
          </p:nvCxnSpPr>
          <p:spPr>
            <a:xfrm>
              <a:off x="2859232" y="1958686"/>
              <a:ext cx="195600" cy="510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2457E1C-4BFE-B598-6EC6-D3A169761849}"/>
              </a:ext>
            </a:extLst>
          </p:cNvPr>
          <p:cNvSpPr txBox="1"/>
          <p:nvPr/>
        </p:nvSpPr>
        <p:spPr>
          <a:xfrm>
            <a:off x="85970" y="2306406"/>
            <a:ext cx="18053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Boolean Algebra laws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5.1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DeMorgan’s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Laws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Universal Gate</a:t>
            </a:r>
          </a:p>
        </p:txBody>
      </p:sp>
      <p:sp>
        <p:nvSpPr>
          <p:cNvPr id="19" name="Google Shape;337;p24">
            <a:extLst>
              <a:ext uri="{FF2B5EF4-FFF2-40B4-BE49-F238E27FC236}">
                <a16:creationId xmlns:a16="http://schemas.microsoft.com/office/drawing/2014/main" id="{9FEE285F-283D-4FB3-328F-902CA3C2DBB1}"/>
              </a:ext>
            </a:extLst>
          </p:cNvPr>
          <p:cNvSpPr txBox="1">
            <a:spLocks/>
          </p:cNvSpPr>
          <p:nvPr/>
        </p:nvSpPr>
        <p:spPr>
          <a:xfrm>
            <a:off x="2088319" y="509717"/>
            <a:ext cx="7311444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De Morgan’s 2</a:t>
            </a:r>
            <a:r>
              <a:rPr lang="en-US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Law: “</a:t>
            </a: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The complement of a product is equal to the sum of the complements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</a:p>
        </p:txBody>
      </p:sp>
      <p:pic>
        <p:nvPicPr>
          <p:cNvPr id="23" name="Picture 22" descr="A black background with purple letters&#10;&#10;Description automatically generated">
            <a:extLst>
              <a:ext uri="{FF2B5EF4-FFF2-40B4-BE49-F238E27FC236}">
                <a16:creationId xmlns:a16="http://schemas.microsoft.com/office/drawing/2014/main" id="{6FADF15E-7511-2453-C9C1-CF0B22517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662" y="1698504"/>
            <a:ext cx="4455478" cy="104310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E77D3A85-D777-E6F9-EB48-FD806F52B5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2839925"/>
                  </p:ext>
                </p:extLst>
              </p:nvPr>
            </p:nvGraphicFramePr>
            <p:xfrm>
              <a:off x="3258213" y="3140960"/>
              <a:ext cx="4491075" cy="1854200"/>
            </p:xfrm>
            <a:graphic>
              <a:graphicData uri="http://schemas.openxmlformats.org/drawingml/2006/table">
                <a:tbl>
                  <a:tblPr firstRow="1" bandRow="1">
                    <a:tableStyleId>{068647F8-FBD6-49B0-A662-ADF347D42048}</a:tableStyleId>
                  </a:tblPr>
                  <a:tblGrid>
                    <a:gridCol w="481783">
                      <a:extLst>
                        <a:ext uri="{9D8B030D-6E8A-4147-A177-3AD203B41FA5}">
                          <a16:colId xmlns:a16="http://schemas.microsoft.com/office/drawing/2014/main" val="1564498146"/>
                        </a:ext>
                      </a:extLst>
                    </a:gridCol>
                    <a:gridCol w="500184">
                      <a:extLst>
                        <a:ext uri="{9D8B030D-6E8A-4147-A177-3AD203B41FA5}">
                          <a16:colId xmlns:a16="http://schemas.microsoft.com/office/drawing/2014/main" val="389394230"/>
                        </a:ext>
                      </a:extLst>
                    </a:gridCol>
                    <a:gridCol w="875323">
                      <a:extLst>
                        <a:ext uri="{9D8B030D-6E8A-4147-A177-3AD203B41FA5}">
                          <a16:colId xmlns:a16="http://schemas.microsoft.com/office/drawing/2014/main" val="2181222389"/>
                        </a:ext>
                      </a:extLst>
                    </a:gridCol>
                    <a:gridCol w="867508">
                      <a:extLst>
                        <a:ext uri="{9D8B030D-6E8A-4147-A177-3AD203B41FA5}">
                          <a16:colId xmlns:a16="http://schemas.microsoft.com/office/drawing/2014/main" val="1800088919"/>
                        </a:ext>
                      </a:extLst>
                    </a:gridCol>
                    <a:gridCol w="547077">
                      <a:extLst>
                        <a:ext uri="{9D8B030D-6E8A-4147-A177-3AD203B41FA5}">
                          <a16:colId xmlns:a16="http://schemas.microsoft.com/office/drawing/2014/main" val="4141681200"/>
                        </a:ext>
                      </a:extLst>
                    </a:gridCol>
                    <a:gridCol w="539262">
                      <a:extLst>
                        <a:ext uri="{9D8B030D-6E8A-4147-A177-3AD203B41FA5}">
                          <a16:colId xmlns:a16="http://schemas.microsoft.com/office/drawing/2014/main" val="2154372410"/>
                        </a:ext>
                      </a:extLst>
                    </a:gridCol>
                    <a:gridCol w="679938">
                      <a:extLst>
                        <a:ext uri="{9D8B030D-6E8A-4147-A177-3AD203B41FA5}">
                          <a16:colId xmlns:a16="http://schemas.microsoft.com/office/drawing/2014/main" val="27848727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A.B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</m:acc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oMath>
                          </a14:m>
                          <a:r>
                            <a:rPr lang="en-US" b="1" dirty="0"/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</m:acc>
                            </m:oMath>
                          </a14:m>
                          <a:endParaRPr lang="en-US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6254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97687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7115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85178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165115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E77D3A85-D777-E6F9-EB48-FD806F52B5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2839925"/>
                  </p:ext>
                </p:extLst>
              </p:nvPr>
            </p:nvGraphicFramePr>
            <p:xfrm>
              <a:off x="3258213" y="3140960"/>
              <a:ext cx="4491075" cy="1854200"/>
            </p:xfrm>
            <a:graphic>
              <a:graphicData uri="http://schemas.openxmlformats.org/drawingml/2006/table">
                <a:tbl>
                  <a:tblPr firstRow="1" bandRow="1">
                    <a:tableStyleId>{068647F8-FBD6-49B0-A662-ADF347D42048}</a:tableStyleId>
                  </a:tblPr>
                  <a:tblGrid>
                    <a:gridCol w="481783">
                      <a:extLst>
                        <a:ext uri="{9D8B030D-6E8A-4147-A177-3AD203B41FA5}">
                          <a16:colId xmlns:a16="http://schemas.microsoft.com/office/drawing/2014/main" val="1564498146"/>
                        </a:ext>
                      </a:extLst>
                    </a:gridCol>
                    <a:gridCol w="500184">
                      <a:extLst>
                        <a:ext uri="{9D8B030D-6E8A-4147-A177-3AD203B41FA5}">
                          <a16:colId xmlns:a16="http://schemas.microsoft.com/office/drawing/2014/main" val="389394230"/>
                        </a:ext>
                      </a:extLst>
                    </a:gridCol>
                    <a:gridCol w="875323">
                      <a:extLst>
                        <a:ext uri="{9D8B030D-6E8A-4147-A177-3AD203B41FA5}">
                          <a16:colId xmlns:a16="http://schemas.microsoft.com/office/drawing/2014/main" val="2181222389"/>
                        </a:ext>
                      </a:extLst>
                    </a:gridCol>
                    <a:gridCol w="867508">
                      <a:extLst>
                        <a:ext uri="{9D8B030D-6E8A-4147-A177-3AD203B41FA5}">
                          <a16:colId xmlns:a16="http://schemas.microsoft.com/office/drawing/2014/main" val="1800088919"/>
                        </a:ext>
                      </a:extLst>
                    </a:gridCol>
                    <a:gridCol w="547077">
                      <a:extLst>
                        <a:ext uri="{9D8B030D-6E8A-4147-A177-3AD203B41FA5}">
                          <a16:colId xmlns:a16="http://schemas.microsoft.com/office/drawing/2014/main" val="4141681200"/>
                        </a:ext>
                      </a:extLst>
                    </a:gridCol>
                    <a:gridCol w="539262">
                      <a:extLst>
                        <a:ext uri="{9D8B030D-6E8A-4147-A177-3AD203B41FA5}">
                          <a16:colId xmlns:a16="http://schemas.microsoft.com/office/drawing/2014/main" val="2154372410"/>
                        </a:ext>
                      </a:extLst>
                    </a:gridCol>
                    <a:gridCol w="679938">
                      <a:extLst>
                        <a:ext uri="{9D8B030D-6E8A-4147-A177-3AD203B41FA5}">
                          <a16:colId xmlns:a16="http://schemas.microsoft.com/office/drawing/2014/main" val="27848727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A.B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13986" t="-1639" r="-20419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98889" t="-1639" r="-224444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12500" t="-1639" r="-129545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59821" t="-1639" r="-1786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6254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97687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7115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85178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165115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788316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5"/>
          <p:cNvSpPr txBox="1"/>
          <p:nvPr/>
        </p:nvSpPr>
        <p:spPr>
          <a:xfrm>
            <a:off x="2092650" y="1382000"/>
            <a:ext cx="6268500" cy="9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7225" rIns="0" bIns="0" anchor="t" anchorCtr="0">
            <a:noAutofit/>
          </a:bodyPr>
          <a:lstStyle/>
          <a:p>
            <a:pPr marL="12700" marR="0" lvl="0" indent="0" algn="l" rtl="0">
              <a:lnSpc>
                <a:spcPct val="107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repeated use of a NOR or a NAND gate alone can produce all the three basic logic gates</a:t>
            </a: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25"/>
          <p:cNvSpPr txBox="1"/>
          <p:nvPr/>
        </p:nvSpPr>
        <p:spPr>
          <a:xfrm>
            <a:off x="2051250" y="341000"/>
            <a:ext cx="6351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Universal Gate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F40E35-22FB-8454-4C4A-B07AC017F091}"/>
              </a:ext>
            </a:extLst>
          </p:cNvPr>
          <p:cNvSpPr txBox="1"/>
          <p:nvPr/>
        </p:nvSpPr>
        <p:spPr>
          <a:xfrm>
            <a:off x="85970" y="2306406"/>
            <a:ext cx="18053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Boolean Algebra laws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5.1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DeMorgan’s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Laws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Universal Gate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a033c0b0d8_0_11"/>
          <p:cNvSpPr txBox="1"/>
          <p:nvPr/>
        </p:nvSpPr>
        <p:spPr>
          <a:xfrm>
            <a:off x="2204925" y="1542600"/>
            <a:ext cx="6186000" cy="9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7225" rIns="0" bIns="0" anchor="t" anchorCtr="0">
            <a:noAutofit/>
          </a:bodyPr>
          <a:lstStyle/>
          <a:p>
            <a:pPr marL="12700" marR="0" lvl="0" indent="0" algn="l" rtl="0">
              <a:lnSpc>
                <a:spcPct val="107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 : NAND and NOR gates are called  universal gates, why?</a:t>
            </a:r>
            <a:endParaRPr sz="2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112AA8-6B0B-29E6-B5A1-B62A0DDAE0AD}"/>
              </a:ext>
            </a:extLst>
          </p:cNvPr>
          <p:cNvSpPr txBox="1"/>
          <p:nvPr/>
        </p:nvSpPr>
        <p:spPr>
          <a:xfrm>
            <a:off x="85969" y="2306406"/>
            <a:ext cx="19817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Universal Gate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6.1 AOI Using NAND gate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6.2 AOI Using NOR  gate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a02aecf6f1_0_3"/>
          <p:cNvSpPr txBox="1"/>
          <p:nvPr/>
        </p:nvSpPr>
        <p:spPr>
          <a:xfrm>
            <a:off x="2060250" y="286825"/>
            <a:ext cx="69198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AOI using NAND and NOR gate</a:t>
            </a:r>
            <a:endParaRPr sz="3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1" name="Google Shape;371;g2a02aecf6f1_0_3"/>
          <p:cNvSpPr txBox="1"/>
          <p:nvPr/>
        </p:nvSpPr>
        <p:spPr>
          <a:xfrm>
            <a:off x="2808600" y="4509550"/>
            <a:ext cx="561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AOI using NOR gate?</a:t>
            </a:r>
            <a:endParaRPr sz="1800"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112AA8-6B0B-29E6-B5A1-B62A0DDAE0AD}"/>
              </a:ext>
            </a:extLst>
          </p:cNvPr>
          <p:cNvSpPr txBox="1"/>
          <p:nvPr/>
        </p:nvSpPr>
        <p:spPr>
          <a:xfrm>
            <a:off x="85969" y="2306406"/>
            <a:ext cx="19817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Universal Gate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6.1 AOI Using NAND gate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6.2 AOI Using NOR  gate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Precedence of operators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368;g2a02aecf6f1_0_3">
            <a:extLst>
              <a:ext uri="{FF2B5EF4-FFF2-40B4-BE49-F238E27FC236}">
                <a16:creationId xmlns:a16="http://schemas.microsoft.com/office/drawing/2014/main" id="{D0F76793-9CA6-DFBF-EA52-326C29FF9214}"/>
              </a:ext>
            </a:extLst>
          </p:cNvPr>
          <p:cNvSpPr txBox="1"/>
          <p:nvPr/>
        </p:nvSpPr>
        <p:spPr>
          <a:xfrm>
            <a:off x="7162273" y="1329794"/>
            <a:ext cx="1981727" cy="405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 Function Only</a:t>
            </a:r>
          </a:p>
        </p:txBody>
      </p:sp>
      <p:sp>
        <p:nvSpPr>
          <p:cNvPr id="6" name="Google Shape;368;g2a02aecf6f1_0_3">
            <a:extLst>
              <a:ext uri="{FF2B5EF4-FFF2-40B4-BE49-F238E27FC236}">
                <a16:creationId xmlns:a16="http://schemas.microsoft.com/office/drawing/2014/main" id="{AEF6C2A9-AFE4-43CE-A2F4-BE018E16A612}"/>
              </a:ext>
            </a:extLst>
          </p:cNvPr>
          <p:cNvSpPr txBox="1"/>
          <p:nvPr/>
        </p:nvSpPr>
        <p:spPr>
          <a:xfrm>
            <a:off x="5952049" y="1329793"/>
            <a:ext cx="796273" cy="405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Symbol</a:t>
            </a:r>
          </a:p>
        </p:txBody>
      </p:sp>
      <p:sp>
        <p:nvSpPr>
          <p:cNvPr id="7" name="Google Shape;368;g2a02aecf6f1_0_3">
            <a:extLst>
              <a:ext uri="{FF2B5EF4-FFF2-40B4-BE49-F238E27FC236}">
                <a16:creationId xmlns:a16="http://schemas.microsoft.com/office/drawing/2014/main" id="{55260272-3733-BD58-0091-94FF64360EFF}"/>
              </a:ext>
            </a:extLst>
          </p:cNvPr>
          <p:cNvSpPr txBox="1"/>
          <p:nvPr/>
        </p:nvSpPr>
        <p:spPr>
          <a:xfrm>
            <a:off x="2603418" y="1329792"/>
            <a:ext cx="2843905" cy="405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Circuit Using NAND gate</a:t>
            </a:r>
          </a:p>
        </p:txBody>
      </p:sp>
      <p:pic>
        <p:nvPicPr>
          <p:cNvPr id="9" name="Picture 8" descr="A diagram of a circuit diagram&#10;&#10;Description automatically generated">
            <a:extLst>
              <a:ext uri="{FF2B5EF4-FFF2-40B4-BE49-F238E27FC236}">
                <a16:creationId xmlns:a16="http://schemas.microsoft.com/office/drawing/2014/main" id="{2E776578-1F79-BFB9-C157-E46E87F85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470" y="1735013"/>
            <a:ext cx="5105400" cy="2524125"/>
          </a:xfrm>
          <a:prstGeom prst="rect">
            <a:avLst/>
          </a:prstGeom>
        </p:spPr>
      </p:pic>
      <p:sp>
        <p:nvSpPr>
          <p:cNvPr id="10" name="Google Shape;368;g2a02aecf6f1_0_3">
            <a:extLst>
              <a:ext uri="{FF2B5EF4-FFF2-40B4-BE49-F238E27FC236}">
                <a16:creationId xmlns:a16="http://schemas.microsoft.com/office/drawing/2014/main" id="{D3A96C94-EEE8-0E25-3639-62124A38BAAF}"/>
              </a:ext>
            </a:extLst>
          </p:cNvPr>
          <p:cNvSpPr txBox="1"/>
          <p:nvPr/>
        </p:nvSpPr>
        <p:spPr>
          <a:xfrm>
            <a:off x="7162272" y="1957373"/>
            <a:ext cx="1981727" cy="405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</a:p>
        </p:txBody>
      </p:sp>
      <p:sp>
        <p:nvSpPr>
          <p:cNvPr id="11" name="Google Shape;368;g2a02aecf6f1_0_3">
            <a:extLst>
              <a:ext uri="{FF2B5EF4-FFF2-40B4-BE49-F238E27FC236}">
                <a16:creationId xmlns:a16="http://schemas.microsoft.com/office/drawing/2014/main" id="{E3E20D5A-24A6-C245-C551-842378959407}"/>
              </a:ext>
            </a:extLst>
          </p:cNvPr>
          <p:cNvSpPr txBox="1"/>
          <p:nvPr/>
        </p:nvSpPr>
        <p:spPr>
          <a:xfrm>
            <a:off x="7162271" y="2591855"/>
            <a:ext cx="1981727" cy="405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</a:p>
        </p:txBody>
      </p:sp>
      <p:sp>
        <p:nvSpPr>
          <p:cNvPr id="12" name="Google Shape;368;g2a02aecf6f1_0_3">
            <a:extLst>
              <a:ext uri="{FF2B5EF4-FFF2-40B4-BE49-F238E27FC236}">
                <a16:creationId xmlns:a16="http://schemas.microsoft.com/office/drawing/2014/main" id="{447C71FF-48C4-A041-CB11-EF0D0D11686A}"/>
              </a:ext>
            </a:extLst>
          </p:cNvPr>
          <p:cNvSpPr txBox="1"/>
          <p:nvPr/>
        </p:nvSpPr>
        <p:spPr>
          <a:xfrm>
            <a:off x="7162273" y="3402295"/>
            <a:ext cx="1981727" cy="405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68;g2a02aecf6f1_0_3">
            <a:extLst>
              <a:ext uri="{FF2B5EF4-FFF2-40B4-BE49-F238E27FC236}">
                <a16:creationId xmlns:a16="http://schemas.microsoft.com/office/drawing/2014/main" id="{DAAC9EC3-44DA-9DC8-0D7F-A2C9DC5650E2}"/>
              </a:ext>
            </a:extLst>
          </p:cNvPr>
          <p:cNvSpPr txBox="1"/>
          <p:nvPr/>
        </p:nvSpPr>
        <p:spPr>
          <a:xfrm>
            <a:off x="2060250" y="286825"/>
            <a:ext cx="69198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AOI using NAND and NOR gate</a:t>
            </a:r>
            <a:endParaRPr sz="3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BE689B-C8B2-ADFE-4A48-5EE3C9685FC7}"/>
              </a:ext>
            </a:extLst>
          </p:cNvPr>
          <p:cNvSpPr txBox="1"/>
          <p:nvPr/>
        </p:nvSpPr>
        <p:spPr>
          <a:xfrm>
            <a:off x="46894" y="2298591"/>
            <a:ext cx="19817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Universal Gate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6.1 AOI Using NAND gate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6.2 AOI Using NOR  gate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Precedence of operators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A diagram of a diagram&#10;&#10;Description automatically generated">
            <a:extLst>
              <a:ext uri="{FF2B5EF4-FFF2-40B4-BE49-F238E27FC236}">
                <a16:creationId xmlns:a16="http://schemas.microsoft.com/office/drawing/2014/main" id="{C653FB77-32C2-F248-2D8B-90CA4C3A1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250" y="1800996"/>
            <a:ext cx="5644703" cy="2476866"/>
          </a:xfrm>
          <a:prstGeom prst="rect">
            <a:avLst/>
          </a:prstGeom>
        </p:spPr>
      </p:pic>
      <p:sp>
        <p:nvSpPr>
          <p:cNvPr id="12" name="Google Shape;368;g2a02aecf6f1_0_3">
            <a:extLst>
              <a:ext uri="{FF2B5EF4-FFF2-40B4-BE49-F238E27FC236}">
                <a16:creationId xmlns:a16="http://schemas.microsoft.com/office/drawing/2014/main" id="{B30BC9C1-CD6C-67B9-1C32-4A743B90EC2B}"/>
              </a:ext>
            </a:extLst>
          </p:cNvPr>
          <p:cNvSpPr txBox="1"/>
          <p:nvPr/>
        </p:nvSpPr>
        <p:spPr>
          <a:xfrm>
            <a:off x="7162273" y="1329794"/>
            <a:ext cx="1981727" cy="405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 Function Only</a:t>
            </a:r>
          </a:p>
        </p:txBody>
      </p:sp>
      <p:sp>
        <p:nvSpPr>
          <p:cNvPr id="13" name="Google Shape;368;g2a02aecf6f1_0_3">
            <a:extLst>
              <a:ext uri="{FF2B5EF4-FFF2-40B4-BE49-F238E27FC236}">
                <a16:creationId xmlns:a16="http://schemas.microsoft.com/office/drawing/2014/main" id="{0D627BBA-B679-6324-030A-25C203C78083}"/>
              </a:ext>
            </a:extLst>
          </p:cNvPr>
          <p:cNvSpPr txBox="1"/>
          <p:nvPr/>
        </p:nvSpPr>
        <p:spPr>
          <a:xfrm>
            <a:off x="5952049" y="1329793"/>
            <a:ext cx="796273" cy="405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Symbol</a:t>
            </a:r>
          </a:p>
        </p:txBody>
      </p:sp>
      <p:sp>
        <p:nvSpPr>
          <p:cNvPr id="14" name="Google Shape;368;g2a02aecf6f1_0_3">
            <a:extLst>
              <a:ext uri="{FF2B5EF4-FFF2-40B4-BE49-F238E27FC236}">
                <a16:creationId xmlns:a16="http://schemas.microsoft.com/office/drawing/2014/main" id="{CAAEDC9C-D1EB-922B-906F-2ABBB1F5122C}"/>
              </a:ext>
            </a:extLst>
          </p:cNvPr>
          <p:cNvSpPr txBox="1"/>
          <p:nvPr/>
        </p:nvSpPr>
        <p:spPr>
          <a:xfrm>
            <a:off x="2603418" y="1329792"/>
            <a:ext cx="2843905" cy="405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Circuit Using NOR gate</a:t>
            </a:r>
          </a:p>
        </p:txBody>
      </p:sp>
      <p:sp>
        <p:nvSpPr>
          <p:cNvPr id="15" name="Google Shape;368;g2a02aecf6f1_0_3">
            <a:extLst>
              <a:ext uri="{FF2B5EF4-FFF2-40B4-BE49-F238E27FC236}">
                <a16:creationId xmlns:a16="http://schemas.microsoft.com/office/drawing/2014/main" id="{D51FFA15-6D16-1814-FEC3-E3DD6E2B4A35}"/>
              </a:ext>
            </a:extLst>
          </p:cNvPr>
          <p:cNvSpPr txBox="1"/>
          <p:nvPr/>
        </p:nvSpPr>
        <p:spPr>
          <a:xfrm>
            <a:off x="7162272" y="1988634"/>
            <a:ext cx="1981727" cy="405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</a:p>
        </p:txBody>
      </p:sp>
      <p:sp>
        <p:nvSpPr>
          <p:cNvPr id="16" name="Google Shape;368;g2a02aecf6f1_0_3">
            <a:extLst>
              <a:ext uri="{FF2B5EF4-FFF2-40B4-BE49-F238E27FC236}">
                <a16:creationId xmlns:a16="http://schemas.microsoft.com/office/drawing/2014/main" id="{62B1B09C-4F6C-CDAF-6532-90EFFFEAECE9}"/>
              </a:ext>
            </a:extLst>
          </p:cNvPr>
          <p:cNvSpPr txBox="1"/>
          <p:nvPr/>
        </p:nvSpPr>
        <p:spPr>
          <a:xfrm>
            <a:off x="7162271" y="2654376"/>
            <a:ext cx="1981727" cy="405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</a:p>
        </p:txBody>
      </p:sp>
      <p:sp>
        <p:nvSpPr>
          <p:cNvPr id="17" name="Google Shape;368;g2a02aecf6f1_0_3">
            <a:extLst>
              <a:ext uri="{FF2B5EF4-FFF2-40B4-BE49-F238E27FC236}">
                <a16:creationId xmlns:a16="http://schemas.microsoft.com/office/drawing/2014/main" id="{88576552-0550-FAB9-7FD7-F7667D5AEAAF}"/>
              </a:ext>
            </a:extLst>
          </p:cNvPr>
          <p:cNvSpPr txBox="1"/>
          <p:nvPr/>
        </p:nvSpPr>
        <p:spPr>
          <a:xfrm>
            <a:off x="7162273" y="3714906"/>
            <a:ext cx="1981727" cy="405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12462789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6"/>
          <p:cNvSpPr txBox="1"/>
          <p:nvPr/>
        </p:nvSpPr>
        <p:spPr>
          <a:xfrm>
            <a:off x="2459075" y="321350"/>
            <a:ext cx="6186000" cy="9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722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lang="en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</a:t>
            </a:r>
            <a:r>
              <a:rPr lang="en" sz="3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Precedence of operators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6"/>
          <p:cNvSpPr txBox="1"/>
          <p:nvPr/>
        </p:nvSpPr>
        <p:spPr>
          <a:xfrm>
            <a:off x="2459075" y="1182000"/>
            <a:ext cx="5848500" cy="27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marR="0" lvl="0" indent="-171450" algn="l" rtl="0">
              <a:lnSpc>
                <a:spcPct val="10782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with normal mathematics when working out the value of a function  it is very important to do it in the right order.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marR="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	AND	OR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marR="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Parenthesis (brackets) override in the normal way.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marR="0" lvl="0" indent="-171450" algn="l" rtl="0">
              <a:lnSpc>
                <a:spcPct val="107821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 bar goes above more than 1 symbol it becomes a bracket that  reverses.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465559-B639-F5D3-9D1F-96D6166C8CC8}"/>
              </a:ext>
            </a:extLst>
          </p:cNvPr>
          <p:cNvSpPr txBox="1"/>
          <p:nvPr/>
        </p:nvSpPr>
        <p:spPr>
          <a:xfrm>
            <a:off x="85969" y="2306406"/>
            <a:ext cx="19817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Universal Gate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6.1 AOI Using NAND gate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6.2 AOI Using NOR  gate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Precedence of operators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7"/>
          <p:cNvSpPr txBox="1"/>
          <p:nvPr/>
        </p:nvSpPr>
        <p:spPr>
          <a:xfrm>
            <a:off x="2132300" y="435025"/>
            <a:ext cx="6186000" cy="9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722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7.1</a:t>
            </a:r>
            <a:r>
              <a:rPr lang="en" sz="3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Example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4" name="Google Shape;384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0675" y="1015000"/>
            <a:ext cx="4939849" cy="39947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3C0C5AE-31E5-F889-CA7D-41F94C7E05AD}"/>
              </a:ext>
            </a:extLst>
          </p:cNvPr>
          <p:cNvSpPr txBox="1"/>
          <p:nvPr/>
        </p:nvSpPr>
        <p:spPr>
          <a:xfrm>
            <a:off x="85969" y="2306406"/>
            <a:ext cx="19817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Precedence of operators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7.1 Example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Circuit Design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8"/>
          <p:cNvSpPr txBox="1"/>
          <p:nvPr/>
        </p:nvSpPr>
        <p:spPr>
          <a:xfrm>
            <a:off x="2899550" y="420825"/>
            <a:ext cx="6186000" cy="9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722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</a:t>
            </a:r>
            <a:r>
              <a:rPr lang="en" sz="3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Circuit Design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8"/>
          <p:cNvSpPr/>
          <p:nvPr/>
        </p:nvSpPr>
        <p:spPr>
          <a:xfrm>
            <a:off x="3438375" y="1568550"/>
            <a:ext cx="3680100" cy="2367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0697A3-C500-BC66-4944-1449ABF1E5A2}"/>
              </a:ext>
            </a:extLst>
          </p:cNvPr>
          <p:cNvSpPr txBox="1"/>
          <p:nvPr/>
        </p:nvSpPr>
        <p:spPr>
          <a:xfrm>
            <a:off x="85969" y="2306406"/>
            <a:ext cx="19817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Precedence of operators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7.1 Example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Circuit Design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9"/>
          <p:cNvSpPr txBox="1"/>
          <p:nvPr/>
        </p:nvSpPr>
        <p:spPr>
          <a:xfrm>
            <a:off x="2479050" y="420825"/>
            <a:ext cx="6186000" cy="9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722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8.1 </a:t>
            </a:r>
            <a:r>
              <a:rPr lang="en" sz="3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Component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9"/>
          <p:cNvSpPr/>
          <p:nvPr/>
        </p:nvSpPr>
        <p:spPr>
          <a:xfrm>
            <a:off x="2513700" y="1235325"/>
            <a:ext cx="6116700" cy="16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475" rIns="0" bIns="0" anchor="t" anchorCtr="0">
            <a:noAutofit/>
          </a:bodyPr>
          <a:lstStyle/>
          <a:p>
            <a:pPr marL="457200" marR="0" lvl="0" indent="-368300" algn="l" rtl="0">
              <a:lnSpc>
                <a:spcPct val="108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main thing to remember is that combinations  of gates implement Boolean functions.</a:t>
            </a: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circuit below implements the Boolean  function:</a:t>
            </a: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" name="Google Shape;399;p29"/>
          <p:cNvSpPr/>
          <p:nvPr/>
        </p:nvSpPr>
        <p:spPr>
          <a:xfrm>
            <a:off x="5016600" y="2448530"/>
            <a:ext cx="2412600" cy="426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9"/>
          <p:cNvSpPr/>
          <p:nvPr/>
        </p:nvSpPr>
        <p:spPr>
          <a:xfrm>
            <a:off x="2513700" y="3001940"/>
            <a:ext cx="4648200" cy="1145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9"/>
          <p:cNvSpPr/>
          <p:nvPr/>
        </p:nvSpPr>
        <p:spPr>
          <a:xfrm>
            <a:off x="2548344" y="4274475"/>
            <a:ext cx="6116700" cy="530700"/>
          </a:xfrm>
          <a:prstGeom prst="rect">
            <a:avLst/>
          </a:prstGeom>
          <a:solidFill>
            <a:srgbClr val="E1FDD2"/>
          </a:solidFill>
          <a:ln>
            <a:noFill/>
          </a:ln>
        </p:spPr>
        <p:txBody>
          <a:bodyPr spcFirstLastPara="1" wrap="square" lIns="0" tIns="27525" rIns="0" bIns="0" anchor="t" anchorCtr="0">
            <a:noAutofit/>
          </a:bodyPr>
          <a:lstStyle/>
          <a:p>
            <a:pPr marL="635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simplify our Boolean expressions so  that we can create simpler circuits.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465FA-FF81-6800-ABED-C7AA8C861517}"/>
              </a:ext>
            </a:extLst>
          </p:cNvPr>
          <p:cNvSpPr txBox="1"/>
          <p:nvPr/>
        </p:nvSpPr>
        <p:spPr>
          <a:xfrm>
            <a:off x="85969" y="2306406"/>
            <a:ext cx="19817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Circuit Design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8.1 Digital component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8.2 Truth table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8.3 Combinational Logic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1"/>
          <p:cNvSpPr txBox="1"/>
          <p:nvPr/>
        </p:nvSpPr>
        <p:spPr>
          <a:xfrm>
            <a:off x="2899550" y="420825"/>
            <a:ext cx="6186000" cy="9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722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8.2 </a:t>
            </a:r>
            <a:r>
              <a:rPr lang="en" sz="3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Truth Table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1"/>
          <p:cNvSpPr/>
          <p:nvPr/>
        </p:nvSpPr>
        <p:spPr>
          <a:xfrm>
            <a:off x="2899550" y="1176350"/>
            <a:ext cx="5439600" cy="3600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D5798E-6F54-0316-17FC-08B4C49C4C9C}"/>
              </a:ext>
            </a:extLst>
          </p:cNvPr>
          <p:cNvSpPr txBox="1"/>
          <p:nvPr/>
        </p:nvSpPr>
        <p:spPr>
          <a:xfrm>
            <a:off x="85969" y="2306406"/>
            <a:ext cx="19817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Circuit Design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8.1 Digital component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8.2 Truth table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8.3 Combinational Logic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0"/>
          <p:cNvSpPr txBox="1"/>
          <p:nvPr/>
        </p:nvSpPr>
        <p:spPr>
          <a:xfrm>
            <a:off x="2260175" y="193500"/>
            <a:ext cx="6186000" cy="9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722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8.3 Combinational Logic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0"/>
          <p:cNvSpPr/>
          <p:nvPr/>
        </p:nvSpPr>
        <p:spPr>
          <a:xfrm>
            <a:off x="2581050" y="863850"/>
            <a:ext cx="6051600" cy="4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475" rIns="0" bIns="0" anchor="t" anchorCtr="0">
            <a:noAutofit/>
          </a:bodyPr>
          <a:lstStyle/>
          <a:p>
            <a:pPr marL="177800" marR="0" lvl="0" indent="-177800" algn="l" rtl="0">
              <a:lnSpc>
                <a:spcPct val="108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∙"/>
            </a:pPr>
            <a:r>
              <a:rPr lang="en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have designed a circuit that implements the  Boolean function: </a:t>
            </a:r>
            <a:endParaRPr sz="2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7800" marR="0" lvl="0" indent="-177800" algn="l" rtl="0">
              <a:lnSpc>
                <a:spcPct val="114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∙"/>
            </a:pPr>
            <a:r>
              <a:rPr lang="en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circuit is an example of a </a:t>
            </a:r>
            <a:r>
              <a:rPr lang="en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combinational logic</a:t>
            </a: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7800" marR="0" lvl="0" indent="0" algn="l" rtl="0">
              <a:lnSpc>
                <a:spcPct val="114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circuit.</a:t>
            </a: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7800" marR="0" lvl="0" indent="-177800" algn="l" rtl="0">
              <a:lnSpc>
                <a:spcPct val="108038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∙"/>
            </a:pPr>
            <a:r>
              <a:rPr lang="en" sz="22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Combinational logic </a:t>
            </a:r>
            <a:r>
              <a:rPr lang="en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circuits produce a specified  output (almost) at the instant when input values are  applied.</a:t>
            </a: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20700" marR="0" lvl="1" indent="-190500" algn="l" rtl="0">
              <a:lnSpc>
                <a:spcPct val="113958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 later section, we will explore circuits where this is not</a:t>
            </a: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case.</a:t>
            </a: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6" name="Google Shape;416;p30"/>
          <p:cNvSpPr/>
          <p:nvPr/>
        </p:nvSpPr>
        <p:spPr>
          <a:xfrm>
            <a:off x="5338383" y="1245894"/>
            <a:ext cx="2412600" cy="426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903CB0-D97C-105A-AEB7-3D66290E8134}"/>
              </a:ext>
            </a:extLst>
          </p:cNvPr>
          <p:cNvSpPr txBox="1"/>
          <p:nvPr/>
        </p:nvSpPr>
        <p:spPr>
          <a:xfrm>
            <a:off x="85969" y="2306406"/>
            <a:ext cx="19817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Circuit Design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8.1 Digital component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8.2 Truth table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8.3 Combinational Logic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2"/>
          <p:cNvSpPr txBox="1"/>
          <p:nvPr/>
        </p:nvSpPr>
        <p:spPr>
          <a:xfrm>
            <a:off x="2022149" y="379635"/>
            <a:ext cx="7269300" cy="9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722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8.3.1 </a:t>
            </a:r>
            <a:r>
              <a:rPr lang="en" sz="33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Combinational Circuit Examples</a:t>
            </a: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2"/>
          <p:cNvSpPr txBox="1"/>
          <p:nvPr/>
        </p:nvSpPr>
        <p:spPr>
          <a:xfrm>
            <a:off x="3288350" y="1004050"/>
            <a:ext cx="1587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1</a:t>
            </a:r>
            <a:endParaRPr sz="220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4" name="Google Shape;424;p32"/>
          <p:cNvSpPr/>
          <p:nvPr/>
        </p:nvSpPr>
        <p:spPr>
          <a:xfrm>
            <a:off x="3452030" y="1644170"/>
            <a:ext cx="2639400" cy="1761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2"/>
          <p:cNvSpPr/>
          <p:nvPr/>
        </p:nvSpPr>
        <p:spPr>
          <a:xfrm>
            <a:off x="6362149" y="3141873"/>
            <a:ext cx="2490600" cy="1556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2"/>
          <p:cNvSpPr/>
          <p:nvPr/>
        </p:nvSpPr>
        <p:spPr>
          <a:xfrm>
            <a:off x="6146600" y="2571750"/>
            <a:ext cx="2921700" cy="4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45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Circuit after Simplification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9FA334-3640-1666-5916-89C516E3E041}"/>
              </a:ext>
            </a:extLst>
          </p:cNvPr>
          <p:cNvSpPr txBox="1"/>
          <p:nvPr/>
        </p:nvSpPr>
        <p:spPr>
          <a:xfrm>
            <a:off x="85969" y="2306406"/>
            <a:ext cx="198172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Circuit Design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8.1 Digital component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8.2 Truth table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8.3 Combinational Logic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8.3.1 Examples </a:t>
            </a: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3"/>
          <p:cNvSpPr txBox="1"/>
          <p:nvPr/>
        </p:nvSpPr>
        <p:spPr>
          <a:xfrm>
            <a:off x="2506875" y="1004050"/>
            <a:ext cx="1587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2</a:t>
            </a:r>
            <a:endParaRPr sz="220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3" name="Google Shape;433;p33"/>
          <p:cNvSpPr/>
          <p:nvPr/>
        </p:nvSpPr>
        <p:spPr>
          <a:xfrm>
            <a:off x="2591350" y="1527250"/>
            <a:ext cx="4864500" cy="2403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33"/>
          <p:cNvSpPr txBox="1"/>
          <p:nvPr/>
        </p:nvSpPr>
        <p:spPr>
          <a:xfrm>
            <a:off x="2114575" y="335575"/>
            <a:ext cx="72693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722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8.3.1 </a:t>
            </a:r>
            <a:r>
              <a:rPr lang="en" sz="3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Combinational Circuit Examples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4ECAFE-7644-E92F-3570-4F04991852D5}"/>
              </a:ext>
            </a:extLst>
          </p:cNvPr>
          <p:cNvSpPr txBox="1"/>
          <p:nvPr/>
        </p:nvSpPr>
        <p:spPr>
          <a:xfrm>
            <a:off x="85969" y="2306406"/>
            <a:ext cx="19817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Circuit Design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8.1 Digital component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8.2 Truth table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8.3 Combinational Logic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8.3.1 Examples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4"/>
          <p:cNvSpPr txBox="1"/>
          <p:nvPr/>
        </p:nvSpPr>
        <p:spPr>
          <a:xfrm>
            <a:off x="2984400" y="1340625"/>
            <a:ext cx="1587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</a:t>
            </a:r>
            <a:endParaRPr sz="220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1" name="Google Shape;441;p34"/>
          <p:cNvSpPr txBox="1"/>
          <p:nvPr/>
        </p:nvSpPr>
        <p:spPr>
          <a:xfrm>
            <a:off x="3069376" y="2025603"/>
            <a:ext cx="4643100" cy="9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Simplify: </a:t>
            </a:r>
            <a:endParaRPr sz="22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= (A.B.C) +(A.B'.C) +(A'.B.C)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4"/>
          <p:cNvSpPr txBox="1"/>
          <p:nvPr/>
        </p:nvSpPr>
        <p:spPr>
          <a:xfrm>
            <a:off x="2114575" y="335575"/>
            <a:ext cx="69285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722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8.3.1 </a:t>
            </a:r>
            <a:r>
              <a:rPr lang="en" sz="3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Combinational Circuit Examples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BA37D3-EA3D-F8FA-BBE2-56243E1F4EA9}"/>
              </a:ext>
            </a:extLst>
          </p:cNvPr>
          <p:cNvSpPr txBox="1"/>
          <p:nvPr/>
        </p:nvSpPr>
        <p:spPr>
          <a:xfrm>
            <a:off x="85969" y="2306406"/>
            <a:ext cx="19817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Circuit Design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8.1 Digital component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8.2 Truth table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8.3 Combinational Logic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8.3.1 Examples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a03aa18a03_0_1"/>
          <p:cNvSpPr txBox="1"/>
          <p:nvPr/>
        </p:nvSpPr>
        <p:spPr>
          <a:xfrm>
            <a:off x="2213650" y="1065775"/>
            <a:ext cx="66438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</a:t>
            </a: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4: Write the output functions of the following circuits.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0" name="Google Shape;450;g2a03aa18a03_0_1"/>
          <p:cNvSpPr txBox="1"/>
          <p:nvPr/>
        </p:nvSpPr>
        <p:spPr>
          <a:xfrm>
            <a:off x="2114575" y="335575"/>
            <a:ext cx="69285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722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8.3.1 </a:t>
            </a:r>
            <a:r>
              <a:rPr lang="en" sz="3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Combinational Circuit Examples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1" name="Google Shape;451;g2a03aa18a03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4150" y="2197650"/>
            <a:ext cx="2710251" cy="192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g2a03aa18a03_0_1"/>
          <p:cNvSpPr txBox="1"/>
          <p:nvPr/>
        </p:nvSpPr>
        <p:spPr>
          <a:xfrm>
            <a:off x="2472525" y="4392650"/>
            <a:ext cx="2327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Fig: Multiplexor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3" name="Google Shape;453;g2a03aa18a03_0_1"/>
          <p:cNvSpPr txBox="1"/>
          <p:nvPr/>
        </p:nvSpPr>
        <p:spPr>
          <a:xfrm>
            <a:off x="6017225" y="4392650"/>
            <a:ext cx="2327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Fig: Decoder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4" name="Google Shape;454;g2a03aa18a03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7675" y="2223413"/>
            <a:ext cx="2554350" cy="187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1E67B2-1AD7-3608-C320-FBE7621DF1B1}"/>
              </a:ext>
            </a:extLst>
          </p:cNvPr>
          <p:cNvSpPr txBox="1"/>
          <p:nvPr/>
        </p:nvSpPr>
        <p:spPr>
          <a:xfrm>
            <a:off x="85969" y="2306406"/>
            <a:ext cx="198172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Circuit Design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8.1 Digital component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8.2 Truth table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8.3 Combinational Logic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8.3.1 Examples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8.3.2 Exercises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5"/>
          <p:cNvSpPr txBox="1"/>
          <p:nvPr/>
        </p:nvSpPr>
        <p:spPr>
          <a:xfrm>
            <a:off x="2899550" y="420825"/>
            <a:ext cx="3667500" cy="6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722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Exercises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5"/>
          <p:cNvSpPr txBox="1"/>
          <p:nvPr/>
        </p:nvSpPr>
        <p:spPr>
          <a:xfrm>
            <a:off x="3059550" y="1267050"/>
            <a:ext cx="5309400" cy="21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Simplify and construct the logic circuit:</a:t>
            </a:r>
            <a:endParaRPr sz="2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139700" algn="l" rtl="0">
              <a:lnSpc>
                <a:spcPct val="160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AutoNum type="arabicPeriod"/>
            </a:pPr>
            <a:r>
              <a:rPr lang="en" sz="2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A’.B’ + (A.B)’</a:t>
            </a:r>
            <a:endParaRPr sz="2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139700" algn="l" rtl="0">
              <a:lnSpc>
                <a:spcPct val="160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AutoNum type="arabicPeriod"/>
            </a:pPr>
            <a:r>
              <a:rPr lang="en" sz="2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 + B).(A + B) + A.(A + B’)</a:t>
            </a:r>
            <a:endParaRPr sz="2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139700" algn="l" rtl="0">
              <a:lnSpc>
                <a:spcPct val="160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AutoNum type="arabicPeriod"/>
            </a:pPr>
            <a:r>
              <a:rPr lang="en" sz="2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(A.B’.C’ + A’.B’.C+A.B.C+A’.B.C’)</a:t>
            </a:r>
            <a:endParaRPr sz="2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0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0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FB8EA1-1574-AF77-EC58-4135FBDB0AC8}"/>
              </a:ext>
            </a:extLst>
          </p:cNvPr>
          <p:cNvSpPr txBox="1"/>
          <p:nvPr/>
        </p:nvSpPr>
        <p:spPr>
          <a:xfrm>
            <a:off x="85969" y="2306406"/>
            <a:ext cx="198172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Circuit Design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8.1 Digital component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8.2 Truth table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8.3 Combinational Logic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8.3.1 Examples 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8.3.2 Exercises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Summary</a:t>
            </a: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6"/>
          <p:cNvSpPr txBox="1"/>
          <p:nvPr/>
        </p:nvSpPr>
        <p:spPr>
          <a:xfrm>
            <a:off x="2501931" y="462482"/>
            <a:ext cx="26268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97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1">
                <a:latin typeface="Times New Roman"/>
                <a:ea typeface="Times New Roman"/>
                <a:cs typeface="Times New Roman"/>
                <a:sym typeface="Times New Roman"/>
              </a:rPr>
              <a:t>9. </a:t>
            </a:r>
            <a:r>
              <a:rPr lang="en" sz="33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sz="33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6"/>
          <p:cNvSpPr txBox="1"/>
          <p:nvPr/>
        </p:nvSpPr>
        <p:spPr>
          <a:xfrm>
            <a:off x="8290080" y="4834080"/>
            <a:ext cx="184950" cy="298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" marR="0" lvl="0" indent="0" algn="l" rtl="0">
              <a:lnSpc>
                <a:spcPct val="119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41</a:t>
            </a:fld>
            <a:endParaRPr sz="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8" name="Google Shape;468;p36"/>
          <p:cNvSpPr/>
          <p:nvPr/>
        </p:nvSpPr>
        <p:spPr>
          <a:xfrm>
            <a:off x="2202325" y="1676625"/>
            <a:ext cx="65928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1025" rIns="0" bIns="0" anchor="t" anchorCtr="0">
            <a:noAutofit/>
          </a:bodyPr>
          <a:lstStyle/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have looked at the basic logic gates: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20700" marR="0" lvl="1" indent="-1905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Identifying OR, AND, NOT, NAND, NOR and XOR.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marR="0" lvl="0" indent="-177800" algn="l" rtl="0">
              <a:lnSpc>
                <a:spcPct val="125791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have seen that gates can be joined together to form Combinatorial  Logic.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E64851-5505-8750-9738-BFA2806ABED0}"/>
              </a:ext>
            </a:extLst>
          </p:cNvPr>
          <p:cNvSpPr txBox="1"/>
          <p:nvPr/>
        </p:nvSpPr>
        <p:spPr>
          <a:xfrm>
            <a:off x="85969" y="2306406"/>
            <a:ext cx="198172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Circuit Design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8.1 Digital component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8.2 Truth table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8.3 Combinational Logic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8.3.1 Examples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8.3.2 Exercises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Summary</a:t>
            </a: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7"/>
          <p:cNvSpPr txBox="1"/>
          <p:nvPr/>
        </p:nvSpPr>
        <p:spPr>
          <a:xfrm>
            <a:off x="8290080" y="4834080"/>
            <a:ext cx="184950" cy="298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" marR="0" lvl="0" indent="0" algn="l" rtl="0">
              <a:lnSpc>
                <a:spcPct val="119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42</a:t>
            </a:fld>
            <a:endParaRPr sz="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5" name="Google Shape;475;p37"/>
          <p:cNvSpPr txBox="1"/>
          <p:nvPr/>
        </p:nvSpPr>
        <p:spPr>
          <a:xfrm>
            <a:off x="3062075" y="1817506"/>
            <a:ext cx="5412955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</a:pPr>
            <a:r>
              <a:rPr lang="en" sz="77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you…</a:t>
            </a:r>
            <a:endParaRPr sz="77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1488</TotalTime>
  <Words>2348</Words>
  <Application>Microsoft Office PowerPoint</Application>
  <PresentationFormat>On-screen Show (16:9)</PresentationFormat>
  <Paragraphs>623</Paragraphs>
  <Slides>42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Arial</vt:lpstr>
      <vt:lpstr>Calibri</vt:lpstr>
      <vt:lpstr>Cambria Math</vt:lpstr>
      <vt:lpstr>Courier New</vt:lpstr>
      <vt:lpstr>Noto Sans Symbols</vt:lpstr>
      <vt:lpstr>Times New Roman</vt:lpstr>
      <vt:lpstr>Verdana</vt:lpstr>
      <vt:lpstr>Simple Light</vt:lpstr>
      <vt:lpstr>PowerPoint Presentation</vt:lpstr>
      <vt:lpstr>PowerPoint Presentation</vt:lpstr>
      <vt:lpstr>1.   Boolean Logic History</vt:lpstr>
      <vt:lpstr> 1.1 Basic Logic Definitions</vt:lpstr>
      <vt:lpstr> 1.2 Logic States</vt:lpstr>
      <vt:lpstr> 2. Boolean Operators</vt:lpstr>
      <vt:lpstr> 2. Boolean Operators</vt:lpstr>
      <vt:lpstr> 2.1 Logical AND</vt:lpstr>
      <vt:lpstr> 2.1 Logical AND</vt:lpstr>
      <vt:lpstr> 2.1.1 AND Relationship</vt:lpstr>
      <vt:lpstr> 2.2 Logical OR</vt:lpstr>
      <vt:lpstr> 2.2 Logical OR</vt:lpstr>
      <vt:lpstr> 2.2.1 OR Relationship</vt:lpstr>
      <vt:lpstr> 2.3 Logical Not</vt:lpstr>
      <vt:lpstr> 2.3.1 NOT Relationship</vt:lpstr>
      <vt:lpstr>3. Integrated Circuit and Logic Gates</vt:lpstr>
      <vt:lpstr>4. Other Logic Gates</vt:lpstr>
      <vt:lpstr>4.1 NAND</vt:lpstr>
      <vt:lpstr>4.2 NOR</vt:lpstr>
      <vt:lpstr>4.3 XOR</vt:lpstr>
      <vt:lpstr>4.4 XNOR</vt:lpstr>
      <vt:lpstr>5. Boolean Algebra Laws</vt:lpstr>
      <vt:lpstr>5. Boolean Algebra Laws</vt:lpstr>
      <vt:lpstr>5.1  DeMorgan’s Laws</vt:lpstr>
      <vt:lpstr>5.1  DeMorgan’s Laws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Acer</dc:creator>
  <cp:lastModifiedBy>sanjeevchamling@gmail.com</cp:lastModifiedBy>
  <cp:revision>9</cp:revision>
  <dcterms:modified xsi:type="dcterms:W3CDTF">2024-11-25T05:33:36Z</dcterms:modified>
</cp:coreProperties>
</file>