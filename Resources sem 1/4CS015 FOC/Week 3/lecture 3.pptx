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Ygqa0/uzBafihSW5iL/29N0Eh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5FB6B5-423A-42E7-AE14-769630BD880C}">
  <a:tblStyle styleId="{915FB6B5-423A-42E7-AE14-769630BD880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BE5688-0655-4C88-B4F7-76D8B5D03D9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2e90fa16b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2a2e90fa16b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2a2e90fa16b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12" name="Google Shape;3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4463" y="766763"/>
            <a:ext cx="6818312" cy="3835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6:notes"/>
          <p:cNvSpPr txBox="1">
            <a:spLocks noGrp="1"/>
          </p:cNvSpPr>
          <p:nvPr>
            <p:ph type="body" idx="1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23" name="Google Shape;32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4463" y="766763"/>
            <a:ext cx="6818312" cy="3835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7:notes"/>
          <p:cNvSpPr txBox="1">
            <a:spLocks noGrp="1"/>
          </p:cNvSpPr>
          <p:nvPr>
            <p:ph type="body" idx="1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46" name="Google Shape;3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4463" y="766763"/>
            <a:ext cx="6818312" cy="3835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9:notes"/>
          <p:cNvSpPr txBox="1">
            <a:spLocks noGrp="1"/>
          </p:cNvSpPr>
          <p:nvPr>
            <p:ph type="body" idx="1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59" name="Google Shape;3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4463" y="766763"/>
            <a:ext cx="6818312" cy="3835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20:notes"/>
          <p:cNvSpPr txBox="1">
            <a:spLocks noGrp="1"/>
          </p:cNvSpPr>
          <p:nvPr>
            <p:ph type="body" idx="1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70" name="Google Shape;3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4463" y="766763"/>
            <a:ext cx="6818312" cy="3835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21:notes"/>
          <p:cNvSpPr txBox="1">
            <a:spLocks noGrp="1"/>
          </p:cNvSpPr>
          <p:nvPr>
            <p:ph type="body" idx="1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80" name="Google Shape;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4463" y="766763"/>
            <a:ext cx="6818312" cy="3835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22:notes"/>
          <p:cNvSpPr txBox="1">
            <a:spLocks noGrp="1"/>
          </p:cNvSpPr>
          <p:nvPr>
            <p:ph type="body" idx="1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94" name="Google Shape;3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4463" y="766763"/>
            <a:ext cx="6818312" cy="3835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23:notes"/>
          <p:cNvSpPr txBox="1">
            <a:spLocks noGrp="1"/>
          </p:cNvSpPr>
          <p:nvPr>
            <p:ph type="body" idx="1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05" name="Google Shape;40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26" name="Google Shape;42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51" name="Google Shape;4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504" name="Google Shape;5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60" name="Google Shape;56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90" name="Google Shape;59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6" name="Google Shape;64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3"/>
          <p:cNvSpPr/>
          <p:nvPr/>
        </p:nvSpPr>
        <p:spPr>
          <a:xfrm>
            <a:off x="12701" y="-24200"/>
            <a:ext cx="1385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4"/>
          <p:cNvSpPr/>
          <p:nvPr/>
        </p:nvSpPr>
        <p:spPr>
          <a:xfrm>
            <a:off x="1" y="90101"/>
            <a:ext cx="1385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2 Content" type="objAndTwoObj">
  <p:cSld name="OBJECT_AND_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>
            <a:spLocks noGrp="1"/>
          </p:cNvSpPr>
          <p:nvPr>
            <p:ph type="title"/>
          </p:nvPr>
        </p:nvSpPr>
        <p:spPr>
          <a:xfrm>
            <a:off x="1826684" y="301625"/>
            <a:ext cx="975148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body" idx="1"/>
          </p:nvPr>
        </p:nvSpPr>
        <p:spPr>
          <a:xfrm>
            <a:off x="1826684" y="1827213"/>
            <a:ext cx="477308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2"/>
          </p:nvPr>
        </p:nvSpPr>
        <p:spPr>
          <a:xfrm>
            <a:off x="6802967" y="1827213"/>
            <a:ext cx="4775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3"/>
          </p:nvPr>
        </p:nvSpPr>
        <p:spPr>
          <a:xfrm>
            <a:off x="6802967" y="3960813"/>
            <a:ext cx="4775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g249310ac104_0_42">
            <a:extLst>
              <a:ext uri="{FF2B5EF4-FFF2-40B4-BE49-F238E27FC236}">
                <a16:creationId xmlns:a16="http://schemas.microsoft.com/office/drawing/2014/main" id="{34705385-6B36-A35D-8F48-BA8DB5F9B7E4}"/>
              </a:ext>
            </a:extLst>
          </p:cNvPr>
          <p:cNvSpPr/>
          <p:nvPr userDrawn="1"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3" name="Google Shape;76;p1">
            <a:extLst>
              <a:ext uri="{FF2B5EF4-FFF2-40B4-BE49-F238E27FC236}">
                <a16:creationId xmlns:a16="http://schemas.microsoft.com/office/drawing/2014/main" id="{8D275EF5-88E9-10F2-45D5-65077376A451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1282DC-3D74-7919-8BE6-8552F5D1BAB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59682" y="6307191"/>
            <a:ext cx="2135054" cy="44671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2982191" y="2724958"/>
            <a:ext cx="9085312" cy="1310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br>
              <a:rPr lang="en-US" sz="4000" b="1" dirty="0"/>
            </a:br>
            <a:br>
              <a:rPr lang="en-US" sz="4000" b="1" dirty="0"/>
            </a:br>
            <a:br>
              <a:rPr lang="en-US" sz="4000" b="1" dirty="0"/>
            </a:br>
            <a:br>
              <a:rPr lang="en-US" sz="4000" b="1" dirty="0"/>
            </a:br>
            <a:br>
              <a:rPr lang="en-US" sz="4000" b="1" dirty="0"/>
            </a:b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4CS015</a:t>
            </a:r>
            <a:br>
              <a:rPr lang="en-US" sz="4000" b="1" dirty="0"/>
            </a:br>
            <a:r>
              <a:rPr lang="en-US" sz="4000" b="1" dirty="0"/>
              <a:t>Lecture 3: Combinational Circuit</a:t>
            </a:r>
            <a:endParaRPr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2751975" y="320675"/>
            <a:ext cx="8601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/>
              <a:t>1. Lecture 3 coverage</a:t>
            </a:r>
            <a:endParaRPr sz="3200" b="1" dirty="0"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2941575" y="1646250"/>
            <a:ext cx="7262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Review of Week 2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Boolean gates and logic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/>
              <a:t>Mathematical functions in logic!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Understanding addition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Making our own truth tables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Building a circuit that can perform </a:t>
            </a:r>
            <a:r>
              <a:rPr lang="en-US" sz="2400" dirty="0" err="1"/>
              <a:t>maths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Reducing logic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8577F-5C30-B801-8142-4BC1A8345CA6}"/>
              </a:ext>
            </a:extLst>
          </p:cNvPr>
          <p:cNvSpPr txBox="1"/>
          <p:nvPr/>
        </p:nvSpPr>
        <p:spPr>
          <a:xfrm>
            <a:off x="231197" y="3121223"/>
            <a:ext cx="2065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1. Lecture 3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2728075" y="635268"/>
            <a:ext cx="8088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/>
              <a:t>2. Boolean Expression Reduction</a:t>
            </a:r>
            <a:endParaRPr sz="3200" dirty="0"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3116625" y="1583075"/>
            <a:ext cx="8237100" cy="45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b="1" dirty="0"/>
          </a:p>
          <a:p>
            <a:pPr marL="228600" lvl="0" indent="-133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dirty="0"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0925" y="2071750"/>
            <a:ext cx="5267925" cy="31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46A12D-85E7-FDBC-35E2-CF1D2FA4FE05}"/>
              </a:ext>
            </a:extLst>
          </p:cNvPr>
          <p:cNvSpPr txBox="1"/>
          <p:nvPr/>
        </p:nvSpPr>
        <p:spPr>
          <a:xfrm>
            <a:off x="-124692" y="2275609"/>
            <a:ext cx="35017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en-US" sz="1200" b="1" dirty="0"/>
              <a:t>2. Boolean Expression Reduction</a:t>
            </a:r>
          </a:p>
          <a:p>
            <a:r>
              <a:rPr lang="en-US" sz="1200" dirty="0"/>
              <a:t>        2.1. Boolean Expression </a:t>
            </a:r>
          </a:p>
          <a:p>
            <a:r>
              <a:rPr lang="en-US" sz="1200" dirty="0"/>
              <a:t>             from Truth table</a:t>
            </a:r>
          </a:p>
          <a:p>
            <a:r>
              <a:rPr lang="en-US" sz="1200" dirty="0"/>
              <a:t>        2.1.1. SOP Expression from</a:t>
            </a:r>
          </a:p>
          <a:p>
            <a:r>
              <a:rPr lang="en-US" sz="1200" dirty="0"/>
              <a:t>                  Truth table</a:t>
            </a:r>
          </a:p>
          <a:p>
            <a:r>
              <a:rPr lang="en-US" sz="1200" dirty="0"/>
              <a:t>        2.1.2. SOP Expression from</a:t>
            </a:r>
          </a:p>
          <a:p>
            <a:r>
              <a:rPr lang="en-US" sz="1200" dirty="0"/>
              <a:t>                  Truth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a2e90fa16b_2_7"/>
          <p:cNvSpPr txBox="1">
            <a:spLocks noGrp="1"/>
          </p:cNvSpPr>
          <p:nvPr>
            <p:ph type="title"/>
          </p:nvPr>
        </p:nvSpPr>
        <p:spPr>
          <a:xfrm>
            <a:off x="2690997" y="312904"/>
            <a:ext cx="7904925" cy="57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/>
              <a:t>2.1. Boolean Expression from Truth table</a:t>
            </a:r>
            <a:endParaRPr sz="3200" dirty="0"/>
          </a:p>
        </p:txBody>
      </p:sp>
      <p:sp>
        <p:nvSpPr>
          <p:cNvPr id="129" name="Google Shape;129;g2a2e90fa16b_2_7"/>
          <p:cNvSpPr txBox="1">
            <a:spLocks noGrp="1"/>
          </p:cNvSpPr>
          <p:nvPr>
            <p:ph type="body" idx="1"/>
          </p:nvPr>
        </p:nvSpPr>
        <p:spPr>
          <a:xfrm>
            <a:off x="2697924" y="1291239"/>
            <a:ext cx="6437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116"/>
              <a:buNone/>
            </a:pPr>
            <a:r>
              <a:rPr lang="en-US" sz="3035" dirty="0"/>
              <a:t>How do we derive Boolean Expression from the given Truth Table??</a:t>
            </a:r>
            <a:endParaRPr sz="3152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8108"/>
              <a:buFont typeface="Times New Roman"/>
              <a:buAutoNum type="arabicPeriod"/>
            </a:pPr>
            <a:r>
              <a:rPr lang="en-US" sz="2400" dirty="0"/>
              <a:t>SUM OF PRODUCT </a:t>
            </a:r>
            <a:endParaRPr sz="2400" dirty="0"/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AutoNum type="alphaLcPeriod"/>
            </a:pPr>
            <a:r>
              <a:rPr lang="en-US" dirty="0"/>
              <a:t>SOP Expression:</a:t>
            </a:r>
            <a:endParaRPr dirty="0"/>
          </a:p>
          <a:p>
            <a:pPr marL="5334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85328"/>
              <a:buNone/>
            </a:pPr>
            <a:r>
              <a:rPr lang="en-US" sz="1400" b="1" dirty="0"/>
              <a:t>  </a:t>
            </a:r>
            <a:r>
              <a:rPr lang="en-US" sz="2100" b="1" dirty="0">
                <a:solidFill>
                  <a:srgbClr val="34444C"/>
                </a:solidFill>
                <a:highlight>
                  <a:srgbClr val="FFFFFF"/>
                </a:highlight>
              </a:rPr>
              <a:t>F = A’BC + AB’C + ABC’+ABC</a:t>
            </a:r>
            <a:endParaRPr sz="2100" b="1" dirty="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AutoNum type="arabicPeriod"/>
            </a:pPr>
            <a:r>
              <a:rPr lang="en-US" sz="2400" dirty="0"/>
              <a:t>PRODUCT OF SUM</a:t>
            </a:r>
            <a:endParaRPr sz="2400" dirty="0"/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AutoNum type="alphaLcPeriod"/>
            </a:pPr>
            <a:r>
              <a:rPr lang="en-US" dirty="0"/>
              <a:t>POS Expression: 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2664"/>
              <a:buNone/>
            </a:pPr>
            <a:r>
              <a:rPr lang="en-US" sz="2100" b="1" dirty="0">
                <a:solidFill>
                  <a:srgbClr val="34444C"/>
                </a:solidFill>
                <a:highlight>
                  <a:srgbClr val="FFFFFF"/>
                </a:highlight>
              </a:rPr>
              <a:t>F = (A + B + C) (A + B + C ‘) (A + B’ + C) (A’ + B + C)</a:t>
            </a:r>
            <a:endParaRPr sz="21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</p:txBody>
      </p:sp>
      <p:sp>
        <p:nvSpPr>
          <p:cNvPr id="130" name="Google Shape;130;g2a2e90fa16b_2_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31" name="Google Shape;131;g2a2e90fa16b_2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4366" y="1932062"/>
            <a:ext cx="3974625" cy="29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a2e90fa16b_2_7"/>
          <p:cNvSpPr txBox="1"/>
          <p:nvPr/>
        </p:nvSpPr>
        <p:spPr>
          <a:xfrm>
            <a:off x="2690997" y="5951500"/>
            <a:ext cx="77460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351C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know??  Well we will know that today.</a:t>
            </a:r>
            <a:endParaRPr sz="2300" b="0" i="0" u="none" strike="noStrike" cap="none">
              <a:solidFill>
                <a:srgbClr val="351C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EA917-71F6-97AE-21F5-2690F18CACA6}"/>
              </a:ext>
            </a:extLst>
          </p:cNvPr>
          <p:cNvSpPr txBox="1"/>
          <p:nvPr/>
        </p:nvSpPr>
        <p:spPr>
          <a:xfrm>
            <a:off x="-124692" y="2275609"/>
            <a:ext cx="35017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2. Boolean Expression Reduction</a:t>
            </a:r>
            <a:endParaRPr lang="en-US" sz="1200" b="1" dirty="0"/>
          </a:p>
          <a:p>
            <a:r>
              <a:rPr lang="en-US" sz="1200" b="1" dirty="0"/>
              <a:t>        2.1. Boolean Expression </a:t>
            </a:r>
          </a:p>
          <a:p>
            <a:r>
              <a:rPr lang="en-US" sz="1200" b="1" dirty="0"/>
              <a:t>             from Truth table</a:t>
            </a:r>
          </a:p>
          <a:p>
            <a:r>
              <a:rPr lang="en-US" sz="1200" dirty="0"/>
              <a:t>        2.1.1. SOP Expression from</a:t>
            </a:r>
          </a:p>
          <a:p>
            <a:r>
              <a:rPr lang="en-US" sz="1200" dirty="0"/>
              <a:t>                  Truth table</a:t>
            </a:r>
          </a:p>
          <a:p>
            <a:r>
              <a:rPr lang="en-US" sz="1200" dirty="0"/>
              <a:t>        2.1.2. SOP Expression from</a:t>
            </a:r>
          </a:p>
          <a:p>
            <a:r>
              <a:rPr lang="en-US" sz="1200" dirty="0"/>
              <a:t>                  Truth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5"/>
          <p:cNvSpPr txBox="1">
            <a:spLocks noGrp="1"/>
          </p:cNvSpPr>
          <p:nvPr>
            <p:ph type="title"/>
          </p:nvPr>
        </p:nvSpPr>
        <p:spPr>
          <a:xfrm>
            <a:off x="2797712" y="449188"/>
            <a:ext cx="6437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 dirty="0"/>
              <a:t>2.1.1. SOP Expression from Truth table</a:t>
            </a:r>
            <a:endParaRPr sz="2800" dirty="0"/>
          </a:p>
        </p:txBody>
      </p:sp>
      <p:sp>
        <p:nvSpPr>
          <p:cNvPr id="141" name="Google Shape;141;p45"/>
          <p:cNvSpPr txBox="1">
            <a:spLocks noGrp="1"/>
          </p:cNvSpPr>
          <p:nvPr>
            <p:ph type="body" idx="1"/>
          </p:nvPr>
        </p:nvSpPr>
        <p:spPr>
          <a:xfrm>
            <a:off x="2631380" y="1981325"/>
            <a:ext cx="6437400" cy="488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SUM OF PRODUCT 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Scan for 1 in output variable (F)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Scan its corresponding input variable,</a:t>
            </a:r>
            <a:endParaRPr dirty="0"/>
          </a:p>
          <a:p>
            <a:pPr marL="5715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Here, A = 0 , B = 1 and C= 1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If input is “1” write the variable as it is and if the variable is “0” then complement the variable. AND the variable together. </a:t>
            </a:r>
            <a:endParaRPr dirty="0"/>
          </a:p>
          <a:p>
            <a:pPr marL="5715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The first expression is  A’.B.C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Do likewise for all the remaining output then OR the AND terms to obtain the output function.</a:t>
            </a:r>
            <a:endParaRPr dirty="0"/>
          </a:p>
          <a:p>
            <a:pPr marL="5715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br>
              <a:rPr lang="en-US" sz="1600" dirty="0"/>
            </a:br>
            <a:r>
              <a:rPr lang="en-US" sz="1600" b="1" dirty="0">
                <a:solidFill>
                  <a:srgbClr val="34444C"/>
                </a:solidFill>
                <a:highlight>
                  <a:srgbClr val="FFFFFF"/>
                </a:highlight>
              </a:rPr>
              <a:t>F = A’BC + AB’C + ABC’+ABC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42" name="Google Shape;142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3" name="Google Shape;14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4887" y="1655159"/>
            <a:ext cx="3974625" cy="29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F1752B-4EB4-94ED-F4C8-411A33851044}"/>
              </a:ext>
            </a:extLst>
          </p:cNvPr>
          <p:cNvSpPr txBox="1"/>
          <p:nvPr/>
        </p:nvSpPr>
        <p:spPr>
          <a:xfrm>
            <a:off x="-124692" y="2275609"/>
            <a:ext cx="35017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2. Boolean Expression Reduction</a:t>
            </a:r>
            <a:endParaRPr lang="en-US" sz="1200" b="1" dirty="0"/>
          </a:p>
          <a:p>
            <a:r>
              <a:rPr lang="en-US" sz="1200" b="1" dirty="0"/>
              <a:t>        2.1. Boolean Expression </a:t>
            </a:r>
          </a:p>
          <a:p>
            <a:r>
              <a:rPr lang="en-US" sz="1200" b="1" dirty="0"/>
              <a:t>             from Truth table</a:t>
            </a:r>
          </a:p>
          <a:p>
            <a:r>
              <a:rPr lang="en-US" sz="1200" dirty="0"/>
              <a:t>        2.1.1. SOP Expression from</a:t>
            </a:r>
          </a:p>
          <a:p>
            <a:r>
              <a:rPr lang="en-US" sz="1200" dirty="0"/>
              <a:t>                  Truth table</a:t>
            </a:r>
          </a:p>
          <a:p>
            <a:r>
              <a:rPr lang="en-US" sz="1200" dirty="0"/>
              <a:t>        2.1.2. SOP Expression from</a:t>
            </a:r>
          </a:p>
          <a:p>
            <a:r>
              <a:rPr lang="en-US" sz="1200" dirty="0"/>
              <a:t>                  Truth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6"/>
          <p:cNvSpPr txBox="1">
            <a:spLocks noGrp="1"/>
          </p:cNvSpPr>
          <p:nvPr>
            <p:ph type="title"/>
          </p:nvPr>
        </p:nvSpPr>
        <p:spPr>
          <a:xfrm>
            <a:off x="2953575" y="182953"/>
            <a:ext cx="10267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2.1.2. POS Expression from Truth table</a:t>
            </a:r>
            <a:endParaRPr sz="2400" dirty="0"/>
          </a:p>
        </p:txBody>
      </p:sp>
      <p:sp>
        <p:nvSpPr>
          <p:cNvPr id="152" name="Google Shape;152;p46"/>
          <p:cNvSpPr txBox="1">
            <a:spLocks noGrp="1"/>
          </p:cNvSpPr>
          <p:nvPr>
            <p:ph type="body" idx="1"/>
          </p:nvPr>
        </p:nvSpPr>
        <p:spPr>
          <a:xfrm>
            <a:off x="2626364" y="1550217"/>
            <a:ext cx="5343463" cy="4528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PRODUCT OF SUM 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Scan for 0 in output variable (F)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Scan its corresponding input variable,</a:t>
            </a:r>
            <a:endParaRPr dirty="0"/>
          </a:p>
          <a:p>
            <a:pPr marL="5715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Here, A = 0 , B = 0 and C= 0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If input is “0” write the variable as it is and if the variable is “1” then complement the variable. OR the variable together. </a:t>
            </a:r>
            <a:endParaRPr dirty="0"/>
          </a:p>
          <a:p>
            <a:pPr marL="5715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The first expression is  A+B+C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000" dirty="0"/>
              <a:t>Do likewise for all the remaining output then AND the Or terms to obtain the output function.</a:t>
            </a:r>
            <a:endParaRPr dirty="0"/>
          </a:p>
          <a:p>
            <a:pPr marL="5715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br>
              <a:rPr lang="en-US" sz="1600" dirty="0"/>
            </a:br>
            <a:r>
              <a:rPr lang="en-US" sz="1600" b="1" dirty="0">
                <a:solidFill>
                  <a:srgbClr val="34444C"/>
                </a:solidFill>
                <a:highlight>
                  <a:srgbClr val="FFFFFF"/>
                </a:highlight>
              </a:rPr>
              <a:t>F = (A + B + C) (A + B + C ‘) (A + B’ + C) (A’ + B + C)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53" name="Google Shape;15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4" name="Google Shape;15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0587" y="1932062"/>
            <a:ext cx="3974625" cy="29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A00968-EEE0-5041-CC54-1F195E7377FA}"/>
              </a:ext>
            </a:extLst>
          </p:cNvPr>
          <p:cNvSpPr txBox="1"/>
          <p:nvPr/>
        </p:nvSpPr>
        <p:spPr>
          <a:xfrm>
            <a:off x="-124692" y="2275609"/>
            <a:ext cx="35017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2. Boolean Expression Reduction</a:t>
            </a:r>
            <a:endParaRPr lang="en-US" sz="1200" b="1" dirty="0"/>
          </a:p>
          <a:p>
            <a:r>
              <a:rPr lang="en-US" sz="1200" b="1" dirty="0"/>
              <a:t>        </a:t>
            </a:r>
            <a:r>
              <a:rPr lang="en-US" sz="1200" dirty="0"/>
              <a:t>2.1. Boolean Expression </a:t>
            </a:r>
          </a:p>
          <a:p>
            <a:r>
              <a:rPr lang="en-US" sz="1200" dirty="0"/>
              <a:t>             from Truth table</a:t>
            </a:r>
          </a:p>
          <a:p>
            <a:r>
              <a:rPr lang="en-US" sz="1200" b="1" dirty="0"/>
              <a:t>        </a:t>
            </a:r>
            <a:r>
              <a:rPr lang="en-US" sz="1200" dirty="0"/>
              <a:t>2.1.1. SOP Expression from</a:t>
            </a:r>
          </a:p>
          <a:p>
            <a:r>
              <a:rPr lang="en-US" sz="1200" dirty="0"/>
              <a:t>                  Truth table</a:t>
            </a:r>
          </a:p>
          <a:p>
            <a:r>
              <a:rPr lang="en-US" sz="1200" dirty="0"/>
              <a:t>        </a:t>
            </a:r>
            <a:r>
              <a:rPr lang="en-US" sz="1200" b="1" dirty="0"/>
              <a:t>2.1.2. POS Expression from</a:t>
            </a:r>
          </a:p>
          <a:p>
            <a:r>
              <a:rPr lang="en-US" sz="1200" b="1" dirty="0"/>
              <a:t>                  Truth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2605800" y="365125"/>
            <a:ext cx="8748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3. Circuit Design</a:t>
            </a:r>
            <a:endParaRPr sz="2400" dirty="0"/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b="1"/>
          </a:p>
          <a:p>
            <a:pPr marL="228600" lvl="0" indent="-133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/>
          </a:p>
        </p:txBody>
      </p:sp>
      <p:sp>
        <p:nvSpPr>
          <p:cNvPr id="163" name="Google Shape;163;p4"/>
          <p:cNvSpPr txBox="1"/>
          <p:nvPr/>
        </p:nvSpPr>
        <p:spPr>
          <a:xfrm>
            <a:off x="2689500" y="1498131"/>
            <a:ext cx="87480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Steps starting from given circuit requirements in the form of a table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Formulate a Boolean expression for the output function from the given table Using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SOP or POS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this expression as much as possible using Boolean algebra.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the circuit corresponding to the simplified output function.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>
            <a:spLocks noGrp="1"/>
          </p:cNvSpPr>
          <p:nvPr>
            <p:ph type="sldNum" idx="12"/>
          </p:nvPr>
        </p:nvSpPr>
        <p:spPr>
          <a:xfrm>
            <a:off x="8077201" y="6267451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D754E-5DEC-9B3A-65EB-53630D147F6F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2744198" y="182953"/>
            <a:ext cx="7239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sz="2400" dirty="0"/>
          </a:p>
        </p:txBody>
      </p:sp>
      <p:sp>
        <p:nvSpPr>
          <p:cNvPr id="172" name="Google Shape;172;p5"/>
          <p:cNvSpPr txBox="1"/>
          <p:nvPr/>
        </p:nvSpPr>
        <p:spPr>
          <a:xfrm>
            <a:off x="3254600" y="1690701"/>
            <a:ext cx="8627400" cy="235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will design a circuit corresponding to the following truth table. The output function is labelled X.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3562" y="3831666"/>
            <a:ext cx="344487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 txBox="1">
            <a:spLocks noGrp="1"/>
          </p:cNvSpPr>
          <p:nvPr>
            <p:ph type="sldNum" idx="12"/>
          </p:nvPr>
        </p:nvSpPr>
        <p:spPr>
          <a:xfrm>
            <a:off x="8077201" y="6267451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430E62-8ABD-3727-0AB8-0D6A58867CC9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>
            <a:spLocks noGrp="1"/>
          </p:cNvSpPr>
          <p:nvPr>
            <p:ph type="title"/>
          </p:nvPr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sz="2400" dirty="0"/>
          </a:p>
        </p:txBody>
      </p:sp>
      <p:sp>
        <p:nvSpPr>
          <p:cNvPr id="182" name="Google Shape;18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b="1"/>
          </a:p>
          <a:p>
            <a:pPr marL="228600" lvl="0" indent="-133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/>
          </a:p>
        </p:txBody>
      </p:sp>
      <p:sp>
        <p:nvSpPr>
          <p:cNvPr id="183" name="Google Shape;183;p6"/>
          <p:cNvSpPr txBox="1"/>
          <p:nvPr/>
        </p:nvSpPr>
        <p:spPr>
          <a:xfrm>
            <a:off x="2665778" y="1350513"/>
            <a:ext cx="8531100" cy="4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79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1.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scan the output column for occurrences of 1. In this example there are three (lines 1, 2 and 4).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79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these lines construct a sub-expression involving A and B and the operations AND (⋅) and NOT (  ͞    ) only that will return the value 1 for the corresponding input values.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79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row 1, A = 1 and B = 1 so A ⋅ B will return the value 1 for these input values and for no others.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"/>
          <p:cNvSpPr txBox="1">
            <a:spLocks noGrp="1"/>
          </p:cNvSpPr>
          <p:nvPr>
            <p:ph type="sldNum" idx="12"/>
          </p:nvPr>
        </p:nvSpPr>
        <p:spPr>
          <a:xfrm>
            <a:off x="8077201" y="6267451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04079-DC64-A93F-C1CB-3331EDD54955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2702348" y="1808026"/>
            <a:ext cx="8531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row 2, A = 1 and B = 0 so A ⋅ B will return the required 1 for these values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7"/>
          <p:cNvCxnSpPr/>
          <p:nvPr/>
        </p:nvCxnSpPr>
        <p:spPr>
          <a:xfrm>
            <a:off x="6836780" y="1909762"/>
            <a:ext cx="173100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7"/>
          <p:cNvSpPr txBox="1"/>
          <p:nvPr/>
        </p:nvSpPr>
        <p:spPr>
          <a:xfrm>
            <a:off x="2710298" y="2649538"/>
            <a:ext cx="853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Finally, with A = 0 and B = 0, row 4 will require A ⋅ B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2710297" y="3327399"/>
            <a:ext cx="85311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 expression obtained are then combined together using OR (+) operations. The final expression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6" name="Google Shape;196;p7"/>
          <p:cNvCxnSpPr/>
          <p:nvPr/>
        </p:nvCxnSpPr>
        <p:spPr>
          <a:xfrm>
            <a:off x="8850663" y="2712663"/>
            <a:ext cx="186300" cy="1110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7" name="Google Shape;197;p7"/>
          <p:cNvCxnSpPr/>
          <p:nvPr/>
        </p:nvCxnSpPr>
        <p:spPr>
          <a:xfrm>
            <a:off x="9295729" y="2718216"/>
            <a:ext cx="173100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7"/>
          <p:cNvSpPr txBox="1">
            <a:spLocks noGrp="1"/>
          </p:cNvSpPr>
          <p:nvPr>
            <p:ph type="sldNum" idx="12"/>
          </p:nvPr>
        </p:nvSpPr>
        <p:spPr>
          <a:xfrm>
            <a:off x="8811492" y="6486525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2591" y="5020599"/>
            <a:ext cx="41148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 descr="https://lh7-us.googleusercontent.com/ebtfHHfJOdpFG6G0XN_1AHl3zzb-4TmgULrh1S6AY05L8s-k96LzQWAT6O_mKqfMp8LCMe8vnciZYpPLdna1Yq4JH-WfADjL8UxgDvGoMogyfkTlD3_ekFAMMEO_OAC8BNqRTGnkMIbHw88nT0ifU9onggsMD9_7=s20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6597" y="424733"/>
            <a:ext cx="2035173" cy="4210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C5FAEB-9CE8-02D8-83B6-03BB346D8C2A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  <p:sp>
        <p:nvSpPr>
          <p:cNvPr id="5" name="Google Shape;181;p6">
            <a:extLst>
              <a:ext uri="{FF2B5EF4-FFF2-40B4-BE49-F238E27FC236}">
                <a16:creationId xmlns:a16="http://schemas.microsoft.com/office/drawing/2014/main" id="{004381F0-B94A-8030-211E-7953B8E677B6}"/>
              </a:ext>
            </a:extLst>
          </p:cNvPr>
          <p:cNvSpPr txBox="1">
            <a:spLocks/>
          </p:cNvSpPr>
          <p:nvPr/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/>
              <a:t>3. Circuit Design (Contd.):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9012" y="3031872"/>
            <a:ext cx="7004925" cy="31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/>
        </p:nvSpPr>
        <p:spPr>
          <a:xfrm>
            <a:off x="2746256" y="1568763"/>
            <a:ext cx="8531225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Simplify the Boolean Expression.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>
            <a:spLocks noGrp="1"/>
          </p:cNvSpPr>
          <p:nvPr>
            <p:ph type="sldNum" idx="12"/>
          </p:nvPr>
        </p:nvSpPr>
        <p:spPr>
          <a:xfrm>
            <a:off x="8941650" y="6270797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0357" y="2365136"/>
            <a:ext cx="498157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1;p6">
            <a:extLst>
              <a:ext uri="{FF2B5EF4-FFF2-40B4-BE49-F238E27FC236}">
                <a16:creationId xmlns:a16="http://schemas.microsoft.com/office/drawing/2014/main" id="{64393FA1-8608-E20D-C152-83BD8BA3A3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A12D8-E383-AF3E-4A47-857C95F5A5BF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4554" y="2517885"/>
            <a:ext cx="5910262" cy="15954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2889734" y="1623272"/>
            <a:ext cx="885199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circuit for the simplified output function X  requires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two gates: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9"/>
          <p:cNvGrpSpPr/>
          <p:nvPr/>
        </p:nvGrpSpPr>
        <p:grpSpPr>
          <a:xfrm>
            <a:off x="2997069" y="4449376"/>
            <a:ext cx="10887634" cy="461665"/>
            <a:chOff x="281756" y="4202477"/>
            <a:chExt cx="8531225" cy="461675"/>
          </a:xfrm>
        </p:grpSpPr>
        <p:sp>
          <p:nvSpPr>
            <p:cNvPr id="221" name="Google Shape;221;p9"/>
            <p:cNvSpPr/>
            <p:nvPr/>
          </p:nvSpPr>
          <p:spPr>
            <a:xfrm>
              <a:off x="281756" y="4202477"/>
              <a:ext cx="8531225" cy="4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Check that the truth table for X =  A + B agrees with the original.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2" name="Google Shape;222;p9"/>
            <p:cNvCxnSpPr/>
            <p:nvPr/>
          </p:nvCxnSpPr>
          <p:spPr>
            <a:xfrm>
              <a:off x="4012485" y="4202477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3" name="Google Shape;223;p9"/>
          <p:cNvSpPr txBox="1"/>
          <p:nvPr/>
        </p:nvSpPr>
        <p:spPr>
          <a:xfrm>
            <a:off x="2997069" y="5268449"/>
            <a:ext cx="85312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method extends easily to three or more input pulses.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>
            <a:spLocks noGrp="1"/>
          </p:cNvSpPr>
          <p:nvPr>
            <p:ph type="sldNum" idx="12"/>
          </p:nvPr>
        </p:nvSpPr>
        <p:spPr>
          <a:xfrm>
            <a:off x="8077201" y="6267451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5FE81-CF0E-E941-4CAA-9979094BCB02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  <p:sp>
        <p:nvSpPr>
          <p:cNvPr id="7" name="Google Shape;181;p6">
            <a:extLst>
              <a:ext uri="{FF2B5EF4-FFF2-40B4-BE49-F238E27FC236}">
                <a16:creationId xmlns:a16="http://schemas.microsoft.com/office/drawing/2014/main" id="{093717FD-BFB4-4A1C-E9C4-D80B2C8F78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/>
        </p:nvSpPr>
        <p:spPr>
          <a:xfrm>
            <a:off x="2694009" y="1275189"/>
            <a:ext cx="924385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Example: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Circuit corresponding to: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p10"/>
          <p:cNvGraphicFramePr/>
          <p:nvPr>
            <p:extLst>
              <p:ext uri="{D42A27DB-BD31-4B8C-83A1-F6EECF244321}">
                <p14:modId xmlns:p14="http://schemas.microsoft.com/office/powerpoint/2010/main" val="3729103515"/>
              </p:ext>
            </p:extLst>
          </p:nvPr>
        </p:nvGraphicFramePr>
        <p:xfrm>
          <a:off x="4044521" y="2258986"/>
          <a:ext cx="3692975" cy="4379940"/>
        </p:xfrm>
        <a:graphic>
          <a:graphicData uri="http://schemas.openxmlformats.org/drawingml/2006/table">
            <a:tbl>
              <a:tblPr firstRow="1" bandRow="1">
                <a:noFill/>
                <a:tableStyleId>{915FB6B5-423A-42E7-AE14-769630BD880C}</a:tableStyleId>
              </a:tblPr>
              <a:tblGrid>
                <a:gridCol w="73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A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B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X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4" name="Google Shape;234;p10"/>
          <p:cNvSpPr txBox="1">
            <a:spLocks noGrp="1"/>
          </p:cNvSpPr>
          <p:nvPr>
            <p:ph type="sldNum" idx="12"/>
          </p:nvPr>
        </p:nvSpPr>
        <p:spPr>
          <a:xfrm>
            <a:off x="8077201" y="6267451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81;p6">
            <a:extLst>
              <a:ext uri="{FF2B5EF4-FFF2-40B4-BE49-F238E27FC236}">
                <a16:creationId xmlns:a16="http://schemas.microsoft.com/office/drawing/2014/main" id="{AE0B4C4D-1BD1-C17C-83DB-A1D452C9A033}"/>
              </a:ext>
            </a:extLst>
          </p:cNvPr>
          <p:cNvSpPr txBox="1">
            <a:spLocks/>
          </p:cNvSpPr>
          <p:nvPr/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DCED9-BEF2-0BD5-AF21-B07466EE33AB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/>
        </p:nvSpPr>
        <p:spPr>
          <a:xfrm>
            <a:off x="2694712" y="1756108"/>
            <a:ext cx="911973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1 in lines 1, 3 and 5 of the output column.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3" name="Google Shape;243;p11"/>
          <p:cNvGrpSpPr/>
          <p:nvPr/>
        </p:nvGrpSpPr>
        <p:grpSpPr>
          <a:xfrm>
            <a:off x="2694712" y="2465466"/>
            <a:ext cx="9743301" cy="830997"/>
            <a:chOff x="285749" y="2352695"/>
            <a:chExt cx="8531225" cy="831014"/>
          </a:xfrm>
        </p:grpSpPr>
        <p:sp>
          <p:nvSpPr>
            <p:cNvPr id="244" name="Google Shape;244;p11"/>
            <p:cNvSpPr txBox="1"/>
            <p:nvPr/>
          </p:nvSpPr>
          <p:spPr>
            <a:xfrm>
              <a:off x="285749" y="2352695"/>
              <a:ext cx="8531225" cy="831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sub-expressions which will return 1 in these lines are, respectively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⋅ B ⋅ C, A ⋅ B ⋅ C and A ⋅ B ⋅ C</a:t>
              </a:r>
              <a:endParaRPr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5" name="Google Shape;245;p11"/>
            <p:cNvCxnSpPr/>
            <p:nvPr/>
          </p:nvCxnSpPr>
          <p:spPr>
            <a:xfrm>
              <a:off x="751365" y="2788096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1783549" y="2788096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7" name="Google Shape;247;p11"/>
          <p:cNvSpPr txBox="1"/>
          <p:nvPr/>
        </p:nvSpPr>
        <p:spPr>
          <a:xfrm>
            <a:off x="2694712" y="3582539"/>
            <a:ext cx="97433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Boolean Expression is therefore given 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11"/>
          <p:cNvGrpSpPr/>
          <p:nvPr/>
        </p:nvGrpSpPr>
        <p:grpSpPr>
          <a:xfrm>
            <a:off x="2694711" y="4441304"/>
            <a:ext cx="5707205" cy="830956"/>
            <a:chOff x="-579975" y="4875775"/>
            <a:chExt cx="4693370" cy="832441"/>
          </a:xfrm>
        </p:grpSpPr>
        <p:sp>
          <p:nvSpPr>
            <p:cNvPr id="249" name="Google Shape;249;p11"/>
            <p:cNvSpPr/>
            <p:nvPr/>
          </p:nvSpPr>
          <p:spPr>
            <a:xfrm>
              <a:off x="-579975" y="4875775"/>
              <a:ext cx="4693370" cy="832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 = (A ⋅ B ⋅ C) + (A ⋅ B ⋅ C) + (A ⋅ B ⋅C)</a:t>
              </a:r>
              <a:endPara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0" name="Google Shape;250;p11"/>
            <p:cNvCxnSpPr/>
            <p:nvPr/>
          </p:nvCxnSpPr>
          <p:spPr>
            <a:xfrm>
              <a:off x="1711112" y="4984032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2662747" y="4984032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2" name="Google Shape;252;p11"/>
          <p:cNvSpPr txBox="1">
            <a:spLocks noGrp="1"/>
          </p:cNvSpPr>
          <p:nvPr>
            <p:ph type="sldNum" idx="12"/>
          </p:nvPr>
        </p:nvSpPr>
        <p:spPr>
          <a:xfrm>
            <a:off x="9538855" y="6509476"/>
            <a:ext cx="20079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3EA77-B9D5-05D2-4296-CD1FD0E41E3C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  <p:sp>
        <p:nvSpPr>
          <p:cNvPr id="7" name="Google Shape;181;p6">
            <a:extLst>
              <a:ext uri="{FF2B5EF4-FFF2-40B4-BE49-F238E27FC236}">
                <a16:creationId xmlns:a16="http://schemas.microsoft.com/office/drawing/2014/main" id="{F221FD8C-4F50-5C55-973D-4E408E40CC6D}"/>
              </a:ext>
            </a:extLst>
          </p:cNvPr>
          <p:cNvSpPr txBox="1">
            <a:spLocks/>
          </p:cNvSpPr>
          <p:nvPr/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/>
        </p:nvSpPr>
        <p:spPr>
          <a:xfrm>
            <a:off x="2868930" y="1214368"/>
            <a:ext cx="85312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 : Simplify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3299401" y="5626178"/>
            <a:ext cx="85312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simplified Boolean Expression is therefore given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>
            <a:spLocks noGrp="1"/>
          </p:cNvSpPr>
          <p:nvPr>
            <p:ph type="sldNum" idx="12"/>
          </p:nvPr>
        </p:nvSpPr>
        <p:spPr>
          <a:xfrm>
            <a:off x="9577388" y="6486525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12"/>
          <p:cNvGrpSpPr/>
          <p:nvPr/>
        </p:nvGrpSpPr>
        <p:grpSpPr>
          <a:xfrm>
            <a:off x="5807805" y="1239579"/>
            <a:ext cx="5328807" cy="461666"/>
            <a:chOff x="1950482" y="4577049"/>
            <a:chExt cx="4567932" cy="462490"/>
          </a:xfrm>
        </p:grpSpPr>
        <p:sp>
          <p:nvSpPr>
            <p:cNvPr id="264" name="Google Shape;264;p12"/>
            <p:cNvSpPr/>
            <p:nvPr/>
          </p:nvSpPr>
          <p:spPr>
            <a:xfrm>
              <a:off x="1950482" y="4577049"/>
              <a:ext cx="4567932" cy="462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 = (A ⋅ B ⋅ C) + (A ⋅ B ⋅ C) + (A ⋅ B ⋅ C)</a:t>
              </a:r>
              <a:endParaRPr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5" name="Google Shape;265;p12"/>
            <p:cNvCxnSpPr/>
            <p:nvPr/>
          </p:nvCxnSpPr>
          <p:spPr>
            <a:xfrm>
              <a:off x="4350019" y="4684111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6" name="Google Shape;266;p12"/>
            <p:cNvCxnSpPr/>
            <p:nvPr/>
          </p:nvCxnSpPr>
          <p:spPr>
            <a:xfrm>
              <a:off x="5388409" y="4689926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7" name="Google Shape;267;p12"/>
          <p:cNvGrpSpPr/>
          <p:nvPr/>
        </p:nvGrpSpPr>
        <p:grpSpPr>
          <a:xfrm>
            <a:off x="4541602" y="2310285"/>
            <a:ext cx="6939748" cy="2677709"/>
            <a:chOff x="1960571" y="4862398"/>
            <a:chExt cx="5771100" cy="2682000"/>
          </a:xfrm>
        </p:grpSpPr>
        <p:sp>
          <p:nvSpPr>
            <p:cNvPr id="268" name="Google Shape;268;p12"/>
            <p:cNvSpPr/>
            <p:nvPr/>
          </p:nvSpPr>
          <p:spPr>
            <a:xfrm>
              <a:off x="1960571" y="4862398"/>
              <a:ext cx="5771100" cy="26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= (A ⋅ B ⋅ C) + (A ⋅ B ⋅ C) + (A ⋅ B ⋅ C)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= A.C (B + B ) + (A ⋅ B ⋅ C)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= A.C .1 + (A ⋅ B ⋅ C)	 	(Complement law)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= A.C + (A ⋅ B ⋅ C)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= C . ( A + A . B)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 = C . (A + B) 			(Distributive law)</a:t>
              </a:r>
              <a:endParaRPr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9" name="Google Shape;269;p12"/>
            <p:cNvCxnSpPr/>
            <p:nvPr/>
          </p:nvCxnSpPr>
          <p:spPr>
            <a:xfrm>
              <a:off x="4321669" y="4919176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0" name="Google Shape;270;p12"/>
            <p:cNvCxnSpPr/>
            <p:nvPr/>
          </p:nvCxnSpPr>
          <p:spPr>
            <a:xfrm>
              <a:off x="5326286" y="4905146"/>
              <a:ext cx="173160" cy="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271" name="Google Shape;271;p12"/>
          <p:cNvCxnSpPr/>
          <p:nvPr/>
        </p:nvCxnSpPr>
        <p:spPr>
          <a:xfrm>
            <a:off x="6360103" y="2852737"/>
            <a:ext cx="173038" cy="1587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12"/>
          <p:cNvCxnSpPr/>
          <p:nvPr/>
        </p:nvCxnSpPr>
        <p:spPr>
          <a:xfrm>
            <a:off x="6324600" y="4558578"/>
            <a:ext cx="173037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12"/>
          <p:cNvCxnSpPr>
            <a:cxnSpLocks/>
          </p:cNvCxnSpPr>
          <p:nvPr/>
        </p:nvCxnSpPr>
        <p:spPr>
          <a:xfrm>
            <a:off x="7189647" y="2867456"/>
            <a:ext cx="173037" cy="1587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12"/>
          <p:cNvCxnSpPr/>
          <p:nvPr/>
        </p:nvCxnSpPr>
        <p:spPr>
          <a:xfrm>
            <a:off x="6447994" y="3306472"/>
            <a:ext cx="173038" cy="1587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12"/>
          <p:cNvCxnSpPr/>
          <p:nvPr/>
        </p:nvCxnSpPr>
        <p:spPr>
          <a:xfrm>
            <a:off x="6101194" y="4140346"/>
            <a:ext cx="173037" cy="1587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p12"/>
          <p:cNvSpPr/>
          <p:nvPr/>
        </p:nvSpPr>
        <p:spPr>
          <a:xfrm>
            <a:off x="5565617" y="6189453"/>
            <a:ext cx="2765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C . (A + B)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81;p6">
            <a:extLst>
              <a:ext uri="{FF2B5EF4-FFF2-40B4-BE49-F238E27FC236}">
                <a16:creationId xmlns:a16="http://schemas.microsoft.com/office/drawing/2014/main" id="{624CB29D-DB7A-5370-C4FC-B185DCA6FFB4}"/>
              </a:ext>
            </a:extLst>
          </p:cNvPr>
          <p:cNvSpPr txBox="1">
            <a:spLocks/>
          </p:cNvSpPr>
          <p:nvPr/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AEDD3-A03E-02FE-D2C7-41EFA5C824F2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0083" y="2784475"/>
            <a:ext cx="6376575" cy="22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 txBox="1"/>
          <p:nvPr/>
        </p:nvSpPr>
        <p:spPr>
          <a:xfrm>
            <a:off x="2659209" y="1885452"/>
            <a:ext cx="85312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for (A + B) ⋅ C is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3"/>
          <p:cNvSpPr txBox="1">
            <a:spLocks noGrp="1"/>
          </p:cNvSpPr>
          <p:nvPr>
            <p:ph type="sldNum" idx="12"/>
          </p:nvPr>
        </p:nvSpPr>
        <p:spPr>
          <a:xfrm>
            <a:off x="9648826" y="6486525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64AE7-561C-A1B3-162D-434BC2F5F958}"/>
              </a:ext>
            </a:extLst>
          </p:cNvPr>
          <p:cNvSpPr txBox="1"/>
          <p:nvPr/>
        </p:nvSpPr>
        <p:spPr>
          <a:xfrm>
            <a:off x="12982" y="2275609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3. Circuit Design (Contd.):</a:t>
            </a:r>
          </a:p>
        </p:txBody>
      </p:sp>
      <p:sp>
        <p:nvSpPr>
          <p:cNvPr id="7" name="Google Shape;181;p6">
            <a:extLst>
              <a:ext uri="{FF2B5EF4-FFF2-40B4-BE49-F238E27FC236}">
                <a16:creationId xmlns:a16="http://schemas.microsoft.com/office/drawing/2014/main" id="{AB3122F1-665C-2404-E3A4-F95831257706}"/>
              </a:ext>
            </a:extLst>
          </p:cNvPr>
          <p:cNvSpPr txBox="1">
            <a:spLocks/>
          </p:cNvSpPr>
          <p:nvPr/>
        </p:nvSpPr>
        <p:spPr>
          <a:xfrm>
            <a:off x="2665778" y="122900"/>
            <a:ext cx="9200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 dirty="0"/>
              <a:t>3. Circuit Design (Contd.):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 txBox="1">
            <a:spLocks noGrp="1"/>
          </p:cNvSpPr>
          <p:nvPr>
            <p:ph type="title"/>
          </p:nvPr>
        </p:nvSpPr>
        <p:spPr>
          <a:xfrm>
            <a:off x="2637125" y="2484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4.  Exercises ……</a:t>
            </a:r>
            <a:endParaRPr sz="2400" dirty="0"/>
          </a:p>
        </p:txBody>
      </p:sp>
      <p:sp>
        <p:nvSpPr>
          <p:cNvPr id="294" name="Google Shape;294;p14"/>
          <p:cNvSpPr txBox="1"/>
          <p:nvPr/>
        </p:nvSpPr>
        <p:spPr>
          <a:xfrm>
            <a:off x="3078163" y="1343026"/>
            <a:ext cx="82772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1.Design a Circuit corresponding to following truth tables: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5" name="Google Shape;295;p14"/>
          <p:cNvGraphicFramePr/>
          <p:nvPr/>
        </p:nvGraphicFramePr>
        <p:xfrm>
          <a:off x="7640638" y="1942456"/>
          <a:ext cx="3714750" cy="4379940"/>
        </p:xfrm>
        <a:graphic>
          <a:graphicData uri="http://schemas.openxmlformats.org/drawingml/2006/table">
            <a:tbl>
              <a:tblPr firstRow="1" bandRow="1">
                <a:noFill/>
                <a:tableStyleId>{915FB6B5-423A-42E7-AE14-769630BD880C}</a:tableStyleId>
              </a:tblPr>
              <a:tblGrid>
                <a:gridCol w="81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6" name="Google Shape;296;p14"/>
          <p:cNvSpPr txBox="1">
            <a:spLocks noGrp="1"/>
          </p:cNvSpPr>
          <p:nvPr>
            <p:ph type="sldNum" idx="12"/>
          </p:nvPr>
        </p:nvSpPr>
        <p:spPr>
          <a:xfrm>
            <a:off x="9263063" y="6381751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7" name="Google Shape;297;p14"/>
          <p:cNvGraphicFramePr/>
          <p:nvPr/>
        </p:nvGraphicFramePr>
        <p:xfrm>
          <a:off x="2883324" y="1977537"/>
          <a:ext cx="3714750" cy="4379940"/>
        </p:xfrm>
        <a:graphic>
          <a:graphicData uri="http://schemas.openxmlformats.org/drawingml/2006/table">
            <a:tbl>
              <a:tblPr firstRow="1" bandRow="1">
                <a:noFill/>
                <a:tableStyleId>{915FB6B5-423A-42E7-AE14-769630BD880C}</a:tableStyleId>
              </a:tblPr>
              <a:tblGrid>
                <a:gridCol w="81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 dirty="0"/>
                    </a:p>
                  </a:txBody>
                  <a:tcPr marL="120975" marR="120975" marT="60450" marB="60450" anchor="ctr" anchorCtr="1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557081-3B7B-55D0-064D-97B8895808DE}"/>
              </a:ext>
            </a:extLst>
          </p:cNvPr>
          <p:cNvSpPr txBox="1"/>
          <p:nvPr/>
        </p:nvSpPr>
        <p:spPr>
          <a:xfrm>
            <a:off x="611174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4. Exercises 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>
            <a:spLocks noGrp="1"/>
          </p:cNvSpPr>
          <p:nvPr>
            <p:ph type="title"/>
          </p:nvPr>
        </p:nvSpPr>
        <p:spPr>
          <a:xfrm>
            <a:off x="2951455" y="596900"/>
            <a:ext cx="88582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/>
              <a:t>4. Exercises ……</a:t>
            </a:r>
            <a:endParaRPr/>
          </a:p>
        </p:txBody>
      </p:sp>
      <p:sp>
        <p:nvSpPr>
          <p:cNvPr id="305" name="Google Shape;305;p15"/>
          <p:cNvSpPr txBox="1">
            <a:spLocks noGrp="1"/>
          </p:cNvSpPr>
          <p:nvPr>
            <p:ph type="body" idx="1"/>
          </p:nvPr>
        </p:nvSpPr>
        <p:spPr>
          <a:xfrm>
            <a:off x="2951456" y="1525587"/>
            <a:ext cx="8531225" cy="42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/>
              <a:t>Simplify and construct the logic circuit: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A’.B’ + (A.B)’</a:t>
            </a:r>
            <a:endParaRPr dirty="0"/>
          </a:p>
          <a:p>
            <a:pPr marL="228600" lvl="0" indent="-22860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(A + B).(A + B) + A.(A + B’)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(A’. B + A.B’)’</a:t>
            </a:r>
            <a:endParaRPr dirty="0"/>
          </a:p>
          <a:p>
            <a:pPr marL="228600" lvl="0" indent="-22860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((A + C).(AB)’ + (BC + A’)’)’</a:t>
            </a:r>
            <a:endParaRPr dirty="0"/>
          </a:p>
          <a:p>
            <a:pPr marL="228600" lvl="0" indent="-22860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/>
              <a:t>(A.B’.C’ + A’.B’.C+A.B.C+A’.B.C’)</a:t>
            </a:r>
            <a:endParaRPr dirty="0"/>
          </a:p>
          <a:p>
            <a:pPr marL="228600" lvl="0" indent="-5080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6" name="Google Shape;306;p15"/>
          <p:cNvCxnSpPr/>
          <p:nvPr/>
        </p:nvCxnSpPr>
        <p:spPr>
          <a:xfrm>
            <a:off x="5138738" y="3651250"/>
            <a:ext cx="160338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307" name="Google Shape;307;p15"/>
          <p:cNvSpPr txBox="1">
            <a:spLocks noGrp="1"/>
          </p:cNvSpPr>
          <p:nvPr>
            <p:ph type="sldNum" idx="12"/>
          </p:nvPr>
        </p:nvSpPr>
        <p:spPr>
          <a:xfrm>
            <a:off x="8834439" y="6596063"/>
            <a:ext cx="2092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495E23-B1DD-1F95-399D-3A31BFE67931}"/>
              </a:ext>
            </a:extLst>
          </p:cNvPr>
          <p:cNvSpPr txBox="1"/>
          <p:nvPr/>
        </p:nvSpPr>
        <p:spPr>
          <a:xfrm>
            <a:off x="611174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4. Exercises 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>
            <a:spLocks noGrp="1"/>
          </p:cNvSpPr>
          <p:nvPr>
            <p:ph type="title"/>
          </p:nvPr>
        </p:nvSpPr>
        <p:spPr>
          <a:xfrm>
            <a:off x="2719421" y="424733"/>
            <a:ext cx="1156716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5. Addition Rules as a Table</a:t>
            </a:r>
            <a:endParaRPr sz="2400" dirty="0"/>
          </a:p>
        </p:txBody>
      </p:sp>
      <p:sp>
        <p:nvSpPr>
          <p:cNvPr id="316" name="Google Shape;316;p16"/>
          <p:cNvSpPr txBox="1">
            <a:spLocks noGrp="1"/>
          </p:cNvSpPr>
          <p:nvPr>
            <p:ph type="body" idx="1"/>
          </p:nvPr>
        </p:nvSpPr>
        <p:spPr>
          <a:xfrm>
            <a:off x="2708215" y="1970959"/>
            <a:ext cx="11813689" cy="160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Number 1 and Number 2 are the Inputs.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Sum and Carry are the results after addition.</a:t>
            </a:r>
            <a:endParaRPr dirty="0"/>
          </a:p>
        </p:txBody>
      </p:sp>
      <p:sp>
        <p:nvSpPr>
          <p:cNvPr id="317" name="Google Shape;317;p16"/>
          <p:cNvSpPr txBox="1">
            <a:spLocks noGrp="1"/>
          </p:cNvSpPr>
          <p:nvPr>
            <p:ph type="sldNum" idx="12"/>
          </p:nvPr>
        </p:nvSpPr>
        <p:spPr>
          <a:xfrm>
            <a:off x="887057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318" name="Google Shape;318;p16"/>
          <p:cNvGraphicFramePr/>
          <p:nvPr/>
        </p:nvGraphicFramePr>
        <p:xfrm>
          <a:off x="3231777" y="3794125"/>
          <a:ext cx="7543800" cy="1976500"/>
        </p:xfrm>
        <a:graphic>
          <a:graphicData uri="http://schemas.openxmlformats.org/drawingml/2006/table">
            <a:tbl>
              <a:tblPr>
                <a:noFill/>
                <a:tableStyleId>{06BE5688-0655-4C88-B4F7-76D8B5D03D96}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Number 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Number 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Result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Carry Over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6F49B6C-7EDE-E60F-37AD-D728938E4F90}"/>
              </a:ext>
            </a:extLst>
          </p:cNvPr>
          <p:cNvSpPr txBox="1"/>
          <p:nvPr/>
        </p:nvSpPr>
        <p:spPr>
          <a:xfrm>
            <a:off x="289056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5. Addition Rules as a Table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"/>
          <p:cNvSpPr txBox="1">
            <a:spLocks noGrp="1"/>
          </p:cNvSpPr>
          <p:nvPr>
            <p:ph type="title"/>
          </p:nvPr>
        </p:nvSpPr>
        <p:spPr>
          <a:xfrm>
            <a:off x="2816372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6. Addition as Logical Functions</a:t>
            </a:r>
            <a:endParaRPr sz="2400" dirty="0"/>
          </a:p>
        </p:txBody>
      </p:sp>
      <p:sp>
        <p:nvSpPr>
          <p:cNvPr id="327" name="Google Shape;327;p17"/>
          <p:cNvSpPr txBox="1">
            <a:spLocks noGrp="1"/>
          </p:cNvSpPr>
          <p:nvPr>
            <p:ph type="body" idx="1"/>
          </p:nvPr>
        </p:nvSpPr>
        <p:spPr>
          <a:xfrm>
            <a:off x="2898642" y="4100682"/>
            <a:ext cx="7313612" cy="251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Assume that SUM is now a truth table Entry then: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Doing the same for CARRY we get:</a:t>
            </a:r>
            <a:endParaRPr dirty="0"/>
          </a:p>
        </p:txBody>
      </p:sp>
      <p:sp>
        <p:nvSpPr>
          <p:cNvPr id="328" name="Google Shape;328;p17"/>
          <p:cNvSpPr txBox="1">
            <a:spLocks noGrp="1"/>
          </p:cNvSpPr>
          <p:nvPr>
            <p:ph type="sldNum" idx="12"/>
          </p:nvPr>
        </p:nvSpPr>
        <p:spPr>
          <a:xfrm>
            <a:off x="9153526" y="63103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aphicFrame>
        <p:nvGraphicFramePr>
          <p:cNvPr id="329" name="Google Shape;329;p17"/>
          <p:cNvGraphicFramePr/>
          <p:nvPr>
            <p:extLst>
              <p:ext uri="{D42A27DB-BD31-4B8C-83A1-F6EECF244321}">
                <p14:modId xmlns:p14="http://schemas.microsoft.com/office/powerpoint/2010/main" val="1027759194"/>
              </p:ext>
            </p:extLst>
          </p:nvPr>
        </p:nvGraphicFramePr>
        <p:xfrm>
          <a:off x="2936742" y="1690689"/>
          <a:ext cx="6356600" cy="2194610"/>
        </p:xfrm>
        <a:graphic>
          <a:graphicData uri="http://schemas.openxmlformats.org/drawingml/2006/table">
            <a:tbl>
              <a:tblPr>
                <a:noFill/>
                <a:tableStyleId>{06BE5688-0655-4C88-B4F7-76D8B5D03D96}</a:tableStyleId>
              </a:tblPr>
              <a:tblGrid>
                <a:gridCol w="15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A </a:t>
                      </a:r>
                      <a:r>
                        <a:rPr lang="en-US" sz="1900" b="1" i="0" u="none" strike="sng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Number 1</a:t>
                      </a:r>
                      <a:endParaRPr sz="19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B </a:t>
                      </a:r>
                      <a:r>
                        <a:rPr lang="en-US" sz="1900" b="1" i="0" u="none" strike="sng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Number 2</a:t>
                      </a:r>
                      <a:endParaRPr sz="1900" b="1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Sum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Carry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30" name="Google Shape;3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6505" y="4793131"/>
            <a:ext cx="3794525" cy="4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6974" y="5784834"/>
            <a:ext cx="21844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64259B-ADD3-B16A-9351-354989E2A393}"/>
              </a:ext>
            </a:extLst>
          </p:cNvPr>
          <p:cNvSpPr txBox="1"/>
          <p:nvPr/>
        </p:nvSpPr>
        <p:spPr>
          <a:xfrm>
            <a:off x="112411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6. Addition as Logical Functions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"/>
          <p:cNvSpPr txBox="1">
            <a:spLocks noGrp="1"/>
          </p:cNvSpPr>
          <p:nvPr>
            <p:ph type="sldNum" idx="12"/>
          </p:nvPr>
        </p:nvSpPr>
        <p:spPr>
          <a:xfrm>
            <a:off x="880586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8"/>
          <p:cNvSpPr txBox="1">
            <a:spLocks noGrp="1"/>
          </p:cNvSpPr>
          <p:nvPr>
            <p:ph type="body" idx="1"/>
          </p:nvPr>
        </p:nvSpPr>
        <p:spPr>
          <a:xfrm>
            <a:off x="2527127" y="1787457"/>
            <a:ext cx="9287337" cy="2588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Combinational logic circuits give us many useful devices.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One of the simplest is the </a:t>
            </a:r>
            <a:r>
              <a:rPr lang="en-US" sz="20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half adder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which finds the sum of two bits.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We can gain some insight as to the construction of a half adder by looking at its truth table, shown at the right.</a:t>
            </a:r>
            <a:endParaRPr sz="2000" dirty="0"/>
          </a:p>
        </p:txBody>
      </p:sp>
      <p:sp>
        <p:nvSpPr>
          <p:cNvPr id="341" name="Google Shape;341;p18"/>
          <p:cNvSpPr txBox="1">
            <a:spLocks noGrp="1"/>
          </p:cNvSpPr>
          <p:nvPr>
            <p:ph type="title"/>
          </p:nvPr>
        </p:nvSpPr>
        <p:spPr>
          <a:xfrm>
            <a:off x="2508126" y="5686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7. Half Adder</a:t>
            </a:r>
            <a:endParaRPr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EED759-889D-0E36-0A58-8BC04E9A3193}"/>
              </a:ext>
            </a:extLst>
          </p:cNvPr>
          <p:cNvSpPr txBox="1"/>
          <p:nvPr/>
        </p:nvSpPr>
        <p:spPr>
          <a:xfrm>
            <a:off x="112411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7.  Half Adder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51" name="Google Shape;35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52" name="Google Shape;352;p19" descr="msotw9_temp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8425" y="1749425"/>
            <a:ext cx="32766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9" descr="msotw9_temp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61188" y="1700213"/>
            <a:ext cx="2659062" cy="2895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4" name="Google Shape;354;p19"/>
          <p:cNvGraphicFramePr/>
          <p:nvPr/>
        </p:nvGraphicFramePr>
        <p:xfrm>
          <a:off x="3755938" y="4955300"/>
          <a:ext cx="5281600" cy="1447850"/>
        </p:xfrm>
        <a:graphic>
          <a:graphicData uri="http://schemas.openxmlformats.org/drawingml/2006/table">
            <a:tbl>
              <a:tblPr>
                <a:noFill/>
                <a:tableStyleId>{06BE5688-0655-4C88-B4F7-76D8B5D03D96}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A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B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 (Sum)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 (Carry)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10"/>
                        <a:buFont typeface="Noto Sans Symbols"/>
                        <a:buNone/>
                      </a:pPr>
                      <a:r>
                        <a:rPr lang="en-US" sz="13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E49E9E-ED66-EA64-617C-6B10CD4FE9C2}"/>
              </a:ext>
            </a:extLst>
          </p:cNvPr>
          <p:cNvSpPr txBox="1"/>
          <p:nvPr/>
        </p:nvSpPr>
        <p:spPr>
          <a:xfrm>
            <a:off x="112411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7.  Half Adder</a:t>
            </a:r>
          </a:p>
        </p:txBody>
      </p:sp>
      <p:sp>
        <p:nvSpPr>
          <p:cNvPr id="3" name="Google Shape;341;p18">
            <a:extLst>
              <a:ext uri="{FF2B5EF4-FFF2-40B4-BE49-F238E27FC236}">
                <a16:creationId xmlns:a16="http://schemas.microsoft.com/office/drawing/2014/main" id="{75C64DFF-DC9E-48EF-F8F8-4BBD9A484593}"/>
              </a:ext>
            </a:extLst>
          </p:cNvPr>
          <p:cNvSpPr txBox="1">
            <a:spLocks/>
          </p:cNvSpPr>
          <p:nvPr/>
        </p:nvSpPr>
        <p:spPr>
          <a:xfrm>
            <a:off x="2508126" y="5686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 dirty="0"/>
              <a:t>7. Half Adder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aphicFrame>
        <p:nvGraphicFramePr>
          <p:cNvPr id="365" name="Google Shape;365;p20"/>
          <p:cNvGraphicFramePr/>
          <p:nvPr>
            <p:extLst>
              <p:ext uri="{D42A27DB-BD31-4B8C-83A1-F6EECF244321}">
                <p14:modId xmlns:p14="http://schemas.microsoft.com/office/powerpoint/2010/main" val="1794235313"/>
              </p:ext>
            </p:extLst>
          </p:nvPr>
        </p:nvGraphicFramePr>
        <p:xfrm>
          <a:off x="2927867" y="2217726"/>
          <a:ext cx="7856525" cy="3746525"/>
        </p:xfrm>
        <a:graphic>
          <a:graphicData uri="http://schemas.openxmlformats.org/drawingml/2006/table">
            <a:tbl>
              <a:tblPr>
                <a:noFill/>
                <a:tableStyleId>{06BE5688-0655-4C88-B4F7-76D8B5D03D96}</a:tableStyleId>
              </a:tblPr>
              <a:tblGrid>
                <a:gridCol w="14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A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B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Carry IN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Carry OUT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lang="en-US" sz="19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Google Shape;341;p18">
            <a:extLst>
              <a:ext uri="{FF2B5EF4-FFF2-40B4-BE49-F238E27FC236}">
                <a16:creationId xmlns:a16="http://schemas.microsoft.com/office/drawing/2014/main" id="{DCA3347E-0E8F-79A8-E596-4D6FD8CE58F1}"/>
              </a:ext>
            </a:extLst>
          </p:cNvPr>
          <p:cNvSpPr txBox="1">
            <a:spLocks/>
          </p:cNvSpPr>
          <p:nvPr/>
        </p:nvSpPr>
        <p:spPr>
          <a:xfrm>
            <a:off x="2539299" y="5686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 dirty="0"/>
              <a:t>8. Full Adder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5EA47-950A-C8E1-8B4C-11531016F9BB}"/>
              </a:ext>
            </a:extLst>
          </p:cNvPr>
          <p:cNvSpPr txBox="1"/>
          <p:nvPr/>
        </p:nvSpPr>
        <p:spPr>
          <a:xfrm>
            <a:off x="29283" y="3290500"/>
            <a:ext cx="3501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8. Full Adder Function</a:t>
            </a:r>
          </a:p>
          <a:p>
            <a:r>
              <a:rPr lang="en-US" sz="1200" dirty="0"/>
              <a:t>       8.1 Full Adder</a:t>
            </a:r>
          </a:p>
          <a:p>
            <a:r>
              <a:rPr lang="en-US" sz="1200" dirty="0"/>
              <a:t>       8.2 Full Adder from Two Half</a:t>
            </a:r>
          </a:p>
          <a:p>
            <a:r>
              <a:rPr lang="en-US" sz="1200" dirty="0"/>
              <a:t>            Adders</a:t>
            </a:r>
          </a:p>
          <a:p>
            <a:r>
              <a:rPr lang="en-US" sz="1200" dirty="0"/>
              <a:t>        8.3 Symbol for a Full Adder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"/>
          <p:cNvSpPr txBox="1">
            <a:spLocks noGrp="1"/>
          </p:cNvSpPr>
          <p:nvPr>
            <p:ph type="body" idx="1"/>
          </p:nvPr>
        </p:nvSpPr>
        <p:spPr>
          <a:xfrm>
            <a:off x="2645159" y="1825625"/>
            <a:ext cx="92024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400" dirty="0"/>
              <a:t>We could derive the full Boolean expression for the Sum and Carry OUT.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400" dirty="0"/>
              <a:t>However, there is a great deal of symmetry associated with the half and full adder and we can simply build a FULL from two Halves.</a:t>
            </a:r>
            <a:endParaRPr sz="2400" dirty="0"/>
          </a:p>
        </p:txBody>
      </p:sp>
      <p:sp>
        <p:nvSpPr>
          <p:cNvPr id="375" name="Google Shape;375;p21"/>
          <p:cNvSpPr txBox="1">
            <a:spLocks noGrp="1"/>
          </p:cNvSpPr>
          <p:nvPr>
            <p:ph type="sldNum" idx="12"/>
          </p:nvPr>
        </p:nvSpPr>
        <p:spPr>
          <a:xfrm>
            <a:off x="881841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5" name="Google Shape;341;p18">
            <a:extLst>
              <a:ext uri="{FF2B5EF4-FFF2-40B4-BE49-F238E27FC236}">
                <a16:creationId xmlns:a16="http://schemas.microsoft.com/office/drawing/2014/main" id="{AFC9CD50-1AF9-4A0C-F546-CD15C1C6EA89}"/>
              </a:ext>
            </a:extLst>
          </p:cNvPr>
          <p:cNvSpPr txBox="1">
            <a:spLocks/>
          </p:cNvSpPr>
          <p:nvPr/>
        </p:nvSpPr>
        <p:spPr>
          <a:xfrm>
            <a:off x="2539299" y="5686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  <a:buFont typeface="Times New Roman"/>
              <a:buNone/>
            </a:pPr>
            <a:r>
              <a:rPr lang="en-US" sz="2400" b="1" dirty="0"/>
              <a:t>8.1 Full Adder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DCCCB-EF46-FB8C-EF14-2296CDBF42BD}"/>
              </a:ext>
            </a:extLst>
          </p:cNvPr>
          <p:cNvSpPr txBox="1"/>
          <p:nvPr/>
        </p:nvSpPr>
        <p:spPr>
          <a:xfrm>
            <a:off x="29283" y="3290500"/>
            <a:ext cx="3501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8. Full Adder Function</a:t>
            </a:r>
          </a:p>
          <a:p>
            <a:r>
              <a:rPr lang="en-US" sz="1200" dirty="0"/>
              <a:t>       </a:t>
            </a:r>
            <a:r>
              <a:rPr lang="en-US" sz="1200" b="1" dirty="0"/>
              <a:t>8.1 Full Adder</a:t>
            </a:r>
          </a:p>
          <a:p>
            <a:r>
              <a:rPr lang="en-US" sz="1200" dirty="0"/>
              <a:t>       8.2 Full Adder from Two Half</a:t>
            </a:r>
          </a:p>
          <a:p>
            <a:r>
              <a:rPr lang="en-US" sz="1200" dirty="0"/>
              <a:t>            Adders</a:t>
            </a:r>
          </a:p>
          <a:p>
            <a:r>
              <a:rPr lang="en-US" sz="1200" dirty="0"/>
              <a:t>        8.3 Symbol for a Full Adder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 txBox="1">
            <a:spLocks noGrp="1"/>
          </p:cNvSpPr>
          <p:nvPr>
            <p:ph type="title"/>
          </p:nvPr>
        </p:nvSpPr>
        <p:spPr>
          <a:xfrm>
            <a:off x="2924643" y="3729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8.2 Full Adder from Two Half Adders</a:t>
            </a:r>
            <a:endParaRPr sz="2400" b="1" dirty="0"/>
          </a:p>
        </p:txBody>
      </p:sp>
      <p:sp>
        <p:nvSpPr>
          <p:cNvPr id="384" name="Google Shape;384;p22"/>
          <p:cNvSpPr txBox="1">
            <a:spLocks noGrp="1"/>
          </p:cNvSpPr>
          <p:nvPr>
            <p:ph type="body" idx="1"/>
          </p:nvPr>
        </p:nvSpPr>
        <p:spPr>
          <a:xfrm>
            <a:off x="2924643" y="2102643"/>
            <a:ext cx="3800475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The Full Adder:</a:t>
            </a:r>
            <a:endParaRPr/>
          </a:p>
        </p:txBody>
      </p:sp>
      <p:sp>
        <p:nvSpPr>
          <p:cNvPr id="385" name="Google Shape;385;p22"/>
          <p:cNvSpPr txBox="1">
            <a:spLocks noGrp="1"/>
          </p:cNvSpPr>
          <p:nvPr>
            <p:ph type="sldNum" idx="12"/>
          </p:nvPr>
        </p:nvSpPr>
        <p:spPr>
          <a:xfrm>
            <a:off x="9193214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86" name="Google Shape;386;p22" descr="msotw9_temp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3988" y="2656816"/>
            <a:ext cx="6167438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2" descr="msotw9_temp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357" y="1323579"/>
            <a:ext cx="2346325" cy="21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 txBox="1"/>
          <p:nvPr/>
        </p:nvSpPr>
        <p:spPr>
          <a:xfrm>
            <a:off x="9193214" y="3709988"/>
            <a:ext cx="212472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Half Adder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9" name="Google Shape;389;p22"/>
          <p:cNvGraphicFramePr/>
          <p:nvPr/>
        </p:nvGraphicFramePr>
        <p:xfrm>
          <a:off x="8529638" y="5078413"/>
          <a:ext cx="2741600" cy="1661200"/>
        </p:xfrm>
        <a:graphic>
          <a:graphicData uri="http://schemas.openxmlformats.org/drawingml/2006/table">
            <a:tbl>
              <a:tblPr>
                <a:noFill/>
                <a:tableStyleId>{06BE5688-0655-4C88-B4F7-76D8B5D03D96}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+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carry: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90"/>
                        <a:buFont typeface="Noto Sans Symbols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4E857ED-A3A5-58CB-4F2E-E7404F8F677F}"/>
              </a:ext>
            </a:extLst>
          </p:cNvPr>
          <p:cNvSpPr txBox="1"/>
          <p:nvPr/>
        </p:nvSpPr>
        <p:spPr>
          <a:xfrm>
            <a:off x="29283" y="3290500"/>
            <a:ext cx="3501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8. Full Adder Function</a:t>
            </a:r>
          </a:p>
          <a:p>
            <a:r>
              <a:rPr lang="en-US" sz="1200" dirty="0"/>
              <a:t>       8.1 Full Adder</a:t>
            </a:r>
          </a:p>
          <a:p>
            <a:r>
              <a:rPr lang="en-US" sz="1200" dirty="0"/>
              <a:t>       </a:t>
            </a:r>
            <a:r>
              <a:rPr lang="en-US" sz="1200" b="1" dirty="0"/>
              <a:t>8.2 Full Adder from Two Half</a:t>
            </a:r>
          </a:p>
          <a:p>
            <a:r>
              <a:rPr lang="en-US" sz="1200" b="1" dirty="0"/>
              <a:t>            Adders</a:t>
            </a:r>
          </a:p>
          <a:p>
            <a:r>
              <a:rPr lang="en-US" sz="1200" dirty="0"/>
              <a:t>        8.3 Symbol for a Full Adder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 txBox="1">
            <a:spLocks noGrp="1"/>
          </p:cNvSpPr>
          <p:nvPr>
            <p:ph type="title"/>
          </p:nvPr>
        </p:nvSpPr>
        <p:spPr>
          <a:xfrm>
            <a:off x="2771775" y="447075"/>
            <a:ext cx="975148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8.3 Symbol for a Full Adder</a:t>
            </a:r>
            <a:endParaRPr sz="2400" b="1" dirty="0"/>
          </a:p>
        </p:txBody>
      </p:sp>
      <p:graphicFrame>
        <p:nvGraphicFramePr>
          <p:cNvPr id="398" name="Google Shape;398;p23"/>
          <p:cNvGraphicFramePr/>
          <p:nvPr/>
        </p:nvGraphicFramePr>
        <p:xfrm>
          <a:off x="5895976" y="1844675"/>
          <a:ext cx="3751275" cy="4440325"/>
        </p:xfrm>
        <a:graphic>
          <a:graphicData uri="http://schemas.openxmlformats.org/drawingml/2006/table">
            <a:tbl>
              <a:tblPr>
                <a:noFill/>
                <a:tableStyleId>{06BE5688-0655-4C88-B4F7-76D8B5D03D96}</a:tableStyleId>
              </a:tblPr>
              <a:tblGrid>
                <a:gridCol w="7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250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250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50"/>
                        <a:buFont typeface="Noto Sans Symbols"/>
                        <a:buNone/>
                      </a:pPr>
                      <a:r>
                        <a:rPr lang="en-US" sz="25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99" name="Google Shape;399;p23" descr="FA Symbol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71775" y="2781300"/>
            <a:ext cx="2724150" cy="231933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55CA14-4A10-70A6-1E60-1C7F37875A8B}"/>
              </a:ext>
            </a:extLst>
          </p:cNvPr>
          <p:cNvSpPr txBox="1"/>
          <p:nvPr/>
        </p:nvSpPr>
        <p:spPr>
          <a:xfrm>
            <a:off x="29283" y="3290500"/>
            <a:ext cx="3501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8. Full Adder Function</a:t>
            </a:r>
          </a:p>
          <a:p>
            <a:r>
              <a:rPr lang="en-US" sz="1200" dirty="0"/>
              <a:t>       8.1 Full Adder</a:t>
            </a:r>
          </a:p>
          <a:p>
            <a:r>
              <a:rPr lang="en-US" sz="1200" dirty="0"/>
              <a:t>       8.2 Full Adder from Two Half</a:t>
            </a:r>
          </a:p>
          <a:p>
            <a:r>
              <a:rPr lang="en-US" sz="1200" dirty="0"/>
              <a:t>            Adders</a:t>
            </a:r>
          </a:p>
          <a:p>
            <a:r>
              <a:rPr lang="en-US" sz="1200" dirty="0"/>
              <a:t>        </a:t>
            </a:r>
            <a:r>
              <a:rPr lang="en-US" sz="1200" b="1" dirty="0"/>
              <a:t>8.3 Symbol for a Full Adder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/>
          <p:nvPr/>
        </p:nvSpPr>
        <p:spPr>
          <a:xfrm>
            <a:off x="2749300" y="1714500"/>
            <a:ext cx="9272982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develop the sum of products for the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adder.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  =  ABC+ABC+ABC+ABC       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 OUT = ABC+ABC+ABC+ABC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show very little resemblance to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circuits we are using.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applying the laws and theorems of Boolean algebra we should be able to get from the above to our circuits.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24"/>
          <p:cNvSpPr txBox="1">
            <a:spLocks noGrp="1"/>
          </p:cNvSpPr>
          <p:nvPr>
            <p:ph type="sldNum" idx="12"/>
          </p:nvPr>
        </p:nvSpPr>
        <p:spPr>
          <a:xfrm>
            <a:off x="911795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10" name="Google Shape;410;p24"/>
          <p:cNvSpPr txBox="1">
            <a:spLocks noGrp="1"/>
          </p:cNvSpPr>
          <p:nvPr>
            <p:ph type="title" idx="4294967295"/>
          </p:nvPr>
        </p:nvSpPr>
        <p:spPr>
          <a:xfrm>
            <a:off x="2860351" y="228834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9. Reduction.</a:t>
            </a:r>
            <a:endParaRPr sz="2400" dirty="0"/>
          </a:p>
        </p:txBody>
      </p:sp>
      <p:cxnSp>
        <p:nvCxnSpPr>
          <p:cNvPr id="412" name="Google Shape;412;p24"/>
          <p:cNvCxnSpPr>
            <a:cxnSpLocks/>
          </p:cNvCxnSpPr>
          <p:nvPr/>
        </p:nvCxnSpPr>
        <p:spPr>
          <a:xfrm>
            <a:off x="4755639" y="2540001"/>
            <a:ext cx="1309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413;p24"/>
          <p:cNvCxnSpPr>
            <a:cxnSpLocks/>
          </p:cNvCxnSpPr>
          <p:nvPr/>
        </p:nvCxnSpPr>
        <p:spPr>
          <a:xfrm>
            <a:off x="6635489" y="3278188"/>
            <a:ext cx="13245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5" name="Google Shape;415;p24"/>
          <p:cNvCxnSpPr>
            <a:cxnSpLocks/>
          </p:cNvCxnSpPr>
          <p:nvPr/>
        </p:nvCxnSpPr>
        <p:spPr>
          <a:xfrm>
            <a:off x="5766970" y="2540001"/>
            <a:ext cx="13245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6" name="Google Shape;416;p24"/>
          <p:cNvCxnSpPr>
            <a:cxnSpLocks/>
          </p:cNvCxnSpPr>
          <p:nvPr/>
        </p:nvCxnSpPr>
        <p:spPr>
          <a:xfrm>
            <a:off x="7211753" y="3278188"/>
            <a:ext cx="132455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17" name="Google Shape;417;p24"/>
          <p:cNvGraphicFramePr/>
          <p:nvPr/>
        </p:nvGraphicFramePr>
        <p:xfrm>
          <a:off x="9404351" y="1836738"/>
          <a:ext cx="2456800" cy="3143650"/>
        </p:xfrm>
        <a:graphic>
          <a:graphicData uri="http://schemas.openxmlformats.org/drawingml/2006/table">
            <a:tbl>
              <a:tblPr>
                <a:noFill/>
                <a:tableStyleId>{06BE5688-0655-4C88-B4F7-76D8B5D03D96}</a:tableStyleId>
              </a:tblPr>
              <a:tblGrid>
                <a:gridCol w="49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1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160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160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20"/>
                        <a:buFont typeface="Noto Sans Symbols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9875" marR="59875" marT="29950" marB="29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418" name="Google Shape;418;p24"/>
          <p:cNvCxnSpPr>
            <a:cxnSpLocks/>
          </p:cNvCxnSpPr>
          <p:nvPr/>
        </p:nvCxnSpPr>
        <p:spPr>
          <a:xfrm>
            <a:off x="5557577" y="2548966"/>
            <a:ext cx="1309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9" name="Google Shape;419;p24"/>
          <p:cNvCxnSpPr>
            <a:cxnSpLocks/>
          </p:cNvCxnSpPr>
          <p:nvPr/>
        </p:nvCxnSpPr>
        <p:spPr>
          <a:xfrm>
            <a:off x="5155519" y="2540001"/>
            <a:ext cx="1309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0" name="Google Shape;420;p24"/>
          <p:cNvCxnSpPr>
            <a:cxnSpLocks/>
          </p:cNvCxnSpPr>
          <p:nvPr/>
        </p:nvCxnSpPr>
        <p:spPr>
          <a:xfrm>
            <a:off x="5417877" y="3234299"/>
            <a:ext cx="1309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2C7950-6982-AA27-AF3D-49DE79BF18C2}"/>
              </a:ext>
            </a:extLst>
          </p:cNvPr>
          <p:cNvSpPr txBox="1"/>
          <p:nvPr/>
        </p:nvSpPr>
        <p:spPr>
          <a:xfrm>
            <a:off x="29283" y="3290500"/>
            <a:ext cx="3501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9. Reduction:</a:t>
            </a:r>
          </a:p>
          <a:p>
            <a:r>
              <a:rPr lang="en-US" sz="1200" dirty="0"/>
              <a:t>      9.1. Reduction Basics</a:t>
            </a:r>
          </a:p>
          <a:p>
            <a:r>
              <a:rPr lang="en-US" sz="1200" dirty="0"/>
              <a:t>      9.2. Reduction Example</a:t>
            </a:r>
            <a:endParaRPr lang="en-US" sz="1200" b="1" dirty="0"/>
          </a:p>
        </p:txBody>
      </p:sp>
      <p:cxnSp>
        <p:nvCxnSpPr>
          <p:cNvPr id="2" name="Google Shape;411;p24"/>
          <p:cNvCxnSpPr>
            <a:cxnSpLocks/>
          </p:cNvCxnSpPr>
          <p:nvPr/>
        </p:nvCxnSpPr>
        <p:spPr>
          <a:xfrm>
            <a:off x="4189983" y="2548966"/>
            <a:ext cx="1309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414;p24"/>
          <p:cNvCxnSpPr>
            <a:cxnSpLocks/>
          </p:cNvCxnSpPr>
          <p:nvPr/>
        </p:nvCxnSpPr>
        <p:spPr>
          <a:xfrm>
            <a:off x="4407650" y="2548966"/>
            <a:ext cx="1309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 idx="4294967295"/>
          </p:nvPr>
        </p:nvSpPr>
        <p:spPr>
          <a:xfrm>
            <a:off x="3023411" y="227160"/>
            <a:ext cx="73136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9.1 Reduction Basics </a:t>
            </a:r>
            <a:endParaRPr sz="2400" dirty="0"/>
          </a:p>
        </p:txBody>
      </p:sp>
      <p:grpSp>
        <p:nvGrpSpPr>
          <p:cNvPr id="431" name="Google Shape;431;p25"/>
          <p:cNvGrpSpPr/>
          <p:nvPr/>
        </p:nvGrpSpPr>
        <p:grpSpPr>
          <a:xfrm>
            <a:off x="2779339" y="1515878"/>
            <a:ext cx="2497030" cy="1938992"/>
            <a:chOff x="-1223106" y="1549377"/>
            <a:chExt cx="2497693" cy="1938059"/>
          </a:xfrm>
        </p:grpSpPr>
        <p:sp>
          <p:nvSpPr>
            <p:cNvPr id="432" name="Google Shape;432;p25"/>
            <p:cNvSpPr txBox="1"/>
            <p:nvPr/>
          </p:nvSpPr>
          <p:spPr>
            <a:xfrm>
              <a:off x="-1223106" y="1549377"/>
              <a:ext cx="2497693" cy="19380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 relationship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0.X = 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1.X = X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X.X = X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X.X = 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3" name="Google Shape;433;p25"/>
            <p:cNvCxnSpPr/>
            <p:nvPr/>
          </p:nvCxnSpPr>
          <p:spPr>
            <a:xfrm>
              <a:off x="-849420" y="3122756"/>
              <a:ext cx="223838" cy="15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34" name="Google Shape;434;p25"/>
          <p:cNvGrpSpPr/>
          <p:nvPr/>
        </p:nvGrpSpPr>
        <p:grpSpPr>
          <a:xfrm>
            <a:off x="5575616" y="1535718"/>
            <a:ext cx="2473652" cy="2308699"/>
            <a:chOff x="3058936" y="-46102"/>
            <a:chExt cx="2474100" cy="2308800"/>
          </a:xfrm>
        </p:grpSpPr>
        <p:sp>
          <p:nvSpPr>
            <p:cNvPr id="435" name="Google Shape;435;p25"/>
            <p:cNvSpPr txBox="1"/>
            <p:nvPr/>
          </p:nvSpPr>
          <p:spPr>
            <a:xfrm>
              <a:off x="3058936" y="-46102"/>
              <a:ext cx="2474100" cy="230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 relationship</a:t>
              </a:r>
              <a:endParaRPr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0+X = X</a:t>
              </a:r>
              <a:endParaRPr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1+X = 1</a:t>
              </a:r>
              <a:endParaRPr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X+X = X</a:t>
              </a:r>
              <a:endParaRPr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X+X = 1</a:t>
              </a:r>
              <a:endParaRPr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36" name="Google Shape;436;p25"/>
            <p:cNvCxnSpPr/>
            <p:nvPr/>
          </p:nvCxnSpPr>
          <p:spPr>
            <a:xfrm>
              <a:off x="3537737" y="1524216"/>
              <a:ext cx="21113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37" name="Google Shape;437;p25"/>
          <p:cNvGrpSpPr/>
          <p:nvPr/>
        </p:nvGrpSpPr>
        <p:grpSpPr>
          <a:xfrm>
            <a:off x="3201899" y="4791358"/>
            <a:ext cx="944563" cy="1200150"/>
            <a:chOff x="-1183806" y="3905071"/>
            <a:chExt cx="944489" cy="1200329"/>
          </a:xfrm>
        </p:grpSpPr>
        <p:sp>
          <p:nvSpPr>
            <p:cNvPr id="438" name="Google Shape;438;p25"/>
            <p:cNvSpPr txBox="1"/>
            <p:nvPr/>
          </p:nvSpPr>
          <p:spPr>
            <a:xfrm>
              <a:off x="-1183806" y="3905071"/>
              <a:ext cx="944489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= X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25"/>
            <p:cNvCxnSpPr/>
            <p:nvPr/>
          </p:nvCxnSpPr>
          <p:spPr>
            <a:xfrm>
              <a:off x="-1092092" y="4639165"/>
              <a:ext cx="21113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0" name="Google Shape;440;p25"/>
            <p:cNvCxnSpPr/>
            <p:nvPr/>
          </p:nvCxnSpPr>
          <p:spPr>
            <a:xfrm>
              <a:off x="-1092092" y="4706399"/>
              <a:ext cx="21113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41" name="Google Shape;441;p25"/>
          <p:cNvSpPr txBox="1"/>
          <p:nvPr/>
        </p:nvSpPr>
        <p:spPr>
          <a:xfrm>
            <a:off x="8711725" y="1375058"/>
            <a:ext cx="330676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(X+Y)(X+Y) = 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(X+Y)(X+Y) = X.(Y+Y)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Y+Y = 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X.1 = 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25"/>
          <p:cNvCxnSpPr/>
          <p:nvPr/>
        </p:nvCxnSpPr>
        <p:spPr>
          <a:xfrm>
            <a:off x="9695608" y="1797423"/>
            <a:ext cx="2809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3" name="Google Shape;443;p25"/>
          <p:cNvCxnSpPr/>
          <p:nvPr/>
        </p:nvCxnSpPr>
        <p:spPr>
          <a:xfrm>
            <a:off x="9731326" y="2961051"/>
            <a:ext cx="20955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" name="Google Shape;444;p25"/>
          <p:cNvCxnSpPr/>
          <p:nvPr/>
        </p:nvCxnSpPr>
        <p:spPr>
          <a:xfrm rot="10800000" flipH="1">
            <a:off x="9323527" y="3621741"/>
            <a:ext cx="227758" cy="1031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5" name="Google Shape;445;p25"/>
          <p:cNvCxnSpPr/>
          <p:nvPr/>
        </p:nvCxnSpPr>
        <p:spPr>
          <a:xfrm>
            <a:off x="11166053" y="2961051"/>
            <a:ext cx="21113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D51617C-9733-90F4-748C-6E9DD7EDBEEE}"/>
              </a:ext>
            </a:extLst>
          </p:cNvPr>
          <p:cNvSpPr txBox="1"/>
          <p:nvPr/>
        </p:nvSpPr>
        <p:spPr>
          <a:xfrm>
            <a:off x="29283" y="3290500"/>
            <a:ext cx="3501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9. Reduction:</a:t>
            </a:r>
          </a:p>
          <a:p>
            <a:r>
              <a:rPr lang="en-US" sz="1200" dirty="0"/>
              <a:t>      </a:t>
            </a:r>
            <a:r>
              <a:rPr lang="en-US" sz="1200" b="1" dirty="0"/>
              <a:t>9.1. Reduction Basics</a:t>
            </a:r>
          </a:p>
          <a:p>
            <a:r>
              <a:rPr lang="en-US" sz="1200" dirty="0"/>
              <a:t>      9.2. Reduction Example</a:t>
            </a:r>
            <a:endParaRPr lang="en-US" sz="12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6"/>
          <p:cNvGrpSpPr/>
          <p:nvPr/>
        </p:nvGrpSpPr>
        <p:grpSpPr>
          <a:xfrm>
            <a:off x="3048000" y="1562100"/>
            <a:ext cx="5283201" cy="2514600"/>
            <a:chOff x="620" y="384"/>
            <a:chExt cx="3328" cy="1584"/>
          </a:xfrm>
        </p:grpSpPr>
        <p:grpSp>
          <p:nvGrpSpPr>
            <p:cNvPr id="455" name="Google Shape;455;p26"/>
            <p:cNvGrpSpPr/>
            <p:nvPr/>
          </p:nvGrpSpPr>
          <p:grpSpPr>
            <a:xfrm>
              <a:off x="620" y="528"/>
              <a:ext cx="2526" cy="1440"/>
              <a:chOff x="672" y="528"/>
              <a:chExt cx="2736" cy="1440"/>
            </a:xfrm>
          </p:grpSpPr>
          <p:cxnSp>
            <p:nvCxnSpPr>
              <p:cNvPr id="456" name="Google Shape;456;p26"/>
              <p:cNvCxnSpPr/>
              <p:nvPr/>
            </p:nvCxnSpPr>
            <p:spPr>
              <a:xfrm>
                <a:off x="672" y="1152"/>
                <a:ext cx="43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7" name="Google Shape;457;p26"/>
              <p:cNvCxnSpPr/>
              <p:nvPr/>
            </p:nvCxnSpPr>
            <p:spPr>
              <a:xfrm>
                <a:off x="1104" y="912"/>
                <a:ext cx="0" cy="5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8" name="Google Shape;458;p26"/>
              <p:cNvCxnSpPr/>
              <p:nvPr/>
            </p:nvCxnSpPr>
            <p:spPr>
              <a:xfrm>
                <a:off x="1104" y="912"/>
                <a:ext cx="43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9" name="Google Shape;459;p26"/>
              <p:cNvCxnSpPr/>
              <p:nvPr/>
            </p:nvCxnSpPr>
            <p:spPr>
              <a:xfrm>
                <a:off x="1104" y="1440"/>
                <a:ext cx="43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0" name="Google Shape;460;p26"/>
              <p:cNvCxnSpPr/>
              <p:nvPr/>
            </p:nvCxnSpPr>
            <p:spPr>
              <a:xfrm>
                <a:off x="1776" y="912"/>
                <a:ext cx="528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1" name="Google Shape;461;p26"/>
              <p:cNvCxnSpPr/>
              <p:nvPr/>
            </p:nvCxnSpPr>
            <p:spPr>
              <a:xfrm>
                <a:off x="1776" y="1440"/>
                <a:ext cx="528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2" name="Google Shape;462;p26"/>
              <p:cNvCxnSpPr/>
              <p:nvPr/>
            </p:nvCxnSpPr>
            <p:spPr>
              <a:xfrm>
                <a:off x="2544" y="912"/>
                <a:ext cx="38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3" name="Google Shape;463;p26"/>
              <p:cNvCxnSpPr/>
              <p:nvPr/>
            </p:nvCxnSpPr>
            <p:spPr>
              <a:xfrm>
                <a:off x="2544" y="1440"/>
                <a:ext cx="38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4" name="Google Shape;464;p26"/>
              <p:cNvCxnSpPr/>
              <p:nvPr/>
            </p:nvCxnSpPr>
            <p:spPr>
              <a:xfrm>
                <a:off x="2928" y="912"/>
                <a:ext cx="0" cy="5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5" name="Google Shape;465;p26"/>
              <p:cNvCxnSpPr/>
              <p:nvPr/>
            </p:nvCxnSpPr>
            <p:spPr>
              <a:xfrm>
                <a:off x="2928" y="1152"/>
                <a:ext cx="48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6" name="Google Shape;466;p26"/>
              <p:cNvCxnSpPr/>
              <p:nvPr/>
            </p:nvCxnSpPr>
            <p:spPr>
              <a:xfrm>
                <a:off x="1584" y="720"/>
                <a:ext cx="192" cy="192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7" name="Google Shape;467;p26"/>
              <p:cNvCxnSpPr/>
              <p:nvPr/>
            </p:nvCxnSpPr>
            <p:spPr>
              <a:xfrm>
                <a:off x="1584" y="1248"/>
                <a:ext cx="192" cy="192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8" name="Google Shape;468;p26"/>
              <p:cNvCxnSpPr/>
              <p:nvPr/>
            </p:nvCxnSpPr>
            <p:spPr>
              <a:xfrm>
                <a:off x="1680" y="816"/>
                <a:ext cx="0" cy="100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sp>
            <p:nvSpPr>
              <p:cNvPr id="469" name="Google Shape;469;p26"/>
              <p:cNvSpPr txBox="1"/>
              <p:nvPr/>
            </p:nvSpPr>
            <p:spPr>
              <a:xfrm>
                <a:off x="1308" y="1680"/>
                <a:ext cx="2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0" name="Google Shape;470;p26"/>
              <p:cNvCxnSpPr/>
              <p:nvPr/>
            </p:nvCxnSpPr>
            <p:spPr>
              <a:xfrm>
                <a:off x="2304" y="720"/>
                <a:ext cx="240" cy="192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1" name="Google Shape;471;p26"/>
              <p:cNvCxnSpPr/>
              <p:nvPr/>
            </p:nvCxnSpPr>
            <p:spPr>
              <a:xfrm>
                <a:off x="2304" y="1248"/>
                <a:ext cx="240" cy="192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72" name="Google Shape;472;p26"/>
              <p:cNvSpPr txBox="1"/>
              <p:nvPr/>
            </p:nvSpPr>
            <p:spPr>
              <a:xfrm>
                <a:off x="2364" y="528"/>
                <a:ext cx="2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6"/>
              <p:cNvSpPr txBox="1"/>
              <p:nvPr/>
            </p:nvSpPr>
            <p:spPr>
              <a:xfrm>
                <a:off x="2342" y="1440"/>
                <a:ext cx="25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aphicFrame>
          <p:nvGraphicFramePr>
            <p:cNvPr id="474" name="Google Shape;474;p26"/>
            <p:cNvGraphicFramePr/>
            <p:nvPr/>
          </p:nvGraphicFramePr>
          <p:xfrm>
            <a:off x="2976" y="528"/>
            <a:ext cx="509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09" imgH="604" progId="MS_ClipArt_Gallery.2">
                    <p:embed/>
                  </p:oleObj>
                </mc:Choice>
                <mc:Fallback>
                  <p:oleObj r:id="rId3" imgW="509" imgH="604" progId="MS_ClipArt_Gallery.2">
                    <p:embed/>
                    <p:pic>
                      <p:nvPicPr>
                        <p:cNvPr id="474" name="Google Shape;474;p26"/>
                        <p:cNvPicPr preferRelativeResize="0"/>
                        <p:nvPr/>
                      </p:nvPicPr>
                      <p:blipFill rotWithShape="1">
                        <a:blip r:embed="rId4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2976" y="528"/>
                          <a:ext cx="509" cy="6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5" name="Google Shape;475;p26"/>
            <p:cNvSpPr txBox="1"/>
            <p:nvPr/>
          </p:nvSpPr>
          <p:spPr>
            <a:xfrm>
              <a:off x="2748" y="38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X.Y + X.Z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26"/>
          <p:cNvGrpSpPr/>
          <p:nvPr/>
        </p:nvGrpSpPr>
        <p:grpSpPr>
          <a:xfrm>
            <a:off x="2971801" y="4184650"/>
            <a:ext cx="4640263" cy="1981200"/>
            <a:chOff x="620" y="2304"/>
            <a:chExt cx="2923" cy="1248"/>
          </a:xfrm>
        </p:grpSpPr>
        <p:grpSp>
          <p:nvGrpSpPr>
            <p:cNvPr id="477" name="Google Shape;477;p26"/>
            <p:cNvGrpSpPr/>
            <p:nvPr/>
          </p:nvGrpSpPr>
          <p:grpSpPr>
            <a:xfrm>
              <a:off x="620" y="2304"/>
              <a:ext cx="2526" cy="1248"/>
              <a:chOff x="1776" y="2112"/>
              <a:chExt cx="2736" cy="1248"/>
            </a:xfrm>
          </p:grpSpPr>
          <p:cxnSp>
            <p:nvCxnSpPr>
              <p:cNvPr id="478" name="Google Shape;478;p26"/>
              <p:cNvCxnSpPr/>
              <p:nvPr/>
            </p:nvCxnSpPr>
            <p:spPr>
              <a:xfrm>
                <a:off x="1776" y="2736"/>
                <a:ext cx="62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9" name="Google Shape;479;p26"/>
              <p:cNvCxnSpPr/>
              <p:nvPr/>
            </p:nvCxnSpPr>
            <p:spPr>
              <a:xfrm>
                <a:off x="2880" y="2496"/>
                <a:ext cx="528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0" name="Google Shape;480;p26"/>
              <p:cNvCxnSpPr/>
              <p:nvPr/>
            </p:nvCxnSpPr>
            <p:spPr>
              <a:xfrm>
                <a:off x="2880" y="3024"/>
                <a:ext cx="528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1" name="Google Shape;481;p26"/>
              <p:cNvCxnSpPr/>
              <p:nvPr/>
            </p:nvCxnSpPr>
            <p:spPr>
              <a:xfrm>
                <a:off x="3648" y="2496"/>
                <a:ext cx="38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2" name="Google Shape;482;p26"/>
              <p:cNvCxnSpPr/>
              <p:nvPr/>
            </p:nvCxnSpPr>
            <p:spPr>
              <a:xfrm>
                <a:off x="3648" y="3024"/>
                <a:ext cx="38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3" name="Google Shape;483;p26"/>
              <p:cNvCxnSpPr/>
              <p:nvPr/>
            </p:nvCxnSpPr>
            <p:spPr>
              <a:xfrm>
                <a:off x="4032" y="2496"/>
                <a:ext cx="0" cy="5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4" name="Google Shape;484;p26"/>
              <p:cNvCxnSpPr/>
              <p:nvPr/>
            </p:nvCxnSpPr>
            <p:spPr>
              <a:xfrm>
                <a:off x="4032" y="2736"/>
                <a:ext cx="48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5" name="Google Shape;485;p26"/>
              <p:cNvCxnSpPr/>
              <p:nvPr/>
            </p:nvCxnSpPr>
            <p:spPr>
              <a:xfrm>
                <a:off x="2496" y="2544"/>
                <a:ext cx="192" cy="192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6" name="Google Shape;486;p26"/>
              <p:cNvSpPr txBox="1"/>
              <p:nvPr/>
            </p:nvSpPr>
            <p:spPr>
              <a:xfrm>
                <a:off x="2342" y="2880"/>
                <a:ext cx="26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7" name="Google Shape;487;p26"/>
              <p:cNvCxnSpPr/>
              <p:nvPr/>
            </p:nvCxnSpPr>
            <p:spPr>
              <a:xfrm>
                <a:off x="3408" y="2304"/>
                <a:ext cx="240" cy="192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8" name="Google Shape;488;p26"/>
              <p:cNvCxnSpPr/>
              <p:nvPr/>
            </p:nvCxnSpPr>
            <p:spPr>
              <a:xfrm>
                <a:off x="3408" y="2832"/>
                <a:ext cx="240" cy="192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9" name="Google Shape;489;p26"/>
              <p:cNvCxnSpPr/>
              <p:nvPr/>
            </p:nvCxnSpPr>
            <p:spPr>
              <a:xfrm>
                <a:off x="2880" y="2496"/>
                <a:ext cx="0" cy="5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0" name="Google Shape;490;p26"/>
              <p:cNvCxnSpPr/>
              <p:nvPr/>
            </p:nvCxnSpPr>
            <p:spPr>
              <a:xfrm>
                <a:off x="2688" y="2736"/>
                <a:ext cx="19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1" name="Google Shape;491;p26"/>
              <p:cNvSpPr txBox="1"/>
              <p:nvPr/>
            </p:nvSpPr>
            <p:spPr>
              <a:xfrm>
                <a:off x="3446" y="211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sz="140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" name="Google Shape;492;p26"/>
              <p:cNvSpPr txBox="1"/>
              <p:nvPr/>
            </p:nvSpPr>
            <p:spPr>
              <a:xfrm>
                <a:off x="3446" y="3072"/>
                <a:ext cx="25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aphicFrame>
          <p:nvGraphicFramePr>
            <p:cNvPr id="493" name="Google Shape;493;p26"/>
            <p:cNvGraphicFramePr/>
            <p:nvPr/>
          </p:nvGraphicFramePr>
          <p:xfrm>
            <a:off x="2969" y="2304"/>
            <a:ext cx="508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08" imgH="604" progId="MS_ClipArt_Gallery.2">
                    <p:embed/>
                  </p:oleObj>
                </mc:Choice>
                <mc:Fallback>
                  <p:oleObj r:id="rId3" imgW="508" imgH="604" progId="MS_ClipArt_Gallery.2">
                    <p:embed/>
                    <p:pic>
                      <p:nvPicPr>
                        <p:cNvPr id="493" name="Google Shape;493;p26"/>
                        <p:cNvPicPr preferRelativeResize="0"/>
                        <p:nvPr/>
                      </p:nvPicPr>
                      <p:blipFill rotWithShape="1">
                        <a:blip r:embed="rId4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2969" y="2304"/>
                          <a:ext cx="508" cy="6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4" name="Google Shape;494;p26"/>
            <p:cNvSpPr txBox="1"/>
            <p:nvPr/>
          </p:nvSpPr>
          <p:spPr>
            <a:xfrm>
              <a:off x="2761" y="3120"/>
              <a:ext cx="78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X.(Y+Z)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26"/>
          <p:cNvSpPr txBox="1"/>
          <p:nvPr/>
        </p:nvSpPr>
        <p:spPr>
          <a:xfrm>
            <a:off x="8380623" y="2247900"/>
            <a:ext cx="312109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outputs are same for all inputs we can use this to reduce XY+XZ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X(Y+Z)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Absorption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 txBox="1">
            <a:spLocks noGrp="1"/>
          </p:cNvSpPr>
          <p:nvPr>
            <p:ph type="title"/>
          </p:nvPr>
        </p:nvSpPr>
        <p:spPr>
          <a:xfrm>
            <a:off x="2971801" y="3046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9.2 Reduction Example</a:t>
            </a:r>
            <a:endParaRPr sz="2400" b="1" dirty="0"/>
          </a:p>
        </p:txBody>
      </p:sp>
      <p:sp>
        <p:nvSpPr>
          <p:cNvPr id="497" name="Google Shape;49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498" name="Google Shape;498;p26" descr="rId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CB8CEC0-7B56-C5D9-49EA-4FD2AC439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351530-E71A-4B9A-9E82-8B16DD0E6899}"/>
              </a:ext>
            </a:extLst>
          </p:cNvPr>
          <p:cNvSpPr txBox="1"/>
          <p:nvPr/>
        </p:nvSpPr>
        <p:spPr>
          <a:xfrm>
            <a:off x="29283" y="3290500"/>
            <a:ext cx="3501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9. Reduction:</a:t>
            </a:r>
          </a:p>
          <a:p>
            <a:r>
              <a:rPr lang="en-US" sz="1200" dirty="0"/>
              <a:t>      9.1. Reduction Basics</a:t>
            </a:r>
          </a:p>
          <a:p>
            <a:r>
              <a:rPr lang="en-US" sz="1200" dirty="0"/>
              <a:t>      </a:t>
            </a:r>
            <a:r>
              <a:rPr lang="en-US" sz="1200" b="1" dirty="0"/>
              <a:t>9.2. Reduction Example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7"/>
          <p:cNvGrpSpPr/>
          <p:nvPr/>
        </p:nvGrpSpPr>
        <p:grpSpPr>
          <a:xfrm>
            <a:off x="2704359" y="2362847"/>
            <a:ext cx="3171350" cy="2763687"/>
            <a:chOff x="533400" y="378693"/>
            <a:chExt cx="3171350" cy="2764582"/>
          </a:xfrm>
        </p:grpSpPr>
        <p:cxnSp>
          <p:nvCxnSpPr>
            <p:cNvPr id="508" name="Google Shape;508;p27"/>
            <p:cNvCxnSpPr/>
            <p:nvPr/>
          </p:nvCxnSpPr>
          <p:spPr>
            <a:xfrm>
              <a:off x="533400" y="1676400"/>
              <a:ext cx="63341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9" name="Google Shape;509;p27"/>
            <p:cNvCxnSpPr/>
            <p:nvPr/>
          </p:nvCxnSpPr>
          <p:spPr>
            <a:xfrm>
              <a:off x="1166813" y="1143000"/>
              <a:ext cx="0" cy="1143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7"/>
            <p:cNvCxnSpPr/>
            <p:nvPr/>
          </p:nvCxnSpPr>
          <p:spPr>
            <a:xfrm>
              <a:off x="2151063" y="1143000"/>
              <a:ext cx="0" cy="1143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7"/>
            <p:cNvCxnSpPr/>
            <p:nvPr/>
          </p:nvCxnSpPr>
          <p:spPr>
            <a:xfrm>
              <a:off x="2151063" y="1676400"/>
              <a:ext cx="70326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27"/>
            <p:cNvCxnSpPr/>
            <p:nvPr/>
          </p:nvCxnSpPr>
          <p:spPr>
            <a:xfrm>
              <a:off x="1166813" y="1143000"/>
              <a:ext cx="35242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3" name="Google Shape;513;p27"/>
            <p:cNvCxnSpPr/>
            <p:nvPr/>
          </p:nvCxnSpPr>
          <p:spPr>
            <a:xfrm>
              <a:off x="1166813" y="2286000"/>
              <a:ext cx="35242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4" name="Google Shape;514;p27"/>
            <p:cNvCxnSpPr/>
            <p:nvPr/>
          </p:nvCxnSpPr>
          <p:spPr>
            <a:xfrm>
              <a:off x="1870075" y="1143000"/>
              <a:ext cx="2809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5" name="Google Shape;515;p27"/>
            <p:cNvCxnSpPr/>
            <p:nvPr/>
          </p:nvCxnSpPr>
          <p:spPr>
            <a:xfrm>
              <a:off x="1870075" y="2286000"/>
              <a:ext cx="2809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6" name="Google Shape;516;p27"/>
            <p:cNvCxnSpPr/>
            <p:nvPr/>
          </p:nvCxnSpPr>
          <p:spPr>
            <a:xfrm rot="10800000">
              <a:off x="1519238" y="914400"/>
              <a:ext cx="350838" cy="22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7" name="Google Shape;517;p27"/>
            <p:cNvCxnSpPr/>
            <p:nvPr/>
          </p:nvCxnSpPr>
          <p:spPr>
            <a:xfrm flipH="1">
              <a:off x="1447800" y="2269061"/>
              <a:ext cx="422275" cy="76200"/>
            </a:xfrm>
            <a:prstGeom prst="straightConnector1">
              <a:avLst/>
            </a:prstGeom>
            <a:noFill/>
            <a:ln w="317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8" name="Google Shape;518;p27"/>
            <p:cNvCxnSpPr/>
            <p:nvPr/>
          </p:nvCxnSpPr>
          <p:spPr>
            <a:xfrm>
              <a:off x="1658938" y="990600"/>
              <a:ext cx="0" cy="17526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519" name="Google Shape;519;p27"/>
            <p:cNvSpPr txBox="1"/>
            <p:nvPr/>
          </p:nvSpPr>
          <p:spPr>
            <a:xfrm>
              <a:off x="1474406" y="2681461"/>
              <a:ext cx="389850" cy="4618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0" name="Google Shape;520;p27"/>
            <p:cNvCxnSpPr/>
            <p:nvPr/>
          </p:nvCxnSpPr>
          <p:spPr>
            <a:xfrm flipH="1">
              <a:off x="1447800" y="2286000"/>
              <a:ext cx="71438" cy="76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21" name="Google Shape;521;p27"/>
            <p:cNvSpPr txBox="1"/>
            <p:nvPr/>
          </p:nvSpPr>
          <p:spPr>
            <a:xfrm>
              <a:off x="1361421" y="378693"/>
              <a:ext cx="595035" cy="4618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(X)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2" name="Google Shape;522;p27"/>
            <p:cNvCxnSpPr/>
            <p:nvPr/>
          </p:nvCxnSpPr>
          <p:spPr>
            <a:xfrm>
              <a:off x="1589088" y="381000"/>
              <a:ext cx="139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23" name="Google Shape;523;p27"/>
            <p:cNvSpPr txBox="1"/>
            <p:nvPr/>
          </p:nvSpPr>
          <p:spPr>
            <a:xfrm>
              <a:off x="2194401" y="2131293"/>
              <a:ext cx="1510349" cy="461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Always 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aphicFrame>
          <p:nvGraphicFramePr>
            <p:cNvPr id="524" name="Google Shape;524;p27"/>
            <p:cNvGraphicFramePr/>
            <p:nvPr/>
          </p:nvGraphicFramePr>
          <p:xfrm>
            <a:off x="2643188" y="762000"/>
            <a:ext cx="808038" cy="958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08038" imgH="958850" progId="MS_ClipArt_Gallery.2">
                    <p:embed/>
                  </p:oleObj>
                </mc:Choice>
                <mc:Fallback>
                  <p:oleObj r:id="rId3" imgW="808038" imgH="958850" progId="MS_ClipArt_Gallery.2">
                    <p:embed/>
                    <p:pic>
                      <p:nvPicPr>
                        <p:cNvPr id="524" name="Google Shape;524;p27"/>
                        <p:cNvPicPr preferRelativeResize="0"/>
                        <p:nvPr/>
                      </p:nvPicPr>
                      <p:blipFill rotWithShape="1">
                        <a:blip r:embed="rId4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2643188" y="762000"/>
                          <a:ext cx="808038" cy="958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5" name="Google Shape;525;p27"/>
          <p:cNvGrpSpPr/>
          <p:nvPr/>
        </p:nvGrpSpPr>
        <p:grpSpPr>
          <a:xfrm>
            <a:off x="2716370" y="5153453"/>
            <a:ext cx="1904688" cy="830997"/>
            <a:chOff x="1407996" y="4072736"/>
            <a:chExt cx="1904688" cy="830997"/>
          </a:xfrm>
        </p:grpSpPr>
        <p:sp>
          <p:nvSpPr>
            <p:cNvPr id="526" name="Google Shape;526;p27"/>
            <p:cNvSpPr txBox="1"/>
            <p:nvPr/>
          </p:nvSpPr>
          <p:spPr>
            <a:xfrm>
              <a:off x="1407996" y="4072736"/>
              <a:ext cx="1904688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 X+X= 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= always 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7" name="Google Shape;527;p27"/>
            <p:cNvCxnSpPr/>
            <p:nvPr/>
          </p:nvCxnSpPr>
          <p:spPr>
            <a:xfrm>
              <a:off x="2443808" y="4148484"/>
              <a:ext cx="2111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28" name="Google Shape;528;p27"/>
          <p:cNvGrpSpPr/>
          <p:nvPr/>
        </p:nvGrpSpPr>
        <p:grpSpPr>
          <a:xfrm>
            <a:off x="5921020" y="1929900"/>
            <a:ext cx="4897037" cy="2590800"/>
            <a:chOff x="3505200" y="3276600"/>
            <a:chExt cx="4897037" cy="2590800"/>
          </a:xfrm>
        </p:grpSpPr>
        <p:cxnSp>
          <p:nvCxnSpPr>
            <p:cNvPr id="529" name="Google Shape;529;p27"/>
            <p:cNvCxnSpPr/>
            <p:nvPr/>
          </p:nvCxnSpPr>
          <p:spPr>
            <a:xfrm>
              <a:off x="3505200" y="4572000"/>
              <a:ext cx="63341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0" name="Google Shape;530;p27"/>
            <p:cNvCxnSpPr/>
            <p:nvPr/>
          </p:nvCxnSpPr>
          <p:spPr>
            <a:xfrm>
              <a:off x="4138613" y="4191000"/>
              <a:ext cx="0" cy="838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1" name="Google Shape;531;p27"/>
            <p:cNvCxnSpPr/>
            <p:nvPr/>
          </p:nvCxnSpPr>
          <p:spPr>
            <a:xfrm>
              <a:off x="4138613" y="4191000"/>
              <a:ext cx="63341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2" name="Google Shape;532;p27"/>
            <p:cNvCxnSpPr/>
            <p:nvPr/>
          </p:nvCxnSpPr>
          <p:spPr>
            <a:xfrm>
              <a:off x="4138613" y="5029200"/>
              <a:ext cx="63341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3" name="Google Shape;533;p27"/>
            <p:cNvCxnSpPr/>
            <p:nvPr/>
          </p:nvCxnSpPr>
          <p:spPr>
            <a:xfrm>
              <a:off x="5122863" y="4191000"/>
              <a:ext cx="7747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4" name="Google Shape;534;p27"/>
            <p:cNvCxnSpPr/>
            <p:nvPr/>
          </p:nvCxnSpPr>
          <p:spPr>
            <a:xfrm>
              <a:off x="5122863" y="5029200"/>
              <a:ext cx="7747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5" name="Google Shape;535;p27"/>
            <p:cNvCxnSpPr/>
            <p:nvPr/>
          </p:nvCxnSpPr>
          <p:spPr>
            <a:xfrm>
              <a:off x="6248400" y="4191000"/>
              <a:ext cx="56356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6" name="Google Shape;536;p27"/>
            <p:cNvCxnSpPr/>
            <p:nvPr/>
          </p:nvCxnSpPr>
          <p:spPr>
            <a:xfrm>
              <a:off x="6248400" y="5029200"/>
              <a:ext cx="56356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7" name="Google Shape;537;p27"/>
            <p:cNvCxnSpPr/>
            <p:nvPr/>
          </p:nvCxnSpPr>
          <p:spPr>
            <a:xfrm>
              <a:off x="6811963" y="4191000"/>
              <a:ext cx="0" cy="838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8" name="Google Shape;538;p27"/>
            <p:cNvCxnSpPr/>
            <p:nvPr/>
          </p:nvCxnSpPr>
          <p:spPr>
            <a:xfrm>
              <a:off x="6811963" y="4572000"/>
              <a:ext cx="70326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9" name="Google Shape;539;p27"/>
            <p:cNvCxnSpPr/>
            <p:nvPr/>
          </p:nvCxnSpPr>
          <p:spPr>
            <a:xfrm>
              <a:off x="4841875" y="3886200"/>
              <a:ext cx="280988" cy="3048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0" name="Google Shape;540;p27"/>
            <p:cNvCxnSpPr/>
            <p:nvPr/>
          </p:nvCxnSpPr>
          <p:spPr>
            <a:xfrm rot="10800000" flipH="1">
              <a:off x="4730105" y="5012263"/>
              <a:ext cx="451494" cy="47751"/>
            </a:xfrm>
            <a:prstGeom prst="straightConnector1">
              <a:avLst/>
            </a:prstGeom>
            <a:noFill/>
            <a:ln w="317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1" name="Google Shape;541;p27"/>
            <p:cNvCxnSpPr/>
            <p:nvPr/>
          </p:nvCxnSpPr>
          <p:spPr>
            <a:xfrm>
              <a:off x="5029200" y="4038600"/>
              <a:ext cx="0" cy="1600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542" name="Google Shape;542;p27"/>
            <p:cNvSpPr txBox="1"/>
            <p:nvPr/>
          </p:nvSpPr>
          <p:spPr>
            <a:xfrm>
              <a:off x="4419600" y="5410200"/>
              <a:ext cx="3873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3" name="Google Shape;543;p27"/>
            <p:cNvCxnSpPr/>
            <p:nvPr/>
          </p:nvCxnSpPr>
          <p:spPr>
            <a:xfrm>
              <a:off x="5897563" y="3886200"/>
              <a:ext cx="350837" cy="3048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4" name="Google Shape;544;p27"/>
            <p:cNvCxnSpPr/>
            <p:nvPr/>
          </p:nvCxnSpPr>
          <p:spPr>
            <a:xfrm>
              <a:off x="5897563" y="4724400"/>
              <a:ext cx="350837" cy="3048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5" name="Google Shape;545;p27"/>
            <p:cNvSpPr txBox="1"/>
            <p:nvPr/>
          </p:nvSpPr>
          <p:spPr>
            <a:xfrm>
              <a:off x="5984875" y="3581400"/>
              <a:ext cx="3873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7"/>
            <p:cNvSpPr txBox="1"/>
            <p:nvPr/>
          </p:nvSpPr>
          <p:spPr>
            <a:xfrm>
              <a:off x="5943600" y="5029200"/>
              <a:ext cx="3873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aphicFrame>
          <p:nvGraphicFramePr>
            <p:cNvPr id="547" name="Google Shape;547;p27"/>
            <p:cNvGraphicFramePr/>
            <p:nvPr/>
          </p:nvGraphicFramePr>
          <p:xfrm>
            <a:off x="7245350" y="3581400"/>
            <a:ext cx="808038" cy="958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08038" imgH="958850" progId="MS_ClipArt_Gallery.2">
                    <p:embed/>
                  </p:oleObj>
                </mc:Choice>
                <mc:Fallback>
                  <p:oleObj r:id="rId3" imgW="808038" imgH="958850" progId="MS_ClipArt_Gallery.2">
                    <p:embed/>
                    <p:pic>
                      <p:nvPicPr>
                        <p:cNvPr id="547" name="Google Shape;547;p27"/>
                        <p:cNvPicPr preferRelativeResize="0"/>
                        <p:nvPr/>
                      </p:nvPicPr>
                      <p:blipFill rotWithShape="1">
                        <a:blip r:embed="rId4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7245350" y="3581400"/>
                          <a:ext cx="808038" cy="958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8" name="Google Shape;548;p27"/>
            <p:cNvSpPr txBox="1"/>
            <p:nvPr/>
          </p:nvSpPr>
          <p:spPr>
            <a:xfrm>
              <a:off x="6856813" y="3350568"/>
              <a:ext cx="15454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X.Y + X.Y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" name="Google Shape;549;p27"/>
            <p:cNvCxnSpPr/>
            <p:nvPr/>
          </p:nvCxnSpPr>
          <p:spPr>
            <a:xfrm>
              <a:off x="7772400" y="3420765"/>
              <a:ext cx="22860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50" name="Google Shape;550;p27"/>
            <p:cNvSpPr txBox="1"/>
            <p:nvPr/>
          </p:nvSpPr>
          <p:spPr>
            <a:xfrm>
              <a:off x="4495800" y="3276600"/>
              <a:ext cx="3873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1" name="Google Shape;551;p27"/>
            <p:cNvCxnSpPr/>
            <p:nvPr/>
          </p:nvCxnSpPr>
          <p:spPr>
            <a:xfrm>
              <a:off x="4572000" y="3352800"/>
              <a:ext cx="2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52" name="Google Shape;552;p27"/>
            <p:cNvSpPr txBox="1"/>
            <p:nvPr/>
          </p:nvSpPr>
          <p:spPr>
            <a:xfrm>
              <a:off x="7572573" y="4716909"/>
              <a:ext cx="4699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BE18D6-B206-6BFE-917C-0648715DD4B1}"/>
              </a:ext>
            </a:extLst>
          </p:cNvPr>
          <p:cNvSpPr txBox="1"/>
          <p:nvPr/>
        </p:nvSpPr>
        <p:spPr>
          <a:xfrm>
            <a:off x="29283" y="3290500"/>
            <a:ext cx="3501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9. Reduction:</a:t>
            </a:r>
          </a:p>
          <a:p>
            <a:r>
              <a:rPr lang="en-US" sz="1200" dirty="0"/>
              <a:t>      9.1. Reduction Basics</a:t>
            </a:r>
          </a:p>
          <a:p>
            <a:r>
              <a:rPr lang="en-US" sz="1200" dirty="0"/>
              <a:t>      </a:t>
            </a:r>
            <a:r>
              <a:rPr lang="en-US" sz="1200" b="1" dirty="0"/>
              <a:t>9.2. Reduction Example</a:t>
            </a:r>
          </a:p>
        </p:txBody>
      </p:sp>
      <p:sp>
        <p:nvSpPr>
          <p:cNvPr id="5" name="Google Shape;496;p26">
            <a:extLst>
              <a:ext uri="{FF2B5EF4-FFF2-40B4-BE49-F238E27FC236}">
                <a16:creationId xmlns:a16="http://schemas.microsoft.com/office/drawing/2014/main" id="{AC9A1119-80E7-BCBB-C850-3399C1D05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801" y="3046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9.2 Reduction Example</a:t>
            </a:r>
            <a:endParaRPr sz="24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8"/>
          <p:cNvSpPr txBox="1">
            <a:spLocks noGrp="1"/>
          </p:cNvSpPr>
          <p:nvPr>
            <p:ph type="sldNum" idx="12"/>
          </p:nvPr>
        </p:nvSpPr>
        <p:spPr>
          <a:xfrm>
            <a:off x="9267825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28"/>
          <p:cNvSpPr txBox="1">
            <a:spLocks noGrp="1"/>
          </p:cNvSpPr>
          <p:nvPr>
            <p:ph type="title" idx="4294967295"/>
          </p:nvPr>
        </p:nvSpPr>
        <p:spPr>
          <a:xfrm>
            <a:off x="2984501" y="355600"/>
            <a:ext cx="73136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10. Carry: Sum of Products</a:t>
            </a:r>
            <a:endParaRPr sz="2400" dirty="0"/>
          </a:p>
        </p:txBody>
      </p:sp>
      <p:sp>
        <p:nvSpPr>
          <p:cNvPr id="565" name="Google Shape;565;p28"/>
          <p:cNvSpPr txBox="1"/>
          <p:nvPr/>
        </p:nvSpPr>
        <p:spPr>
          <a:xfrm>
            <a:off x="3297238" y="1765300"/>
            <a:ext cx="7315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 =  ABC+ABC+ABC+ABC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	= ABC+ABC+ABC+ABC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+ABC+ABC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28"/>
          <p:cNvCxnSpPr/>
          <p:nvPr/>
        </p:nvCxnSpPr>
        <p:spPr>
          <a:xfrm>
            <a:off x="4783139" y="1812925"/>
            <a:ext cx="1412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7" name="Google Shape;567;p28"/>
          <p:cNvCxnSpPr/>
          <p:nvPr/>
        </p:nvCxnSpPr>
        <p:spPr>
          <a:xfrm>
            <a:off x="5346700" y="1812925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8" name="Google Shape;568;p28"/>
          <p:cNvCxnSpPr/>
          <p:nvPr/>
        </p:nvCxnSpPr>
        <p:spPr>
          <a:xfrm>
            <a:off x="6580189" y="1836738"/>
            <a:ext cx="1412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9" name="Google Shape;569;p28"/>
          <p:cNvCxnSpPr/>
          <p:nvPr/>
        </p:nvCxnSpPr>
        <p:spPr>
          <a:xfrm>
            <a:off x="4784725" y="2565400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0" name="Google Shape;570;p28"/>
          <p:cNvCxnSpPr/>
          <p:nvPr/>
        </p:nvCxnSpPr>
        <p:spPr>
          <a:xfrm>
            <a:off x="6570664" y="2557463"/>
            <a:ext cx="1412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1" name="Google Shape;571;p28"/>
          <p:cNvCxnSpPr/>
          <p:nvPr/>
        </p:nvCxnSpPr>
        <p:spPr>
          <a:xfrm>
            <a:off x="5372100" y="2574925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p28"/>
          <p:cNvSpPr txBox="1"/>
          <p:nvPr/>
        </p:nvSpPr>
        <p:spPr>
          <a:xfrm>
            <a:off x="6165180" y="4115743"/>
            <a:ext cx="14189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BC(A+A)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3" name="Google Shape;573;p28"/>
          <p:cNvCxnSpPr/>
          <p:nvPr/>
        </p:nvCxnSpPr>
        <p:spPr>
          <a:xfrm>
            <a:off x="6829425" y="3336925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4" name="Google Shape;574;p28"/>
          <p:cNvSpPr txBox="1"/>
          <p:nvPr/>
        </p:nvSpPr>
        <p:spPr>
          <a:xfrm>
            <a:off x="6221413" y="4933950"/>
            <a:ext cx="13954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AC(B+B)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 txBox="1"/>
          <p:nvPr/>
        </p:nvSpPr>
        <p:spPr>
          <a:xfrm>
            <a:off x="6203951" y="3252788"/>
            <a:ext cx="1412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AB(C+C)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28"/>
          <p:cNvCxnSpPr/>
          <p:nvPr/>
        </p:nvCxnSpPr>
        <p:spPr>
          <a:xfrm>
            <a:off x="6829425" y="4213225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7" name="Google Shape;577;p28"/>
          <p:cNvCxnSpPr/>
          <p:nvPr/>
        </p:nvCxnSpPr>
        <p:spPr>
          <a:xfrm>
            <a:off x="6824663" y="5005388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8" name="Google Shape;578;p28"/>
          <p:cNvCxnSpPr/>
          <p:nvPr/>
        </p:nvCxnSpPr>
        <p:spPr>
          <a:xfrm>
            <a:off x="6410326" y="2955925"/>
            <a:ext cx="352425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9" name="Google Shape;579;p28"/>
          <p:cNvCxnSpPr/>
          <p:nvPr/>
        </p:nvCxnSpPr>
        <p:spPr>
          <a:xfrm flipH="1">
            <a:off x="6902451" y="2955925"/>
            <a:ext cx="282575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0" name="Google Shape;580;p28"/>
          <p:cNvCxnSpPr/>
          <p:nvPr/>
        </p:nvCxnSpPr>
        <p:spPr>
          <a:xfrm>
            <a:off x="5727701" y="2955925"/>
            <a:ext cx="563563" cy="11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1" name="Google Shape;581;p28"/>
          <p:cNvCxnSpPr/>
          <p:nvPr/>
        </p:nvCxnSpPr>
        <p:spPr>
          <a:xfrm flipH="1">
            <a:off x="7345363" y="2879725"/>
            <a:ext cx="703262" cy="121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2" name="Google Shape;582;p28"/>
          <p:cNvCxnSpPr/>
          <p:nvPr/>
        </p:nvCxnSpPr>
        <p:spPr>
          <a:xfrm>
            <a:off x="4900613" y="2955925"/>
            <a:ext cx="1408112" cy="1981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3" name="Google Shape;583;p28"/>
          <p:cNvCxnSpPr/>
          <p:nvPr/>
        </p:nvCxnSpPr>
        <p:spPr>
          <a:xfrm flipH="1">
            <a:off x="7504114" y="2955925"/>
            <a:ext cx="1336675" cy="1981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4" name="Google Shape;584;p28"/>
          <p:cNvSpPr txBox="1"/>
          <p:nvPr/>
        </p:nvSpPr>
        <p:spPr>
          <a:xfrm>
            <a:off x="5199064" y="5629275"/>
            <a:ext cx="31384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 = A.B+B.C+A.C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8265181" y="4220558"/>
            <a:ext cx="257718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simply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applied Theorem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times.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CA4D8-F430-46FC-A4A5-5EB2500DC167}"/>
              </a:ext>
            </a:extLst>
          </p:cNvPr>
          <p:cNvSpPr txBox="1"/>
          <p:nvPr/>
        </p:nvSpPr>
        <p:spPr>
          <a:xfrm>
            <a:off x="29283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10. Carry: Sum of Products</a:t>
            </a:r>
            <a:endParaRPr lang="en-US" sz="12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9"/>
          <p:cNvSpPr txBox="1"/>
          <p:nvPr/>
        </p:nvSpPr>
        <p:spPr>
          <a:xfrm>
            <a:off x="3899320" y="1832383"/>
            <a:ext cx="4562400" cy="46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 = ABC+ABC+ABC+ABC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Sum =A(BC+BC)+A (BC+BC)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BC+BC = B  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BC+BC = B   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Substitute X for B   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We get AX + AX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A   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substitute B    C =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Sum = A    (B    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9"/>
          <p:cNvSpPr txBox="1">
            <a:spLocks noGrp="1"/>
          </p:cNvSpPr>
          <p:nvPr>
            <p:ph type="sldNum" idx="12"/>
          </p:nvPr>
        </p:nvSpPr>
        <p:spPr>
          <a:xfrm>
            <a:off x="969051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cxnSp>
        <p:nvCxnSpPr>
          <p:cNvPr id="596" name="Google Shape;596;p29"/>
          <p:cNvCxnSpPr/>
          <p:nvPr/>
        </p:nvCxnSpPr>
        <p:spPr>
          <a:xfrm>
            <a:off x="5172494" y="1811338"/>
            <a:ext cx="14128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29"/>
          <p:cNvCxnSpPr/>
          <p:nvPr/>
        </p:nvCxnSpPr>
        <p:spPr>
          <a:xfrm>
            <a:off x="6171033" y="1811338"/>
            <a:ext cx="1412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8" name="Google Shape;598;p29"/>
          <p:cNvCxnSpPr/>
          <p:nvPr/>
        </p:nvCxnSpPr>
        <p:spPr>
          <a:xfrm>
            <a:off x="6744119" y="1811338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9" name="Google Shape;599;p29"/>
          <p:cNvCxnSpPr/>
          <p:nvPr/>
        </p:nvCxnSpPr>
        <p:spPr>
          <a:xfrm>
            <a:off x="4969294" y="1811338"/>
            <a:ext cx="14128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0" name="Google Shape;600;p29"/>
          <p:cNvCxnSpPr/>
          <p:nvPr/>
        </p:nvCxnSpPr>
        <p:spPr>
          <a:xfrm>
            <a:off x="6958433" y="1811338"/>
            <a:ext cx="1412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1" name="Google Shape;601;p29"/>
          <p:cNvCxnSpPr/>
          <p:nvPr/>
        </p:nvCxnSpPr>
        <p:spPr>
          <a:xfrm>
            <a:off x="5736057" y="1811338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2" name="Google Shape;602;p29"/>
          <p:cNvCxnSpPr/>
          <p:nvPr/>
        </p:nvCxnSpPr>
        <p:spPr>
          <a:xfrm>
            <a:off x="7194969" y="2327275"/>
            <a:ext cx="14128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3" name="Google Shape;603;p29"/>
          <p:cNvCxnSpPr/>
          <p:nvPr/>
        </p:nvCxnSpPr>
        <p:spPr>
          <a:xfrm>
            <a:off x="7396583" y="2333625"/>
            <a:ext cx="14128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4" name="Google Shape;604;p29"/>
          <p:cNvCxnSpPr/>
          <p:nvPr/>
        </p:nvCxnSpPr>
        <p:spPr>
          <a:xfrm>
            <a:off x="6340894" y="2336800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5" name="Google Shape;605;p29"/>
          <p:cNvCxnSpPr/>
          <p:nvPr/>
        </p:nvCxnSpPr>
        <p:spPr>
          <a:xfrm>
            <a:off x="5520157" y="2324100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6" name="Google Shape;606;p29"/>
          <p:cNvCxnSpPr/>
          <p:nvPr/>
        </p:nvCxnSpPr>
        <p:spPr>
          <a:xfrm>
            <a:off x="5231232" y="2328863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7" name="Google Shape;607;p29"/>
          <p:cNvCxnSpPr/>
          <p:nvPr/>
        </p:nvCxnSpPr>
        <p:spPr>
          <a:xfrm>
            <a:off x="4346994" y="2917825"/>
            <a:ext cx="14128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8" name="Google Shape;608;p29"/>
          <p:cNvCxnSpPr/>
          <p:nvPr/>
        </p:nvCxnSpPr>
        <p:spPr>
          <a:xfrm>
            <a:off x="5162969" y="2917825"/>
            <a:ext cx="14128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9" name="Google Shape;609;p29"/>
          <p:cNvCxnSpPr/>
          <p:nvPr/>
        </p:nvCxnSpPr>
        <p:spPr>
          <a:xfrm>
            <a:off x="4342232" y="3432175"/>
            <a:ext cx="139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0" name="Google Shape;610;p29"/>
          <p:cNvCxnSpPr/>
          <p:nvPr/>
        </p:nvCxnSpPr>
        <p:spPr>
          <a:xfrm>
            <a:off x="4566069" y="3436938"/>
            <a:ext cx="14128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29"/>
          <p:cNvCxnSpPr/>
          <p:nvPr/>
        </p:nvCxnSpPr>
        <p:spPr>
          <a:xfrm rot="10800000" flipH="1">
            <a:off x="5736058" y="3432175"/>
            <a:ext cx="669925" cy="635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2" name="Google Shape;612;p29"/>
          <p:cNvCxnSpPr/>
          <p:nvPr/>
        </p:nvCxnSpPr>
        <p:spPr>
          <a:xfrm>
            <a:off x="5375694" y="4565650"/>
            <a:ext cx="14128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3" name="Google Shape;613;p29"/>
          <p:cNvCxnSpPr/>
          <p:nvPr/>
        </p:nvCxnSpPr>
        <p:spPr>
          <a:xfrm>
            <a:off x="6318671" y="4527549"/>
            <a:ext cx="176211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14" name="Google Shape;614;p29"/>
          <p:cNvGrpSpPr/>
          <p:nvPr/>
        </p:nvGrpSpPr>
        <p:grpSpPr>
          <a:xfrm>
            <a:off x="5913857" y="2955925"/>
            <a:ext cx="228600" cy="228600"/>
            <a:chOff x="4656" y="1296"/>
            <a:chExt cx="480" cy="432"/>
          </a:xfrm>
        </p:grpSpPr>
        <p:sp>
          <p:nvSpPr>
            <p:cNvPr id="615" name="Google Shape;615;p29"/>
            <p:cNvSpPr/>
            <p:nvPr/>
          </p:nvSpPr>
          <p:spPr>
            <a:xfrm>
              <a:off x="4656" y="1296"/>
              <a:ext cx="480" cy="43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16" name="Google Shape;616;p29"/>
            <p:cNvCxnSpPr/>
            <p:nvPr/>
          </p:nvCxnSpPr>
          <p:spPr>
            <a:xfrm>
              <a:off x="4896" y="1392"/>
              <a:ext cx="2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7" name="Google Shape;617;p29"/>
            <p:cNvCxnSpPr/>
            <p:nvPr/>
          </p:nvCxnSpPr>
          <p:spPr>
            <a:xfrm>
              <a:off x="4800" y="1488"/>
              <a:ext cx="1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18" name="Google Shape;618;p29"/>
          <p:cNvGrpSpPr/>
          <p:nvPr/>
        </p:nvGrpSpPr>
        <p:grpSpPr>
          <a:xfrm>
            <a:off x="5956719" y="3489325"/>
            <a:ext cx="228600" cy="228600"/>
            <a:chOff x="4656" y="1296"/>
            <a:chExt cx="480" cy="432"/>
          </a:xfrm>
        </p:grpSpPr>
        <p:sp>
          <p:nvSpPr>
            <p:cNvPr id="619" name="Google Shape;619;p29"/>
            <p:cNvSpPr/>
            <p:nvPr/>
          </p:nvSpPr>
          <p:spPr>
            <a:xfrm>
              <a:off x="4656" y="1296"/>
              <a:ext cx="480" cy="43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20" name="Google Shape;620;p29"/>
            <p:cNvCxnSpPr/>
            <p:nvPr/>
          </p:nvCxnSpPr>
          <p:spPr>
            <a:xfrm>
              <a:off x="4896" y="1392"/>
              <a:ext cx="2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1" name="Google Shape;621;p29"/>
            <p:cNvCxnSpPr/>
            <p:nvPr/>
          </p:nvCxnSpPr>
          <p:spPr>
            <a:xfrm>
              <a:off x="4800" y="1488"/>
              <a:ext cx="1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22" name="Google Shape;622;p29"/>
          <p:cNvGrpSpPr/>
          <p:nvPr/>
        </p:nvGrpSpPr>
        <p:grpSpPr>
          <a:xfrm>
            <a:off x="6710782" y="4040188"/>
            <a:ext cx="228600" cy="228600"/>
            <a:chOff x="4656" y="1296"/>
            <a:chExt cx="480" cy="432"/>
          </a:xfrm>
        </p:grpSpPr>
        <p:sp>
          <p:nvSpPr>
            <p:cNvPr id="623" name="Google Shape;623;p29"/>
            <p:cNvSpPr/>
            <p:nvPr/>
          </p:nvSpPr>
          <p:spPr>
            <a:xfrm>
              <a:off x="4656" y="1296"/>
              <a:ext cx="480" cy="43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24" name="Google Shape;624;p29"/>
            <p:cNvCxnSpPr/>
            <p:nvPr/>
          </p:nvCxnSpPr>
          <p:spPr>
            <a:xfrm>
              <a:off x="4896" y="1392"/>
              <a:ext cx="2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5" name="Google Shape;625;p29"/>
            <p:cNvCxnSpPr/>
            <p:nvPr/>
          </p:nvCxnSpPr>
          <p:spPr>
            <a:xfrm>
              <a:off x="4800" y="1488"/>
              <a:ext cx="1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26" name="Google Shape;626;p29"/>
          <p:cNvGrpSpPr/>
          <p:nvPr/>
        </p:nvGrpSpPr>
        <p:grpSpPr>
          <a:xfrm>
            <a:off x="6171237" y="6132419"/>
            <a:ext cx="228600" cy="228600"/>
            <a:chOff x="4656" y="1296"/>
            <a:chExt cx="480" cy="432"/>
          </a:xfrm>
        </p:grpSpPr>
        <p:sp>
          <p:nvSpPr>
            <p:cNvPr id="627" name="Google Shape;627;p29"/>
            <p:cNvSpPr/>
            <p:nvPr/>
          </p:nvSpPr>
          <p:spPr>
            <a:xfrm>
              <a:off x="4656" y="1296"/>
              <a:ext cx="480" cy="43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28" name="Google Shape;628;p29"/>
            <p:cNvCxnSpPr/>
            <p:nvPr/>
          </p:nvCxnSpPr>
          <p:spPr>
            <a:xfrm>
              <a:off x="4896" y="1392"/>
              <a:ext cx="2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9" name="Google Shape;629;p29"/>
            <p:cNvCxnSpPr/>
            <p:nvPr/>
          </p:nvCxnSpPr>
          <p:spPr>
            <a:xfrm>
              <a:off x="4800" y="1488"/>
              <a:ext cx="1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30" name="Google Shape;630;p29"/>
          <p:cNvGrpSpPr/>
          <p:nvPr/>
        </p:nvGrpSpPr>
        <p:grpSpPr>
          <a:xfrm>
            <a:off x="5545557" y="6132419"/>
            <a:ext cx="228600" cy="228600"/>
            <a:chOff x="4656" y="1296"/>
            <a:chExt cx="480" cy="432"/>
          </a:xfrm>
        </p:grpSpPr>
        <p:sp>
          <p:nvSpPr>
            <p:cNvPr id="631" name="Google Shape;631;p29"/>
            <p:cNvSpPr/>
            <p:nvPr/>
          </p:nvSpPr>
          <p:spPr>
            <a:xfrm>
              <a:off x="4656" y="1296"/>
              <a:ext cx="480" cy="43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2" name="Google Shape;632;p29"/>
            <p:cNvCxnSpPr/>
            <p:nvPr/>
          </p:nvCxnSpPr>
          <p:spPr>
            <a:xfrm>
              <a:off x="4896" y="1392"/>
              <a:ext cx="2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3" name="Google Shape;633;p29"/>
            <p:cNvCxnSpPr/>
            <p:nvPr/>
          </p:nvCxnSpPr>
          <p:spPr>
            <a:xfrm>
              <a:off x="4800" y="1488"/>
              <a:ext cx="1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34" name="Google Shape;634;p29"/>
          <p:cNvGrpSpPr/>
          <p:nvPr/>
        </p:nvGrpSpPr>
        <p:grpSpPr>
          <a:xfrm>
            <a:off x="5867400" y="5613400"/>
            <a:ext cx="228600" cy="228600"/>
            <a:chOff x="4656" y="1296"/>
            <a:chExt cx="480" cy="432"/>
          </a:xfrm>
        </p:grpSpPr>
        <p:sp>
          <p:nvSpPr>
            <p:cNvPr id="635" name="Google Shape;635;p29"/>
            <p:cNvSpPr/>
            <p:nvPr/>
          </p:nvSpPr>
          <p:spPr>
            <a:xfrm>
              <a:off x="4656" y="1296"/>
              <a:ext cx="480" cy="43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6" name="Google Shape;636;p29"/>
            <p:cNvCxnSpPr/>
            <p:nvPr/>
          </p:nvCxnSpPr>
          <p:spPr>
            <a:xfrm>
              <a:off x="4896" y="1392"/>
              <a:ext cx="2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7" name="Google Shape;637;p29"/>
            <p:cNvCxnSpPr/>
            <p:nvPr/>
          </p:nvCxnSpPr>
          <p:spPr>
            <a:xfrm>
              <a:off x="4800" y="1488"/>
              <a:ext cx="1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38" name="Google Shape;638;p29"/>
          <p:cNvGrpSpPr/>
          <p:nvPr/>
        </p:nvGrpSpPr>
        <p:grpSpPr>
          <a:xfrm>
            <a:off x="4593057" y="5080000"/>
            <a:ext cx="228600" cy="228600"/>
            <a:chOff x="4656" y="1296"/>
            <a:chExt cx="480" cy="432"/>
          </a:xfrm>
        </p:grpSpPr>
        <p:sp>
          <p:nvSpPr>
            <p:cNvPr id="639" name="Google Shape;639;p29"/>
            <p:cNvSpPr/>
            <p:nvPr/>
          </p:nvSpPr>
          <p:spPr>
            <a:xfrm>
              <a:off x="4656" y="1296"/>
              <a:ext cx="480" cy="43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0" name="Google Shape;640;p29"/>
            <p:cNvCxnSpPr/>
            <p:nvPr/>
          </p:nvCxnSpPr>
          <p:spPr>
            <a:xfrm>
              <a:off x="4896" y="1392"/>
              <a:ext cx="2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1" name="Google Shape;641;p29"/>
            <p:cNvCxnSpPr/>
            <p:nvPr/>
          </p:nvCxnSpPr>
          <p:spPr>
            <a:xfrm>
              <a:off x="4800" y="1488"/>
              <a:ext cx="1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732D21D-2276-D6B6-9AA0-F93F1DB1D2EB}"/>
              </a:ext>
            </a:extLst>
          </p:cNvPr>
          <p:cNvSpPr txBox="1"/>
          <p:nvPr/>
        </p:nvSpPr>
        <p:spPr>
          <a:xfrm>
            <a:off x="29283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10. Sum: Sum of Products</a:t>
            </a:r>
            <a:endParaRPr lang="en-US" sz="1200" b="1" dirty="0"/>
          </a:p>
        </p:txBody>
      </p:sp>
      <p:sp>
        <p:nvSpPr>
          <p:cNvPr id="3" name="Google Shape;564;p28">
            <a:extLst>
              <a:ext uri="{FF2B5EF4-FFF2-40B4-BE49-F238E27FC236}">
                <a16:creationId xmlns:a16="http://schemas.microsoft.com/office/drawing/2014/main" id="{10C07AAE-B1DA-3BFD-441E-F6BF2D95723E}"/>
              </a:ext>
            </a:extLst>
          </p:cNvPr>
          <p:cNvSpPr txBox="1">
            <a:spLocks/>
          </p:cNvSpPr>
          <p:nvPr/>
        </p:nvSpPr>
        <p:spPr>
          <a:xfrm>
            <a:off x="2984501" y="355600"/>
            <a:ext cx="73136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10. Sum: Sum of Products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"/>
          <p:cNvSpPr txBox="1">
            <a:spLocks noGrp="1"/>
          </p:cNvSpPr>
          <p:nvPr>
            <p:ph type="title"/>
          </p:nvPr>
        </p:nvSpPr>
        <p:spPr>
          <a:xfrm>
            <a:off x="2812472" y="3206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400" b="1" dirty="0"/>
              <a:t>Summary</a:t>
            </a:r>
            <a:endParaRPr sz="2400" b="1" dirty="0"/>
          </a:p>
        </p:txBody>
      </p:sp>
      <p:sp>
        <p:nvSpPr>
          <p:cNvPr id="649" name="Google Shape;649;p30"/>
          <p:cNvSpPr txBox="1">
            <a:spLocks noGrp="1"/>
          </p:cNvSpPr>
          <p:nvPr>
            <p:ph type="body" idx="1"/>
          </p:nvPr>
        </p:nvSpPr>
        <p:spPr>
          <a:xfrm>
            <a:off x="2718956" y="164623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We have looked at the basic logic gates: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75"/>
              <a:buChar char="•"/>
            </a:pPr>
            <a:r>
              <a:rPr lang="en-US" sz="2175" dirty="0"/>
              <a:t>Identifying OR, AND, NOT, NAND, NOR and XOR.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We have seen that gates can be joined together to form Combinatorial Logic.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650" name="Google Shape;65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9E472-C59B-EE4F-5D05-279F7817E089}"/>
              </a:ext>
            </a:extLst>
          </p:cNvPr>
          <p:cNvSpPr txBox="1"/>
          <p:nvPr/>
        </p:nvSpPr>
        <p:spPr>
          <a:xfrm>
            <a:off x="444919" y="3290500"/>
            <a:ext cx="3501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summary</a:t>
            </a:r>
            <a:endParaRPr lang="en-US" sz="12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9" name="Picture 8" descr="A person in a suit pointing his finger&#10;&#10;Description automatically generated">
            <a:extLst>
              <a:ext uri="{FF2B5EF4-FFF2-40B4-BE49-F238E27FC236}">
                <a16:creationId xmlns:a16="http://schemas.microsoft.com/office/drawing/2014/main" id="{A7D5F9C6-4485-5AE8-CD32-7D94DFCC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2488</Words>
  <Application>Microsoft Office PowerPoint</Application>
  <PresentationFormat>Widescreen</PresentationFormat>
  <Paragraphs>648</Paragraphs>
  <Slides>34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Courier New</vt:lpstr>
      <vt:lpstr>Noto Sans Symbols</vt:lpstr>
      <vt:lpstr>Times New Roman</vt:lpstr>
      <vt:lpstr>Verdana</vt:lpstr>
      <vt:lpstr>Office Theme</vt:lpstr>
      <vt:lpstr>MS_ClipArt_Gallery.2</vt:lpstr>
      <vt:lpstr>       4CS015 Lecture 3: Combinational Circuit</vt:lpstr>
      <vt:lpstr>1. Lecture 3 coverage</vt:lpstr>
      <vt:lpstr>2. Boolean Expression Reduction</vt:lpstr>
      <vt:lpstr>2.1. Boolean Expression from Truth table</vt:lpstr>
      <vt:lpstr>2.1.1. SOP Expression from Truth table</vt:lpstr>
      <vt:lpstr>2.1.2. POS Expression from Truth table</vt:lpstr>
      <vt:lpstr>3. Circuit Design</vt:lpstr>
      <vt:lpstr>3. Circuit Design (Contd.):</vt:lpstr>
      <vt:lpstr>3. Circuit Design (Contd.):</vt:lpstr>
      <vt:lpstr>PowerPoint Presentation</vt:lpstr>
      <vt:lpstr>3. Circuit Design (Contd.):</vt:lpstr>
      <vt:lpstr>3. Circuit Design (Contd.):</vt:lpstr>
      <vt:lpstr>PowerPoint Presentation</vt:lpstr>
      <vt:lpstr>PowerPoint Presentation</vt:lpstr>
      <vt:lpstr>PowerPoint Presentation</vt:lpstr>
      <vt:lpstr>PowerPoint Presentation</vt:lpstr>
      <vt:lpstr>4.  Exercises ……</vt:lpstr>
      <vt:lpstr>4. Exercises ……</vt:lpstr>
      <vt:lpstr>5. Addition Rules as a Table</vt:lpstr>
      <vt:lpstr>6. Addition as Logical Functions</vt:lpstr>
      <vt:lpstr>7. Half Adder</vt:lpstr>
      <vt:lpstr>PowerPoint Presentation</vt:lpstr>
      <vt:lpstr>PowerPoint Presentation</vt:lpstr>
      <vt:lpstr>PowerPoint Presentation</vt:lpstr>
      <vt:lpstr>8.2 Full Adder from Two Half Adders</vt:lpstr>
      <vt:lpstr>8.3 Symbol for a Full Adder</vt:lpstr>
      <vt:lpstr>9. Reduction.</vt:lpstr>
      <vt:lpstr>9.1 Reduction Basics </vt:lpstr>
      <vt:lpstr>9.2 Reduction Example</vt:lpstr>
      <vt:lpstr>9.2 Reduction Example</vt:lpstr>
      <vt:lpstr>10. Carry: Sum of Products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uttambabu</dc:creator>
  <cp:lastModifiedBy>Sanjeev Chamling</cp:lastModifiedBy>
  <cp:revision>8</cp:revision>
  <dcterms:created xsi:type="dcterms:W3CDTF">2021-02-18T12:49:28Z</dcterms:created>
  <dcterms:modified xsi:type="dcterms:W3CDTF">2025-11-25T07:33:03Z</dcterms:modified>
</cp:coreProperties>
</file>