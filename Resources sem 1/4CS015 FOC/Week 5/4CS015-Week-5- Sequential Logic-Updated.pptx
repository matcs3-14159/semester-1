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5" r:id="rId2"/>
    <p:sldId id="257" r:id="rId3"/>
    <p:sldId id="28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82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4" r:id="rId27"/>
    <p:sldId id="280" r:id="rId28"/>
    <p:sldId id="28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2EF030-9427-4290-AC92-F8FC88842385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09735-F49A-40B0-8A37-9F1732599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732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09735-F49A-40B0-8A37-9F1732599C5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7252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09735-F49A-40B0-8A37-9F1732599C5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726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6C689-5B56-560A-48E8-C13C006B9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99F2A2-3536-CC66-F423-9ECB8528EF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037F4-F74F-CFDE-C1FA-3FD8CF28E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0B76B-6DB0-4327-BB63-67C53A736337}" type="datetime1">
              <a:rPr lang="en-GB" smtClean="0"/>
              <a:t>15/12/2024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C862B-9A92-136D-8581-F01828B53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EFAB1-80C2-05BC-F57F-277C01950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‹#›</a:t>
            </a:fld>
            <a:endParaRPr lang="en-GB"/>
          </a:p>
        </p:txBody>
      </p:sp>
      <p:sp>
        <p:nvSpPr>
          <p:cNvPr id="7" name="Google Shape;196;g249310ac104_0_42">
            <a:extLst>
              <a:ext uri="{FF2B5EF4-FFF2-40B4-BE49-F238E27FC236}">
                <a16:creationId xmlns:a16="http://schemas.microsoft.com/office/drawing/2014/main" id="{0BB02E03-1DDA-8960-9FC9-6189DFC2DF98}"/>
              </a:ext>
            </a:extLst>
          </p:cNvPr>
          <p:cNvSpPr/>
          <p:nvPr userDrawn="1"/>
        </p:nvSpPr>
        <p:spPr>
          <a:xfrm>
            <a:off x="-39" y="-12457"/>
            <a:ext cx="2558413" cy="6870454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30200" lvl="0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endParaRPr lang="en-US" sz="1000" dirty="0"/>
          </a:p>
        </p:txBody>
      </p:sp>
      <p:pic>
        <p:nvPicPr>
          <p:cNvPr id="8" name="Google Shape;76;p1">
            <a:extLst>
              <a:ext uri="{FF2B5EF4-FFF2-40B4-BE49-F238E27FC236}">
                <a16:creationId xmlns:a16="http://schemas.microsoft.com/office/drawing/2014/main" id="{C2A6A3B2-DA9C-E06A-07AC-F218ABB4E87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6883" y="93287"/>
            <a:ext cx="2135054" cy="103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155F76-EFDD-686A-1491-DCC30E5E7F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9682" y="6307191"/>
            <a:ext cx="2135054" cy="44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49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2D962-85A6-EC53-520E-031ECD142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5B61F-AB95-5594-D00A-6B406AD83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4659-F02A-CC4F-A525-D7F27DF7D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BFC12-508F-4F55-9D03-77083001FDFB}" type="datetime1">
              <a:rPr lang="en-GB" smtClean="0"/>
              <a:t>15/12/2024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FB6F4-00CA-FC4F-24C6-056A6D8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F0C91-EC20-2FC0-8BCD-27CC73F6D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‹#›</a:t>
            </a:fld>
            <a:endParaRPr lang="en-GB"/>
          </a:p>
        </p:txBody>
      </p:sp>
      <p:sp>
        <p:nvSpPr>
          <p:cNvPr id="7" name="Google Shape;196;g249310ac104_0_42">
            <a:extLst>
              <a:ext uri="{FF2B5EF4-FFF2-40B4-BE49-F238E27FC236}">
                <a16:creationId xmlns:a16="http://schemas.microsoft.com/office/drawing/2014/main" id="{CA4C2FFA-9252-FE18-BEF3-A749E1F38B6F}"/>
              </a:ext>
            </a:extLst>
          </p:cNvPr>
          <p:cNvSpPr/>
          <p:nvPr userDrawn="1"/>
        </p:nvSpPr>
        <p:spPr>
          <a:xfrm>
            <a:off x="-39" y="-12457"/>
            <a:ext cx="2558413" cy="6870454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30200" lvl="0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endParaRPr lang="en-US" sz="1000" dirty="0"/>
          </a:p>
        </p:txBody>
      </p:sp>
      <p:pic>
        <p:nvPicPr>
          <p:cNvPr id="8" name="Google Shape;76;p1">
            <a:extLst>
              <a:ext uri="{FF2B5EF4-FFF2-40B4-BE49-F238E27FC236}">
                <a16:creationId xmlns:a16="http://schemas.microsoft.com/office/drawing/2014/main" id="{614A351E-73D9-34C2-B691-D49D26A7178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6883" y="93287"/>
            <a:ext cx="2135054" cy="103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D7A65E-2E73-3385-2452-5B43F23565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9682" y="6307191"/>
            <a:ext cx="2135054" cy="44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122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40C5E-13D2-0E66-384A-01194A095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B327B-99C9-2A4E-79A9-01ADE17BB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939EE-206D-5FB0-9967-B92FD9EA2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F4C01-BEFD-4191-87E6-5E5259CBF0AA}" type="datetime1">
              <a:rPr lang="en-GB" smtClean="0"/>
              <a:t>15/12/2024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37B47-8FE4-6B68-2D3B-C10A4A54B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48A0A-401D-4DB0-5EA2-BE32CA23D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‹#›</a:t>
            </a:fld>
            <a:endParaRPr lang="en-GB"/>
          </a:p>
        </p:txBody>
      </p:sp>
      <p:sp>
        <p:nvSpPr>
          <p:cNvPr id="7" name="Google Shape;196;g249310ac104_0_42">
            <a:extLst>
              <a:ext uri="{FF2B5EF4-FFF2-40B4-BE49-F238E27FC236}">
                <a16:creationId xmlns:a16="http://schemas.microsoft.com/office/drawing/2014/main" id="{3F1B457A-5300-DAED-9887-E524C13B998B}"/>
              </a:ext>
            </a:extLst>
          </p:cNvPr>
          <p:cNvSpPr/>
          <p:nvPr userDrawn="1"/>
        </p:nvSpPr>
        <p:spPr>
          <a:xfrm>
            <a:off x="-39" y="-12457"/>
            <a:ext cx="2558413" cy="6870454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30200" lvl="0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endParaRPr lang="en-US" sz="1000" dirty="0"/>
          </a:p>
        </p:txBody>
      </p:sp>
      <p:pic>
        <p:nvPicPr>
          <p:cNvPr id="8" name="Google Shape;76;p1">
            <a:extLst>
              <a:ext uri="{FF2B5EF4-FFF2-40B4-BE49-F238E27FC236}">
                <a16:creationId xmlns:a16="http://schemas.microsoft.com/office/drawing/2014/main" id="{A9EE1C03-95C2-7D4D-479E-6D88FD755B6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6883" y="93287"/>
            <a:ext cx="2135054" cy="103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4D0DE3-D554-70DD-7504-8D20697137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9682" y="6307191"/>
            <a:ext cx="2135054" cy="44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54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850D-1C79-149E-4B3F-362D830D5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8D300-A8A3-7B92-BC27-F07560AC1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AF59F-A59E-8C69-7363-055F494EF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6F87B-95B3-37C1-12EF-3D6B07E79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4F2FC-2876-4006-BB6D-7DC1153885A2}" type="datetime1">
              <a:rPr lang="en-GB" smtClean="0"/>
              <a:t>15/12/2024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EBEFB-8995-EB7D-0549-40FE405D5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4ED4D-7172-9046-ECAE-5C5D471AB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‹#›</a:t>
            </a:fld>
            <a:endParaRPr lang="en-GB"/>
          </a:p>
        </p:txBody>
      </p:sp>
      <p:sp>
        <p:nvSpPr>
          <p:cNvPr id="8" name="Google Shape;196;g249310ac104_0_42">
            <a:extLst>
              <a:ext uri="{FF2B5EF4-FFF2-40B4-BE49-F238E27FC236}">
                <a16:creationId xmlns:a16="http://schemas.microsoft.com/office/drawing/2014/main" id="{939B5FCB-A992-786F-B7C9-6D565435C84B}"/>
              </a:ext>
            </a:extLst>
          </p:cNvPr>
          <p:cNvSpPr/>
          <p:nvPr userDrawn="1"/>
        </p:nvSpPr>
        <p:spPr>
          <a:xfrm>
            <a:off x="-39" y="-12457"/>
            <a:ext cx="2558413" cy="6870454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30200" lvl="0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endParaRPr lang="en-US" sz="1000" dirty="0"/>
          </a:p>
        </p:txBody>
      </p:sp>
      <p:pic>
        <p:nvPicPr>
          <p:cNvPr id="9" name="Google Shape;76;p1">
            <a:extLst>
              <a:ext uri="{FF2B5EF4-FFF2-40B4-BE49-F238E27FC236}">
                <a16:creationId xmlns:a16="http://schemas.microsoft.com/office/drawing/2014/main" id="{303F7A50-8667-B2C1-5AED-2105E2EFCA09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6883" y="93287"/>
            <a:ext cx="2135054" cy="103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D76211-120C-0697-C6F0-B54D8259CA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9682" y="6307191"/>
            <a:ext cx="2135054" cy="44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34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7EA0-89F5-B731-A158-DD4561288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ACC7E-6270-3D4F-A9C5-6697E5E28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84A3A6-F16C-3A56-42BD-D4DBC330B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C359A3-CF82-BC94-B310-CD049C3522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20565-B08E-874F-304F-4C5E120F1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0F29D9-3485-9C06-BABB-8F8A49933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BAE58-EEEA-409A-BF10-E71DA18CBD7B}" type="datetime1">
              <a:rPr lang="en-GB" smtClean="0"/>
              <a:t>15/12/2024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68F71-88CA-378B-9662-F9A8B46CD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5325F7-0082-BC7C-DA21-8E3ADBD97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7871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B18A3-6368-CD78-FC83-97FFB0EE6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36C251-BA49-E04E-7522-A805FA045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A52D-5542-4794-80A8-EE76E64C368D}" type="datetime1">
              <a:rPr lang="en-GB" smtClean="0"/>
              <a:t>15/12/2024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76F28-82B6-AA8A-5843-D15B6C704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E3800-AC8C-EBE5-E618-C340CCD52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723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72EF31-C4DE-3BEE-3C6E-D6B58CC4D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C071D-8480-42DB-BEB6-B4AEB2F42C8F}" type="datetime1">
              <a:rPr lang="en-GB" smtClean="0"/>
              <a:t>15/12/2024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5EEFE9-04A4-BF64-4F2D-AE237B80B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DC565-0B09-BA10-E6A2-A26E53F63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204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0FCD3-97ED-6E86-E7C4-AC3528F42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6ECE1-1DED-411B-0FF5-C4BE7BFB2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6062C-B175-0C32-6485-A35C0112B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2BB92-DA4E-E75B-4266-3F6A4B65B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B7310-E123-495F-910E-BA2EF2D8E5FF}" type="datetime1">
              <a:rPr lang="en-GB" smtClean="0"/>
              <a:t>15/12/2024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A2309-5C09-B806-BAA8-E76AD3F63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9D190-B0CC-682D-0F2F-1D2E1DF7D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46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6E17-8AA0-E9BC-2452-43C6C61EC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BCEA74-6369-4411-4BF1-7FC54D378E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0B68C0-CB36-7C31-351F-54A263799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240AD-93CF-F9ED-72E4-913DD2A2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8DD33-6EB6-451A-9EF1-7DFE2BEB49F9}" type="datetime1">
              <a:rPr lang="en-GB" smtClean="0"/>
              <a:t>15/12/2024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7D20E-BC19-903F-136F-E1A8D1518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0985B-DED2-7E90-83C5-1CCEDEB2D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422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B53A6-BA7A-FB7F-5858-707AA37C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ABE8F3-779A-B1E1-DA1A-2EFD0E3BB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99364-23E1-8B25-4ADE-C8F004B89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98055-9BAB-4159-85D3-CC74C8EE67D9}" type="datetime1">
              <a:rPr lang="en-GB" smtClean="0"/>
              <a:t>15/12/2024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915BB-5E75-31D1-7194-2F9928873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264B8-CEEE-D0EA-9047-A3873C0CD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613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4CD5E0-351D-2BF8-7694-6DF09CCDDC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4801E-A43C-7EF4-35C0-9460D871A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86E0B-B624-BD92-45CC-36CF55B91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D36D1-A8BB-456F-9BF5-51D172FF32A2}" type="datetime1">
              <a:rPr lang="en-GB" smtClean="0"/>
              <a:t>15/12/2024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D9DAA-8153-89C6-E41B-B3C256904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BB7E1-47BC-2737-7F99-2C305781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78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D81D6F-D404-4A0C-824C-EE7CA586C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6158D-93BD-008E-2EDC-5F663CC9E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8F1FE-F739-A0C6-59AF-6FC746C4B8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30790-B3C3-43B1-A016-6F6B895615A6}" type="datetime1">
              <a:rPr lang="en-GB" smtClean="0"/>
              <a:t>15/12/2024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D1F79-AF8F-7CCD-E384-E0275A909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26AC2-1D7B-9005-0FBC-F0F634339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8E46AB-5C1B-4B27-8127-D353AEACAF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995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2F2F43-E544-18C4-1687-0DC5C5B44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1</a:t>
            </a:fld>
            <a:endParaRPr lang="en-GB"/>
          </a:p>
        </p:txBody>
      </p:sp>
      <p:sp>
        <p:nvSpPr>
          <p:cNvPr id="7" name="Google Shape;95;p1">
            <a:extLst>
              <a:ext uri="{FF2B5EF4-FFF2-40B4-BE49-F238E27FC236}">
                <a16:creationId xmlns:a16="http://schemas.microsoft.com/office/drawing/2014/main" id="{86D11F3E-8D94-86A1-4BCE-4D31E518E9A0}"/>
              </a:ext>
            </a:extLst>
          </p:cNvPr>
          <p:cNvSpPr txBox="1">
            <a:spLocks/>
          </p:cNvSpPr>
          <p:nvPr/>
        </p:nvSpPr>
        <p:spPr>
          <a:xfrm>
            <a:off x="993300" y="1605600"/>
            <a:ext cx="10205400" cy="18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SzPts val="4000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4CS015</a:t>
            </a:r>
            <a:b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Lecture 5: Sequential Logic and Memory</a:t>
            </a:r>
            <a:endParaRPr lang="en-US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2707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3;p2">
            <a:extLst>
              <a:ext uri="{FF2B5EF4-FFF2-40B4-BE49-F238E27FC236}">
                <a16:creationId xmlns:a16="http://schemas.microsoft.com/office/drawing/2014/main" id="{FD47239E-E6A7-FA62-3371-82108BB9BD4E}"/>
              </a:ext>
            </a:extLst>
          </p:cNvPr>
          <p:cNvSpPr txBox="1">
            <a:spLocks/>
          </p:cNvSpPr>
          <p:nvPr/>
        </p:nvSpPr>
        <p:spPr>
          <a:xfrm>
            <a:off x="2616655" y="94916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300"/>
            </a:pPr>
            <a:r>
              <a:rPr lang="en-US" sz="4400" b="1" dirty="0">
                <a:latin typeface="Times New Roman"/>
                <a:ea typeface="Times New Roman"/>
                <a:cs typeface="Times New Roman"/>
                <a:sym typeface="Times New Roman"/>
              </a:rPr>
              <a:t>The story so far</a:t>
            </a:r>
            <a:endParaRPr lang="en-US" sz="4400" b="1" dirty="0"/>
          </a:p>
        </p:txBody>
      </p:sp>
      <p:sp>
        <p:nvSpPr>
          <p:cNvPr id="11" name="Google Shape;104;p2">
            <a:extLst>
              <a:ext uri="{FF2B5EF4-FFF2-40B4-BE49-F238E27FC236}">
                <a16:creationId xmlns:a16="http://schemas.microsoft.com/office/drawing/2014/main" id="{CA7CFC16-502B-DB43-8980-1E3B43A74DE0}"/>
              </a:ext>
            </a:extLst>
          </p:cNvPr>
          <p:cNvSpPr txBox="1">
            <a:spLocks/>
          </p:cNvSpPr>
          <p:nvPr/>
        </p:nvSpPr>
        <p:spPr>
          <a:xfrm>
            <a:off x="2647828" y="2274732"/>
            <a:ext cx="7524872" cy="399505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00" indent="-177800" algn="l"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We’ve looked Number System.</a:t>
            </a:r>
            <a:endParaRPr lang="en-US" sz="2000" dirty="0"/>
          </a:p>
          <a:p>
            <a:pPr marL="635000" indent="-177800" algn="l"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000" indent="-177800" algn="l"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We’ve learned conversion of Number System.</a:t>
            </a:r>
          </a:p>
          <a:p>
            <a:pPr marL="457200" algn="l">
              <a:spcBef>
                <a:spcPts val="0"/>
              </a:spcBef>
              <a:buSzPts val="2800"/>
            </a:pP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000" indent="-177800" algn="l"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We’ve looked at combinational logic circuits.</a:t>
            </a:r>
          </a:p>
          <a:p>
            <a:pPr marL="635000" indent="-177800" algn="l"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endParaRPr lang="en-US" dirty="0"/>
          </a:p>
          <a:p>
            <a:pPr marL="635000" indent="-177800" algn="l">
              <a:spcBef>
                <a:spcPts val="75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We’ve designed an ALU from logic gates.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3130239-273A-7790-1DAB-47AEC4A1E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2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7A0561-03DD-6BDB-DCA9-71C35970453D}"/>
              </a:ext>
            </a:extLst>
          </p:cNvPr>
          <p:cNvSpPr txBox="1"/>
          <p:nvPr/>
        </p:nvSpPr>
        <p:spPr>
          <a:xfrm>
            <a:off x="311728" y="2551944"/>
            <a:ext cx="24938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1.The story so far </a:t>
            </a:r>
          </a:p>
          <a:p>
            <a:r>
              <a:rPr lang="en-US" sz="1400" dirty="0"/>
              <a:t>2.This week will look at</a:t>
            </a:r>
          </a:p>
          <a:p>
            <a:r>
              <a:rPr lang="en-US" sz="1400" dirty="0"/>
              <a:t>3.The next step</a:t>
            </a:r>
          </a:p>
          <a:p>
            <a:r>
              <a:rPr lang="en-US" sz="1400" dirty="0"/>
              <a:t>4.Combinational vs. Sequential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9020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35A3F-A4DF-BDCF-77F8-3FAFAA432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3;p2">
            <a:extLst>
              <a:ext uri="{FF2B5EF4-FFF2-40B4-BE49-F238E27FC236}">
                <a16:creationId xmlns:a16="http://schemas.microsoft.com/office/drawing/2014/main" id="{98562D32-A636-C26F-03A0-2F1244A370BC}"/>
              </a:ext>
            </a:extLst>
          </p:cNvPr>
          <p:cNvSpPr txBox="1">
            <a:spLocks/>
          </p:cNvSpPr>
          <p:nvPr/>
        </p:nvSpPr>
        <p:spPr>
          <a:xfrm>
            <a:off x="2440011" y="94916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300"/>
            </a:pPr>
            <a:r>
              <a:rPr lang="en-US" sz="44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week we will look at:</a:t>
            </a:r>
          </a:p>
          <a:p>
            <a:pPr algn="l">
              <a:spcBef>
                <a:spcPts val="0"/>
              </a:spcBef>
              <a:buSzPts val="3300"/>
            </a:pP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04;p2">
            <a:extLst>
              <a:ext uri="{FF2B5EF4-FFF2-40B4-BE49-F238E27FC236}">
                <a16:creationId xmlns:a16="http://schemas.microsoft.com/office/drawing/2014/main" id="{A1416965-9B9E-55C9-F0F0-DC38A84C3388}"/>
              </a:ext>
            </a:extLst>
          </p:cNvPr>
          <p:cNvSpPr txBox="1">
            <a:spLocks/>
          </p:cNvSpPr>
          <p:nvPr/>
        </p:nvSpPr>
        <p:spPr>
          <a:xfrm>
            <a:off x="2940754" y="1913393"/>
            <a:ext cx="11237890" cy="399505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Sequential Logic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Pulses and clocks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Timing Diagram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Race Hazard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Flip-Flop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8CFA650-4A25-8558-96D1-92514BB95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3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25E9DB-4780-F296-A398-AA04315A03B1}"/>
              </a:ext>
            </a:extLst>
          </p:cNvPr>
          <p:cNvSpPr txBox="1"/>
          <p:nvPr/>
        </p:nvSpPr>
        <p:spPr>
          <a:xfrm>
            <a:off x="311728" y="2551944"/>
            <a:ext cx="24938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1.The story so far </a:t>
            </a:r>
          </a:p>
          <a:p>
            <a:r>
              <a:rPr lang="en-US" sz="1400" b="1" dirty="0"/>
              <a:t>2.This week will look at</a:t>
            </a:r>
          </a:p>
          <a:p>
            <a:r>
              <a:rPr lang="en-US" sz="1400" dirty="0"/>
              <a:t>3.The next step</a:t>
            </a:r>
          </a:p>
          <a:p>
            <a:r>
              <a:rPr lang="en-US" sz="1400" dirty="0"/>
              <a:t>4.Combinational vs. Sequential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0864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815DF-2C86-A23F-0E84-99DA25461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3;p3">
            <a:extLst>
              <a:ext uri="{FF2B5EF4-FFF2-40B4-BE49-F238E27FC236}">
                <a16:creationId xmlns:a16="http://schemas.microsoft.com/office/drawing/2014/main" id="{57D875DD-F099-9422-389F-4A45A7ED41BF}"/>
              </a:ext>
            </a:extLst>
          </p:cNvPr>
          <p:cNvSpPr txBox="1">
            <a:spLocks/>
          </p:cNvSpPr>
          <p:nvPr/>
        </p:nvSpPr>
        <p:spPr>
          <a:xfrm>
            <a:off x="2627049" y="949169"/>
            <a:ext cx="6239409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300"/>
            </a:pPr>
            <a:r>
              <a:rPr lang="en-GB" sz="4400" b="1" dirty="0">
                <a:latin typeface="Times New Roman"/>
                <a:ea typeface="Times New Roman"/>
                <a:cs typeface="Times New Roman"/>
                <a:sym typeface="Times New Roman"/>
              </a:rPr>
              <a:t>The next step</a:t>
            </a:r>
            <a:endParaRPr lang="en-GB" sz="4400" b="1" dirty="0"/>
          </a:p>
        </p:txBody>
      </p:sp>
      <p:sp>
        <p:nvSpPr>
          <p:cNvPr id="3" name="Google Shape;114;p3">
            <a:extLst>
              <a:ext uri="{FF2B5EF4-FFF2-40B4-BE49-F238E27FC236}">
                <a16:creationId xmlns:a16="http://schemas.microsoft.com/office/drawing/2014/main" id="{825260F9-A356-0521-5C1C-131CA1275592}"/>
              </a:ext>
            </a:extLst>
          </p:cNvPr>
          <p:cNvSpPr txBox="1">
            <a:spLocks/>
          </p:cNvSpPr>
          <p:nvPr/>
        </p:nvSpPr>
        <p:spPr>
          <a:xfrm>
            <a:off x="3063589" y="2075502"/>
            <a:ext cx="8875566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7800" algn="just"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An ALU without any way of running a </a:t>
            </a:r>
            <a:r>
              <a:rPr lang="en-US" sz="2800" dirty="0" err="1">
                <a:latin typeface="Times New Roman"/>
                <a:ea typeface="Times New Roman"/>
                <a:cs typeface="Times New Roman"/>
                <a:sym typeface="Times New Roman"/>
              </a:rPr>
              <a:t>programme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 or storing information is just a calculator</a:t>
            </a:r>
          </a:p>
          <a:p>
            <a:pPr algn="just">
              <a:spcBef>
                <a:spcPts val="0"/>
              </a:spcBef>
              <a:buSzPts val="2800"/>
            </a:pPr>
            <a:endParaRPr lang="en-US" sz="2800" dirty="0"/>
          </a:p>
          <a:p>
            <a:pPr marL="171450" indent="-177800" algn="just">
              <a:spcBef>
                <a:spcPts val="75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What we are going to looked at now, is how logic circuits work with 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 and what the implications are.</a:t>
            </a:r>
            <a:endParaRPr lang="en-US" sz="2800" dirty="0"/>
          </a:p>
          <a:p>
            <a:pPr marL="171450" indent="-38100" algn="just">
              <a:spcBef>
                <a:spcPts val="750"/>
              </a:spcBef>
              <a:buSzPts val="2100"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AD6D59-3086-92AC-3D8D-B9ACEBEA6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4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CFBA3-2431-F1F3-3E52-AE77D09BAB57}"/>
              </a:ext>
            </a:extLst>
          </p:cNvPr>
          <p:cNvSpPr txBox="1"/>
          <p:nvPr/>
        </p:nvSpPr>
        <p:spPr>
          <a:xfrm>
            <a:off x="311728" y="2551944"/>
            <a:ext cx="24938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1.The story so far </a:t>
            </a:r>
          </a:p>
          <a:p>
            <a:r>
              <a:rPr lang="en-US" sz="1400" dirty="0"/>
              <a:t>2.This week will look at</a:t>
            </a:r>
          </a:p>
          <a:p>
            <a:r>
              <a:rPr lang="en-US" sz="1400" b="1" dirty="0"/>
              <a:t>3.The next step</a:t>
            </a:r>
          </a:p>
          <a:p>
            <a:r>
              <a:rPr lang="en-US" sz="1400" dirty="0"/>
              <a:t>4.Combinational vs. Sequential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4509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4B154-29E3-CB58-52F9-A7C468AF8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4">
            <a:extLst>
              <a:ext uri="{FF2B5EF4-FFF2-40B4-BE49-F238E27FC236}">
                <a16:creationId xmlns:a16="http://schemas.microsoft.com/office/drawing/2014/main" id="{B48B3ACE-CA69-A318-08BE-52589C08BFC1}"/>
              </a:ext>
            </a:extLst>
          </p:cNvPr>
          <p:cNvSpPr txBox="1">
            <a:spLocks/>
          </p:cNvSpPr>
          <p:nvPr/>
        </p:nvSpPr>
        <p:spPr>
          <a:xfrm>
            <a:off x="2481578" y="408135"/>
            <a:ext cx="8708571" cy="10269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300"/>
            </a:pPr>
            <a:r>
              <a:rPr lang="en-GB" sz="4400" b="1" dirty="0">
                <a:latin typeface="Times New Roman"/>
                <a:ea typeface="Times New Roman"/>
                <a:cs typeface="Times New Roman"/>
                <a:sym typeface="Times New Roman"/>
              </a:rPr>
              <a:t>Combinational vs. Sequential</a:t>
            </a:r>
            <a:endParaRPr lang="en-GB" sz="4400" b="1" dirty="0"/>
          </a:p>
        </p:txBody>
      </p:sp>
      <p:sp>
        <p:nvSpPr>
          <p:cNvPr id="3" name="Google Shape;125;p4">
            <a:extLst>
              <a:ext uri="{FF2B5EF4-FFF2-40B4-BE49-F238E27FC236}">
                <a16:creationId xmlns:a16="http://schemas.microsoft.com/office/drawing/2014/main" id="{0CB2B4B0-2EE2-D7BB-9E11-3FC5777E8A6F}"/>
              </a:ext>
            </a:extLst>
          </p:cNvPr>
          <p:cNvSpPr txBox="1">
            <a:spLocks/>
          </p:cNvSpPr>
          <p:nvPr/>
        </p:nvSpPr>
        <p:spPr>
          <a:xfrm>
            <a:off x="2576838" y="1735422"/>
            <a:ext cx="9590922" cy="5207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00" indent="-190500" algn="just"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Combinational Logic</a:t>
            </a:r>
            <a:endParaRPr lang="en-US" sz="2800" b="1" dirty="0"/>
          </a:p>
          <a:p>
            <a:pPr marL="1003300" lvl="1" indent="-222250" algn="just">
              <a:spcBef>
                <a:spcPts val="375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The output of the logic circuit is a function of the inputs</a:t>
            </a:r>
            <a:endParaRPr lang="en-US" sz="2800" dirty="0"/>
          </a:p>
          <a:p>
            <a:pPr marL="1003300" lvl="1" indent="-222250" algn="just">
              <a:spcBef>
                <a:spcPts val="375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Think ‘OR’ gate</a:t>
            </a:r>
            <a:endParaRPr lang="en-US" sz="2800" dirty="0"/>
          </a:p>
          <a:p>
            <a:pPr marL="635000" indent="-190500" algn="just">
              <a:spcBef>
                <a:spcPts val="75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Sequential Logic</a:t>
            </a:r>
            <a:endParaRPr lang="en-US" sz="2800" b="1" dirty="0"/>
          </a:p>
          <a:p>
            <a:pPr marL="1003300" lvl="1" indent="-222250" algn="just">
              <a:spcBef>
                <a:spcPts val="375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The output of the circuit is a function of the current inputs </a:t>
            </a:r>
            <a:r>
              <a:rPr lang="en-US" sz="2400" u="sng" dirty="0"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 the previous output state</a:t>
            </a:r>
            <a:endParaRPr lang="en-US" sz="2800" dirty="0"/>
          </a:p>
          <a:p>
            <a:pPr marL="1003300" lvl="1" indent="-222250" algn="just">
              <a:spcBef>
                <a:spcPts val="375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To accomplish this, the circuit needs to remember what the previous state was</a:t>
            </a:r>
            <a:endParaRPr lang="en-US" sz="2800" dirty="0"/>
          </a:p>
          <a:p>
            <a:pPr marL="1003300" lvl="1" indent="-234950" algn="just">
              <a:spcBef>
                <a:spcPts val="375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i.e. It needs memory!</a:t>
            </a:r>
            <a:endParaRPr lang="en-US" sz="28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E1415D-FD05-EB2E-DC17-E76938D15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5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97F8E-8C7D-F4A0-A9A8-547DB5986EFD}"/>
              </a:ext>
            </a:extLst>
          </p:cNvPr>
          <p:cNvSpPr txBox="1"/>
          <p:nvPr/>
        </p:nvSpPr>
        <p:spPr>
          <a:xfrm>
            <a:off x="311728" y="2551944"/>
            <a:ext cx="24938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1.The story so far </a:t>
            </a:r>
          </a:p>
          <a:p>
            <a:r>
              <a:rPr lang="en-US" sz="1400" dirty="0"/>
              <a:t>2.This week will look at</a:t>
            </a:r>
          </a:p>
          <a:p>
            <a:r>
              <a:rPr lang="en-US" sz="1400" dirty="0"/>
              <a:t>3.The next step</a:t>
            </a:r>
          </a:p>
          <a:p>
            <a:r>
              <a:rPr lang="en-US" sz="1400" b="1" dirty="0"/>
              <a:t>4.Combinational vs. Sequential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5625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4BC30-694E-D7C3-B372-9B0A9D88C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C7C507F-A011-67D9-8EA3-960F622D15E3}"/>
              </a:ext>
            </a:extLst>
          </p:cNvPr>
          <p:cNvSpPr txBox="1">
            <a:spLocks/>
          </p:cNvSpPr>
          <p:nvPr/>
        </p:nvSpPr>
        <p:spPr>
          <a:xfrm>
            <a:off x="2668616" y="690062"/>
            <a:ext cx="5618905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300"/>
            </a:pPr>
            <a:r>
              <a:rPr lang="en-GB" sz="4400" b="1" dirty="0">
                <a:latin typeface="Times New Roman"/>
                <a:ea typeface="Times New Roman"/>
                <a:cs typeface="Times New Roman"/>
                <a:sym typeface="Times New Roman"/>
              </a:rPr>
              <a:t>Sequential logic</a:t>
            </a:r>
          </a:p>
        </p:txBody>
      </p:sp>
      <p:sp>
        <p:nvSpPr>
          <p:cNvPr id="3" name="Google Shape;136;p5">
            <a:extLst>
              <a:ext uri="{FF2B5EF4-FFF2-40B4-BE49-F238E27FC236}">
                <a16:creationId xmlns:a16="http://schemas.microsoft.com/office/drawing/2014/main" id="{A27F9325-7673-E019-8048-25CBA7639C1B}"/>
              </a:ext>
            </a:extLst>
          </p:cNvPr>
          <p:cNvSpPr txBox="1">
            <a:spLocks/>
          </p:cNvSpPr>
          <p:nvPr/>
        </p:nvSpPr>
        <p:spPr>
          <a:xfrm>
            <a:off x="3325590" y="1754088"/>
            <a:ext cx="8992958" cy="47091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7800" algn="just">
              <a:spcBef>
                <a:spcPts val="0"/>
              </a:spcBef>
              <a:buSzPts val="2800"/>
              <a:buFont typeface="Times New Roman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Creation of memory from Logic.</a:t>
            </a:r>
          </a:p>
          <a:p>
            <a:pPr marL="171450" indent="-177800" algn="just">
              <a:spcBef>
                <a:spcPts val="750"/>
              </a:spcBef>
              <a:buSzPts val="2800"/>
              <a:buFont typeface="Times New Roman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By looking at the output of the last logic state.</a:t>
            </a:r>
          </a:p>
          <a:p>
            <a:pPr marL="171450" indent="-177800" algn="just">
              <a:spcBef>
                <a:spcPts val="750"/>
              </a:spcBef>
              <a:buSzPts val="2800"/>
              <a:buFont typeface="Times New Roman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Modifying new logic state based on what went on before.</a:t>
            </a:r>
          </a:p>
        </p:txBody>
      </p:sp>
      <p:pic>
        <p:nvPicPr>
          <p:cNvPr id="7" name="Google Shape;138;p5" descr="Digital Sequential Circuits">
            <a:extLst>
              <a:ext uri="{FF2B5EF4-FFF2-40B4-BE49-F238E27FC236}">
                <a16:creationId xmlns:a16="http://schemas.microsoft.com/office/drawing/2014/main" id="{47F37740-7AC5-F476-5BE9-37AD8AA6D11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23393" y="3264264"/>
            <a:ext cx="5106300" cy="277442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39;p5">
            <a:extLst>
              <a:ext uri="{FF2B5EF4-FFF2-40B4-BE49-F238E27FC236}">
                <a16:creationId xmlns:a16="http://schemas.microsoft.com/office/drawing/2014/main" id="{6C20E472-EE4B-1F10-05D8-A131901F9CD9}"/>
              </a:ext>
            </a:extLst>
          </p:cNvPr>
          <p:cNvSpPr txBox="1"/>
          <p:nvPr/>
        </p:nvSpPr>
        <p:spPr>
          <a:xfrm>
            <a:off x="5662158" y="6309359"/>
            <a:ext cx="32287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Fig: block diagram of sequential circuit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4BF52EC-5623-256B-1635-FBCC74937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6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332EE9-527B-BDDC-2968-A9B6F3B52292}"/>
              </a:ext>
            </a:extLst>
          </p:cNvPr>
          <p:cNvSpPr txBox="1"/>
          <p:nvPr/>
        </p:nvSpPr>
        <p:spPr>
          <a:xfrm>
            <a:off x="311728" y="2551944"/>
            <a:ext cx="249381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1.The story so far </a:t>
            </a:r>
          </a:p>
          <a:p>
            <a:r>
              <a:rPr lang="en-US" sz="1400" dirty="0"/>
              <a:t>2.This week will look at</a:t>
            </a:r>
          </a:p>
          <a:p>
            <a:r>
              <a:rPr lang="en-US" sz="1400" dirty="0"/>
              <a:t>3.The next step</a:t>
            </a:r>
          </a:p>
          <a:p>
            <a:r>
              <a:rPr lang="en-US" sz="1400" dirty="0"/>
              <a:t>4.Combinational vs. Sequential</a:t>
            </a:r>
          </a:p>
          <a:p>
            <a:r>
              <a:rPr lang="en-US" sz="1400" b="1" dirty="0"/>
              <a:t>4.1 Sequential logic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9550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F2A25-976A-A7B2-511D-0F2C4AFF2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;p6">
            <a:extLst>
              <a:ext uri="{FF2B5EF4-FFF2-40B4-BE49-F238E27FC236}">
                <a16:creationId xmlns:a16="http://schemas.microsoft.com/office/drawing/2014/main" id="{F93763E0-FEEB-CF1C-B0D3-14C778DFDD10}"/>
              </a:ext>
            </a:extLst>
          </p:cNvPr>
          <p:cNvSpPr txBox="1">
            <a:spLocks/>
          </p:cNvSpPr>
          <p:nvPr/>
        </p:nvSpPr>
        <p:spPr>
          <a:xfrm>
            <a:off x="2554312" y="694819"/>
            <a:ext cx="53579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300"/>
            </a:pPr>
            <a:r>
              <a:rPr lang="en-GB" sz="4400" b="1" dirty="0">
                <a:latin typeface="Times New Roman"/>
                <a:ea typeface="Times New Roman"/>
                <a:cs typeface="Times New Roman"/>
                <a:sym typeface="Times New Roman"/>
              </a:rPr>
              <a:t>Timing Diagram </a:t>
            </a:r>
          </a:p>
        </p:txBody>
      </p:sp>
      <p:sp>
        <p:nvSpPr>
          <p:cNvPr id="3" name="Google Shape;149;p6">
            <a:extLst>
              <a:ext uri="{FF2B5EF4-FFF2-40B4-BE49-F238E27FC236}">
                <a16:creationId xmlns:a16="http://schemas.microsoft.com/office/drawing/2014/main" id="{3FC79539-7F6C-C812-489F-FE4539093233}"/>
              </a:ext>
            </a:extLst>
          </p:cNvPr>
          <p:cNvSpPr txBox="1">
            <a:spLocks/>
          </p:cNvSpPr>
          <p:nvPr/>
        </p:nvSpPr>
        <p:spPr>
          <a:xfrm>
            <a:off x="2863439" y="1828800"/>
            <a:ext cx="8982197" cy="47091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7800" algn="just"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To show what goes on in a logic circuit over time, we use 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Timing Diagrams</a:t>
            </a:r>
          </a:p>
          <a:p>
            <a:pPr algn="just">
              <a:spcBef>
                <a:spcPts val="0"/>
              </a:spcBef>
              <a:buSzPts val="2800"/>
            </a:pP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indent="-177800" algn="just">
              <a:spcBef>
                <a:spcPts val="75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A Timing diagram is a 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Picture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 of the effect of a 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Wave Form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, passing through a Logic Gate.</a:t>
            </a:r>
          </a:p>
          <a:p>
            <a:pPr algn="just">
              <a:spcBef>
                <a:spcPts val="750"/>
              </a:spcBef>
              <a:buSzPts val="2800"/>
            </a:pP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indent="-177800" algn="just">
              <a:spcBef>
                <a:spcPts val="750"/>
              </a:spcBef>
              <a:buSzPts val="2800"/>
              <a:buFont typeface="Times New Roman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The changes of a logic input signal with respect to time.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D5679-9A07-9EBA-B410-D86E5CFE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7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052CA-6253-C44B-3C6D-A759FE375036}"/>
              </a:ext>
            </a:extLst>
          </p:cNvPr>
          <p:cNvSpPr txBox="1"/>
          <p:nvPr/>
        </p:nvSpPr>
        <p:spPr>
          <a:xfrm>
            <a:off x="60494" y="2562335"/>
            <a:ext cx="249381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5.Timing Diagram</a:t>
            </a:r>
          </a:p>
          <a:p>
            <a:r>
              <a:rPr lang="en-US" sz="1400" dirty="0"/>
              <a:t>5.1 Timing Example- A Pulse</a:t>
            </a:r>
          </a:p>
          <a:p>
            <a:r>
              <a:rPr lang="en-US" sz="1400" dirty="0"/>
              <a:t>5.2 A Clock</a:t>
            </a:r>
          </a:p>
          <a:p>
            <a:r>
              <a:rPr lang="en-US" sz="1400" dirty="0"/>
              <a:t>5.3 Nano seconds</a:t>
            </a:r>
          </a:p>
          <a:p>
            <a:r>
              <a:rPr lang="en-US" sz="1400" dirty="0"/>
              <a:t>5.4 Timing Diagram for AND Gate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04631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39FBE-1B2C-25E6-BE28-FA69DC440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9;p7">
            <a:extLst>
              <a:ext uri="{FF2B5EF4-FFF2-40B4-BE49-F238E27FC236}">
                <a16:creationId xmlns:a16="http://schemas.microsoft.com/office/drawing/2014/main" id="{853D20A4-B470-191D-5F07-4FFA37949636}"/>
              </a:ext>
            </a:extLst>
          </p:cNvPr>
          <p:cNvSpPr txBox="1">
            <a:spLocks/>
          </p:cNvSpPr>
          <p:nvPr/>
        </p:nvSpPr>
        <p:spPr>
          <a:xfrm>
            <a:off x="2679010" y="876025"/>
            <a:ext cx="7505540" cy="1325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300"/>
            </a:pPr>
            <a:r>
              <a:rPr lang="en-US" sz="4400" b="1" dirty="0">
                <a:latin typeface="Times New Roman"/>
                <a:ea typeface="Times New Roman"/>
                <a:cs typeface="Times New Roman"/>
                <a:sym typeface="Times New Roman"/>
              </a:rPr>
              <a:t>Timing Example – A Pulse</a:t>
            </a:r>
            <a:endParaRPr lang="en-US" sz="4400" b="1" dirty="0"/>
          </a:p>
        </p:txBody>
      </p:sp>
      <p:graphicFrame>
        <p:nvGraphicFramePr>
          <p:cNvPr id="3" name="Google Shape;161;p7">
            <a:extLst>
              <a:ext uri="{FF2B5EF4-FFF2-40B4-BE49-F238E27FC236}">
                <a16:creationId xmlns:a16="http://schemas.microsoft.com/office/drawing/2014/main" id="{EDF5DDF0-592A-7AE5-40F2-8422A3D6A7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0919422"/>
              </p:ext>
            </p:extLst>
          </p:nvPr>
        </p:nvGraphicFramePr>
        <p:xfrm>
          <a:off x="3109002" y="2040261"/>
          <a:ext cx="8266978" cy="1943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266978" imgH="1616773" progId="">
                  <p:embed/>
                </p:oleObj>
              </mc:Choice>
              <mc:Fallback>
                <p:oleObj r:id="rId2" imgW="8266978" imgH="1616773" progId="">
                  <p:embed/>
                  <p:pic>
                    <p:nvPicPr>
                      <p:cNvPr id="161" name="Google Shape;161;p7"/>
                      <p:cNvPicPr preferRelativeResize="0"/>
                      <p:nvPr/>
                    </p:nvPicPr>
                    <p:blipFill rotWithShape="1">
                      <a:blip r:embed="rId3">
                        <a:alphaModFix/>
                      </a:blip>
                      <a:srcRect/>
                      <a:stretch/>
                    </p:blipFill>
                    <p:spPr>
                      <a:xfrm>
                        <a:off x="3109002" y="2040261"/>
                        <a:ext cx="8266978" cy="19439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Google Shape;160;p7">
            <a:extLst>
              <a:ext uri="{FF2B5EF4-FFF2-40B4-BE49-F238E27FC236}">
                <a16:creationId xmlns:a16="http://schemas.microsoft.com/office/drawing/2014/main" id="{73EC068D-871D-1029-0FA6-3E9A33B2ED0B}"/>
              </a:ext>
            </a:extLst>
          </p:cNvPr>
          <p:cNvSpPr txBox="1">
            <a:spLocks/>
          </p:cNvSpPr>
          <p:nvPr/>
        </p:nvSpPr>
        <p:spPr>
          <a:xfrm>
            <a:off x="2654268" y="2421658"/>
            <a:ext cx="9222541" cy="420724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spcBef>
                <a:spcPts val="0"/>
              </a:spcBef>
              <a:buSzPts val="2100"/>
            </a:pP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indent="-38100" algn="l">
              <a:spcBef>
                <a:spcPts val="750"/>
              </a:spcBef>
              <a:buSzPts val="2100"/>
            </a:pP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indent="-38100" algn="l">
              <a:spcBef>
                <a:spcPts val="750"/>
              </a:spcBef>
              <a:buSzPts val="2100"/>
            </a:pP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indent="-38100" algn="l">
              <a:spcBef>
                <a:spcPts val="750"/>
              </a:spcBef>
              <a:buSzPts val="2100"/>
            </a:pP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1" indent="-196850" algn="l">
              <a:spcBef>
                <a:spcPts val="375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The signal level is at a logical 0 before the pulse. </a:t>
            </a:r>
            <a:endParaRPr lang="en-US" sz="2800" dirty="0"/>
          </a:p>
          <a:p>
            <a:pPr marL="514350" lvl="1" indent="-196850" algn="l">
              <a:spcBef>
                <a:spcPts val="375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It then rises to a logical 1 at the rising edge. </a:t>
            </a:r>
            <a:endParaRPr lang="en-US" sz="2800" dirty="0"/>
          </a:p>
          <a:p>
            <a:pPr marL="514350" lvl="1" indent="-196850" algn="l">
              <a:spcBef>
                <a:spcPts val="375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It stays at a logical 1 for a period of time (the pulse duration). </a:t>
            </a:r>
            <a:endParaRPr lang="en-US" sz="2800" dirty="0"/>
          </a:p>
          <a:p>
            <a:pPr marL="514350" lvl="1" indent="-196850" algn="l">
              <a:spcBef>
                <a:spcPts val="375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It then falls back to a logical 0 the falling edge. </a:t>
            </a:r>
            <a:endParaRPr lang="en-US" sz="28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C911CD2-BEA8-AD16-8713-A968F8B57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8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A4F0E-D64D-7534-4F71-0F280495546C}"/>
              </a:ext>
            </a:extLst>
          </p:cNvPr>
          <p:cNvSpPr txBox="1"/>
          <p:nvPr/>
        </p:nvSpPr>
        <p:spPr>
          <a:xfrm>
            <a:off x="114355" y="2551944"/>
            <a:ext cx="249381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5.Timing Diagram</a:t>
            </a:r>
          </a:p>
          <a:p>
            <a:r>
              <a:rPr lang="en-US" sz="1400" b="1" dirty="0"/>
              <a:t>5.1 Timing Example- A Pulse</a:t>
            </a:r>
          </a:p>
          <a:p>
            <a:r>
              <a:rPr lang="en-US" sz="1400" dirty="0"/>
              <a:t>5.2 A Clock</a:t>
            </a:r>
          </a:p>
          <a:p>
            <a:r>
              <a:rPr lang="en-US" sz="1400" dirty="0"/>
              <a:t>5.3 Nano seconds</a:t>
            </a:r>
          </a:p>
          <a:p>
            <a:r>
              <a:rPr lang="en-US" sz="1400" dirty="0"/>
              <a:t>5.4 Timing Diagram for AND Gate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5671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7E50B-B667-91FA-28B2-EAE9B763F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1;p8">
            <a:extLst>
              <a:ext uri="{FF2B5EF4-FFF2-40B4-BE49-F238E27FC236}">
                <a16:creationId xmlns:a16="http://schemas.microsoft.com/office/drawing/2014/main" id="{D905CBC1-9BCF-B098-EA27-DAF83A10C51F}"/>
              </a:ext>
            </a:extLst>
          </p:cNvPr>
          <p:cNvSpPr txBox="1">
            <a:spLocks/>
          </p:cNvSpPr>
          <p:nvPr/>
        </p:nvSpPr>
        <p:spPr>
          <a:xfrm>
            <a:off x="2588819" y="692215"/>
            <a:ext cx="7495963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300"/>
            </a:pPr>
            <a:r>
              <a:rPr lang="en-GB" sz="4400" b="1" dirty="0">
                <a:latin typeface="Times New Roman"/>
                <a:ea typeface="Times New Roman"/>
                <a:cs typeface="Times New Roman"/>
                <a:sym typeface="Times New Roman"/>
              </a:rPr>
              <a:t>A Clock</a:t>
            </a:r>
            <a:endParaRPr lang="en-GB" sz="4400" b="1" dirty="0"/>
          </a:p>
        </p:txBody>
      </p:sp>
      <p:sp>
        <p:nvSpPr>
          <p:cNvPr id="3" name="Google Shape;172;p8">
            <a:extLst>
              <a:ext uri="{FF2B5EF4-FFF2-40B4-BE49-F238E27FC236}">
                <a16:creationId xmlns:a16="http://schemas.microsoft.com/office/drawing/2014/main" id="{9EB83733-7C27-44AE-F00E-38B6ECF1356F}"/>
              </a:ext>
            </a:extLst>
          </p:cNvPr>
          <p:cNvSpPr txBox="1">
            <a:spLocks/>
          </p:cNvSpPr>
          <p:nvPr/>
        </p:nvSpPr>
        <p:spPr>
          <a:xfrm>
            <a:off x="2588820" y="1867175"/>
            <a:ext cx="9038608" cy="312936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7800" algn="just"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A clock has a repeating wave form (or pulse).</a:t>
            </a:r>
            <a:endParaRPr lang="en-US" sz="2800" dirty="0"/>
          </a:p>
          <a:p>
            <a:pPr marL="171450" indent="-177800" algn="just">
              <a:spcBef>
                <a:spcPts val="75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The period of a clock is measured from one rising edge to the next rising edge. </a:t>
            </a:r>
            <a:endParaRPr lang="en-US" sz="2800" dirty="0"/>
          </a:p>
          <a:p>
            <a:pPr marL="171450" indent="-177800" algn="just">
              <a:spcBef>
                <a:spcPts val="75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The frequency of the clock is the number of complete periods in a Second. (Hz).</a:t>
            </a:r>
            <a:endParaRPr lang="en-US" sz="2800" dirty="0"/>
          </a:p>
          <a:p>
            <a:pPr marL="171450" indent="-177800" algn="just">
              <a:spcBef>
                <a:spcPts val="75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The pulses of a CPU clock control its operation.</a:t>
            </a:r>
            <a:endParaRPr lang="en-US" sz="2800" dirty="0"/>
          </a:p>
          <a:p>
            <a:pPr marL="514350" algn="just">
              <a:spcBef>
                <a:spcPts val="375"/>
              </a:spcBef>
              <a:buSzPts val="1800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i.e. A Clock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Synchronises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Operations in CPU.</a:t>
            </a:r>
            <a:endParaRPr lang="en-US" sz="2000" dirty="0"/>
          </a:p>
        </p:txBody>
      </p:sp>
      <p:graphicFrame>
        <p:nvGraphicFramePr>
          <p:cNvPr id="7" name="Google Shape;174;p8">
            <a:extLst>
              <a:ext uri="{FF2B5EF4-FFF2-40B4-BE49-F238E27FC236}">
                <a16:creationId xmlns:a16="http://schemas.microsoft.com/office/drawing/2014/main" id="{AAD245D9-5C76-1333-9225-60D3E49844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8745627"/>
              </p:ext>
            </p:extLst>
          </p:nvPr>
        </p:nvGraphicFramePr>
        <p:xfrm>
          <a:off x="5244016" y="5173190"/>
          <a:ext cx="6123438" cy="1451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123438" imgH="1219200" progId="">
                  <p:embed/>
                </p:oleObj>
              </mc:Choice>
              <mc:Fallback>
                <p:oleObj r:id="rId2" imgW="6123438" imgH="1219200" progId="">
                  <p:embed/>
                  <p:pic>
                    <p:nvPicPr>
                      <p:cNvPr id="174" name="Google Shape;174;p8"/>
                      <p:cNvPicPr preferRelativeResize="0"/>
                      <p:nvPr/>
                    </p:nvPicPr>
                    <p:blipFill rotWithShape="1">
                      <a:blip r:embed="rId3">
                        <a:alphaModFix/>
                      </a:blip>
                      <a:srcRect/>
                      <a:stretch/>
                    </p:blipFill>
                    <p:spPr>
                      <a:xfrm>
                        <a:off x="5244016" y="5173190"/>
                        <a:ext cx="6123438" cy="14518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2338D69-B727-425A-B0F7-5327D2ACA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9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B1DD82-7D8D-3A6E-50A4-707B3765E85D}"/>
              </a:ext>
            </a:extLst>
          </p:cNvPr>
          <p:cNvSpPr txBox="1"/>
          <p:nvPr/>
        </p:nvSpPr>
        <p:spPr>
          <a:xfrm>
            <a:off x="114355" y="2551944"/>
            <a:ext cx="249381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5.Timing Diagram</a:t>
            </a:r>
          </a:p>
          <a:p>
            <a:r>
              <a:rPr lang="en-US" sz="1400" dirty="0"/>
              <a:t>5.1 Timing Example- A Pulse</a:t>
            </a:r>
          </a:p>
          <a:p>
            <a:r>
              <a:rPr lang="en-US" sz="1400" b="1" dirty="0"/>
              <a:t>5.2 A Clock</a:t>
            </a:r>
          </a:p>
          <a:p>
            <a:r>
              <a:rPr lang="en-US" sz="1400" dirty="0"/>
              <a:t>5.3 Nano seconds</a:t>
            </a:r>
          </a:p>
          <a:p>
            <a:r>
              <a:rPr lang="en-US" sz="1400" dirty="0"/>
              <a:t>5.4 Timing Diagram for AND Gate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4514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5D4A6-C343-755B-34E9-0B5096ECC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3;p9">
            <a:extLst>
              <a:ext uri="{FF2B5EF4-FFF2-40B4-BE49-F238E27FC236}">
                <a16:creationId xmlns:a16="http://schemas.microsoft.com/office/drawing/2014/main" id="{456618CD-EEE4-B552-C4E7-525CDC6637AB}"/>
              </a:ext>
            </a:extLst>
          </p:cNvPr>
          <p:cNvSpPr txBox="1">
            <a:spLocks/>
          </p:cNvSpPr>
          <p:nvPr/>
        </p:nvSpPr>
        <p:spPr>
          <a:xfrm>
            <a:off x="2491967" y="713234"/>
            <a:ext cx="6079459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300"/>
            </a:pPr>
            <a:r>
              <a:rPr lang="en-GB" sz="4400" b="1" dirty="0">
                <a:latin typeface="Times New Roman"/>
                <a:ea typeface="Times New Roman"/>
                <a:cs typeface="Times New Roman"/>
                <a:sym typeface="Times New Roman"/>
              </a:rPr>
              <a:t>Nanoseconds</a:t>
            </a:r>
          </a:p>
        </p:txBody>
      </p:sp>
      <p:sp>
        <p:nvSpPr>
          <p:cNvPr id="3" name="Google Shape;184;p9">
            <a:extLst>
              <a:ext uri="{FF2B5EF4-FFF2-40B4-BE49-F238E27FC236}">
                <a16:creationId xmlns:a16="http://schemas.microsoft.com/office/drawing/2014/main" id="{3925A62D-A6BD-8BD2-F97E-53112831A497}"/>
              </a:ext>
            </a:extLst>
          </p:cNvPr>
          <p:cNvSpPr txBox="1">
            <a:spLocks/>
          </p:cNvSpPr>
          <p:nvPr/>
        </p:nvSpPr>
        <p:spPr>
          <a:xfrm>
            <a:off x="2491968" y="2049188"/>
            <a:ext cx="9062724" cy="4794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00" indent="-215900" algn="just"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The timing diagrams show time to any level. </a:t>
            </a:r>
          </a:p>
          <a:p>
            <a:pPr marL="419100" algn="just">
              <a:spcBef>
                <a:spcPts val="0"/>
              </a:spcBef>
              <a:buSzPts val="2800"/>
            </a:pPr>
            <a:endParaRPr lang="en-US" sz="2800" dirty="0"/>
          </a:p>
          <a:p>
            <a:pPr marL="603250" indent="-215900" algn="just">
              <a:spcBef>
                <a:spcPts val="75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If the clock waveform on the previous slide was for an Intel Pentium 3.2, the diagram would show 1.56 X 10</a:t>
            </a:r>
            <a:r>
              <a:rPr lang="en-US" sz="2800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-9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  seconds (1.56 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nanoseconds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387350" algn="just">
              <a:spcBef>
                <a:spcPts val="750"/>
              </a:spcBef>
              <a:buSzPts val="2800"/>
            </a:pPr>
            <a:endParaRPr lang="en-US" sz="2800" dirty="0"/>
          </a:p>
          <a:p>
            <a:pPr marL="603250" indent="-215900" algn="just">
              <a:spcBef>
                <a:spcPts val="75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A typical TTL logic gate takes up to 4 Nanoseconds to go from 0 to 1.</a:t>
            </a:r>
            <a:endParaRPr lang="en-US" sz="28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CC5094-860E-1FEF-D3E2-C5E887DF9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10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EE4EC2-CF5B-D85D-1E74-586DA38E7DAC}"/>
              </a:ext>
            </a:extLst>
          </p:cNvPr>
          <p:cNvSpPr txBox="1"/>
          <p:nvPr/>
        </p:nvSpPr>
        <p:spPr>
          <a:xfrm>
            <a:off x="114355" y="2551944"/>
            <a:ext cx="249381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5.Timing Diagram</a:t>
            </a:r>
          </a:p>
          <a:p>
            <a:r>
              <a:rPr lang="en-US" sz="1400" dirty="0"/>
              <a:t>5.1 Timing Example- A Pulse</a:t>
            </a:r>
          </a:p>
          <a:p>
            <a:r>
              <a:rPr lang="en-US" sz="1400" b="1" dirty="0"/>
              <a:t>5.2 A Clock</a:t>
            </a:r>
          </a:p>
          <a:p>
            <a:r>
              <a:rPr lang="en-US" sz="1400" dirty="0"/>
              <a:t>5.3 Nano seconds</a:t>
            </a:r>
          </a:p>
          <a:p>
            <a:r>
              <a:rPr lang="en-US" sz="1400" dirty="0"/>
              <a:t>5.4 Timing Diagram for AND Gate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8964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DBB9C-4DE9-F30A-3845-E6E0B0168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4;p10">
            <a:extLst>
              <a:ext uri="{FF2B5EF4-FFF2-40B4-BE49-F238E27FC236}">
                <a16:creationId xmlns:a16="http://schemas.microsoft.com/office/drawing/2014/main" id="{949EA61C-AB5C-F71B-25D1-C3F27E99CC33}"/>
              </a:ext>
            </a:extLst>
          </p:cNvPr>
          <p:cNvSpPr txBox="1">
            <a:spLocks/>
          </p:cNvSpPr>
          <p:nvPr/>
        </p:nvSpPr>
        <p:spPr>
          <a:xfrm>
            <a:off x="2585480" y="62606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300"/>
            </a:pPr>
            <a:r>
              <a:rPr lang="en-GB" sz="4400" b="1" dirty="0">
                <a:latin typeface="Times New Roman"/>
                <a:ea typeface="Times New Roman"/>
                <a:cs typeface="Times New Roman"/>
                <a:sym typeface="Times New Roman"/>
              </a:rPr>
              <a:t>Timing Diagram for AND Gate</a:t>
            </a:r>
          </a:p>
        </p:txBody>
      </p:sp>
      <p:pic>
        <p:nvPicPr>
          <p:cNvPr id="3" name="Google Shape;195;p10" descr="AndGate Timing">
            <a:extLst>
              <a:ext uri="{FF2B5EF4-FFF2-40B4-BE49-F238E27FC236}">
                <a16:creationId xmlns:a16="http://schemas.microsoft.com/office/drawing/2014/main" id="{BF522C2E-01F6-1FDC-4467-12D845ADFFC4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6911" y="1831886"/>
            <a:ext cx="6250675" cy="379602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428454-B833-76FB-5677-294FE57C4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11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61140E-6E3D-4B79-2888-3109875152C8}"/>
              </a:ext>
            </a:extLst>
          </p:cNvPr>
          <p:cNvSpPr txBox="1"/>
          <p:nvPr/>
        </p:nvSpPr>
        <p:spPr>
          <a:xfrm>
            <a:off x="114355" y="2551944"/>
            <a:ext cx="249381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5.Timing Diagram</a:t>
            </a:r>
          </a:p>
          <a:p>
            <a:r>
              <a:rPr lang="en-US" sz="1400" dirty="0"/>
              <a:t>5.1 Timing Example- A Pulse</a:t>
            </a:r>
          </a:p>
          <a:p>
            <a:r>
              <a:rPr lang="en-US" sz="1400" dirty="0"/>
              <a:t>5.2 A Clock</a:t>
            </a:r>
          </a:p>
          <a:p>
            <a:r>
              <a:rPr lang="en-US" sz="1400" dirty="0"/>
              <a:t>5.3 Nano seconds</a:t>
            </a:r>
          </a:p>
          <a:p>
            <a:r>
              <a:rPr lang="en-US" sz="1400" b="1" dirty="0"/>
              <a:t>5.4 Timing Diagram for AND Gate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763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7C6DE-16D2-81A0-5CBF-6212D0E96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94;p10">
            <a:extLst>
              <a:ext uri="{FF2B5EF4-FFF2-40B4-BE49-F238E27FC236}">
                <a16:creationId xmlns:a16="http://schemas.microsoft.com/office/drawing/2014/main" id="{33CC663C-9028-E212-A901-ECD32CB8B50B}"/>
              </a:ext>
            </a:extLst>
          </p:cNvPr>
          <p:cNvSpPr txBox="1">
            <a:spLocks/>
          </p:cNvSpPr>
          <p:nvPr/>
        </p:nvSpPr>
        <p:spPr>
          <a:xfrm>
            <a:off x="2824472" y="626067"/>
            <a:ext cx="9583261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300"/>
            </a:pPr>
            <a:r>
              <a:rPr lang="en-GB" sz="4400" b="1" dirty="0">
                <a:latin typeface="Times New Roman"/>
                <a:ea typeface="Times New Roman"/>
                <a:cs typeface="Times New Roman"/>
                <a:sym typeface="Times New Roman"/>
              </a:rPr>
              <a:t>Timing Diagram for HALF ADDER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6C9B21-832B-7A57-70C6-F4FA51573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070" y="2348595"/>
            <a:ext cx="4400776" cy="3225966"/>
          </a:xfrm>
          <a:prstGeom prst="rect">
            <a:avLst/>
          </a:prstGeom>
        </p:spPr>
      </p:pic>
      <p:pic>
        <p:nvPicPr>
          <p:cNvPr id="10" name="Google Shape;353;p19" descr="msotw9_temp0">
            <a:extLst>
              <a:ext uri="{FF2B5EF4-FFF2-40B4-BE49-F238E27FC236}">
                <a16:creationId xmlns:a16="http://schemas.microsoft.com/office/drawing/2014/main" id="{00674BC1-4942-CF95-437F-508C97FA9E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1723" r="6038" b="13615"/>
          <a:stretch/>
        </p:blipFill>
        <p:spPr>
          <a:xfrm>
            <a:off x="2734422" y="3025406"/>
            <a:ext cx="2498498" cy="187234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2A9DAD9-0293-7E01-9FD9-B92094C46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12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A75AA2-9C9C-CEB6-73AE-B9591763719D}"/>
              </a:ext>
            </a:extLst>
          </p:cNvPr>
          <p:cNvSpPr txBox="1"/>
          <p:nvPr/>
        </p:nvSpPr>
        <p:spPr>
          <a:xfrm>
            <a:off x="114355" y="2551944"/>
            <a:ext cx="249381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5.Timing Diagram</a:t>
            </a:r>
          </a:p>
          <a:p>
            <a:r>
              <a:rPr lang="en-US" sz="1400" dirty="0"/>
              <a:t>5.1 Timing Example- A Pulse</a:t>
            </a:r>
          </a:p>
          <a:p>
            <a:r>
              <a:rPr lang="en-US" sz="1400" dirty="0"/>
              <a:t>5.2 A Clock</a:t>
            </a:r>
          </a:p>
          <a:p>
            <a:r>
              <a:rPr lang="en-US" sz="1400" dirty="0"/>
              <a:t>5.3 Nano seconds</a:t>
            </a:r>
          </a:p>
          <a:p>
            <a:r>
              <a:rPr lang="en-US" sz="1400" dirty="0"/>
              <a:t>5.4 Timing Diagram for AND Gate</a:t>
            </a:r>
          </a:p>
          <a:p>
            <a:r>
              <a:rPr lang="en-US" sz="1400" b="1" dirty="0"/>
              <a:t>5.5 Timing Diagram for Half Adder</a:t>
            </a:r>
          </a:p>
          <a:p>
            <a:r>
              <a:rPr lang="en-US" sz="1400" dirty="0"/>
              <a:t>5.6 Timing Diagram for Full Adder</a:t>
            </a:r>
          </a:p>
          <a:p>
            <a:endParaRPr lang="en-US" sz="1400" b="1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5576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1A176-9D2B-F89C-F718-C56F69A62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4;p10">
            <a:extLst>
              <a:ext uri="{FF2B5EF4-FFF2-40B4-BE49-F238E27FC236}">
                <a16:creationId xmlns:a16="http://schemas.microsoft.com/office/drawing/2014/main" id="{B7C6F4FA-D6F2-501A-F366-1AA8985D352E}"/>
              </a:ext>
            </a:extLst>
          </p:cNvPr>
          <p:cNvSpPr txBox="1">
            <a:spLocks/>
          </p:cNvSpPr>
          <p:nvPr/>
        </p:nvSpPr>
        <p:spPr>
          <a:xfrm>
            <a:off x="2720564" y="626067"/>
            <a:ext cx="1047589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300"/>
            </a:pPr>
            <a:r>
              <a:rPr lang="en-GB" sz="4400" b="1" dirty="0">
                <a:latin typeface="Times New Roman"/>
                <a:ea typeface="Times New Roman"/>
                <a:cs typeface="Times New Roman"/>
                <a:sym typeface="Times New Roman"/>
              </a:rPr>
              <a:t>Timing Diagram for FULL ADDER</a:t>
            </a:r>
          </a:p>
        </p:txBody>
      </p:sp>
      <p:pic>
        <p:nvPicPr>
          <p:cNvPr id="3" name="Google Shape;386;p22" descr="msotw9_temp0">
            <a:extLst>
              <a:ext uri="{FF2B5EF4-FFF2-40B4-BE49-F238E27FC236}">
                <a16:creationId xmlns:a16="http://schemas.microsoft.com/office/drawing/2014/main" id="{0E13EEA5-E028-6782-77DA-0DFC0466047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20564" y="2547257"/>
            <a:ext cx="4336347" cy="2359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black screen with white squares&#10;&#10;Description automatically generated">
            <a:extLst>
              <a:ext uri="{FF2B5EF4-FFF2-40B4-BE49-F238E27FC236}">
                <a16:creationId xmlns:a16="http://schemas.microsoft.com/office/drawing/2014/main" id="{CE08AB64-E19E-E0D1-4B2B-D89F099C15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108" y="2043349"/>
            <a:ext cx="4894119" cy="2863022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0DBCF04-7C5D-3CA6-422D-4C3AF4F41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13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757D08-DCC1-18FF-037B-4F12F797667E}"/>
              </a:ext>
            </a:extLst>
          </p:cNvPr>
          <p:cNvSpPr txBox="1"/>
          <p:nvPr/>
        </p:nvSpPr>
        <p:spPr>
          <a:xfrm>
            <a:off x="114355" y="2551944"/>
            <a:ext cx="249381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5.Timing Diagram</a:t>
            </a:r>
          </a:p>
          <a:p>
            <a:r>
              <a:rPr lang="en-US" sz="1400" dirty="0"/>
              <a:t>5.1 Timing Example- A Pulse</a:t>
            </a:r>
          </a:p>
          <a:p>
            <a:r>
              <a:rPr lang="en-US" sz="1400" dirty="0"/>
              <a:t>5.2 A Clock</a:t>
            </a:r>
          </a:p>
          <a:p>
            <a:r>
              <a:rPr lang="en-US" sz="1400" dirty="0"/>
              <a:t>5.3 Nano seconds</a:t>
            </a:r>
          </a:p>
          <a:p>
            <a:r>
              <a:rPr lang="en-US" sz="1400" dirty="0"/>
              <a:t>5.4 Timing Diagram for AND Gate</a:t>
            </a:r>
          </a:p>
          <a:p>
            <a:r>
              <a:rPr lang="en-US" sz="1400" dirty="0"/>
              <a:t>5.5 Timing Diagram for Half Adder</a:t>
            </a:r>
          </a:p>
          <a:p>
            <a:r>
              <a:rPr lang="en-US" sz="1400" b="1" dirty="0"/>
              <a:t>5.6 Timing Diagram for Full Adder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3852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B1ED3-7449-986C-3F49-D76EEAE07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4;p11">
            <a:extLst>
              <a:ext uri="{FF2B5EF4-FFF2-40B4-BE49-F238E27FC236}">
                <a16:creationId xmlns:a16="http://schemas.microsoft.com/office/drawing/2014/main" id="{B4790BC6-8B0A-FB10-FF13-3C5B25991921}"/>
              </a:ext>
            </a:extLst>
          </p:cNvPr>
          <p:cNvSpPr txBox="1">
            <a:spLocks/>
          </p:cNvSpPr>
          <p:nvPr/>
        </p:nvSpPr>
        <p:spPr>
          <a:xfrm>
            <a:off x="2730957" y="120969"/>
            <a:ext cx="9429584" cy="100439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300"/>
            </a:pPr>
            <a:r>
              <a:rPr lang="en-GB" sz="4400" b="1" dirty="0">
                <a:latin typeface="Times New Roman"/>
                <a:ea typeface="Times New Roman"/>
                <a:cs typeface="Times New Roman"/>
                <a:sym typeface="Times New Roman"/>
              </a:rPr>
              <a:t>Race Hazard</a:t>
            </a:r>
          </a:p>
        </p:txBody>
      </p:sp>
      <p:sp>
        <p:nvSpPr>
          <p:cNvPr id="3" name="Google Shape;205;p11">
            <a:extLst>
              <a:ext uri="{FF2B5EF4-FFF2-40B4-BE49-F238E27FC236}">
                <a16:creationId xmlns:a16="http://schemas.microsoft.com/office/drawing/2014/main" id="{8838F5B7-79CE-1DCF-6179-97B0E1B9A2C8}"/>
              </a:ext>
            </a:extLst>
          </p:cNvPr>
          <p:cNvSpPr txBox="1">
            <a:spLocks/>
          </p:cNvSpPr>
          <p:nvPr/>
        </p:nvSpPr>
        <p:spPr>
          <a:xfrm>
            <a:off x="2414403" y="1059205"/>
            <a:ext cx="9639052" cy="4759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3563" indent="-196850" algn="just">
              <a:spcBef>
                <a:spcPts val="0"/>
              </a:spcBef>
              <a:buSzPts val="2800"/>
              <a:buFont typeface="Times New Roman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A race hazard occurs when an unintended spike (very short pulse ~4 to 10 nano seconds) causes an unexpected and undesired change of output to occur</a:t>
            </a:r>
          </a:p>
          <a:p>
            <a:pPr marL="366713" algn="just">
              <a:spcBef>
                <a:spcPts val="0"/>
              </a:spcBef>
              <a:buSzPts val="2800"/>
            </a:pP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6713" algn="just">
              <a:spcBef>
                <a:spcPts val="0"/>
              </a:spcBef>
              <a:buSzPts val="2800"/>
            </a:pP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63563" indent="-196850" algn="just">
              <a:spcBef>
                <a:spcPts val="750"/>
              </a:spcBef>
              <a:buSzPts val="2800"/>
              <a:buFont typeface="Times New Roman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Output should always theoretically be 0 (Boole’s Law), but transition time can cause a spike</a:t>
            </a:r>
          </a:p>
        </p:txBody>
      </p:sp>
      <p:grpSp>
        <p:nvGrpSpPr>
          <p:cNvPr id="7" name="Google Shape;206;p11">
            <a:extLst>
              <a:ext uri="{FF2B5EF4-FFF2-40B4-BE49-F238E27FC236}">
                <a16:creationId xmlns:a16="http://schemas.microsoft.com/office/drawing/2014/main" id="{5414D38E-4D4D-2EEB-C93F-0559360511E4}"/>
              </a:ext>
            </a:extLst>
          </p:cNvPr>
          <p:cNvGrpSpPr/>
          <p:nvPr/>
        </p:nvGrpSpPr>
        <p:grpSpPr>
          <a:xfrm>
            <a:off x="5304810" y="4142576"/>
            <a:ext cx="3548245" cy="2506163"/>
            <a:chOff x="4638973" y="2683371"/>
            <a:chExt cx="3924597" cy="2772668"/>
          </a:xfrm>
        </p:grpSpPr>
        <p:sp>
          <p:nvSpPr>
            <p:cNvPr id="8" name="Google Shape;207;p11">
              <a:extLst>
                <a:ext uri="{FF2B5EF4-FFF2-40B4-BE49-F238E27FC236}">
                  <a16:creationId xmlns:a16="http://schemas.microsoft.com/office/drawing/2014/main" id="{CD6FC508-7CE4-9913-8193-F288961FC714}"/>
                </a:ext>
              </a:extLst>
            </p:cNvPr>
            <p:cNvSpPr/>
            <p:nvPr/>
          </p:nvSpPr>
          <p:spPr>
            <a:xfrm>
              <a:off x="6527601" y="3562945"/>
              <a:ext cx="2035969" cy="1893094"/>
            </a:xfrm>
            <a:prstGeom prst="ellipse">
              <a:avLst/>
            </a:prstGeom>
            <a:noFill/>
            <a:ln w="9525" cap="flat" cmpd="sng">
              <a:solidFill>
                <a:srgbClr val="FFCC00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64275" tIns="32125" rIns="64275" bIns="321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" name="Google Shape;208;p11">
              <a:extLst>
                <a:ext uri="{FF2B5EF4-FFF2-40B4-BE49-F238E27FC236}">
                  <a16:creationId xmlns:a16="http://schemas.microsoft.com/office/drawing/2014/main" id="{B5277DD3-69DC-3FDC-88D5-12EB23C2BB54}"/>
                </a:ext>
              </a:extLst>
            </p:cNvPr>
            <p:cNvSpPr/>
            <p:nvPr/>
          </p:nvSpPr>
          <p:spPr>
            <a:xfrm>
              <a:off x="4768453" y="4768453"/>
              <a:ext cx="553641" cy="589359"/>
            </a:xfrm>
            <a:prstGeom prst="ellipse">
              <a:avLst/>
            </a:prstGeom>
            <a:noFill/>
            <a:ln w="9525" cap="flat" cmpd="sng">
              <a:solidFill>
                <a:srgbClr val="FFCC00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64275" tIns="32125" rIns="64275" bIns="321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10" name="Google Shape;209;p11">
              <a:extLst>
                <a:ext uri="{FF2B5EF4-FFF2-40B4-BE49-F238E27FC236}">
                  <a16:creationId xmlns:a16="http://schemas.microsoft.com/office/drawing/2014/main" id="{CB64514C-2A45-E108-C197-ECF656C9E7B8}"/>
                </a:ext>
              </a:extLst>
            </p:cNvPr>
            <p:cNvCxnSpPr/>
            <p:nvPr/>
          </p:nvCxnSpPr>
          <p:spPr>
            <a:xfrm>
              <a:off x="6508627" y="3355330"/>
              <a:ext cx="652983" cy="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" name="Google Shape;210;p11">
              <a:extLst>
                <a:ext uri="{FF2B5EF4-FFF2-40B4-BE49-F238E27FC236}">
                  <a16:creationId xmlns:a16="http://schemas.microsoft.com/office/drawing/2014/main" id="{DBB0C8BF-BC4E-10E2-86D5-A8D8712D5267}"/>
                </a:ext>
              </a:extLst>
            </p:cNvPr>
            <p:cNvSpPr/>
            <p:nvPr/>
          </p:nvSpPr>
          <p:spPr>
            <a:xfrm rot="5400000">
              <a:off x="6110697" y="3217478"/>
              <a:ext cx="465460" cy="29468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4275" tIns="32125" rIns="64275" bIns="321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2" name="Google Shape;211;p11">
              <a:extLst>
                <a:ext uri="{FF2B5EF4-FFF2-40B4-BE49-F238E27FC236}">
                  <a16:creationId xmlns:a16="http://schemas.microsoft.com/office/drawing/2014/main" id="{84E70FC7-CD0A-CE73-6561-3B5709F1974F}"/>
                </a:ext>
              </a:extLst>
            </p:cNvPr>
            <p:cNvGrpSpPr/>
            <p:nvPr/>
          </p:nvGrpSpPr>
          <p:grpSpPr>
            <a:xfrm>
              <a:off x="7154912" y="2683371"/>
              <a:ext cx="385093" cy="865064"/>
              <a:chOff x="0" y="0"/>
              <a:chExt cx="345" cy="774"/>
            </a:xfrm>
          </p:grpSpPr>
          <p:grpSp>
            <p:nvGrpSpPr>
              <p:cNvPr id="43" name="Google Shape;212;p11">
                <a:extLst>
                  <a:ext uri="{FF2B5EF4-FFF2-40B4-BE49-F238E27FC236}">
                    <a16:creationId xmlns:a16="http://schemas.microsoft.com/office/drawing/2014/main" id="{CF2703B2-839A-866F-6EAD-9677B5F5AC39}"/>
                  </a:ext>
                </a:extLst>
              </p:cNvPr>
              <p:cNvGrpSpPr/>
              <p:nvPr/>
            </p:nvGrpSpPr>
            <p:grpSpPr>
              <a:xfrm>
                <a:off x="4" y="0"/>
                <a:ext cx="341" cy="400"/>
                <a:chOff x="0" y="0"/>
                <a:chExt cx="340" cy="400"/>
              </a:xfrm>
            </p:grpSpPr>
            <p:sp>
              <p:nvSpPr>
                <p:cNvPr id="48" name="Google Shape;213;p11">
                  <a:extLst>
                    <a:ext uri="{FF2B5EF4-FFF2-40B4-BE49-F238E27FC236}">
                      <a16:creationId xmlns:a16="http://schemas.microsoft.com/office/drawing/2014/main" id="{920C833F-11D3-9DBB-E67D-9799C9D70F0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340" cy="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11929" y="0"/>
                        <a:pt x="21600" y="9671"/>
                        <a:pt x="21600" y="2160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49" name="Google Shape;214;p11">
                  <a:extLst>
                    <a:ext uri="{FF2B5EF4-FFF2-40B4-BE49-F238E27FC236}">
                      <a16:creationId xmlns:a16="http://schemas.microsoft.com/office/drawing/2014/main" id="{23B9FE2F-DFDD-ADDF-92DD-62630776825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340" cy="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11929" y="0"/>
                        <a:pt x="21600" y="9671"/>
                        <a:pt x="21600" y="21600"/>
                      </a:cubicBezTo>
                      <a:lnTo>
                        <a:pt x="0" y="21600"/>
                      </a:lnTo>
                      <a:close/>
                      <a:moveTo>
                        <a:pt x="0" y="0"/>
                      </a:moveTo>
                    </a:path>
                  </a:pathLst>
                </a:cu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cxnSp>
            <p:nvCxnSpPr>
              <p:cNvPr id="44" name="Google Shape;215;p11">
                <a:extLst>
                  <a:ext uri="{FF2B5EF4-FFF2-40B4-BE49-F238E27FC236}">
                    <a16:creationId xmlns:a16="http://schemas.microsoft.com/office/drawing/2014/main" id="{C068F4AA-A24D-C563-9343-78D804FDC13E}"/>
                  </a:ext>
                </a:extLst>
              </p:cNvPr>
              <p:cNvCxnSpPr/>
              <p:nvPr/>
            </p:nvCxnSpPr>
            <p:spPr>
              <a:xfrm>
                <a:off x="0" y="16"/>
                <a:ext cx="1" cy="758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45" name="Google Shape;216;p11">
                <a:extLst>
                  <a:ext uri="{FF2B5EF4-FFF2-40B4-BE49-F238E27FC236}">
                    <a16:creationId xmlns:a16="http://schemas.microsoft.com/office/drawing/2014/main" id="{BC0699D1-0B07-3F13-C1B7-4B9D44B892EA}"/>
                  </a:ext>
                </a:extLst>
              </p:cNvPr>
              <p:cNvGrpSpPr/>
              <p:nvPr/>
            </p:nvGrpSpPr>
            <p:grpSpPr>
              <a:xfrm rot="10800000" flipH="1">
                <a:off x="4" y="370"/>
                <a:ext cx="341" cy="401"/>
                <a:chOff x="0" y="0"/>
                <a:chExt cx="340" cy="400"/>
              </a:xfrm>
            </p:grpSpPr>
            <p:sp>
              <p:nvSpPr>
                <p:cNvPr id="46" name="Google Shape;217;p11">
                  <a:extLst>
                    <a:ext uri="{FF2B5EF4-FFF2-40B4-BE49-F238E27FC236}">
                      <a16:creationId xmlns:a16="http://schemas.microsoft.com/office/drawing/2014/main" id="{CE9A95D2-FBF8-ADF6-44D7-78FA7248B5D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340" cy="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11929" y="0"/>
                        <a:pt x="21600" y="9671"/>
                        <a:pt x="21600" y="2160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47" name="Google Shape;218;p11">
                  <a:extLst>
                    <a:ext uri="{FF2B5EF4-FFF2-40B4-BE49-F238E27FC236}">
                      <a16:creationId xmlns:a16="http://schemas.microsoft.com/office/drawing/2014/main" id="{93C3AAA9-9579-68CB-F847-838A141C7B9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340" cy="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11929" y="0"/>
                        <a:pt x="21600" y="9671"/>
                        <a:pt x="21600" y="21600"/>
                      </a:cubicBezTo>
                      <a:lnTo>
                        <a:pt x="0" y="21600"/>
                      </a:lnTo>
                      <a:close/>
                      <a:moveTo>
                        <a:pt x="0" y="0"/>
                      </a:moveTo>
                    </a:path>
                  </a:pathLst>
                </a:cu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</p:grpSp>
        <p:cxnSp>
          <p:nvCxnSpPr>
            <p:cNvPr id="13" name="Google Shape;219;p11">
              <a:extLst>
                <a:ext uri="{FF2B5EF4-FFF2-40B4-BE49-F238E27FC236}">
                  <a16:creationId xmlns:a16="http://schemas.microsoft.com/office/drawing/2014/main" id="{6B9C8DD1-3E82-2A80-5B50-AFDC7F3E188C}"/>
                </a:ext>
              </a:extLst>
            </p:cNvPr>
            <p:cNvCxnSpPr/>
            <p:nvPr/>
          </p:nvCxnSpPr>
          <p:spPr>
            <a:xfrm>
              <a:off x="5200427" y="2853036"/>
              <a:ext cx="1952253" cy="2232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" name="Google Shape;220;p11">
              <a:extLst>
                <a:ext uri="{FF2B5EF4-FFF2-40B4-BE49-F238E27FC236}">
                  <a16:creationId xmlns:a16="http://schemas.microsoft.com/office/drawing/2014/main" id="{1B97F9FB-7AE2-769D-6695-8C3CDF579260}"/>
                </a:ext>
              </a:extLst>
            </p:cNvPr>
            <p:cNvSpPr/>
            <p:nvPr/>
          </p:nvSpPr>
          <p:spPr>
            <a:xfrm>
              <a:off x="6478488" y="3281660"/>
              <a:ext cx="116086" cy="133945"/>
            </a:xfrm>
            <a:prstGeom prst="ellipse">
              <a:avLst/>
            </a:prstGeom>
            <a:solidFill>
              <a:srgbClr val="33333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4275" tIns="32125" rIns="64275" bIns="321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15" name="Google Shape;221;p11">
              <a:extLst>
                <a:ext uri="{FF2B5EF4-FFF2-40B4-BE49-F238E27FC236}">
                  <a16:creationId xmlns:a16="http://schemas.microsoft.com/office/drawing/2014/main" id="{FB67033F-4AF1-F9A0-937B-64D0B82C1A85}"/>
                </a:ext>
              </a:extLst>
            </p:cNvPr>
            <p:cNvCxnSpPr/>
            <p:nvPr/>
          </p:nvCxnSpPr>
          <p:spPr>
            <a:xfrm rot="10800000" flipH="1">
              <a:off x="5723930" y="3372074"/>
              <a:ext cx="475506" cy="2232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" name="Google Shape;222;p11">
              <a:extLst>
                <a:ext uri="{FF2B5EF4-FFF2-40B4-BE49-F238E27FC236}">
                  <a16:creationId xmlns:a16="http://schemas.microsoft.com/office/drawing/2014/main" id="{BBBCAF6C-B672-DB50-04EA-CCB909B53645}"/>
                </a:ext>
              </a:extLst>
            </p:cNvPr>
            <p:cNvCxnSpPr/>
            <p:nvPr/>
          </p:nvCxnSpPr>
          <p:spPr>
            <a:xfrm rot="10800000">
              <a:off x="5715000" y="2857500"/>
              <a:ext cx="0" cy="517922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223;p11">
              <a:extLst>
                <a:ext uri="{FF2B5EF4-FFF2-40B4-BE49-F238E27FC236}">
                  <a16:creationId xmlns:a16="http://schemas.microsoft.com/office/drawing/2014/main" id="{13752BDB-D39F-2565-F2F5-7E3DB9984876}"/>
                </a:ext>
              </a:extLst>
            </p:cNvPr>
            <p:cNvCxnSpPr/>
            <p:nvPr/>
          </p:nvCxnSpPr>
          <p:spPr>
            <a:xfrm>
              <a:off x="7535541" y="3114229"/>
              <a:ext cx="652983" cy="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" name="Google Shape;224;p11">
              <a:extLst>
                <a:ext uri="{FF2B5EF4-FFF2-40B4-BE49-F238E27FC236}">
                  <a16:creationId xmlns:a16="http://schemas.microsoft.com/office/drawing/2014/main" id="{F6084771-826B-FC36-C552-2B2190A07CE8}"/>
                </a:ext>
              </a:extLst>
            </p:cNvPr>
            <p:cNvCxnSpPr/>
            <p:nvPr/>
          </p:nvCxnSpPr>
          <p:spPr>
            <a:xfrm>
              <a:off x="4847705" y="4973836"/>
              <a:ext cx="121667" cy="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" name="Google Shape;225;p11">
              <a:extLst>
                <a:ext uri="{FF2B5EF4-FFF2-40B4-BE49-F238E27FC236}">
                  <a16:creationId xmlns:a16="http://schemas.microsoft.com/office/drawing/2014/main" id="{E55CCCAE-30FC-B998-336F-3C4DA599756B}"/>
                </a:ext>
              </a:extLst>
            </p:cNvPr>
            <p:cNvCxnSpPr/>
            <p:nvPr/>
          </p:nvCxnSpPr>
          <p:spPr>
            <a:xfrm>
              <a:off x="4973836" y="4841007"/>
              <a:ext cx="238869" cy="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" name="Google Shape;226;p11">
              <a:extLst>
                <a:ext uri="{FF2B5EF4-FFF2-40B4-BE49-F238E27FC236}">
                  <a16:creationId xmlns:a16="http://schemas.microsoft.com/office/drawing/2014/main" id="{1735C986-6E83-19C3-9A74-B4F085CDFF4F}"/>
                </a:ext>
              </a:extLst>
            </p:cNvPr>
            <p:cNvCxnSpPr/>
            <p:nvPr/>
          </p:nvCxnSpPr>
          <p:spPr>
            <a:xfrm rot="10800000">
              <a:off x="4973836" y="4839891"/>
              <a:ext cx="0" cy="133945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227;p11">
              <a:extLst>
                <a:ext uri="{FF2B5EF4-FFF2-40B4-BE49-F238E27FC236}">
                  <a16:creationId xmlns:a16="http://schemas.microsoft.com/office/drawing/2014/main" id="{13FA02DA-BF0D-C9AA-0A77-9244A50B6C0D}"/>
                </a:ext>
              </a:extLst>
            </p:cNvPr>
            <p:cNvCxnSpPr/>
            <p:nvPr/>
          </p:nvCxnSpPr>
          <p:spPr>
            <a:xfrm rot="10800000">
              <a:off x="5217170" y="4839891"/>
              <a:ext cx="0" cy="133945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228;p11">
              <a:extLst>
                <a:ext uri="{FF2B5EF4-FFF2-40B4-BE49-F238E27FC236}">
                  <a16:creationId xmlns:a16="http://schemas.microsoft.com/office/drawing/2014/main" id="{514813A4-EFB9-0735-CE0E-5EFAC5198F73}"/>
                </a:ext>
              </a:extLst>
            </p:cNvPr>
            <p:cNvCxnSpPr/>
            <p:nvPr/>
          </p:nvCxnSpPr>
          <p:spPr>
            <a:xfrm>
              <a:off x="4970488" y="5233913"/>
              <a:ext cx="121667" cy="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229;p11">
              <a:extLst>
                <a:ext uri="{FF2B5EF4-FFF2-40B4-BE49-F238E27FC236}">
                  <a16:creationId xmlns:a16="http://schemas.microsoft.com/office/drawing/2014/main" id="{D189FD5C-6C00-934C-4912-7A1B58E4987B}"/>
                </a:ext>
              </a:extLst>
            </p:cNvPr>
            <p:cNvCxnSpPr/>
            <p:nvPr/>
          </p:nvCxnSpPr>
          <p:spPr>
            <a:xfrm>
              <a:off x="4848820" y="5102201"/>
              <a:ext cx="121667" cy="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" name="Google Shape;230;p11">
              <a:extLst>
                <a:ext uri="{FF2B5EF4-FFF2-40B4-BE49-F238E27FC236}">
                  <a16:creationId xmlns:a16="http://schemas.microsoft.com/office/drawing/2014/main" id="{9D8BACB3-41F8-4F1B-485E-C4E6B66E3747}"/>
                </a:ext>
              </a:extLst>
            </p:cNvPr>
            <p:cNvCxnSpPr/>
            <p:nvPr/>
          </p:nvCxnSpPr>
          <p:spPr>
            <a:xfrm rot="10800000">
              <a:off x="4970488" y="5102201"/>
              <a:ext cx="0" cy="133945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231;p11">
              <a:extLst>
                <a:ext uri="{FF2B5EF4-FFF2-40B4-BE49-F238E27FC236}">
                  <a16:creationId xmlns:a16="http://schemas.microsoft.com/office/drawing/2014/main" id="{E578A1C3-DCBA-075A-A42C-2730C4E89733}"/>
                </a:ext>
              </a:extLst>
            </p:cNvPr>
            <p:cNvCxnSpPr/>
            <p:nvPr/>
          </p:nvCxnSpPr>
          <p:spPr>
            <a:xfrm flipH="1">
              <a:off x="5170289" y="3866555"/>
              <a:ext cx="1589484" cy="882923"/>
            </a:xfrm>
            <a:prstGeom prst="straightConnector1">
              <a:avLst/>
            </a:prstGeom>
            <a:noFill/>
            <a:ln w="25400" cap="flat" cmpd="sng">
              <a:solidFill>
                <a:srgbClr val="FFCC00"/>
              </a:solidFill>
              <a:prstDash val="lgDash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32;p11">
              <a:extLst>
                <a:ext uri="{FF2B5EF4-FFF2-40B4-BE49-F238E27FC236}">
                  <a16:creationId xmlns:a16="http://schemas.microsoft.com/office/drawing/2014/main" id="{A38A4E15-83C7-AD92-9338-C6EBB8F57CBD}"/>
                </a:ext>
              </a:extLst>
            </p:cNvPr>
            <p:cNvCxnSpPr/>
            <p:nvPr/>
          </p:nvCxnSpPr>
          <p:spPr>
            <a:xfrm rot="10800000">
              <a:off x="5331023" y="5322094"/>
              <a:ext cx="1777008" cy="98227"/>
            </a:xfrm>
            <a:prstGeom prst="straightConnector1">
              <a:avLst/>
            </a:prstGeom>
            <a:noFill/>
            <a:ln w="25400" cap="flat" cmpd="sng">
              <a:solidFill>
                <a:srgbClr val="FFCC00"/>
              </a:solidFill>
              <a:prstDash val="lgDash"/>
              <a:round/>
              <a:headEnd type="none" w="sm" len="sm"/>
              <a:tailEnd type="none" w="sm" len="sm"/>
            </a:ln>
          </p:spPr>
        </p:cxnSp>
        <p:sp>
          <p:nvSpPr>
            <p:cNvPr id="27" name="Google Shape;233;p11">
              <a:extLst>
                <a:ext uri="{FF2B5EF4-FFF2-40B4-BE49-F238E27FC236}">
                  <a16:creationId xmlns:a16="http://schemas.microsoft.com/office/drawing/2014/main" id="{55BC5977-B6AC-415D-2292-6D50590AB2E5}"/>
                </a:ext>
              </a:extLst>
            </p:cNvPr>
            <p:cNvSpPr/>
            <p:nvPr/>
          </p:nvSpPr>
          <p:spPr>
            <a:xfrm>
              <a:off x="4638973" y="4825454"/>
              <a:ext cx="88166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GB" sz="1000" b="0" i="0" u="none" strike="noStrike" cap="none">
                  <a:solidFill>
                    <a:srgbClr val="FFCC00"/>
                  </a:solidFill>
                  <a:latin typeface="Verdana"/>
                  <a:ea typeface="Verdana"/>
                  <a:cs typeface="Verdana"/>
                  <a:sym typeface="Verdana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34;p11">
              <a:extLst>
                <a:ext uri="{FF2B5EF4-FFF2-40B4-BE49-F238E27FC236}">
                  <a16:creationId xmlns:a16="http://schemas.microsoft.com/office/drawing/2014/main" id="{932EED76-6FB7-EF66-6740-E41358A99603}"/>
                </a:ext>
              </a:extLst>
            </p:cNvPr>
            <p:cNvSpPr/>
            <p:nvPr/>
          </p:nvSpPr>
          <p:spPr>
            <a:xfrm>
              <a:off x="4642322" y="5084415"/>
              <a:ext cx="88166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GB" sz="1000" b="0" i="0" u="none" strike="noStrike" cap="none">
                  <a:solidFill>
                    <a:srgbClr val="FFCC00"/>
                  </a:solidFill>
                  <a:latin typeface="Verdana"/>
                  <a:ea typeface="Verdana"/>
                  <a:cs typeface="Verdana"/>
                  <a:sym typeface="Verdana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" name="Google Shape;235;p11">
              <a:extLst>
                <a:ext uri="{FF2B5EF4-FFF2-40B4-BE49-F238E27FC236}">
                  <a16:creationId xmlns:a16="http://schemas.microsoft.com/office/drawing/2014/main" id="{06F78BBC-37FA-01E8-9A3C-CEC1477C7571}"/>
                </a:ext>
              </a:extLst>
            </p:cNvPr>
            <p:cNvCxnSpPr/>
            <p:nvPr/>
          </p:nvCxnSpPr>
          <p:spPr>
            <a:xfrm>
              <a:off x="6758658" y="4075286"/>
              <a:ext cx="266774" cy="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" name="Google Shape;236;p11">
              <a:extLst>
                <a:ext uri="{FF2B5EF4-FFF2-40B4-BE49-F238E27FC236}">
                  <a16:creationId xmlns:a16="http://schemas.microsoft.com/office/drawing/2014/main" id="{8D088D4D-685C-7AEF-556F-BF078FEA9FD5}"/>
                </a:ext>
              </a:extLst>
            </p:cNvPr>
            <p:cNvCxnSpPr/>
            <p:nvPr/>
          </p:nvCxnSpPr>
          <p:spPr>
            <a:xfrm>
              <a:off x="7160494" y="3810744"/>
              <a:ext cx="523503" cy="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" name="Google Shape;237;p11">
              <a:extLst>
                <a:ext uri="{FF2B5EF4-FFF2-40B4-BE49-F238E27FC236}">
                  <a16:creationId xmlns:a16="http://schemas.microsoft.com/office/drawing/2014/main" id="{5EE18771-5850-9855-03F0-3748591D7CF9}"/>
                </a:ext>
              </a:extLst>
            </p:cNvPr>
            <p:cNvCxnSpPr/>
            <p:nvPr/>
          </p:nvCxnSpPr>
          <p:spPr>
            <a:xfrm rot="10800000" flipH="1">
              <a:off x="7035478" y="3830836"/>
              <a:ext cx="126131" cy="244451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238;p11">
              <a:extLst>
                <a:ext uri="{FF2B5EF4-FFF2-40B4-BE49-F238E27FC236}">
                  <a16:creationId xmlns:a16="http://schemas.microsoft.com/office/drawing/2014/main" id="{C7E15E2E-3DA9-D0CD-3879-EF6B6E103F97}"/>
                </a:ext>
              </a:extLst>
            </p:cNvPr>
            <p:cNvCxnSpPr/>
            <p:nvPr/>
          </p:nvCxnSpPr>
          <p:spPr>
            <a:xfrm>
              <a:off x="5086574" y="5233913"/>
              <a:ext cx="121667" cy="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" name="Google Shape;239;p11">
              <a:extLst>
                <a:ext uri="{FF2B5EF4-FFF2-40B4-BE49-F238E27FC236}">
                  <a16:creationId xmlns:a16="http://schemas.microsoft.com/office/drawing/2014/main" id="{2E50BB6C-9F45-B495-6538-DDE1EA284119}"/>
                </a:ext>
              </a:extLst>
            </p:cNvPr>
            <p:cNvCxnSpPr/>
            <p:nvPr/>
          </p:nvCxnSpPr>
          <p:spPr>
            <a:xfrm>
              <a:off x="6910462" y="4218161"/>
              <a:ext cx="266774" cy="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" name="Google Shape;240;p11">
              <a:extLst>
                <a:ext uri="{FF2B5EF4-FFF2-40B4-BE49-F238E27FC236}">
                  <a16:creationId xmlns:a16="http://schemas.microsoft.com/office/drawing/2014/main" id="{CF6B1FF9-EF6A-70F5-F1BD-CBE18D25BB07}"/>
                </a:ext>
              </a:extLst>
            </p:cNvPr>
            <p:cNvCxnSpPr/>
            <p:nvPr/>
          </p:nvCxnSpPr>
          <p:spPr>
            <a:xfrm>
              <a:off x="7312298" y="4435822"/>
              <a:ext cx="523503" cy="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" name="Google Shape;241;p11">
              <a:extLst>
                <a:ext uri="{FF2B5EF4-FFF2-40B4-BE49-F238E27FC236}">
                  <a16:creationId xmlns:a16="http://schemas.microsoft.com/office/drawing/2014/main" id="{A16B5E12-B81F-859B-92F3-D760E7B8EDEB}"/>
                </a:ext>
              </a:extLst>
            </p:cNvPr>
            <p:cNvCxnSpPr/>
            <p:nvPr/>
          </p:nvCxnSpPr>
          <p:spPr>
            <a:xfrm>
              <a:off x="7187282" y="4218162"/>
              <a:ext cx="125016" cy="21989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" name="Google Shape;242;p11">
              <a:extLst>
                <a:ext uri="{FF2B5EF4-FFF2-40B4-BE49-F238E27FC236}">
                  <a16:creationId xmlns:a16="http://schemas.microsoft.com/office/drawing/2014/main" id="{55166CF9-371B-0908-EAFD-333DC7541B97}"/>
                </a:ext>
              </a:extLst>
            </p:cNvPr>
            <p:cNvCxnSpPr/>
            <p:nvPr/>
          </p:nvCxnSpPr>
          <p:spPr>
            <a:xfrm>
              <a:off x="7312298" y="4971604"/>
              <a:ext cx="523503" cy="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" name="Google Shape;243;p11">
              <a:extLst>
                <a:ext uri="{FF2B5EF4-FFF2-40B4-BE49-F238E27FC236}">
                  <a16:creationId xmlns:a16="http://schemas.microsoft.com/office/drawing/2014/main" id="{F2A303A4-BB55-482F-FC32-FB19E8E6E4D6}"/>
                </a:ext>
              </a:extLst>
            </p:cNvPr>
            <p:cNvCxnSpPr/>
            <p:nvPr/>
          </p:nvCxnSpPr>
          <p:spPr>
            <a:xfrm rot="10800000" flipH="1">
              <a:off x="6732985" y="4971604"/>
              <a:ext cx="415230" cy="2232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" name="Google Shape;244;p11">
              <a:extLst>
                <a:ext uri="{FF2B5EF4-FFF2-40B4-BE49-F238E27FC236}">
                  <a16:creationId xmlns:a16="http://schemas.microsoft.com/office/drawing/2014/main" id="{7E298775-37FB-C37B-1A5C-D74075AC1394}"/>
                </a:ext>
              </a:extLst>
            </p:cNvPr>
            <p:cNvCxnSpPr/>
            <p:nvPr/>
          </p:nvCxnSpPr>
          <p:spPr>
            <a:xfrm>
              <a:off x="7259836" y="4741664"/>
              <a:ext cx="70322" cy="232172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" name="Google Shape;245;p11">
              <a:extLst>
                <a:ext uri="{FF2B5EF4-FFF2-40B4-BE49-F238E27FC236}">
                  <a16:creationId xmlns:a16="http://schemas.microsoft.com/office/drawing/2014/main" id="{E4EC4028-B293-84BD-DFE1-F37BBB44488F}"/>
                </a:ext>
              </a:extLst>
            </p:cNvPr>
            <p:cNvCxnSpPr/>
            <p:nvPr/>
          </p:nvCxnSpPr>
          <p:spPr>
            <a:xfrm flipH="1">
              <a:off x="7161609" y="4741664"/>
              <a:ext cx="80367" cy="231056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0" name="Google Shape;246;p11">
              <a:extLst>
                <a:ext uri="{FF2B5EF4-FFF2-40B4-BE49-F238E27FC236}">
                  <a16:creationId xmlns:a16="http://schemas.microsoft.com/office/drawing/2014/main" id="{D1A7279C-43A1-F3E0-2879-16AE4468A1A3}"/>
                </a:ext>
              </a:extLst>
            </p:cNvPr>
            <p:cNvSpPr/>
            <p:nvPr/>
          </p:nvSpPr>
          <p:spPr>
            <a:xfrm>
              <a:off x="6648153" y="3834259"/>
              <a:ext cx="88166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GB" sz="1000" b="0" i="0" u="none" strike="noStrike" cap="none" dirty="0">
                  <a:solidFill>
                    <a:srgbClr val="FFCC00"/>
                  </a:solidFill>
                  <a:latin typeface="Verdana"/>
                  <a:ea typeface="Verdana"/>
                  <a:cs typeface="Verdana"/>
                  <a:sym typeface="Verdana"/>
                </a:rPr>
                <a:t>A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247;p11">
              <a:extLst>
                <a:ext uri="{FF2B5EF4-FFF2-40B4-BE49-F238E27FC236}">
                  <a16:creationId xmlns:a16="http://schemas.microsoft.com/office/drawing/2014/main" id="{735CCB92-3156-FCEF-58A3-65732D8DB722}"/>
                </a:ext>
              </a:extLst>
            </p:cNvPr>
            <p:cNvSpPr/>
            <p:nvPr/>
          </p:nvSpPr>
          <p:spPr>
            <a:xfrm>
              <a:off x="6651502" y="4280744"/>
              <a:ext cx="88166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GB" sz="1000" b="0" i="0" u="none" strike="noStrike" cap="none">
                  <a:solidFill>
                    <a:srgbClr val="FFCC00"/>
                  </a:solidFill>
                  <a:latin typeface="Verdana"/>
                  <a:ea typeface="Verdana"/>
                  <a:cs typeface="Verdana"/>
                  <a:sym typeface="Verdana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248;p11">
              <a:extLst>
                <a:ext uri="{FF2B5EF4-FFF2-40B4-BE49-F238E27FC236}">
                  <a16:creationId xmlns:a16="http://schemas.microsoft.com/office/drawing/2014/main" id="{5FD0D81D-AE27-9EBF-15CC-E6DE531F3E84}"/>
                </a:ext>
              </a:extLst>
            </p:cNvPr>
            <p:cNvSpPr/>
            <p:nvPr/>
          </p:nvSpPr>
          <p:spPr>
            <a:xfrm>
              <a:off x="6588994" y="4682579"/>
              <a:ext cx="235642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GB" sz="1000" b="0" i="0" u="none" strike="noStrike" cap="none" dirty="0">
                  <a:solidFill>
                    <a:srgbClr val="FFCC00"/>
                  </a:solidFill>
                  <a:latin typeface="Verdana"/>
                  <a:ea typeface="Verdana"/>
                  <a:cs typeface="Verdana"/>
                  <a:sym typeface="Verdana"/>
                </a:rPr>
                <a:t>O/P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09A811CB-D559-A9C1-78CD-F5C2E71DD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14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2926E2-4882-41F7-3FAC-FA18D237211D}"/>
              </a:ext>
            </a:extLst>
          </p:cNvPr>
          <p:cNvSpPr txBox="1"/>
          <p:nvPr/>
        </p:nvSpPr>
        <p:spPr>
          <a:xfrm>
            <a:off x="114355" y="2551944"/>
            <a:ext cx="249381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6. Race Hazard</a:t>
            </a:r>
          </a:p>
          <a:p>
            <a:r>
              <a:rPr lang="en-US" sz="1400" dirty="0"/>
              <a:t>7. An Interesting Circuit</a:t>
            </a:r>
          </a:p>
          <a:p>
            <a:r>
              <a:rPr lang="en-US" sz="1400" dirty="0"/>
              <a:t>8. Simple Memory Block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6601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0D5D4-75DF-5B82-1834-FD2D53F16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7;p12">
            <a:extLst>
              <a:ext uri="{FF2B5EF4-FFF2-40B4-BE49-F238E27FC236}">
                <a16:creationId xmlns:a16="http://schemas.microsoft.com/office/drawing/2014/main" id="{4C805001-FE18-A856-ACC0-F182703972EE}"/>
              </a:ext>
            </a:extLst>
          </p:cNvPr>
          <p:cNvSpPr txBox="1">
            <a:spLocks/>
          </p:cNvSpPr>
          <p:nvPr/>
        </p:nvSpPr>
        <p:spPr>
          <a:xfrm>
            <a:off x="2554847" y="285961"/>
            <a:ext cx="6019773" cy="14573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300"/>
            </a:pPr>
            <a:r>
              <a:rPr lang="en-GB" sz="4400" b="1" dirty="0">
                <a:latin typeface="Times New Roman"/>
                <a:ea typeface="Times New Roman"/>
                <a:cs typeface="Times New Roman"/>
                <a:sym typeface="Times New Roman"/>
              </a:rPr>
              <a:t>An Interesting Circuit</a:t>
            </a:r>
          </a:p>
        </p:txBody>
      </p:sp>
      <p:sp>
        <p:nvSpPr>
          <p:cNvPr id="3" name="Google Shape;258;p12">
            <a:extLst>
              <a:ext uri="{FF2B5EF4-FFF2-40B4-BE49-F238E27FC236}">
                <a16:creationId xmlns:a16="http://schemas.microsoft.com/office/drawing/2014/main" id="{402063CB-FA31-E549-6AE3-0712C9AABDF7}"/>
              </a:ext>
            </a:extLst>
          </p:cNvPr>
          <p:cNvSpPr txBox="1">
            <a:spLocks/>
          </p:cNvSpPr>
          <p:nvPr/>
        </p:nvSpPr>
        <p:spPr>
          <a:xfrm>
            <a:off x="2810263" y="1507578"/>
            <a:ext cx="7635706" cy="7200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3563" indent="-215900" algn="l">
              <a:spcBef>
                <a:spcPts val="0"/>
              </a:spcBef>
              <a:buSzPts val="2800"/>
              <a:buFont typeface="Times New Roman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What do you think this circuit does?</a:t>
            </a:r>
          </a:p>
        </p:txBody>
      </p:sp>
      <p:sp>
        <p:nvSpPr>
          <p:cNvPr id="10" name="Google Shape;260;p12">
            <a:extLst>
              <a:ext uri="{FF2B5EF4-FFF2-40B4-BE49-F238E27FC236}">
                <a16:creationId xmlns:a16="http://schemas.microsoft.com/office/drawing/2014/main" id="{B956895D-A9A7-BD4D-466A-75EDCDC538BF}"/>
              </a:ext>
            </a:extLst>
          </p:cNvPr>
          <p:cNvSpPr/>
          <p:nvPr/>
        </p:nvSpPr>
        <p:spPr>
          <a:xfrm>
            <a:off x="2987305" y="2601721"/>
            <a:ext cx="2563537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 Truth Table</a:t>
            </a:r>
            <a:endParaRPr sz="2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" name="Google Shape;259;p12">
            <a:extLst>
              <a:ext uri="{FF2B5EF4-FFF2-40B4-BE49-F238E27FC236}">
                <a16:creationId xmlns:a16="http://schemas.microsoft.com/office/drawing/2014/main" id="{0D7F2C3E-F3EF-0E26-1686-0C2C6861F6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623897"/>
              </p:ext>
            </p:extLst>
          </p:nvPr>
        </p:nvGraphicFramePr>
        <p:xfrm>
          <a:off x="3151310" y="3115121"/>
          <a:ext cx="2235525" cy="2469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2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O/P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Google Shape;261;p12">
            <a:extLst>
              <a:ext uri="{FF2B5EF4-FFF2-40B4-BE49-F238E27FC236}">
                <a16:creationId xmlns:a16="http://schemas.microsoft.com/office/drawing/2014/main" id="{E7871DE1-CCDF-D181-064B-AFCED6E938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32201" y="2684849"/>
            <a:ext cx="2850057" cy="298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B055B45-FCF6-C903-E8C4-0A3E82C8E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15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91B543-49DB-92E3-13F4-7EB4110DB228}"/>
              </a:ext>
            </a:extLst>
          </p:cNvPr>
          <p:cNvSpPr txBox="1"/>
          <p:nvPr/>
        </p:nvSpPr>
        <p:spPr>
          <a:xfrm>
            <a:off x="114355" y="2551944"/>
            <a:ext cx="249381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6. Race Hazard</a:t>
            </a:r>
          </a:p>
          <a:p>
            <a:r>
              <a:rPr lang="en-US" sz="1400" b="1" dirty="0"/>
              <a:t>7. An Interesting Circui</a:t>
            </a:r>
            <a:r>
              <a:rPr lang="en-US" sz="1400" dirty="0"/>
              <a:t>t</a:t>
            </a:r>
          </a:p>
          <a:p>
            <a:r>
              <a:rPr lang="en-US" sz="1400" dirty="0"/>
              <a:t>8. Simple Memory Block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30247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"/>
          <p:cNvSpPr txBox="1">
            <a:spLocks noGrp="1"/>
          </p:cNvSpPr>
          <p:nvPr>
            <p:ph type="title"/>
          </p:nvPr>
        </p:nvSpPr>
        <p:spPr>
          <a:xfrm>
            <a:off x="2857489" y="241300"/>
            <a:ext cx="73070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None/>
            </a:pPr>
            <a:r>
              <a:rPr lang="en-GB" b="1" dirty="0">
                <a:latin typeface="Times New Roman"/>
                <a:ea typeface="Times New Roman"/>
                <a:cs typeface="Times New Roman"/>
                <a:sym typeface="Times New Roman"/>
              </a:rPr>
              <a:t>An Interesting Circuit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1" name="Google Shape;27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95895" y="2194214"/>
            <a:ext cx="268605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 txBox="1"/>
          <p:nvPr/>
        </p:nvSpPr>
        <p:spPr>
          <a:xfrm>
            <a:off x="7862828" y="2584740"/>
            <a:ext cx="331788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 txBox="1"/>
          <p:nvPr/>
        </p:nvSpPr>
        <p:spPr>
          <a:xfrm>
            <a:off x="7844671" y="4296857"/>
            <a:ext cx="331788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 txBox="1"/>
          <p:nvPr/>
        </p:nvSpPr>
        <p:spPr>
          <a:xfrm>
            <a:off x="10446725" y="2679989"/>
            <a:ext cx="31115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 txBox="1"/>
          <p:nvPr/>
        </p:nvSpPr>
        <p:spPr>
          <a:xfrm>
            <a:off x="10447383" y="4150182"/>
            <a:ext cx="3111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3"/>
          <p:cNvSpPr txBox="1"/>
          <p:nvPr/>
        </p:nvSpPr>
        <p:spPr>
          <a:xfrm>
            <a:off x="8240416" y="2872931"/>
            <a:ext cx="31115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 txBox="1"/>
          <p:nvPr/>
        </p:nvSpPr>
        <p:spPr>
          <a:xfrm>
            <a:off x="8255904" y="4058691"/>
            <a:ext cx="31115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8" name="Google Shape;278;p13"/>
          <p:cNvGraphicFramePr/>
          <p:nvPr>
            <p:extLst>
              <p:ext uri="{D42A27DB-BD31-4B8C-83A1-F6EECF244321}">
                <p14:modId xmlns:p14="http://schemas.microsoft.com/office/powerpoint/2010/main" val="1798709359"/>
              </p:ext>
            </p:extLst>
          </p:nvPr>
        </p:nvGraphicFramePr>
        <p:xfrm>
          <a:off x="2910896" y="2593396"/>
          <a:ext cx="3360982" cy="24125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96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2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50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1700" b="0" i="0" u="none" strike="noStrike" cap="non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A</a:t>
                      </a:r>
                      <a:endParaRPr sz="1400" u="none" strike="noStrike" cap="none"/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1700" b="0" i="0" u="none" strike="noStrike" cap="non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B</a:t>
                      </a:r>
                      <a:endParaRPr sz="1400" u="none" strike="noStrike" cap="none"/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1700" b="0" i="0" u="none" strike="noStrike" cap="non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O/P</a:t>
                      </a:r>
                      <a:endParaRPr sz="1400" u="none" strike="noStrike" cap="none"/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18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1700" b="0" i="0" u="none" strike="noStrike" cap="non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strike="noStrike" cap="none"/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1700" b="0" i="0" u="none" strike="noStrike" cap="non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strike="noStrike" cap="none"/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1700" b="0" i="0" u="none" strike="noStrike" cap="none" dirty="0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1</a:t>
                      </a:r>
                      <a:endParaRPr sz="1400" u="none" strike="noStrike" cap="none" dirty="0"/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18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1700" b="0" i="0" u="none" strike="noStrike" cap="non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strike="noStrike" cap="none"/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1700" b="0" i="0" u="none" strike="noStrike" cap="non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1</a:t>
                      </a:r>
                      <a:endParaRPr sz="1400" u="none" strike="noStrike" cap="none"/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1700" b="0" i="0" u="none" strike="noStrike" cap="non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strike="noStrike" cap="none"/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18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1700" b="0" i="0" u="none" strike="noStrike" cap="non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1</a:t>
                      </a:r>
                      <a:endParaRPr sz="1400" u="none" strike="noStrike" cap="none"/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1700" b="0" i="0" u="none" strike="noStrike" cap="non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strike="noStrike" cap="none"/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1700" b="0" i="0" u="none" strike="noStrike" cap="non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strike="noStrike" cap="none"/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50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1700" b="0" i="0" u="none" strike="noStrike" cap="non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1</a:t>
                      </a:r>
                      <a:endParaRPr sz="1400" u="none" strike="noStrike" cap="none"/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1700" b="0" i="0" u="none" strike="noStrike" cap="none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1</a:t>
                      </a:r>
                      <a:endParaRPr sz="1400" u="none" strike="noStrike" cap="none"/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1700" b="0" i="0" u="none" strike="noStrike" cap="none" dirty="0">
                          <a:solidFill>
                            <a:srgbClr val="000000"/>
                          </a:solidFill>
                          <a:latin typeface="Cutive"/>
                          <a:ea typeface="Cutive"/>
                          <a:cs typeface="Cutive"/>
                          <a:sym typeface="Cutive"/>
                        </a:rPr>
                        <a:t>0</a:t>
                      </a:r>
                      <a:endParaRPr sz="1400" u="none" strike="noStrike" cap="none" dirty="0"/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9" name="Google Shape;279;p13"/>
          <p:cNvSpPr/>
          <p:nvPr/>
        </p:nvSpPr>
        <p:spPr>
          <a:xfrm>
            <a:off x="2910896" y="1786826"/>
            <a:ext cx="3360983" cy="586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NOR Truth Table</a:t>
            </a:r>
            <a:endParaRPr sz="2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7832353" y="4288919"/>
            <a:ext cx="3321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 sz="1800" b="0" i="0" u="none" strike="noStrike" cap="none" dirty="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1" name="Google Shape;281;p13"/>
          <p:cNvSpPr txBox="1"/>
          <p:nvPr/>
        </p:nvSpPr>
        <p:spPr>
          <a:xfrm>
            <a:off x="10426745" y="4111120"/>
            <a:ext cx="331788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 txBox="1"/>
          <p:nvPr/>
        </p:nvSpPr>
        <p:spPr>
          <a:xfrm>
            <a:off x="8227045" y="2872931"/>
            <a:ext cx="331787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10447100" y="2691583"/>
            <a:ext cx="331788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"/>
          <p:cNvSpPr txBox="1"/>
          <p:nvPr/>
        </p:nvSpPr>
        <p:spPr>
          <a:xfrm>
            <a:off x="8274287" y="4016664"/>
            <a:ext cx="331787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"/>
          <p:cNvSpPr txBox="1"/>
          <p:nvPr/>
        </p:nvSpPr>
        <p:spPr>
          <a:xfrm>
            <a:off x="7863486" y="2576802"/>
            <a:ext cx="331788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3"/>
          <p:cNvSpPr txBox="1"/>
          <p:nvPr/>
        </p:nvSpPr>
        <p:spPr>
          <a:xfrm>
            <a:off x="10426745" y="2672052"/>
            <a:ext cx="331788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3"/>
          <p:cNvSpPr txBox="1"/>
          <p:nvPr/>
        </p:nvSpPr>
        <p:spPr>
          <a:xfrm>
            <a:off x="8255904" y="4016664"/>
            <a:ext cx="331787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3"/>
          <p:cNvSpPr txBox="1"/>
          <p:nvPr/>
        </p:nvSpPr>
        <p:spPr>
          <a:xfrm>
            <a:off x="10426745" y="4150183"/>
            <a:ext cx="331788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3"/>
          <p:cNvSpPr txBox="1"/>
          <p:nvPr/>
        </p:nvSpPr>
        <p:spPr>
          <a:xfrm>
            <a:off x="8235620" y="2854339"/>
            <a:ext cx="331787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3"/>
          <p:cNvSpPr txBox="1"/>
          <p:nvPr/>
        </p:nvSpPr>
        <p:spPr>
          <a:xfrm>
            <a:off x="9974025" y="6368150"/>
            <a:ext cx="38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E589B4-5FED-EB55-662E-4D2F7F7C2879}"/>
              </a:ext>
            </a:extLst>
          </p:cNvPr>
          <p:cNvSpPr txBox="1"/>
          <p:nvPr/>
        </p:nvSpPr>
        <p:spPr>
          <a:xfrm>
            <a:off x="114355" y="2551944"/>
            <a:ext cx="249381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6. Race Hazard</a:t>
            </a:r>
          </a:p>
          <a:p>
            <a:r>
              <a:rPr lang="en-US" sz="1400" b="1" dirty="0"/>
              <a:t>7. An Interesting Circuit</a:t>
            </a:r>
          </a:p>
          <a:p>
            <a:r>
              <a:rPr lang="en-US" sz="1400" dirty="0"/>
              <a:t>8. Simple Memory Block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79A15-268D-3CF8-4DF6-C15F76001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9;p14">
            <a:extLst>
              <a:ext uri="{FF2B5EF4-FFF2-40B4-BE49-F238E27FC236}">
                <a16:creationId xmlns:a16="http://schemas.microsoft.com/office/drawing/2014/main" id="{34065C02-830E-B269-1448-F11093B7C540}"/>
              </a:ext>
            </a:extLst>
          </p:cNvPr>
          <p:cNvSpPr txBox="1">
            <a:spLocks/>
          </p:cNvSpPr>
          <p:nvPr/>
        </p:nvSpPr>
        <p:spPr>
          <a:xfrm>
            <a:off x="2631994" y="136525"/>
            <a:ext cx="6548726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3300"/>
              <a:buFont typeface="Times New Roman"/>
              <a:buNone/>
            </a:pPr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Memory Block</a:t>
            </a:r>
          </a:p>
        </p:txBody>
      </p:sp>
      <p:pic>
        <p:nvPicPr>
          <p:cNvPr id="3" name="Google Shape;301;p14" descr="Nor Flip-Flop 2">
            <a:extLst>
              <a:ext uri="{FF2B5EF4-FFF2-40B4-BE49-F238E27FC236}">
                <a16:creationId xmlns:a16="http://schemas.microsoft.com/office/drawing/2014/main" id="{7ED549E4-178B-DE57-79FE-3EC459B2300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98930" y="4880525"/>
            <a:ext cx="281305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00;p14">
            <a:extLst>
              <a:ext uri="{FF2B5EF4-FFF2-40B4-BE49-F238E27FC236}">
                <a16:creationId xmlns:a16="http://schemas.microsoft.com/office/drawing/2014/main" id="{E95E09DE-7200-17AF-F5EF-77AA09E301E2}"/>
              </a:ext>
            </a:extLst>
          </p:cNvPr>
          <p:cNvSpPr txBox="1">
            <a:spLocks/>
          </p:cNvSpPr>
          <p:nvPr/>
        </p:nvSpPr>
        <p:spPr>
          <a:xfrm>
            <a:off x="2444958" y="1405975"/>
            <a:ext cx="8808397" cy="32400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7800" algn="just"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 Set and Reset are at Logic 0</a:t>
            </a:r>
          </a:p>
          <a:p>
            <a:pPr marL="514350" lvl="1" indent="-177800" algn="just">
              <a:spcBef>
                <a:spcPts val="375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at this point are not known.</a:t>
            </a:r>
          </a:p>
          <a:p>
            <a:pPr marL="514350" lvl="1" indent="-177800" algn="just">
              <a:spcBef>
                <a:spcPts val="375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Putting a pulse on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causes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 to become 1.</a:t>
            </a:r>
          </a:p>
          <a:p>
            <a:pPr marL="514350" lvl="1" indent="-177800" algn="just">
              <a:spcBef>
                <a:spcPts val="375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Putting a pulse on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causes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 to become 0.</a:t>
            </a:r>
          </a:p>
          <a:p>
            <a:pPr marL="171450" indent="-177800" algn="just">
              <a:spcBef>
                <a:spcPts val="75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rest, both inputs 0, the circuit remains in the same state. It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happened last.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BA9BFF3-D344-BB64-C51A-7E3F107E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17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3F5B1C-580A-A78D-B835-0778D9F628AB}"/>
              </a:ext>
            </a:extLst>
          </p:cNvPr>
          <p:cNvSpPr txBox="1"/>
          <p:nvPr/>
        </p:nvSpPr>
        <p:spPr>
          <a:xfrm>
            <a:off x="114355" y="2551944"/>
            <a:ext cx="24938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6. Race Hazard</a:t>
            </a:r>
          </a:p>
          <a:p>
            <a:r>
              <a:rPr lang="en-US" sz="1400" dirty="0"/>
              <a:t>7. An Interesting Circuit</a:t>
            </a:r>
          </a:p>
          <a:p>
            <a:r>
              <a:rPr lang="en-US" sz="1400" b="1" dirty="0"/>
              <a:t>8. Simple Memory Block</a:t>
            </a:r>
          </a:p>
          <a:p>
            <a:r>
              <a:rPr lang="en-US" sz="1400" dirty="0"/>
              <a:t>9. Timing For R-S Flip-Flop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5208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DB813-43F1-0C81-8DFD-FC0AEFC2D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13;p15">
            <a:extLst>
              <a:ext uri="{FF2B5EF4-FFF2-40B4-BE49-F238E27FC236}">
                <a16:creationId xmlns:a16="http://schemas.microsoft.com/office/drawing/2014/main" id="{0762E2DB-2CE5-2386-EB2F-1A9BF0674231}"/>
              </a:ext>
            </a:extLst>
          </p:cNvPr>
          <p:cNvSpPr txBox="1">
            <a:spLocks/>
          </p:cNvSpPr>
          <p:nvPr/>
        </p:nvSpPr>
        <p:spPr>
          <a:xfrm>
            <a:off x="2679202" y="115024"/>
            <a:ext cx="7856311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3300"/>
              <a:buFont typeface="Times New Roman"/>
              <a:buNone/>
            </a:pPr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 For R-S Flip-Flop</a:t>
            </a:r>
          </a:p>
        </p:txBody>
      </p:sp>
      <p:pic>
        <p:nvPicPr>
          <p:cNvPr id="3" name="Google Shape;315;p15" descr="Nor Flip-Flop1">
            <a:extLst>
              <a:ext uri="{FF2B5EF4-FFF2-40B4-BE49-F238E27FC236}">
                <a16:creationId xmlns:a16="http://schemas.microsoft.com/office/drawing/2014/main" id="{04E810A0-BB46-49DA-95C3-55E03D87441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09153" y="3429000"/>
            <a:ext cx="6833593" cy="292541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18;p15">
            <a:extLst>
              <a:ext uri="{FF2B5EF4-FFF2-40B4-BE49-F238E27FC236}">
                <a16:creationId xmlns:a16="http://schemas.microsoft.com/office/drawing/2014/main" id="{FE434E18-C386-6957-2C8C-C61940D5895D}"/>
              </a:ext>
            </a:extLst>
          </p:cNvPr>
          <p:cNvSpPr/>
          <p:nvPr/>
        </p:nvSpPr>
        <p:spPr>
          <a:xfrm>
            <a:off x="2564701" y="1208847"/>
            <a:ext cx="9322499" cy="921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GB"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Any pulse on the SET input will ensure that the Q output is at a logic '1’.</a:t>
            </a:r>
            <a:endParaRPr sz="2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GB"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Any Pulse on the RESET input will ensure that the Q output is at a logic '0‘.</a:t>
            </a:r>
            <a:endParaRPr sz="2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endParaRPr sz="2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E41877D-BC6F-263F-DB96-A6D0E2249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18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2E05CD-35AC-0C3C-4293-E296BA25792B}"/>
              </a:ext>
            </a:extLst>
          </p:cNvPr>
          <p:cNvSpPr txBox="1"/>
          <p:nvPr/>
        </p:nvSpPr>
        <p:spPr>
          <a:xfrm>
            <a:off x="114355" y="2551944"/>
            <a:ext cx="24938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6. Race Hazard</a:t>
            </a:r>
          </a:p>
          <a:p>
            <a:r>
              <a:rPr lang="en-US" sz="1400" dirty="0"/>
              <a:t>7. An Interesting Circuit</a:t>
            </a:r>
          </a:p>
          <a:p>
            <a:r>
              <a:rPr lang="en-US" sz="1400" dirty="0"/>
              <a:t>8. Simple Memory Block</a:t>
            </a:r>
          </a:p>
          <a:p>
            <a:r>
              <a:rPr lang="en-US" sz="1400" b="1" dirty="0"/>
              <a:t>9. Timing For R-S Flip-Flop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1753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E1F94-5C8D-8EFE-2A84-9EAF9B26E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27;p16">
            <a:extLst>
              <a:ext uri="{FF2B5EF4-FFF2-40B4-BE49-F238E27FC236}">
                <a16:creationId xmlns:a16="http://schemas.microsoft.com/office/drawing/2014/main" id="{2B5450E6-74FF-26ED-46FC-17A86643871C}"/>
              </a:ext>
            </a:extLst>
          </p:cNvPr>
          <p:cNvSpPr txBox="1">
            <a:spLocks/>
          </p:cNvSpPr>
          <p:nvPr/>
        </p:nvSpPr>
        <p:spPr>
          <a:xfrm>
            <a:off x="2933133" y="1365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300"/>
            </a:pPr>
            <a:r>
              <a:rPr lang="en-US" sz="4400" b="1" dirty="0">
                <a:latin typeface="Times New Roman"/>
                <a:ea typeface="Times New Roman"/>
                <a:cs typeface="Times New Roman"/>
                <a:sym typeface="Times New Roman"/>
              </a:rPr>
              <a:t>R-S Flip-Flop Truth Table</a:t>
            </a:r>
          </a:p>
        </p:txBody>
      </p:sp>
      <p:sp>
        <p:nvSpPr>
          <p:cNvPr id="3" name="Google Shape;328;p16">
            <a:extLst>
              <a:ext uri="{FF2B5EF4-FFF2-40B4-BE49-F238E27FC236}">
                <a16:creationId xmlns:a16="http://schemas.microsoft.com/office/drawing/2014/main" id="{4A8592F4-21D7-C809-9047-3E0308600807}"/>
              </a:ext>
            </a:extLst>
          </p:cNvPr>
          <p:cNvSpPr txBox="1">
            <a:spLocks/>
          </p:cNvSpPr>
          <p:nvPr/>
        </p:nvSpPr>
        <p:spPr>
          <a:xfrm>
            <a:off x="2172787" y="1593260"/>
            <a:ext cx="6267996" cy="343542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3563" indent="-177800" algn="just">
              <a:spcBef>
                <a:spcPts val="0"/>
              </a:spcBef>
              <a:buSzPts val="2800"/>
              <a:buFont typeface="Times New Roman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Applying a pulse to both ‘Set’ and ‘Reset’ should never occur.</a:t>
            </a:r>
          </a:p>
          <a:p>
            <a:pPr marL="385763" algn="just">
              <a:spcBef>
                <a:spcPts val="0"/>
              </a:spcBef>
              <a:buSzPts val="2800"/>
            </a:pP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63563" indent="-177800" algn="just">
              <a:spcBef>
                <a:spcPts val="750"/>
              </a:spcBef>
              <a:buSzPts val="2800"/>
              <a:buFont typeface="Times New Roman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Therefore, this is not defined in the truth table</a:t>
            </a:r>
          </a:p>
          <a:p>
            <a:pPr marL="385763" algn="just">
              <a:spcBef>
                <a:spcPts val="750"/>
              </a:spcBef>
              <a:buSzPts val="2800"/>
            </a:pP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63563" indent="-177800" algn="just">
              <a:spcBef>
                <a:spcPts val="750"/>
              </a:spcBef>
              <a:buSzPts val="2800"/>
              <a:buFont typeface="Times New Roman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Note: n = time, n + 1 = time plus 1 (i.e. ‘Next’)</a:t>
            </a:r>
          </a:p>
        </p:txBody>
      </p:sp>
      <p:graphicFrame>
        <p:nvGraphicFramePr>
          <p:cNvPr id="7" name="Google Shape;329;p16">
            <a:extLst>
              <a:ext uri="{FF2B5EF4-FFF2-40B4-BE49-F238E27FC236}">
                <a16:creationId xmlns:a16="http://schemas.microsoft.com/office/drawing/2014/main" id="{BC66E9D7-045D-5F80-5972-E41C552CA3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6816258"/>
              </p:ext>
            </p:extLst>
          </p:nvPr>
        </p:nvGraphicFramePr>
        <p:xfrm>
          <a:off x="8716713" y="1952247"/>
          <a:ext cx="3366100" cy="27174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0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8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endParaRPr sz="2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Q’  </a:t>
                      </a:r>
                      <a:endParaRPr sz="2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Q’</a:t>
                      </a:r>
                      <a:endParaRPr sz="2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40"/>
                        <a:buFont typeface="Thonburi"/>
                        <a:buNone/>
                      </a:pPr>
                      <a:r>
                        <a:rPr lang="en-GB" sz="2800" b="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6800" marR="26800" marT="26800" marB="26800" anchor="ctr">
                    <a:lnL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2EDEAD0-BB0A-11EB-D339-D5E8093D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19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A996D8-00F6-E063-C966-9E067DD80D98}"/>
              </a:ext>
            </a:extLst>
          </p:cNvPr>
          <p:cNvSpPr txBox="1"/>
          <p:nvPr/>
        </p:nvSpPr>
        <p:spPr>
          <a:xfrm>
            <a:off x="114355" y="2551944"/>
            <a:ext cx="24938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9. Timing For R-S Flip-Flop</a:t>
            </a:r>
          </a:p>
          <a:p>
            <a:r>
              <a:rPr lang="en-US" sz="1400" b="1" dirty="0"/>
              <a:t>9.1 R-S Flip-Flop Truth Table</a:t>
            </a:r>
          </a:p>
          <a:p>
            <a:r>
              <a:rPr lang="en-US" sz="1400" dirty="0"/>
              <a:t>9.2 More Practical Memory</a:t>
            </a:r>
          </a:p>
          <a:p>
            <a:r>
              <a:rPr lang="en-US" sz="1400" dirty="0"/>
              <a:t>9.3 Clocked R-S Flip-Flop</a:t>
            </a:r>
          </a:p>
          <a:p>
            <a:r>
              <a:rPr lang="en-US" sz="1400" dirty="0"/>
              <a:t>9.4 Memory Input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8039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ADAD5-BC6B-6C21-87FC-ED2188178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5;p17">
            <a:extLst>
              <a:ext uri="{FF2B5EF4-FFF2-40B4-BE49-F238E27FC236}">
                <a16:creationId xmlns:a16="http://schemas.microsoft.com/office/drawing/2014/main" id="{E59B2000-41D9-61E8-4FE1-6ED1A125901E}"/>
              </a:ext>
            </a:extLst>
          </p:cNvPr>
          <p:cNvSpPr txBox="1">
            <a:spLocks/>
          </p:cNvSpPr>
          <p:nvPr/>
        </p:nvSpPr>
        <p:spPr>
          <a:xfrm>
            <a:off x="2802504" y="28783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300"/>
            </a:pPr>
            <a:r>
              <a:rPr lang="en-GB" sz="4400" b="1" dirty="0">
                <a:latin typeface="Times New Roman"/>
                <a:ea typeface="Times New Roman"/>
                <a:cs typeface="Times New Roman"/>
                <a:sym typeface="Times New Roman"/>
              </a:rPr>
              <a:t>More Practical Memory</a:t>
            </a:r>
          </a:p>
        </p:txBody>
      </p:sp>
      <p:sp>
        <p:nvSpPr>
          <p:cNvPr id="3" name="Google Shape;346;p17">
            <a:extLst>
              <a:ext uri="{FF2B5EF4-FFF2-40B4-BE49-F238E27FC236}">
                <a16:creationId xmlns:a16="http://schemas.microsoft.com/office/drawing/2014/main" id="{E8EF84F9-DA8C-34AF-A6C5-13DE11043464}"/>
              </a:ext>
            </a:extLst>
          </p:cNvPr>
          <p:cNvSpPr txBox="1">
            <a:spLocks/>
          </p:cNvSpPr>
          <p:nvPr/>
        </p:nvSpPr>
        <p:spPr>
          <a:xfrm>
            <a:off x="2802504" y="1939806"/>
            <a:ext cx="8680814" cy="29783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7800" algn="just">
              <a:spcBef>
                <a:spcPts val="0"/>
              </a:spcBef>
              <a:buSzPts val="2800"/>
              <a:buFont typeface="Times New Roman"/>
              <a:buChar char="•"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The R-S Flip-Flop does not offer a very practical memory.</a:t>
            </a:r>
          </a:p>
          <a:p>
            <a:pPr algn="just">
              <a:spcBef>
                <a:spcPts val="0"/>
              </a:spcBef>
              <a:buSzPts val="2800"/>
            </a:pPr>
            <a:endParaRPr lang="en-US"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indent="-177800" algn="just">
              <a:spcBef>
                <a:spcPts val="750"/>
              </a:spcBef>
              <a:buSzPts val="2800"/>
              <a:buFont typeface="Times New Roman"/>
              <a:buChar char="•"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It changes whenever the R or the S input is pulsed.</a:t>
            </a:r>
          </a:p>
          <a:p>
            <a:pPr algn="just">
              <a:spcBef>
                <a:spcPts val="750"/>
              </a:spcBef>
              <a:buSzPts val="2800"/>
            </a:pPr>
            <a:endParaRPr lang="en-US"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indent="-177800" algn="just">
              <a:spcBef>
                <a:spcPts val="750"/>
              </a:spcBef>
              <a:buSzPts val="2800"/>
              <a:buFont typeface="Times New Roman"/>
              <a:buChar char="•"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In a larger circuit, we need to synchronize the changes on the output.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0BB828-C77E-4092-F6F8-990BA2CD8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20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BD135C-B566-4878-A74A-924DE15028D4}"/>
              </a:ext>
            </a:extLst>
          </p:cNvPr>
          <p:cNvSpPr txBox="1"/>
          <p:nvPr/>
        </p:nvSpPr>
        <p:spPr>
          <a:xfrm>
            <a:off x="114355" y="2551944"/>
            <a:ext cx="24938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9. Timing For R-S Flip-Flop</a:t>
            </a:r>
          </a:p>
          <a:p>
            <a:r>
              <a:rPr lang="en-US" sz="1400" dirty="0"/>
              <a:t>9.1 R-S Flip-Flop Truth Table</a:t>
            </a:r>
          </a:p>
          <a:p>
            <a:r>
              <a:rPr lang="en-US" sz="1400" b="1" dirty="0"/>
              <a:t>9.2 More Practical Memory</a:t>
            </a:r>
          </a:p>
          <a:p>
            <a:r>
              <a:rPr lang="en-US" sz="1400" dirty="0"/>
              <a:t>9.3 Clocked R-S Flip-Flop</a:t>
            </a:r>
          </a:p>
          <a:p>
            <a:r>
              <a:rPr lang="en-US" sz="1400" dirty="0"/>
              <a:t>9.4 Memory Input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9167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F941B-A6C0-DD41-2DA1-F3BA2F1A5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55;p18">
            <a:extLst>
              <a:ext uri="{FF2B5EF4-FFF2-40B4-BE49-F238E27FC236}">
                <a16:creationId xmlns:a16="http://schemas.microsoft.com/office/drawing/2014/main" id="{BE2146A0-1862-0D88-8377-6421D4B3A051}"/>
              </a:ext>
            </a:extLst>
          </p:cNvPr>
          <p:cNvSpPr txBox="1">
            <a:spLocks/>
          </p:cNvSpPr>
          <p:nvPr/>
        </p:nvSpPr>
        <p:spPr>
          <a:xfrm>
            <a:off x="2646512" y="380151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300"/>
            </a:pPr>
            <a:r>
              <a:rPr lang="en-GB" sz="4400" b="1" dirty="0">
                <a:latin typeface="Times New Roman"/>
                <a:ea typeface="Times New Roman"/>
                <a:cs typeface="Times New Roman"/>
                <a:sym typeface="Times New Roman"/>
              </a:rPr>
              <a:t>Clocked R-S Flip-Flop</a:t>
            </a:r>
          </a:p>
        </p:txBody>
      </p:sp>
      <p:pic>
        <p:nvPicPr>
          <p:cNvPr id="3" name="Google Shape;356;p18" descr="temp">
            <a:extLst>
              <a:ext uri="{FF2B5EF4-FFF2-40B4-BE49-F238E27FC236}">
                <a16:creationId xmlns:a16="http://schemas.microsoft.com/office/drawing/2014/main" id="{535FCD03-932B-C9D2-BAF5-6DB1F8989463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83281" y="1705714"/>
            <a:ext cx="5213163" cy="265728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57;p18">
            <a:extLst>
              <a:ext uri="{FF2B5EF4-FFF2-40B4-BE49-F238E27FC236}">
                <a16:creationId xmlns:a16="http://schemas.microsoft.com/office/drawing/2014/main" id="{35693710-10CD-7CFB-E974-CECD664DFF5F}"/>
              </a:ext>
            </a:extLst>
          </p:cNvPr>
          <p:cNvSpPr txBox="1"/>
          <p:nvPr/>
        </p:nvSpPr>
        <p:spPr>
          <a:xfrm>
            <a:off x="2637041" y="4699245"/>
            <a:ext cx="8949713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3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 are synchronized by the clock signal. </a:t>
            </a:r>
            <a:r>
              <a:rPr lang="en-GB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or S</a:t>
            </a:r>
            <a:r>
              <a:rPr lang="en-GB" sz="3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signal will only move to the flip flop when the clock pulse is high.</a:t>
            </a:r>
            <a:endParaRPr sz="3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5D63200-CEE1-28CF-765B-156DF4884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21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D235C4-F494-4B9B-EB5D-172B42DD4606}"/>
              </a:ext>
            </a:extLst>
          </p:cNvPr>
          <p:cNvSpPr txBox="1"/>
          <p:nvPr/>
        </p:nvSpPr>
        <p:spPr>
          <a:xfrm>
            <a:off x="114355" y="2551944"/>
            <a:ext cx="24938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9. Timing For R-S Flip-Flop</a:t>
            </a:r>
          </a:p>
          <a:p>
            <a:r>
              <a:rPr lang="en-US" sz="1400" dirty="0"/>
              <a:t>9.1 R-S Flip-Flop Truth Table</a:t>
            </a:r>
          </a:p>
          <a:p>
            <a:r>
              <a:rPr lang="en-US" sz="1400" dirty="0"/>
              <a:t>9.2 More Practical Memory</a:t>
            </a:r>
          </a:p>
          <a:p>
            <a:r>
              <a:rPr lang="en-US" sz="1400" b="1" dirty="0"/>
              <a:t>9.3 Clocked R-S Flip-Flop</a:t>
            </a:r>
          </a:p>
          <a:p>
            <a:r>
              <a:rPr lang="en-US" sz="1400" dirty="0"/>
              <a:t>9.4 Memory Input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3660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DF973-65ED-D452-739E-1167E5993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8;p19">
            <a:extLst>
              <a:ext uri="{FF2B5EF4-FFF2-40B4-BE49-F238E27FC236}">
                <a16:creationId xmlns:a16="http://schemas.microsoft.com/office/drawing/2014/main" id="{AC2406AB-E754-A3C3-C380-A361216F2F9A}"/>
              </a:ext>
            </a:extLst>
          </p:cNvPr>
          <p:cNvSpPr txBox="1">
            <a:spLocks/>
          </p:cNvSpPr>
          <p:nvPr/>
        </p:nvSpPr>
        <p:spPr>
          <a:xfrm>
            <a:off x="2841693" y="678327"/>
            <a:ext cx="6734093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300"/>
            </a:pPr>
            <a:r>
              <a:rPr lang="en-GB" sz="4400" b="1" dirty="0">
                <a:latin typeface="Times New Roman"/>
                <a:ea typeface="Times New Roman"/>
                <a:cs typeface="Times New Roman"/>
                <a:sym typeface="Times New Roman"/>
              </a:rPr>
              <a:t>Memory Input</a:t>
            </a:r>
          </a:p>
        </p:txBody>
      </p:sp>
      <p:sp>
        <p:nvSpPr>
          <p:cNvPr id="3" name="Google Shape;369;p19">
            <a:extLst>
              <a:ext uri="{FF2B5EF4-FFF2-40B4-BE49-F238E27FC236}">
                <a16:creationId xmlns:a16="http://schemas.microsoft.com/office/drawing/2014/main" id="{8C440B0D-867F-8156-3EA9-176A52FF6671}"/>
              </a:ext>
            </a:extLst>
          </p:cNvPr>
          <p:cNvSpPr txBox="1">
            <a:spLocks/>
          </p:cNvSpPr>
          <p:nvPr/>
        </p:nvSpPr>
        <p:spPr>
          <a:xfrm>
            <a:off x="2662647" y="2489464"/>
            <a:ext cx="9002486" cy="302742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7800" algn="just">
              <a:spcBef>
                <a:spcPts val="0"/>
              </a:spcBef>
              <a:buSzPts val="2800"/>
              <a:buFont typeface="Times New Roman"/>
              <a:buChar char="•"/>
            </a:pPr>
            <a:r>
              <a:rPr lang="en-US" sz="3600" dirty="0">
                <a:latin typeface="Times New Roman"/>
                <a:ea typeface="Times New Roman"/>
                <a:cs typeface="Times New Roman"/>
                <a:sym typeface="Times New Roman"/>
              </a:rPr>
              <a:t>Having 2 separate lines, Set and Reset, to store 1 bit of memory is inconvenient.</a:t>
            </a:r>
          </a:p>
          <a:p>
            <a:pPr algn="just">
              <a:spcBef>
                <a:spcPts val="0"/>
              </a:spcBef>
              <a:buSzPts val="2800"/>
            </a:pPr>
            <a:endParaRPr lang="en-US" sz="3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indent="-177800" algn="just">
              <a:spcBef>
                <a:spcPts val="750"/>
              </a:spcBef>
              <a:buSzPts val="2800"/>
              <a:buFont typeface="Times New Roman"/>
              <a:buChar char="•"/>
            </a:pPr>
            <a:r>
              <a:rPr lang="en-US" sz="3600" dirty="0">
                <a:latin typeface="Times New Roman"/>
                <a:ea typeface="Times New Roman"/>
                <a:cs typeface="Times New Roman"/>
                <a:sym typeface="Times New Roman"/>
              </a:rPr>
              <a:t>To use the memory on a CPU data bus, we much rather use one input to store the 1 bit.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8C908F-4867-6E01-08B5-A5EBECC5B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22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F06A6B-3863-86B2-C733-BCCA6F1FB0AA}"/>
              </a:ext>
            </a:extLst>
          </p:cNvPr>
          <p:cNvSpPr txBox="1"/>
          <p:nvPr/>
        </p:nvSpPr>
        <p:spPr>
          <a:xfrm>
            <a:off x="114355" y="2551944"/>
            <a:ext cx="24938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9. Timing For R-S Flip-Flop</a:t>
            </a:r>
          </a:p>
          <a:p>
            <a:r>
              <a:rPr lang="en-US" sz="1400" dirty="0"/>
              <a:t>9.1 R-S Flip-Flop Truth Table</a:t>
            </a:r>
          </a:p>
          <a:p>
            <a:r>
              <a:rPr lang="en-US" sz="1400" dirty="0"/>
              <a:t>9.2 More Practical Memory</a:t>
            </a:r>
          </a:p>
          <a:p>
            <a:r>
              <a:rPr lang="en-US" sz="1400" dirty="0"/>
              <a:t>9.3 Clocked R-S Flip-Flop</a:t>
            </a:r>
          </a:p>
          <a:p>
            <a:r>
              <a:rPr lang="en-US" sz="1400" b="1" dirty="0"/>
              <a:t>9.4 Memory Input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0066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6766B-E8D5-C8EB-B208-25AD171F6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9;p20">
            <a:extLst>
              <a:ext uri="{FF2B5EF4-FFF2-40B4-BE49-F238E27FC236}">
                <a16:creationId xmlns:a16="http://schemas.microsoft.com/office/drawing/2014/main" id="{5DBE9D05-E9B5-4D02-A810-1167911CB927}"/>
              </a:ext>
            </a:extLst>
          </p:cNvPr>
          <p:cNvSpPr txBox="1">
            <a:spLocks/>
          </p:cNvSpPr>
          <p:nvPr/>
        </p:nvSpPr>
        <p:spPr>
          <a:xfrm>
            <a:off x="2929766" y="42916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300"/>
            </a:pPr>
            <a:r>
              <a:rPr lang="en-GB" sz="4400" b="1" dirty="0">
                <a:latin typeface="Times New Roman"/>
                <a:ea typeface="Times New Roman"/>
                <a:cs typeface="Times New Roman"/>
                <a:sym typeface="Times New Roman"/>
              </a:rPr>
              <a:t>D-type Flip-Flop</a:t>
            </a:r>
          </a:p>
        </p:txBody>
      </p:sp>
      <p:pic>
        <p:nvPicPr>
          <p:cNvPr id="3" name="Google Shape;380;p20" descr="temp">
            <a:extLst>
              <a:ext uri="{FF2B5EF4-FFF2-40B4-BE49-F238E27FC236}">
                <a16:creationId xmlns:a16="http://schemas.microsoft.com/office/drawing/2014/main" id="{45E2877F-7F44-5C5F-3F03-AC025457F0C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87267" y="1844676"/>
            <a:ext cx="6773373" cy="309862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81;p20">
            <a:extLst>
              <a:ext uri="{FF2B5EF4-FFF2-40B4-BE49-F238E27FC236}">
                <a16:creationId xmlns:a16="http://schemas.microsoft.com/office/drawing/2014/main" id="{555558CB-3222-4353-FDD8-D11D4212D4C1}"/>
              </a:ext>
            </a:extLst>
          </p:cNvPr>
          <p:cNvSpPr txBox="1"/>
          <p:nvPr/>
        </p:nvSpPr>
        <p:spPr>
          <a:xfrm>
            <a:off x="2815567" y="5474531"/>
            <a:ext cx="8115099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D is transferred to output Q. If D (for data) is 1, what gets stored at Q? And if D is 0?</a:t>
            </a: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CA68C9E-4F33-3EAD-A700-821206E2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23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FC6D94-6E9A-62BE-60F9-087B13EFAA88}"/>
              </a:ext>
            </a:extLst>
          </p:cNvPr>
          <p:cNvSpPr txBox="1"/>
          <p:nvPr/>
        </p:nvSpPr>
        <p:spPr>
          <a:xfrm>
            <a:off x="114355" y="2551944"/>
            <a:ext cx="249381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10. D-type Flip-Flop</a:t>
            </a:r>
          </a:p>
          <a:p>
            <a:r>
              <a:rPr lang="en-US" sz="1400" dirty="0"/>
              <a:t>10.1 D-type Flip-Flop(rising-edge clock)</a:t>
            </a:r>
          </a:p>
          <a:p>
            <a:r>
              <a:rPr lang="en-US" sz="1400" dirty="0"/>
              <a:t>10.2 D-type Flip-Flop(falling edge clock)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4153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028C6-83FF-8319-393E-80234E5F7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90;p21">
            <a:extLst>
              <a:ext uri="{FF2B5EF4-FFF2-40B4-BE49-F238E27FC236}">
                <a16:creationId xmlns:a16="http://schemas.microsoft.com/office/drawing/2014/main" id="{5678E4C9-F3AD-1D0E-AE02-62AC0BA02BE4}"/>
              </a:ext>
            </a:extLst>
          </p:cNvPr>
          <p:cNvSpPr txBox="1">
            <a:spLocks/>
          </p:cNvSpPr>
          <p:nvPr/>
        </p:nvSpPr>
        <p:spPr>
          <a:xfrm>
            <a:off x="2711241" y="389665"/>
            <a:ext cx="10134600" cy="131354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200"/>
            </a:pPr>
            <a:r>
              <a:rPr lang="en-US" sz="4400" b="1" dirty="0">
                <a:latin typeface="Times New Roman"/>
                <a:ea typeface="Times New Roman"/>
                <a:cs typeface="Times New Roman"/>
                <a:sym typeface="Times New Roman"/>
              </a:rPr>
              <a:t>D-type Flip-Flop (rising edge clock)</a:t>
            </a:r>
          </a:p>
        </p:txBody>
      </p:sp>
      <p:pic>
        <p:nvPicPr>
          <p:cNvPr id="3" name="Google Shape;391;p21" descr="msotw9_temp0">
            <a:extLst>
              <a:ext uri="{FF2B5EF4-FFF2-40B4-BE49-F238E27FC236}">
                <a16:creationId xmlns:a16="http://schemas.microsoft.com/office/drawing/2014/main" id="{E6694253-1BF1-0747-6AF4-69F9F74C01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49159" y="2247446"/>
            <a:ext cx="2259013" cy="2001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92;p21" descr="Temp">
            <a:extLst>
              <a:ext uri="{FF2B5EF4-FFF2-40B4-BE49-F238E27FC236}">
                <a16:creationId xmlns:a16="http://schemas.microsoft.com/office/drawing/2014/main" id="{75EEA1A0-5AA3-7BD6-62FB-985EBC994A6C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5641" y="1895815"/>
            <a:ext cx="4065587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393;p21">
            <a:extLst>
              <a:ext uri="{FF2B5EF4-FFF2-40B4-BE49-F238E27FC236}">
                <a16:creationId xmlns:a16="http://schemas.microsoft.com/office/drawing/2014/main" id="{DC92E22A-99A5-FEF2-25E7-19C18CD9A021}"/>
              </a:ext>
            </a:extLst>
          </p:cNvPr>
          <p:cNvSpPr txBox="1"/>
          <p:nvPr/>
        </p:nvSpPr>
        <p:spPr>
          <a:xfrm>
            <a:off x="2711241" y="4813908"/>
            <a:ext cx="47244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C transfers data D to Q on the rising edge of pulse.</a:t>
            </a: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394;p21">
            <a:extLst>
              <a:ext uri="{FF2B5EF4-FFF2-40B4-BE49-F238E27FC236}">
                <a16:creationId xmlns:a16="http://schemas.microsoft.com/office/drawing/2014/main" id="{F586ED63-95B5-E049-1B36-6D8F2C523859}"/>
              </a:ext>
            </a:extLst>
          </p:cNvPr>
          <p:cNvSpPr txBox="1"/>
          <p:nvPr/>
        </p:nvSpPr>
        <p:spPr>
          <a:xfrm>
            <a:off x="8301492" y="4986120"/>
            <a:ext cx="269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Timing Diagram</a:t>
            </a: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4DB858A-E5C6-FBB4-20EC-D94C7AFC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24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6ECBC7-2000-A4D6-2ED5-16DB89BBA613}"/>
              </a:ext>
            </a:extLst>
          </p:cNvPr>
          <p:cNvSpPr txBox="1"/>
          <p:nvPr/>
        </p:nvSpPr>
        <p:spPr>
          <a:xfrm>
            <a:off x="114355" y="2551944"/>
            <a:ext cx="249381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10. D-type Flip-Flop</a:t>
            </a:r>
          </a:p>
          <a:p>
            <a:r>
              <a:rPr lang="en-US" sz="1400" b="1" dirty="0"/>
              <a:t>10.1 D-type Flip-Flop(rising-edge clock)</a:t>
            </a:r>
          </a:p>
          <a:p>
            <a:r>
              <a:rPr lang="en-US" sz="1400" dirty="0"/>
              <a:t>10.2 D-type Flip-Flop(falling edge clock)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0033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7D008-68E8-5CAC-CAA3-BE1FE3A5B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04;p22">
            <a:extLst>
              <a:ext uri="{FF2B5EF4-FFF2-40B4-BE49-F238E27FC236}">
                <a16:creationId xmlns:a16="http://schemas.microsoft.com/office/drawing/2014/main" id="{D2391162-79A0-9206-7C02-250F2A46CC49}"/>
              </a:ext>
            </a:extLst>
          </p:cNvPr>
          <p:cNvSpPr txBox="1">
            <a:spLocks/>
          </p:cNvSpPr>
          <p:nvPr/>
        </p:nvSpPr>
        <p:spPr>
          <a:xfrm>
            <a:off x="2825955" y="441506"/>
            <a:ext cx="9079181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200"/>
            </a:pPr>
            <a:r>
              <a:rPr lang="en-US" sz="4400" b="1" dirty="0">
                <a:latin typeface="Times New Roman"/>
                <a:ea typeface="Times New Roman"/>
                <a:cs typeface="Times New Roman"/>
                <a:sym typeface="Times New Roman"/>
              </a:rPr>
              <a:t>D-type Flip-Flop (falling edge clock)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1FB390-4B0B-ADF4-8D4C-E1D52F5BE148}"/>
              </a:ext>
            </a:extLst>
          </p:cNvPr>
          <p:cNvGrpSpPr/>
          <p:nvPr/>
        </p:nvGrpSpPr>
        <p:grpSpPr>
          <a:xfrm>
            <a:off x="3572938" y="2463028"/>
            <a:ext cx="2169339" cy="1733550"/>
            <a:chOff x="345942" y="2728686"/>
            <a:chExt cx="2169339" cy="1733550"/>
          </a:xfrm>
        </p:grpSpPr>
        <p:pic>
          <p:nvPicPr>
            <p:cNvPr id="3" name="Google Shape;406;p22" descr="Temp">
              <a:extLst>
                <a:ext uri="{FF2B5EF4-FFF2-40B4-BE49-F238E27FC236}">
                  <a16:creationId xmlns:a16="http://schemas.microsoft.com/office/drawing/2014/main" id="{BE266791-768E-085C-9E2F-7598158FEB7B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88081" y="2728686"/>
              <a:ext cx="1727200" cy="1733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409;p22">
              <a:extLst>
                <a:ext uri="{FF2B5EF4-FFF2-40B4-BE49-F238E27FC236}">
                  <a16:creationId xmlns:a16="http://schemas.microsoft.com/office/drawing/2014/main" id="{D7F662DA-BFD7-9E84-CBB6-A866067DAC71}"/>
                </a:ext>
              </a:extLst>
            </p:cNvPr>
            <p:cNvSpPr txBox="1"/>
            <p:nvPr/>
          </p:nvSpPr>
          <p:spPr>
            <a:xfrm>
              <a:off x="345942" y="3997893"/>
              <a:ext cx="685800" cy="244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GB" sz="1000" b="0" i="1" u="none" strike="noStrike" cap="none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inverter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" name="Google Shape;410;p22">
              <a:extLst>
                <a:ext uri="{FF2B5EF4-FFF2-40B4-BE49-F238E27FC236}">
                  <a16:creationId xmlns:a16="http://schemas.microsoft.com/office/drawing/2014/main" id="{E878A432-1F6E-745F-8457-F71D48C33E59}"/>
                </a:ext>
              </a:extLst>
            </p:cNvPr>
            <p:cNvCxnSpPr/>
            <p:nvPr/>
          </p:nvCxnSpPr>
          <p:spPr>
            <a:xfrm rot="10800000" flipH="1">
              <a:off x="710294" y="3663725"/>
              <a:ext cx="360363" cy="358775"/>
            </a:xfrm>
            <a:prstGeom prst="straightConnector1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pic>
        <p:nvPicPr>
          <p:cNvPr id="9" name="Google Shape;405;p22" descr="Temp">
            <a:extLst>
              <a:ext uri="{FF2B5EF4-FFF2-40B4-BE49-F238E27FC236}">
                <a16:creationId xmlns:a16="http://schemas.microsoft.com/office/drawing/2014/main" id="{2F56DE1D-2EC6-48C3-4003-1BA2B41A6F7D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5546" y="2147887"/>
            <a:ext cx="4002088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407;p22">
            <a:extLst>
              <a:ext uri="{FF2B5EF4-FFF2-40B4-BE49-F238E27FC236}">
                <a16:creationId xmlns:a16="http://schemas.microsoft.com/office/drawing/2014/main" id="{81317E7B-30FA-5315-33B6-6FDB43950D73}"/>
              </a:ext>
            </a:extLst>
          </p:cNvPr>
          <p:cNvSpPr txBox="1"/>
          <p:nvPr/>
        </p:nvSpPr>
        <p:spPr>
          <a:xfrm>
            <a:off x="2633207" y="4830166"/>
            <a:ext cx="473233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C transfers data D to Q on the falling edge of pulse.</a:t>
            </a: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408;p22">
            <a:extLst>
              <a:ext uri="{FF2B5EF4-FFF2-40B4-BE49-F238E27FC236}">
                <a16:creationId xmlns:a16="http://schemas.microsoft.com/office/drawing/2014/main" id="{1E42C090-54C7-7CFA-7F99-A0B08F79CA6E}"/>
              </a:ext>
            </a:extLst>
          </p:cNvPr>
          <p:cNvSpPr txBox="1"/>
          <p:nvPr/>
        </p:nvSpPr>
        <p:spPr>
          <a:xfrm>
            <a:off x="8267247" y="5071515"/>
            <a:ext cx="269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Timing Diagram</a:t>
            </a: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B159FDA-B8CC-2FDC-1E6C-0714B3C9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25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32988A-80DE-A3F4-BBD8-2CD21F5ED358}"/>
              </a:ext>
            </a:extLst>
          </p:cNvPr>
          <p:cNvSpPr txBox="1"/>
          <p:nvPr/>
        </p:nvSpPr>
        <p:spPr>
          <a:xfrm>
            <a:off x="114355" y="2551944"/>
            <a:ext cx="249381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10. D-type Flip-Flop</a:t>
            </a:r>
          </a:p>
          <a:p>
            <a:r>
              <a:rPr lang="en-US" sz="1400" dirty="0"/>
              <a:t>10.1 D-type Flip-Flop(rising-edge clock)</a:t>
            </a:r>
          </a:p>
          <a:p>
            <a:r>
              <a:rPr lang="en-US" sz="1400" b="1" dirty="0"/>
              <a:t>10.2 D-type Flip-Flop(falling edge clock)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3961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8A16E-EA0A-E701-F710-CA68BF539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04;p22">
            <a:extLst>
              <a:ext uri="{FF2B5EF4-FFF2-40B4-BE49-F238E27FC236}">
                <a16:creationId xmlns:a16="http://schemas.microsoft.com/office/drawing/2014/main" id="{A6DDA8DD-2F22-C2DC-B218-B927E4E73E2E}"/>
              </a:ext>
            </a:extLst>
          </p:cNvPr>
          <p:cNvSpPr txBox="1">
            <a:spLocks/>
          </p:cNvSpPr>
          <p:nvPr/>
        </p:nvSpPr>
        <p:spPr>
          <a:xfrm>
            <a:off x="2597107" y="2766218"/>
            <a:ext cx="9734229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200"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More about different kind of memory in workshop…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64D9F0E-C0F4-6148-2EC7-05E75ED3D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26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849C22-E3EC-E294-11A1-4871560A3FC9}"/>
              </a:ext>
            </a:extLst>
          </p:cNvPr>
          <p:cNvSpPr txBox="1"/>
          <p:nvPr/>
        </p:nvSpPr>
        <p:spPr>
          <a:xfrm>
            <a:off x="114355" y="2551944"/>
            <a:ext cx="24938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More…….</a:t>
            </a:r>
            <a:endParaRPr lang="en-US" sz="1400" b="1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35997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6C5B4-C5B8-922D-77E1-491EE5CCC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04;p22">
            <a:extLst>
              <a:ext uri="{FF2B5EF4-FFF2-40B4-BE49-F238E27FC236}">
                <a16:creationId xmlns:a16="http://schemas.microsoft.com/office/drawing/2014/main" id="{CC77EEF3-41FD-6010-12E0-1C734E7C99BB}"/>
              </a:ext>
            </a:extLst>
          </p:cNvPr>
          <p:cNvSpPr txBox="1">
            <a:spLocks/>
          </p:cNvSpPr>
          <p:nvPr/>
        </p:nvSpPr>
        <p:spPr>
          <a:xfrm>
            <a:off x="2954066" y="776062"/>
            <a:ext cx="98760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200"/>
            </a:pPr>
            <a:r>
              <a:rPr lang="en-US" sz="4400" b="1" dirty="0"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8AB89F-9621-A29E-FB93-A1240D8F25A3}"/>
              </a:ext>
            </a:extLst>
          </p:cNvPr>
          <p:cNvSpPr txBox="1"/>
          <p:nvPr/>
        </p:nvSpPr>
        <p:spPr>
          <a:xfrm>
            <a:off x="3018536" y="1889885"/>
            <a:ext cx="11521809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Timing diagrams, pulses and clocks</a:t>
            </a: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78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Logic feedback, simple memory, RS Flip-flops</a:t>
            </a:r>
          </a:p>
          <a:p>
            <a:pPr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800"/>
            </a:pP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78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Clocked memory, D-type Flip-flops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083D95-99B9-56B0-A0B4-7DE6BCB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E46AB-5C1B-4B27-8127-D353AEACAF47}" type="slidenum">
              <a:rPr lang="en-GB" smtClean="0"/>
              <a:t>27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3F383A-7076-6A56-2E66-C0856184AEF9}"/>
              </a:ext>
            </a:extLst>
          </p:cNvPr>
          <p:cNvSpPr txBox="1"/>
          <p:nvPr/>
        </p:nvSpPr>
        <p:spPr>
          <a:xfrm>
            <a:off x="114355" y="2551944"/>
            <a:ext cx="24938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11. Summary</a:t>
            </a:r>
            <a:endParaRPr lang="en-US" sz="1400" b="1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83471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Cartoon of a dog&#10;&#10;Description automatically generated">
            <a:extLst>
              <a:ext uri="{FF2B5EF4-FFF2-40B4-BE49-F238E27FC236}">
                <a16:creationId xmlns:a16="http://schemas.microsoft.com/office/drawing/2014/main" id="{E805FC64-A733-0B49-C4F7-0A316BF24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007599-3A72-C439-A5A7-BD58B743F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58E46AB-5C1B-4B27-8127-D353AEACAF47}" type="slidenum">
              <a:rPr lang="en-GB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28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5" name="Google Shape;475;p37">
            <a:extLst>
              <a:ext uri="{FF2B5EF4-FFF2-40B4-BE49-F238E27FC236}">
                <a16:creationId xmlns:a16="http://schemas.microsoft.com/office/drawing/2014/main" id="{B94942D2-5D1A-498F-ADE9-894E96B9A4C9}"/>
              </a:ext>
            </a:extLst>
          </p:cNvPr>
          <p:cNvSpPr txBox="1"/>
          <p:nvPr/>
        </p:nvSpPr>
        <p:spPr>
          <a:xfrm>
            <a:off x="789709" y="1091945"/>
            <a:ext cx="2982191" cy="2554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</a:pPr>
            <a:r>
              <a:rPr lang="en" sz="77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you…</a:t>
            </a:r>
            <a:endParaRPr sz="77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12849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2091</TotalTime>
  <Words>1555</Words>
  <Application>Microsoft Office PowerPoint</Application>
  <PresentationFormat>Widescreen</PresentationFormat>
  <Paragraphs>443</Paragraphs>
  <Slides>28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Cutive</vt:lpstr>
      <vt:lpstr>Thonburi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 Interesting 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Rai, Ishma</dc:creator>
  <cp:lastModifiedBy>sanjeevchamling@gmail.com</cp:lastModifiedBy>
  <cp:revision>22</cp:revision>
  <dcterms:created xsi:type="dcterms:W3CDTF">2024-12-10T03:13:59Z</dcterms:created>
  <dcterms:modified xsi:type="dcterms:W3CDTF">2024-12-16T08:57:04Z</dcterms:modified>
</cp:coreProperties>
</file>