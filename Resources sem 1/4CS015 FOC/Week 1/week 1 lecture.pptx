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2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25" r:id="rId39"/>
    <p:sldId id="326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22" r:id="rId64"/>
    <p:sldId id="316" r:id="rId65"/>
    <p:sldId id="321" r:id="rId66"/>
    <p:sldId id="317" r:id="rId67"/>
    <p:sldId id="318" r:id="rId68"/>
    <p:sldId id="323" r:id="rId69"/>
    <p:sldId id="319" r:id="rId70"/>
    <p:sldId id="320" r:id="rId7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2ADDBA-E49C-479B-ADBE-F31CFB4753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324"/>
            <p14:sldId id="265"/>
            <p14:sldId id="266"/>
            <p14:sldId id="267"/>
            <p14:sldId id="268"/>
            <p14:sldId id="269"/>
            <p14:sldId id="270"/>
            <p14:sldId id="274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Untitled Section" id="{FBD48066-8EA7-421E-AA60-1394635D6F17}">
          <p14:sldIdLst>
            <p14:sldId id="292"/>
            <p14:sldId id="325"/>
            <p14:sldId id="326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22"/>
            <p14:sldId id="316"/>
            <p14:sldId id="321"/>
            <p14:sldId id="317"/>
            <p14:sldId id="318"/>
            <p14:sldId id="323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A5FF"/>
    <a:srgbClr val="4DA5FE"/>
    <a:srgbClr val="489DF0"/>
    <a:srgbClr val="2979CA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35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2B435-6378-4329-A238-F6944ADF92E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64E1D-34B8-4C41-9F0D-48A0B27D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64E1D-34B8-4C41-9F0D-48A0B27DFB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48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64E1D-34B8-4C41-9F0D-48A0B27DFB6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84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pic>
        <p:nvPicPr>
          <p:cNvPr id="8" name="Google Shape;76;p1">
            <a:extLst>
              <a:ext uri="{FF2B5EF4-FFF2-40B4-BE49-F238E27FC236}">
                <a16:creationId xmlns:a16="http://schemas.microsoft.com/office/drawing/2014/main" id="{618A5B17-AC8A-C624-4572-057112761F8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78F0D-B0D9-E4BB-7B15-B1CCA27AB6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7" name="Google Shape;196;g249310ac104_0_42">
            <a:extLst>
              <a:ext uri="{FF2B5EF4-FFF2-40B4-BE49-F238E27FC236}">
                <a16:creationId xmlns:a16="http://schemas.microsoft.com/office/drawing/2014/main" id="{8FADA62A-C8F3-DF31-A656-CF46B2C6891A}"/>
              </a:ext>
            </a:extLst>
          </p:cNvPr>
          <p:cNvSpPr/>
          <p:nvPr userDrawn="1"/>
        </p:nvSpPr>
        <p:spPr>
          <a:xfrm>
            <a:off x="-39" y="-12458"/>
            <a:ext cx="2558414" cy="6870457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8" name="Google Shape;76;p1">
            <a:extLst>
              <a:ext uri="{FF2B5EF4-FFF2-40B4-BE49-F238E27FC236}">
                <a16:creationId xmlns:a16="http://schemas.microsoft.com/office/drawing/2014/main" id="{6827C596-7DFF-3F2F-7FB2-D9B977A471E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3E1602-18D6-6D47-74EB-481750B15A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8" name="Google Shape;196;g249310ac104_0_42">
            <a:extLst>
              <a:ext uri="{FF2B5EF4-FFF2-40B4-BE49-F238E27FC236}">
                <a16:creationId xmlns:a16="http://schemas.microsoft.com/office/drawing/2014/main" id="{52D8D624-C946-701B-9A93-2258FA4C7CB7}"/>
              </a:ext>
            </a:extLst>
          </p:cNvPr>
          <p:cNvSpPr/>
          <p:nvPr userDrawn="1"/>
        </p:nvSpPr>
        <p:spPr>
          <a:xfrm>
            <a:off x="-39" y="-12458"/>
            <a:ext cx="2558414" cy="6870457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9" name="Google Shape;76;p1">
            <a:extLst>
              <a:ext uri="{FF2B5EF4-FFF2-40B4-BE49-F238E27FC236}">
                <a16:creationId xmlns:a16="http://schemas.microsoft.com/office/drawing/2014/main" id="{A7914A71-D365-1A2F-8404-F0284F9195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ED45DE-6795-77D5-681D-ABC52CAD55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4194" y="398221"/>
            <a:ext cx="7461884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0745" y="2812075"/>
            <a:ext cx="5932170" cy="388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uttam.acharya@heraldcollege.edu.n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68DC3-BF77-8BD5-A20C-65AEA066EC53}"/>
              </a:ext>
            </a:extLst>
          </p:cNvPr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19480"/>
            <a:ext cx="11558741" cy="1683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pc="-5" dirty="0"/>
              <a:t>4CS015</a:t>
            </a:r>
            <a:endParaRPr dirty="0"/>
          </a:p>
          <a:p>
            <a:pPr algn="ctr">
              <a:lnSpc>
                <a:spcPts val="6840"/>
              </a:lnSpc>
            </a:pPr>
            <a:r>
              <a:rPr dirty="0"/>
              <a:t>Fundamentals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Computing</a:t>
            </a:r>
          </a:p>
        </p:txBody>
      </p:sp>
      <p:pic>
        <p:nvPicPr>
          <p:cNvPr id="9" name="Picture 8" descr="A group of kids around a computer&#10;&#10;Description automatically generated">
            <a:extLst>
              <a:ext uri="{FF2B5EF4-FFF2-40B4-BE49-F238E27FC236}">
                <a16:creationId xmlns:a16="http://schemas.microsoft.com/office/drawing/2014/main" id="{53359385-735E-26BC-D77D-84DA7B078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557" y="2120087"/>
            <a:ext cx="5229225" cy="3267075"/>
          </a:xfrm>
          <a:prstGeom prst="rect">
            <a:avLst/>
          </a:prstGeom>
        </p:spPr>
      </p:pic>
      <p:pic>
        <p:nvPicPr>
          <p:cNvPr id="6" name="Google Shape;76;p1">
            <a:extLst>
              <a:ext uri="{FF2B5EF4-FFF2-40B4-BE49-F238E27FC236}">
                <a16:creationId xmlns:a16="http://schemas.microsoft.com/office/drawing/2014/main" id="{2CE2FE36-5990-74DF-F5FE-5C1128257B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83" y="93286"/>
            <a:ext cx="2937317" cy="1430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2E5700-DA98-B67A-5424-215B99A13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  <p:grpSp>
        <p:nvGrpSpPr>
          <p:cNvPr id="8" name="Google Shape;46;p1">
            <a:extLst>
              <a:ext uri="{FF2B5EF4-FFF2-40B4-BE49-F238E27FC236}">
                <a16:creationId xmlns:a16="http://schemas.microsoft.com/office/drawing/2014/main" id="{8A97C27A-4E84-C517-93BA-2A989E5D26E6}"/>
              </a:ext>
            </a:extLst>
          </p:cNvPr>
          <p:cNvGrpSpPr/>
          <p:nvPr/>
        </p:nvGrpSpPr>
        <p:grpSpPr>
          <a:xfrm>
            <a:off x="9399058" y="666443"/>
            <a:ext cx="2582400" cy="289350"/>
            <a:chOff x="6967625" y="394825"/>
            <a:chExt cx="2582400" cy="289350"/>
          </a:xfrm>
        </p:grpSpPr>
        <p:sp>
          <p:nvSpPr>
            <p:cNvPr id="10" name="Google Shape;47;p1">
              <a:extLst>
                <a:ext uri="{FF2B5EF4-FFF2-40B4-BE49-F238E27FC236}">
                  <a16:creationId xmlns:a16="http://schemas.microsoft.com/office/drawing/2014/main" id="{433652FF-9DA0-3F7A-F250-CD88CFF16F44}"/>
                </a:ext>
              </a:extLst>
            </p:cNvPr>
            <p:cNvSpPr/>
            <p:nvPr/>
          </p:nvSpPr>
          <p:spPr>
            <a:xfrm rot="-5400000">
              <a:off x="6967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1" name="Google Shape;48;p1">
              <a:extLst>
                <a:ext uri="{FF2B5EF4-FFF2-40B4-BE49-F238E27FC236}">
                  <a16:creationId xmlns:a16="http://schemas.microsoft.com/office/drawing/2014/main" id="{B656B2B3-8815-FEEC-A022-46FF32AD5F2A}"/>
                </a:ext>
              </a:extLst>
            </p:cNvPr>
            <p:cNvSpPr/>
            <p:nvPr/>
          </p:nvSpPr>
          <p:spPr>
            <a:xfrm rot="-5400000">
              <a:off x="6967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2" name="Google Shape;49;p1">
              <a:extLst>
                <a:ext uri="{FF2B5EF4-FFF2-40B4-BE49-F238E27FC236}">
                  <a16:creationId xmlns:a16="http://schemas.microsoft.com/office/drawing/2014/main" id="{F2E23862-9EEA-907D-6D43-D864B2F6FB90}"/>
                </a:ext>
              </a:extLst>
            </p:cNvPr>
            <p:cNvSpPr/>
            <p:nvPr/>
          </p:nvSpPr>
          <p:spPr>
            <a:xfrm rot="-5400000">
              <a:off x="7158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3" name="Google Shape;50;p1">
              <a:extLst>
                <a:ext uri="{FF2B5EF4-FFF2-40B4-BE49-F238E27FC236}">
                  <a16:creationId xmlns:a16="http://schemas.microsoft.com/office/drawing/2014/main" id="{22D0B3AA-889A-5C6E-EE41-14E343829219}"/>
                </a:ext>
              </a:extLst>
            </p:cNvPr>
            <p:cNvSpPr/>
            <p:nvPr/>
          </p:nvSpPr>
          <p:spPr>
            <a:xfrm rot="-5400000">
              <a:off x="7158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4" name="Google Shape;51;p1">
              <a:extLst>
                <a:ext uri="{FF2B5EF4-FFF2-40B4-BE49-F238E27FC236}">
                  <a16:creationId xmlns:a16="http://schemas.microsoft.com/office/drawing/2014/main" id="{320664AC-AAA5-05E4-0E58-CDF7CB46F049}"/>
                </a:ext>
              </a:extLst>
            </p:cNvPr>
            <p:cNvSpPr/>
            <p:nvPr/>
          </p:nvSpPr>
          <p:spPr>
            <a:xfrm rot="-5400000">
              <a:off x="7348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5" name="Google Shape;52;p1">
              <a:extLst>
                <a:ext uri="{FF2B5EF4-FFF2-40B4-BE49-F238E27FC236}">
                  <a16:creationId xmlns:a16="http://schemas.microsoft.com/office/drawing/2014/main" id="{924864F7-1944-959D-683A-4E4068E52578}"/>
                </a:ext>
              </a:extLst>
            </p:cNvPr>
            <p:cNvSpPr/>
            <p:nvPr/>
          </p:nvSpPr>
          <p:spPr>
            <a:xfrm rot="-5400000">
              <a:off x="7348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6" name="Google Shape;53;p1">
              <a:extLst>
                <a:ext uri="{FF2B5EF4-FFF2-40B4-BE49-F238E27FC236}">
                  <a16:creationId xmlns:a16="http://schemas.microsoft.com/office/drawing/2014/main" id="{86140EB0-D1C9-1C10-016C-CFDBD8F05968}"/>
                </a:ext>
              </a:extLst>
            </p:cNvPr>
            <p:cNvSpPr/>
            <p:nvPr/>
          </p:nvSpPr>
          <p:spPr>
            <a:xfrm rot="-5400000">
              <a:off x="7539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7" name="Google Shape;54;p1">
              <a:extLst>
                <a:ext uri="{FF2B5EF4-FFF2-40B4-BE49-F238E27FC236}">
                  <a16:creationId xmlns:a16="http://schemas.microsoft.com/office/drawing/2014/main" id="{2DB54C50-EF18-6644-F205-8C503E8985E9}"/>
                </a:ext>
              </a:extLst>
            </p:cNvPr>
            <p:cNvSpPr/>
            <p:nvPr/>
          </p:nvSpPr>
          <p:spPr>
            <a:xfrm rot="-5400000">
              <a:off x="7539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8" name="Google Shape;55;p1">
              <a:extLst>
                <a:ext uri="{FF2B5EF4-FFF2-40B4-BE49-F238E27FC236}">
                  <a16:creationId xmlns:a16="http://schemas.microsoft.com/office/drawing/2014/main" id="{C8E83A31-3089-EE89-C314-4D3C2E755910}"/>
                </a:ext>
              </a:extLst>
            </p:cNvPr>
            <p:cNvSpPr/>
            <p:nvPr/>
          </p:nvSpPr>
          <p:spPr>
            <a:xfrm rot="-5400000">
              <a:off x="7729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9" name="Google Shape;56;p1">
              <a:extLst>
                <a:ext uri="{FF2B5EF4-FFF2-40B4-BE49-F238E27FC236}">
                  <a16:creationId xmlns:a16="http://schemas.microsoft.com/office/drawing/2014/main" id="{A83A49CD-EF58-8DE4-7F8E-BF5338E1EA35}"/>
                </a:ext>
              </a:extLst>
            </p:cNvPr>
            <p:cNvSpPr/>
            <p:nvPr/>
          </p:nvSpPr>
          <p:spPr>
            <a:xfrm rot="-5400000">
              <a:off x="7729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0" name="Google Shape;57;p1">
              <a:extLst>
                <a:ext uri="{FF2B5EF4-FFF2-40B4-BE49-F238E27FC236}">
                  <a16:creationId xmlns:a16="http://schemas.microsoft.com/office/drawing/2014/main" id="{FD806BA0-1ED3-C0DC-411C-037B8F81A62A}"/>
                </a:ext>
              </a:extLst>
            </p:cNvPr>
            <p:cNvSpPr/>
            <p:nvPr/>
          </p:nvSpPr>
          <p:spPr>
            <a:xfrm rot="-5400000">
              <a:off x="7920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1" name="Google Shape;58;p1">
              <a:extLst>
                <a:ext uri="{FF2B5EF4-FFF2-40B4-BE49-F238E27FC236}">
                  <a16:creationId xmlns:a16="http://schemas.microsoft.com/office/drawing/2014/main" id="{A8753C98-765C-00AB-CB33-CD3302E608A5}"/>
                </a:ext>
              </a:extLst>
            </p:cNvPr>
            <p:cNvSpPr/>
            <p:nvPr/>
          </p:nvSpPr>
          <p:spPr>
            <a:xfrm rot="-5400000">
              <a:off x="7920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2" name="Google Shape;59;p1">
              <a:extLst>
                <a:ext uri="{FF2B5EF4-FFF2-40B4-BE49-F238E27FC236}">
                  <a16:creationId xmlns:a16="http://schemas.microsoft.com/office/drawing/2014/main" id="{3D99BEED-343E-163B-5640-6362A2138919}"/>
                </a:ext>
              </a:extLst>
            </p:cNvPr>
            <p:cNvSpPr/>
            <p:nvPr/>
          </p:nvSpPr>
          <p:spPr>
            <a:xfrm rot="-5400000">
              <a:off x="8110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3" name="Google Shape;60;p1">
              <a:extLst>
                <a:ext uri="{FF2B5EF4-FFF2-40B4-BE49-F238E27FC236}">
                  <a16:creationId xmlns:a16="http://schemas.microsoft.com/office/drawing/2014/main" id="{88DC774B-2008-4268-CEFD-415E95B63637}"/>
                </a:ext>
              </a:extLst>
            </p:cNvPr>
            <p:cNvSpPr/>
            <p:nvPr/>
          </p:nvSpPr>
          <p:spPr>
            <a:xfrm rot="-5400000">
              <a:off x="8110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4" name="Google Shape;61;p1">
              <a:extLst>
                <a:ext uri="{FF2B5EF4-FFF2-40B4-BE49-F238E27FC236}">
                  <a16:creationId xmlns:a16="http://schemas.microsoft.com/office/drawing/2014/main" id="{CB248FA7-F9D0-C450-E49F-A891302CC1E3}"/>
                </a:ext>
              </a:extLst>
            </p:cNvPr>
            <p:cNvSpPr/>
            <p:nvPr/>
          </p:nvSpPr>
          <p:spPr>
            <a:xfrm rot="-5400000">
              <a:off x="8301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5" name="Google Shape;62;p1">
              <a:extLst>
                <a:ext uri="{FF2B5EF4-FFF2-40B4-BE49-F238E27FC236}">
                  <a16:creationId xmlns:a16="http://schemas.microsoft.com/office/drawing/2014/main" id="{CECC6E12-9C39-0C3E-993D-F227C595F289}"/>
                </a:ext>
              </a:extLst>
            </p:cNvPr>
            <p:cNvSpPr/>
            <p:nvPr/>
          </p:nvSpPr>
          <p:spPr>
            <a:xfrm rot="-5400000">
              <a:off x="8301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6" name="Google Shape;63;p1">
              <a:extLst>
                <a:ext uri="{FF2B5EF4-FFF2-40B4-BE49-F238E27FC236}">
                  <a16:creationId xmlns:a16="http://schemas.microsoft.com/office/drawing/2014/main" id="{73CE026B-EB23-1810-C8B6-6AD8C157F1E7}"/>
                </a:ext>
              </a:extLst>
            </p:cNvPr>
            <p:cNvSpPr/>
            <p:nvPr/>
          </p:nvSpPr>
          <p:spPr>
            <a:xfrm rot="-5400000">
              <a:off x="8491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7" name="Google Shape;64;p1">
              <a:extLst>
                <a:ext uri="{FF2B5EF4-FFF2-40B4-BE49-F238E27FC236}">
                  <a16:creationId xmlns:a16="http://schemas.microsoft.com/office/drawing/2014/main" id="{FEE597A5-BE80-EC79-6F4D-66374121183B}"/>
                </a:ext>
              </a:extLst>
            </p:cNvPr>
            <p:cNvSpPr/>
            <p:nvPr/>
          </p:nvSpPr>
          <p:spPr>
            <a:xfrm rot="-5400000">
              <a:off x="8491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8" name="Google Shape;65;p1">
              <a:extLst>
                <a:ext uri="{FF2B5EF4-FFF2-40B4-BE49-F238E27FC236}">
                  <a16:creationId xmlns:a16="http://schemas.microsoft.com/office/drawing/2014/main" id="{EE85AD38-C5F6-4139-E02C-AEF54032729E}"/>
                </a:ext>
              </a:extLst>
            </p:cNvPr>
            <p:cNvSpPr/>
            <p:nvPr/>
          </p:nvSpPr>
          <p:spPr>
            <a:xfrm rot="-5400000">
              <a:off x="8682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29" name="Google Shape;66;p1">
              <a:extLst>
                <a:ext uri="{FF2B5EF4-FFF2-40B4-BE49-F238E27FC236}">
                  <a16:creationId xmlns:a16="http://schemas.microsoft.com/office/drawing/2014/main" id="{57971BFB-C4B7-2712-222D-8CA04C0D5D49}"/>
                </a:ext>
              </a:extLst>
            </p:cNvPr>
            <p:cNvSpPr/>
            <p:nvPr/>
          </p:nvSpPr>
          <p:spPr>
            <a:xfrm rot="-5400000">
              <a:off x="8682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0" name="Google Shape;67;p1">
              <a:extLst>
                <a:ext uri="{FF2B5EF4-FFF2-40B4-BE49-F238E27FC236}">
                  <a16:creationId xmlns:a16="http://schemas.microsoft.com/office/drawing/2014/main" id="{D548D72C-E5D4-2B44-D3A6-8C57A64C6558}"/>
                </a:ext>
              </a:extLst>
            </p:cNvPr>
            <p:cNvSpPr/>
            <p:nvPr/>
          </p:nvSpPr>
          <p:spPr>
            <a:xfrm rot="-5400000">
              <a:off x="8872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1" name="Google Shape;68;p1">
              <a:extLst>
                <a:ext uri="{FF2B5EF4-FFF2-40B4-BE49-F238E27FC236}">
                  <a16:creationId xmlns:a16="http://schemas.microsoft.com/office/drawing/2014/main" id="{5A8EFA3F-D05D-85A7-8BD8-5C9CFF9064B2}"/>
                </a:ext>
              </a:extLst>
            </p:cNvPr>
            <p:cNvSpPr/>
            <p:nvPr/>
          </p:nvSpPr>
          <p:spPr>
            <a:xfrm rot="-5400000">
              <a:off x="8872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2" name="Google Shape;69;p1">
              <a:extLst>
                <a:ext uri="{FF2B5EF4-FFF2-40B4-BE49-F238E27FC236}">
                  <a16:creationId xmlns:a16="http://schemas.microsoft.com/office/drawing/2014/main" id="{5374146C-5838-4173-B206-A38C18989FF2}"/>
                </a:ext>
              </a:extLst>
            </p:cNvPr>
            <p:cNvSpPr/>
            <p:nvPr/>
          </p:nvSpPr>
          <p:spPr>
            <a:xfrm rot="-5400000">
              <a:off x="9063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3" name="Google Shape;70;p1">
              <a:extLst>
                <a:ext uri="{FF2B5EF4-FFF2-40B4-BE49-F238E27FC236}">
                  <a16:creationId xmlns:a16="http://schemas.microsoft.com/office/drawing/2014/main" id="{388F29C0-44D5-3C1A-D629-2286675B85DD}"/>
                </a:ext>
              </a:extLst>
            </p:cNvPr>
            <p:cNvSpPr/>
            <p:nvPr/>
          </p:nvSpPr>
          <p:spPr>
            <a:xfrm rot="-5400000">
              <a:off x="9063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4" name="Google Shape;71;p1">
              <a:extLst>
                <a:ext uri="{FF2B5EF4-FFF2-40B4-BE49-F238E27FC236}">
                  <a16:creationId xmlns:a16="http://schemas.microsoft.com/office/drawing/2014/main" id="{0C6B28C4-1B7E-79BB-9E28-20805E5EC12D}"/>
                </a:ext>
              </a:extLst>
            </p:cNvPr>
            <p:cNvSpPr/>
            <p:nvPr/>
          </p:nvSpPr>
          <p:spPr>
            <a:xfrm rot="-5400000">
              <a:off x="92536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5" name="Google Shape;72;p1">
              <a:extLst>
                <a:ext uri="{FF2B5EF4-FFF2-40B4-BE49-F238E27FC236}">
                  <a16:creationId xmlns:a16="http://schemas.microsoft.com/office/drawing/2014/main" id="{4CE573D3-6FB8-DC48-5A3F-92E9A3746A3B}"/>
                </a:ext>
              </a:extLst>
            </p:cNvPr>
            <p:cNvSpPr/>
            <p:nvPr/>
          </p:nvSpPr>
          <p:spPr>
            <a:xfrm rot="-5400000">
              <a:off x="92536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6" name="Google Shape;73;p1">
              <a:extLst>
                <a:ext uri="{FF2B5EF4-FFF2-40B4-BE49-F238E27FC236}">
                  <a16:creationId xmlns:a16="http://schemas.microsoft.com/office/drawing/2014/main" id="{8456D77E-875D-D533-E6F2-924DFF9FE860}"/>
                </a:ext>
              </a:extLst>
            </p:cNvPr>
            <p:cNvSpPr/>
            <p:nvPr/>
          </p:nvSpPr>
          <p:spPr>
            <a:xfrm rot="-5400000">
              <a:off x="9444125" y="57827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7" name="Google Shape;74;p1">
              <a:extLst>
                <a:ext uri="{FF2B5EF4-FFF2-40B4-BE49-F238E27FC236}">
                  <a16:creationId xmlns:a16="http://schemas.microsoft.com/office/drawing/2014/main" id="{646B5CE5-0FFC-81D0-2BEA-6CE07DD129F1}"/>
                </a:ext>
              </a:extLst>
            </p:cNvPr>
            <p:cNvSpPr/>
            <p:nvPr/>
          </p:nvSpPr>
          <p:spPr>
            <a:xfrm rot="-5400000">
              <a:off x="9444125" y="394825"/>
              <a:ext cx="105900" cy="10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2585" y="501777"/>
            <a:ext cx="2736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A.</a:t>
            </a:r>
            <a:r>
              <a:rPr spc="-270" dirty="0"/>
              <a:t> </a:t>
            </a:r>
            <a:r>
              <a:rPr spc="-5" dirty="0"/>
              <a:t>Ag</a:t>
            </a:r>
            <a:r>
              <a:rPr dirty="0"/>
              <a:t>e</a:t>
            </a:r>
            <a:r>
              <a:rPr spc="-5" dirty="0"/>
              <a:t>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0515" y="1895703"/>
            <a:ext cx="8427085" cy="172338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710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200" dirty="0">
                <a:latin typeface="Times New Roman"/>
                <a:cs typeface="Times New Roman"/>
              </a:rPr>
              <a:t>Introduction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Instructors</a:t>
            </a:r>
            <a:endParaRPr sz="32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200" dirty="0">
                <a:latin typeface="Times New Roman"/>
                <a:cs typeface="Times New Roman"/>
              </a:rPr>
              <a:t>Introduction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Module</a:t>
            </a:r>
            <a:endParaRPr sz="32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200" spc="-60" dirty="0">
                <a:latin typeface="Times New Roman"/>
                <a:cs typeface="Times New Roman"/>
              </a:rPr>
              <a:t>Week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 Lecture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 Fundamentals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Computing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345182"/>
            <a:ext cx="141033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9245" indent="-297180">
              <a:lnSpc>
                <a:spcPct val="100000"/>
              </a:lnSpc>
              <a:spcBef>
                <a:spcPts val="105"/>
              </a:spcBef>
              <a:buAutoNum type="alphaUcPeriod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Agenda</a:t>
            </a:r>
            <a:endParaRPr sz="20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buAutoNum type="alphaUcPeriod"/>
              <a:tabLst>
                <a:tab pos="309880" algn="l"/>
              </a:tabLst>
            </a:pPr>
            <a:r>
              <a:rPr sz="2000" spc="-5" dirty="0">
                <a:latin typeface="Times New Roman"/>
                <a:cs typeface="Times New Roman"/>
              </a:rPr>
              <a:t>Instructors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1850" y="230200"/>
            <a:ext cx="36506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B.</a:t>
            </a:r>
            <a:r>
              <a:rPr spc="-85" dirty="0"/>
              <a:t> </a:t>
            </a:r>
            <a:r>
              <a:rPr dirty="0"/>
              <a:t>Instructors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1850" y="1219200"/>
            <a:ext cx="7699950" cy="7278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465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dirty="0">
                <a:latin typeface="Times New Roman"/>
                <a:cs typeface="Times New Roman"/>
              </a:rPr>
              <a:t>Uttam</a:t>
            </a:r>
            <a:r>
              <a:rPr sz="3200" b="1" spc="-2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Ac</a:t>
            </a:r>
            <a:r>
              <a:rPr lang="en-US" sz="3200" b="1" dirty="0">
                <a:latin typeface="Times New Roman"/>
                <a:cs typeface="Times New Roman"/>
              </a:rPr>
              <a:t>harya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(Module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Leader)</a:t>
            </a:r>
            <a:endParaRPr sz="3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975"/>
              </a:lnSpc>
              <a:buFont typeface="Arial MT"/>
              <a:buChar char="•"/>
              <a:tabLst>
                <a:tab pos="698500" algn="l"/>
              </a:tabLst>
            </a:pPr>
            <a:r>
              <a:rPr sz="2000" spc="-5" dirty="0">
                <a:latin typeface="Times New Roman"/>
                <a:cs typeface="Times New Roman"/>
              </a:rPr>
              <a:t>MSc.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Physics,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TU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400"/>
              </a:lnSpc>
              <a:spcBef>
                <a:spcPts val="35"/>
              </a:spcBef>
              <a:buClr>
                <a:srgbClr val="000000"/>
              </a:buClr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1600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uttam.acharya@heraldcollege.edu.np</a:t>
            </a:r>
            <a:endParaRPr sz="1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r>
              <a:rPr lang="en-US" sz="3200" b="1" spc="-5" dirty="0">
                <a:latin typeface="Times New Roman"/>
                <a:cs typeface="Times New Roman"/>
              </a:rPr>
              <a:t>Sanjeev Rai (Lecturer)</a:t>
            </a:r>
            <a:endParaRPr sz="3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075"/>
              </a:lnSpc>
              <a:buFont typeface="Arial MT"/>
              <a:buChar char="•"/>
              <a:tabLst>
                <a:tab pos="6985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MCA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lang="en-US" sz="2000" spc="-5" dirty="0">
                <a:latin typeface="Times New Roman"/>
                <a:cs typeface="Times New Roman"/>
              </a:rPr>
              <a:t>Masters of Computer Application), PU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635"/>
              </a:lnSpc>
              <a:buClr>
                <a:srgbClr val="000000"/>
              </a:buClr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lang="en-US" sz="1600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sanjeev.chamling@bicnepal.edu.np </a:t>
            </a:r>
          </a:p>
          <a:p>
            <a:pPr marL="241300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r>
              <a:rPr lang="en-US" sz="3200" b="1" spc="-5" dirty="0" err="1">
                <a:latin typeface="Times New Roman"/>
                <a:cs typeface="Times New Roman"/>
              </a:rPr>
              <a:t>Bhismaraj</a:t>
            </a:r>
            <a:r>
              <a:rPr lang="en-US" sz="3200" b="1" spc="-5" dirty="0">
                <a:latin typeface="Times New Roman"/>
                <a:cs typeface="Times New Roman"/>
              </a:rPr>
              <a:t> Koirala (Tutor )</a:t>
            </a:r>
          </a:p>
          <a:p>
            <a:pPr marL="698500" lvl="1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BE(Bachelor of Computer Engineering),TU</a:t>
            </a:r>
          </a:p>
          <a:p>
            <a:pPr marL="241300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r>
              <a:rPr lang="en-US" sz="3200" b="1" spc="-5" dirty="0">
                <a:latin typeface="Times New Roman"/>
                <a:cs typeface="Times New Roman"/>
              </a:rPr>
              <a:t>Sandhya Tiwari (Tutor )</a:t>
            </a:r>
          </a:p>
          <a:p>
            <a:pPr marL="698500" lvl="1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BIM(Bachelor of Information Management),TU</a:t>
            </a:r>
            <a:endParaRPr lang="en-US" sz="2000" i="1" u="sng" spc="-5" dirty="0">
              <a:solidFill>
                <a:srgbClr val="2979CA"/>
              </a:solidFill>
              <a:latin typeface="Times New Roman"/>
              <a:cs typeface="Times New Roman"/>
            </a:endParaRPr>
          </a:p>
          <a:p>
            <a:pPr marL="698500" lvl="1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endParaRPr lang="en-US" i="1" u="sng" spc="-5" dirty="0">
              <a:solidFill>
                <a:srgbClr val="2979CA"/>
              </a:solidFill>
              <a:latin typeface="Times New Roman"/>
              <a:cs typeface="Times New Roman"/>
            </a:endParaRPr>
          </a:p>
          <a:p>
            <a:pPr marL="1155700" lvl="2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endParaRPr lang="en-US" spc="-5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endParaRPr lang="en-US" sz="3900" b="1" spc="-5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4640"/>
              </a:lnSpc>
              <a:buFont typeface="Arial MT"/>
              <a:buChar char="•"/>
              <a:tabLst>
                <a:tab pos="241300" algn="l"/>
              </a:tabLst>
            </a:pPr>
            <a:endParaRPr lang="en-US" sz="2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031619"/>
            <a:ext cx="224345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215" indent="-311150">
              <a:lnSpc>
                <a:spcPct val="100000"/>
              </a:lnSpc>
              <a:spcBef>
                <a:spcPts val="105"/>
              </a:spcBef>
              <a:buAutoNum type="alphaUcPeriod"/>
              <a:tabLst>
                <a:tab pos="323850" algn="l"/>
              </a:tabLst>
            </a:pPr>
            <a:r>
              <a:rPr sz="2000" dirty="0">
                <a:latin typeface="Times New Roman"/>
                <a:cs typeface="Times New Roman"/>
              </a:rPr>
              <a:t>Agenda</a:t>
            </a:r>
          </a:p>
          <a:p>
            <a:pPr marL="309245" indent="-297180">
              <a:lnSpc>
                <a:spcPct val="100000"/>
              </a:lnSpc>
              <a:buAutoNum type="alphaUcPeriod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Instructors</a:t>
            </a:r>
            <a:endParaRPr sz="2000" dirty="0">
              <a:latin typeface="Times New Roman"/>
              <a:cs typeface="Times New Roman"/>
            </a:endParaRPr>
          </a:p>
          <a:p>
            <a:pPr marL="309245" indent="-297180">
              <a:lnSpc>
                <a:spcPct val="100000"/>
              </a:lnSpc>
              <a:buAutoNum type="alphaUcPeriod"/>
              <a:tabLst>
                <a:tab pos="309880" algn="l"/>
              </a:tabLst>
            </a:pP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Overview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Google Shape;196;g249310ac104_0_42">
            <a:extLst>
              <a:ext uri="{FF2B5EF4-FFF2-40B4-BE49-F238E27FC236}">
                <a16:creationId xmlns:a16="http://schemas.microsoft.com/office/drawing/2014/main" id="{8004033E-A901-4579-FA8F-FD243D28A5D0}"/>
              </a:ext>
            </a:extLst>
          </p:cNvPr>
          <p:cNvSpPr/>
          <p:nvPr/>
        </p:nvSpPr>
        <p:spPr>
          <a:xfrm>
            <a:off x="-39" y="-12458"/>
            <a:ext cx="2558414" cy="6870457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10" name="Google Shape;76;p1">
            <a:extLst>
              <a:ext uri="{FF2B5EF4-FFF2-40B4-BE49-F238E27FC236}">
                <a16:creationId xmlns:a16="http://schemas.microsoft.com/office/drawing/2014/main" id="{B12AB2C7-CD5A-20DA-ED34-37B0C7E07C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3B3C19-ECE7-CB5B-744C-EB4F809F1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  <p:sp>
        <p:nvSpPr>
          <p:cNvPr id="4" name="object 7">
            <a:extLst>
              <a:ext uri="{FF2B5EF4-FFF2-40B4-BE49-F238E27FC236}">
                <a16:creationId xmlns:a16="http://schemas.microsoft.com/office/drawing/2014/main" id="{32B15E08-E84D-C1FE-BB45-5041491BACAC}"/>
              </a:ext>
            </a:extLst>
          </p:cNvPr>
          <p:cNvSpPr txBox="1"/>
          <p:nvPr/>
        </p:nvSpPr>
        <p:spPr>
          <a:xfrm>
            <a:off x="78739" y="2345182"/>
            <a:ext cx="15976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9245" indent="-297180">
              <a:lnSpc>
                <a:spcPct val="100000"/>
              </a:lnSpc>
              <a:spcBef>
                <a:spcPts val="105"/>
              </a:spcBef>
              <a:buAutoNum type="alphaUcPeriod"/>
              <a:tabLst>
                <a:tab pos="309880" algn="l"/>
              </a:tabLst>
            </a:pPr>
            <a:r>
              <a:rPr sz="2000" dirty="0">
                <a:latin typeface="Times New Roman"/>
                <a:cs typeface="Times New Roman"/>
              </a:rPr>
              <a:t>Agenda</a:t>
            </a:r>
          </a:p>
          <a:p>
            <a:pPr marL="309880" indent="-297180">
              <a:lnSpc>
                <a:spcPct val="100000"/>
              </a:lnSpc>
              <a:buAutoNum type="alphaUcPeriod"/>
              <a:tabLst>
                <a:tab pos="30988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Instructors</a:t>
            </a:r>
            <a:endParaRPr sz="200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0520" y="74498"/>
            <a:ext cx="54273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C.</a:t>
            </a:r>
            <a:r>
              <a:rPr spc="-35" dirty="0"/>
              <a:t> </a:t>
            </a:r>
            <a:r>
              <a:rPr spc="-5" dirty="0"/>
              <a:t>Module</a:t>
            </a:r>
            <a:r>
              <a:rPr spc="-35" dirty="0"/>
              <a:t> </a:t>
            </a:r>
            <a:r>
              <a:rPr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0520" y="807265"/>
            <a:ext cx="9149080" cy="53700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1: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representation</a:t>
            </a:r>
          </a:p>
          <a:p>
            <a:pPr marL="469900" indent="-4572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2: Digital Electronics</a:t>
            </a:r>
          </a:p>
          <a:p>
            <a:pPr marL="469900" indent="-4572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3: Combinational Circuits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4: </a:t>
            </a:r>
            <a:r>
              <a:rPr sz="2400" dirty="0">
                <a:latin typeface="Times New Roman"/>
                <a:cs typeface="Times New Roman"/>
              </a:rPr>
              <a:t>Arithmetic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Units</a:t>
            </a: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5: </a:t>
            </a:r>
            <a:r>
              <a:rPr sz="2400" dirty="0">
                <a:latin typeface="Times New Roman"/>
                <a:cs typeface="Times New Roman"/>
              </a:rPr>
              <a:t>Sequential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endParaRPr lang="en-US" sz="2400" spc="-2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Week 6: </a:t>
            </a:r>
            <a:r>
              <a:rPr lang="en-US" sz="2400" dirty="0">
                <a:latin typeface="Times New Roman"/>
                <a:cs typeface="Times New Roman"/>
              </a:rPr>
              <a:t>Memory</a:t>
            </a:r>
            <a:endParaRPr lang="en-US" sz="2400" spc="-20" dirty="0">
              <a:latin typeface="Times New Roman"/>
              <a:cs typeface="Times New Roman"/>
            </a:endParaRPr>
          </a:p>
          <a:p>
            <a:pPr marL="469900" indent="-457200">
              <a:spcBef>
                <a:spcPts val="62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Week 7: </a:t>
            </a:r>
            <a:r>
              <a:rPr lang="en-US" sz="2400" dirty="0">
                <a:latin typeface="Times New Roman"/>
                <a:cs typeface="Times New Roman"/>
              </a:rPr>
              <a:t>CPU</a:t>
            </a:r>
            <a:r>
              <a:rPr lang="en-US" sz="2400" spc="-1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Architecture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Peripheral</a:t>
            </a:r>
            <a:r>
              <a:rPr lang="en-US" sz="2400" spc="-55" dirty="0">
                <a:latin typeface="Times New Roman"/>
                <a:cs typeface="Times New Roman"/>
              </a:rPr>
              <a:t> D</a:t>
            </a:r>
            <a:r>
              <a:rPr lang="en-US" sz="2400" dirty="0">
                <a:latin typeface="Times New Roman"/>
                <a:cs typeface="Times New Roman"/>
              </a:rPr>
              <a:t>evices</a:t>
            </a:r>
          </a:p>
          <a:p>
            <a:pPr marL="469900" indent="-4572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8: </a:t>
            </a:r>
            <a:r>
              <a:rPr lang="en-US" sz="2400" spc="-20" dirty="0">
                <a:latin typeface="Times New Roman"/>
                <a:cs typeface="Times New Roman"/>
              </a:rPr>
              <a:t>Windows</a:t>
            </a:r>
            <a:r>
              <a:rPr lang="en-US" sz="2400" spc="-30" dirty="0">
                <a:latin typeface="Times New Roman"/>
                <a:cs typeface="Times New Roman"/>
              </a:rPr>
              <a:t> Operating System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5" dirty="0">
                <a:latin typeface="Times New Roman"/>
                <a:cs typeface="Times New Roman"/>
              </a:rPr>
              <a:t> Command line Interface</a:t>
            </a:r>
            <a:endParaRPr lang="en-US"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9: Exam Week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10: </a:t>
            </a:r>
            <a:r>
              <a:rPr lang="en-US" sz="2400" spc="-20" dirty="0">
                <a:latin typeface="Times New Roman"/>
                <a:cs typeface="Times New Roman"/>
              </a:rPr>
              <a:t>Linux Operating system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5" dirty="0">
                <a:latin typeface="Times New Roman"/>
                <a:cs typeface="Times New Roman"/>
              </a:rPr>
              <a:t> Command line 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11: Batch </a:t>
            </a:r>
            <a:r>
              <a:rPr lang="en-US" sz="2400" spc="-5" dirty="0">
                <a:latin typeface="Times New Roman"/>
                <a:cs typeface="Times New Roman"/>
              </a:rPr>
              <a:t>file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for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Windows </a:t>
            </a:r>
            <a:r>
              <a:rPr lang="en-US" sz="2400" dirty="0">
                <a:latin typeface="Times New Roman"/>
                <a:cs typeface="Times New Roman"/>
              </a:rPr>
              <a:t>OS </a:t>
            </a:r>
          </a:p>
          <a:p>
            <a:pPr marL="469900" indent="-4572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Week 12: </a:t>
            </a:r>
            <a:r>
              <a:rPr sz="2400" dirty="0">
                <a:latin typeface="Times New Roman"/>
                <a:cs typeface="Times New Roman"/>
              </a:rPr>
              <a:t>Networking</a:t>
            </a:r>
            <a:r>
              <a:rPr lang="en-US" sz="2400" dirty="0">
                <a:latin typeface="Times New Roman"/>
                <a:cs typeface="Times New Roman"/>
              </a:rPr>
              <a:t> and Final Portfolio Submission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82" y="2184019"/>
            <a:ext cx="227901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9245" indent="-297180">
              <a:lnSpc>
                <a:spcPct val="100000"/>
              </a:lnSpc>
              <a:spcBef>
                <a:spcPts val="105"/>
              </a:spcBef>
              <a:buAutoNum type="alphaUcPeriod" startAt="2"/>
              <a:tabLst>
                <a:tab pos="309880" algn="l"/>
              </a:tabLst>
            </a:pPr>
            <a:r>
              <a:rPr sz="2000" dirty="0">
                <a:latin typeface="Times New Roman"/>
                <a:cs typeface="Times New Roman"/>
              </a:rPr>
              <a:t>Instructors</a:t>
            </a:r>
          </a:p>
          <a:p>
            <a:pPr marL="323215" indent="-311150">
              <a:lnSpc>
                <a:spcPct val="100000"/>
              </a:lnSpc>
              <a:buAutoNum type="alphaUcPeriod" startAt="2"/>
              <a:tabLst>
                <a:tab pos="323850" algn="l"/>
              </a:tabLst>
            </a:pPr>
            <a:r>
              <a:rPr sz="2000" b="1" dirty="0">
                <a:latin typeface="Times New Roman"/>
                <a:cs typeface="Times New Roman"/>
              </a:rPr>
              <a:t>Module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Overview</a:t>
            </a:r>
            <a:endParaRPr sz="2000" dirty="0">
              <a:latin typeface="Times New Roman"/>
              <a:cs typeface="Times New Roman"/>
            </a:endParaRPr>
          </a:p>
          <a:p>
            <a:pPr marL="318770" indent="-306705">
              <a:lnSpc>
                <a:spcPct val="100000"/>
              </a:lnSpc>
              <a:buAutoNum type="alphaUcPeriod" startAt="2"/>
              <a:tabLst>
                <a:tab pos="319405" algn="l"/>
              </a:tabLst>
            </a:pPr>
            <a:r>
              <a:rPr sz="2000" spc="-20" dirty="0">
                <a:latin typeface="Times New Roman"/>
                <a:cs typeface="Times New Roman"/>
              </a:rPr>
              <a:t>Teaching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Strategy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3665" y="86614"/>
            <a:ext cx="6102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</a:tabLst>
            </a:pPr>
            <a:r>
              <a:rPr sz="5400" spc="-5" dirty="0"/>
              <a:t>C.	</a:t>
            </a:r>
            <a:r>
              <a:rPr sz="5400" dirty="0"/>
              <a:t>Module</a:t>
            </a:r>
            <a:r>
              <a:rPr sz="5400" spc="-95" dirty="0"/>
              <a:t> </a:t>
            </a:r>
            <a:r>
              <a:rPr sz="5400" dirty="0"/>
              <a:t>Overview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2653665" y="900198"/>
            <a:ext cx="9157335" cy="527708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Times New Roman"/>
                <a:cs typeface="Times New Roman"/>
              </a:rPr>
              <a:t>This module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distinct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halves.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latin typeface="Times New Roman"/>
                <a:cs typeface="Times New Roman"/>
              </a:rPr>
              <a:t>Weeks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–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6</a:t>
            </a:r>
            <a:endParaRPr sz="2800" dirty="0">
              <a:latin typeface="Times New Roman"/>
              <a:cs typeface="Times New Roman"/>
            </a:endParaRPr>
          </a:p>
          <a:p>
            <a:pPr marL="469900" marR="272415">
              <a:lnSpc>
                <a:spcPts val="3020"/>
              </a:lnSpc>
              <a:spcBef>
                <a:spcPts val="545"/>
              </a:spcBef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first </a:t>
            </a:r>
            <a:r>
              <a:rPr sz="2400" spc="-5" dirty="0">
                <a:latin typeface="Times New Roman"/>
                <a:cs typeface="Times New Roman"/>
              </a:rPr>
              <a:t>half </a:t>
            </a:r>
            <a:r>
              <a:rPr sz="2400" dirty="0">
                <a:latin typeface="Times New Roman"/>
                <a:cs typeface="Times New Roman"/>
              </a:rPr>
              <a:t>looks </a:t>
            </a:r>
            <a:r>
              <a:rPr sz="2400" spc="-5" dirty="0">
                <a:latin typeface="Times New Roman"/>
                <a:cs typeface="Times New Roman"/>
              </a:rPr>
              <a:t>at the relationships between number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systems, Boolean algebra, logic gates and </a:t>
            </a:r>
            <a:r>
              <a:rPr sz="2400" dirty="0">
                <a:latin typeface="Times New Roman"/>
                <a:cs typeface="Times New Roman"/>
              </a:rPr>
              <a:t>digital </a:t>
            </a:r>
            <a:r>
              <a:rPr sz="2400" spc="-5" dirty="0">
                <a:latin typeface="Times New Roman"/>
                <a:cs typeface="Times New Roman"/>
              </a:rPr>
              <a:t>electronic </a:t>
            </a:r>
            <a:r>
              <a:rPr sz="2400" spc="-6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circuit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design.</a:t>
            </a:r>
            <a:endParaRPr sz="2400" dirty="0">
              <a:latin typeface="Times New Roman"/>
              <a:cs typeface="Times New Roman"/>
            </a:endParaRPr>
          </a:p>
          <a:p>
            <a:pPr marL="469900" marR="172085">
              <a:lnSpc>
                <a:spcPts val="3020"/>
              </a:lnSpc>
              <a:spcBef>
                <a:spcPts val="515"/>
              </a:spcBef>
            </a:pP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end,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you should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 good understanding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how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spc="-6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works and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why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way</a:t>
            </a:r>
            <a:r>
              <a:rPr sz="2800" spc="-5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5" dirty="0">
                <a:latin typeface="Times New Roman"/>
                <a:cs typeface="Times New Roman"/>
              </a:rPr>
              <a:t>Weeks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7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–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</a:p>
          <a:p>
            <a:pPr marL="469900" marR="278130">
              <a:lnSpc>
                <a:spcPts val="3030"/>
              </a:lnSpc>
              <a:spcBef>
                <a:spcPts val="545"/>
              </a:spcBef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second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half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examines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 </a:t>
            </a: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Scientists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spc="-6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5" dirty="0">
                <a:latin typeface="Times New Roman"/>
                <a:cs typeface="Times New Roman"/>
              </a:rPr>
              <a:t> 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computers.</a:t>
            </a:r>
            <a:endParaRPr sz="2400" dirty="0">
              <a:latin typeface="Times New Roman"/>
              <a:cs typeface="Times New Roman"/>
            </a:endParaRPr>
          </a:p>
          <a:p>
            <a:pPr marL="469900" marR="5080">
              <a:lnSpc>
                <a:spcPts val="3020"/>
              </a:lnSpc>
              <a:spcBef>
                <a:spcPts val="505"/>
              </a:spcBef>
            </a:pPr>
            <a:r>
              <a:rPr sz="2400" spc="-50" dirty="0">
                <a:latin typeface="Times New Roman"/>
                <a:cs typeface="Times New Roman"/>
              </a:rPr>
              <a:t>You’ll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 how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 work </a:t>
            </a:r>
            <a:r>
              <a:rPr sz="2400" spc="-10" dirty="0">
                <a:latin typeface="Times New Roman"/>
                <a:cs typeface="Times New Roman"/>
              </a:rPr>
              <a:t>with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don’t </a:t>
            </a:r>
            <a:r>
              <a:rPr sz="2400" spc="-5" dirty="0">
                <a:latin typeface="Times New Roman"/>
                <a:cs typeface="Times New Roman"/>
              </a:rPr>
              <a:t>have </a:t>
            </a:r>
            <a:r>
              <a:rPr sz="2400" dirty="0">
                <a:latin typeface="Times New Roman"/>
                <a:cs typeface="Times New Roman"/>
              </a:rPr>
              <a:t> ‘point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click’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ends,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how we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communicate</a:t>
            </a:r>
            <a:r>
              <a:rPr sz="2400" spc="-10" dirty="0">
                <a:latin typeface="Times New Roman"/>
                <a:cs typeface="Times New Roman"/>
              </a:rPr>
              <a:t> with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other </a:t>
            </a:r>
            <a:r>
              <a:rPr sz="2400" spc="-6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how</a:t>
            </a:r>
            <a:r>
              <a:rPr sz="2400" spc="-5" dirty="0">
                <a:latin typeface="Times New Roman"/>
                <a:cs typeface="Times New Roman"/>
              </a:rPr>
              <a:t> to</a:t>
            </a:r>
            <a:r>
              <a:rPr sz="2400" dirty="0">
                <a:latin typeface="Times New Roman"/>
                <a:cs typeface="Times New Roman"/>
              </a:rPr>
              <a:t> store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access</a:t>
            </a:r>
            <a:r>
              <a:rPr sz="2400" spc="-5" dirty="0">
                <a:latin typeface="Times New Roman"/>
                <a:cs typeface="Times New Roman"/>
              </a:rPr>
              <a:t> data.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82" y="2184019"/>
            <a:ext cx="227901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9245" indent="-297180">
              <a:lnSpc>
                <a:spcPct val="100000"/>
              </a:lnSpc>
              <a:spcBef>
                <a:spcPts val="105"/>
              </a:spcBef>
              <a:buAutoNum type="alphaUcPeriod" startAt="2"/>
              <a:tabLst>
                <a:tab pos="309880" algn="l"/>
              </a:tabLst>
            </a:pPr>
            <a:r>
              <a:rPr sz="2000" dirty="0">
                <a:latin typeface="Times New Roman"/>
                <a:cs typeface="Times New Roman"/>
              </a:rPr>
              <a:t>Instructors</a:t>
            </a:r>
          </a:p>
          <a:p>
            <a:pPr marL="323215" indent="-311150">
              <a:lnSpc>
                <a:spcPct val="100000"/>
              </a:lnSpc>
              <a:buAutoNum type="alphaUcPeriod" startAt="2"/>
              <a:tabLst>
                <a:tab pos="323850" algn="l"/>
              </a:tabLst>
            </a:pPr>
            <a:r>
              <a:rPr sz="2000" b="1" dirty="0">
                <a:latin typeface="Times New Roman"/>
                <a:cs typeface="Times New Roman"/>
              </a:rPr>
              <a:t>Module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Overview</a:t>
            </a:r>
            <a:endParaRPr sz="2000" dirty="0">
              <a:latin typeface="Times New Roman"/>
              <a:cs typeface="Times New Roman"/>
            </a:endParaRPr>
          </a:p>
          <a:p>
            <a:pPr marL="318770" indent="-306705">
              <a:lnSpc>
                <a:spcPct val="100000"/>
              </a:lnSpc>
              <a:buAutoNum type="alphaUcPeriod" startAt="2"/>
              <a:tabLst>
                <a:tab pos="319405" algn="l"/>
              </a:tabLst>
            </a:pPr>
            <a:r>
              <a:rPr sz="2000" spc="-20" dirty="0">
                <a:latin typeface="Times New Roman"/>
                <a:cs typeface="Times New Roman"/>
              </a:rPr>
              <a:t>Teaching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Strategy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9314" y="457580"/>
            <a:ext cx="5460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D.</a:t>
            </a:r>
            <a:r>
              <a:rPr spc="-130" dirty="0"/>
              <a:t> </a:t>
            </a:r>
            <a:r>
              <a:rPr spc="-60" dirty="0"/>
              <a:t>Teaching</a:t>
            </a:r>
            <a:r>
              <a:rPr spc="-25" dirty="0"/>
              <a:t> </a:t>
            </a:r>
            <a:r>
              <a:rPr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8185" y="1290649"/>
            <a:ext cx="8940800" cy="297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4000" spc="-50" dirty="0">
                <a:latin typeface="Times New Roman"/>
                <a:cs typeface="Times New Roman"/>
              </a:rPr>
              <a:t>Taught</a:t>
            </a:r>
            <a:r>
              <a:rPr sz="4000" spc="-5" dirty="0">
                <a:latin typeface="Times New Roman"/>
                <a:cs typeface="Times New Roman"/>
              </a:rPr>
              <a:t> over 1 Semester</a:t>
            </a:r>
            <a:r>
              <a:rPr sz="4000" spc="2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–</a:t>
            </a:r>
            <a:r>
              <a:rPr sz="400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12</a:t>
            </a:r>
            <a:r>
              <a:rPr sz="4000" spc="-70" dirty="0">
                <a:latin typeface="Times New Roman"/>
                <a:cs typeface="Times New Roman"/>
              </a:rPr>
              <a:t> Weeks</a:t>
            </a:r>
            <a:endParaRPr sz="40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812800" algn="l"/>
              </a:tabLst>
            </a:pPr>
            <a:r>
              <a:rPr sz="4000" spc="-5" dirty="0">
                <a:latin typeface="Times New Roman"/>
                <a:cs typeface="Times New Roman"/>
              </a:rPr>
              <a:t>Each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spc="-85" dirty="0">
                <a:latin typeface="Times New Roman"/>
                <a:cs typeface="Times New Roman"/>
              </a:rPr>
              <a:t>Week</a:t>
            </a:r>
            <a:r>
              <a:rPr sz="4000" dirty="0">
                <a:latin typeface="Times New Roman"/>
                <a:cs typeface="Times New Roman"/>
              </a:rPr>
              <a:t> Consists</a:t>
            </a:r>
            <a:r>
              <a:rPr sz="4000" spc="-2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of:</a:t>
            </a:r>
            <a:endParaRPr sz="4000" dirty="0">
              <a:latin typeface="Times New Roman"/>
              <a:cs typeface="Times New Roman"/>
            </a:endParaRPr>
          </a:p>
          <a:p>
            <a:pPr marL="1270000" marR="5080" lvl="2" indent="-342900">
              <a:lnSpc>
                <a:spcPts val="3020"/>
              </a:lnSpc>
              <a:spcBef>
                <a:spcPts val="585"/>
              </a:spcBef>
              <a:buFont typeface="Arial MT"/>
              <a:buChar char="•"/>
              <a:tabLst>
                <a:tab pos="1269365" algn="l"/>
                <a:tab pos="1270000" algn="l"/>
              </a:tabLst>
            </a:pPr>
            <a:r>
              <a:rPr sz="2800" spc="-5" dirty="0">
                <a:latin typeface="Times New Roman"/>
                <a:cs typeface="Times New Roman"/>
              </a:rPr>
              <a:t>1 Lecture: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hrs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=&gt; Discuss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conceptual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idea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topic</a:t>
            </a:r>
          </a:p>
          <a:p>
            <a:pPr marL="1270000" lvl="2" indent="-3429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1269365" algn="l"/>
                <a:tab pos="1270000" algn="l"/>
              </a:tabLst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Tutorial:2</a:t>
            </a:r>
            <a:r>
              <a:rPr sz="2800" spc="-5" dirty="0">
                <a:latin typeface="Times New Roman"/>
                <a:cs typeface="Times New Roman"/>
              </a:rPr>
              <a:t> hrs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=&gt;Discuss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clear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confusions</a:t>
            </a:r>
            <a:endParaRPr sz="2800" dirty="0">
              <a:latin typeface="Times New Roman"/>
              <a:cs typeface="Times New Roman"/>
            </a:endParaRPr>
          </a:p>
          <a:p>
            <a:pPr marL="1270000" lvl="2" indent="-3429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269365" algn="l"/>
                <a:tab pos="1270000" algn="l"/>
              </a:tabLst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Workshop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2.5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hrs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=&gt;Practice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concept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ideas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040382"/>
            <a:ext cx="229425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9245" indent="-297180">
              <a:lnSpc>
                <a:spcPct val="100000"/>
              </a:lnSpc>
              <a:spcBef>
                <a:spcPts val="105"/>
              </a:spcBef>
              <a:buAutoNum type="alphaUcPeriod" startAt="3"/>
              <a:tabLst>
                <a:tab pos="309880" algn="l"/>
              </a:tabLst>
            </a:pP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Overview</a:t>
            </a:r>
            <a:endParaRPr sz="2000">
              <a:latin typeface="Times New Roman"/>
              <a:cs typeface="Times New Roman"/>
            </a:endParaRPr>
          </a:p>
          <a:p>
            <a:pPr marL="318770" indent="-306705">
              <a:lnSpc>
                <a:spcPct val="100000"/>
              </a:lnSpc>
              <a:buAutoNum type="alphaUcPeriod" startAt="3"/>
              <a:tabLst>
                <a:tab pos="319405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Teaching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Strategy</a:t>
            </a:r>
            <a:endParaRPr sz="2000">
              <a:latin typeface="Times New Roman"/>
              <a:cs typeface="Times New Roman"/>
            </a:endParaRPr>
          </a:p>
          <a:p>
            <a:pPr marL="294005" indent="-281940">
              <a:lnSpc>
                <a:spcPct val="100000"/>
              </a:lnSpc>
              <a:buAutoNum type="alphaUcPeriod" startAt="3"/>
              <a:tabLst>
                <a:tab pos="294640" algn="l"/>
              </a:tabLst>
            </a:pPr>
            <a:r>
              <a:rPr sz="2000" spc="-5" dirty="0">
                <a:latin typeface="Times New Roman"/>
                <a:cs typeface="Times New Roman"/>
              </a:rPr>
              <a:t>Recommended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latin typeface="Times New Roman"/>
                <a:cs typeface="Times New Roman"/>
              </a:rPr>
              <a:t>Textbooks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0377" y="682574"/>
            <a:ext cx="76003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E.</a:t>
            </a:r>
            <a:r>
              <a:rPr spc="-35" dirty="0"/>
              <a:t> </a:t>
            </a:r>
            <a:r>
              <a:rPr dirty="0"/>
              <a:t>Recommended</a:t>
            </a:r>
            <a:r>
              <a:rPr spc="-120" dirty="0"/>
              <a:t> </a:t>
            </a:r>
            <a:r>
              <a:rPr spc="-45" dirty="0"/>
              <a:t>Textbooks: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5469" y="2909062"/>
            <a:ext cx="30099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i="1" spc="-95" dirty="0">
                <a:latin typeface="Times New Roman"/>
                <a:cs typeface="Times New Roman"/>
              </a:rPr>
              <a:t>rd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0377" y="2279091"/>
            <a:ext cx="8939530" cy="1247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235" algn="l"/>
              </a:tabLst>
            </a:pPr>
            <a:r>
              <a:rPr sz="4000" spc="-5" dirty="0">
                <a:latin typeface="Times New Roman"/>
                <a:cs typeface="Times New Roman"/>
              </a:rPr>
              <a:t>Computer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System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Architecture</a:t>
            </a:r>
            <a:endParaRPr sz="4000">
              <a:latin typeface="Times New Roman"/>
              <a:cs typeface="Times New Roman"/>
            </a:endParaRPr>
          </a:p>
          <a:p>
            <a:pPr marL="812800" lvl="1" indent="-3435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813435" algn="l"/>
                <a:tab pos="7133590" algn="l"/>
              </a:tabLst>
            </a:pPr>
            <a:r>
              <a:rPr sz="4000" i="1" spc="-5" dirty="0">
                <a:latin typeface="Times New Roman"/>
                <a:cs typeface="Times New Roman"/>
              </a:rPr>
              <a:t>M.</a:t>
            </a:r>
            <a:r>
              <a:rPr sz="4000" i="1" spc="2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Morris</a:t>
            </a:r>
            <a:r>
              <a:rPr sz="4000" i="1" spc="35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Mano</a:t>
            </a:r>
            <a:r>
              <a:rPr sz="4000" i="1" spc="25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(Pearson,</a:t>
            </a:r>
            <a:r>
              <a:rPr sz="4000" i="1" spc="15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3	</a:t>
            </a:r>
            <a:r>
              <a:rPr sz="4000" i="1" dirty="0">
                <a:latin typeface="Times New Roman"/>
                <a:cs typeface="Times New Roman"/>
              </a:rPr>
              <a:t>Edition</a:t>
            </a:r>
            <a:r>
              <a:rPr sz="4000" i="1" spc="-9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0377" y="3567429"/>
            <a:ext cx="9113520" cy="17964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235" algn="l"/>
              </a:tabLst>
            </a:pPr>
            <a:r>
              <a:rPr sz="4000" spc="-5" dirty="0">
                <a:latin typeface="Times New Roman"/>
                <a:cs typeface="Times New Roman"/>
              </a:rPr>
              <a:t>Logic and</a:t>
            </a:r>
            <a:r>
              <a:rPr sz="4000" spc="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Computer</a:t>
            </a:r>
            <a:r>
              <a:rPr sz="400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Design</a:t>
            </a:r>
            <a:r>
              <a:rPr sz="4000" spc="10" dirty="0">
                <a:latin typeface="Times New Roman"/>
                <a:cs typeface="Times New Roman"/>
              </a:rPr>
              <a:t> </a:t>
            </a:r>
            <a:r>
              <a:rPr sz="4000" spc="-5" dirty="0">
                <a:latin typeface="Times New Roman"/>
                <a:cs typeface="Times New Roman"/>
              </a:rPr>
              <a:t>Fundamentals</a:t>
            </a:r>
            <a:endParaRPr sz="4000" dirty="0">
              <a:latin typeface="Times New Roman"/>
              <a:cs typeface="Times New Roman"/>
            </a:endParaRPr>
          </a:p>
          <a:p>
            <a:pPr marL="812800" marR="1770380" lvl="1" indent="-342900">
              <a:lnSpc>
                <a:spcPts val="4320"/>
              </a:lnSpc>
              <a:spcBef>
                <a:spcPts val="570"/>
              </a:spcBef>
              <a:buFont typeface="Arial MT"/>
              <a:buChar char="•"/>
              <a:tabLst>
                <a:tab pos="813435" algn="l"/>
              </a:tabLst>
            </a:pPr>
            <a:r>
              <a:rPr sz="4000" i="1" spc="-5" dirty="0">
                <a:latin typeface="Times New Roman"/>
                <a:cs typeface="Times New Roman"/>
              </a:rPr>
              <a:t>M. Morris</a:t>
            </a:r>
            <a:r>
              <a:rPr sz="4000" i="1" spc="1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Mano </a:t>
            </a:r>
            <a:r>
              <a:rPr sz="4000" i="1" dirty="0">
                <a:latin typeface="Times New Roman"/>
                <a:cs typeface="Times New Roman"/>
              </a:rPr>
              <a:t>and</a:t>
            </a:r>
            <a:r>
              <a:rPr sz="4000" i="1" spc="-15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C.R.</a:t>
            </a:r>
            <a:r>
              <a:rPr sz="4000" i="1" spc="2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Cime </a:t>
            </a:r>
            <a:r>
              <a:rPr sz="4000" i="1" spc="-985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(Pearson,2008)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1887982"/>
            <a:ext cx="216979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5"/>
              </a:spcBef>
              <a:buAutoNum type="alphaUcPeriod" startAt="4"/>
              <a:tabLst>
                <a:tab pos="319405" algn="l"/>
              </a:tabLst>
            </a:pPr>
            <a:r>
              <a:rPr sz="2000" spc="-20" dirty="0">
                <a:latin typeface="Times New Roman"/>
                <a:cs typeface="Times New Roman"/>
              </a:rPr>
              <a:t>Teaching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Strategy</a:t>
            </a:r>
          </a:p>
          <a:p>
            <a:pPr marL="309245" indent="-297180">
              <a:lnSpc>
                <a:spcPct val="100000"/>
              </a:lnSpc>
              <a:buAutoNum type="alphaUcPeriod" startAt="4"/>
              <a:tabLst>
                <a:tab pos="309880" algn="l"/>
              </a:tabLst>
            </a:pPr>
            <a:r>
              <a:rPr sz="2000" b="1" dirty="0">
                <a:latin typeface="Times New Roman"/>
                <a:cs typeface="Times New Roman"/>
              </a:rPr>
              <a:t>Recommended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latin typeface="Times New Roman"/>
                <a:cs typeface="Times New Roman"/>
              </a:rPr>
              <a:t>Textbooks</a:t>
            </a:r>
            <a:endParaRPr sz="2000" dirty="0">
              <a:latin typeface="Times New Roman"/>
              <a:cs typeface="Times New Roman"/>
            </a:endParaRPr>
          </a:p>
          <a:p>
            <a:pPr marL="12700" marR="269875">
              <a:lnSpc>
                <a:spcPct val="100000"/>
              </a:lnSpc>
              <a:buAutoNum type="alphaUcPeriod" startAt="6"/>
              <a:tabLst>
                <a:tab pos="262255" algn="l"/>
              </a:tabLst>
            </a:pP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grading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146535" y="6464680"/>
            <a:ext cx="1536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642365"/>
            <a:ext cx="8476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F.</a:t>
            </a:r>
            <a:r>
              <a:rPr spc="-15" dirty="0"/>
              <a:t> </a:t>
            </a:r>
            <a:r>
              <a:rPr dirty="0"/>
              <a:t>Module grading system</a:t>
            </a:r>
            <a:r>
              <a:rPr spc="-3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dirty="0"/>
              <a:t>UK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84635" y="6477380"/>
            <a:ext cx="7747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1964" y="1600200"/>
            <a:ext cx="6917436" cy="38925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-13919" y="1887982"/>
            <a:ext cx="203009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5740">
              <a:lnSpc>
                <a:spcPct val="100000"/>
              </a:lnSpc>
              <a:spcBef>
                <a:spcPts val="105"/>
              </a:spcBef>
              <a:buAutoNum type="alphaUcPeriod" startAt="5"/>
              <a:tabLst>
                <a:tab pos="295275" algn="l"/>
              </a:tabLst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ed  </a:t>
            </a:r>
            <a:r>
              <a:rPr sz="2000" spc="-15" dirty="0">
                <a:latin typeface="Times New Roman"/>
                <a:cs typeface="Times New Roman"/>
              </a:rPr>
              <a:t>Textbooks</a:t>
            </a:r>
            <a:endParaRPr sz="2000" dirty="0">
              <a:latin typeface="Times New Roman"/>
              <a:cs typeface="Times New Roman"/>
            </a:endParaRPr>
          </a:p>
          <a:p>
            <a:pPr marL="271145" indent="-259079">
              <a:lnSpc>
                <a:spcPct val="100000"/>
              </a:lnSpc>
              <a:buAutoNum type="alphaUcPeriod" startAt="5"/>
              <a:tabLst>
                <a:tab pos="271780" algn="l"/>
              </a:tabLst>
            </a:pPr>
            <a:r>
              <a:rPr sz="2000" b="1" dirty="0">
                <a:latin typeface="Times New Roman"/>
                <a:cs typeface="Times New Roman"/>
              </a:rPr>
              <a:t>Module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grading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system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UK</a:t>
            </a:r>
            <a:endParaRPr sz="2000" dirty="0">
              <a:latin typeface="Times New Roman"/>
              <a:cs typeface="Times New Roman"/>
            </a:endParaRPr>
          </a:p>
          <a:p>
            <a:pPr marL="309880" indent="-297180">
              <a:lnSpc>
                <a:spcPct val="100000"/>
              </a:lnSpc>
              <a:buAutoNum type="alphaUcPeriod" startAt="7"/>
              <a:tabLst>
                <a:tab pos="309880" algn="l"/>
              </a:tabLst>
            </a:pPr>
            <a:r>
              <a:rPr sz="2000" spc="5" dirty="0">
                <a:latin typeface="Times New Roman"/>
                <a:cs typeface="Times New Roman"/>
              </a:rPr>
              <a:t>Any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Questions?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4;g249310ac104_0_42">
            <a:extLst>
              <a:ext uri="{FF2B5EF4-FFF2-40B4-BE49-F238E27FC236}">
                <a16:creationId xmlns:a16="http://schemas.microsoft.com/office/drawing/2014/main" id="{2A71B0A0-28D9-25BC-A399-ECBBEE35C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2100" y="203850"/>
            <a:ext cx="678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2300" dirty="0"/>
              <a:t>Weekly Study Hour</a:t>
            </a:r>
            <a:endParaRPr sz="2300" dirty="0"/>
          </a:p>
        </p:txBody>
      </p:sp>
      <p:sp>
        <p:nvSpPr>
          <p:cNvPr id="6" name="Google Shape;197;g249310ac104_0_42">
            <a:extLst>
              <a:ext uri="{FF2B5EF4-FFF2-40B4-BE49-F238E27FC236}">
                <a16:creationId xmlns:a16="http://schemas.microsoft.com/office/drawing/2014/main" id="{D10E7551-BA14-2C29-670C-1ED2616BEA94}"/>
              </a:ext>
            </a:extLst>
          </p:cNvPr>
          <p:cNvSpPr/>
          <p:nvPr/>
        </p:nvSpPr>
        <p:spPr>
          <a:xfrm>
            <a:off x="1875599" y="1033275"/>
            <a:ext cx="6637275" cy="39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Google Shape;197;g249310ac104_0_42">
            <a:extLst>
              <a:ext uri="{FF2B5EF4-FFF2-40B4-BE49-F238E27FC236}">
                <a16:creationId xmlns:a16="http://schemas.microsoft.com/office/drawing/2014/main" id="{4D062E40-43C5-4732-8F1D-728B590D2066}"/>
              </a:ext>
            </a:extLst>
          </p:cNvPr>
          <p:cNvSpPr/>
          <p:nvPr/>
        </p:nvSpPr>
        <p:spPr>
          <a:xfrm>
            <a:off x="3124201" y="784240"/>
            <a:ext cx="8454848" cy="477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GB" sz="4000" b="1" dirty="0"/>
              <a:t>Credits Hours Breakdown</a:t>
            </a:r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Each of your module carries 20 Credits</a:t>
            </a:r>
          </a:p>
          <a:p>
            <a:pPr marL="0" indent="0"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400" i="1" dirty="0">
                <a:solidFill>
                  <a:schemeClr val="tx1"/>
                </a:solidFill>
              </a:rPr>
              <a:t>Total Learning Time: 2</a:t>
            </a:r>
            <a:r>
              <a:rPr lang="en-GB" sz="2400" dirty="0">
                <a:solidFill>
                  <a:schemeClr val="tx1"/>
                </a:solidFill>
              </a:rPr>
              <a:t>0 Credits x 10 hrs= 200 hrs. (Since 1 Credit = 10 Hours of Learning Hours)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400" i="1" dirty="0">
                <a:solidFill>
                  <a:schemeClr val="tx1"/>
                </a:solidFill>
              </a:rPr>
              <a:t>Guided Learning (Comprises of LTW sessions):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tx1"/>
                </a:solidFill>
              </a:rPr>
              <a:t>35% of Total Learning Hours (200 hrs.) = 70 Hours</a:t>
            </a:r>
          </a:p>
          <a:p>
            <a:pPr marL="0" indent="0"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400" i="1" dirty="0">
                <a:solidFill>
                  <a:schemeClr val="tx1"/>
                </a:solidFill>
              </a:rPr>
              <a:t>Unguided Learning (Comprises of self-studies and time taken for the assessments):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tx1"/>
                </a:solidFill>
              </a:rPr>
              <a:t>65% of Total Learning Hours (200 hrs.) = 130 Hours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US" sz="1200" dirty="0">
                <a:solidFill>
                  <a:srgbClr val="888888"/>
                </a:solidFill>
                <a:latin typeface="Calibri"/>
                <a:cs typeface="Calibri"/>
              </a:rPr>
              <a:t>                                                              						                    9</a:t>
            </a:r>
            <a:endParaRPr lang="en-US" sz="1200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B4D0E-CF6E-F633-9541-87C7B18B2241}"/>
              </a:ext>
            </a:extLst>
          </p:cNvPr>
          <p:cNvSpPr txBox="1"/>
          <p:nvPr/>
        </p:nvSpPr>
        <p:spPr>
          <a:xfrm>
            <a:off x="152400" y="2828835"/>
            <a:ext cx="228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800" dirty="0">
                <a:latin typeface="Times New Roman"/>
                <a:cs typeface="Times New Roman"/>
              </a:rPr>
              <a:t>G.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Classroom</a:t>
            </a:r>
            <a:r>
              <a:rPr lang="en-US" sz="1800" spc="-6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Code</a:t>
            </a:r>
          </a:p>
          <a:p>
            <a:pPr marL="12700">
              <a:lnSpc>
                <a:spcPct val="100000"/>
              </a:lnSpc>
            </a:pPr>
            <a:r>
              <a:rPr lang="en-US" sz="1800" b="1" dirty="0">
                <a:latin typeface="Times New Roman"/>
                <a:cs typeface="Times New Roman"/>
              </a:rPr>
              <a:t>H.</a:t>
            </a:r>
            <a:r>
              <a:rPr lang="en-US" sz="1800" b="1" spc="-130" dirty="0">
                <a:latin typeface="Times New Roman"/>
                <a:cs typeface="Times New Roman"/>
              </a:rPr>
              <a:t> </a:t>
            </a:r>
            <a:r>
              <a:rPr lang="en-US" b="1" spc="-130" dirty="0">
                <a:latin typeface="Times New Roman"/>
                <a:cs typeface="Times New Roman"/>
              </a:rPr>
              <a:t>Weekly Study our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800" dirty="0">
                <a:latin typeface="Times New Roman"/>
                <a:cs typeface="Times New Roman"/>
              </a:rPr>
              <a:t>1.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Lecture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248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746" y="1905000"/>
            <a:ext cx="10918507" cy="1429237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725930" marR="5080" indent="-1713230" algn="ctr">
              <a:lnSpc>
                <a:spcPts val="5190"/>
              </a:lnSpc>
              <a:spcBef>
                <a:spcPts val="745"/>
              </a:spcBef>
            </a:pPr>
            <a:r>
              <a:rPr spc="-10" dirty="0"/>
              <a:t>Lecture-1</a:t>
            </a:r>
            <a:r>
              <a:rPr spc="-50" dirty="0"/>
              <a:t> </a:t>
            </a:r>
            <a:br>
              <a:rPr lang="en-US" spc="-50" dirty="0"/>
            </a:br>
            <a:r>
              <a:rPr spc="-5" dirty="0"/>
              <a:t>Number</a:t>
            </a:r>
            <a:r>
              <a:rPr spc="-100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dirty="0"/>
              <a:t>Data</a:t>
            </a:r>
            <a:r>
              <a:rPr lang="en-US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9" name="Google Shape;76;p1">
            <a:extLst>
              <a:ext uri="{FF2B5EF4-FFF2-40B4-BE49-F238E27FC236}">
                <a16:creationId xmlns:a16="http://schemas.microsoft.com/office/drawing/2014/main" id="{2B8A30A1-7367-7F1C-8CF1-FD535CE177A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00" y="139146"/>
            <a:ext cx="2895600" cy="123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796E2-F179-CD6C-06AC-01C902B0C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2057" y="283286"/>
            <a:ext cx="31426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85" dirty="0"/>
              <a:t> </a:t>
            </a:r>
            <a:r>
              <a:rPr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2057" y="1097025"/>
            <a:ext cx="5624830" cy="12661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660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spc="-5" dirty="0">
                <a:latin typeface="Times New Roman"/>
                <a:cs typeface="Times New Roman"/>
              </a:rPr>
              <a:t>Representation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</a:t>
            </a:r>
            <a:endParaRPr sz="36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565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spc="-5" dirty="0">
                <a:latin typeface="Times New Roman"/>
                <a:cs typeface="Times New Roman"/>
              </a:rPr>
              <a:t>Base/Radix: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9257" y="2346401"/>
            <a:ext cx="3010535" cy="224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Decimal</a:t>
            </a:r>
            <a:endParaRPr sz="36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Binary</a:t>
            </a:r>
            <a:endParaRPr sz="36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Octal</a:t>
            </a:r>
            <a:endParaRPr sz="36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Hexadecimal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2057" y="4568135"/>
            <a:ext cx="6403975" cy="18878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660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Unsigned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Signed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</a:t>
            </a:r>
          </a:p>
          <a:p>
            <a:pPr marL="584200" indent="-571500">
              <a:lnSpc>
                <a:spcPct val="100000"/>
              </a:lnSpc>
              <a:spcBef>
                <a:spcPts val="565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spc="-95" dirty="0">
                <a:latin typeface="Times New Roman"/>
                <a:cs typeface="Times New Roman"/>
              </a:rPr>
              <a:t>Two’s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Complement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Subtraction</a:t>
            </a:r>
            <a:endParaRPr sz="3600" dirty="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spc="-5" dirty="0">
                <a:latin typeface="Times New Roman"/>
                <a:cs typeface="Times New Roman"/>
              </a:rPr>
              <a:t>Non-integer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-17576" y="2345182"/>
            <a:ext cx="13296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Lecture-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-17576" y="2649677"/>
            <a:ext cx="13271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2.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Overview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17576" y="2955163"/>
            <a:ext cx="2192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2.1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7259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2930" y="1563065"/>
            <a:ext cx="9272905" cy="11299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5"/>
              </a:spcBef>
            </a:pPr>
            <a:r>
              <a:rPr sz="3600" b="1" dirty="0">
                <a:latin typeface="Times New Roman"/>
                <a:cs typeface="Times New Roman"/>
              </a:rPr>
              <a:t>2.1.1 Analogue</a:t>
            </a:r>
            <a:endParaRPr lang="en-US" sz="3600" b="1" dirty="0"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  <a:spcBef>
                <a:spcPts val="535"/>
              </a:spcBef>
            </a:pP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5889" y="4573024"/>
            <a:ext cx="4170063" cy="18580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4980" y="6257035"/>
            <a:ext cx="171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6FF33"/>
                </a:solidFill>
                <a:latin typeface="Times New Roman"/>
                <a:cs typeface="Times New Roman"/>
              </a:rPr>
              <a:t>Pic</a:t>
            </a:r>
            <a:r>
              <a:rPr sz="1800" spc="-35" dirty="0">
                <a:solidFill>
                  <a:srgbClr val="66FF3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FF33"/>
                </a:solidFill>
                <a:latin typeface="Times New Roman"/>
                <a:cs typeface="Times New Roman"/>
              </a:rPr>
              <a:t>Ref:</a:t>
            </a:r>
            <a:r>
              <a:rPr sz="1800" spc="-40" dirty="0">
                <a:solidFill>
                  <a:srgbClr val="66FF3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FF33"/>
                </a:solidFill>
                <a:latin typeface="Times New Roman"/>
                <a:cs typeface="Times New Roman"/>
              </a:rPr>
              <a:t>bbc.co.uk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422" y="2497277"/>
            <a:ext cx="219265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Definitions</a:t>
            </a:r>
            <a:endParaRPr sz="2000">
              <a:latin typeface="Times New Roman"/>
              <a:cs typeface="Times New Roman"/>
            </a:endParaRPr>
          </a:p>
          <a:p>
            <a:pPr marL="569595" lvl="2" indent="-5575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70230" algn="l"/>
              </a:tabLst>
            </a:pPr>
            <a:r>
              <a:rPr sz="2000" b="1" dirty="0">
                <a:latin typeface="Times New Roman"/>
                <a:cs typeface="Times New Roman"/>
              </a:rPr>
              <a:t>Analogue</a:t>
            </a:r>
            <a:endParaRPr sz="2000">
              <a:latin typeface="Times New Roman"/>
              <a:cs typeface="Times New Roman"/>
            </a:endParaRPr>
          </a:p>
          <a:p>
            <a:pPr marL="583565" lvl="2" indent="-570865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dirty="0">
                <a:latin typeface="Times New Roman"/>
                <a:cs typeface="Times New Roman"/>
              </a:rPr>
              <a:t>Digital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21991" y="387553"/>
            <a:ext cx="60305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2.1</a:t>
            </a:r>
            <a:r>
              <a:rPr sz="5400" spc="-45" dirty="0"/>
              <a:t> </a:t>
            </a:r>
            <a:r>
              <a:rPr sz="5400" dirty="0"/>
              <a:t>Some</a:t>
            </a:r>
            <a:r>
              <a:rPr sz="5400" spc="-25" dirty="0"/>
              <a:t> </a:t>
            </a:r>
            <a:r>
              <a:rPr sz="5400" dirty="0"/>
              <a:t>Definitions</a:t>
            </a:r>
            <a:endParaRPr sz="5400"/>
          </a:p>
        </p:txBody>
      </p:sp>
      <p:sp>
        <p:nvSpPr>
          <p:cNvPr id="66" name="TextBox 19">
            <a:extLst>
              <a:ext uri="{FF2B5EF4-FFF2-40B4-BE49-F238E27FC236}">
                <a16:creationId xmlns:a16="http://schemas.microsoft.com/office/drawing/2014/main" id="{21DBD46C-EF05-FAA2-1B9C-9CF893AB8D68}"/>
              </a:ext>
            </a:extLst>
          </p:cNvPr>
          <p:cNvSpPr txBox="1"/>
          <p:nvPr/>
        </p:nvSpPr>
        <p:spPr>
          <a:xfrm>
            <a:off x="2362200" y="2261431"/>
            <a:ext cx="4811748" cy="545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47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Continuous signals</a:t>
            </a:r>
          </a:p>
        </p:txBody>
      </p:sp>
      <p:sp>
        <p:nvSpPr>
          <p:cNvPr id="67" name="TextBox 20">
            <a:extLst>
              <a:ext uri="{FF2B5EF4-FFF2-40B4-BE49-F238E27FC236}">
                <a16:creationId xmlns:a16="http://schemas.microsoft.com/office/drawing/2014/main" id="{6BCC70DD-DC28-29E5-6096-8D71C02A6312}"/>
              </a:ext>
            </a:extLst>
          </p:cNvPr>
          <p:cNvSpPr txBox="1"/>
          <p:nvPr/>
        </p:nvSpPr>
        <p:spPr>
          <a:xfrm>
            <a:off x="2438400" y="3069096"/>
            <a:ext cx="5785043" cy="545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ts val="47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Represented by sine waves</a:t>
            </a:r>
          </a:p>
        </p:txBody>
      </p:sp>
      <p:sp>
        <p:nvSpPr>
          <p:cNvPr id="68" name="TextBox 21">
            <a:extLst>
              <a:ext uri="{FF2B5EF4-FFF2-40B4-BE49-F238E27FC236}">
                <a16:creationId xmlns:a16="http://schemas.microsoft.com/office/drawing/2014/main" id="{DA09E907-B0C9-3345-983F-611305F05CD5}"/>
              </a:ext>
            </a:extLst>
          </p:cNvPr>
          <p:cNvSpPr txBox="1"/>
          <p:nvPr/>
        </p:nvSpPr>
        <p:spPr>
          <a:xfrm>
            <a:off x="3200400" y="3876761"/>
            <a:ext cx="7315200" cy="545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7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Human voice, sound, light are a few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6" grpId="0"/>
      <p:bldP spid="67" grpId="0"/>
      <p:bldP spid="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2519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13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1342" y="1165936"/>
            <a:ext cx="8132445" cy="56720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5"/>
              </a:spcBef>
            </a:pPr>
            <a:r>
              <a:rPr sz="3600" dirty="0"/>
              <a:t>2.1.2</a:t>
            </a:r>
            <a:r>
              <a:rPr sz="3600" spc="-5" dirty="0"/>
              <a:t> Digital</a:t>
            </a:r>
            <a:r>
              <a:rPr sz="3600" spc="5" dirty="0"/>
              <a:t> </a:t>
            </a:r>
            <a:r>
              <a:rPr sz="3600" b="0" dirty="0">
                <a:latin typeface="Times New Roman"/>
                <a:cs typeface="Times New Roman"/>
              </a:rPr>
              <a:t>–</a:t>
            </a:r>
            <a:r>
              <a:rPr sz="3600" b="0" spc="-10" dirty="0">
                <a:latin typeface="Times New Roman"/>
                <a:cs typeface="Times New Roman"/>
              </a:rPr>
              <a:t> 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4267200"/>
            <a:ext cx="4650295" cy="20566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90533" y="6368897"/>
            <a:ext cx="2013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6FF33"/>
                </a:solidFill>
                <a:latin typeface="Times New Roman"/>
                <a:cs typeface="Times New Roman"/>
              </a:rPr>
              <a:t>Pic</a:t>
            </a:r>
            <a:r>
              <a:rPr sz="1800" spc="-40" dirty="0">
                <a:solidFill>
                  <a:srgbClr val="66FF3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FF33"/>
                </a:solidFill>
                <a:latin typeface="Times New Roman"/>
                <a:cs typeface="Times New Roman"/>
              </a:rPr>
              <a:t>Ref:</a:t>
            </a:r>
            <a:r>
              <a:rPr sz="1800" spc="-40" dirty="0">
                <a:solidFill>
                  <a:srgbClr val="66FF3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FF33"/>
                </a:solidFill>
                <a:latin typeface="Times New Roman"/>
                <a:cs typeface="Times New Roman"/>
              </a:rPr>
              <a:t>answers.com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422" y="2497277"/>
            <a:ext cx="219265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lvl="1" indent="-3810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Definitions</a:t>
            </a:r>
            <a:endParaRPr sz="2000">
              <a:latin typeface="Times New Roman"/>
              <a:cs typeface="Times New Roman"/>
            </a:endParaRPr>
          </a:p>
          <a:p>
            <a:pPr marL="569595" lvl="2" indent="-5575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70230" algn="l"/>
              </a:tabLst>
            </a:pPr>
            <a:r>
              <a:rPr sz="2000" dirty="0">
                <a:latin typeface="Times New Roman"/>
                <a:cs typeface="Times New Roman"/>
              </a:rPr>
              <a:t>Analogue</a:t>
            </a:r>
            <a:endParaRPr sz="2000">
              <a:latin typeface="Times New Roman"/>
              <a:cs typeface="Times New Roman"/>
            </a:endParaRPr>
          </a:p>
          <a:p>
            <a:pPr marL="583565" lvl="2" indent="-570865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b="1" dirty="0">
                <a:latin typeface="Times New Roman"/>
                <a:cs typeface="Times New Roman"/>
              </a:rPr>
              <a:t>Digital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7973A1B-CB07-2589-8642-1FF95E3E57F5}"/>
              </a:ext>
            </a:extLst>
          </p:cNvPr>
          <p:cNvSpPr txBox="1"/>
          <p:nvPr/>
        </p:nvSpPr>
        <p:spPr>
          <a:xfrm>
            <a:off x="2798683" y="1752200"/>
            <a:ext cx="3144917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47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Discrete signals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36CCF7E-6B6F-BC04-4102-E0889377BF7B}"/>
              </a:ext>
            </a:extLst>
          </p:cNvPr>
          <p:cNvSpPr txBox="1"/>
          <p:nvPr/>
        </p:nvSpPr>
        <p:spPr>
          <a:xfrm>
            <a:off x="2298102" y="2514600"/>
            <a:ext cx="6160098" cy="545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47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Represented</a:t>
            </a:r>
            <a:r>
              <a:rPr lang="en-US" sz="2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by square waves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E2DBA34-7D1E-F641-0741-18BBAC4BB5FD}"/>
              </a:ext>
            </a:extLst>
          </p:cNvPr>
          <p:cNvSpPr txBox="1"/>
          <p:nvPr/>
        </p:nvSpPr>
        <p:spPr>
          <a:xfrm>
            <a:off x="3200400" y="3352800"/>
            <a:ext cx="4658678" cy="545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475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example</a:t>
            </a:r>
            <a:r>
              <a:rPr lang="en-US" sz="24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electricity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2519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2057" y="616712"/>
            <a:ext cx="5697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2.1.3</a:t>
            </a:r>
            <a:r>
              <a:rPr sz="4400" spc="-50" dirty="0"/>
              <a:t> </a:t>
            </a:r>
            <a:r>
              <a:rPr sz="4400" dirty="0"/>
              <a:t>Digital</a:t>
            </a:r>
            <a:r>
              <a:rPr sz="4400" spc="-20" dirty="0"/>
              <a:t> </a:t>
            </a:r>
            <a:r>
              <a:rPr sz="4400" spc="-10" dirty="0"/>
              <a:t>Electronics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742057" y="1339088"/>
            <a:ext cx="9227820" cy="49796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309245">
              <a:lnSpc>
                <a:spcPct val="90000"/>
              </a:lnSpc>
              <a:spcBef>
                <a:spcPts val="459"/>
              </a:spcBef>
            </a:pPr>
            <a:r>
              <a:rPr sz="3000" spc="-5" dirty="0">
                <a:latin typeface="Times New Roman"/>
                <a:cs typeface="Times New Roman"/>
              </a:rPr>
              <a:t>Digital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electronics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takes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different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values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(or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ranges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of 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values)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analogue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signals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represent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different,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discrete,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values.</a:t>
            </a:r>
            <a:endParaRPr sz="3000">
              <a:latin typeface="Times New Roman"/>
              <a:cs typeface="Times New Roman"/>
            </a:endParaRPr>
          </a:p>
          <a:p>
            <a:pPr marL="469900" marR="3003550" indent="-457200">
              <a:lnSpc>
                <a:spcPct val="103699"/>
              </a:lnSpc>
              <a:spcBef>
                <a:spcPts val="515"/>
              </a:spcBef>
            </a:pPr>
            <a:r>
              <a:rPr sz="3000" spc="-5" dirty="0">
                <a:latin typeface="Times New Roman"/>
                <a:cs typeface="Times New Roman"/>
              </a:rPr>
              <a:t>As</a:t>
            </a:r>
            <a:r>
              <a:rPr sz="3000" spc="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example,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consider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light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switch 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light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switch</a:t>
            </a:r>
            <a:r>
              <a:rPr sz="3000" dirty="0">
                <a:latin typeface="Times New Roman"/>
                <a:cs typeface="Times New Roman"/>
              </a:rPr>
              <a:t> only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has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two positions.</a:t>
            </a:r>
            <a:endParaRPr sz="3000">
              <a:latin typeface="Times New Roman"/>
              <a:cs typeface="Times New Roman"/>
            </a:endParaRPr>
          </a:p>
          <a:p>
            <a:pPr marL="469900" marR="158115">
              <a:lnSpc>
                <a:spcPts val="3240"/>
              </a:lnSpc>
              <a:spcBef>
                <a:spcPts val="555"/>
              </a:spcBef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Times New Roman"/>
                <a:cs typeface="Times New Roman"/>
              </a:rPr>
              <a:t>‘</a:t>
            </a:r>
            <a:r>
              <a:rPr sz="3000" spc="15" dirty="0">
                <a:solidFill>
                  <a:srgbClr val="FF0000"/>
                </a:solidFill>
                <a:latin typeface="Times New Roman"/>
                <a:cs typeface="Times New Roman"/>
              </a:rPr>
              <a:t>off</a:t>
            </a:r>
            <a:r>
              <a:rPr sz="3000" spc="15" dirty="0">
                <a:latin typeface="Times New Roman"/>
                <a:cs typeface="Times New Roman"/>
              </a:rPr>
              <a:t>’,</a:t>
            </a:r>
            <a:r>
              <a:rPr sz="3000" spc="-5" dirty="0">
                <a:latin typeface="Times New Roman"/>
                <a:cs typeface="Times New Roman"/>
              </a:rPr>
              <a:t> we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would measure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0</a:t>
            </a:r>
            <a:r>
              <a:rPr sz="3000" spc="-5" dirty="0">
                <a:latin typeface="Times New Roman"/>
                <a:cs typeface="Times New Roman"/>
              </a:rPr>
              <a:t> volts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 the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supply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light.</a:t>
            </a:r>
            <a:endParaRPr sz="3000">
              <a:latin typeface="Times New Roman"/>
              <a:cs typeface="Times New Roman"/>
            </a:endParaRPr>
          </a:p>
          <a:p>
            <a:pPr marL="469900" marR="966469">
              <a:lnSpc>
                <a:spcPts val="3240"/>
              </a:lnSpc>
              <a:spcBef>
                <a:spcPts val="500"/>
              </a:spcBef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 ‘</a:t>
            </a:r>
            <a:r>
              <a:rPr sz="3000" dirty="0">
                <a:solidFill>
                  <a:srgbClr val="006FC0"/>
                </a:solidFill>
                <a:latin typeface="Times New Roman"/>
                <a:cs typeface="Times New Roman"/>
              </a:rPr>
              <a:t>on</a:t>
            </a:r>
            <a:r>
              <a:rPr sz="3000" dirty="0">
                <a:latin typeface="Times New Roman"/>
                <a:cs typeface="Times New Roman"/>
              </a:rPr>
              <a:t>’,</a:t>
            </a:r>
            <a:r>
              <a:rPr sz="3000" spc="-5" dirty="0">
                <a:latin typeface="Times New Roman"/>
                <a:cs typeface="Times New Roman"/>
              </a:rPr>
              <a:t> we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would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measure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240</a:t>
            </a:r>
            <a:r>
              <a:rPr sz="3000" spc="-5" dirty="0">
                <a:latin typeface="Times New Roman"/>
                <a:cs typeface="Times New Roman"/>
              </a:rPr>
              <a:t> volts</a:t>
            </a:r>
            <a:r>
              <a:rPr sz="3000" dirty="0">
                <a:latin typeface="Times New Roman"/>
                <a:cs typeface="Times New Roman"/>
              </a:rPr>
              <a:t> at the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supply </a:t>
            </a:r>
            <a:r>
              <a:rPr sz="3000" dirty="0">
                <a:latin typeface="Times New Roman"/>
                <a:cs typeface="Times New Roman"/>
              </a:rPr>
              <a:t>to 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light.</a:t>
            </a:r>
            <a:endParaRPr sz="3000">
              <a:latin typeface="Times New Roman"/>
              <a:cs typeface="Times New Roman"/>
            </a:endParaRPr>
          </a:p>
          <a:p>
            <a:pPr marL="469900" marR="5080">
              <a:lnSpc>
                <a:spcPts val="3240"/>
              </a:lnSpc>
              <a:spcBef>
                <a:spcPts val="495"/>
              </a:spcBef>
            </a:pPr>
            <a:r>
              <a:rPr sz="3000" dirty="0">
                <a:latin typeface="Times New Roman"/>
                <a:cs typeface="Times New Roman"/>
              </a:rPr>
              <a:t>Thus, </a:t>
            </a:r>
            <a:r>
              <a:rPr sz="3000" spc="-5" dirty="0">
                <a:latin typeface="Times New Roman"/>
                <a:cs typeface="Times New Roman"/>
              </a:rPr>
              <a:t>w</a:t>
            </a:r>
            <a:r>
              <a:rPr sz="3000" dirty="0">
                <a:latin typeface="Times New Roman"/>
                <a:cs typeface="Times New Roman"/>
              </a:rPr>
              <a:t>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represent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‘</a:t>
            </a:r>
            <a:r>
              <a:rPr sz="3000" dirty="0">
                <a:solidFill>
                  <a:srgbClr val="006FC0"/>
                </a:solidFill>
                <a:latin typeface="Times New Roman"/>
                <a:cs typeface="Times New Roman"/>
              </a:rPr>
              <a:t>on</a:t>
            </a:r>
            <a:r>
              <a:rPr sz="3000" dirty="0">
                <a:latin typeface="Times New Roman"/>
                <a:cs typeface="Times New Roman"/>
              </a:rPr>
              <a:t>’</a:t>
            </a:r>
            <a:r>
              <a:rPr sz="3000" spc="-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‘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3000" spc="16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3000" dirty="0">
                <a:latin typeface="Times New Roman"/>
                <a:cs typeface="Times New Roman"/>
              </a:rPr>
              <a:t>’, 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r ‘0’</a:t>
            </a:r>
            <a:r>
              <a:rPr sz="3000" spc="-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‘1’, </a:t>
            </a:r>
            <a:r>
              <a:rPr sz="3000" spc="5" dirty="0">
                <a:latin typeface="Times New Roman"/>
                <a:cs typeface="Times New Roman"/>
              </a:rPr>
              <a:t>w</a:t>
            </a:r>
            <a:r>
              <a:rPr sz="3000" dirty="0">
                <a:latin typeface="Times New Roman"/>
                <a:cs typeface="Times New Roman"/>
              </a:rPr>
              <a:t>i</a:t>
            </a:r>
            <a:r>
              <a:rPr sz="3000" spc="-1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h  two a</a:t>
            </a:r>
            <a:r>
              <a:rPr sz="3000" spc="-10" dirty="0">
                <a:latin typeface="Times New Roman"/>
                <a:cs typeface="Times New Roman"/>
              </a:rPr>
              <a:t>r</a:t>
            </a:r>
            <a:r>
              <a:rPr sz="3000" dirty="0">
                <a:latin typeface="Times New Roman"/>
                <a:cs typeface="Times New Roman"/>
              </a:rPr>
              <a:t>bi</a:t>
            </a:r>
            <a:r>
              <a:rPr sz="3000" spc="-1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rary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analogue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values;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‘0’</a:t>
            </a:r>
            <a:r>
              <a:rPr sz="3000" spc="-2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 ‘240’</a:t>
            </a:r>
            <a:r>
              <a:rPr sz="3000" spc="-22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(In the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US</a:t>
            </a:r>
            <a:r>
              <a:rPr sz="3000" spc="5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,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9257" y="6247282"/>
            <a:ext cx="3571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 ‘0’</a:t>
            </a:r>
            <a:r>
              <a:rPr sz="3000" spc="-2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‘</a:t>
            </a:r>
            <a:r>
              <a:rPr sz="3000" spc="-114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Times New Roman"/>
                <a:cs typeface="Times New Roman"/>
              </a:rPr>
              <a:t>10’).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27" y="2453385"/>
            <a:ext cx="27276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lvl="1" indent="-3441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6870" algn="l"/>
              </a:tabLst>
            </a:pPr>
            <a:r>
              <a:rPr sz="1800" spc="-5" dirty="0">
                <a:latin typeface="Times New Roman"/>
                <a:cs typeface="Times New Roman"/>
              </a:rPr>
              <a:t>Some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Definitions</a:t>
            </a:r>
          </a:p>
          <a:p>
            <a:pPr marL="514350" lvl="2" indent="-502284">
              <a:lnSpc>
                <a:spcPct val="100000"/>
              </a:lnSpc>
              <a:buAutoNum type="arabicPeriod"/>
              <a:tabLst>
                <a:tab pos="514984" algn="l"/>
              </a:tabLst>
            </a:pPr>
            <a:r>
              <a:rPr sz="1800" dirty="0">
                <a:latin typeface="Times New Roman"/>
                <a:cs typeface="Times New Roman"/>
              </a:rPr>
              <a:t>Analogue</a:t>
            </a:r>
          </a:p>
          <a:p>
            <a:pPr marL="526415" lvl="2" indent="-514350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Digital</a:t>
            </a:r>
          </a:p>
          <a:p>
            <a:pPr marL="526415" lvl="2" indent="-514350">
              <a:lnSpc>
                <a:spcPct val="100000"/>
              </a:lnSpc>
              <a:buAutoNum type="arabicPeriod"/>
              <a:tabLst>
                <a:tab pos="527050" algn="l"/>
              </a:tabLst>
            </a:pPr>
            <a:r>
              <a:rPr sz="1800" b="1" dirty="0">
                <a:latin typeface="Times New Roman"/>
                <a:cs typeface="Times New Roman"/>
              </a:rPr>
              <a:t>Digital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Electronics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0189" y="617179"/>
            <a:ext cx="4892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/>
              <a:t>2.2	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6801" y="1391371"/>
            <a:ext cx="8419465" cy="15621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584200" marR="5080" indent="-571500">
              <a:lnSpc>
                <a:spcPts val="3890"/>
              </a:lnSpc>
              <a:spcBef>
                <a:spcPts val="585"/>
              </a:spcBef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spc="-5" dirty="0">
                <a:latin typeface="Times New Roman"/>
                <a:cs typeface="Times New Roman"/>
              </a:rPr>
              <a:t>All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information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when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stored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computer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system, </a:t>
            </a:r>
            <a:r>
              <a:rPr sz="3600" dirty="0">
                <a:latin typeface="Times New Roman"/>
                <a:cs typeface="Times New Roman"/>
              </a:rPr>
              <a:t>must use some form of </a:t>
            </a:r>
            <a:r>
              <a:rPr sz="3600" spc="-5" dirty="0">
                <a:latin typeface="Times New Roman"/>
                <a:cs typeface="Times New Roman"/>
              </a:rPr>
              <a:t>internal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representation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1202" y="3556924"/>
            <a:ext cx="7174230" cy="168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584200" algn="l"/>
                <a:tab pos="584835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program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executed.</a:t>
            </a:r>
            <a:endParaRPr sz="3600">
              <a:latin typeface="Times New Roman"/>
              <a:cs typeface="Times New Roman"/>
            </a:endParaRPr>
          </a:p>
          <a:p>
            <a:pPr marL="584200" indent="-572135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584200" algn="l"/>
                <a:tab pos="584835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numerical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data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processed.</a:t>
            </a:r>
            <a:endParaRPr sz="3600">
              <a:latin typeface="Times New Roman"/>
              <a:cs typeface="Times New Roman"/>
            </a:endParaRPr>
          </a:p>
          <a:p>
            <a:pPr marL="584200" indent="-572135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584200" algn="l"/>
                <a:tab pos="584835" algn="l"/>
                <a:tab pos="3924300" algn="l"/>
              </a:tabLst>
            </a:pPr>
            <a:r>
              <a:rPr sz="3600" dirty="0">
                <a:latin typeface="Times New Roman"/>
                <a:cs typeface="Times New Roman"/>
              </a:rPr>
              <a:t>Charac</a:t>
            </a:r>
            <a:r>
              <a:rPr sz="3600" spc="-15" dirty="0">
                <a:latin typeface="Times New Roman"/>
                <a:cs typeface="Times New Roman"/>
              </a:rPr>
              <a:t>t</a:t>
            </a:r>
            <a:r>
              <a:rPr sz="3600" dirty="0">
                <a:latin typeface="Times New Roman"/>
                <a:cs typeface="Times New Roman"/>
              </a:rPr>
              <a:t>er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strings</a:t>
            </a:r>
            <a:r>
              <a:rPr sz="3600" dirty="0">
                <a:latin typeface="Times New Roman"/>
                <a:cs typeface="Times New Roman"/>
              </a:rPr>
              <a:t>	(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A....Z etc. ).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17576" y="2712628"/>
            <a:ext cx="205676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2.2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7119" y="6510655"/>
            <a:ext cx="2286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15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7576" y="3018114"/>
            <a:ext cx="171958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5"/>
              </a:spcBef>
            </a:pPr>
            <a:r>
              <a:rPr lang="en-US" sz="2000" dirty="0">
                <a:latin typeface="Times New Roman"/>
                <a:cs typeface="Times New Roman"/>
              </a:rPr>
              <a:t>2.3 Radix or Base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19409" y="6431076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6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7805" y="533400"/>
            <a:ext cx="53955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lang="en-US" dirty="0"/>
              <a:t>3</a:t>
            </a:r>
            <a:r>
              <a:rPr spc="-30" dirty="0"/>
              <a:t> </a:t>
            </a:r>
            <a:r>
              <a:rPr dirty="0"/>
              <a:t>RADIX</a:t>
            </a:r>
            <a:r>
              <a:rPr spc="-65" dirty="0"/>
              <a:t> </a:t>
            </a:r>
            <a:r>
              <a:rPr dirty="0"/>
              <a:t>or</a:t>
            </a:r>
            <a:r>
              <a:rPr spc="-110" dirty="0"/>
              <a:t> </a:t>
            </a:r>
            <a:r>
              <a:rPr spc="-5" dirty="0"/>
              <a:t>BASE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2194" y="1506728"/>
            <a:ext cx="8886190" cy="32962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584200" marR="5080" indent="-571500">
              <a:lnSpc>
                <a:spcPct val="90000"/>
              </a:lnSpc>
              <a:spcBef>
                <a:spcPts val="530"/>
              </a:spcBef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any</a:t>
            </a:r>
            <a:r>
              <a:rPr sz="3600" spc="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</a:t>
            </a:r>
            <a:r>
              <a:rPr sz="3600" spc="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scheme</a:t>
            </a:r>
            <a:r>
              <a:rPr sz="3600" spc="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base</a:t>
            </a:r>
            <a:r>
              <a:rPr sz="3600" spc="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value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defines 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unique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symbols.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Decimal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scheme we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 the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symbols: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0,1,2,3,4,5,6,7,8,9.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buFont typeface="Arial MT"/>
              <a:buChar char="•"/>
              <a:tabLst>
                <a:tab pos="583565" algn="l"/>
                <a:tab pos="58420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highest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BASE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–1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6794" y="5399037"/>
            <a:ext cx="6784975" cy="126746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609600" indent="-5715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608965" algn="l"/>
                <a:tab pos="609600" algn="l"/>
              </a:tabLst>
            </a:pPr>
            <a:r>
              <a:rPr sz="3600" dirty="0">
                <a:latin typeface="Times New Roman"/>
                <a:cs typeface="Times New Roman"/>
              </a:rPr>
              <a:t>All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values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UNIQUE</a:t>
            </a:r>
            <a:r>
              <a:rPr sz="3600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609600" indent="-57150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608965" algn="l"/>
                <a:tab pos="609600" algn="l"/>
              </a:tabLst>
            </a:pPr>
            <a:r>
              <a:rPr sz="3600" dirty="0">
                <a:latin typeface="Times New Roman"/>
                <a:cs typeface="Times New Roman"/>
              </a:rPr>
              <a:t>Example: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70" dirty="0">
                <a:latin typeface="Times New Roman"/>
                <a:cs typeface="Times New Roman"/>
              </a:rPr>
              <a:t>11</a:t>
            </a:r>
            <a:r>
              <a:rPr sz="3600" spc="-104" baseline="-20833" dirty="0">
                <a:latin typeface="Times New Roman"/>
                <a:cs typeface="Times New Roman"/>
              </a:rPr>
              <a:t>10</a:t>
            </a:r>
            <a:endParaRPr sz="3600" baseline="-208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7577" y="2802763"/>
            <a:ext cx="2608121" cy="21935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lvl="1">
              <a:lnSpc>
                <a:spcPct val="100000"/>
              </a:lnSpc>
              <a:spcBef>
                <a:spcPts val="105"/>
              </a:spcBef>
              <a:tabLst>
                <a:tab pos="38925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2.4The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Decimal</a:t>
            </a:r>
            <a:endParaRPr lang="en-US" sz="200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5"/>
              </a:spcBef>
            </a:pPr>
            <a:r>
              <a:rPr lang="en-US" sz="2000" dirty="0">
                <a:latin typeface="Times New Roman"/>
                <a:cs typeface="Times New Roman"/>
              </a:rPr>
              <a:t>System</a:t>
            </a:r>
          </a:p>
          <a:p>
            <a:pPr marL="12065">
              <a:lnSpc>
                <a:spcPct val="100000"/>
              </a:lnSpc>
              <a:spcBef>
                <a:spcPts val="5"/>
              </a:spcBef>
            </a:pPr>
            <a:r>
              <a:rPr lang="en-US" sz="2000" dirty="0">
                <a:latin typeface="Times New Roman"/>
                <a:cs typeface="Times New Roman"/>
              </a:rPr>
              <a:t>2.5 Binary</a:t>
            </a:r>
          </a:p>
          <a:p>
            <a:pPr marL="12065">
              <a:lnSpc>
                <a:spcPct val="100000"/>
              </a:lnSpc>
              <a:spcBef>
                <a:spcPts val="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17576" y="2523998"/>
            <a:ext cx="22688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2.</a:t>
            </a:r>
            <a:r>
              <a:rPr lang="en-US" sz="2000" b="1" dirty="0">
                <a:latin typeface="Times New Roman"/>
                <a:cs typeface="Times New Roman"/>
              </a:rPr>
              <a:t>3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RADIX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365" y="643839"/>
            <a:ext cx="62490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2.3</a:t>
            </a:r>
            <a:r>
              <a:rPr spc="-10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Decimal</a:t>
            </a:r>
            <a:r>
              <a:rPr spc="-25" dirty="0"/>
              <a:t> </a:t>
            </a:r>
            <a:r>
              <a:rPr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700" y="1420964"/>
            <a:ext cx="9359900" cy="41179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596900" indent="-572135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596900" algn="l"/>
                <a:tab pos="597535" algn="l"/>
              </a:tabLst>
            </a:pPr>
            <a:r>
              <a:rPr sz="3600" dirty="0">
                <a:latin typeface="Times New Roman"/>
                <a:cs typeface="Times New Roman"/>
              </a:rPr>
              <a:t>What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Decimal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70" dirty="0">
                <a:latin typeface="Times New Roman"/>
                <a:cs typeface="Times New Roman"/>
              </a:rPr>
              <a:t>Value?</a:t>
            </a:r>
            <a:endParaRPr sz="3600" dirty="0">
              <a:latin typeface="Times New Roman"/>
              <a:cs typeface="Times New Roman"/>
            </a:endParaRPr>
          </a:p>
          <a:p>
            <a:pPr marL="596900" indent="-572135">
              <a:lnSpc>
                <a:spcPct val="100000"/>
              </a:lnSpc>
              <a:spcBef>
                <a:spcPts val="565"/>
              </a:spcBef>
              <a:buFont typeface="Wingdings"/>
              <a:buChar char=""/>
              <a:tabLst>
                <a:tab pos="596900" algn="l"/>
                <a:tab pos="597535" algn="l"/>
              </a:tabLst>
            </a:pPr>
            <a:r>
              <a:rPr sz="3600" dirty="0">
                <a:latin typeface="Times New Roman"/>
                <a:cs typeface="Times New Roman"/>
              </a:rPr>
              <a:t>What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does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331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really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mean?</a:t>
            </a:r>
          </a:p>
          <a:p>
            <a:pPr marL="596900" indent="-572135">
              <a:lnSpc>
                <a:spcPct val="100000"/>
              </a:lnSpc>
              <a:spcBef>
                <a:spcPts val="565"/>
              </a:spcBef>
              <a:buFont typeface="Wingdings"/>
              <a:buChar char=""/>
              <a:tabLst>
                <a:tab pos="596900" algn="l"/>
                <a:tab pos="597535" algn="l"/>
              </a:tabLst>
            </a:pPr>
            <a:r>
              <a:rPr sz="3600" b="1" dirty="0">
                <a:latin typeface="Times New Roman"/>
                <a:cs typeface="Times New Roman"/>
              </a:rPr>
              <a:t>The</a:t>
            </a:r>
            <a:r>
              <a:rPr sz="3600" b="1" spc="-5" dirty="0">
                <a:latin typeface="Times New Roman"/>
                <a:cs typeface="Times New Roman"/>
              </a:rPr>
              <a:t> position</a:t>
            </a:r>
            <a:r>
              <a:rPr sz="3600" b="1" dirty="0">
                <a:latin typeface="Times New Roman"/>
                <a:cs typeface="Times New Roman"/>
              </a:rPr>
              <a:t> of </a:t>
            </a: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5" dirty="0">
                <a:latin typeface="Times New Roman"/>
                <a:cs typeface="Times New Roman"/>
              </a:rPr>
              <a:t> digit </a:t>
            </a:r>
            <a:r>
              <a:rPr sz="3600" dirty="0">
                <a:latin typeface="Times New Roman"/>
                <a:cs typeface="Times New Roman"/>
              </a:rPr>
              <a:t>is assigned 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weight.</a:t>
            </a:r>
            <a:endParaRPr sz="3600" dirty="0">
              <a:latin typeface="Times New Roman"/>
              <a:cs typeface="Times New Roman"/>
            </a:endParaRPr>
          </a:p>
          <a:p>
            <a:pPr marL="596900" marR="17780" indent="-572135">
              <a:lnSpc>
                <a:spcPts val="3890"/>
              </a:lnSpc>
              <a:spcBef>
                <a:spcPts val="1065"/>
              </a:spcBef>
              <a:buFont typeface="Wingdings"/>
              <a:buChar char=""/>
              <a:tabLst>
                <a:tab pos="596900" algn="l"/>
                <a:tab pos="597535" algn="l"/>
              </a:tabLst>
            </a:pPr>
            <a:r>
              <a:rPr sz="3600" b="1" dirty="0">
                <a:latin typeface="Times New Roman"/>
                <a:cs typeface="Times New Roman"/>
              </a:rPr>
              <a:t>Decimal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Scheme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right-most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digit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has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weight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10</a:t>
            </a:r>
            <a:r>
              <a:rPr sz="3600" baseline="25462" dirty="0">
                <a:latin typeface="Times New Roman"/>
                <a:cs typeface="Times New Roman"/>
              </a:rPr>
              <a:t>0</a:t>
            </a:r>
            <a:r>
              <a:rPr sz="3600" spc="450" baseline="25462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 1.</a:t>
            </a:r>
          </a:p>
          <a:p>
            <a:pPr marL="596900" marR="127000" indent="-572135">
              <a:lnSpc>
                <a:spcPts val="3890"/>
              </a:lnSpc>
              <a:spcBef>
                <a:spcPts val="990"/>
              </a:spcBef>
              <a:buFont typeface="Wingdings"/>
              <a:buChar char=""/>
              <a:tabLst>
                <a:tab pos="596900" algn="l"/>
                <a:tab pos="597535" algn="l"/>
              </a:tabLst>
            </a:pPr>
            <a:r>
              <a:rPr sz="3600" b="1" spc="-25" dirty="0">
                <a:latin typeface="Times New Roman"/>
                <a:cs typeface="Times New Roman"/>
              </a:rPr>
              <a:t>Weighting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increases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5" dirty="0">
                <a:latin typeface="Times New Roman"/>
                <a:cs typeface="Times New Roman"/>
              </a:rPr>
              <a:t> factor</a:t>
            </a:r>
            <a:r>
              <a:rPr sz="3600" dirty="0">
                <a:latin typeface="Times New Roman"/>
                <a:cs typeface="Times New Roman"/>
              </a:rPr>
              <a:t> of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10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each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new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</a:t>
            </a:r>
            <a:r>
              <a:rPr sz="3600" spc="-5" dirty="0">
                <a:latin typeface="Times New Roman"/>
                <a:cs typeface="Times New Roman"/>
              </a:rPr>
              <a:t> as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position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moves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left.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17576" y="2497277"/>
            <a:ext cx="17799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2.3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47119" y="6447704"/>
            <a:ext cx="2286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17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17576" y="2802763"/>
            <a:ext cx="803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2000" b="1" spc="5" dirty="0">
                <a:latin typeface="Times New Roman"/>
                <a:cs typeface="Times New Roman"/>
              </a:rPr>
              <a:t>y</a:t>
            </a:r>
            <a:r>
              <a:rPr sz="2000" b="1" dirty="0">
                <a:latin typeface="Times New Roman"/>
                <a:cs typeface="Times New Roman"/>
              </a:rPr>
              <a:t>stem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7576" y="3107563"/>
            <a:ext cx="1455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2.3.1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17576" y="3412363"/>
            <a:ext cx="927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Example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0204" y="6649721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4690" y="897814"/>
            <a:ext cx="59855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  <a:tab pos="3669029" algn="l"/>
              </a:tabLst>
            </a:pPr>
            <a:r>
              <a:rPr dirty="0"/>
              <a:t>2.3.1	Decimal	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34690" y="1858011"/>
            <a:ext cx="5104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Again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taking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value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331: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4690" y="5254651"/>
            <a:ext cx="3897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latin typeface="Times New Roman"/>
                <a:cs typeface="Times New Roman"/>
              </a:rPr>
              <a:t>Value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300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30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+1.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525267"/>
              </p:ext>
            </p:extLst>
          </p:nvPr>
        </p:nvGraphicFramePr>
        <p:xfrm>
          <a:off x="3628264" y="2794659"/>
          <a:ext cx="5240654" cy="2091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281">
                <a:tc>
                  <a:txBody>
                    <a:bodyPr/>
                    <a:lstStyle/>
                    <a:p>
                      <a:pPr marR="504190" algn="ctr">
                        <a:lnSpc>
                          <a:spcPts val="262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2400" b="1" spc="-7" baseline="24305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24305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ts val="262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2400" b="1" spc="-7" baseline="24305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24305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930" algn="ctr">
                        <a:lnSpc>
                          <a:spcPts val="262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2400" b="1" spc="-7" baseline="24305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24305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63">
                <a:tc>
                  <a:txBody>
                    <a:bodyPr/>
                    <a:lstStyle/>
                    <a:p>
                      <a:pPr marR="50165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solidFill>
                            <a:srgbClr val="0462C1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solidFill>
                            <a:srgbClr val="0462C1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L="58547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solidFill>
                            <a:srgbClr val="0462C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89">
                <a:tc>
                  <a:txBody>
                    <a:bodyPr/>
                    <a:lstStyle/>
                    <a:p>
                      <a:pPr marR="502284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2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R="673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2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L="58547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2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92">
                <a:tc>
                  <a:txBody>
                    <a:bodyPr/>
                    <a:lstStyle/>
                    <a:p>
                      <a:pPr marR="502284" algn="ctr">
                        <a:lnSpc>
                          <a:spcPts val="282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ts val="282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 marL="585470" algn="ctr">
                        <a:lnSpc>
                          <a:spcPts val="2820"/>
                        </a:lnSpc>
                        <a:spcBef>
                          <a:spcPts val="7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09220" y="2515363"/>
            <a:ext cx="1719580" cy="18729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lvl="1">
              <a:lnSpc>
                <a:spcPct val="100000"/>
              </a:lnSpc>
              <a:spcBef>
                <a:spcPts val="105"/>
              </a:spcBef>
              <a:tabLst>
                <a:tab pos="38925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2.3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System</a:t>
            </a:r>
          </a:p>
          <a:p>
            <a:pPr marL="12065" marR="237490" lvl="2">
              <a:lnSpc>
                <a:spcPct val="100000"/>
              </a:lnSpc>
              <a:tabLst>
                <a:tab pos="583565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2.3.1 </a:t>
            </a:r>
            <a:r>
              <a:rPr sz="2000" b="1" dirty="0">
                <a:latin typeface="Times New Roman"/>
                <a:cs typeface="Times New Roman"/>
              </a:rPr>
              <a:t>Decimal  Example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1430" lvl="1">
              <a:lnSpc>
                <a:spcPct val="100000"/>
              </a:lnSpc>
              <a:spcBef>
                <a:spcPts val="105"/>
              </a:spcBef>
              <a:tabLst>
                <a:tab pos="38925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2.4 The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Binary</a:t>
            </a:r>
            <a:endParaRPr lang="en-US" sz="2000" dirty="0">
              <a:latin typeface="Times New Roman"/>
              <a:cs typeface="Times New Roman"/>
            </a:endParaRPr>
          </a:p>
          <a:p>
            <a:pPr marL="12065" marR="237490" lvl="2">
              <a:lnSpc>
                <a:spcPct val="100000"/>
              </a:lnSpc>
              <a:tabLst>
                <a:tab pos="58356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7845" y="1747393"/>
            <a:ext cx="8894445" cy="495173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68300" marR="25400" indent="-342900">
              <a:lnSpc>
                <a:spcPts val="3890"/>
              </a:lnSpc>
              <a:spcBef>
                <a:spcPts val="585"/>
              </a:spcBef>
              <a:buFont typeface="Arial MT"/>
              <a:buChar char="•"/>
              <a:tabLst>
                <a:tab pos="368300" algn="l"/>
              </a:tabLst>
            </a:pPr>
            <a:r>
              <a:rPr sz="3600" dirty="0">
                <a:latin typeface="Times New Roman"/>
                <a:cs typeface="Times New Roman"/>
              </a:rPr>
              <a:t>Binary number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follows similar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rules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decimal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system.</a:t>
            </a:r>
          </a:p>
          <a:p>
            <a:pPr marL="825500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latin typeface="Times New Roman"/>
                <a:cs typeface="Times New Roman"/>
              </a:rPr>
              <a:t>Except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base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b="1" dirty="0">
                <a:latin typeface="Times New Roman"/>
                <a:cs typeface="Times New Roman"/>
              </a:rPr>
              <a:t>2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not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10</a:t>
            </a:r>
            <a:r>
              <a:rPr sz="3600" dirty="0">
                <a:latin typeface="Times New Roman"/>
                <a:cs typeface="Times New Roman"/>
              </a:rPr>
              <a:t>.</a:t>
            </a: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68300" algn="l"/>
              </a:tabLst>
            </a:pP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BASE</a:t>
            </a:r>
            <a:r>
              <a:rPr sz="3600" b="1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rules:</a:t>
            </a:r>
          </a:p>
          <a:p>
            <a:pPr marL="482600" marR="1322070">
              <a:lnSpc>
                <a:spcPts val="4390"/>
              </a:lnSpc>
              <a:spcBef>
                <a:spcPts val="150"/>
              </a:spcBef>
            </a:pPr>
            <a:r>
              <a:rPr sz="3600" dirty="0">
                <a:latin typeface="Times New Roman"/>
                <a:cs typeface="Times New Roman"/>
              </a:rPr>
              <a:t>Symbols: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0,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(all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unique)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Highest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BASE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-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1</a:t>
            </a:r>
            <a:r>
              <a:rPr sz="3600" dirty="0">
                <a:latin typeface="Times New Roman"/>
                <a:cs typeface="Times New Roman"/>
              </a:rPr>
              <a:t>.</a:t>
            </a:r>
          </a:p>
          <a:p>
            <a:pPr marL="482600">
              <a:lnSpc>
                <a:spcPts val="4240"/>
              </a:lnSpc>
            </a:pPr>
            <a:r>
              <a:rPr sz="3600" dirty="0">
                <a:latin typeface="Times New Roman"/>
                <a:cs typeface="Times New Roman"/>
              </a:rPr>
              <a:t>BASE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this is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95" dirty="0">
                <a:latin typeface="Times New Roman"/>
                <a:cs typeface="Times New Roman"/>
              </a:rPr>
              <a:t>BINARY.</a:t>
            </a:r>
            <a:endParaRPr sz="3600" dirty="0">
              <a:latin typeface="Times New Roman"/>
              <a:cs typeface="Times New Roman"/>
            </a:endParaRPr>
          </a:p>
          <a:p>
            <a:pPr marL="368300" indent="-3429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68300" algn="l"/>
              </a:tabLst>
            </a:pPr>
            <a:r>
              <a:rPr sz="3600" dirty="0">
                <a:latin typeface="Times New Roman"/>
                <a:cs typeface="Times New Roman"/>
              </a:rPr>
              <a:t>Example: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11</a:t>
            </a:r>
            <a:r>
              <a:rPr sz="3600" spc="-75" baseline="-20833" dirty="0">
                <a:latin typeface="Times New Roman"/>
                <a:cs typeface="Times New Roman"/>
              </a:rPr>
              <a:t>2</a:t>
            </a:r>
            <a:endParaRPr sz="3600" baseline="-20833" dirty="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81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r>
              <a:rPr lang="en-US" sz="1200" dirty="0">
                <a:solidFill>
                  <a:srgbClr val="888888"/>
                </a:solidFill>
                <a:latin typeface="Times New Roman"/>
                <a:cs typeface="Times New Roman"/>
              </a:rPr>
              <a:t>9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5927" y="838200"/>
            <a:ext cx="273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/>
              <a:t>2.4	Binary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290" y="3081605"/>
            <a:ext cx="2277110" cy="9496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lvl="1">
              <a:lnSpc>
                <a:spcPct val="100000"/>
              </a:lnSpc>
              <a:spcBef>
                <a:spcPts val="105"/>
              </a:spcBef>
              <a:tabLst>
                <a:tab pos="38925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2.3.1 </a:t>
            </a:r>
            <a:r>
              <a:rPr lang="en-US" sz="2000" spc="-5" dirty="0">
                <a:latin typeface="Times New Roman"/>
                <a:cs typeface="Times New Roman"/>
              </a:rPr>
              <a:t>Decimal example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2.4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422" y="304800"/>
            <a:ext cx="10212578" cy="763671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  <a:tabLst>
                <a:tab pos="1779905" algn="l"/>
              </a:tabLst>
            </a:pPr>
            <a:r>
              <a:rPr sz="4400" dirty="0"/>
              <a:t>3.</a:t>
            </a:r>
            <a:r>
              <a:rPr sz="4400" spc="-85" dirty="0"/>
              <a:t> </a:t>
            </a:r>
            <a:r>
              <a:rPr sz="4400" dirty="0"/>
              <a:t>The	Binary</a:t>
            </a:r>
            <a:r>
              <a:rPr sz="4400" spc="-20" dirty="0"/>
              <a:t> </a:t>
            </a:r>
            <a:r>
              <a:rPr sz="4400" spc="-10" dirty="0"/>
              <a:t>Representation </a:t>
            </a:r>
            <a:r>
              <a:rPr sz="4400" spc="-1185" dirty="0"/>
              <a:t> </a:t>
            </a:r>
            <a:r>
              <a:rPr sz="4400" dirty="0"/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3923" y="6177102"/>
            <a:ext cx="632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b="1" spc="-5" dirty="0">
                <a:latin typeface="Times New Roman"/>
                <a:cs typeface="Times New Roman"/>
              </a:rPr>
              <a:t>Can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you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tell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what this </a:t>
            </a:r>
            <a:r>
              <a:rPr sz="3600" b="1" dirty="0">
                <a:latin typeface="Times New Roman"/>
                <a:cs typeface="Times New Roman"/>
              </a:rPr>
              <a:t>value</a:t>
            </a:r>
            <a:r>
              <a:rPr sz="3600" b="1" spc="-5" dirty="0">
                <a:latin typeface="Times New Roman"/>
                <a:cs typeface="Times New Roman"/>
              </a:rPr>
              <a:t> is?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4211" y="6468795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09830"/>
              </p:ext>
            </p:extLst>
          </p:nvPr>
        </p:nvGraphicFramePr>
        <p:xfrm>
          <a:off x="2545460" y="2545533"/>
          <a:ext cx="8240393" cy="23484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4625">
                <a:tc>
                  <a:txBody>
                    <a:bodyPr/>
                    <a:lstStyle/>
                    <a:p>
                      <a:pPr marR="75565" algn="ct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7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6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5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4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3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2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1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865" algn="ctr">
                        <a:lnSpc>
                          <a:spcPts val="2535"/>
                        </a:lnSpc>
                      </a:pPr>
                      <a:r>
                        <a:rPr sz="4200" b="1" spc="7" baseline="-16865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850" b="1" spc="5" dirty="0">
                          <a:latin typeface="Verdana"/>
                          <a:cs typeface="Verdana"/>
                        </a:rPr>
                        <a:t>0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8431">
                <a:tc>
                  <a:txBody>
                    <a:bodyPr/>
                    <a:lstStyle/>
                    <a:p>
                      <a:pPr marR="76835"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spc="-5" dirty="0">
                          <a:latin typeface="Verdana"/>
                          <a:cs typeface="Verdana"/>
                        </a:rPr>
                        <a:t>128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spc="-5" dirty="0">
                          <a:latin typeface="Verdana"/>
                          <a:cs typeface="Verdana"/>
                        </a:rPr>
                        <a:t>64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spc="-5" dirty="0">
                          <a:latin typeface="Verdana"/>
                          <a:cs typeface="Verdana"/>
                        </a:rPr>
                        <a:t>32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marR="288290" algn="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spc="-5" dirty="0">
                          <a:latin typeface="Verdana"/>
                          <a:cs typeface="Verdana"/>
                        </a:rPr>
                        <a:t>16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dirty="0">
                          <a:latin typeface="Verdana"/>
                          <a:cs typeface="Verdana"/>
                        </a:rPr>
                        <a:t>8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dirty="0">
                          <a:latin typeface="Verdana"/>
                          <a:cs typeface="Verdana"/>
                        </a:rPr>
                        <a:t>4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dirty="0">
                          <a:latin typeface="Verdana"/>
                          <a:cs typeface="Verdana"/>
                        </a:rPr>
                        <a:t>2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tc>
                  <a:txBody>
                    <a:bodyPr/>
                    <a:lstStyle/>
                    <a:p>
                      <a:pPr marL="187960"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00" b="1" dirty="0"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1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60">
                <a:tc>
                  <a:txBody>
                    <a:bodyPr/>
                    <a:lstStyle/>
                    <a:p>
                      <a:pPr marR="77470"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tc>
                  <a:txBody>
                    <a:bodyPr/>
                    <a:lstStyle/>
                    <a:p>
                      <a:pPr marL="187960" algn="ctr">
                        <a:lnSpc>
                          <a:spcPts val="3285"/>
                        </a:lnSpc>
                        <a:spcBef>
                          <a:spcPts val="2085"/>
                        </a:spcBef>
                      </a:pPr>
                      <a:r>
                        <a:rPr sz="28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264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-4775" y="1831212"/>
            <a:ext cx="9131935" cy="2411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9415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40050" algn="l"/>
                <a:tab pos="7315834" algn="l"/>
              </a:tabLst>
            </a:pPr>
            <a:r>
              <a:rPr sz="3600" spc="-45" dirty="0">
                <a:latin typeface="Times New Roman"/>
                <a:cs typeface="Times New Roman"/>
              </a:rPr>
              <a:t>Taking</a:t>
            </a:r>
            <a:r>
              <a:rPr sz="3600" dirty="0">
                <a:latin typeface="Times New Roman"/>
                <a:cs typeface="Times New Roman"/>
              </a:rPr>
              <a:t> a simple value:	</a:t>
            </a:r>
            <a:r>
              <a:rPr sz="3600" b="1" spc="-30" dirty="0">
                <a:latin typeface="Times New Roman"/>
                <a:cs typeface="Times New Roman"/>
              </a:rPr>
              <a:t>01011010</a:t>
            </a:r>
            <a:endParaRPr sz="3600" dirty="0">
              <a:latin typeface="Times New Roman"/>
              <a:cs typeface="Times New Roman"/>
            </a:endParaRPr>
          </a:p>
          <a:p>
            <a:pPr marL="12700" marR="7460615">
              <a:lnSpc>
                <a:spcPct val="100000"/>
              </a:lnSpc>
              <a:spcBef>
                <a:spcPts val="65"/>
              </a:spcBef>
              <a:buAutoNum type="arabicPeriod" startAt="3"/>
              <a:tabLst>
                <a:tab pos="262890" algn="l"/>
              </a:tabLst>
            </a:pPr>
            <a:r>
              <a:rPr sz="2000" b="1" dirty="0">
                <a:latin typeface="Times New Roman"/>
                <a:cs typeface="Times New Roman"/>
              </a:rPr>
              <a:t>The Binary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</a:t>
            </a:r>
            <a:r>
              <a:rPr sz="2000" b="1" spc="-40" dirty="0">
                <a:latin typeface="Times New Roman"/>
                <a:cs typeface="Times New Roman"/>
              </a:rPr>
              <a:t>r</a:t>
            </a:r>
            <a:r>
              <a:rPr sz="2000" b="1" dirty="0">
                <a:latin typeface="Times New Roman"/>
                <a:cs typeface="Times New Roman"/>
              </a:rPr>
              <a:t>es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nt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spc="-10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ion  Scheme</a:t>
            </a:r>
            <a:endParaRPr sz="2000" dirty="0">
              <a:latin typeface="Times New Roman"/>
              <a:cs typeface="Times New Roman"/>
            </a:endParaRPr>
          </a:p>
          <a:p>
            <a:pPr marL="393065" lvl="1" indent="-381000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spc="-5" dirty="0">
                <a:latin typeface="Times New Roman"/>
                <a:cs typeface="Times New Roman"/>
              </a:rPr>
              <a:t>Basic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</a:p>
          <a:p>
            <a:pPr marL="12700" marR="6855459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9398" y="461264"/>
            <a:ext cx="546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2467610" algn="l"/>
              </a:tabLst>
            </a:pPr>
            <a:r>
              <a:rPr dirty="0"/>
              <a:t>3.1	Basic	</a:t>
            </a:r>
            <a:r>
              <a:rPr spc="-5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5973" y="1392377"/>
            <a:ext cx="8611235" cy="20561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535"/>
              </a:spcBef>
              <a:buFont typeface="Arial MT"/>
              <a:buChar char="•"/>
              <a:tabLst>
                <a:tab pos="241935" algn="l"/>
              </a:tabLst>
            </a:pPr>
            <a:r>
              <a:rPr sz="3600" spc="-5" dirty="0">
                <a:latin typeface="Times New Roman"/>
                <a:cs typeface="Times New Roman"/>
              </a:rPr>
              <a:t>Converting </a:t>
            </a:r>
            <a:r>
              <a:rPr sz="3600" dirty="0">
                <a:latin typeface="Times New Roman"/>
                <a:cs typeface="Times New Roman"/>
              </a:rPr>
              <a:t>this </a:t>
            </a:r>
            <a:r>
              <a:rPr sz="3600" spc="-5" dirty="0">
                <a:latin typeface="Times New Roman"/>
                <a:cs typeface="Times New Roman"/>
              </a:rPr>
              <a:t>representation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back to a more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familiar DECIMAL </a:t>
            </a:r>
            <a:r>
              <a:rPr sz="3600" dirty="0">
                <a:latin typeface="Times New Roman"/>
                <a:cs typeface="Times New Roman"/>
              </a:rPr>
              <a:t>form </a:t>
            </a:r>
            <a:r>
              <a:rPr sz="3600" spc="-5" dirty="0">
                <a:latin typeface="Times New Roman"/>
                <a:cs typeface="Times New Roman"/>
              </a:rPr>
              <a:t>we </a:t>
            </a:r>
            <a:r>
              <a:rPr sz="3600" dirty="0">
                <a:latin typeface="Times New Roman"/>
                <a:cs typeface="Times New Roman"/>
              </a:rPr>
              <a:t>can </a:t>
            </a:r>
            <a:r>
              <a:rPr sz="3600" spc="-5" dirty="0">
                <a:latin typeface="Times New Roman"/>
                <a:cs typeface="Times New Roman"/>
              </a:rPr>
              <a:t>see </a:t>
            </a:r>
            <a:r>
              <a:rPr sz="3600" dirty="0">
                <a:latin typeface="Times New Roman"/>
                <a:cs typeface="Times New Roman"/>
              </a:rPr>
              <a:t>that all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5" dirty="0">
                <a:latin typeface="Times New Roman"/>
                <a:cs typeface="Times New Roman"/>
              </a:rPr>
              <a:t>information </a:t>
            </a:r>
            <a:r>
              <a:rPr sz="3600" dirty="0">
                <a:latin typeface="Times New Roman"/>
                <a:cs typeface="Times New Roman"/>
              </a:rPr>
              <a:t>necessary about the </a:t>
            </a:r>
            <a:r>
              <a:rPr sz="3600" spc="-5" dirty="0">
                <a:latin typeface="Times New Roman"/>
                <a:cs typeface="Times New Roman"/>
              </a:rPr>
              <a:t>data is 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available.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7854" y="5357571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6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64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6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16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8</a:t>
            </a:r>
            <a:r>
              <a:rPr sz="36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36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36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52525"/>
                </a:solidFill>
                <a:latin typeface="Times New Roman"/>
                <a:cs typeface="Times New Roman"/>
              </a:rPr>
              <a:t>90</a:t>
            </a:r>
            <a:endParaRPr sz="360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51479" y="3583080"/>
          <a:ext cx="8887458" cy="1376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9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1355">
                <a:tc>
                  <a:txBody>
                    <a:bodyPr/>
                    <a:lstStyle/>
                    <a:p>
                      <a:pPr marR="23495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7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6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5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4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3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2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1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6370" algn="ctr">
                        <a:lnSpc>
                          <a:spcPts val="1814"/>
                        </a:lnSpc>
                      </a:pPr>
                      <a:r>
                        <a:rPr sz="3000" b="1" spc="15" baseline="-16666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1300" b="1" spc="10" dirty="0">
                          <a:latin typeface="Verdana"/>
                          <a:cs typeface="Verdana"/>
                        </a:rPr>
                        <a:t>0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246"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4000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solidFill>
                            <a:srgbClr val="0462C1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3">
                <a:tc>
                  <a:txBody>
                    <a:bodyPr/>
                    <a:lstStyle/>
                    <a:p>
                      <a:pPr marR="21590"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0*128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1*64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0*32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1*16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1*8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0*4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1*2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320"/>
                        </a:lnSpc>
                        <a:spcBef>
                          <a:spcPts val="894"/>
                        </a:spcBef>
                      </a:pPr>
                      <a:r>
                        <a:rPr sz="2000" b="1" dirty="0">
                          <a:latin typeface="Verdana"/>
                          <a:cs typeface="Verdana"/>
                        </a:rPr>
                        <a:t>0*1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1366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-22148" y="2497277"/>
            <a:ext cx="1426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94211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22148" y="2802763"/>
            <a:ext cx="2413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Representation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148" y="3107563"/>
            <a:ext cx="22929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3.1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Basic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412363"/>
            <a:ext cx="228155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3.2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88988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5973" y="806272"/>
            <a:ext cx="89585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3.2</a:t>
            </a:r>
            <a:r>
              <a:rPr spc="-15" dirty="0"/>
              <a:t> </a:t>
            </a:r>
            <a:r>
              <a:rPr dirty="0"/>
              <a:t>Decimal</a:t>
            </a:r>
            <a:r>
              <a:rPr spc="-100" dirty="0"/>
              <a:t> </a:t>
            </a:r>
            <a:r>
              <a:rPr spc="-225" dirty="0"/>
              <a:t>To</a:t>
            </a:r>
            <a:r>
              <a:rPr spc="-10" dirty="0"/>
              <a:t> </a:t>
            </a:r>
            <a:r>
              <a:rPr dirty="0"/>
              <a:t>Binary</a:t>
            </a:r>
            <a:r>
              <a:rPr spc="-15" dirty="0"/>
              <a:t> </a:t>
            </a:r>
            <a:r>
              <a:rPr dirty="0"/>
              <a:t>Conversion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3273" y="2003805"/>
            <a:ext cx="6658609" cy="3424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4635" algn="l"/>
              </a:tabLst>
            </a:pPr>
            <a:r>
              <a:rPr sz="3600" dirty="0">
                <a:latin typeface="Times New Roman"/>
                <a:cs typeface="Times New Roman"/>
              </a:rPr>
              <a:t>Rules:</a:t>
            </a:r>
          </a:p>
          <a:p>
            <a:pPr marL="711200" lvl="1" indent="-22923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711835" algn="l"/>
              </a:tabLst>
            </a:pPr>
            <a:r>
              <a:rPr sz="3600" dirty="0">
                <a:latin typeface="Times New Roman"/>
                <a:cs typeface="Times New Roman"/>
              </a:rPr>
              <a:t>Divide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2.</a:t>
            </a:r>
          </a:p>
          <a:p>
            <a:pPr marL="711200" lvl="1" indent="-22923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711835" algn="l"/>
              </a:tabLst>
            </a:pPr>
            <a:r>
              <a:rPr sz="3600" dirty="0">
                <a:latin typeface="Times New Roman"/>
                <a:cs typeface="Times New Roman"/>
              </a:rPr>
              <a:t>Look at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spc="-5" dirty="0">
                <a:latin typeface="Times New Roman"/>
                <a:cs typeface="Times New Roman"/>
              </a:rPr>
              <a:t>remainde</a:t>
            </a:r>
            <a:r>
              <a:rPr sz="3600" dirty="0">
                <a:latin typeface="Times New Roman"/>
                <a:cs typeface="Times New Roman"/>
              </a:rPr>
              <a:t>r ‘1’</a:t>
            </a:r>
            <a:r>
              <a:rPr sz="3600" spc="-2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 ‘0’.</a:t>
            </a:r>
          </a:p>
          <a:p>
            <a:pPr marL="711200" lvl="1" indent="-22923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711835" algn="l"/>
              </a:tabLst>
            </a:pPr>
            <a:r>
              <a:rPr sz="3600" dirty="0">
                <a:latin typeface="Times New Roman"/>
                <a:cs typeface="Times New Roman"/>
              </a:rPr>
              <a:t>Use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remainder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6FC0"/>
                </a:solidFill>
                <a:latin typeface="Times New Roman"/>
                <a:cs typeface="Times New Roman"/>
              </a:rPr>
              <a:t>Bit</a:t>
            </a:r>
            <a:r>
              <a:rPr sz="36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value.</a:t>
            </a:r>
            <a:endParaRPr sz="3600" dirty="0">
              <a:latin typeface="Times New Roman"/>
              <a:cs typeface="Times New Roman"/>
            </a:endParaRPr>
          </a:p>
          <a:p>
            <a:pPr marL="711200" lvl="1" indent="-229235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711835" algn="l"/>
              </a:tabLst>
            </a:pPr>
            <a:r>
              <a:rPr sz="3600" dirty="0">
                <a:latin typeface="Times New Roman"/>
                <a:cs typeface="Times New Roman"/>
              </a:rPr>
              <a:t>Loop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till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done.</a:t>
            </a:r>
          </a:p>
          <a:p>
            <a:pPr marL="254000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54635" algn="l"/>
              </a:tabLst>
            </a:pPr>
            <a:r>
              <a:rPr sz="3600" dirty="0">
                <a:latin typeface="Times New Roman"/>
                <a:cs typeface="Times New Roman"/>
              </a:rPr>
              <a:t>Convert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25</a:t>
            </a:r>
            <a:r>
              <a:rPr sz="3600" baseline="-20833" dirty="0"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-22148" y="2559761"/>
            <a:ext cx="1426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22148" y="2865247"/>
            <a:ext cx="2413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Representation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22148" y="3170047"/>
            <a:ext cx="2207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3.1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Basic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148" y="3474847"/>
            <a:ext cx="2380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3.2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Decimal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779647"/>
            <a:ext cx="12712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C</a:t>
            </a:r>
            <a:r>
              <a:rPr sz="2000" b="1" spc="10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</a:t>
            </a:r>
            <a:r>
              <a:rPr sz="2000" b="1" spc="5" dirty="0">
                <a:latin typeface="Times New Roman"/>
                <a:cs typeface="Times New Roman"/>
              </a:rPr>
              <a:t>v</a:t>
            </a:r>
            <a:r>
              <a:rPr sz="2000" b="1" dirty="0">
                <a:latin typeface="Times New Roman"/>
                <a:cs typeface="Times New Roman"/>
              </a:rPr>
              <a:t>ers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0573" y="809955"/>
            <a:ext cx="89185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3.2.1</a:t>
            </a:r>
            <a:r>
              <a:rPr spc="-15" dirty="0"/>
              <a:t> </a:t>
            </a:r>
            <a:r>
              <a:rPr dirty="0"/>
              <a:t>Example:</a:t>
            </a:r>
            <a:r>
              <a:rPr spc="-10" dirty="0"/>
              <a:t> </a:t>
            </a:r>
            <a:r>
              <a:rPr dirty="0"/>
              <a:t>Conversion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15" dirty="0"/>
              <a:t>25</a:t>
            </a:r>
            <a:r>
              <a:rPr sz="4800" spc="-22" baseline="-20833" dirty="0"/>
              <a:t>10</a:t>
            </a:r>
            <a:endParaRPr sz="4800" baseline="-20833"/>
          </a:p>
        </p:txBody>
      </p:sp>
      <p:sp>
        <p:nvSpPr>
          <p:cNvPr id="3" name="object 3"/>
          <p:cNvSpPr txBox="1"/>
          <p:nvPr/>
        </p:nvSpPr>
        <p:spPr>
          <a:xfrm>
            <a:off x="2560573" y="5464555"/>
            <a:ext cx="4461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7335" algn="l"/>
              </a:tabLst>
            </a:pPr>
            <a:r>
              <a:rPr sz="3600" dirty="0">
                <a:latin typeface="Times New Roman"/>
                <a:cs typeface="Times New Roman"/>
              </a:rPr>
              <a:t>Binary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Value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11001</a:t>
            </a:r>
            <a:r>
              <a:rPr sz="3600" spc="-37" baseline="-20833" dirty="0">
                <a:latin typeface="Times New Roman"/>
                <a:cs typeface="Times New Roman"/>
              </a:rPr>
              <a:t>2</a:t>
            </a:r>
            <a:endParaRPr sz="3600" baseline="-20833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277742" y="1735835"/>
          <a:ext cx="4765040" cy="3594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5599"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Divisor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Quotient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6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Remainder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4"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25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65"/>
                        </a:lnSpc>
                        <a:tabLst>
                          <a:tab pos="60261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1	LSB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4"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4"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6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68580">
                        <a:lnSpc>
                          <a:spcPts val="327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7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270"/>
                        </a:lnSpc>
                        <a:tabLst>
                          <a:tab pos="51371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1	MSB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327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-22148" y="2802763"/>
            <a:ext cx="228155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1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393700" algn="l"/>
              </a:tabLst>
            </a:pP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  <a:p>
            <a:pPr marL="583565" lvl="2" indent="-570865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b="1" dirty="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8125" y="653874"/>
            <a:ext cx="89566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3.3</a:t>
            </a:r>
            <a:r>
              <a:rPr spc="-15" dirty="0"/>
              <a:t> </a:t>
            </a:r>
            <a:r>
              <a:rPr dirty="0"/>
              <a:t>Binary</a:t>
            </a:r>
            <a:r>
              <a:rPr spc="-95" dirty="0"/>
              <a:t> </a:t>
            </a:r>
            <a:r>
              <a:rPr spc="-225" dirty="0"/>
              <a:t>To</a:t>
            </a:r>
            <a:r>
              <a:rPr spc="-10" dirty="0"/>
              <a:t> </a:t>
            </a:r>
            <a:r>
              <a:rPr dirty="0"/>
              <a:t>Decimal</a:t>
            </a:r>
            <a:r>
              <a:rPr spc="-35" dirty="0"/>
              <a:t> </a:t>
            </a:r>
            <a:r>
              <a:rPr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5425" y="1851407"/>
            <a:ext cx="8564880" cy="37903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54000" marR="17780" indent="-228600" algn="just">
              <a:lnSpc>
                <a:spcPct val="90000"/>
              </a:lnSpc>
              <a:spcBef>
                <a:spcPts val="530"/>
              </a:spcBef>
              <a:buFont typeface="Arial MT"/>
              <a:buChar char="•"/>
              <a:tabLst>
                <a:tab pos="254000" algn="l"/>
              </a:tabLst>
            </a:pPr>
            <a:r>
              <a:rPr sz="3600" dirty="0">
                <a:latin typeface="Times New Roman"/>
                <a:cs typeface="Times New Roman"/>
              </a:rPr>
              <a:t>Calculate the value for each Digit Position </a:t>
            </a:r>
            <a:r>
              <a:rPr sz="3600" spc="-5" dirty="0">
                <a:latin typeface="Times New Roman"/>
                <a:cs typeface="Times New Roman"/>
              </a:rPr>
              <a:t>as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(Symbol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*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Base</a:t>
            </a:r>
            <a:r>
              <a:rPr sz="3600" b="1" spc="-70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Times New Roman"/>
                <a:cs typeface="Times New Roman"/>
              </a:rPr>
              <a:t>Weighting)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position. </a:t>
            </a:r>
            <a:r>
              <a:rPr sz="3600" spc="-8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sum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all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these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values.</a:t>
            </a:r>
          </a:p>
          <a:p>
            <a:pPr marL="711200" lvl="1" indent="-22923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711835" algn="l"/>
                <a:tab pos="2399665" algn="l"/>
              </a:tabLst>
            </a:pPr>
            <a:r>
              <a:rPr sz="3600" b="1" dirty="0">
                <a:latin typeface="Times New Roman"/>
                <a:cs typeface="Times New Roman"/>
              </a:rPr>
              <a:t>Binary	</a:t>
            </a:r>
            <a:r>
              <a:rPr sz="3600" spc="-55" dirty="0">
                <a:latin typeface="Times New Roman"/>
                <a:cs typeface="Times New Roman"/>
              </a:rPr>
              <a:t>1110</a:t>
            </a:r>
            <a:r>
              <a:rPr sz="3600" spc="-82" baseline="-20833" dirty="0">
                <a:latin typeface="Times New Roman"/>
                <a:cs typeface="Times New Roman"/>
              </a:rPr>
              <a:t>2</a:t>
            </a:r>
            <a:endParaRPr sz="3600" baseline="-20833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75"/>
              </a:spcBef>
            </a:pP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(1 * </a:t>
            </a:r>
            <a:r>
              <a:rPr sz="3600" spc="-5" dirty="0">
                <a:latin typeface="Times New Roman"/>
                <a:cs typeface="Times New Roman"/>
              </a:rPr>
              <a:t>2</a:t>
            </a:r>
            <a:r>
              <a:rPr sz="3600" spc="-7" baseline="25462" dirty="0">
                <a:latin typeface="Times New Roman"/>
                <a:cs typeface="Times New Roman"/>
              </a:rPr>
              <a:t>3</a:t>
            </a:r>
            <a:r>
              <a:rPr sz="3600" dirty="0">
                <a:latin typeface="Times New Roman"/>
                <a:cs typeface="Times New Roman"/>
              </a:rPr>
              <a:t>)</a:t>
            </a:r>
            <a:r>
              <a:rPr sz="3600" spc="-3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 (1 * </a:t>
            </a:r>
            <a:r>
              <a:rPr sz="3600" spc="-10" dirty="0">
                <a:latin typeface="Times New Roman"/>
                <a:cs typeface="Times New Roman"/>
              </a:rPr>
              <a:t>2</a:t>
            </a:r>
            <a:r>
              <a:rPr sz="3600" spc="-7" baseline="25462" dirty="0">
                <a:latin typeface="Times New Roman"/>
                <a:cs typeface="Times New Roman"/>
              </a:rPr>
              <a:t>2</a:t>
            </a:r>
            <a:r>
              <a:rPr sz="3600" dirty="0">
                <a:latin typeface="Times New Roman"/>
                <a:cs typeface="Times New Roman"/>
              </a:rPr>
              <a:t>) +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(1 * </a:t>
            </a:r>
            <a:r>
              <a:rPr sz="3600" spc="-5" dirty="0">
                <a:latin typeface="Times New Roman"/>
                <a:cs typeface="Times New Roman"/>
              </a:rPr>
              <a:t>2</a:t>
            </a:r>
            <a:r>
              <a:rPr sz="3600" spc="-7" baseline="25462" dirty="0">
                <a:latin typeface="Times New Roman"/>
                <a:cs typeface="Times New Roman"/>
              </a:rPr>
              <a:t>1</a:t>
            </a:r>
            <a:r>
              <a:rPr sz="3600" dirty="0">
                <a:latin typeface="Times New Roman"/>
                <a:cs typeface="Times New Roman"/>
              </a:rPr>
              <a:t>) + (0 * </a:t>
            </a:r>
            <a:r>
              <a:rPr sz="3600" spc="-10" dirty="0">
                <a:latin typeface="Times New Roman"/>
                <a:cs typeface="Times New Roman"/>
              </a:rPr>
              <a:t>2</a:t>
            </a:r>
            <a:r>
              <a:rPr sz="3600" spc="-7" baseline="25462" dirty="0">
                <a:latin typeface="Times New Roman"/>
                <a:cs typeface="Times New Roman"/>
              </a:rPr>
              <a:t>0</a:t>
            </a:r>
            <a:r>
              <a:rPr sz="3600" dirty="0">
                <a:latin typeface="Times New Roman"/>
                <a:cs typeface="Times New Roman"/>
              </a:rPr>
              <a:t>)</a:t>
            </a:r>
          </a:p>
          <a:p>
            <a:pPr marL="482600">
              <a:lnSpc>
                <a:spcPct val="100000"/>
              </a:lnSpc>
              <a:spcBef>
                <a:spcPts val="70"/>
              </a:spcBef>
              <a:tabLst>
                <a:tab pos="2301875" algn="l"/>
                <a:tab pos="4121785" algn="l"/>
                <a:tab pos="5939155" algn="l"/>
              </a:tabLst>
            </a:pPr>
            <a:r>
              <a:rPr sz="3600" dirty="0">
                <a:latin typeface="Times New Roman"/>
                <a:cs typeface="Times New Roman"/>
              </a:rPr>
              <a:t>= </a:t>
            </a:r>
            <a:r>
              <a:rPr sz="3600" spc="-5" dirty="0">
                <a:latin typeface="Times New Roman"/>
                <a:cs typeface="Times New Roman"/>
              </a:rPr>
              <a:t>(1</a:t>
            </a:r>
            <a:r>
              <a:rPr sz="3600" dirty="0">
                <a:latin typeface="Times New Roman"/>
                <a:cs typeface="Times New Roman"/>
              </a:rPr>
              <a:t> * 8)	+ (1 * 4)	+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(1 * 2)	+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(0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*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1)</a:t>
            </a:r>
          </a:p>
          <a:p>
            <a:pPr marL="482600">
              <a:lnSpc>
                <a:spcPct val="100000"/>
              </a:lnSpc>
              <a:spcBef>
                <a:spcPts val="60"/>
              </a:spcBef>
            </a:pP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14</a:t>
            </a:r>
            <a:r>
              <a:rPr sz="3600" baseline="-20833" dirty="0"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-22148" y="2255268"/>
            <a:ext cx="23812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3.3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527166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-22148" y="2559763"/>
            <a:ext cx="12712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C</a:t>
            </a:r>
            <a:r>
              <a:rPr sz="2000" b="1" spc="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nvers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22148" y="2865249"/>
            <a:ext cx="2106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3.4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22148" y="3170049"/>
            <a:ext cx="6800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Digit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148" y="3474849"/>
            <a:ext cx="2336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779649"/>
            <a:ext cx="2006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4.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'Bits',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'Bytes'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-22148" y="4084144"/>
            <a:ext cx="7778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Times New Roman"/>
                <a:cs typeface="Times New Roman"/>
              </a:rPr>
              <a:t>'</a:t>
            </a:r>
            <a:r>
              <a:rPr sz="2000" spc="-140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ds'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6695" y="477395"/>
            <a:ext cx="6988175" cy="14160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45"/>
              </a:spcBef>
              <a:tabLst>
                <a:tab pos="926465" algn="l"/>
                <a:tab pos="6805295" algn="l"/>
              </a:tabLst>
            </a:pPr>
            <a:r>
              <a:rPr dirty="0"/>
              <a:t>3.4	Most </a:t>
            </a:r>
            <a:r>
              <a:rPr spc="-5" dirty="0"/>
              <a:t>Sig</a:t>
            </a:r>
            <a:r>
              <a:rPr spc="-20" dirty="0"/>
              <a:t>n</a:t>
            </a:r>
            <a:r>
              <a:rPr spc="-5" dirty="0"/>
              <a:t>ificant</a:t>
            </a:r>
            <a:r>
              <a:rPr spc="30" dirty="0"/>
              <a:t> </a:t>
            </a:r>
            <a:r>
              <a:rPr dirty="0"/>
              <a:t>Digit	/  Least</a:t>
            </a:r>
            <a:r>
              <a:rPr spc="-25" dirty="0"/>
              <a:t> </a:t>
            </a:r>
            <a:r>
              <a:rPr spc="-5" dirty="0"/>
              <a:t>Significant</a:t>
            </a:r>
            <a:r>
              <a:rPr spc="25" dirty="0"/>
              <a:t> </a:t>
            </a:r>
            <a:r>
              <a:rPr dirty="0"/>
              <a:t>Digit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3995" y="2030350"/>
            <a:ext cx="9438005" cy="32016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54000" marR="241935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concepts of the significance of the Symbol </a:t>
            </a:r>
            <a:r>
              <a:rPr sz="2800" dirty="0">
                <a:latin typeface="Times New Roman"/>
                <a:cs typeface="Times New Roman"/>
              </a:rPr>
              <a:t>positions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unique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binary.</a:t>
            </a:r>
            <a:endParaRPr sz="2800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711200" algn="l"/>
              </a:tabLst>
            </a:pPr>
            <a:r>
              <a:rPr sz="2800" dirty="0">
                <a:latin typeface="Times New Roman"/>
                <a:cs typeface="Times New Roman"/>
              </a:rPr>
              <a:t>Units,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Tens,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Hundreds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decimal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scheme.</a:t>
            </a:r>
            <a:endParaRPr sz="28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Most Significant Digit 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Left</a:t>
            </a:r>
            <a:r>
              <a:rPr sz="28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-</a:t>
            </a:r>
            <a:r>
              <a:rPr sz="28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most</a:t>
            </a:r>
            <a:r>
              <a:rPr sz="28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Number.</a:t>
            </a:r>
            <a:endParaRPr sz="2800" dirty="0">
              <a:latin typeface="Times New Roman"/>
              <a:cs typeface="Times New Roman"/>
            </a:endParaRPr>
          </a:p>
          <a:p>
            <a:pPr marL="254000" marR="1020444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Least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Significant Digit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Right</a:t>
            </a:r>
            <a:r>
              <a:rPr sz="28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–</a:t>
            </a:r>
            <a:r>
              <a:rPr sz="2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most</a:t>
            </a:r>
            <a:r>
              <a:rPr sz="28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symbol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Number.</a:t>
            </a:r>
            <a:endParaRPr sz="28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11001</a:t>
            </a:r>
            <a:r>
              <a:rPr sz="2775" spc="-22" baseline="-21021" dirty="0">
                <a:latin typeface="Times New Roman"/>
                <a:cs typeface="Times New Roman"/>
              </a:rPr>
              <a:t>2</a:t>
            </a:r>
            <a:endParaRPr sz="2775" baseline="-2102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56" y="2255268"/>
            <a:ext cx="2279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3.3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1113515" y="6527166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22556" y="2559763"/>
            <a:ext cx="11995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versi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56" y="2865249"/>
            <a:ext cx="2192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3.4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Most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Significant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56" y="3170049"/>
            <a:ext cx="695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Digit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56" y="3474849"/>
            <a:ext cx="2450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Least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Significant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56" y="3779649"/>
            <a:ext cx="2006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4.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'Bits',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'Bytes'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556" y="4084144"/>
            <a:ext cx="7778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Times New Roman"/>
                <a:cs typeface="Times New Roman"/>
              </a:rPr>
              <a:t>'</a:t>
            </a:r>
            <a:r>
              <a:rPr sz="2000" spc="-140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ds'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341" y="591388"/>
            <a:ext cx="74187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15" dirty="0"/>
              <a:t> </a:t>
            </a:r>
            <a:r>
              <a:rPr dirty="0"/>
              <a:t>'Bits',</a:t>
            </a:r>
            <a:r>
              <a:rPr spc="10" dirty="0"/>
              <a:t> </a:t>
            </a:r>
            <a:r>
              <a:rPr dirty="0"/>
              <a:t>'Bytes'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40" dirty="0"/>
              <a:t>'Words'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2420" y="1788921"/>
            <a:ext cx="8501380" cy="32969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5080" indent="-228600">
              <a:lnSpc>
                <a:spcPts val="3890"/>
              </a:lnSpc>
              <a:spcBef>
                <a:spcPts val="58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30" dirty="0">
                <a:latin typeface="Times New Roman"/>
                <a:cs typeface="Times New Roman"/>
              </a:rPr>
              <a:t>Within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computer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EVERYTHING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stored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or </a:t>
            </a:r>
            <a:r>
              <a:rPr sz="3600" spc="-5" dirty="0">
                <a:latin typeface="Times New Roman"/>
                <a:cs typeface="Times New Roman"/>
              </a:rPr>
              <a:t>used </a:t>
            </a:r>
            <a:r>
              <a:rPr sz="3600" dirty="0">
                <a:latin typeface="Times New Roman"/>
                <a:cs typeface="Times New Roman"/>
              </a:rPr>
              <a:t>in binary</a:t>
            </a:r>
            <a:r>
              <a:rPr sz="3600" spc="-5" dirty="0">
                <a:latin typeface="Times New Roman"/>
                <a:cs typeface="Times New Roman"/>
              </a:rPr>
              <a:t> format.</a:t>
            </a: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4105"/>
              </a:lnSpc>
              <a:spcBef>
                <a:spcPts val="509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Bi</a:t>
            </a:r>
            <a:r>
              <a:rPr sz="3600" spc="-5" dirty="0">
                <a:latin typeface="Times New Roman"/>
                <a:cs typeface="Times New Roman"/>
              </a:rPr>
              <a:t>nary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Digi</a:t>
            </a:r>
            <a:r>
              <a:rPr sz="3600" b="1" spc="-5" dirty="0">
                <a:latin typeface="Times New Roman"/>
                <a:cs typeface="Times New Roman"/>
              </a:rPr>
              <a:t>t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commonly</a:t>
            </a:r>
            <a:r>
              <a:rPr sz="3600" dirty="0">
                <a:latin typeface="Times New Roman"/>
                <a:cs typeface="Times New Roman"/>
              </a:rPr>
              <a:t> known</a:t>
            </a:r>
            <a:r>
              <a:rPr sz="3600" spc="-5" dirty="0">
                <a:latin typeface="Times New Roman"/>
                <a:cs typeface="Times New Roman"/>
              </a:rPr>
              <a:t> as</a:t>
            </a:r>
            <a:r>
              <a:rPr sz="3600" dirty="0">
                <a:latin typeface="Times New Roman"/>
                <a:cs typeface="Times New Roman"/>
              </a:rPr>
              <a:t> a</a:t>
            </a:r>
          </a:p>
          <a:p>
            <a:pPr marL="241300">
              <a:lnSpc>
                <a:spcPts val="4105"/>
              </a:lnSpc>
            </a:pPr>
            <a:r>
              <a:rPr sz="3600" b="1" dirty="0">
                <a:latin typeface="Times New Roman"/>
                <a:cs typeface="Times New Roman"/>
              </a:rPr>
              <a:t>Bit.</a:t>
            </a:r>
            <a:endParaRPr sz="3600" dirty="0">
              <a:latin typeface="Times New Roman"/>
              <a:cs typeface="Times New Roman"/>
            </a:endParaRPr>
          </a:p>
          <a:p>
            <a:pPr marL="241300" marR="275590" indent="-228600">
              <a:lnSpc>
                <a:spcPts val="38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30" dirty="0">
                <a:latin typeface="Times New Roman"/>
                <a:cs typeface="Times New Roman"/>
              </a:rPr>
              <a:t>Within</a:t>
            </a:r>
            <a:r>
              <a:rPr sz="3600" dirty="0">
                <a:latin typeface="Times New Roman"/>
                <a:cs typeface="Times New Roman"/>
              </a:rPr>
              <a:t> any </a:t>
            </a:r>
            <a:r>
              <a:rPr sz="3600" spc="-5" dirty="0">
                <a:latin typeface="Times New Roman"/>
                <a:cs typeface="Times New Roman"/>
              </a:rPr>
              <a:t>computer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information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stored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or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manipulated</a:t>
            </a:r>
            <a:r>
              <a:rPr sz="3600" spc="3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groups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of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‘n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Bits’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22148" y="2345182"/>
            <a:ext cx="2106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3.4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-22148" y="2649677"/>
            <a:ext cx="6800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Digit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22148" y="2955163"/>
            <a:ext cx="2336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22148" y="3259963"/>
            <a:ext cx="2174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4.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'Bits',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'Bytes'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148" y="3564763"/>
            <a:ext cx="9029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'</a:t>
            </a:r>
            <a:r>
              <a:rPr sz="2000" b="1" spc="-114" dirty="0">
                <a:latin typeface="Times New Roman"/>
                <a:cs typeface="Times New Roman"/>
              </a:rPr>
              <a:t>W</a:t>
            </a:r>
            <a:r>
              <a:rPr sz="2000" b="1" dirty="0">
                <a:latin typeface="Times New Roman"/>
                <a:cs typeface="Times New Roman"/>
              </a:rPr>
              <a:t>ords’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869563"/>
            <a:ext cx="2183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5.Unsigned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3360" y="539572"/>
            <a:ext cx="83343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4.</a:t>
            </a:r>
            <a:r>
              <a:rPr sz="5400" spc="-20" dirty="0"/>
              <a:t> </a:t>
            </a:r>
            <a:r>
              <a:rPr sz="5400" dirty="0"/>
              <a:t>'Bits',</a:t>
            </a:r>
            <a:r>
              <a:rPr sz="5400" spc="-15" dirty="0"/>
              <a:t> </a:t>
            </a:r>
            <a:r>
              <a:rPr sz="5400" dirty="0"/>
              <a:t>'Bytes'</a:t>
            </a:r>
            <a:r>
              <a:rPr sz="5400" spc="-20" dirty="0"/>
              <a:t> </a:t>
            </a:r>
            <a:r>
              <a:rPr sz="5400" dirty="0"/>
              <a:t>and</a:t>
            </a:r>
            <a:r>
              <a:rPr sz="5400" spc="-40" dirty="0"/>
              <a:t> </a:t>
            </a:r>
            <a:r>
              <a:rPr sz="5400" spc="-45" dirty="0"/>
              <a:t>'Words'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2753360" y="1804161"/>
            <a:ext cx="9133840" cy="40963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Byte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smallest </a:t>
            </a:r>
            <a:r>
              <a:rPr sz="2800" dirty="0">
                <a:latin typeface="Times New Roman"/>
                <a:cs typeface="Times New Roman"/>
              </a:rPr>
              <a:t>grouping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defined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‘n’ </a:t>
            </a:r>
            <a:r>
              <a:rPr sz="2800" b="1" spc="-6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Bits</a:t>
            </a:r>
            <a:r>
              <a:rPr sz="2800" dirty="0">
                <a:latin typeface="Times New Roman"/>
                <a:cs typeface="Times New Roman"/>
              </a:rPr>
              <a:t>. </a:t>
            </a:r>
            <a:r>
              <a:rPr sz="2800" spc="-10" dirty="0">
                <a:latin typeface="Times New Roman"/>
                <a:cs typeface="Times New Roman"/>
              </a:rPr>
              <a:t>By common </a:t>
            </a:r>
            <a:r>
              <a:rPr sz="2800" spc="-5" dirty="0">
                <a:latin typeface="Times New Roman"/>
                <a:cs typeface="Times New Roman"/>
              </a:rPr>
              <a:t>usage, </a:t>
            </a:r>
            <a:r>
              <a:rPr sz="2800" b="1" spc="-5" dirty="0">
                <a:latin typeface="Times New Roman"/>
                <a:cs typeface="Times New Roman"/>
              </a:rPr>
              <a:t>the Byte </a:t>
            </a:r>
            <a:r>
              <a:rPr sz="2800" dirty="0">
                <a:latin typeface="Times New Roman"/>
                <a:cs typeface="Times New Roman"/>
              </a:rPr>
              <a:t>usually </a:t>
            </a:r>
            <a:r>
              <a:rPr sz="2800" spc="-5" dirty="0">
                <a:latin typeface="Times New Roman"/>
                <a:cs typeface="Times New Roman"/>
              </a:rPr>
              <a:t>refers to a </a:t>
            </a:r>
            <a:r>
              <a:rPr sz="2800" dirty="0">
                <a:latin typeface="Times New Roman"/>
                <a:cs typeface="Times New Roman"/>
              </a:rPr>
              <a:t>grouping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A</a:t>
            </a:r>
            <a:r>
              <a:rPr sz="2800" b="1" spc="-195" dirty="0">
                <a:latin typeface="Times New Roman"/>
                <a:cs typeface="Times New Roman"/>
              </a:rPr>
              <a:t> </a:t>
            </a:r>
            <a:r>
              <a:rPr sz="2800" b="1" spc="-160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rd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is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la</a:t>
            </a:r>
            <a:r>
              <a:rPr sz="2800" spc="-5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ger </a:t>
            </a:r>
            <a:r>
              <a:rPr sz="2800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of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Bit</a:t>
            </a:r>
            <a:r>
              <a:rPr sz="2800" b="1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reflected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PC’s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architecture.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3195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Again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common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usage,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Word</a:t>
            </a:r>
            <a:r>
              <a:rPr sz="2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grouping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16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endParaRPr sz="2800">
              <a:latin typeface="Times New Roman"/>
              <a:cs typeface="Times New Roman"/>
            </a:endParaRPr>
          </a:p>
          <a:p>
            <a:pPr marL="241300" algn="just">
              <a:lnSpc>
                <a:spcPts val="3195"/>
              </a:lnSpc>
            </a:pP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therefore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Bytes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20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Nibbles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Which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are?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22148" y="2345182"/>
            <a:ext cx="2106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3.4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-22148" y="2649677"/>
            <a:ext cx="6800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Digit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22148" y="2955163"/>
            <a:ext cx="2336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Significant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22148" y="3259963"/>
            <a:ext cx="2174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4.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'Bits',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'Bytes'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148" y="3564763"/>
            <a:ext cx="9029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'</a:t>
            </a:r>
            <a:r>
              <a:rPr sz="2000" b="1" spc="-114" dirty="0">
                <a:latin typeface="Times New Roman"/>
                <a:cs typeface="Times New Roman"/>
              </a:rPr>
              <a:t>W</a:t>
            </a:r>
            <a:r>
              <a:rPr sz="2000" b="1" dirty="0">
                <a:latin typeface="Times New Roman"/>
                <a:cs typeface="Times New Roman"/>
              </a:rPr>
              <a:t>ords’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869563"/>
            <a:ext cx="2183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5.Unsigned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785" y="591388"/>
            <a:ext cx="54825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5.Unsigned</a:t>
            </a:r>
            <a:r>
              <a:rPr spc="-65" dirty="0"/>
              <a:t> </a:t>
            </a:r>
            <a:r>
              <a:rPr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24785" y="1796542"/>
            <a:ext cx="8629015" cy="40944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Any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number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range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as:</a:t>
            </a:r>
          </a:p>
          <a:p>
            <a:pPr marL="698500" lvl="1" indent="-2292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699135" algn="l"/>
                <a:tab pos="2020570" algn="l"/>
              </a:tabLst>
            </a:pPr>
            <a:r>
              <a:rPr sz="3200" b="1" dirty="0">
                <a:latin typeface="Times New Roman"/>
                <a:cs typeface="Times New Roman"/>
              </a:rPr>
              <a:t>0	Max</a:t>
            </a:r>
            <a:r>
              <a:rPr sz="3200" b="1" spc="-45" dirty="0">
                <a:latin typeface="Times New Roman"/>
                <a:cs typeface="Times New Roman"/>
              </a:rPr>
              <a:t> Number.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Decimal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scheme,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 we write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value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 27:</a:t>
            </a:r>
          </a:p>
          <a:p>
            <a:pPr marL="698500" lvl="1" indent="-22923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69913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magnitude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27.</a:t>
            </a:r>
          </a:p>
          <a:p>
            <a:pPr marL="698500" lvl="1" indent="-22923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699135" algn="l"/>
              </a:tabLst>
            </a:pP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convention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Positive.</a:t>
            </a:r>
          </a:p>
          <a:p>
            <a:pPr marL="2413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1935" algn="l"/>
                <a:tab pos="7328534" algn="l"/>
              </a:tabLst>
            </a:pP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write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as:	</a:t>
            </a:r>
            <a:r>
              <a:rPr sz="3200" spc="5" dirty="0">
                <a:latin typeface="Times New Roman"/>
                <a:cs typeface="Times New Roman"/>
              </a:rPr>
              <a:t>-27</a:t>
            </a:r>
            <a:endParaRPr sz="32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460"/>
              </a:lnSpc>
              <a:spcBef>
                <a:spcPts val="550"/>
              </a:spcBef>
              <a:buFont typeface="Arial MT"/>
              <a:buChar char="•"/>
              <a:tabLst>
                <a:tab pos="699135" algn="l"/>
                <a:tab pos="677545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same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since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'-' </a:t>
            </a:r>
            <a:r>
              <a:rPr sz="3200" b="1" dirty="0">
                <a:latin typeface="Times New Roman"/>
                <a:cs typeface="Times New Roman"/>
              </a:rPr>
              <a:t>SIGN	</a:t>
            </a:r>
            <a:r>
              <a:rPr sz="3200" dirty="0">
                <a:latin typeface="Times New Roman"/>
                <a:cs typeface="Times New Roman"/>
              </a:rPr>
              <a:t>identifies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67328" y="2487167"/>
            <a:ext cx="675640" cy="238125"/>
            <a:chOff x="3767328" y="2487167"/>
            <a:chExt cx="675640" cy="238125"/>
          </a:xfrm>
        </p:grpSpPr>
        <p:sp>
          <p:nvSpPr>
            <p:cNvPr id="5" name="object 5"/>
            <p:cNvSpPr/>
            <p:nvPr/>
          </p:nvSpPr>
          <p:spPr>
            <a:xfrm>
              <a:off x="3771900" y="2491739"/>
              <a:ext cx="666115" cy="228600"/>
            </a:xfrm>
            <a:custGeom>
              <a:avLst/>
              <a:gdLst/>
              <a:ahLst/>
              <a:cxnLst/>
              <a:rect l="l" t="t" r="r" b="b"/>
              <a:pathLst>
                <a:path w="666114" h="228600">
                  <a:moveTo>
                    <a:pt x="499745" y="0"/>
                  </a:moveTo>
                  <a:lnTo>
                    <a:pt x="499745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499745" y="171450"/>
                  </a:lnTo>
                  <a:lnTo>
                    <a:pt x="499745" y="228600"/>
                  </a:lnTo>
                  <a:lnTo>
                    <a:pt x="665988" y="114300"/>
                  </a:lnTo>
                  <a:lnTo>
                    <a:pt x="49974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1900" y="2491739"/>
              <a:ext cx="666115" cy="228600"/>
            </a:xfrm>
            <a:custGeom>
              <a:avLst/>
              <a:gdLst/>
              <a:ahLst/>
              <a:cxnLst/>
              <a:rect l="l" t="t" r="r" b="b"/>
              <a:pathLst>
                <a:path w="666114" h="228600">
                  <a:moveTo>
                    <a:pt x="0" y="57150"/>
                  </a:moveTo>
                  <a:lnTo>
                    <a:pt x="499745" y="57150"/>
                  </a:lnTo>
                  <a:lnTo>
                    <a:pt x="499745" y="0"/>
                  </a:lnTo>
                  <a:lnTo>
                    <a:pt x="665988" y="114300"/>
                  </a:lnTo>
                  <a:lnTo>
                    <a:pt x="499745" y="228600"/>
                  </a:lnTo>
                  <a:lnTo>
                    <a:pt x="499745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-22148" y="2802763"/>
            <a:ext cx="20066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4.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'Bits',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'Bytes'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-22148" y="3107563"/>
            <a:ext cx="81724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Times New Roman"/>
                <a:cs typeface="Times New Roman"/>
              </a:rPr>
              <a:t>'</a:t>
            </a:r>
            <a:r>
              <a:rPr sz="2000" spc="-140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ds’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412363"/>
            <a:ext cx="2298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5.Unsigned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8580" y="591388"/>
            <a:ext cx="94310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5.1</a:t>
            </a:r>
            <a:r>
              <a:rPr spc="-5" dirty="0"/>
              <a:t> Unsigned </a:t>
            </a:r>
            <a:r>
              <a:rPr dirty="0"/>
              <a:t>Binary</a:t>
            </a:r>
            <a:r>
              <a:rPr spc="-5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065" y="1788921"/>
            <a:ext cx="8446135" cy="21824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641985" indent="-228600">
              <a:lnSpc>
                <a:spcPts val="3890"/>
              </a:lnSpc>
              <a:spcBef>
                <a:spcPts val="58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Binary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representation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unsigned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form</a:t>
            </a:r>
            <a:r>
              <a:rPr sz="3600" spc="-5" dirty="0">
                <a:latin typeface="Times New Roman"/>
                <a:cs typeface="Times New Roman"/>
              </a:rPr>
              <a:t> has </a:t>
            </a:r>
            <a:r>
              <a:rPr sz="3600" dirty="0">
                <a:latin typeface="Times New Roman"/>
                <a:cs typeface="Times New Roman"/>
              </a:rPr>
              <a:t>only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MAGNITUDE.</a:t>
            </a: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8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All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binary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combinations</a:t>
            </a:r>
            <a:r>
              <a:rPr sz="3600" spc="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 </a:t>
            </a:r>
            <a:r>
              <a:rPr sz="3600" b="1" spc="-5" dirty="0">
                <a:latin typeface="Times New Roman"/>
                <a:cs typeface="Times New Roman"/>
              </a:rPr>
              <a:t>"n"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Bits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will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uniquely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identify</a:t>
            </a:r>
            <a:r>
              <a:rPr sz="3600" dirty="0">
                <a:latin typeface="Times New Roman"/>
                <a:cs typeface="Times New Roman"/>
              </a:rPr>
              <a:t> a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magnitude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0965" y="3962222"/>
            <a:ext cx="8392795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66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736600" algn="l"/>
                <a:tab pos="2644140" algn="l"/>
              </a:tabLst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0000	</a:t>
            </a:r>
            <a:r>
              <a:rPr sz="3200" spc="-70" dirty="0">
                <a:latin typeface="Times New Roman"/>
                <a:cs typeface="Times New Roman"/>
              </a:rPr>
              <a:t>1111.</a:t>
            </a:r>
            <a:endParaRPr sz="3200">
              <a:latin typeface="Times New Roman"/>
              <a:cs typeface="Times New Roman"/>
            </a:endParaRPr>
          </a:p>
          <a:p>
            <a:pPr marL="736600" indent="-2286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736600" algn="l"/>
                <a:tab pos="310959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Range 0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2</a:t>
            </a:r>
            <a:r>
              <a:rPr sz="3150" spc="7" baseline="25132" dirty="0">
                <a:solidFill>
                  <a:srgbClr val="FF0000"/>
                </a:solidFill>
                <a:latin typeface="Times New Roman"/>
                <a:cs typeface="Times New Roman"/>
              </a:rPr>
              <a:t>n	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-1</a:t>
            </a:r>
            <a:endParaRPr sz="3200">
              <a:latin typeface="Times New Roman"/>
              <a:cs typeface="Times New Roman"/>
            </a:endParaRPr>
          </a:p>
          <a:p>
            <a:pPr marL="279400" marR="43180" indent="-228600">
              <a:lnSpc>
                <a:spcPts val="3890"/>
              </a:lnSpc>
              <a:spcBef>
                <a:spcPts val="1050"/>
              </a:spcBef>
              <a:buFont typeface="Arial MT"/>
              <a:buChar char="•"/>
              <a:tabLst>
                <a:tab pos="279400" algn="l"/>
              </a:tabLst>
            </a:pPr>
            <a:r>
              <a:rPr sz="3600" spc="-5" dirty="0">
                <a:latin typeface="Times New Roman"/>
                <a:cs typeface="Times New Roman"/>
              </a:rPr>
              <a:t>So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program</a:t>
            </a:r>
            <a:r>
              <a:rPr sz="3600" spc="-5" dirty="0">
                <a:latin typeface="Times New Roman"/>
                <a:cs typeface="Times New Roman"/>
              </a:rPr>
              <a:t> variable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declarations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define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size </a:t>
            </a:r>
            <a:r>
              <a:rPr sz="3600" spc="-5" dirty="0">
                <a:latin typeface="Times New Roman"/>
                <a:cs typeface="Times New Roman"/>
              </a:rPr>
              <a:t>and </a:t>
            </a:r>
            <a:r>
              <a:rPr sz="3600" dirty="0">
                <a:latin typeface="Times New Roman"/>
                <a:cs typeface="Times New Roman"/>
              </a:rPr>
              <a:t>type of</a:t>
            </a:r>
            <a:r>
              <a:rPr sz="3600" spc="-5" dirty="0">
                <a:latin typeface="Times New Roman"/>
                <a:cs typeface="Times New Roman"/>
              </a:rPr>
              <a:t> storage</a:t>
            </a:r>
            <a:r>
              <a:rPr sz="3600" dirty="0">
                <a:latin typeface="Times New Roman"/>
                <a:cs typeface="Times New Roman"/>
              </a:rPr>
              <a:t> used!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22148" y="2497277"/>
            <a:ext cx="21837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5.Unsigned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-22148" y="2802763"/>
            <a:ext cx="2233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5.1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Unsigned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22148" y="3107563"/>
            <a:ext cx="167576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148" y="3412363"/>
            <a:ext cx="2102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5.2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Kilo-Mega-Giga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148" y="3717163"/>
            <a:ext cx="22745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5.3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Unsigned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-22148" y="4021658"/>
            <a:ext cx="6858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abl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/>
          <p:cNvSpPr txBox="1">
            <a:spLocks/>
          </p:cNvSpPr>
          <p:nvPr/>
        </p:nvSpPr>
        <p:spPr>
          <a:xfrm>
            <a:off x="2827655" y="412496"/>
            <a:ext cx="5782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  <a:tabLst>
                <a:tab pos="926465" algn="l"/>
              </a:tabLst>
            </a:pPr>
            <a:r>
              <a:rPr lang="en-US" kern="0" dirty="0"/>
              <a:t>5.2	Kilo</a:t>
            </a:r>
            <a:r>
              <a:rPr lang="en-US" kern="0" spc="-25" dirty="0"/>
              <a:t> </a:t>
            </a:r>
            <a:r>
              <a:rPr lang="en-US" kern="0" dirty="0"/>
              <a:t>-</a:t>
            </a:r>
            <a:r>
              <a:rPr lang="en-US" kern="0" spc="-15" dirty="0"/>
              <a:t> </a:t>
            </a:r>
            <a:r>
              <a:rPr lang="en-US" kern="0" dirty="0"/>
              <a:t>Mega</a:t>
            </a:r>
            <a:r>
              <a:rPr lang="en-US" kern="0" spc="-45" dirty="0"/>
              <a:t> </a:t>
            </a:r>
            <a:r>
              <a:rPr lang="en-US" kern="0" dirty="0"/>
              <a:t>-</a:t>
            </a:r>
            <a:r>
              <a:rPr lang="en-US" kern="0" spc="-30" dirty="0"/>
              <a:t> </a:t>
            </a:r>
            <a:r>
              <a:rPr lang="en-US" kern="0" dirty="0"/>
              <a:t>Giga</a:t>
            </a:r>
          </a:p>
        </p:txBody>
      </p:sp>
      <p:sp>
        <p:nvSpPr>
          <p:cNvPr id="19" name="object 3"/>
          <p:cNvSpPr txBox="1"/>
          <p:nvPr/>
        </p:nvSpPr>
        <p:spPr>
          <a:xfrm>
            <a:off x="2602866" y="1661541"/>
            <a:ext cx="82937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25" dirty="0">
                <a:latin typeface="Times New Roman"/>
                <a:cs typeface="Times New Roman"/>
              </a:rPr>
              <a:t>Within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Binary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these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terms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slightly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different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4"/>
          <p:cNvSpPr txBox="1"/>
          <p:nvPr/>
        </p:nvSpPr>
        <p:spPr>
          <a:xfrm>
            <a:off x="2577466" y="2023719"/>
            <a:ext cx="7794625" cy="385889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710"/>
              </a:spcBef>
            </a:pPr>
            <a:r>
              <a:rPr sz="3200" dirty="0">
                <a:latin typeface="Times New Roman"/>
                <a:cs typeface="Times New Roman"/>
              </a:rPr>
              <a:t>meaning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those </a:t>
            </a:r>
            <a:r>
              <a:rPr sz="3200" spc="-10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Decimal.</a:t>
            </a:r>
            <a:endParaRPr sz="3200" dirty="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66700" algn="l"/>
              </a:tabLst>
            </a:pPr>
            <a:r>
              <a:rPr sz="3200" dirty="0">
                <a:latin typeface="Times New Roman"/>
                <a:cs typeface="Times New Roman"/>
              </a:rPr>
              <a:t>Kilo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10</a:t>
            </a:r>
            <a:r>
              <a:rPr sz="3150" spc="15" baseline="25132" dirty="0">
                <a:latin typeface="Times New Roman"/>
                <a:cs typeface="Times New Roman"/>
              </a:rPr>
              <a:t>3</a:t>
            </a:r>
            <a:r>
              <a:rPr sz="3150" spc="367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1000</a:t>
            </a:r>
            <a:r>
              <a:rPr sz="3200" spc="2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Decimal.</a:t>
            </a:r>
          </a:p>
          <a:p>
            <a:pPr marL="2667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66700" algn="l"/>
              </a:tabLst>
            </a:pPr>
            <a:r>
              <a:rPr sz="3200" dirty="0">
                <a:latin typeface="Times New Roman"/>
                <a:cs typeface="Times New Roman"/>
              </a:rPr>
              <a:t>Kilo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2</a:t>
            </a:r>
            <a:r>
              <a:rPr sz="3150" spc="15" baseline="25132" dirty="0">
                <a:latin typeface="Times New Roman"/>
                <a:cs typeface="Times New Roman"/>
              </a:rPr>
              <a:t>10</a:t>
            </a:r>
            <a:r>
              <a:rPr sz="3150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1024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Binary.</a:t>
            </a:r>
            <a:endParaRPr sz="3200" dirty="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66700" algn="l"/>
              </a:tabLst>
            </a:pPr>
            <a:r>
              <a:rPr sz="3200" dirty="0">
                <a:latin typeface="Times New Roman"/>
                <a:cs typeface="Times New Roman"/>
              </a:rPr>
              <a:t>Mega =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Kilo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Kilo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(Kilo</a:t>
            </a:r>
            <a:r>
              <a:rPr sz="3150" spc="7" baseline="25132" dirty="0"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).</a:t>
            </a:r>
            <a:endParaRPr sz="3200" dirty="0">
              <a:latin typeface="Times New Roman"/>
              <a:cs typeface="Times New Roman"/>
            </a:endParaRPr>
          </a:p>
          <a:p>
            <a:pPr marL="723900" lvl="1" indent="-2286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723900" algn="l"/>
              </a:tabLst>
            </a:pPr>
            <a:r>
              <a:rPr sz="3200" dirty="0">
                <a:latin typeface="Times New Roman"/>
                <a:cs typeface="Times New Roman"/>
              </a:rPr>
              <a:t>1,048,576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Binary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 1,000,000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Decimal.</a:t>
            </a:r>
          </a:p>
          <a:p>
            <a:pPr marL="723900" lvl="1" indent="-2286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723900" algn="l"/>
              </a:tabLst>
            </a:pPr>
            <a:r>
              <a:rPr sz="3200" dirty="0">
                <a:latin typeface="Times New Roman"/>
                <a:cs typeface="Times New Roman"/>
              </a:rPr>
              <a:t>Decimal: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Mega =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10</a:t>
            </a:r>
            <a:r>
              <a:rPr sz="3150" spc="15" baseline="25132" dirty="0">
                <a:latin typeface="Times New Roman"/>
                <a:cs typeface="Times New Roman"/>
              </a:rPr>
              <a:t>6</a:t>
            </a:r>
            <a:r>
              <a:rPr sz="3150" spc="-15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 Binary: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Mega =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2</a:t>
            </a:r>
            <a:r>
              <a:rPr sz="3150" spc="15" baseline="25132" dirty="0">
                <a:latin typeface="Times New Roman"/>
                <a:cs typeface="Times New Roman"/>
              </a:rPr>
              <a:t>20</a:t>
            </a:r>
            <a:r>
              <a:rPr sz="3200" spc="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66700" algn="l"/>
                <a:tab pos="1590040" algn="l"/>
              </a:tabLst>
            </a:pPr>
            <a:r>
              <a:rPr sz="3200" dirty="0">
                <a:latin typeface="Times New Roman"/>
                <a:cs typeface="Times New Roman"/>
              </a:rPr>
              <a:t>Giga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	Kilo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Mega.</a:t>
            </a:r>
          </a:p>
        </p:txBody>
      </p:sp>
      <p:graphicFrame>
        <p:nvGraphicFramePr>
          <p:cNvPr id="21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17238"/>
              </p:ext>
            </p:extLst>
          </p:nvPr>
        </p:nvGraphicFramePr>
        <p:xfrm>
          <a:off x="10431979" y="2368770"/>
          <a:ext cx="1336222" cy="3981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28"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3200" b="1" spc="7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56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spc="7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28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80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spc="7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27"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spc="-5" dirty="0">
                          <a:latin typeface="Times New Roman"/>
                          <a:cs typeface="Times New Roman"/>
                        </a:rPr>
                        <a:t>..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480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spc="-5" dirty="0">
                          <a:latin typeface="Times New Roman"/>
                          <a:cs typeface="Times New Roman"/>
                        </a:rPr>
                        <a:t>512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28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spc="7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1K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479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spc="-82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2K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418">
                <a:tc>
                  <a:txBody>
                    <a:bodyPr/>
                    <a:lstStyle/>
                    <a:p>
                      <a:pPr marL="69850">
                        <a:lnSpc>
                          <a:spcPts val="1914"/>
                        </a:lnSpc>
                      </a:pPr>
                      <a:r>
                        <a:rPr sz="3200" b="1" spc="7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5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1M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455">
                <a:tc>
                  <a:txBody>
                    <a:bodyPr/>
                    <a:lstStyle/>
                    <a:p>
                      <a:pPr marL="69850">
                        <a:lnSpc>
                          <a:spcPts val="1910"/>
                        </a:lnSpc>
                      </a:pPr>
                      <a:r>
                        <a:rPr sz="3200" b="1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0"/>
                        </a:lnSpc>
                      </a:pPr>
                      <a:r>
                        <a:rPr sz="2100" spc="-5" dirty="0">
                          <a:latin typeface="Times New Roman"/>
                          <a:cs typeface="Times New Roman"/>
                        </a:rPr>
                        <a:t>1G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442">
                <a:tc>
                  <a:txBody>
                    <a:bodyPr/>
                    <a:lstStyle/>
                    <a:p>
                      <a:pPr marL="69850">
                        <a:lnSpc>
                          <a:spcPts val="1914"/>
                        </a:lnSpc>
                      </a:pPr>
                      <a:r>
                        <a:rPr sz="3200" b="1" spc="7" baseline="-164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2575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1T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object 9"/>
          <p:cNvSpPr txBox="1"/>
          <p:nvPr/>
        </p:nvSpPr>
        <p:spPr>
          <a:xfrm>
            <a:off x="-22148" y="2345182"/>
            <a:ext cx="2183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5.Unsigned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24" name="object 10"/>
          <p:cNvSpPr txBox="1"/>
          <p:nvPr/>
        </p:nvSpPr>
        <p:spPr>
          <a:xfrm>
            <a:off x="-22148" y="2649677"/>
            <a:ext cx="21355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5.1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Unsigned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11"/>
          <p:cNvSpPr txBox="1"/>
          <p:nvPr/>
        </p:nvSpPr>
        <p:spPr>
          <a:xfrm>
            <a:off x="-22148" y="2955163"/>
            <a:ext cx="1551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esenta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12"/>
          <p:cNvSpPr txBox="1"/>
          <p:nvPr/>
        </p:nvSpPr>
        <p:spPr>
          <a:xfrm>
            <a:off x="-22148" y="3259963"/>
            <a:ext cx="21710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5.2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Kilo-Mega-Giga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13"/>
          <p:cNvSpPr txBox="1"/>
          <p:nvPr/>
        </p:nvSpPr>
        <p:spPr>
          <a:xfrm>
            <a:off x="-22148" y="3564763"/>
            <a:ext cx="22745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5.3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Unsigned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14"/>
          <p:cNvSpPr txBox="1"/>
          <p:nvPr/>
        </p:nvSpPr>
        <p:spPr>
          <a:xfrm>
            <a:off x="-22148" y="3869563"/>
            <a:ext cx="685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ables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0632" y="266446"/>
            <a:ext cx="7510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3517900" algn="l"/>
              </a:tabLst>
            </a:pPr>
            <a:r>
              <a:rPr dirty="0"/>
              <a:t>5.3	</a:t>
            </a:r>
            <a:r>
              <a:rPr spc="-5" dirty="0"/>
              <a:t>Unsigned	Numbers</a:t>
            </a:r>
            <a:r>
              <a:rPr spc="-150" dirty="0"/>
              <a:t> </a:t>
            </a:r>
            <a:r>
              <a:rPr spc="-9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0185" y="1210436"/>
            <a:ext cx="8832215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05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Look at</a:t>
            </a:r>
            <a:r>
              <a:rPr sz="3600" spc="-5" dirty="0">
                <a:latin typeface="Times New Roman"/>
                <a:cs typeface="Times New Roman"/>
              </a:rPr>
              <a:t> this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15" dirty="0">
                <a:latin typeface="Times New Roman"/>
                <a:cs typeface="Times New Roman"/>
              </a:rPr>
              <a:t>t</a:t>
            </a:r>
            <a:r>
              <a:rPr sz="3600" dirty="0">
                <a:latin typeface="Times New Roman"/>
                <a:cs typeface="Times New Roman"/>
              </a:rPr>
              <a:t>able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 16 values </a:t>
            </a:r>
            <a:r>
              <a:rPr sz="3600" spc="-5" dirty="0">
                <a:latin typeface="Times New Roman"/>
                <a:cs typeface="Times New Roman"/>
              </a:rPr>
              <a:t>we</a:t>
            </a:r>
            <a:r>
              <a:rPr sz="3600" dirty="0">
                <a:latin typeface="Times New Roman"/>
                <a:cs typeface="Times New Roman"/>
              </a:rPr>
              <a:t> need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‘4’</a:t>
            </a:r>
            <a:r>
              <a:rPr sz="3600" b="1" spc="-26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Bits’</a:t>
            </a:r>
            <a:endParaRPr sz="3600" dirty="0">
              <a:latin typeface="Times New Roman"/>
              <a:cs typeface="Times New Roman"/>
            </a:endParaRPr>
          </a:p>
          <a:p>
            <a:pPr marL="241300">
              <a:lnSpc>
                <a:spcPts val="4105"/>
              </a:lnSpc>
            </a:pP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" dirty="0">
                <a:latin typeface="Times New Roman"/>
                <a:cs typeface="Times New Roman"/>
              </a:rPr>
              <a:t> represent </a:t>
            </a:r>
            <a:r>
              <a:rPr sz="3600" dirty="0">
                <a:latin typeface="Times New Roman"/>
                <a:cs typeface="Times New Roman"/>
              </a:rPr>
              <a:t>all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possible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values.</a:t>
            </a:r>
            <a:endParaRPr sz="36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863232"/>
              </p:ext>
            </p:extLst>
          </p:nvPr>
        </p:nvGraphicFramePr>
        <p:xfrm>
          <a:off x="3118168" y="2595562"/>
          <a:ext cx="7177403" cy="3746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4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Decimal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Binary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Decimal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Binary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0000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0001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1001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0010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1010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30" dirty="0">
                          <a:latin typeface="Times New Roman"/>
                          <a:cs typeface="Times New Roman"/>
                        </a:rPr>
                        <a:t>0011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114" dirty="0">
                          <a:latin typeface="Times New Roman"/>
                          <a:cs typeface="Times New Roman"/>
                        </a:rPr>
                        <a:t>11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30" dirty="0">
                          <a:latin typeface="Times New Roman"/>
                          <a:cs typeface="Times New Roman"/>
                        </a:rPr>
                        <a:t>1011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0100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30" dirty="0">
                          <a:latin typeface="Times New Roman"/>
                          <a:cs typeface="Times New Roman"/>
                        </a:rPr>
                        <a:t>1100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0101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30" dirty="0">
                          <a:latin typeface="Times New Roman"/>
                          <a:cs typeface="Times New Roman"/>
                        </a:rPr>
                        <a:t>1101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30" dirty="0">
                          <a:latin typeface="Times New Roman"/>
                          <a:cs typeface="Times New Roman"/>
                        </a:rPr>
                        <a:t>0110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60" dirty="0">
                          <a:latin typeface="Times New Roman"/>
                          <a:cs typeface="Times New Roman"/>
                        </a:rPr>
                        <a:t>1110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60" dirty="0">
                          <a:latin typeface="Times New Roman"/>
                          <a:cs typeface="Times New Roman"/>
                        </a:rPr>
                        <a:t>0111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b="1" spc="-114" dirty="0">
                          <a:latin typeface="Times New Roman"/>
                          <a:cs typeface="Times New Roman"/>
                        </a:rPr>
                        <a:t>1111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-22148" y="2345182"/>
            <a:ext cx="218376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835" indent="-191770">
              <a:lnSpc>
                <a:spcPct val="100000"/>
              </a:lnSpc>
              <a:spcBef>
                <a:spcPts val="105"/>
              </a:spcBef>
              <a:buSzPct val="95000"/>
              <a:buAutoNum type="arabicPeriod" startAt="5"/>
              <a:tabLst>
                <a:tab pos="204470" algn="l"/>
              </a:tabLst>
            </a:pPr>
            <a:r>
              <a:rPr sz="2000" dirty="0">
                <a:latin typeface="Times New Roman"/>
                <a:cs typeface="Times New Roman"/>
              </a:rPr>
              <a:t>Unsigned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  <a:p>
            <a:pPr marL="393065" lvl="1" indent="-381000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Unsigned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Representation</a:t>
            </a:r>
            <a:endParaRPr sz="2000">
              <a:latin typeface="Times New Roman"/>
              <a:cs typeface="Times New Roman"/>
            </a:endParaRPr>
          </a:p>
          <a:p>
            <a:pPr marL="393065" lvl="1" indent="-381000">
              <a:lnSpc>
                <a:spcPct val="100000"/>
              </a:lnSpc>
              <a:buAutoNum type="arabicPeriod" startAt="2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Kilo-Mega-Giga</a:t>
            </a:r>
            <a:endParaRPr sz="2000">
              <a:latin typeface="Times New Roman"/>
              <a:cs typeface="Times New Roman"/>
            </a:endParaRPr>
          </a:p>
          <a:p>
            <a:pPr marL="12700" marR="607060" lvl="1">
              <a:lnSpc>
                <a:spcPct val="100000"/>
              </a:lnSpc>
              <a:buAutoNum type="arabicPeriod" startAt="2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Unsigned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8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5" dirty="0">
                <a:latin typeface="Times New Roman"/>
                <a:cs typeface="Times New Roman"/>
              </a:rPr>
              <a:t>b</a:t>
            </a:r>
            <a:r>
              <a:rPr sz="2000" b="1" dirty="0">
                <a:latin typeface="Times New Roman"/>
                <a:cs typeface="Times New Roman"/>
              </a:rPr>
              <a:t>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2565" y="591388"/>
            <a:ext cx="4953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30" dirty="0"/>
              <a:t> </a:t>
            </a:r>
            <a:r>
              <a:rPr spc="-5" dirty="0"/>
              <a:t>Signed</a:t>
            </a:r>
            <a:r>
              <a:rPr spc="-10" dirty="0"/>
              <a:t> </a:t>
            </a:r>
            <a:r>
              <a:rPr spc="-5" dirty="0"/>
              <a:t>Numbers</a:t>
            </a:r>
          </a:p>
        </p:txBody>
      </p:sp>
      <p:sp>
        <p:nvSpPr>
          <p:cNvPr id="3" name="object 3"/>
          <p:cNvSpPr/>
          <p:nvPr/>
        </p:nvSpPr>
        <p:spPr>
          <a:xfrm>
            <a:off x="4573524" y="4813553"/>
            <a:ext cx="1537970" cy="0"/>
          </a:xfrm>
          <a:custGeom>
            <a:avLst/>
            <a:gdLst/>
            <a:ahLst/>
            <a:cxnLst/>
            <a:rect l="l" t="t" r="r" b="b"/>
            <a:pathLst>
              <a:path w="1537970">
                <a:moveTo>
                  <a:pt x="242315" y="0"/>
                </a:moveTo>
                <a:lnTo>
                  <a:pt x="1537715" y="0"/>
                </a:lnTo>
              </a:path>
              <a:path w="1537970">
                <a:moveTo>
                  <a:pt x="0" y="0"/>
                </a:moveTo>
                <a:lnTo>
                  <a:pt x="202691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91000" y="4822697"/>
            <a:ext cx="3124200" cy="228600"/>
          </a:xfrm>
          <a:custGeom>
            <a:avLst/>
            <a:gdLst/>
            <a:ahLst/>
            <a:cxnLst/>
            <a:rect l="l" t="t" r="r" b="b"/>
            <a:pathLst>
              <a:path w="3124200" h="228600">
                <a:moveTo>
                  <a:pt x="1295400" y="0"/>
                </a:moveTo>
                <a:lnTo>
                  <a:pt x="1295400" y="228600"/>
                </a:lnTo>
                <a:lnTo>
                  <a:pt x="3124200" y="228600"/>
                </a:lnTo>
              </a:path>
              <a:path w="3124200" h="228600">
                <a:moveTo>
                  <a:pt x="495300" y="0"/>
                </a:moveTo>
                <a:lnTo>
                  <a:pt x="495300" y="228600"/>
                </a:lnTo>
                <a:lnTo>
                  <a:pt x="0" y="2286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93870" y="5880353"/>
            <a:ext cx="1537970" cy="0"/>
          </a:xfrm>
          <a:custGeom>
            <a:avLst/>
            <a:gdLst/>
            <a:ahLst/>
            <a:cxnLst/>
            <a:rect l="l" t="t" r="r" b="b"/>
            <a:pathLst>
              <a:path w="1537970">
                <a:moveTo>
                  <a:pt x="242315" y="0"/>
                </a:moveTo>
                <a:lnTo>
                  <a:pt x="1537715" y="0"/>
                </a:lnTo>
              </a:path>
              <a:path w="1537970">
                <a:moveTo>
                  <a:pt x="0" y="0"/>
                </a:moveTo>
                <a:lnTo>
                  <a:pt x="202691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91000" y="5889497"/>
            <a:ext cx="3124200" cy="228600"/>
          </a:xfrm>
          <a:custGeom>
            <a:avLst/>
            <a:gdLst/>
            <a:ahLst/>
            <a:cxnLst/>
            <a:rect l="l" t="t" r="r" b="b"/>
            <a:pathLst>
              <a:path w="3124200" h="228600">
                <a:moveTo>
                  <a:pt x="1295400" y="0"/>
                </a:moveTo>
                <a:lnTo>
                  <a:pt x="1295400" y="228599"/>
                </a:lnTo>
                <a:lnTo>
                  <a:pt x="3124200" y="228599"/>
                </a:lnTo>
              </a:path>
              <a:path w="3124200" h="228600">
                <a:moveTo>
                  <a:pt x="495300" y="0"/>
                </a:moveTo>
                <a:lnTo>
                  <a:pt x="495300" y="228599"/>
                </a:lnTo>
                <a:lnTo>
                  <a:pt x="0" y="228599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-22148" y="3107563"/>
            <a:ext cx="20815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6.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Signed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-22148" y="3412363"/>
            <a:ext cx="2257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7.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Radix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4"/>
          <p:cNvSpPr txBox="1"/>
          <p:nvPr/>
        </p:nvSpPr>
        <p:spPr>
          <a:xfrm>
            <a:off x="2766695" y="1653616"/>
            <a:ext cx="8510905" cy="3566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Decimal number system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uses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spc="5" dirty="0">
                <a:latin typeface="Times New Roman"/>
                <a:cs typeface="Times New Roman"/>
              </a:rPr>
              <a:t>‘-‘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(minus)</a:t>
            </a:r>
            <a:endParaRPr sz="36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698500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Binary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symbols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 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0.</a:t>
            </a:r>
          </a:p>
          <a:p>
            <a:pPr marL="241300" marR="57785" indent="-228600">
              <a:lnSpc>
                <a:spcPts val="38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But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we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must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able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signed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" dirty="0">
                <a:latin typeface="Times New Roman"/>
                <a:cs typeface="Times New Roman"/>
              </a:rPr>
              <a:t> computer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memory!</a:t>
            </a: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ts val="411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One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possible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solution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-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signed</a:t>
            </a:r>
            <a:r>
              <a:rPr sz="3600" i="1" spc="-1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magnitude</a:t>
            </a:r>
            <a:endParaRPr sz="3600" dirty="0">
              <a:latin typeface="Times New Roman"/>
              <a:cs typeface="Times New Roman"/>
            </a:endParaRPr>
          </a:p>
          <a:p>
            <a:pPr marL="1837055">
              <a:lnSpc>
                <a:spcPts val="2970"/>
              </a:lnSpc>
            </a:pP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800" spc="-30" dirty="0">
                <a:latin typeface="Times New Roman"/>
                <a:cs typeface="Times New Roman"/>
              </a:rPr>
              <a:t>0010111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+23</a:t>
            </a:r>
            <a:endParaRPr sz="2800" dirty="0">
              <a:latin typeface="Times New Roman"/>
              <a:cs typeface="Times New Roman"/>
            </a:endParaRPr>
          </a:p>
          <a:p>
            <a:pPr marL="753110">
              <a:lnSpc>
                <a:spcPts val="3180"/>
              </a:lnSpc>
              <a:tabLst>
                <a:tab pos="465709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sign	</a:t>
            </a:r>
            <a:r>
              <a:rPr sz="2800" spc="-5" dirty="0">
                <a:latin typeface="Times New Roman"/>
                <a:cs typeface="Times New Roman"/>
              </a:rPr>
              <a:t>magnitude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6" name="object 7"/>
          <p:cNvSpPr txBox="1"/>
          <p:nvPr/>
        </p:nvSpPr>
        <p:spPr>
          <a:xfrm>
            <a:off x="3487420" y="5454497"/>
            <a:ext cx="5427980" cy="833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6010">
              <a:lnSpc>
                <a:spcPts val="3180"/>
              </a:lnSpc>
              <a:spcBef>
                <a:spcPts val="95"/>
              </a:spcBef>
            </a:pPr>
            <a:r>
              <a:rPr sz="2800" spc="-3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spc="-30" dirty="0">
                <a:latin typeface="Times New Roman"/>
                <a:cs typeface="Times New Roman"/>
              </a:rPr>
              <a:t>0010111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-23</a:t>
            </a:r>
          </a:p>
          <a:p>
            <a:pPr marL="12700">
              <a:lnSpc>
                <a:spcPts val="3180"/>
              </a:lnSpc>
              <a:tabLst>
                <a:tab pos="391604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si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agn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de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1630" y="591388"/>
            <a:ext cx="4953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30" dirty="0"/>
              <a:t> </a:t>
            </a:r>
            <a:r>
              <a:rPr spc="-5" dirty="0"/>
              <a:t>Signed</a:t>
            </a:r>
            <a:r>
              <a:rPr spc="-10" dirty="0"/>
              <a:t> </a:t>
            </a:r>
            <a:r>
              <a:rPr spc="-5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8930" y="1577721"/>
            <a:ext cx="7604125" cy="423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effect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 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 integers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-5" dirty="0">
                <a:latin typeface="Times New Roman"/>
                <a:cs typeface="Times New Roman"/>
              </a:rPr>
              <a:t> use?</a:t>
            </a:r>
            <a:endParaRPr sz="28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254000" algn="l"/>
              </a:tabLst>
            </a:pPr>
            <a:r>
              <a:rPr sz="3600" dirty="0">
                <a:latin typeface="Times New Roman"/>
                <a:cs typeface="Times New Roman"/>
              </a:rPr>
              <a:t>8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bit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i="1" spc="-5" dirty="0">
                <a:latin typeface="Times New Roman"/>
                <a:cs typeface="Times New Roman"/>
              </a:rPr>
              <a:t>unsigned </a:t>
            </a:r>
            <a:r>
              <a:rPr sz="3600" spc="-5" dirty="0">
                <a:latin typeface="Times New Roman"/>
                <a:cs typeface="Times New Roman"/>
              </a:rPr>
              <a:t>binary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</a:t>
            </a:r>
          </a:p>
          <a:p>
            <a:pPr marL="7112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00000000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11111111</a:t>
            </a:r>
            <a:endParaRPr sz="2400" dirty="0">
              <a:latin typeface="Times New Roman"/>
              <a:cs typeface="Times New Roman"/>
            </a:endParaRPr>
          </a:p>
          <a:p>
            <a:pPr marL="1320800">
              <a:lnSpc>
                <a:spcPct val="100000"/>
              </a:lnSpc>
              <a:spcBef>
                <a:spcPts val="555"/>
              </a:spcBef>
              <a:tabLst>
                <a:tab pos="2005964" algn="l"/>
                <a:tab pos="2566035" algn="l"/>
              </a:tabLst>
            </a:pPr>
            <a:r>
              <a:rPr sz="2400" dirty="0">
                <a:latin typeface="Times New Roman"/>
                <a:cs typeface="Times New Roman"/>
              </a:rPr>
              <a:t>0	-	255</a:t>
            </a:r>
            <a:r>
              <a:rPr sz="2775" baseline="-21021" dirty="0">
                <a:latin typeface="Times New Roman"/>
                <a:cs typeface="Times New Roman"/>
              </a:rPr>
              <a:t>10</a:t>
            </a:r>
          </a:p>
          <a:p>
            <a:pPr marL="2540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54000" algn="l"/>
              </a:tabLst>
            </a:pPr>
            <a:r>
              <a:rPr sz="3600" dirty="0">
                <a:latin typeface="Times New Roman"/>
                <a:cs typeface="Times New Roman"/>
              </a:rPr>
              <a:t>8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bit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signed</a:t>
            </a:r>
            <a:r>
              <a:rPr sz="3600" i="1" spc="-2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binary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</a:t>
            </a:r>
          </a:p>
          <a:p>
            <a:pPr marL="711200">
              <a:lnSpc>
                <a:spcPct val="100000"/>
              </a:lnSpc>
              <a:spcBef>
                <a:spcPts val="254"/>
              </a:spcBef>
            </a:pPr>
            <a:r>
              <a:rPr sz="2400" spc="-65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400" spc="-65" dirty="0">
                <a:latin typeface="Times New Roman"/>
                <a:cs typeface="Times New Roman"/>
              </a:rPr>
              <a:t>1111111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spc="-85" dirty="0">
                <a:latin typeface="Times New Roman"/>
                <a:cs typeface="Times New Roman"/>
              </a:rPr>
              <a:t>1111111</a:t>
            </a:r>
            <a:endParaRPr sz="2400" dirty="0">
              <a:latin typeface="Times New Roman"/>
              <a:cs typeface="Times New Roman"/>
            </a:endParaRPr>
          </a:p>
          <a:p>
            <a:pPr marL="863600">
              <a:lnSpc>
                <a:spcPct val="100000"/>
              </a:lnSpc>
              <a:spcBef>
                <a:spcPts val="215"/>
              </a:spcBef>
              <a:tabLst>
                <a:tab pos="2035175" algn="l"/>
                <a:tab pos="2593340" algn="l"/>
              </a:tabLst>
            </a:pPr>
            <a:r>
              <a:rPr sz="2400" dirty="0">
                <a:latin typeface="Times New Roman"/>
                <a:cs typeface="Times New Roman"/>
              </a:rPr>
              <a:t>+127</a:t>
            </a:r>
            <a:r>
              <a:rPr sz="2775" baseline="-21021" dirty="0">
                <a:latin typeface="Times New Roman"/>
                <a:cs typeface="Times New Roman"/>
              </a:rPr>
              <a:t>10	</a:t>
            </a:r>
            <a:r>
              <a:rPr sz="2400" dirty="0">
                <a:latin typeface="Times New Roman"/>
                <a:cs typeface="Times New Roman"/>
              </a:rPr>
              <a:t>-	-127</a:t>
            </a:r>
            <a:r>
              <a:rPr sz="2775" baseline="-21021" dirty="0">
                <a:latin typeface="Times New Roman"/>
                <a:cs typeface="Times New Roman"/>
              </a:rPr>
              <a:t>10</a:t>
            </a:r>
          </a:p>
          <a:p>
            <a:pPr marL="482600">
              <a:lnSpc>
                <a:spcPct val="100000"/>
              </a:lnSpc>
              <a:spcBef>
                <a:spcPts val="150"/>
              </a:spcBef>
            </a:pP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Range</a:t>
            </a:r>
            <a:r>
              <a:rPr sz="28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1F5F"/>
                </a:solidFill>
                <a:latin typeface="Times New Roman"/>
                <a:cs typeface="Times New Roman"/>
              </a:rPr>
              <a:t>(2</a:t>
            </a:r>
            <a:r>
              <a:rPr sz="2775" spc="7" baseline="25525" dirty="0">
                <a:solidFill>
                  <a:srgbClr val="001F5F"/>
                </a:solidFill>
                <a:latin typeface="Times New Roman"/>
                <a:cs typeface="Times New Roman"/>
              </a:rPr>
              <a:t>n-1</a:t>
            </a:r>
            <a:r>
              <a:rPr sz="2775" spc="359" baseline="255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-1) to</a:t>
            </a:r>
            <a:r>
              <a:rPr sz="28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1F5F"/>
                </a:solidFill>
                <a:latin typeface="Times New Roman"/>
                <a:cs typeface="Times New Roman"/>
              </a:rPr>
              <a:t>2</a:t>
            </a:r>
            <a:r>
              <a:rPr sz="2775" spc="7" baseline="25525" dirty="0">
                <a:solidFill>
                  <a:srgbClr val="001F5F"/>
                </a:solidFill>
                <a:latin typeface="Times New Roman"/>
                <a:cs typeface="Times New Roman"/>
              </a:rPr>
              <a:t>n-1</a:t>
            </a:r>
            <a:r>
              <a:rPr sz="2775" spc="352" baseline="255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-1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8830" y="6130848"/>
            <a:ext cx="8167370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 have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00000000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10000000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problem?</a:t>
            </a:r>
            <a:endParaRPr sz="2800">
              <a:latin typeface="Times New Roman"/>
              <a:cs typeface="Times New Roman"/>
            </a:endParaRPr>
          </a:p>
          <a:p>
            <a:pPr marR="5080" algn="r">
              <a:lnSpc>
                <a:spcPts val="925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2955163"/>
            <a:ext cx="214376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930" indent="-253365">
              <a:lnSpc>
                <a:spcPct val="100000"/>
              </a:lnSpc>
              <a:spcBef>
                <a:spcPts val="105"/>
              </a:spcBef>
              <a:buAutoNum type="arabicPeriod" startAt="6"/>
              <a:tabLst>
                <a:tab pos="329565" algn="l"/>
              </a:tabLst>
            </a:pPr>
            <a:r>
              <a:rPr sz="2000" b="1" dirty="0">
                <a:latin typeface="Times New Roman"/>
                <a:cs typeface="Times New Roman"/>
              </a:rPr>
              <a:t>Signed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  <a:p>
            <a:pPr marL="12700" marR="813435" indent="63500">
              <a:lnSpc>
                <a:spcPct val="100000"/>
              </a:lnSpc>
              <a:buAutoNum type="arabicPeriod" startAt="6"/>
              <a:tabLst>
                <a:tab pos="329565" algn="l"/>
              </a:tabLst>
            </a:pPr>
            <a:r>
              <a:rPr sz="2000" spc="-5" dirty="0">
                <a:latin typeface="Times New Roman"/>
                <a:cs typeface="Times New Roman"/>
              </a:rPr>
              <a:t>Radix </a:t>
            </a:r>
            <a:r>
              <a:rPr sz="2000" dirty="0">
                <a:latin typeface="Times New Roman"/>
                <a:cs typeface="Times New Roman"/>
              </a:rPr>
              <a:t> Co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ple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8450" y="653874"/>
            <a:ext cx="55295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5" dirty="0"/>
              <a:t> </a:t>
            </a:r>
            <a:r>
              <a:rPr dirty="0"/>
              <a:t>Radix</a:t>
            </a:r>
            <a:r>
              <a:rPr spc="-25" dirty="0"/>
              <a:t> </a:t>
            </a:r>
            <a:r>
              <a:rPr spc="-5" dirty="0"/>
              <a:t>complement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8450" y="1845025"/>
            <a:ext cx="8286750" cy="32232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2's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complement</a:t>
            </a:r>
            <a:endParaRPr sz="2800" dirty="0">
              <a:latin typeface="Times New Roman"/>
              <a:cs typeface="Times New Roman"/>
            </a:endParaRPr>
          </a:p>
          <a:p>
            <a:pPr marL="698500" marR="5080" lvl="1" indent="-229235">
              <a:lnSpc>
                <a:spcPts val="3030"/>
              </a:lnSpc>
              <a:spcBef>
                <a:spcPts val="54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40" dirty="0">
                <a:latin typeface="Times New Roman"/>
                <a:cs typeface="Times New Roman"/>
              </a:rPr>
              <a:t>Variation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 magnitude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some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very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useful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characteristics.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Subtraction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becomes complementary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addition.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Convert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-ve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spc="-10" dirty="0">
                <a:latin typeface="Times New Roman"/>
                <a:cs typeface="Times New Roman"/>
              </a:rPr>
              <a:t>2's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complement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then add.</a:t>
            </a:r>
            <a:endParaRPr sz="2800" dirty="0">
              <a:latin typeface="Times New Roman"/>
              <a:cs typeface="Times New Roman"/>
            </a:endParaRPr>
          </a:p>
          <a:p>
            <a:pPr marL="927100" marR="1523365" lvl="1" indent="-457834">
              <a:lnSpc>
                <a:spcPts val="3529"/>
              </a:lnSpc>
              <a:spcBef>
                <a:spcPts val="8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10" dirty="0">
                <a:latin typeface="Times New Roman"/>
                <a:cs typeface="Times New Roman"/>
              </a:rPr>
              <a:t>Get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subtraction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negative.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30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+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(-30)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 0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3017649"/>
            <a:ext cx="197993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5"/>
              </a:spcBef>
              <a:buAutoNum type="arabicPeriod" startAt="6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Signed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  <a:p>
            <a:pPr marL="12700" marR="558800">
              <a:lnSpc>
                <a:spcPct val="100000"/>
              </a:lnSpc>
              <a:buAutoNum type="arabicPeriod" startAt="6"/>
              <a:tabLst>
                <a:tab pos="267335" algn="l"/>
              </a:tabLst>
            </a:pPr>
            <a:r>
              <a:rPr sz="2000" b="1" dirty="0">
                <a:latin typeface="Times New Roman"/>
                <a:cs typeface="Times New Roman"/>
              </a:rPr>
              <a:t>Radix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</a:t>
            </a:r>
            <a:r>
              <a:rPr sz="2000" b="1" spc="10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mpl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527166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34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991" y="812672"/>
            <a:ext cx="77508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7.1</a:t>
            </a:r>
            <a:r>
              <a:rPr sz="3600" spc="-20" dirty="0"/>
              <a:t> </a:t>
            </a:r>
            <a:r>
              <a:rPr sz="3600" spc="-5" dirty="0"/>
              <a:t>Subtraction</a:t>
            </a:r>
            <a:r>
              <a:rPr sz="3600" spc="-25" dirty="0"/>
              <a:t> </a:t>
            </a:r>
            <a:r>
              <a:rPr sz="3600" dirty="0"/>
              <a:t>and</a:t>
            </a:r>
            <a:r>
              <a:rPr sz="3600" spc="-85" dirty="0"/>
              <a:t> Two’s</a:t>
            </a:r>
            <a:r>
              <a:rPr sz="3600" spc="-25" dirty="0"/>
              <a:t> </a:t>
            </a:r>
            <a:r>
              <a:rPr sz="3600" spc="-5" dirty="0"/>
              <a:t>Complement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840991" y="1782539"/>
            <a:ext cx="7590790" cy="18802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5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create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2’s</a:t>
            </a:r>
            <a:r>
              <a:rPr sz="2800" spc="-5" dirty="0">
                <a:latin typeface="Times New Roman"/>
                <a:cs typeface="Times New Roman"/>
              </a:rPr>
              <a:t> complement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negative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number.</a:t>
            </a:r>
            <a:endParaRPr sz="2800" dirty="0">
              <a:latin typeface="Times New Roman"/>
              <a:cs typeface="Times New Roman"/>
            </a:endParaRPr>
          </a:p>
          <a:p>
            <a:pPr marL="824865" lvl="1" indent="-355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825500" algn="l"/>
              </a:tabLst>
            </a:pPr>
            <a:r>
              <a:rPr sz="2800" dirty="0">
                <a:latin typeface="Times New Roman"/>
                <a:cs typeface="Times New Roman"/>
              </a:rPr>
              <a:t>Invert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'1's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'0'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'0's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'1’</a:t>
            </a:r>
            <a:endParaRPr sz="2800" dirty="0">
              <a:latin typeface="Times New Roman"/>
              <a:cs typeface="Times New Roman"/>
            </a:endParaRPr>
          </a:p>
          <a:p>
            <a:pPr marL="804545" lvl="1" indent="-33528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805180" algn="l"/>
              </a:tabLst>
            </a:pPr>
            <a:r>
              <a:rPr sz="2800" spc="-5" dirty="0">
                <a:latin typeface="Times New Roman"/>
                <a:cs typeface="Times New Roman"/>
              </a:rPr>
              <a:t>Add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 </a:t>
            </a:r>
            <a:r>
              <a:rPr sz="2800" spc="-10" dirty="0">
                <a:latin typeface="Times New Roman"/>
                <a:cs typeface="Times New Roman"/>
              </a:rPr>
              <a:t>same</a:t>
            </a:r>
            <a:r>
              <a:rPr sz="2800" spc="-5" dirty="0">
                <a:latin typeface="Times New Roman"/>
                <a:cs typeface="Times New Roman"/>
              </a:rPr>
              <a:t> number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40991" y="3699535"/>
            <a:ext cx="3554729" cy="13703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241300" algn="l"/>
                <a:tab pos="1946275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	</a:t>
            </a:r>
            <a:r>
              <a:rPr sz="2800" dirty="0">
                <a:latin typeface="Times New Roman"/>
                <a:cs typeface="Times New Roman"/>
              </a:rPr>
              <a:t>25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-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7</a:t>
            </a:r>
            <a:endParaRPr sz="2800" dirty="0">
              <a:latin typeface="Times New Roman"/>
              <a:cs typeface="Times New Roman"/>
            </a:endParaRPr>
          </a:p>
          <a:p>
            <a:pPr marL="1247140">
              <a:lnSpc>
                <a:spcPct val="100000"/>
              </a:lnSpc>
              <a:spcBef>
                <a:spcPts val="170"/>
              </a:spcBef>
              <a:tabLst>
                <a:tab pos="1841500" algn="l"/>
              </a:tabLst>
            </a:pPr>
            <a:r>
              <a:rPr sz="2800" dirty="0">
                <a:latin typeface="Times New Roman"/>
                <a:cs typeface="Times New Roman"/>
              </a:rPr>
              <a:t>25	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00011001</a:t>
            </a:r>
            <a:endParaRPr sz="2800" dirty="0">
              <a:latin typeface="Times New Roman"/>
              <a:cs typeface="Times New Roman"/>
            </a:endParaRPr>
          </a:p>
          <a:p>
            <a:pPr marL="1247140">
              <a:lnSpc>
                <a:spcPct val="100000"/>
              </a:lnSpc>
              <a:spcBef>
                <a:spcPts val="165"/>
              </a:spcBef>
              <a:tabLst>
                <a:tab pos="1841500" algn="l"/>
              </a:tabLst>
            </a:pPr>
            <a:r>
              <a:rPr sz="2800" spc="-5" dirty="0">
                <a:latin typeface="Times New Roman"/>
                <a:cs typeface="Times New Roman"/>
              </a:rPr>
              <a:t>7	=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00000111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2649677"/>
            <a:ext cx="2258695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 algn="just">
              <a:lnSpc>
                <a:spcPct val="100000"/>
              </a:lnSpc>
              <a:spcBef>
                <a:spcPts val="105"/>
              </a:spcBef>
              <a:buAutoNum type="arabicPeriod" startAt="7"/>
              <a:tabLst>
                <a:tab pos="267335" algn="l"/>
              </a:tabLst>
            </a:pPr>
            <a:r>
              <a:rPr sz="2000" dirty="0">
                <a:latin typeface="Times New Roman"/>
                <a:cs typeface="Times New Roman"/>
              </a:rPr>
              <a:t>Radix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  <a:p>
            <a:pPr marL="12700" marR="100965" lvl="1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Subtraction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45" dirty="0">
                <a:latin typeface="Times New Roman"/>
                <a:cs typeface="Times New Roman"/>
              </a:rPr>
              <a:t>Two’s </a:t>
            </a:r>
            <a:r>
              <a:rPr sz="2000" b="1" dirty="0">
                <a:latin typeface="Times New Roman"/>
                <a:cs typeface="Times New Roman"/>
              </a:rPr>
              <a:t>Complement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7.1.1Subtraction 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2’s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35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653874"/>
            <a:ext cx="82365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7.1.1</a:t>
            </a:r>
            <a:r>
              <a:rPr spc="-20" dirty="0"/>
              <a:t> </a:t>
            </a:r>
            <a:r>
              <a:rPr spc="-5" dirty="0"/>
              <a:t>Subtraction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60" dirty="0"/>
              <a:t>2’s</a:t>
            </a:r>
            <a:r>
              <a:rPr spc="-25" dirty="0"/>
              <a:t> </a:t>
            </a:r>
            <a:r>
              <a:rPr spc="-5" dirty="0"/>
              <a:t>Comp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0865" y="3095022"/>
            <a:ext cx="2488565" cy="212280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320"/>
              </a:spcBef>
            </a:pPr>
            <a:r>
              <a:rPr sz="2400" spc="-45" dirty="0">
                <a:latin typeface="Times New Roman"/>
                <a:cs typeface="Times New Roman"/>
              </a:rPr>
              <a:t>11111000</a:t>
            </a:r>
            <a:endParaRPr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Times New Roman"/>
                <a:cs typeface="Times New Roman"/>
              </a:rPr>
              <a:t>Step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</a:p>
          <a:p>
            <a:pPr marL="600075">
              <a:lnSpc>
                <a:spcPct val="100000"/>
              </a:lnSpc>
              <a:spcBef>
                <a:spcPts val="1175"/>
              </a:spcBef>
            </a:pPr>
            <a:r>
              <a:rPr sz="2400" spc="-45" dirty="0">
                <a:latin typeface="Times New Roman"/>
                <a:cs typeface="Times New Roman"/>
              </a:rPr>
              <a:t>11111000</a:t>
            </a:r>
            <a:endParaRPr sz="2400" dirty="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  <a:tabLst>
                <a:tab pos="151447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+1</a:t>
            </a:r>
            <a:r>
              <a:rPr sz="2400" u="heavy" spc="-2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4446" y="3249932"/>
            <a:ext cx="1932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1's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complement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8240" y="5192015"/>
            <a:ext cx="6131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300" algn="l"/>
              </a:tabLst>
            </a:pPr>
            <a:r>
              <a:rPr sz="2400" spc="-45" dirty="0">
                <a:latin typeface="Times New Roman"/>
                <a:cs typeface="Times New Roman"/>
              </a:rPr>
              <a:t>11111001	</a:t>
            </a:r>
            <a:r>
              <a:rPr sz="2400" dirty="0">
                <a:latin typeface="Times New Roman"/>
                <a:cs typeface="Times New Roman"/>
              </a:rPr>
              <a:t>-7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2's </a:t>
            </a:r>
            <a:r>
              <a:rPr sz="2400" spc="-5" dirty="0">
                <a:latin typeface="Times New Roman"/>
                <a:cs typeface="Times New Roman"/>
              </a:rPr>
              <a:t>complement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2712" y="1473837"/>
            <a:ext cx="6634480" cy="177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Times New Roman"/>
                <a:cs typeface="Times New Roman"/>
              </a:rPr>
              <a:t>First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convert -7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" dirty="0">
                <a:latin typeface="Times New Roman"/>
                <a:cs typeface="Times New Roman"/>
              </a:rPr>
              <a:t> 2's complement</a:t>
            </a:r>
            <a:endParaRPr sz="3600" dirty="0">
              <a:latin typeface="Times New Roman"/>
              <a:cs typeface="Times New Roman"/>
            </a:endParaRPr>
          </a:p>
          <a:p>
            <a:pPr marL="448945" lvl="1" indent="-229235">
              <a:lnSpc>
                <a:spcPct val="100000"/>
              </a:lnSpc>
              <a:spcBef>
                <a:spcPts val="2500"/>
              </a:spcBef>
              <a:buFont typeface="Arial MT"/>
              <a:buChar char="•"/>
              <a:tabLst>
                <a:tab pos="449580" algn="l"/>
              </a:tabLst>
            </a:pPr>
            <a:r>
              <a:rPr sz="3200" dirty="0">
                <a:latin typeface="Times New Roman"/>
                <a:cs typeface="Times New Roman"/>
              </a:rPr>
              <a:t>Step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1's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complement</a:t>
            </a:r>
          </a:p>
          <a:p>
            <a:pPr marL="906144">
              <a:lnSpc>
                <a:spcPct val="100000"/>
              </a:lnSpc>
              <a:spcBef>
                <a:spcPts val="240"/>
              </a:spcBef>
            </a:pPr>
            <a:r>
              <a:rPr sz="2400" spc="-25" dirty="0">
                <a:latin typeface="Times New Roman"/>
                <a:cs typeface="Times New Roman"/>
              </a:rPr>
              <a:t>00000111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2102868"/>
            <a:ext cx="188341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08610" lvl="1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50" dirty="0">
                <a:latin typeface="Times New Roman"/>
                <a:cs typeface="Times New Roman"/>
              </a:rPr>
              <a:t>Two’s 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5080" lvl="2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rac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  and </a:t>
            </a:r>
            <a:r>
              <a:rPr sz="2000" b="1" spc="-20" dirty="0">
                <a:latin typeface="Times New Roman"/>
                <a:cs typeface="Times New Roman"/>
              </a:rPr>
              <a:t>2’s 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609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7.1.2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ple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  answers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527166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36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3046" y="551179"/>
            <a:ext cx="82365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dirty="0"/>
              <a:t>7.1.1	</a:t>
            </a:r>
            <a:r>
              <a:rPr spc="-5" dirty="0"/>
              <a:t>Subtraction</a:t>
            </a:r>
            <a:r>
              <a:rPr spc="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65" dirty="0"/>
              <a:t>2’s</a:t>
            </a:r>
            <a:r>
              <a:rPr spc="-30" dirty="0"/>
              <a:t> </a:t>
            </a:r>
            <a:r>
              <a:rPr spc="-5" dirty="0"/>
              <a:t>Comp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400" y="1788921"/>
            <a:ext cx="4343400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Now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add</a:t>
            </a:r>
          </a:p>
          <a:p>
            <a:pPr marL="698500">
              <a:lnSpc>
                <a:spcPct val="100000"/>
              </a:lnSpc>
              <a:spcBef>
                <a:spcPts val="60"/>
              </a:spcBef>
              <a:tabLst>
                <a:tab pos="1445260" algn="l"/>
              </a:tabLst>
            </a:pPr>
            <a:r>
              <a:rPr sz="3600" spc="-5" dirty="0">
                <a:latin typeface="Times New Roman"/>
                <a:cs typeface="Times New Roman"/>
              </a:rPr>
              <a:t>25	</a:t>
            </a:r>
            <a:r>
              <a:rPr lang="en-US"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lang="en-US" sz="3600" spc="-70" dirty="0">
                <a:latin typeface="Times New Roman"/>
                <a:cs typeface="Times New Roman"/>
              </a:rPr>
              <a:t>  </a:t>
            </a:r>
            <a:r>
              <a:rPr sz="3600" spc="-20" dirty="0">
                <a:latin typeface="Times New Roman"/>
                <a:cs typeface="Times New Roman"/>
              </a:rPr>
              <a:t>00011001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053" y="2903346"/>
            <a:ext cx="8633208" cy="2267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84225" algn="l"/>
              </a:tabLst>
            </a:pPr>
            <a:r>
              <a:rPr sz="3600" dirty="0">
                <a:latin typeface="Times New Roman"/>
                <a:cs typeface="Times New Roman"/>
              </a:rPr>
              <a:t>-7	</a:t>
            </a:r>
            <a:r>
              <a:rPr lang="en-US" sz="36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lang="en-US" sz="3600" spc="-40" dirty="0">
                <a:latin typeface="Times New Roman"/>
                <a:cs typeface="Times New Roman"/>
              </a:rPr>
              <a:t>  </a:t>
            </a:r>
            <a:r>
              <a:rPr sz="3600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11111001</a:t>
            </a:r>
            <a:endParaRPr sz="36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  <a:tabLst>
                <a:tab pos="1180465" algn="l"/>
                <a:tab pos="3952875" algn="l"/>
              </a:tabLst>
            </a:pPr>
            <a:r>
              <a:rPr sz="3600" spc="-5" dirty="0">
                <a:latin typeface="Times New Roman"/>
                <a:cs typeface="Times New Roman"/>
              </a:rPr>
              <a:t>Ans</a:t>
            </a:r>
            <a:r>
              <a:rPr lang="en-US"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lang="en-US" sz="3600" dirty="0">
                <a:latin typeface="Times New Roman"/>
                <a:cs typeface="Times New Roman"/>
              </a:rPr>
              <a:t>1</a:t>
            </a:r>
            <a:r>
              <a:rPr sz="3600" dirty="0">
                <a:latin typeface="Times New Roman"/>
                <a:cs typeface="Times New Roman"/>
              </a:rPr>
              <a:t>00010010</a:t>
            </a:r>
            <a:endParaRPr lang="en-US" sz="3600" dirty="0">
              <a:latin typeface="Times New Roman"/>
              <a:cs typeface="Times New Roman"/>
            </a:endParaRPr>
          </a:p>
          <a:p>
            <a:pPr marL="38100">
              <a:spcBef>
                <a:spcPts val="70"/>
              </a:spcBef>
              <a:tabLst>
                <a:tab pos="1180465" algn="l"/>
                <a:tab pos="3952875" algn="l"/>
              </a:tabLst>
            </a:pPr>
            <a:r>
              <a:rPr lang="en-US" sz="3600" dirty="0"/>
              <a:t>The binary result </a:t>
            </a:r>
            <a:r>
              <a:rPr lang="en-US" sz="3600" dirty="0">
                <a:latin typeface="Times New Roman"/>
                <a:cs typeface="Times New Roman"/>
              </a:rPr>
              <a:t>00010010</a:t>
            </a:r>
            <a:r>
              <a:rPr lang="en-US" sz="3600" baseline="-25000" dirty="0">
                <a:latin typeface="Times New Roman"/>
                <a:cs typeface="Times New Roman"/>
              </a:rPr>
              <a:t>2</a:t>
            </a:r>
            <a:r>
              <a:rPr lang="en-US" sz="3600" dirty="0">
                <a:latin typeface="Times New Roman"/>
                <a:cs typeface="Times New Roman"/>
              </a:rPr>
              <a:t> is 18 in decimal</a:t>
            </a:r>
          </a:p>
          <a:p>
            <a:pPr marL="38100">
              <a:lnSpc>
                <a:spcPct val="100000"/>
              </a:lnSpc>
              <a:spcBef>
                <a:spcPts val="70"/>
              </a:spcBef>
              <a:tabLst>
                <a:tab pos="1180465" algn="l"/>
                <a:tab pos="3952875" algn="l"/>
              </a:tabLst>
            </a:pPr>
            <a:r>
              <a:rPr sz="3600" dirty="0">
                <a:latin typeface="Times New Roman"/>
                <a:cs typeface="Times New Roman"/>
              </a:rPr>
              <a:t>	</a:t>
            </a:r>
            <a:endParaRPr sz="3600" baseline="-20833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5600" y="5334000"/>
            <a:ext cx="2922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Check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answer.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1887982"/>
            <a:ext cx="188341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08610" lvl="1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50" dirty="0">
                <a:latin typeface="Times New Roman"/>
                <a:cs typeface="Times New Roman"/>
              </a:rPr>
              <a:t>Two’s 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5080" lvl="2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rac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  and </a:t>
            </a:r>
            <a:r>
              <a:rPr sz="2000" b="1" spc="-20" dirty="0">
                <a:latin typeface="Times New Roman"/>
                <a:cs typeface="Times New Roman"/>
              </a:rPr>
              <a:t>2’s 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609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7.1.2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ple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  answers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37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AA9BB7-51E0-3045-F5C3-ABB0EAD6B60D}"/>
              </a:ext>
            </a:extLst>
          </p:cNvPr>
          <p:cNvSpPr/>
          <p:nvPr/>
        </p:nvSpPr>
        <p:spPr>
          <a:xfrm>
            <a:off x="4648200" y="3505201"/>
            <a:ext cx="228600" cy="449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D0B98-936F-F3D9-A1EE-A5927A1F0303}"/>
              </a:ext>
            </a:extLst>
          </p:cNvPr>
          <p:cNvSpPr txBox="1"/>
          <p:nvPr/>
        </p:nvSpPr>
        <p:spPr>
          <a:xfrm>
            <a:off x="7136757" y="3585074"/>
            <a:ext cx="384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//ignore the carry bit if overflow occurs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D4BDA57F-A5CF-9436-FCE1-59B0D2C75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9400" y="653874"/>
            <a:ext cx="82365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7.1.1</a:t>
            </a:r>
            <a:r>
              <a:rPr spc="-20" dirty="0"/>
              <a:t> </a:t>
            </a:r>
            <a:r>
              <a:rPr spc="-5" dirty="0"/>
              <a:t>Subtraction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60" dirty="0"/>
              <a:t>2’s</a:t>
            </a:r>
            <a:r>
              <a:rPr spc="-25" dirty="0"/>
              <a:t> </a:t>
            </a:r>
            <a:r>
              <a:rPr spc="-5" dirty="0"/>
              <a:t>Comp</a:t>
            </a: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909C5A11-9EE7-F316-67A7-099EFEE336A4}"/>
              </a:ext>
            </a:extLst>
          </p:cNvPr>
          <p:cNvSpPr txBox="1"/>
          <p:nvPr/>
        </p:nvSpPr>
        <p:spPr>
          <a:xfrm>
            <a:off x="78739" y="2102868"/>
            <a:ext cx="188341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08610" lvl="1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50" dirty="0">
                <a:latin typeface="Times New Roman"/>
                <a:cs typeface="Times New Roman"/>
              </a:rPr>
              <a:t>Two’s 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5080" lvl="2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rac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  and </a:t>
            </a:r>
            <a:r>
              <a:rPr sz="2000" b="1" spc="-20" dirty="0">
                <a:latin typeface="Times New Roman"/>
                <a:cs typeface="Times New Roman"/>
              </a:rPr>
              <a:t>2’s 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609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7.1.2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ple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  answers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2B805F-92A6-6D2C-CB6E-DE5F4C22C4C9}"/>
              </a:ext>
            </a:extLst>
          </p:cNvPr>
          <p:cNvSpPr txBox="1"/>
          <p:nvPr/>
        </p:nvSpPr>
        <p:spPr>
          <a:xfrm>
            <a:off x="2853266" y="1600200"/>
            <a:ext cx="8202717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241300" algn="l"/>
                <a:tab pos="1946275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Another Example 7-25</a:t>
            </a:r>
            <a:endParaRPr lang="en-US" sz="2400" dirty="0">
              <a:latin typeface="Times New Roman"/>
              <a:cs typeface="Times New Roman"/>
            </a:endParaRPr>
          </a:p>
          <a:p>
            <a:pPr marL="1247140">
              <a:lnSpc>
                <a:spcPct val="100000"/>
              </a:lnSpc>
              <a:spcBef>
                <a:spcPts val="170"/>
              </a:spcBef>
              <a:tabLst>
                <a:tab pos="18415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25	</a:t>
            </a:r>
            <a:r>
              <a:rPr lang="en-US" sz="2400" spc="-5" dirty="0">
                <a:latin typeface="Times New Roman"/>
                <a:cs typeface="Times New Roman"/>
              </a:rPr>
              <a:t>=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00011001</a:t>
            </a:r>
            <a:r>
              <a:rPr lang="en-US" sz="2400" dirty="0">
                <a:latin typeface="Times New Roman"/>
                <a:cs typeface="Times New Roman"/>
              </a:rPr>
              <a:t>    </a:t>
            </a:r>
          </a:p>
          <a:p>
            <a:pPr marL="1247140">
              <a:lnSpc>
                <a:spcPct val="100000"/>
              </a:lnSpc>
              <a:spcBef>
                <a:spcPts val="170"/>
              </a:spcBef>
              <a:tabLst>
                <a:tab pos="18415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7	=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spc="-30" dirty="0">
                <a:latin typeface="Times New Roman"/>
                <a:cs typeface="Times New Roman"/>
              </a:rPr>
              <a:t>00000111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5C32A3EE-3F87-4D65-9677-1E249E986989}"/>
              </a:ext>
            </a:extLst>
          </p:cNvPr>
          <p:cNvSpPr txBox="1"/>
          <p:nvPr/>
        </p:nvSpPr>
        <p:spPr>
          <a:xfrm>
            <a:off x="2975186" y="2743200"/>
            <a:ext cx="7616613" cy="216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Times New Roman"/>
                <a:cs typeface="Times New Roman"/>
              </a:rPr>
              <a:t>First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convert -</a:t>
            </a:r>
            <a:r>
              <a:rPr lang="en-US" sz="3600" dirty="0">
                <a:latin typeface="Times New Roman"/>
                <a:cs typeface="Times New Roman"/>
              </a:rPr>
              <a:t>25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" dirty="0">
                <a:latin typeface="Times New Roman"/>
                <a:cs typeface="Times New Roman"/>
              </a:rPr>
              <a:t> 2's complement</a:t>
            </a:r>
            <a:endParaRPr sz="3600" dirty="0">
              <a:latin typeface="Times New Roman"/>
              <a:cs typeface="Times New Roman"/>
            </a:endParaRPr>
          </a:p>
          <a:p>
            <a:pPr marL="448945" lvl="1" indent="-229235">
              <a:lnSpc>
                <a:spcPct val="100000"/>
              </a:lnSpc>
              <a:spcBef>
                <a:spcPts val="2500"/>
              </a:spcBef>
              <a:buFont typeface="Arial MT"/>
              <a:buChar char="•"/>
              <a:tabLst>
                <a:tab pos="449580" algn="l"/>
              </a:tabLst>
            </a:pPr>
            <a:r>
              <a:rPr sz="3200" dirty="0">
                <a:latin typeface="Times New Roman"/>
                <a:cs typeface="Times New Roman"/>
              </a:rPr>
              <a:t>Step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1's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complement</a:t>
            </a:r>
          </a:p>
          <a:p>
            <a:pPr marL="906144">
              <a:lnSpc>
                <a:spcPct val="100000"/>
              </a:lnSpc>
              <a:spcBef>
                <a:spcPts val="240"/>
              </a:spcBef>
            </a:pPr>
            <a:r>
              <a:rPr sz="2400" spc="-25" dirty="0">
                <a:latin typeface="Times New Roman"/>
                <a:cs typeface="Times New Roman"/>
              </a:rPr>
              <a:t>000</a:t>
            </a:r>
            <a:r>
              <a:rPr lang="en-US" sz="2400" spc="-25" dirty="0">
                <a:latin typeface="Times New Roman"/>
                <a:cs typeface="Times New Roman"/>
              </a:rPr>
              <a:t>11001</a:t>
            </a:r>
          </a:p>
          <a:p>
            <a:pPr marL="906144">
              <a:lnSpc>
                <a:spcPct val="100000"/>
              </a:lnSpc>
              <a:spcBef>
                <a:spcPts val="240"/>
              </a:spcBef>
            </a:pPr>
            <a:r>
              <a:rPr lang="en-US" sz="2400" spc="-25" dirty="0">
                <a:latin typeface="Times New Roman"/>
                <a:cs typeface="Times New Roman"/>
              </a:rPr>
              <a:t>11100110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58F22-A672-9759-CC1E-384CE9870457}"/>
              </a:ext>
            </a:extLst>
          </p:cNvPr>
          <p:cNvSpPr txBox="1"/>
          <p:nvPr/>
        </p:nvSpPr>
        <p:spPr>
          <a:xfrm>
            <a:off x="5329767" y="4495800"/>
            <a:ext cx="180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latin typeface="Times New Roman"/>
                <a:cs typeface="Times New Roman"/>
              </a:rPr>
              <a:t>1's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complement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7E4BC8B9-198D-9AE4-9189-E9E8251F9982}"/>
              </a:ext>
            </a:extLst>
          </p:cNvPr>
          <p:cNvSpPr txBox="1"/>
          <p:nvPr/>
        </p:nvSpPr>
        <p:spPr>
          <a:xfrm>
            <a:off x="3200400" y="4191000"/>
            <a:ext cx="2488565" cy="2000548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32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Times New Roman"/>
                <a:cs typeface="Times New Roman"/>
              </a:rPr>
              <a:t>Step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1</a:t>
            </a:r>
          </a:p>
          <a:p>
            <a:pPr marL="906144">
              <a:lnSpc>
                <a:spcPct val="100000"/>
              </a:lnSpc>
              <a:spcBef>
                <a:spcPts val="240"/>
              </a:spcBef>
            </a:pPr>
            <a:r>
              <a:rPr lang="en-US" sz="2400" spc="-25" dirty="0">
                <a:latin typeface="Times New Roman"/>
                <a:cs typeface="Times New Roman"/>
              </a:rPr>
              <a:t>11100110</a:t>
            </a:r>
            <a:endParaRPr lang="en-US" sz="2400" dirty="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  <a:tabLst>
                <a:tab pos="1514475" algn="l"/>
              </a:tabLst>
            </a:pPr>
            <a:r>
              <a:rPr lang="en-US"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             	</a:t>
            </a:r>
            <a:r>
              <a:rPr lang="en-US" sz="2400" u="heavy" spc="-2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691F197E-5657-4D45-BA71-A0542978021A}"/>
              </a:ext>
            </a:extLst>
          </p:cNvPr>
          <p:cNvSpPr txBox="1"/>
          <p:nvPr/>
        </p:nvSpPr>
        <p:spPr>
          <a:xfrm>
            <a:off x="4038600" y="6275081"/>
            <a:ext cx="6400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300" algn="l"/>
              </a:tabLst>
            </a:pPr>
            <a:r>
              <a:rPr lang="en-US" sz="2400" spc="-45" dirty="0">
                <a:latin typeface="Times New Roman"/>
                <a:cs typeface="Times New Roman"/>
              </a:rPr>
              <a:t>11100111</a:t>
            </a:r>
            <a:r>
              <a:rPr sz="2400" spc="-45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lang="en-US" sz="2400" dirty="0">
                <a:latin typeface="Times New Roman"/>
                <a:cs typeface="Times New Roman"/>
              </a:rPr>
              <a:t>25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2's </a:t>
            </a:r>
            <a:r>
              <a:rPr sz="2400" spc="-5" dirty="0">
                <a:latin typeface="Times New Roman"/>
                <a:cs typeface="Times New Roman"/>
              </a:rPr>
              <a:t>complement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ABB4D6-8462-C4AA-BB05-6962458192EE}"/>
              </a:ext>
            </a:extLst>
          </p:cNvPr>
          <p:cNvSpPr txBox="1"/>
          <p:nvPr/>
        </p:nvSpPr>
        <p:spPr>
          <a:xfrm>
            <a:off x="10865483" y="6466159"/>
            <a:ext cx="381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D60167-4931-47E6-BA6A-407CBD079E47}" type="slidenum">
              <a:rPr lang="en-US" sz="1200" smtClean="0">
                <a:cs typeface="Times New Roman"/>
              </a:rPr>
              <a:pPr/>
              <a:t>38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7755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A2B2ECE-91C6-2BF8-2C31-E57F42F3B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9400" y="653874"/>
            <a:ext cx="82365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7.1.1</a:t>
            </a:r>
            <a:r>
              <a:rPr spc="-20" dirty="0"/>
              <a:t> </a:t>
            </a:r>
            <a:r>
              <a:rPr spc="-5" dirty="0"/>
              <a:t>Subtraction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60" dirty="0"/>
              <a:t>2’s</a:t>
            </a:r>
            <a:r>
              <a:rPr spc="-25" dirty="0"/>
              <a:t> </a:t>
            </a:r>
            <a:r>
              <a:rPr spc="-5" dirty="0"/>
              <a:t>Comp</a:t>
            </a: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20FC8DB3-B7F2-78B1-2644-0D120F330FE9}"/>
              </a:ext>
            </a:extLst>
          </p:cNvPr>
          <p:cNvSpPr txBox="1"/>
          <p:nvPr/>
        </p:nvSpPr>
        <p:spPr>
          <a:xfrm>
            <a:off x="78739" y="2102868"/>
            <a:ext cx="188341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08610" lvl="1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50" dirty="0">
                <a:latin typeface="Times New Roman"/>
                <a:cs typeface="Times New Roman"/>
              </a:rPr>
              <a:t>Two’s 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5080" lvl="2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b="1" dirty="0">
                <a:latin typeface="Times New Roman"/>
                <a:cs typeface="Times New Roman"/>
              </a:rPr>
              <a:t>Sub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rac</a:t>
            </a:r>
            <a:r>
              <a:rPr sz="2000" b="1" spc="5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  and </a:t>
            </a:r>
            <a:r>
              <a:rPr sz="2000" b="1" spc="-20" dirty="0">
                <a:latin typeface="Times New Roman"/>
                <a:cs typeface="Times New Roman"/>
              </a:rPr>
              <a:t>2’s 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Complement</a:t>
            </a:r>
            <a:endParaRPr sz="2000" dirty="0">
              <a:latin typeface="Times New Roman"/>
              <a:cs typeface="Times New Roman"/>
            </a:endParaRPr>
          </a:p>
          <a:p>
            <a:pPr marL="12700" marR="609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7.1.2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ple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  answers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CA265740-9A6E-23EA-3016-9A3A4770F24F}"/>
              </a:ext>
            </a:extLst>
          </p:cNvPr>
          <p:cNvSpPr txBox="1"/>
          <p:nvPr/>
        </p:nvSpPr>
        <p:spPr>
          <a:xfrm>
            <a:off x="3048000" y="1628379"/>
            <a:ext cx="4343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Now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add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24DB778D-D0CD-5B25-9C76-8B393385F674}"/>
              </a:ext>
            </a:extLst>
          </p:cNvPr>
          <p:cNvSpPr txBox="1"/>
          <p:nvPr/>
        </p:nvSpPr>
        <p:spPr>
          <a:xfrm>
            <a:off x="3200400" y="2264391"/>
            <a:ext cx="6959347" cy="2446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784225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7       =</a:t>
            </a:r>
            <a:r>
              <a:rPr lang="en-US" sz="2200" spc="-70" dirty="0">
                <a:latin typeface="Times New Roman"/>
                <a:cs typeface="Times New Roman"/>
              </a:rPr>
              <a:t> </a:t>
            </a:r>
            <a:r>
              <a:rPr lang="en-US" sz="2200" spc="-30" dirty="0">
                <a:latin typeface="Times New Roman"/>
                <a:cs typeface="Times New Roman"/>
              </a:rPr>
              <a:t>00000111</a:t>
            </a:r>
            <a:endParaRPr lang="en-US" sz="2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84225" algn="l"/>
              </a:tabLst>
            </a:pPr>
            <a:r>
              <a:rPr sz="2200" dirty="0">
                <a:latin typeface="Times New Roman"/>
                <a:cs typeface="Times New Roman"/>
              </a:rPr>
              <a:t>-</a:t>
            </a:r>
            <a:r>
              <a:rPr lang="en-US" sz="2200" dirty="0">
                <a:latin typeface="Times New Roman"/>
                <a:cs typeface="Times New Roman"/>
              </a:rPr>
              <a:t>25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lang="en-US" sz="2200" spc="-40" dirty="0">
                <a:latin typeface="Times New Roman"/>
                <a:cs typeface="Times New Roman"/>
              </a:rPr>
              <a:t> </a:t>
            </a:r>
            <a:r>
              <a:rPr lang="en-US" sz="2200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11100111</a:t>
            </a:r>
            <a:endParaRPr sz="2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  <a:tabLst>
                <a:tab pos="1180465" algn="l"/>
                <a:tab pos="3952875" algn="l"/>
              </a:tabLst>
            </a:pPr>
            <a:r>
              <a:rPr sz="2200" spc="-5" dirty="0">
                <a:latin typeface="Times New Roman"/>
                <a:cs typeface="Times New Roman"/>
              </a:rPr>
              <a:t>Ans</a:t>
            </a:r>
            <a:r>
              <a:rPr lang="en-US" sz="2200" spc="-5" dirty="0">
                <a:latin typeface="Times New Roman"/>
                <a:cs typeface="Times New Roman"/>
              </a:rPr>
              <a:t>    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lang="en-US" sz="2200" dirty="0">
                <a:latin typeface="Times New Roman"/>
                <a:cs typeface="Times New Roman"/>
              </a:rPr>
              <a:t>  11101110</a:t>
            </a:r>
          </a:p>
          <a:p>
            <a:pPr marL="38100">
              <a:lnSpc>
                <a:spcPct val="100000"/>
              </a:lnSpc>
              <a:spcBef>
                <a:spcPts val="70"/>
              </a:spcBef>
              <a:tabLst>
                <a:tab pos="1180465" algn="l"/>
                <a:tab pos="3952875" algn="l"/>
              </a:tabLst>
            </a:pPr>
            <a:endParaRPr lang="en-US" sz="2200" dirty="0">
              <a:latin typeface="Times New Roman"/>
              <a:cs typeface="Times New Roman"/>
            </a:endParaRPr>
          </a:p>
          <a:p>
            <a:pPr marL="38100">
              <a:spcBef>
                <a:spcPts val="70"/>
              </a:spcBef>
              <a:tabLst>
                <a:tab pos="1180465" algn="l"/>
                <a:tab pos="3952875" algn="l"/>
              </a:tabLst>
            </a:pPr>
            <a:r>
              <a:rPr lang="en-US" sz="2200" dirty="0"/>
              <a:t>The binary result is 11101110</a:t>
            </a:r>
            <a:r>
              <a:rPr lang="en-US" sz="2200" baseline="-25000" dirty="0"/>
              <a:t>2</a:t>
            </a:r>
            <a:r>
              <a:rPr lang="en-US" sz="2200" dirty="0"/>
              <a:t>, which is a negative number (</a:t>
            </a:r>
            <a:r>
              <a:rPr lang="en-US" sz="2200" dirty="0">
                <a:solidFill>
                  <a:srgbClr val="FF0000"/>
                </a:solidFill>
              </a:rPr>
              <a:t>since the most significant bit is 1</a:t>
            </a:r>
            <a:r>
              <a:rPr lang="en-US" sz="2200" dirty="0"/>
              <a:t>).</a:t>
            </a:r>
            <a:endParaRPr lang="en-US" sz="22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  <a:tabLst>
                <a:tab pos="1180465" algn="l"/>
                <a:tab pos="3952875" algn="l"/>
              </a:tabLst>
            </a:pPr>
            <a:r>
              <a:rPr sz="2200" dirty="0">
                <a:latin typeface="Times New Roman"/>
                <a:cs typeface="Times New Roman"/>
              </a:rPr>
              <a:t>	</a:t>
            </a:r>
            <a:endParaRPr sz="2200" baseline="-20833" dirty="0">
              <a:latin typeface="Times New Roman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674C0F-C468-C1B3-3FA8-89595BDF2372}"/>
              </a:ext>
            </a:extLst>
          </p:cNvPr>
          <p:cNvSpPr txBox="1"/>
          <p:nvPr/>
        </p:nvSpPr>
        <p:spPr>
          <a:xfrm>
            <a:off x="2971800" y="4419600"/>
            <a:ext cx="8610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To find the magnitude, take the 2's complement of 11101110</a:t>
            </a:r>
            <a:r>
              <a:rPr lang="en-US" sz="2200" baseline="-25000" dirty="0"/>
              <a:t>2</a:t>
            </a:r>
            <a:r>
              <a:rPr lang="en-US" sz="2200" dirty="0"/>
              <a:t>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Invert the bits: 00010001</a:t>
            </a:r>
            <a:r>
              <a:rPr lang="en-US" sz="2200" baseline="-25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Add 1: 00010001+1=00010010</a:t>
            </a:r>
            <a:r>
              <a:rPr lang="en-US" sz="2200" baseline="-25000" dirty="0"/>
              <a:t>2</a:t>
            </a:r>
            <a:r>
              <a:rPr lang="en-US" sz="2200" dirty="0"/>
              <a:t>​=18 in decimal.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Since the original result was negative, the answer is −18.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Final Answer </a:t>
            </a:r>
            <a:r>
              <a:rPr lang="en-US" sz="2200" dirty="0"/>
              <a:t>: 7−25=−18 using 2's complement arithmetic.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66A495-34DB-FBE9-62CE-6E9388158263}"/>
              </a:ext>
            </a:extLst>
          </p:cNvPr>
          <p:cNvSpPr txBox="1"/>
          <p:nvPr/>
        </p:nvSpPr>
        <p:spPr>
          <a:xfrm>
            <a:off x="10880556" y="6224357"/>
            <a:ext cx="350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D60167-4931-47E6-BA6A-407CBD079E47}" type="slidenum">
              <a:rPr lang="en-US" sz="1200" smtClean="0">
                <a:cs typeface="Times New Roman"/>
              </a:rPr>
              <a:pPr/>
              <a:t>39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57710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9065" y="551179"/>
            <a:ext cx="7861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dirty="0"/>
              <a:t>7.1.2	</a:t>
            </a:r>
            <a:r>
              <a:rPr spc="-65" dirty="0"/>
              <a:t>2’s</a:t>
            </a:r>
            <a:r>
              <a:rPr spc="-50" dirty="0"/>
              <a:t> </a:t>
            </a:r>
            <a:r>
              <a:rPr dirty="0"/>
              <a:t>complement</a:t>
            </a:r>
            <a:r>
              <a:rPr spc="-40" dirty="0"/>
              <a:t> </a:t>
            </a:r>
            <a:r>
              <a:rPr dirty="0"/>
              <a:t>answers.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9065" y="1718586"/>
            <a:ext cx="8903335" cy="32873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80" dirty="0">
                <a:solidFill>
                  <a:srgbClr val="351F8E"/>
                </a:solidFill>
                <a:latin typeface="Times New Roman"/>
                <a:cs typeface="Times New Roman"/>
              </a:rPr>
              <a:t>ONLY</a:t>
            </a:r>
            <a:r>
              <a:rPr sz="2800" spc="-90" dirty="0">
                <a:solidFill>
                  <a:srgbClr val="351F8E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351F8E"/>
                </a:solidFill>
                <a:latin typeface="Times New Roman"/>
                <a:cs typeface="Times New Roman"/>
              </a:rPr>
              <a:t>CONVERT</a:t>
            </a:r>
            <a:r>
              <a:rPr sz="2800" spc="-15" dirty="0">
                <a:solidFill>
                  <a:srgbClr val="351F8E"/>
                </a:solidFill>
                <a:latin typeface="Times New Roman"/>
                <a:cs typeface="Times New Roman"/>
              </a:rPr>
              <a:t> </a:t>
            </a:r>
            <a:r>
              <a:rPr sz="2800" spc="-45" dirty="0">
                <a:solidFill>
                  <a:srgbClr val="351F8E"/>
                </a:solidFill>
                <a:latin typeface="Times New Roman"/>
                <a:cs typeface="Times New Roman"/>
              </a:rPr>
              <a:t>NEGATIVE</a:t>
            </a:r>
            <a:r>
              <a:rPr sz="2800" spc="40" dirty="0">
                <a:solidFill>
                  <a:srgbClr val="351F8E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351F8E"/>
                </a:solidFill>
                <a:latin typeface="Times New Roman"/>
                <a:cs typeface="Times New Roman"/>
              </a:rPr>
              <a:t>NUMBERS!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working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answer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2’s</a:t>
            </a:r>
            <a:r>
              <a:rPr sz="2800" spc="-5" dirty="0">
                <a:latin typeface="Times New Roman"/>
                <a:cs typeface="Times New Roman"/>
              </a:rPr>
              <a:t> complement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sum.</a:t>
            </a:r>
            <a:endParaRPr sz="28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-5" dirty="0">
                <a:latin typeface="Times New Roman"/>
                <a:cs typeface="Times New Roman"/>
              </a:rPr>
              <a:t>1. Look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most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significant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bit.</a:t>
            </a:r>
            <a:endParaRPr sz="28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-5" dirty="0">
                <a:latin typeface="Times New Roman"/>
                <a:cs typeface="Times New Roman"/>
              </a:rPr>
              <a:t>2.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then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answer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negative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Change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zero, all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zeros to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one.</a:t>
            </a:r>
          </a:p>
          <a:p>
            <a:pPr marL="1155700" lvl="2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1557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Convert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this to decimal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write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sign.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887982"/>
            <a:ext cx="176974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94945" lvl="1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50" dirty="0">
                <a:latin typeface="Times New Roman"/>
                <a:cs typeface="Times New Roman"/>
              </a:rPr>
              <a:t>Two’s 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  <a:p>
            <a:pPr marL="12700" marR="5080" lvl="2">
              <a:lnSpc>
                <a:spcPct val="100000"/>
              </a:lnSpc>
              <a:buAutoNum type="arabicPeriod"/>
              <a:tabLst>
                <a:tab pos="583565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  <a:p>
            <a:pPr marL="12700" marR="419734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7.1.2 </a:t>
            </a:r>
            <a:r>
              <a:rPr sz="2000" b="1" spc="-20" dirty="0">
                <a:latin typeface="Times New Roman"/>
                <a:cs typeface="Times New Roman"/>
              </a:rPr>
              <a:t>2’s 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</a:t>
            </a:r>
            <a:r>
              <a:rPr sz="2000" b="1" spc="-10" dirty="0">
                <a:latin typeface="Times New Roman"/>
                <a:cs typeface="Times New Roman"/>
              </a:rPr>
              <a:t>l</a:t>
            </a:r>
            <a:r>
              <a:rPr sz="2000" b="1" dirty="0">
                <a:latin typeface="Times New Roman"/>
                <a:cs typeface="Times New Roman"/>
              </a:rPr>
              <a:t>e</a:t>
            </a:r>
            <a:r>
              <a:rPr sz="2000" b="1" spc="-5" dirty="0">
                <a:latin typeface="Times New Roman"/>
                <a:cs typeface="Times New Roman"/>
              </a:rPr>
              <a:t>m</a:t>
            </a:r>
            <a:r>
              <a:rPr sz="2000" b="1" dirty="0">
                <a:latin typeface="Times New Roman"/>
                <a:cs typeface="Times New Roman"/>
              </a:rPr>
              <a:t>ent  answers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40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404" y="479297"/>
            <a:ext cx="2328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99080" y="1912112"/>
            <a:ext cx="802132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6100" marR="5080" indent="-533400">
              <a:lnSpc>
                <a:spcPct val="100000"/>
              </a:lnSpc>
              <a:spcBef>
                <a:spcPts val="105"/>
              </a:spcBef>
              <a:buChar char="•"/>
              <a:tabLst>
                <a:tab pos="545465" algn="l"/>
                <a:tab pos="546100" algn="l"/>
                <a:tab pos="2773680" algn="l"/>
              </a:tabLst>
            </a:pPr>
            <a:r>
              <a:rPr sz="3200" dirty="0">
                <a:latin typeface="Times New Roman"/>
                <a:cs typeface="Times New Roman"/>
              </a:rPr>
              <a:t>Which of the following numbers are correctly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converted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	8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bit </a:t>
            </a:r>
            <a:r>
              <a:rPr sz="3200" spc="-55" dirty="0">
                <a:latin typeface="Times New Roman"/>
                <a:cs typeface="Times New Roman"/>
              </a:rPr>
              <a:t>2’s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complement?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6034" y="4196842"/>
            <a:ext cx="1612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15" dirty="0">
                <a:latin typeface="Times New Roman"/>
                <a:cs typeface="Times New Roman"/>
              </a:rPr>
              <a:t>8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1420" y="4782439"/>
            <a:ext cx="29718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15" dirty="0">
                <a:latin typeface="Times New Roman"/>
                <a:cs typeface="Times New Roman"/>
              </a:rPr>
              <a:t>10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20085" y="4620005"/>
            <a:ext cx="2952115" cy="431800"/>
          </a:xfrm>
          <a:custGeom>
            <a:avLst/>
            <a:gdLst/>
            <a:ahLst/>
            <a:cxnLst/>
            <a:rect l="l" t="t" r="r" b="b"/>
            <a:pathLst>
              <a:path w="2952115" h="431800">
                <a:moveTo>
                  <a:pt x="0" y="431292"/>
                </a:moveTo>
                <a:lnTo>
                  <a:pt x="2951987" y="431292"/>
                </a:lnTo>
                <a:lnTo>
                  <a:pt x="2951987" y="0"/>
                </a:lnTo>
                <a:lnTo>
                  <a:pt x="0" y="0"/>
                </a:lnTo>
                <a:lnTo>
                  <a:pt x="0" y="431292"/>
                </a:lnTo>
                <a:close/>
              </a:path>
            </a:pathLst>
          </a:custGeom>
          <a:ln w="28956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739" y="1735582"/>
            <a:ext cx="1769110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94310" lvl="1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btract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and </a:t>
            </a:r>
            <a:r>
              <a:rPr sz="2000" spc="-50" dirty="0">
                <a:latin typeface="Times New Roman"/>
                <a:cs typeface="Times New Roman"/>
              </a:rPr>
              <a:t>Two’s 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  <a:p>
            <a:pPr marL="12700" marR="5080" lvl="2">
              <a:lnSpc>
                <a:spcPct val="100000"/>
              </a:lnSpc>
              <a:buAutoNum type="arabicPeriod"/>
              <a:tabLst>
                <a:tab pos="584200" algn="l"/>
              </a:tabLst>
            </a:pPr>
            <a:r>
              <a:rPr sz="2000" dirty="0">
                <a:latin typeface="Times New Roman"/>
                <a:cs typeface="Times New Roman"/>
              </a:rPr>
              <a:t>Su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tra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  and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Complement</a:t>
            </a:r>
            <a:endParaRPr sz="2000">
              <a:latin typeface="Times New Roman"/>
              <a:cs typeface="Times New Roman"/>
            </a:endParaRPr>
          </a:p>
          <a:p>
            <a:pPr marL="12700" marR="4953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7.1.2 </a:t>
            </a:r>
            <a:r>
              <a:rPr sz="2000" spc="-35" dirty="0">
                <a:latin typeface="Times New Roman"/>
                <a:cs typeface="Times New Roman"/>
              </a:rPr>
              <a:t>2’s 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ple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  answers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41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2735580" y="3278479"/>
            <a:ext cx="3773804" cy="23666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09600" indent="-533400">
              <a:lnSpc>
                <a:spcPct val="100000"/>
              </a:lnSpc>
              <a:spcBef>
                <a:spcPts val="865"/>
              </a:spcBef>
              <a:buChar char="•"/>
              <a:tabLst>
                <a:tab pos="608965" algn="l"/>
                <a:tab pos="609600" algn="l"/>
                <a:tab pos="1557655" algn="l"/>
              </a:tabLst>
            </a:pPr>
            <a:r>
              <a:rPr sz="3200" spc="10" dirty="0">
                <a:latin typeface="Times New Roman"/>
                <a:cs typeface="Times New Roman"/>
              </a:rPr>
              <a:t>-33</a:t>
            </a:r>
            <a:r>
              <a:rPr sz="3150" spc="15" baseline="-21164" dirty="0">
                <a:latin typeface="Times New Roman"/>
                <a:cs typeface="Times New Roman"/>
              </a:rPr>
              <a:t>10	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00011111</a:t>
            </a:r>
            <a:r>
              <a:rPr sz="3150" spc="-75" baseline="-21164" dirty="0">
                <a:latin typeface="Times New Roman"/>
                <a:cs typeface="Times New Roman"/>
              </a:rPr>
              <a:t>2</a:t>
            </a:r>
            <a:endParaRPr sz="3150" baseline="-21164" dirty="0">
              <a:latin typeface="Times New Roman"/>
              <a:cs typeface="Times New Roman"/>
            </a:endParaRPr>
          </a:p>
          <a:p>
            <a:pPr marL="609600" indent="-533400">
              <a:lnSpc>
                <a:spcPct val="100000"/>
              </a:lnSpc>
              <a:spcBef>
                <a:spcPts val="770"/>
              </a:spcBef>
              <a:buChar char="•"/>
              <a:tabLst>
                <a:tab pos="608965" algn="l"/>
                <a:tab pos="609600" algn="l"/>
                <a:tab pos="1489075" algn="l"/>
              </a:tabLst>
            </a:pPr>
            <a:r>
              <a:rPr sz="3200" dirty="0">
                <a:latin typeface="Times New Roman"/>
                <a:cs typeface="Times New Roman"/>
              </a:rPr>
              <a:t>-30	=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10011000</a:t>
            </a:r>
            <a:endParaRPr sz="3200" dirty="0">
              <a:latin typeface="Times New Roman"/>
              <a:cs typeface="Times New Roman"/>
            </a:endParaRPr>
          </a:p>
          <a:p>
            <a:pPr marL="609600" indent="-533400">
              <a:lnSpc>
                <a:spcPct val="100000"/>
              </a:lnSpc>
              <a:spcBef>
                <a:spcPts val="770"/>
              </a:spcBef>
              <a:buChar char="•"/>
              <a:tabLst>
                <a:tab pos="608965" algn="l"/>
                <a:tab pos="609600" algn="l"/>
                <a:tab pos="1490345" algn="l"/>
              </a:tabLst>
            </a:pPr>
            <a:r>
              <a:rPr sz="3200" dirty="0">
                <a:latin typeface="Times New Roman"/>
                <a:cs typeface="Times New Roman"/>
              </a:rPr>
              <a:t>30	=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00011110</a:t>
            </a:r>
            <a:endParaRPr sz="3200" dirty="0">
              <a:latin typeface="Times New Roman"/>
              <a:cs typeface="Times New Roman"/>
            </a:endParaRPr>
          </a:p>
          <a:p>
            <a:pPr marL="609600" indent="-533400">
              <a:lnSpc>
                <a:spcPct val="100000"/>
              </a:lnSpc>
              <a:spcBef>
                <a:spcPts val="770"/>
              </a:spcBef>
              <a:buChar char="•"/>
              <a:tabLst>
                <a:tab pos="608965" algn="l"/>
                <a:tab pos="609600" algn="l"/>
              </a:tabLst>
            </a:pP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really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don’t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086333"/>
              </p:ext>
            </p:extLst>
          </p:nvPr>
        </p:nvGraphicFramePr>
        <p:xfrm>
          <a:off x="3828218" y="1743319"/>
          <a:ext cx="5113020" cy="4329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69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350" b="1" spc="20" dirty="0">
                          <a:latin typeface="Arial"/>
                          <a:cs typeface="Arial"/>
                        </a:rPr>
                        <a:t>Binary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350" b="1" spc="25" dirty="0">
                          <a:latin typeface="Arial"/>
                          <a:cs typeface="Arial"/>
                        </a:rPr>
                        <a:t>S/M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350" b="1" spc="15" dirty="0">
                          <a:latin typeface="Arial"/>
                          <a:cs typeface="Arial"/>
                        </a:rPr>
                        <a:t>2's</a:t>
                      </a:r>
                      <a:r>
                        <a:rPr sz="235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b="1" spc="25" dirty="0">
                          <a:latin typeface="Arial"/>
                          <a:cs typeface="Arial"/>
                        </a:rPr>
                        <a:t>Comp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10">
                <a:tc>
                  <a:txBody>
                    <a:bodyPr/>
                    <a:lstStyle/>
                    <a:p>
                      <a:pPr marL="67945">
                        <a:lnSpc>
                          <a:spcPts val="278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00000000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85"/>
                        </a:lnSpc>
                      </a:pPr>
                      <a:r>
                        <a:rPr sz="2350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85"/>
                        </a:lnSpc>
                      </a:pPr>
                      <a:r>
                        <a:rPr sz="2350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302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00000001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2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00000010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302"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·····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4670" algn="r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·····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·····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552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01111110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126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126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302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01111111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127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FFC000"/>
                          </a:solidFill>
                          <a:latin typeface="Arial MT"/>
                          <a:cs typeface="Arial MT"/>
                        </a:rPr>
                        <a:t>127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678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10000000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FF00"/>
                          </a:solidFill>
                          <a:latin typeface="Arial MT"/>
                          <a:cs typeface="Arial MT"/>
                        </a:rPr>
                        <a:t>-0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-128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302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10000001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-127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590"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·····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4670" algn="r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·····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·····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302"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11111110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-126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15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-2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09">
                <a:tc>
                  <a:txBody>
                    <a:bodyPr/>
                    <a:lstStyle/>
                    <a:p>
                      <a:pPr marL="67945">
                        <a:lnSpc>
                          <a:spcPts val="2720"/>
                        </a:lnSpc>
                      </a:pPr>
                      <a:r>
                        <a:rPr sz="2350" spc="15" dirty="0">
                          <a:latin typeface="Arial MT"/>
                          <a:cs typeface="Arial MT"/>
                        </a:rPr>
                        <a:t>11111111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20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-127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20"/>
                        </a:lnSpc>
                      </a:pPr>
                      <a:r>
                        <a:rPr sz="2350" spc="15" dirty="0">
                          <a:solidFill>
                            <a:srgbClr val="00AFEF"/>
                          </a:solidFill>
                          <a:latin typeface="Arial MT"/>
                          <a:cs typeface="Arial MT"/>
                        </a:rPr>
                        <a:t>-1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6850" y="591388"/>
            <a:ext cx="8845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7.2</a:t>
            </a:r>
            <a:r>
              <a:rPr spc="-10" dirty="0"/>
              <a:t> </a:t>
            </a:r>
            <a:r>
              <a:rPr spc="-65" dirty="0"/>
              <a:t>2’s</a:t>
            </a:r>
            <a:r>
              <a:rPr spc="-10" dirty="0"/>
              <a:t> </a:t>
            </a:r>
            <a:r>
              <a:rPr spc="-5" dirty="0"/>
              <a:t>Comp</a:t>
            </a:r>
            <a:r>
              <a:rPr spc="-15" dirty="0"/>
              <a:t> </a:t>
            </a:r>
            <a:r>
              <a:rPr dirty="0"/>
              <a:t>and</a:t>
            </a:r>
            <a:r>
              <a:rPr spc="-5" dirty="0"/>
              <a:t> Sign</a:t>
            </a:r>
            <a:r>
              <a:rPr dirty="0"/>
              <a:t> </a:t>
            </a:r>
            <a:r>
              <a:rPr spc="-5" dirty="0"/>
              <a:t>Magnitude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802763"/>
            <a:ext cx="143637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7.2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2’s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Sign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Magnitude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42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9938" y="653874"/>
            <a:ext cx="88684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7.2</a:t>
            </a:r>
            <a:r>
              <a:rPr spc="-10" dirty="0"/>
              <a:t> </a:t>
            </a:r>
            <a:r>
              <a:rPr dirty="0"/>
              <a:t>2‘s</a:t>
            </a:r>
            <a:r>
              <a:rPr spc="-5" dirty="0"/>
              <a:t> Comp</a:t>
            </a:r>
            <a:r>
              <a:rPr spc="-10" dirty="0"/>
              <a:t> and</a:t>
            </a:r>
            <a:r>
              <a:rPr spc="5" dirty="0"/>
              <a:t> </a:t>
            </a:r>
            <a:r>
              <a:rPr spc="-5" dirty="0"/>
              <a:t>Sign Magnitude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7490" y="4194812"/>
            <a:ext cx="93383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Times New Roman"/>
                <a:cs typeface="Times New Roman"/>
              </a:rPr>
              <a:t>Number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range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sign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magnitude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8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16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integers?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3290" y="5159758"/>
            <a:ext cx="2212340" cy="8851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-127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+127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-32767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+32767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5724" y="5159758"/>
            <a:ext cx="728345" cy="8851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16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9290" y="6046726"/>
            <a:ext cx="35261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10055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Range</a:t>
            </a:r>
            <a:r>
              <a:rPr sz="24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-(2</a:t>
            </a:r>
            <a:r>
              <a:rPr sz="2400" b="1" spc="-7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n-1	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-1)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spc="-7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n-1</a:t>
            </a:r>
            <a:r>
              <a:rPr sz="2400" b="1" spc="300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-1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5168" y="1758139"/>
            <a:ext cx="795972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Number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range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2's complement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8 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16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integers?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3022" y="2676273"/>
            <a:ext cx="728345" cy="97980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16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6968" y="2676273"/>
            <a:ext cx="3144520" cy="141859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2400" dirty="0">
                <a:latin typeface="Times New Roman"/>
                <a:cs typeface="Times New Roman"/>
              </a:rPr>
              <a:t>-128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+127</a:t>
            </a:r>
            <a:endParaRPr sz="2400">
              <a:latin typeface="Times New Roman"/>
              <a:cs typeface="Times New Roman"/>
            </a:endParaRPr>
          </a:p>
          <a:p>
            <a:pPr marL="324485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latin typeface="Times New Roman"/>
                <a:cs typeface="Times New Roman"/>
              </a:rPr>
              <a:t>-32768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+32767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Range -(2</a:t>
            </a:r>
            <a:r>
              <a:rPr sz="2400" b="1" spc="-7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n-1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400" b="1" spc="-15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n-1</a:t>
            </a:r>
            <a:r>
              <a:rPr sz="2400" b="1" spc="315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-1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2865249"/>
            <a:ext cx="143637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7.2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2’s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Sign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Magnitude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527166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43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1005" y="591388"/>
            <a:ext cx="56305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40" dirty="0"/>
              <a:t> </a:t>
            </a:r>
            <a:r>
              <a:rPr dirty="0"/>
              <a:t>Hexadecimal</a:t>
            </a:r>
            <a:r>
              <a:rPr spc="-55" dirty="0"/>
              <a:t> </a:t>
            </a:r>
            <a:r>
              <a:rPr dirty="0"/>
              <a:t>(Hex)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1005" y="1717645"/>
            <a:ext cx="8773795" cy="18865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Hexadecimal</a:t>
            </a:r>
            <a:r>
              <a:rPr sz="3600" dirty="0">
                <a:latin typeface="Times New Roman"/>
                <a:cs typeface="Times New Roman"/>
              </a:rPr>
              <a:t> (Hex)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system</a:t>
            </a:r>
            <a:r>
              <a:rPr sz="3600" spc="-10" dirty="0">
                <a:latin typeface="Times New Roman"/>
                <a:cs typeface="Times New Roman"/>
              </a:rPr>
              <a:t> is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base 16.</a:t>
            </a: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16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unique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symbols.</a:t>
            </a: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Symbols: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0,1,2,3,4,5,6,7,8,9,A,B,C,D,E,F.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0871" y="3886200"/>
            <a:ext cx="388492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0855" algn="l"/>
                <a:tab pos="3566795" algn="l"/>
              </a:tabLst>
            </a:pPr>
            <a:r>
              <a:rPr sz="2400" dirty="0">
                <a:latin typeface="Times New Roman"/>
                <a:cs typeface="Times New Roman"/>
              </a:rPr>
              <a:t>10	</a:t>
            </a:r>
            <a:r>
              <a:rPr sz="2400" spc="-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0	</a:t>
            </a:r>
            <a:r>
              <a:rPr sz="2400" spc="-5" dirty="0">
                <a:latin typeface="Times New Roman"/>
                <a:cs typeface="Times New Roman"/>
              </a:rPr>
              <a:t>10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1125423"/>
            <a:ext cx="185102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5"/>
              </a:spcBef>
              <a:buAutoNum type="arabicPeriod" startAt="8"/>
              <a:tabLst>
                <a:tab pos="267335" algn="l"/>
              </a:tabLst>
            </a:pPr>
            <a:r>
              <a:rPr sz="2000" b="1" dirty="0">
                <a:latin typeface="Times New Roman"/>
                <a:cs typeface="Times New Roman"/>
              </a:rPr>
              <a:t>Hexadecimal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(Hex)</a:t>
            </a:r>
            <a:endParaRPr sz="2000">
              <a:latin typeface="Times New Roman"/>
              <a:cs typeface="Times New Roman"/>
            </a:endParaRPr>
          </a:p>
          <a:p>
            <a:pPr marL="12700" marR="508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Conversion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Hexadecimal </a:t>
            </a:r>
            <a:r>
              <a:rPr sz="2000" dirty="0">
                <a:latin typeface="Times New Roman"/>
                <a:cs typeface="Times New Roman"/>
              </a:rPr>
              <a:t> to/from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12700" marR="490220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adeci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al  Conversion</a:t>
            </a:r>
            <a:endParaRPr sz="2000">
              <a:latin typeface="Times New Roman"/>
              <a:cs typeface="Times New Roman"/>
            </a:endParaRPr>
          </a:p>
          <a:p>
            <a:pPr marL="12700" marR="73025" lvl="1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&amp;Hex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  <a:p>
            <a:pPr marL="12700" marR="12446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Making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easier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44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2935605" y="4074032"/>
            <a:ext cx="5534660" cy="126619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665"/>
              </a:spcBef>
            </a:pPr>
            <a:r>
              <a:rPr sz="3600" b="1" spc="-5" dirty="0">
                <a:latin typeface="Times New Roman"/>
                <a:cs typeface="Times New Roman"/>
              </a:rPr>
              <a:t>D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13</a:t>
            </a:r>
            <a:r>
              <a:rPr sz="3600" baseline="-20833" dirty="0">
                <a:latin typeface="Times New Roman"/>
                <a:cs typeface="Times New Roman"/>
              </a:rPr>
              <a:t>10</a:t>
            </a:r>
            <a:r>
              <a:rPr sz="3600" dirty="0">
                <a:latin typeface="Times New Roman"/>
                <a:cs typeface="Times New Roman"/>
              </a:rPr>
              <a:t>,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E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14</a:t>
            </a:r>
            <a:r>
              <a:rPr sz="3600" spc="-7" baseline="-20833" dirty="0">
                <a:latin typeface="Times New Roman"/>
                <a:cs typeface="Times New Roman"/>
              </a:rPr>
              <a:t>10</a:t>
            </a:r>
            <a:r>
              <a:rPr sz="3600" spc="-5" dirty="0">
                <a:latin typeface="Times New Roman"/>
                <a:cs typeface="Times New Roman"/>
              </a:rPr>
              <a:t>, </a:t>
            </a:r>
            <a:r>
              <a:rPr sz="3600" b="1" dirty="0">
                <a:latin typeface="Times New Roman"/>
                <a:cs typeface="Times New Roman"/>
              </a:rPr>
              <a:t>F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15</a:t>
            </a:r>
            <a:r>
              <a:rPr sz="3600" baseline="-20833" dirty="0">
                <a:latin typeface="Times New Roman"/>
                <a:cs typeface="Times New Roman"/>
              </a:rPr>
              <a:t>10</a:t>
            </a:r>
            <a:r>
              <a:rPr sz="3600" dirty="0">
                <a:latin typeface="Times New Roman"/>
                <a:cs typeface="Times New Roman"/>
              </a:rPr>
              <a:t>.</a:t>
            </a:r>
          </a:p>
          <a:p>
            <a:pPr marL="266700" indent="-22860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66700" algn="l"/>
                <a:tab pos="3364865" algn="l"/>
              </a:tabLst>
            </a:pPr>
            <a:r>
              <a:rPr sz="3600" spc="-5" dirty="0">
                <a:latin typeface="Times New Roman"/>
                <a:cs typeface="Times New Roman"/>
              </a:rPr>
              <a:t>Example: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3E8</a:t>
            </a:r>
            <a:r>
              <a:rPr sz="3600" baseline="-20833" dirty="0">
                <a:latin typeface="Times New Roman"/>
                <a:cs typeface="Times New Roman"/>
              </a:rPr>
              <a:t>16	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1000</a:t>
            </a:r>
            <a:r>
              <a:rPr sz="3600" spc="-7" baseline="-20833" dirty="0">
                <a:latin typeface="Times New Roman"/>
                <a:cs typeface="Times New Roman"/>
              </a:rPr>
              <a:t>10</a:t>
            </a: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3FBB9C18-C368-A70E-633F-FA5792840DAE}"/>
              </a:ext>
            </a:extLst>
          </p:cNvPr>
          <p:cNvSpPr txBox="1"/>
          <p:nvPr/>
        </p:nvSpPr>
        <p:spPr>
          <a:xfrm>
            <a:off x="2961005" y="3651326"/>
            <a:ext cx="5500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1818639" algn="l"/>
                <a:tab pos="3566795" algn="l"/>
                <a:tab pos="5372735" algn="l"/>
              </a:tabLst>
            </a:pPr>
            <a:r>
              <a:rPr sz="3600" b="1" dirty="0">
                <a:latin typeface="Times New Roman"/>
                <a:cs typeface="Times New Roman"/>
              </a:rPr>
              <a:t>A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10	,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B</a:t>
            </a:r>
            <a:r>
              <a:rPr sz="3600" b="1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 </a:t>
            </a:r>
            <a:r>
              <a:rPr sz="3600" spc="-140" dirty="0">
                <a:latin typeface="Times New Roman"/>
                <a:cs typeface="Times New Roman"/>
              </a:rPr>
              <a:t>1</a:t>
            </a:r>
            <a:r>
              <a:rPr sz="3600" dirty="0">
                <a:latin typeface="Times New Roman"/>
                <a:cs typeface="Times New Roman"/>
              </a:rPr>
              <a:t>1	,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C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12	,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8600" y="534113"/>
            <a:ext cx="5167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8.</a:t>
            </a:r>
            <a:r>
              <a:rPr sz="4400" spc="-20" dirty="0"/>
              <a:t> </a:t>
            </a:r>
            <a:r>
              <a:rPr sz="4400" dirty="0"/>
              <a:t>Hexadecimal</a:t>
            </a:r>
            <a:r>
              <a:rPr sz="4400" spc="-45" dirty="0"/>
              <a:t> </a:t>
            </a:r>
            <a:r>
              <a:rPr sz="4400" dirty="0"/>
              <a:t>(Hex)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755900" y="1491998"/>
            <a:ext cx="9055100" cy="126682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540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54635" algn="l"/>
              </a:tabLst>
            </a:pPr>
            <a:r>
              <a:rPr sz="3600" spc="-50" dirty="0">
                <a:latin typeface="Times New Roman"/>
                <a:cs typeface="Times New Roman"/>
              </a:rPr>
              <a:t>Weight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</a:t>
            </a:r>
            <a:r>
              <a:rPr sz="3600" dirty="0">
                <a:latin typeface="Times New Roman"/>
                <a:cs typeface="Times New Roman"/>
              </a:rPr>
              <a:t>16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raised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power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position.</a:t>
            </a:r>
            <a:endParaRPr sz="3600" dirty="0">
              <a:latin typeface="Times New Roman"/>
              <a:cs typeface="Times New Roman"/>
            </a:endParaRPr>
          </a:p>
          <a:p>
            <a:pPr marL="254000" indent="-22923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54635" algn="l"/>
              </a:tabLst>
            </a:pPr>
            <a:r>
              <a:rPr sz="3600" spc="-5" dirty="0">
                <a:latin typeface="Times New Roman"/>
                <a:cs typeface="Times New Roman"/>
              </a:rPr>
              <a:t>Example:</a:t>
            </a:r>
            <a:r>
              <a:rPr sz="3600" spc="-2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A1F</a:t>
            </a:r>
            <a:r>
              <a:rPr sz="3600" baseline="-20833" dirty="0">
                <a:latin typeface="Times New Roman"/>
                <a:cs typeface="Times New Roman"/>
              </a:rPr>
              <a:t>16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42513"/>
              </p:ext>
            </p:extLst>
          </p:nvPr>
        </p:nvGraphicFramePr>
        <p:xfrm>
          <a:off x="3117341" y="3567710"/>
          <a:ext cx="8542654" cy="2020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3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399">
                <a:tc>
                  <a:txBody>
                    <a:bodyPr/>
                    <a:lstStyle/>
                    <a:p>
                      <a:pPr marR="166370" algn="ctr">
                        <a:lnSpc>
                          <a:spcPts val="3945"/>
                        </a:lnSpc>
                      </a:pP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(A</a:t>
                      </a:r>
                      <a:r>
                        <a:rPr sz="360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3600" spc="-7" baseline="25462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+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ts val="3945"/>
                        </a:lnSpc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(1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3600" spc="-7" baseline="25462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+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 algn="ctr">
                        <a:lnSpc>
                          <a:spcPts val="3945"/>
                        </a:lnSpc>
                      </a:pPr>
                      <a:r>
                        <a:rPr sz="3600" spc="-5" dirty="0">
                          <a:latin typeface="Times New Roman"/>
                          <a:cs typeface="Times New Roman"/>
                        </a:rPr>
                        <a:t>(F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3600" spc="-7" baseline="25462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)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694">
                <a:tc>
                  <a:txBody>
                    <a:bodyPr/>
                    <a:lstStyle/>
                    <a:p>
                      <a:pPr marR="1657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3600" baseline="25462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3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256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16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470">
                <a:tc>
                  <a:txBody>
                    <a:bodyPr/>
                    <a:lstStyle/>
                    <a:p>
                      <a:pPr marR="16383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256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13589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3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16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3600" spc="-5" dirty="0"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sz="3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3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=2591</a:t>
                      </a:r>
                      <a:r>
                        <a:rPr sz="3600" spc="-30" baseline="-20833" dirty="0">
                          <a:latin typeface="Times New Roman"/>
                          <a:cs typeface="Times New Roman"/>
                        </a:rPr>
                        <a:t>10</a:t>
                      </a:r>
                      <a:endParaRPr sz="3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33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8739" y="1340868"/>
            <a:ext cx="1819910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32080" algn="just">
              <a:lnSpc>
                <a:spcPct val="100000"/>
              </a:lnSpc>
              <a:spcBef>
                <a:spcPts val="105"/>
              </a:spcBef>
              <a:buAutoNum type="arabicPeriod" startAt="8"/>
              <a:tabLst>
                <a:tab pos="267335" algn="l"/>
              </a:tabLst>
            </a:pPr>
            <a:r>
              <a:rPr sz="2000" b="1" dirty="0">
                <a:latin typeface="Times New Roman"/>
                <a:cs typeface="Times New Roman"/>
              </a:rPr>
              <a:t>Hex</a:t>
            </a:r>
            <a:r>
              <a:rPr sz="2000" b="1" spc="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dec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m</a:t>
            </a:r>
            <a:r>
              <a:rPr sz="2000" b="1" dirty="0">
                <a:latin typeface="Times New Roman"/>
                <a:cs typeface="Times New Roman"/>
              </a:rPr>
              <a:t>al  (Hex)</a:t>
            </a:r>
            <a:endParaRPr sz="2000">
              <a:latin typeface="Times New Roman"/>
              <a:cs typeface="Times New Roman"/>
            </a:endParaRPr>
          </a:p>
          <a:p>
            <a:pPr marL="12700" marR="5080" lvl="1" algn="just">
              <a:lnSpc>
                <a:spcPct val="100000"/>
              </a:lnSpc>
              <a:buFont typeface="Times New Roman"/>
              <a:buAutoNum type="arabicPeriod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Hex</a:t>
            </a:r>
            <a:r>
              <a:rPr sz="2000" b="1" spc="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dec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sz="2000" b="1" spc="-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l  </a:t>
            </a:r>
            <a:r>
              <a:rPr sz="2000" b="1" spc="-5" dirty="0">
                <a:latin typeface="Times New Roman"/>
                <a:cs typeface="Times New Roman"/>
              </a:rPr>
              <a:t>to/from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12700" marR="459105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adeci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al  Conversion</a:t>
            </a:r>
            <a:endParaRPr sz="2000">
              <a:latin typeface="Times New Roman"/>
              <a:cs typeface="Times New Roman"/>
            </a:endParaRPr>
          </a:p>
          <a:p>
            <a:pPr marL="12700" marR="4191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&amp;Hex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  <a:p>
            <a:pPr marL="12700" marR="93345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Making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easier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527166"/>
            <a:ext cx="2317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45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9760" y="262509"/>
            <a:ext cx="8119745" cy="14305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  <a:tabLst>
                <a:tab pos="926465" algn="l"/>
                <a:tab pos="4058920" algn="l"/>
                <a:tab pos="4719320" algn="l"/>
              </a:tabLst>
            </a:pPr>
            <a:r>
              <a:rPr sz="4400" dirty="0"/>
              <a:t>8.1	</a:t>
            </a:r>
            <a:r>
              <a:rPr sz="4400" spc="-5" dirty="0"/>
              <a:t>Conversion</a:t>
            </a:r>
            <a:r>
              <a:rPr lang="en-US" sz="4400" spc="-5" dirty="0"/>
              <a:t> </a:t>
            </a:r>
            <a:r>
              <a:rPr sz="4400" spc="-5" dirty="0"/>
              <a:t>of</a:t>
            </a:r>
            <a:r>
              <a:rPr lang="en-US" sz="4400" spc="-5" dirty="0"/>
              <a:t> </a:t>
            </a:r>
            <a:r>
              <a:rPr sz="4400" spc="-5" dirty="0"/>
              <a:t>Hexadecimal  </a:t>
            </a:r>
            <a:r>
              <a:rPr sz="4400" dirty="0"/>
              <a:t>to/</a:t>
            </a:r>
            <a:r>
              <a:rPr sz="4400" spc="-20" dirty="0"/>
              <a:t>from</a:t>
            </a:r>
            <a:r>
              <a:rPr sz="4400" spc="-25" dirty="0"/>
              <a:t> </a:t>
            </a:r>
            <a:r>
              <a:rPr sz="4400" dirty="0"/>
              <a:t>Decimal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4500" y="1828800"/>
            <a:ext cx="6505575" cy="93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28600">
              <a:lnSpc>
                <a:spcPts val="3560"/>
              </a:lnSpc>
              <a:spcBef>
                <a:spcPts val="100"/>
              </a:spcBef>
              <a:buFont typeface="Arial MT"/>
              <a:buChar char="•"/>
              <a:tabLst>
                <a:tab pos="254000" algn="l"/>
              </a:tabLst>
            </a:pPr>
            <a:r>
              <a:rPr sz="3000" b="1" dirty="0">
                <a:latin typeface="Times New Roman"/>
                <a:cs typeface="Times New Roman"/>
              </a:rPr>
              <a:t>Hex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9AC</a:t>
            </a:r>
            <a:r>
              <a:rPr sz="3000" b="1" baseline="-20833" dirty="0">
                <a:latin typeface="Times New Roman"/>
                <a:cs typeface="Times New Roman"/>
              </a:rPr>
              <a:t>16</a:t>
            </a:r>
            <a:endParaRPr sz="3000" baseline="-20833" dirty="0">
              <a:latin typeface="Times New Roman"/>
              <a:cs typeface="Times New Roman"/>
            </a:endParaRPr>
          </a:p>
          <a:p>
            <a:pPr marL="406400">
              <a:lnSpc>
                <a:spcPts val="3560"/>
              </a:lnSpc>
              <a:tabLst>
                <a:tab pos="5717540" algn="l"/>
              </a:tabLst>
            </a:pPr>
            <a:r>
              <a:rPr sz="3000" dirty="0">
                <a:latin typeface="Times New Roman"/>
                <a:cs typeface="Times New Roman"/>
              </a:rPr>
              <a:t>(9 * 16</a:t>
            </a:r>
            <a:r>
              <a:rPr sz="3000" baseline="25000" dirty="0">
                <a:latin typeface="Times New Roman"/>
                <a:cs typeface="Times New Roman"/>
              </a:rPr>
              <a:t>2</a:t>
            </a:r>
            <a:r>
              <a:rPr sz="3000" dirty="0">
                <a:latin typeface="Times New Roman"/>
                <a:cs typeface="Times New Roman"/>
              </a:rPr>
              <a:t>)+</a:t>
            </a:r>
            <a:r>
              <a:rPr sz="3000" spc="-5" dirty="0">
                <a:latin typeface="Times New Roman"/>
                <a:cs typeface="Times New Roman"/>
              </a:rPr>
              <a:t> (A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*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16</a:t>
            </a:r>
            <a:r>
              <a:rPr sz="3000" baseline="25000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Times New Roman"/>
                <a:cs typeface="Times New Roman"/>
              </a:rPr>
              <a:t>)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+ </a:t>
            </a:r>
            <a:r>
              <a:rPr sz="3000" spc="-5" dirty="0">
                <a:latin typeface="Times New Roman"/>
                <a:cs typeface="Times New Roman"/>
              </a:rPr>
              <a:t>(C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* 16</a:t>
            </a:r>
            <a:r>
              <a:rPr sz="3000" baseline="25000" dirty="0">
                <a:latin typeface="Times New Roman"/>
                <a:cs typeface="Times New Roman"/>
              </a:rPr>
              <a:t>0</a:t>
            </a:r>
            <a:r>
              <a:rPr sz="3000" dirty="0">
                <a:latin typeface="Times New Roman"/>
                <a:cs typeface="Times New Roman"/>
              </a:rPr>
              <a:t>)</a:t>
            </a:r>
            <a:r>
              <a:rPr sz="3000" spc="-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=	2476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97200" y="2722549"/>
            <a:ext cx="556514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>
              <a:lnSpc>
                <a:spcPts val="3565"/>
              </a:lnSpc>
              <a:spcBef>
                <a:spcPts val="100"/>
              </a:spcBef>
              <a:tabLst>
                <a:tab pos="1478280" algn="l"/>
                <a:tab pos="2074545" algn="l"/>
                <a:tab pos="2931795" algn="l"/>
                <a:tab pos="3527425" algn="l"/>
                <a:tab pos="4384675" algn="l"/>
                <a:tab pos="4789805" algn="l"/>
              </a:tabLst>
            </a:pPr>
            <a:r>
              <a:rPr sz="3000" dirty="0">
                <a:latin typeface="Times New Roman"/>
                <a:cs typeface="Times New Roman"/>
              </a:rPr>
              <a:t>2304	+	160	+	12	=	2476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565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1371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6463" y="3391281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1800" y="5999175"/>
            <a:ext cx="2641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6700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Result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=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55B</a:t>
            </a:r>
            <a:r>
              <a:rPr sz="3000" b="1" baseline="-20833" dirty="0">
                <a:latin typeface="Times New Roman"/>
                <a:cs typeface="Times New Roman"/>
              </a:rPr>
              <a:t>16</a:t>
            </a:r>
            <a:endParaRPr sz="3000" baseline="-20833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806945"/>
              </p:ext>
            </p:extLst>
          </p:nvPr>
        </p:nvGraphicFramePr>
        <p:xfrm>
          <a:off x="5747384" y="3210560"/>
          <a:ext cx="5565140" cy="3233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0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3488">
                <a:tc>
                  <a:txBody>
                    <a:bodyPr/>
                    <a:lstStyle/>
                    <a:p>
                      <a:pPr algn="ctr">
                        <a:lnSpc>
                          <a:spcPts val="3804"/>
                        </a:lnSpc>
                      </a:pPr>
                      <a:r>
                        <a:rPr sz="31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Divisor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804"/>
                        </a:lnSpc>
                      </a:pPr>
                      <a:r>
                        <a:rPr sz="31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Quotient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04"/>
                        </a:lnSpc>
                      </a:pPr>
                      <a:r>
                        <a:rPr sz="31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Remainder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24">
                <a:tc>
                  <a:txBody>
                    <a:bodyPr/>
                    <a:lstStyle/>
                    <a:p>
                      <a:pPr algn="ctr">
                        <a:lnSpc>
                          <a:spcPts val="3804"/>
                        </a:lnSpc>
                      </a:pPr>
                      <a:r>
                        <a:rPr sz="31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804"/>
                        </a:lnSpc>
                      </a:pPr>
                      <a:r>
                        <a:rPr sz="3100" spc="5" dirty="0">
                          <a:latin typeface="Times New Roman"/>
                          <a:cs typeface="Times New Roman"/>
                        </a:rPr>
                        <a:t>1371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04"/>
                        </a:lnSpc>
                      </a:pPr>
                      <a:r>
                        <a:rPr sz="3100" spc="-60" dirty="0"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sz="3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100" dirty="0">
                          <a:latin typeface="Times New Roman"/>
                          <a:cs typeface="Times New Roman"/>
                        </a:rPr>
                        <a:t>=B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24">
                <a:tc>
                  <a:txBody>
                    <a:bodyPr/>
                    <a:lstStyle/>
                    <a:p>
                      <a:pPr algn="ctr">
                        <a:lnSpc>
                          <a:spcPts val="3804"/>
                        </a:lnSpc>
                      </a:pPr>
                      <a:r>
                        <a:rPr sz="31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804"/>
                        </a:lnSpc>
                      </a:pPr>
                      <a:r>
                        <a:rPr sz="3100" dirty="0">
                          <a:latin typeface="Times New Roman"/>
                          <a:cs typeface="Times New Roman"/>
                        </a:rPr>
                        <a:t>85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04"/>
                        </a:lnSpc>
                      </a:pPr>
                      <a:r>
                        <a:rPr sz="3100" dirty="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73">
                <a:tc>
                  <a:txBody>
                    <a:bodyPr/>
                    <a:lstStyle/>
                    <a:p>
                      <a:pPr algn="ctr">
                        <a:lnSpc>
                          <a:spcPts val="3810"/>
                        </a:lnSpc>
                      </a:pPr>
                      <a:r>
                        <a:rPr sz="31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10"/>
                        </a:lnSpc>
                      </a:pPr>
                      <a:r>
                        <a:rPr sz="3100" dirty="0">
                          <a:latin typeface="Times New Roman"/>
                          <a:cs typeface="Times New Roman"/>
                        </a:rPr>
                        <a:t>5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10"/>
                        </a:lnSpc>
                      </a:pPr>
                      <a:r>
                        <a:rPr sz="3100" dirty="0">
                          <a:latin typeface="Times New Roman"/>
                          <a:cs typeface="Times New Roman"/>
                        </a:rPr>
                        <a:t>5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4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10"/>
                        </a:lnSpc>
                      </a:pPr>
                      <a:r>
                        <a:rPr sz="31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8739" y="1125423"/>
            <a:ext cx="179070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5"/>
              </a:spcBef>
              <a:buAutoNum type="arabicPeriod" startAt="8"/>
              <a:tabLst>
                <a:tab pos="267335" algn="l"/>
              </a:tabLst>
            </a:pPr>
            <a:r>
              <a:rPr sz="2000" spc="-5" dirty="0">
                <a:latin typeface="Times New Roman"/>
                <a:cs typeface="Times New Roman"/>
              </a:rPr>
              <a:t>Hexadecimal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(Hex)</a:t>
            </a:r>
          </a:p>
          <a:p>
            <a:pPr marL="12700" marR="5080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Conversion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 Hexadecimal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to/from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Decimal</a:t>
            </a:r>
            <a:endParaRPr sz="2000" dirty="0">
              <a:latin typeface="Times New Roman"/>
              <a:cs typeface="Times New Roman"/>
            </a:endParaRPr>
          </a:p>
          <a:p>
            <a:pPr marL="12700" marR="429259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adeci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al  Conversion</a:t>
            </a:r>
          </a:p>
          <a:p>
            <a:pPr marL="12700" marR="12700" lvl="1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&amp;Hex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</a:p>
          <a:p>
            <a:pPr marL="12700" marR="64135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Making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easier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46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0825" y="636778"/>
            <a:ext cx="90201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8.2</a:t>
            </a:r>
            <a:r>
              <a:rPr sz="4300" spc="-10" dirty="0"/>
              <a:t> </a:t>
            </a:r>
            <a:r>
              <a:rPr sz="4300" spc="-5" dirty="0"/>
              <a:t>Binary to</a:t>
            </a:r>
            <a:r>
              <a:rPr sz="4300" spc="5" dirty="0"/>
              <a:t> </a:t>
            </a:r>
            <a:r>
              <a:rPr sz="4300" spc="-5" dirty="0"/>
              <a:t>Hexadecimal</a:t>
            </a:r>
            <a:r>
              <a:rPr sz="4300" spc="45" dirty="0"/>
              <a:t> </a:t>
            </a:r>
            <a:r>
              <a:rPr sz="4300" spc="-5" dirty="0"/>
              <a:t>Conversion</a:t>
            </a:r>
            <a:endParaRPr sz="4300" dirty="0"/>
          </a:p>
        </p:txBody>
      </p:sp>
      <p:sp>
        <p:nvSpPr>
          <p:cNvPr id="3" name="object 3"/>
          <p:cNvSpPr txBox="1"/>
          <p:nvPr/>
        </p:nvSpPr>
        <p:spPr>
          <a:xfrm>
            <a:off x="2790825" y="1563065"/>
            <a:ext cx="4076065" cy="26771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Comparison </a:t>
            </a:r>
            <a:r>
              <a:rPr sz="3600" dirty="0">
                <a:latin typeface="Times New Roman"/>
                <a:cs typeface="Times New Roman"/>
              </a:rPr>
              <a:t>of the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binary and 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hexadecimal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 </a:t>
            </a:r>
            <a:r>
              <a:rPr sz="3600" spc="-89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systems.</a:t>
            </a: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What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do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you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notice?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2729" y="1718460"/>
            <a:ext cx="3486651" cy="485363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739" y="1125423"/>
            <a:ext cx="185102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5"/>
              </a:spcBef>
              <a:buAutoNum type="arabicPeriod" startAt="8"/>
              <a:tabLst>
                <a:tab pos="267335" algn="l"/>
              </a:tabLst>
            </a:pPr>
            <a:r>
              <a:rPr sz="2000" spc="-5" dirty="0">
                <a:latin typeface="Times New Roman"/>
                <a:cs typeface="Times New Roman"/>
              </a:rPr>
              <a:t>Hexadecimal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(Hex)</a:t>
            </a:r>
          </a:p>
          <a:p>
            <a:pPr marL="12700" marR="508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Conversion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Hexadecimal </a:t>
            </a:r>
            <a:r>
              <a:rPr sz="2000" dirty="0">
                <a:latin typeface="Times New Roman"/>
                <a:cs typeface="Times New Roman"/>
              </a:rPr>
              <a:t> to/from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 dirty="0">
              <a:latin typeface="Times New Roman"/>
              <a:cs typeface="Times New Roman"/>
            </a:endParaRPr>
          </a:p>
          <a:p>
            <a:pPr marL="12700" marR="417195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Binary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Hex</a:t>
            </a:r>
            <a:r>
              <a:rPr sz="2000" b="1" spc="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dec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sz="2000" b="1" spc="-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l  Conversion</a:t>
            </a:r>
            <a:endParaRPr sz="2000" dirty="0">
              <a:latin typeface="Times New Roman"/>
              <a:cs typeface="Times New Roman"/>
            </a:endParaRPr>
          </a:p>
          <a:p>
            <a:pPr marL="12700" marR="73025" lvl="1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&amp;Hex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Conversion</a:t>
            </a:r>
          </a:p>
          <a:p>
            <a:pPr marL="12700" marR="12446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Making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easier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47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4625" y="636778"/>
            <a:ext cx="90201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8.2</a:t>
            </a:r>
            <a:r>
              <a:rPr sz="4300" spc="-10" dirty="0"/>
              <a:t> </a:t>
            </a:r>
            <a:r>
              <a:rPr sz="4300" spc="-5" dirty="0"/>
              <a:t>Binary to</a:t>
            </a:r>
            <a:r>
              <a:rPr sz="4300" spc="5" dirty="0"/>
              <a:t> </a:t>
            </a:r>
            <a:r>
              <a:rPr sz="4300" spc="-5" dirty="0"/>
              <a:t>Hexadecimal</a:t>
            </a:r>
            <a:r>
              <a:rPr sz="4300" spc="45" dirty="0"/>
              <a:t> </a:t>
            </a:r>
            <a:r>
              <a:rPr sz="4300" spc="-5" dirty="0"/>
              <a:t>Conversion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856865" y="1578305"/>
            <a:ext cx="4819650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Hex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represent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4-bit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binary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6865" y="2475102"/>
            <a:ext cx="3489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(110101111)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6020" y="2679319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0" dirty="0">
                <a:latin typeface="Times New Roman"/>
                <a:cs typeface="Times New Roman"/>
              </a:rPr>
              <a:t>2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8644" y="1649259"/>
            <a:ext cx="3413137" cy="4752772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320580"/>
              </p:ext>
            </p:extLst>
          </p:nvPr>
        </p:nvGraphicFramePr>
        <p:xfrm>
          <a:off x="2862960" y="3568446"/>
          <a:ext cx="3206115" cy="7180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028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0001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2340"/>
                        </a:lnSpc>
                      </a:pPr>
                      <a:r>
                        <a:rPr sz="2000" b="1" spc="-1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029"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119500" y="4678426"/>
            <a:ext cx="1983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Times New Roman"/>
                <a:cs typeface="Times New Roman"/>
              </a:rPr>
              <a:t>(110101111)</a:t>
            </a:r>
            <a:r>
              <a:rPr sz="2775" spc="-52" baseline="-21021" dirty="0">
                <a:latin typeface="Times New Roman"/>
                <a:cs typeface="Times New Roman"/>
              </a:rPr>
              <a:t>2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0142" y="4678426"/>
            <a:ext cx="1474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(1AF)</a:t>
            </a:r>
            <a:r>
              <a:rPr sz="2775" baseline="-21021" dirty="0">
                <a:latin typeface="Times New Roman"/>
                <a:cs typeface="Times New Roman"/>
              </a:rPr>
              <a:t>16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1115695"/>
            <a:ext cx="164020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5"/>
              </a:spcBef>
              <a:buAutoNum type="arabicPeriod" startAt="8"/>
              <a:tabLst>
                <a:tab pos="267335" algn="l"/>
              </a:tabLst>
            </a:pPr>
            <a:r>
              <a:rPr sz="2000" spc="-5" dirty="0">
                <a:latin typeface="Times New Roman"/>
                <a:cs typeface="Times New Roman"/>
              </a:rPr>
              <a:t>Hexadecimal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(Hex)</a:t>
            </a:r>
          </a:p>
          <a:p>
            <a:pPr marL="12700" marR="508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Conversion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Hexadecimal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to/from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 dirty="0">
              <a:latin typeface="Times New Roman"/>
              <a:cs typeface="Times New Roman"/>
            </a:endParaRPr>
          </a:p>
          <a:p>
            <a:pPr marL="12700" marR="205740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Binary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Hex</a:t>
            </a:r>
            <a:r>
              <a:rPr sz="2000" b="1" spc="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dec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sz="2000" b="1" spc="-10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l  Conversion</a:t>
            </a:r>
            <a:endParaRPr sz="2000" dirty="0">
              <a:latin typeface="Times New Roman"/>
              <a:cs typeface="Times New Roman"/>
            </a:endParaRPr>
          </a:p>
          <a:p>
            <a:pPr marL="12700" marR="445134" lvl="1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&amp;Hex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versi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</a:t>
            </a:r>
          </a:p>
          <a:p>
            <a:pPr marL="12700" marR="272415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Making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easier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48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9724" y="541146"/>
            <a:ext cx="77298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2874010" algn="l"/>
                <a:tab pos="3534410" algn="l"/>
              </a:tabLst>
            </a:pPr>
            <a:r>
              <a:rPr dirty="0"/>
              <a:t>8.3	Binary	&amp;	Hex</a:t>
            </a:r>
            <a:r>
              <a:rPr spc="-50" dirty="0"/>
              <a:t> </a:t>
            </a:r>
            <a:r>
              <a:rPr spc="-5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2890" y="1788921"/>
            <a:ext cx="3809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dirty="0">
                <a:latin typeface="Times New Roman"/>
                <a:cs typeface="Times New Roman"/>
              </a:rPr>
              <a:t>Consider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value: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7490" y="4200525"/>
            <a:ext cx="8728710" cy="18243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66700" algn="l"/>
              </a:tabLst>
            </a:pPr>
            <a:r>
              <a:rPr sz="3600" dirty="0">
                <a:latin typeface="Times New Roman"/>
                <a:cs typeface="Times New Roman"/>
              </a:rPr>
              <a:t>Split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this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into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groupings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4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Bits</a:t>
            </a:r>
            <a:endParaRPr sz="360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66700" algn="l"/>
              </a:tabLst>
            </a:pPr>
            <a:r>
              <a:rPr sz="3600" dirty="0">
                <a:latin typeface="Times New Roman"/>
                <a:cs typeface="Times New Roman"/>
              </a:rPr>
              <a:t>This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gives</a:t>
            </a:r>
            <a:r>
              <a:rPr sz="3600" dirty="0">
                <a:latin typeface="Times New Roman"/>
                <a:cs typeface="Times New Roman"/>
              </a:rPr>
              <a:t> the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Hex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5B</a:t>
            </a:r>
            <a:r>
              <a:rPr sz="3600" spc="-7" baseline="-20833" dirty="0">
                <a:latin typeface="Times New Roman"/>
                <a:cs typeface="Times New Roman"/>
              </a:rPr>
              <a:t>16</a:t>
            </a:r>
            <a:endParaRPr sz="3600" baseline="-20833">
              <a:latin typeface="Times New Roman"/>
              <a:cs typeface="Times New Roman"/>
            </a:endParaRPr>
          </a:p>
          <a:p>
            <a:pPr marL="723900" lvl="1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723900" algn="l"/>
              </a:tabLst>
            </a:pPr>
            <a:r>
              <a:rPr sz="3600" b="1" dirty="0">
                <a:latin typeface="Times New Roman"/>
                <a:cs typeface="Times New Roman"/>
              </a:rPr>
              <a:t>Hex</a:t>
            </a:r>
            <a:r>
              <a:rPr sz="3600" b="1" spc="-1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is </a:t>
            </a:r>
            <a:r>
              <a:rPr sz="3600" b="1" spc="-5" dirty="0">
                <a:latin typeface="Times New Roman"/>
                <a:cs typeface="Times New Roman"/>
              </a:rPr>
              <a:t>simply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groupings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of 4 </a:t>
            </a:r>
            <a:r>
              <a:rPr sz="3600" b="1" spc="-5" dirty="0">
                <a:latin typeface="Times New Roman"/>
                <a:cs typeface="Times New Roman"/>
              </a:rPr>
              <a:t>Binary</a:t>
            </a:r>
            <a:r>
              <a:rPr sz="3600" b="1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Bits.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38174"/>
              </p:ext>
            </p:extLst>
          </p:nvPr>
        </p:nvGraphicFramePr>
        <p:xfrm>
          <a:off x="3065082" y="2769552"/>
          <a:ext cx="5650864" cy="11717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5851">
                <a:tc>
                  <a:txBody>
                    <a:bodyPr/>
                    <a:lstStyle/>
                    <a:p>
                      <a:pPr marL="91440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7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6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5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4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3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2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1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3140"/>
                        </a:lnSpc>
                      </a:pPr>
                      <a:r>
                        <a:rPr sz="4800" b="1" spc="15" baseline="-1649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b="1" spc="10" dirty="0">
                          <a:latin typeface="Times New Roman"/>
                          <a:cs typeface="Times New Roman"/>
                        </a:rPr>
                        <a:t>0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85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8739" y="1125423"/>
            <a:ext cx="186753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5"/>
              </a:spcBef>
              <a:buAutoNum type="arabicPeriod" startAt="8"/>
              <a:tabLst>
                <a:tab pos="267335" algn="l"/>
              </a:tabLst>
            </a:pPr>
            <a:r>
              <a:rPr sz="2000" spc="-5" dirty="0">
                <a:latin typeface="Times New Roman"/>
                <a:cs typeface="Times New Roman"/>
              </a:rPr>
              <a:t>Hexadecimal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(Hex)</a:t>
            </a:r>
            <a:endParaRPr sz="2000">
              <a:latin typeface="Times New Roman"/>
              <a:cs typeface="Times New Roman"/>
            </a:endParaRPr>
          </a:p>
          <a:p>
            <a:pPr marL="12700" marR="20955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Conversion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Hexadecimal </a:t>
            </a:r>
            <a:r>
              <a:rPr sz="2000" dirty="0">
                <a:latin typeface="Times New Roman"/>
                <a:cs typeface="Times New Roman"/>
              </a:rPr>
              <a:t> to/from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12700" marR="506095" lvl="1" algn="just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adeci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al  Conversion</a:t>
            </a:r>
            <a:endParaRPr sz="2000">
              <a:latin typeface="Times New Roman"/>
              <a:cs typeface="Times New Roman"/>
            </a:endParaRPr>
          </a:p>
          <a:p>
            <a:pPr marL="12700" marR="5080" lvl="1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93700" algn="l"/>
              </a:tabLst>
            </a:pPr>
            <a:r>
              <a:rPr sz="2000" b="1" dirty="0">
                <a:latin typeface="Times New Roman"/>
                <a:cs typeface="Times New Roman"/>
              </a:rPr>
              <a:t>Binary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&amp;Hex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  <a:p>
            <a:pPr marL="12700" marR="140970" lvl="1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000" dirty="0">
                <a:latin typeface="Times New Roman"/>
                <a:cs typeface="Times New Roman"/>
              </a:rPr>
              <a:t>Making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easier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49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930" y="636778"/>
            <a:ext cx="895921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8.4</a:t>
            </a:r>
            <a:r>
              <a:rPr sz="4300" spc="-10" dirty="0"/>
              <a:t> </a:t>
            </a:r>
            <a:r>
              <a:rPr sz="4300" spc="-5" dirty="0"/>
              <a:t>Making</a:t>
            </a:r>
            <a:r>
              <a:rPr sz="4300" spc="25" dirty="0"/>
              <a:t> </a:t>
            </a:r>
            <a:r>
              <a:rPr sz="4300" spc="-5" dirty="0"/>
              <a:t>Binary</a:t>
            </a:r>
            <a:r>
              <a:rPr sz="4300" spc="20" dirty="0"/>
              <a:t> </a:t>
            </a:r>
            <a:r>
              <a:rPr sz="4300" spc="-5" dirty="0"/>
              <a:t>Easier</a:t>
            </a:r>
            <a:r>
              <a:rPr sz="4300" spc="-65" dirty="0"/>
              <a:t> </a:t>
            </a:r>
            <a:r>
              <a:rPr sz="4300" spc="-5" dirty="0"/>
              <a:t>for</a:t>
            </a:r>
            <a:r>
              <a:rPr sz="4300" spc="-70" dirty="0"/>
              <a:t> </a:t>
            </a:r>
            <a:r>
              <a:rPr sz="4300" spc="-5" dirty="0"/>
              <a:t>Humans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589530" y="1782539"/>
            <a:ext cx="9450070" cy="43757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6733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Why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was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Hexadecimal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chosen?</a:t>
            </a:r>
            <a:endParaRPr sz="2800">
              <a:latin typeface="Times New Roman"/>
              <a:cs typeface="Times New Roman"/>
            </a:endParaRPr>
          </a:p>
          <a:p>
            <a:pPr marL="723900" lvl="1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724535" algn="l"/>
              </a:tabLst>
            </a:pP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hex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four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  <a:p>
            <a:pPr marL="723900" lvl="1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724535" algn="l"/>
              </a:tabLst>
            </a:pPr>
            <a:r>
              <a:rPr sz="2800" spc="-5" dirty="0">
                <a:latin typeface="Times New Roman"/>
                <a:cs typeface="Times New Roman"/>
              </a:rPr>
              <a:t>2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hex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digits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byte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723900" lvl="1" indent="-22923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724535" algn="l"/>
              </a:tabLst>
            </a:pPr>
            <a:r>
              <a:rPr sz="2800" spc="-5" dirty="0">
                <a:latin typeface="Times New Roman"/>
                <a:cs typeface="Times New Roman"/>
              </a:rPr>
              <a:t>Allows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simple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conversion 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from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binary.</a:t>
            </a:r>
            <a:endParaRPr sz="2800">
              <a:latin typeface="Times New Roman"/>
              <a:cs typeface="Times New Roman"/>
            </a:endParaRPr>
          </a:p>
          <a:p>
            <a:pPr marL="723900" lvl="1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724535" algn="l"/>
              </a:tabLst>
            </a:pPr>
            <a:r>
              <a:rPr sz="2800" spc="-5" dirty="0">
                <a:latin typeface="Times New Roman"/>
                <a:cs typeface="Times New Roman"/>
              </a:rPr>
              <a:t>Simpler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convert between Base 2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Base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10.</a:t>
            </a:r>
            <a:endParaRPr sz="2800">
              <a:latin typeface="Times New Roman"/>
              <a:cs typeface="Times New Roman"/>
            </a:endParaRPr>
          </a:p>
          <a:p>
            <a:pPr marL="723900" marR="190500" lvl="1" indent="-228600">
              <a:lnSpc>
                <a:spcPts val="3030"/>
              </a:lnSpc>
              <a:spcBef>
                <a:spcPts val="540"/>
              </a:spcBef>
              <a:buFont typeface="Arial MT"/>
              <a:buChar char="•"/>
              <a:tabLst>
                <a:tab pos="724535" algn="l"/>
                <a:tab pos="3671570" algn="l"/>
                <a:tab pos="730059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meaning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value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communicated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simply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and 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effectively,</a:t>
            </a:r>
            <a:r>
              <a:rPr sz="2800" spc="-5" dirty="0">
                <a:latin typeface="Times New Roman"/>
                <a:cs typeface="Times New Roman"/>
              </a:rPr>
              <a:t> both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(i.e.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2)	level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also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 humans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(i.e.	Base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10)</a:t>
            </a:r>
            <a:r>
              <a:rPr sz="2800" spc="-10" dirty="0">
                <a:latin typeface="Times New Roman"/>
                <a:cs typeface="Times New Roman"/>
              </a:rPr>
              <a:t> can </a:t>
            </a:r>
            <a:r>
              <a:rPr sz="2800" dirty="0">
                <a:latin typeface="Times New Roman"/>
                <a:cs typeface="Times New Roman"/>
              </a:rPr>
              <a:t>visualise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meaning.</a:t>
            </a:r>
            <a:endParaRPr sz="2800">
              <a:latin typeface="Times New Roman"/>
              <a:cs typeface="Times New Roman"/>
            </a:endParaRPr>
          </a:p>
          <a:p>
            <a:pPr marL="1181100" lvl="2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181735" algn="l"/>
              </a:tabLst>
            </a:pPr>
            <a:r>
              <a:rPr sz="2800" spc="-5" dirty="0">
                <a:latin typeface="Times New Roman"/>
                <a:cs typeface="Times New Roman"/>
              </a:rPr>
              <a:t>Hex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easier</a:t>
            </a:r>
            <a:r>
              <a:rPr sz="2800" dirty="0">
                <a:latin typeface="Times New Roman"/>
                <a:cs typeface="Times New Roman"/>
              </a:rPr>
              <a:t> 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humans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understand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communicate.</a:t>
            </a:r>
            <a:endParaRPr sz="2800">
              <a:latin typeface="Times New Roman"/>
              <a:cs typeface="Times New Roman"/>
            </a:endParaRPr>
          </a:p>
          <a:p>
            <a:pPr marL="1181100" lvl="2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1817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Example: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</a:t>
            </a:r>
            <a:r>
              <a:rPr sz="2775" spc="7" baseline="-21021" dirty="0">
                <a:latin typeface="Times New Roman"/>
                <a:cs typeface="Times New Roman"/>
              </a:rPr>
              <a:t>16</a:t>
            </a:r>
            <a:r>
              <a:rPr sz="2775" spc="375" baseline="-21021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1010</a:t>
            </a:r>
            <a:r>
              <a:rPr sz="2775" baseline="-21021" dirty="0">
                <a:latin typeface="Times New Roman"/>
                <a:cs typeface="Times New Roman"/>
              </a:rPr>
              <a:t>2</a:t>
            </a:r>
            <a:r>
              <a:rPr sz="2775" spc="315" baseline="-21021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10</a:t>
            </a:r>
            <a:r>
              <a:rPr sz="2775" spc="7" baseline="-21021" dirty="0">
                <a:latin typeface="Times New Roman"/>
                <a:cs typeface="Times New Roman"/>
              </a:rPr>
              <a:t>10</a:t>
            </a:r>
            <a:r>
              <a:rPr sz="2800" spc="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1493265"/>
            <a:ext cx="1859914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3860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Hexade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imal  (Hex)</a:t>
            </a:r>
            <a:endParaRPr sz="1800">
              <a:latin typeface="Times New Roman"/>
              <a:cs typeface="Times New Roman"/>
            </a:endParaRPr>
          </a:p>
          <a:p>
            <a:pPr marL="12700" marR="194945" lvl="1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Conversion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Hexadecimal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to/from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Decimal</a:t>
            </a:r>
            <a:endParaRPr sz="1800">
              <a:latin typeface="Times New Roman"/>
              <a:cs typeface="Times New Roman"/>
            </a:endParaRPr>
          </a:p>
          <a:p>
            <a:pPr marL="12700" marR="631825" lvl="1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Binary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Hexade</a:t>
            </a:r>
            <a:r>
              <a:rPr sz="1800" spc="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imal  Conversion</a:t>
            </a:r>
            <a:endParaRPr sz="1800">
              <a:latin typeface="Times New Roman"/>
              <a:cs typeface="Times New Roman"/>
            </a:endParaRPr>
          </a:p>
          <a:p>
            <a:pPr marL="12700" marR="258445" lvl="1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Binary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&amp;Hex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Conversion</a:t>
            </a:r>
            <a:endParaRPr sz="1800">
              <a:latin typeface="Times New Roman"/>
              <a:cs typeface="Times New Roman"/>
            </a:endParaRPr>
          </a:p>
          <a:p>
            <a:pPr marL="355600" lvl="1" indent="-343535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Making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Binary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easier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for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Humans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50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6904" y="546938"/>
            <a:ext cx="48958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9. OC</a:t>
            </a:r>
            <a:r>
              <a:rPr spc="-355" dirty="0"/>
              <a:t>T</a:t>
            </a:r>
            <a:r>
              <a:rPr dirty="0"/>
              <a:t>AL</a:t>
            </a:r>
            <a:r>
              <a:rPr spc="-260" dirty="0"/>
              <a:t> </a:t>
            </a:r>
            <a:r>
              <a:rPr dirty="0"/>
              <a:t>Radix 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0670" y="1718586"/>
            <a:ext cx="8533130" cy="29032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5" dirty="0">
                <a:latin typeface="Times New Roman"/>
                <a:cs typeface="Times New Roman"/>
              </a:rPr>
              <a:t> other</a:t>
            </a:r>
            <a:r>
              <a:rPr sz="2800" spc="-10" dirty="0">
                <a:latin typeface="Times New Roman"/>
                <a:cs typeface="Times New Roman"/>
              </a:rPr>
              <a:t> commonly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 number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8</a:t>
            </a:r>
            <a:r>
              <a:rPr sz="2800" dirty="0">
                <a:latin typeface="Times New Roman"/>
                <a:cs typeface="Times New Roman"/>
              </a:rPr>
              <a:t> or</a:t>
            </a:r>
            <a:r>
              <a:rPr sz="2800" spc="-5" dirty="0">
                <a:latin typeface="Times New Roman"/>
                <a:cs typeface="Times New Roman"/>
              </a:rPr>
              <a:t> Octal.</a:t>
            </a:r>
            <a:endParaRPr sz="28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octal?</a:t>
            </a:r>
            <a:endParaRPr sz="2800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711200" algn="l"/>
              </a:tabLst>
            </a:pPr>
            <a:r>
              <a:rPr sz="2800" spc="-5" dirty="0">
                <a:latin typeface="Times New Roman"/>
                <a:cs typeface="Times New Roman"/>
              </a:rPr>
              <a:t>Direct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conversion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binary</a:t>
            </a:r>
            <a:endParaRPr sz="28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How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would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you represent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23 decimal in octal?</a:t>
            </a:r>
            <a:endParaRPr sz="2800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711200" algn="l"/>
                <a:tab pos="1520190" algn="l"/>
                <a:tab pos="2292985" algn="l"/>
              </a:tabLst>
            </a:pPr>
            <a:r>
              <a:rPr sz="2800" spc="-5" dirty="0">
                <a:latin typeface="Times New Roman"/>
                <a:cs typeface="Times New Roman"/>
              </a:rPr>
              <a:t>Hint	</a:t>
            </a:r>
            <a:r>
              <a:rPr sz="2800" spc="5" dirty="0">
                <a:latin typeface="Times New Roman"/>
                <a:cs typeface="Times New Roman"/>
              </a:rPr>
              <a:t>23</a:t>
            </a:r>
            <a:r>
              <a:rPr sz="2775" spc="7" baseline="-21021" dirty="0">
                <a:latin typeface="Times New Roman"/>
                <a:cs typeface="Times New Roman"/>
              </a:rPr>
              <a:t>10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00010111</a:t>
            </a:r>
            <a:r>
              <a:rPr sz="2775" spc="-37" baseline="-21021" dirty="0">
                <a:latin typeface="Times New Roman"/>
                <a:cs typeface="Times New Roman"/>
              </a:rPr>
              <a:t>2</a:t>
            </a:r>
            <a:r>
              <a:rPr sz="2775" spc="322" baseline="-21021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8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binary.</a:t>
            </a:r>
            <a:endParaRPr sz="2800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7112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answer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027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865246"/>
            <a:ext cx="17926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SzPct val="94444"/>
              <a:buAutoNum type="arabicPeriod" startAt="9"/>
              <a:tabLst>
                <a:tab pos="18478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OC</a:t>
            </a:r>
            <a:r>
              <a:rPr sz="1800" b="1" spc="-135" dirty="0">
                <a:latin typeface="Times New Roman"/>
                <a:cs typeface="Times New Roman"/>
              </a:rPr>
              <a:t>T</a:t>
            </a:r>
            <a:r>
              <a:rPr sz="1800" b="1" spc="-5" dirty="0">
                <a:latin typeface="Times New Roman"/>
                <a:cs typeface="Times New Roman"/>
              </a:rPr>
              <a:t>AL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Ra</a:t>
            </a:r>
            <a:r>
              <a:rPr sz="1800" b="1" spc="-15" dirty="0">
                <a:latin typeface="Times New Roman"/>
                <a:cs typeface="Times New Roman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ix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  <a:p>
            <a:pPr marL="12700" marR="329565">
              <a:lnSpc>
                <a:spcPct val="100000"/>
              </a:lnSpc>
              <a:buAutoNum type="arabicPeriod" startAt="9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Non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Integer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Numbers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51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400" y="591388"/>
            <a:ext cx="66160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</a:t>
            </a:r>
            <a:r>
              <a:rPr spc="-15" dirty="0"/>
              <a:t> </a:t>
            </a:r>
            <a:r>
              <a:rPr dirty="0"/>
              <a:t>Non</a:t>
            </a:r>
            <a:r>
              <a:rPr spc="-15" dirty="0"/>
              <a:t> </a:t>
            </a:r>
            <a:r>
              <a:rPr spc="-5" dirty="0"/>
              <a:t>Integer</a:t>
            </a:r>
            <a:r>
              <a:rPr spc="-114" dirty="0"/>
              <a:t> </a:t>
            </a:r>
            <a:r>
              <a:rPr spc="-5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160" y="1718586"/>
            <a:ext cx="7711440" cy="37350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spc="-5" dirty="0">
                <a:latin typeface="Times New Roman"/>
                <a:cs typeface="Times New Roman"/>
              </a:rPr>
              <a:t>we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always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WHOLE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values?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would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nice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if 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could.</a:t>
            </a: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-10" dirty="0">
                <a:latin typeface="Times New Roman"/>
                <a:cs typeface="Times New Roman"/>
              </a:rPr>
              <a:t>Bank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balances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might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 interesting.</a:t>
            </a:r>
            <a:endParaRPr sz="28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02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-120" dirty="0">
                <a:latin typeface="Times New Roman"/>
                <a:cs typeface="Times New Roman"/>
              </a:rPr>
              <a:t>We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look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 what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 Floating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numbers.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5" dirty="0">
                <a:latin typeface="Times New Roman"/>
                <a:cs typeface="Times New Roman"/>
              </a:rPr>
              <a:t>Values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3.142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-5" dirty="0">
                <a:latin typeface="Times New Roman"/>
                <a:cs typeface="Times New Roman"/>
              </a:rPr>
              <a:t>Numbers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decimal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point!</a:t>
            </a: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Java </a:t>
            </a:r>
            <a:r>
              <a:rPr sz="2800" spc="-1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C).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802763"/>
            <a:ext cx="189547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835" indent="-191770">
              <a:lnSpc>
                <a:spcPct val="100000"/>
              </a:lnSpc>
              <a:spcBef>
                <a:spcPts val="105"/>
              </a:spcBef>
              <a:buSzPct val="95000"/>
              <a:buAutoNum type="arabicPeriod" startAt="9"/>
              <a:tabLst>
                <a:tab pos="204470" algn="l"/>
              </a:tabLst>
            </a:pPr>
            <a:r>
              <a:rPr sz="2000" dirty="0">
                <a:latin typeface="Times New Roman"/>
                <a:cs typeface="Times New Roman"/>
              </a:rPr>
              <a:t>OC</a:t>
            </a:r>
            <a:r>
              <a:rPr sz="2000" spc="-16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AL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dix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12700" marR="185420">
              <a:lnSpc>
                <a:spcPct val="100000"/>
              </a:lnSpc>
              <a:buAutoNum type="arabicPeriod" startAt="9"/>
              <a:tabLst>
                <a:tab pos="393700" algn="l"/>
              </a:tabLst>
            </a:pPr>
            <a:r>
              <a:rPr sz="2000" b="1" spc="5" dirty="0">
                <a:latin typeface="Times New Roman"/>
                <a:cs typeface="Times New Roman"/>
              </a:rPr>
              <a:t>Non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Integer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52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6314" y="591388"/>
            <a:ext cx="60712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10.1</a:t>
            </a:r>
            <a:r>
              <a:rPr spc="-25" dirty="0"/>
              <a:t> </a:t>
            </a:r>
            <a:r>
              <a:rPr spc="-5" dirty="0"/>
              <a:t>Scientific</a:t>
            </a:r>
            <a:r>
              <a:rPr spc="-20" dirty="0"/>
              <a:t> </a:t>
            </a:r>
            <a:r>
              <a:rPr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7660" y="1718586"/>
            <a:ext cx="9248140" cy="37979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very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large</a:t>
            </a:r>
            <a:r>
              <a:rPr sz="2800" spc="-5" dirty="0">
                <a:latin typeface="Times New Roman"/>
                <a:cs typeface="Times New Roman"/>
              </a:rPr>
              <a:t> 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very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small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numbers.</a:t>
            </a:r>
            <a:endParaRPr sz="28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b="1" dirty="0">
                <a:latin typeface="Times New Roman"/>
                <a:cs typeface="Times New Roman"/>
              </a:rPr>
              <a:t>537,000,000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written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5.37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x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5" dirty="0">
                <a:latin typeface="Times New Roman"/>
                <a:cs typeface="Times New Roman"/>
              </a:rPr>
              <a:t>10</a:t>
            </a:r>
            <a:r>
              <a:rPr sz="2775" b="1" spc="7" baseline="25525" dirty="0">
                <a:latin typeface="Times New Roman"/>
                <a:cs typeface="Times New Roman"/>
              </a:rPr>
              <a:t>8</a:t>
            </a:r>
            <a:endParaRPr sz="2775" baseline="25525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711200" algn="l"/>
              </a:tabLst>
            </a:pPr>
            <a:r>
              <a:rPr sz="2800" spc="-5" dirty="0">
                <a:latin typeface="Times New Roman"/>
                <a:cs typeface="Times New Roman"/>
              </a:rPr>
              <a:t>5.37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Mantissa.</a:t>
            </a:r>
            <a:endParaRPr sz="2800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711200" algn="l"/>
                <a:tab pos="1451610" algn="l"/>
              </a:tabLst>
            </a:pPr>
            <a:r>
              <a:rPr sz="2800" spc="5" dirty="0">
                <a:latin typeface="Times New Roman"/>
                <a:cs typeface="Times New Roman"/>
              </a:rPr>
              <a:t>10</a:t>
            </a:r>
            <a:r>
              <a:rPr sz="2775" spc="7" baseline="25525" dirty="0">
                <a:latin typeface="Times New Roman"/>
                <a:cs typeface="Times New Roman"/>
              </a:rPr>
              <a:t>8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Exponent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6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54000" algn="l"/>
              </a:tabLst>
            </a:pPr>
            <a:r>
              <a:rPr sz="2800" b="1" dirty="0">
                <a:latin typeface="Times New Roman"/>
                <a:cs typeface="Times New Roman"/>
              </a:rPr>
              <a:t>0.000136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written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1.36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x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10" dirty="0">
                <a:latin typeface="Times New Roman"/>
                <a:cs typeface="Times New Roman"/>
              </a:rPr>
              <a:t>10</a:t>
            </a:r>
            <a:r>
              <a:rPr sz="2775" b="1" spc="15" baseline="25525" dirty="0">
                <a:latin typeface="Times New Roman"/>
                <a:cs typeface="Times New Roman"/>
              </a:rPr>
              <a:t>─4</a:t>
            </a:r>
            <a:endParaRPr sz="2775" baseline="25525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711200" algn="l"/>
              </a:tabLst>
            </a:pPr>
            <a:r>
              <a:rPr sz="2800" spc="-5" dirty="0">
                <a:latin typeface="Times New Roman"/>
                <a:cs typeface="Times New Roman"/>
              </a:rPr>
              <a:t>1.36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Mantissa.</a:t>
            </a:r>
            <a:endParaRPr sz="2800" dirty="0">
              <a:latin typeface="Times New Roman"/>
              <a:cs typeface="Times New Roman"/>
            </a:endParaRPr>
          </a:p>
          <a:p>
            <a:pPr marL="711200" lvl="1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711200" algn="l"/>
              </a:tabLst>
            </a:pPr>
            <a:r>
              <a:rPr sz="2800" spc="5" dirty="0">
                <a:latin typeface="Times New Roman"/>
                <a:cs typeface="Times New Roman"/>
              </a:rPr>
              <a:t>10</a:t>
            </a:r>
            <a:r>
              <a:rPr sz="2775" spc="7" baseline="25525" dirty="0">
                <a:latin typeface="Times New Roman"/>
                <a:cs typeface="Times New Roman"/>
              </a:rPr>
              <a:t>─4</a:t>
            </a:r>
            <a:r>
              <a:rPr sz="2775" spc="322" baseline="255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called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Exponent.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192782"/>
            <a:ext cx="189357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indent="-381000">
              <a:lnSpc>
                <a:spcPct val="100000"/>
              </a:lnSpc>
              <a:spcBef>
                <a:spcPts val="105"/>
              </a:spcBef>
              <a:buAutoNum type="arabicPeriod" startAt="10"/>
              <a:tabLst>
                <a:tab pos="393700" algn="l"/>
              </a:tabLst>
            </a:pPr>
            <a:r>
              <a:rPr sz="2000" spc="5" dirty="0">
                <a:latin typeface="Times New Roman"/>
                <a:cs typeface="Times New Roman"/>
              </a:rPr>
              <a:t>Non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  <a:p>
            <a:pPr marL="12700" marR="361950" lvl="1">
              <a:lnSpc>
                <a:spcPct val="100000"/>
              </a:lnSpc>
              <a:buAutoNum type="arabicPeriod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Sci</a:t>
            </a: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ntific  Notation</a:t>
            </a:r>
            <a:endParaRPr sz="2000">
              <a:latin typeface="Times New Roman"/>
              <a:cs typeface="Times New Roman"/>
            </a:endParaRPr>
          </a:p>
          <a:p>
            <a:pPr marL="12700" marR="5080" lvl="1">
              <a:lnSpc>
                <a:spcPct val="100000"/>
              </a:lnSpc>
              <a:buAutoNum type="arabicPeriod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Scientific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Notation: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53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930" y="825753"/>
            <a:ext cx="952627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/>
              <a:t>10.2 </a:t>
            </a:r>
            <a:r>
              <a:rPr sz="3500" spc="-5" dirty="0"/>
              <a:t>Scientific</a:t>
            </a:r>
            <a:r>
              <a:rPr sz="3500" spc="5" dirty="0"/>
              <a:t> </a:t>
            </a:r>
            <a:r>
              <a:rPr sz="3500" dirty="0"/>
              <a:t>Notation:</a:t>
            </a:r>
            <a:r>
              <a:rPr sz="3500" spc="15" dirty="0"/>
              <a:t> </a:t>
            </a:r>
            <a:r>
              <a:rPr sz="3500" spc="-5" dirty="0"/>
              <a:t>Floating</a:t>
            </a:r>
            <a:r>
              <a:rPr sz="3500" spc="15" dirty="0"/>
              <a:t> </a:t>
            </a:r>
            <a:r>
              <a:rPr sz="3500" spc="-5" dirty="0"/>
              <a:t>Point</a:t>
            </a:r>
            <a:r>
              <a:rPr sz="3500" spc="5" dirty="0"/>
              <a:t> </a:t>
            </a:r>
            <a:r>
              <a:rPr sz="3500" spc="-5" dirty="0"/>
              <a:t>Numbers</a:t>
            </a:r>
            <a:endParaRPr sz="3500" dirty="0"/>
          </a:p>
        </p:txBody>
      </p:sp>
      <p:sp>
        <p:nvSpPr>
          <p:cNvPr id="3" name="object 3"/>
          <p:cNvSpPr txBox="1"/>
          <p:nvPr/>
        </p:nvSpPr>
        <p:spPr>
          <a:xfrm>
            <a:off x="3020060" y="1669161"/>
            <a:ext cx="9171940" cy="2116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0380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Note that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positive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exponent tells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you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how </a:t>
            </a:r>
            <a:r>
              <a:rPr sz="2800" spc="-10" dirty="0">
                <a:latin typeface="Times New Roman"/>
                <a:cs typeface="Times New Roman"/>
              </a:rPr>
              <a:t>many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move </a:t>
            </a:r>
            <a:r>
              <a:rPr sz="2800" spc="-5" dirty="0">
                <a:latin typeface="Times New Roman"/>
                <a:cs typeface="Times New Roman"/>
              </a:rPr>
              <a:t>the decimal </a:t>
            </a:r>
            <a:r>
              <a:rPr sz="2800" dirty="0">
                <a:latin typeface="Times New Roman"/>
                <a:cs typeface="Times New Roman"/>
              </a:rPr>
              <a:t>point </a:t>
            </a:r>
            <a:r>
              <a:rPr sz="2800" spc="-5" dirty="0">
                <a:latin typeface="Times New Roman"/>
                <a:cs typeface="Times New Roman"/>
              </a:rPr>
              <a:t>to the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right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latin typeface="Times New Roman"/>
                <a:cs typeface="Times New Roman"/>
              </a:rPr>
              <a:t>making the </a:t>
            </a:r>
            <a:r>
              <a:rPr sz="2800" b="1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number. 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bigger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negative </a:t>
            </a:r>
            <a:r>
              <a:rPr sz="2800" spc="-5" dirty="0">
                <a:latin typeface="Times New Roman"/>
                <a:cs typeface="Times New Roman"/>
              </a:rPr>
              <a:t>Exponent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how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move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decimal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the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left</a:t>
            </a:r>
            <a:r>
              <a:rPr sz="2800" spc="-5" dirty="0">
                <a:latin typeface="Times New Roman"/>
                <a:cs typeface="Times New Roman"/>
              </a:rPr>
              <a:t>, making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number</a:t>
            </a:r>
            <a:r>
              <a:rPr sz="2800" b="1" u="heavy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smaller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4660" y="5158485"/>
            <a:ext cx="6570980" cy="118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  <a:tabLst>
                <a:tab pos="3808095" algn="l"/>
                <a:tab pos="5434330" algn="l"/>
              </a:tabLst>
            </a:pPr>
            <a:r>
              <a:rPr sz="2400" dirty="0">
                <a:latin typeface="Times New Roman"/>
                <a:cs typeface="Times New Roman"/>
              </a:rPr>
              <a:t>1.005 x </a:t>
            </a:r>
            <a:r>
              <a:rPr sz="2400" spc="-5" dirty="0">
                <a:latin typeface="Times New Roman"/>
                <a:cs typeface="Times New Roman"/>
              </a:rPr>
              <a:t>10</a:t>
            </a:r>
            <a:r>
              <a:rPr sz="2400" spc="-7" baseline="24305" dirty="0">
                <a:latin typeface="Times New Roman"/>
                <a:cs typeface="Times New Roman"/>
              </a:rPr>
              <a:t>0</a:t>
            </a:r>
            <a:r>
              <a:rPr sz="2400" spc="315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1.005	1.005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</a:t>
            </a:r>
            <a:r>
              <a:rPr sz="2400" spc="-5" dirty="0">
                <a:latin typeface="Times New Roman"/>
                <a:cs typeface="Times New Roman"/>
              </a:rPr>
              <a:t>10</a:t>
            </a:r>
            <a:r>
              <a:rPr sz="2400" spc="-7" baseline="24305" dirty="0">
                <a:latin typeface="Times New Roman"/>
                <a:cs typeface="Times New Roman"/>
              </a:rPr>
              <a:t>4	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10,050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marL="266700" indent="-228600">
              <a:lnSpc>
                <a:spcPct val="100000"/>
              </a:lnSpc>
              <a:buFont typeface="Arial MT"/>
              <a:buChar char="•"/>
              <a:tabLst>
                <a:tab pos="2667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These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 Floating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6547" y="4426407"/>
            <a:ext cx="2484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1.005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10</a:t>
            </a:r>
            <a:r>
              <a:rPr sz="2400" spc="-7" baseline="24305" dirty="0">
                <a:latin typeface="Times New Roman"/>
                <a:cs typeface="Times New Roman"/>
              </a:rPr>
              <a:t>2</a:t>
            </a:r>
            <a:r>
              <a:rPr sz="2400" spc="277" baseline="24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100.5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4781" y="4426407"/>
            <a:ext cx="15405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1.005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10</a:t>
            </a:r>
            <a:r>
              <a:rPr sz="2400" spc="-7" baseline="24305" dirty="0">
                <a:latin typeface="Times New Roman"/>
                <a:cs typeface="Times New Roman"/>
              </a:rPr>
              <a:t>-2</a:t>
            </a:r>
            <a:endParaRPr sz="2400" baseline="2430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400" y="4426407"/>
            <a:ext cx="1265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0.01005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-22758" y="1735582"/>
            <a:ext cx="15074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10.1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Scientific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54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22758" y="2040382"/>
            <a:ext cx="9156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-22758" y="2345182"/>
            <a:ext cx="15360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10.2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Scientific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-22758" y="2649677"/>
            <a:ext cx="20237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Notation: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Floating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-22758" y="2955163"/>
            <a:ext cx="1671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Point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-22758" y="3259963"/>
            <a:ext cx="1295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10.3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-22758" y="3564763"/>
            <a:ext cx="1471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Floating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-22758" y="3869563"/>
            <a:ext cx="19792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10.4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Floating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-22758" y="4479416"/>
            <a:ext cx="1144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3685" y="436575"/>
            <a:ext cx="92259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10.3</a:t>
            </a:r>
            <a:r>
              <a:rPr spc="-10" dirty="0"/>
              <a:t> </a:t>
            </a:r>
            <a:r>
              <a:rPr dirty="0"/>
              <a:t>Binary:</a:t>
            </a:r>
            <a:r>
              <a:rPr spc="-25" dirty="0"/>
              <a:t> </a:t>
            </a:r>
            <a:r>
              <a:rPr spc="-5" dirty="0"/>
              <a:t>Floating</a:t>
            </a:r>
            <a:r>
              <a:rPr spc="15" dirty="0"/>
              <a:t> </a:t>
            </a:r>
            <a:r>
              <a:rPr spc="-5" dirty="0"/>
              <a:t>Point</a:t>
            </a:r>
            <a:r>
              <a:rPr spc="15" dirty="0"/>
              <a:t> </a:t>
            </a:r>
            <a:r>
              <a:rPr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3685" y="1751456"/>
            <a:ext cx="5255260" cy="40341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Expressing a number as a Mantissa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 an Exponent allows </a:t>
            </a:r>
            <a:r>
              <a:rPr sz="2800" dirty="0">
                <a:latin typeface="Times New Roman"/>
                <a:cs typeface="Times New Roman"/>
              </a:rPr>
              <a:t>us </a:t>
            </a:r>
            <a:r>
              <a:rPr sz="2800" spc="-5" dirty="0">
                <a:latin typeface="Times New Roman"/>
                <a:cs typeface="Times New Roman"/>
              </a:rPr>
              <a:t>to store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Floating </a:t>
            </a:r>
            <a:r>
              <a:rPr sz="2800" dirty="0">
                <a:latin typeface="Times New Roman"/>
                <a:cs typeface="Times New Roman"/>
              </a:rPr>
              <a:t>Point </a:t>
            </a:r>
            <a:r>
              <a:rPr sz="2800" spc="-5" dirty="0">
                <a:latin typeface="Times New Roman"/>
                <a:cs typeface="Times New Roman"/>
              </a:rPr>
              <a:t>numbers in a format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requires whole numbers.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Sign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Mantissa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7 bits.</a:t>
            </a:r>
            <a:endParaRPr sz="2800" dirty="0">
              <a:latin typeface="Times New Roman"/>
              <a:cs typeface="Times New Roman"/>
            </a:endParaRPr>
          </a:p>
          <a:p>
            <a:pPr marL="241300" marR="1607185" indent="-228600" algn="just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Exponent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8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signed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magnitude.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45" dirty="0">
                <a:latin typeface="Times New Roman"/>
                <a:cs typeface="Times New Roman"/>
              </a:rPr>
              <a:t>Total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16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bits.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4427" y="3293364"/>
            <a:ext cx="3005328" cy="12435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06867" y="5177790"/>
            <a:ext cx="176783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5.625</a:t>
            </a:r>
            <a:r>
              <a:rPr sz="2400" spc="-7" baseline="-20833" dirty="0">
                <a:latin typeface="Times New Roman"/>
                <a:cs typeface="Times New Roman"/>
              </a:rPr>
              <a:t>10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+101.1010</a:t>
            </a:r>
            <a:r>
              <a:rPr sz="2400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spc="-15" dirty="0">
                <a:latin typeface="Times New Roman"/>
                <a:cs typeface="Times New Roman"/>
              </a:rPr>
              <a:t>1.011010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spc="-15" baseline="24305" dirty="0">
                <a:latin typeface="Times New Roman"/>
                <a:cs typeface="Times New Roman"/>
              </a:rPr>
              <a:t>2</a:t>
            </a:r>
            <a:endParaRPr sz="2400" baseline="2430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1726819"/>
            <a:ext cx="1893570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1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520700" algn="l"/>
              </a:tabLst>
            </a:pPr>
            <a:r>
              <a:rPr sz="2000" dirty="0">
                <a:latin typeface="Times New Roman"/>
                <a:cs typeface="Times New Roman"/>
              </a:rPr>
              <a:t>Scientific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Notation: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  <a:p>
            <a:pPr marL="12700" marR="328930" lvl="1">
              <a:lnSpc>
                <a:spcPct val="100000"/>
              </a:lnSpc>
              <a:buAutoNum type="arabicPeriod" startAt="2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Binary: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Floating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Point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  <a:p>
            <a:pPr marL="12700" marR="154940" lvl="1">
              <a:lnSpc>
                <a:spcPct val="100000"/>
              </a:lnSpc>
              <a:buAutoNum type="arabicPeriod" startAt="2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2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Floating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55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5256" y="591388"/>
            <a:ext cx="7905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10.4</a:t>
            </a:r>
            <a:r>
              <a:rPr spc="-10" dirty="0"/>
              <a:t> </a:t>
            </a:r>
            <a:r>
              <a:rPr spc="-5" dirty="0"/>
              <a:t>Floating</a:t>
            </a:r>
            <a:r>
              <a:rPr spc="5" dirty="0"/>
              <a:t> </a:t>
            </a:r>
            <a:r>
              <a:rPr spc="-5" dirty="0"/>
              <a:t>Point</a:t>
            </a:r>
            <a:r>
              <a:rPr spc="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Decimal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733655"/>
              </p:ext>
            </p:extLst>
          </p:nvPr>
        </p:nvGraphicFramePr>
        <p:xfrm>
          <a:off x="3718878" y="2654744"/>
          <a:ext cx="6989445" cy="1624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4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spc="-5" dirty="0">
                          <a:latin typeface="Verdana"/>
                          <a:cs typeface="Verdana"/>
                        </a:rPr>
                        <a:t>10</a:t>
                      </a:r>
                      <a:r>
                        <a:rPr sz="2475" spc="-7" baseline="25252" dirty="0">
                          <a:latin typeface="Verdana"/>
                          <a:cs typeface="Verdana"/>
                        </a:rPr>
                        <a:t>0</a:t>
                      </a:r>
                      <a:endParaRPr sz="2475" baseline="25252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spc="-15" dirty="0">
                          <a:latin typeface="Verdana"/>
                          <a:cs typeface="Verdana"/>
                        </a:rPr>
                        <a:t>Point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95"/>
                        </a:lnSpc>
                      </a:pPr>
                      <a:r>
                        <a:rPr sz="3750" spc="-7" baseline="-16666" dirty="0">
                          <a:latin typeface="Verdana"/>
                          <a:cs typeface="Verdana"/>
                        </a:rPr>
                        <a:t>10</a:t>
                      </a:r>
                      <a:r>
                        <a:rPr sz="1650" spc="-5" dirty="0">
                          <a:latin typeface="Verdana"/>
                          <a:cs typeface="Verdana"/>
                        </a:rPr>
                        <a:t>-1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95"/>
                        </a:lnSpc>
                      </a:pPr>
                      <a:r>
                        <a:rPr sz="3750" spc="-7" baseline="-16666" dirty="0">
                          <a:latin typeface="Verdana"/>
                          <a:cs typeface="Verdana"/>
                        </a:rPr>
                        <a:t>10</a:t>
                      </a:r>
                      <a:r>
                        <a:rPr sz="1650" spc="-5" dirty="0">
                          <a:latin typeface="Verdana"/>
                          <a:cs typeface="Verdana"/>
                        </a:rPr>
                        <a:t>-2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95"/>
                        </a:lnSpc>
                      </a:pPr>
                      <a:r>
                        <a:rPr sz="3750" spc="-7" baseline="-16666" dirty="0">
                          <a:latin typeface="Verdana"/>
                          <a:cs typeface="Verdana"/>
                        </a:rPr>
                        <a:t>10</a:t>
                      </a:r>
                      <a:r>
                        <a:rPr sz="1650" spc="-5" dirty="0">
                          <a:latin typeface="Verdana"/>
                          <a:cs typeface="Verdana"/>
                        </a:rPr>
                        <a:t>-3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500" dirty="0">
                          <a:latin typeface="Verdana"/>
                          <a:cs typeface="Verdana"/>
                        </a:rPr>
                        <a:t>1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500" spc="-5" dirty="0">
                          <a:latin typeface="Verdana"/>
                          <a:cs typeface="Verdana"/>
                        </a:rPr>
                        <a:t>1/10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500" spc="-5" dirty="0">
                          <a:latin typeface="Verdana"/>
                          <a:cs typeface="Verdana"/>
                        </a:rPr>
                        <a:t>1/100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500" spc="-10" dirty="0">
                          <a:latin typeface="Verdana"/>
                          <a:cs typeface="Verdana"/>
                        </a:rPr>
                        <a:t>1/1000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4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b="1" dirty="0">
                          <a:latin typeface="Verdana"/>
                          <a:cs typeface="Verdana"/>
                        </a:rPr>
                        <a:t>3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b="1" dirty="0">
                          <a:latin typeface="Verdana"/>
                          <a:cs typeface="Verdana"/>
                        </a:rPr>
                        <a:t>.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b="1" dirty="0">
                          <a:latin typeface="Verdana"/>
                          <a:cs typeface="Verdana"/>
                        </a:rPr>
                        <a:t>1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b="1" dirty="0">
                          <a:latin typeface="Verdana"/>
                          <a:cs typeface="Verdana"/>
                        </a:rPr>
                        <a:t>4</a:t>
                      </a:r>
                      <a:endParaRPr sz="25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500" b="1" dirty="0">
                          <a:latin typeface="Verdana"/>
                          <a:cs typeface="Verdana"/>
                        </a:rPr>
                        <a:t>2</a:t>
                      </a:r>
                      <a:endParaRPr sz="2500" dirty="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769235" y="2026361"/>
            <a:ext cx="56470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What does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3.142</a:t>
            </a:r>
            <a:r>
              <a:rPr sz="3150" spc="7" baseline="-21164" dirty="0">
                <a:latin typeface="Times New Roman"/>
                <a:cs typeface="Times New Roman"/>
              </a:rPr>
              <a:t>10</a:t>
            </a:r>
            <a:r>
              <a:rPr sz="3150" spc="337" baseline="-2116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actually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mean?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4635" y="4776876"/>
            <a:ext cx="9168765" cy="116014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3200" b="1" dirty="0">
                <a:latin typeface="Times New Roman"/>
                <a:cs typeface="Times New Roman"/>
              </a:rPr>
              <a:t>3.142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(3 * 1)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 (1 * 1/10)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(1 * 4/100)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(1 * 2/1000)</a:t>
            </a:r>
          </a:p>
          <a:p>
            <a:pPr marL="3175" algn="ctr">
              <a:lnSpc>
                <a:spcPct val="100000"/>
              </a:lnSpc>
              <a:spcBef>
                <a:spcPts val="625"/>
              </a:spcBef>
              <a:tabLst>
                <a:tab pos="739140" algn="l"/>
                <a:tab pos="1451610" algn="l"/>
                <a:tab pos="2186940" algn="l"/>
                <a:tab pos="3101340" algn="l"/>
                <a:tab pos="3837940" algn="l"/>
                <a:tab pos="4853940" algn="l"/>
                <a:tab pos="5589270" algn="l"/>
              </a:tabLst>
            </a:pPr>
            <a:r>
              <a:rPr sz="3200" dirty="0">
                <a:latin typeface="Times New Roman"/>
                <a:cs typeface="Times New Roman"/>
              </a:rPr>
              <a:t>=	3	+	0.1	+	0.04	+	0.002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990" y="2040382"/>
            <a:ext cx="157797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11125" lvl="1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520700" algn="l"/>
              </a:tabLst>
            </a:pPr>
            <a:r>
              <a:rPr sz="2000" dirty="0">
                <a:latin typeface="Times New Roman"/>
                <a:cs typeface="Times New Roman"/>
              </a:rPr>
              <a:t>Binary: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Floating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  <a:p>
            <a:pPr marL="12700" marR="144780" lvl="1">
              <a:lnSpc>
                <a:spcPct val="100000"/>
              </a:lnSpc>
              <a:buAutoNum type="arabicPeriod" startAt="3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Floating  Point in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3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Floating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56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3700" y="436575"/>
            <a:ext cx="75672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10.5</a:t>
            </a:r>
            <a:r>
              <a:rPr spc="-10" dirty="0"/>
              <a:t> </a:t>
            </a:r>
            <a:r>
              <a:rPr spc="-5" dirty="0"/>
              <a:t>Floating</a:t>
            </a:r>
            <a:r>
              <a:rPr spc="5" dirty="0"/>
              <a:t> </a:t>
            </a:r>
            <a:r>
              <a:rPr spc="-5" dirty="0"/>
              <a:t>Point</a:t>
            </a:r>
            <a:r>
              <a:rPr spc="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Binary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8300" y="1955037"/>
            <a:ext cx="2098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What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1.101</a:t>
            </a:r>
            <a:r>
              <a:rPr sz="2475" baseline="-20202" dirty="0">
                <a:latin typeface="Times New Roman"/>
                <a:cs typeface="Times New Roman"/>
              </a:rPr>
              <a:t>2</a:t>
            </a:r>
            <a:r>
              <a:rPr sz="2500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95600" y="4684547"/>
            <a:ext cx="5721350" cy="143700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R="231140" algn="ctr">
              <a:lnSpc>
                <a:spcPct val="100000"/>
              </a:lnSpc>
              <a:spcBef>
                <a:spcPts val="805"/>
              </a:spcBef>
            </a:pPr>
            <a:r>
              <a:rPr sz="2500" dirty="0">
                <a:latin typeface="Times New Roman"/>
                <a:cs typeface="Times New Roman"/>
              </a:rPr>
              <a:t>1.101</a:t>
            </a:r>
            <a:r>
              <a:rPr sz="2475" baseline="-20202" dirty="0">
                <a:latin typeface="Times New Roman"/>
                <a:cs typeface="Times New Roman"/>
              </a:rPr>
              <a:t>2</a:t>
            </a:r>
            <a:r>
              <a:rPr sz="2475" spc="502" baseline="-20202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 (1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* 1)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+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(1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* 1/2)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+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0 + (1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* 1/8)</a:t>
            </a:r>
            <a:endParaRPr lang="en-US" sz="2500" dirty="0">
              <a:latin typeface="Times New Roman"/>
              <a:cs typeface="Times New Roman"/>
            </a:endParaRPr>
          </a:p>
          <a:p>
            <a:pPr marL="2464435" algn="ctr">
              <a:lnSpc>
                <a:spcPct val="100000"/>
              </a:lnSpc>
              <a:spcBef>
                <a:spcPts val="710"/>
              </a:spcBef>
              <a:tabLst>
                <a:tab pos="3018790" algn="l"/>
                <a:tab pos="3515360" algn="l"/>
                <a:tab pos="4071620" algn="l"/>
                <a:tab pos="4646930" algn="l"/>
              </a:tabLst>
            </a:pPr>
            <a:r>
              <a:rPr lang="en-US" sz="2500" spc="-5" dirty="0">
                <a:latin typeface="Times New Roman"/>
                <a:cs typeface="Times New Roman"/>
              </a:rPr>
              <a:t>1	+	0.5	+</a:t>
            </a:r>
            <a:r>
              <a:rPr lang="en-US" sz="2500" dirty="0">
                <a:latin typeface="Times New Roman"/>
                <a:cs typeface="Times New Roman"/>
              </a:rPr>
              <a:t> </a:t>
            </a:r>
            <a:r>
              <a:rPr lang="en-US" sz="2500" spc="-5" dirty="0">
                <a:latin typeface="Times New Roman"/>
                <a:cs typeface="Times New Roman"/>
              </a:rPr>
              <a:t>0	+</a:t>
            </a:r>
            <a:r>
              <a:rPr lang="en-US" sz="2500" spc="-35" dirty="0">
                <a:latin typeface="Times New Roman"/>
                <a:cs typeface="Times New Roman"/>
              </a:rPr>
              <a:t> </a:t>
            </a:r>
            <a:r>
              <a:rPr lang="en-US" sz="2500" spc="-5" dirty="0">
                <a:latin typeface="Times New Roman"/>
                <a:cs typeface="Times New Roman"/>
              </a:rPr>
              <a:t>0.125</a:t>
            </a:r>
            <a:endParaRPr lang="en-US" sz="2500" dirty="0">
              <a:latin typeface="Times New Roman"/>
              <a:cs typeface="Times New Roman"/>
            </a:endParaRPr>
          </a:p>
          <a:p>
            <a:pPr marR="767080" algn="ctr">
              <a:lnSpc>
                <a:spcPct val="100000"/>
              </a:lnSpc>
              <a:spcBef>
                <a:spcPts val="700"/>
              </a:spcBef>
            </a:pPr>
            <a:r>
              <a:rPr sz="2500" spc="-5" dirty="0">
                <a:latin typeface="Times New Roman"/>
                <a:cs typeface="Times New Roman"/>
              </a:rPr>
              <a:t>=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1.625</a:t>
            </a:r>
            <a:r>
              <a:rPr sz="2475" baseline="-20202" dirty="0">
                <a:latin typeface="Times New Roman"/>
                <a:cs typeface="Times New Roman"/>
              </a:rPr>
              <a:t>10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81429"/>
              </p:ext>
            </p:extLst>
          </p:nvPr>
        </p:nvGraphicFramePr>
        <p:xfrm>
          <a:off x="3037141" y="2767012"/>
          <a:ext cx="7378698" cy="1624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40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spc="-5" dirty="0">
                          <a:latin typeface="Times New Roman"/>
                          <a:cs typeface="Times New Roman"/>
                        </a:rPr>
                        <a:t>Point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2610" algn="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641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spc="-5" dirty="0">
                          <a:latin typeface="Times New Roman"/>
                          <a:cs typeface="Times New Roman"/>
                        </a:rPr>
                        <a:t>1/2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spc="-5" dirty="0">
                          <a:latin typeface="Times New Roman"/>
                          <a:cs typeface="Times New Roman"/>
                        </a:rPr>
                        <a:t>1/4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spc="-5" dirty="0">
                          <a:latin typeface="Times New Roman"/>
                          <a:cs typeface="Times New Roman"/>
                        </a:rPr>
                        <a:t>1/8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4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.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8739" y="2040382"/>
            <a:ext cx="1901189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2560" lvl="1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520700" algn="l"/>
              </a:tabLst>
            </a:pP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4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Floating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Point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43180" lvl="1">
              <a:lnSpc>
                <a:spcPct val="100000"/>
              </a:lnSpc>
              <a:buAutoNum type="arabicPeriod" startAt="6"/>
              <a:tabLst>
                <a:tab pos="520065" algn="l"/>
              </a:tabLst>
            </a:pPr>
            <a:r>
              <a:rPr sz="2000" spc="-5" dirty="0">
                <a:latin typeface="Times New Roman"/>
                <a:cs typeface="Times New Roman"/>
              </a:rPr>
              <a:t>Limitation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6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Converting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57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3229" y="591388"/>
            <a:ext cx="66338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10.6</a:t>
            </a:r>
            <a:r>
              <a:rPr spc="-20" dirty="0"/>
              <a:t> </a:t>
            </a:r>
            <a:r>
              <a:rPr spc="-5" dirty="0"/>
              <a:t>Limitation</a:t>
            </a:r>
            <a:r>
              <a:rPr spc="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Binary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0350" y="1804161"/>
            <a:ext cx="835533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Columns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we </a:t>
            </a:r>
            <a:r>
              <a:rPr sz="2800" dirty="0">
                <a:latin typeface="Times New Roman"/>
                <a:cs typeface="Times New Roman"/>
              </a:rPr>
              <a:t>go </a:t>
            </a:r>
            <a:r>
              <a:rPr sz="2800" spc="-5" dirty="0">
                <a:latin typeface="Times New Roman"/>
                <a:cs typeface="Times New Roman"/>
              </a:rPr>
              <a:t>RIGHT after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POINT have 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0350" y="4234053"/>
            <a:ext cx="8705850" cy="13462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converting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Floating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decimal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binary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fixed</a:t>
            </a:r>
            <a:r>
              <a:rPr sz="2800" spc="-5" dirty="0">
                <a:latin typeface="Times New Roman"/>
                <a:cs typeface="Times New Roman"/>
              </a:rPr>
              <a:t> number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places.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NOT</a:t>
            </a:r>
            <a:r>
              <a:rPr sz="2800" b="1" spc="-204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ALL</a:t>
            </a:r>
            <a:r>
              <a:rPr sz="2800" b="1" spc="-195" dirty="0">
                <a:latin typeface="Times New Roman"/>
                <a:cs typeface="Times New Roman"/>
              </a:rPr>
              <a:t> </a:t>
            </a:r>
            <a:r>
              <a:rPr sz="2800" b="1" spc="-370" dirty="0">
                <a:latin typeface="Times New Roman"/>
                <a:cs typeface="Times New Roman"/>
              </a:rPr>
              <a:t>V</a:t>
            </a:r>
            <a:r>
              <a:rPr sz="2800" b="1" spc="-5" dirty="0">
                <a:latin typeface="Times New Roman"/>
                <a:cs typeface="Times New Roman"/>
              </a:rPr>
              <a:t>ALUES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ARE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POSS</a:t>
            </a:r>
            <a:r>
              <a:rPr sz="2800" b="1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BLE!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761277"/>
              </p:ext>
            </p:extLst>
          </p:nvPr>
        </p:nvGraphicFramePr>
        <p:xfrm>
          <a:off x="3297682" y="3067726"/>
          <a:ext cx="6467475" cy="855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597">
                <a:tc>
                  <a:txBody>
                    <a:bodyPr/>
                    <a:lstStyle/>
                    <a:p>
                      <a:pPr marL="127000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1/2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1/4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1/8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1/16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 algn="ct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1/32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97">
                <a:tc>
                  <a:txBody>
                    <a:bodyPr/>
                    <a:lstStyle/>
                    <a:p>
                      <a:pPr marL="131445">
                        <a:lnSpc>
                          <a:spcPts val="2820"/>
                        </a:lnSpc>
                        <a:spcBef>
                          <a:spcPts val="44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78740" algn="ctr">
                        <a:lnSpc>
                          <a:spcPts val="2820"/>
                        </a:lnSpc>
                        <a:spcBef>
                          <a:spcPts val="44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0.25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820"/>
                        </a:lnSpc>
                        <a:spcBef>
                          <a:spcPts val="44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0.125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2820"/>
                        </a:lnSpc>
                        <a:spcBef>
                          <a:spcPts val="44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0.0625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194310" algn="ctr">
                        <a:lnSpc>
                          <a:spcPts val="2820"/>
                        </a:lnSpc>
                        <a:spcBef>
                          <a:spcPts val="44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0.03125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8739" y="2040382"/>
            <a:ext cx="1901189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2560" lvl="1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520700" algn="l"/>
              </a:tabLst>
            </a:pP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4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Floating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215265" lvl="1">
              <a:lnSpc>
                <a:spcPct val="100000"/>
              </a:lnSpc>
              <a:buAutoNum type="arabicPeriod" startAt="6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L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sz="2000" b="1" spc="-10" dirty="0">
                <a:latin typeface="Times New Roman"/>
                <a:cs typeface="Times New Roman"/>
              </a:rPr>
              <a:t>i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tion  in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6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Converting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58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445" y="591388"/>
            <a:ext cx="90887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10.7</a:t>
            </a:r>
            <a:r>
              <a:rPr spc="-15" dirty="0"/>
              <a:t> </a:t>
            </a:r>
            <a:r>
              <a:rPr dirty="0"/>
              <a:t>Converting</a:t>
            </a:r>
            <a:r>
              <a:rPr spc="-15" dirty="0"/>
              <a:t> </a:t>
            </a:r>
            <a:r>
              <a:rPr dirty="0"/>
              <a:t>Decimal</a:t>
            </a:r>
            <a:r>
              <a:rPr spc="-15" dirty="0"/>
              <a:t> </a:t>
            </a:r>
            <a:r>
              <a:rPr spc="-10" dirty="0"/>
              <a:t>to </a:t>
            </a:r>
            <a:r>
              <a:rPr dirty="0"/>
              <a:t>Binary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98445" y="1375943"/>
            <a:ext cx="8535035" cy="2455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continuous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multiplication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2.</a:t>
            </a:r>
            <a:endParaRPr sz="28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1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0 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left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result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contributes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number.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Times New Roman"/>
                <a:cs typeface="Times New Roman"/>
              </a:rPr>
              <a:t>Continue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until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fractional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0.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until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you obtain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answer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accuracy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you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1430782"/>
            <a:ext cx="1863089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95605" lvl="1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520700" algn="l"/>
              </a:tabLst>
            </a:pPr>
            <a:r>
              <a:rPr sz="2000" dirty="0">
                <a:latin typeface="Times New Roman"/>
                <a:cs typeface="Times New Roman"/>
              </a:rPr>
              <a:t>Binary: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Floating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  <a:p>
            <a:pPr marL="519430" lvl="1" indent="-507365">
              <a:lnSpc>
                <a:spcPct val="100000"/>
              </a:lnSpc>
              <a:buAutoNum type="arabicPeriod" startAt="3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Floating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endParaRPr sz="2000">
              <a:latin typeface="Times New Roman"/>
              <a:cs typeface="Times New Roman"/>
            </a:endParaRPr>
          </a:p>
          <a:p>
            <a:pPr marL="12700" marR="290195" lvl="1">
              <a:lnSpc>
                <a:spcPct val="100000"/>
              </a:lnSpc>
              <a:buAutoNum type="arabicPeriod" startAt="5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5080" lvl="1">
              <a:lnSpc>
                <a:spcPct val="100000"/>
              </a:lnSpc>
              <a:buAutoNum type="arabicPeriod" startAt="5"/>
              <a:tabLst>
                <a:tab pos="520065" algn="l"/>
              </a:tabLst>
            </a:pPr>
            <a:r>
              <a:rPr sz="2000" spc="-5" dirty="0">
                <a:latin typeface="Times New Roman"/>
                <a:cs typeface="Times New Roman"/>
              </a:rPr>
              <a:t>Limitation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102870" lvl="1">
              <a:lnSpc>
                <a:spcPct val="100000"/>
              </a:lnSpc>
              <a:buAutoNum type="arabicPeriod" startAt="5"/>
              <a:tabLst>
                <a:tab pos="520065" algn="l"/>
              </a:tabLst>
            </a:pPr>
            <a:r>
              <a:rPr sz="2000" b="1" dirty="0">
                <a:latin typeface="Times New Roman"/>
                <a:cs typeface="Times New Roman"/>
              </a:rPr>
              <a:t>C</a:t>
            </a:r>
            <a:r>
              <a:rPr sz="2000" b="1" spc="5" dirty="0">
                <a:latin typeface="Times New Roman"/>
                <a:cs typeface="Times New Roman"/>
              </a:rPr>
              <a:t>o</a:t>
            </a:r>
            <a:r>
              <a:rPr sz="2000" b="1" dirty="0">
                <a:latin typeface="Times New Roman"/>
                <a:cs typeface="Times New Roman"/>
              </a:rPr>
              <a:t>nverting  Decimal to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59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015" y="591388"/>
            <a:ext cx="91001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10.7.1</a:t>
            </a:r>
            <a:r>
              <a:rPr spc="-20" dirty="0"/>
              <a:t> </a:t>
            </a:r>
            <a:r>
              <a:rPr spc="-5" dirty="0"/>
              <a:t>Example:</a:t>
            </a:r>
            <a:r>
              <a:rPr spc="-15" dirty="0"/>
              <a:t> </a:t>
            </a:r>
            <a:r>
              <a:rPr spc="-5" dirty="0"/>
              <a:t>Decimal</a:t>
            </a:r>
            <a:r>
              <a:rPr spc="-15" dirty="0"/>
              <a:t> </a:t>
            </a:r>
            <a:r>
              <a:rPr spc="-10" dirty="0"/>
              <a:t>to</a:t>
            </a:r>
            <a:r>
              <a:rPr spc="-15" dirty="0"/>
              <a:t> </a:t>
            </a:r>
            <a:r>
              <a:rPr spc="-5" dirty="0"/>
              <a:t>Binary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5274" y="1903602"/>
            <a:ext cx="55746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48225" algn="l"/>
              </a:tabLst>
            </a:pPr>
            <a:r>
              <a:rPr sz="3200" spc="-23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k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De</a:t>
            </a:r>
            <a:r>
              <a:rPr sz="3200" spc="5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imal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Fractio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:	0.</a:t>
            </a:r>
            <a:r>
              <a:rPr sz="3200" spc="5" dirty="0">
                <a:latin typeface="Times New Roman"/>
                <a:cs typeface="Times New Roman"/>
              </a:rPr>
              <a:t>3</a:t>
            </a:r>
            <a:r>
              <a:rPr sz="3200" dirty="0"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43901"/>
              </p:ext>
            </p:extLst>
          </p:nvPr>
        </p:nvGraphicFramePr>
        <p:xfrm>
          <a:off x="3271646" y="2812075"/>
          <a:ext cx="6254115" cy="3885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371">
                <a:tc>
                  <a:txBody>
                    <a:bodyPr/>
                    <a:lstStyle/>
                    <a:p>
                      <a:pPr marL="278765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0.35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2729" algn="ct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 marR="149225" algn="ct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0.70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620"/>
                        </a:lnSpc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26"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0.70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252729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94615" marR="14922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1.4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27"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252729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4615" marR="14922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252729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94615" marR="14922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1.6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64"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252729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94615" marR="14922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1.2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69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989"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0.2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252729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5250" marR="14922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2719">
                <a:tc>
                  <a:txBody>
                    <a:bodyPr/>
                    <a:lstStyle/>
                    <a:p>
                      <a:pPr marL="76200">
                        <a:lnSpc>
                          <a:spcPts val="1685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Answer</a:t>
                      </a:r>
                      <a:r>
                        <a:rPr lang="en-US" sz="2400" spc="-5" dirty="0">
                          <a:latin typeface="Times New Roman"/>
                          <a:cs typeface="Times New Roman"/>
                        </a:rPr>
                        <a:t>: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0.35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685"/>
                        </a:lnSpc>
                        <a:tabLst>
                          <a:tab pos="913130" algn="l"/>
                        </a:tabLst>
                      </a:pPr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0.01011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1685"/>
                        </a:lnSpc>
                      </a:pPr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...a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032747" y="2852927"/>
            <a:ext cx="173990" cy="2016760"/>
          </a:xfrm>
          <a:custGeom>
            <a:avLst/>
            <a:gdLst/>
            <a:ahLst/>
            <a:cxnLst/>
            <a:rect l="l" t="t" r="r" b="b"/>
            <a:pathLst>
              <a:path w="173990" h="2016760">
                <a:moveTo>
                  <a:pt x="57911" y="1842516"/>
                </a:moveTo>
                <a:lnTo>
                  <a:pt x="0" y="1842516"/>
                </a:lnTo>
                <a:lnTo>
                  <a:pt x="86868" y="2016252"/>
                </a:lnTo>
                <a:lnTo>
                  <a:pt x="159257" y="1871472"/>
                </a:lnTo>
                <a:lnTo>
                  <a:pt x="57911" y="1871472"/>
                </a:lnTo>
                <a:lnTo>
                  <a:pt x="57911" y="1842516"/>
                </a:lnTo>
                <a:close/>
              </a:path>
              <a:path w="173990" h="2016760">
                <a:moveTo>
                  <a:pt x="115824" y="0"/>
                </a:moveTo>
                <a:lnTo>
                  <a:pt x="57911" y="0"/>
                </a:lnTo>
                <a:lnTo>
                  <a:pt x="57911" y="1871472"/>
                </a:lnTo>
                <a:lnTo>
                  <a:pt x="115824" y="1871472"/>
                </a:lnTo>
                <a:lnTo>
                  <a:pt x="115824" y="0"/>
                </a:lnTo>
                <a:close/>
              </a:path>
              <a:path w="173990" h="2016760">
                <a:moveTo>
                  <a:pt x="173735" y="1842516"/>
                </a:moveTo>
                <a:lnTo>
                  <a:pt x="115824" y="1842516"/>
                </a:lnTo>
                <a:lnTo>
                  <a:pt x="115824" y="1871472"/>
                </a:lnTo>
                <a:lnTo>
                  <a:pt x="159257" y="1871472"/>
                </a:lnTo>
                <a:lnTo>
                  <a:pt x="173735" y="18425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4377" y="2481072"/>
            <a:ext cx="1466215" cy="316230"/>
          </a:xfrm>
          <a:custGeom>
            <a:avLst/>
            <a:gdLst/>
            <a:ahLst/>
            <a:cxnLst/>
            <a:rect l="l" t="t" r="r" b="b"/>
            <a:pathLst>
              <a:path w="1466215" h="316230">
                <a:moveTo>
                  <a:pt x="735149" y="0"/>
                </a:moveTo>
                <a:lnTo>
                  <a:pt x="660727" y="1397"/>
                </a:lnTo>
                <a:lnTo>
                  <a:pt x="587956" y="5841"/>
                </a:lnTo>
                <a:lnTo>
                  <a:pt x="517852" y="13080"/>
                </a:lnTo>
                <a:lnTo>
                  <a:pt x="450669" y="22860"/>
                </a:lnTo>
                <a:lnTo>
                  <a:pt x="386915" y="35051"/>
                </a:lnTo>
                <a:lnTo>
                  <a:pt x="326844" y="49656"/>
                </a:lnTo>
                <a:lnTo>
                  <a:pt x="270583" y="66548"/>
                </a:lnTo>
                <a:lnTo>
                  <a:pt x="218767" y="85470"/>
                </a:lnTo>
                <a:lnTo>
                  <a:pt x="171396" y="106299"/>
                </a:lnTo>
                <a:lnTo>
                  <a:pt x="129105" y="129031"/>
                </a:lnTo>
                <a:lnTo>
                  <a:pt x="92021" y="153415"/>
                </a:lnTo>
                <a:lnTo>
                  <a:pt x="60652" y="179450"/>
                </a:lnTo>
                <a:lnTo>
                  <a:pt x="24838" y="221741"/>
                </a:lnTo>
                <a:lnTo>
                  <a:pt x="4137" y="267715"/>
                </a:lnTo>
                <a:lnTo>
                  <a:pt x="0" y="299338"/>
                </a:lnTo>
                <a:lnTo>
                  <a:pt x="4" y="301116"/>
                </a:lnTo>
                <a:lnTo>
                  <a:pt x="835" y="315722"/>
                </a:lnTo>
                <a:lnTo>
                  <a:pt x="26743" y="314198"/>
                </a:lnTo>
                <a:lnTo>
                  <a:pt x="25960" y="301116"/>
                </a:lnTo>
                <a:lnTo>
                  <a:pt x="26765" y="287908"/>
                </a:lnTo>
                <a:lnTo>
                  <a:pt x="26616" y="287908"/>
                </a:lnTo>
                <a:lnTo>
                  <a:pt x="26816" y="286708"/>
                </a:lnTo>
                <a:lnTo>
                  <a:pt x="26910" y="286385"/>
                </a:lnTo>
                <a:lnTo>
                  <a:pt x="29116" y="274954"/>
                </a:lnTo>
                <a:lnTo>
                  <a:pt x="29410" y="273430"/>
                </a:lnTo>
                <a:lnTo>
                  <a:pt x="33308" y="262000"/>
                </a:lnTo>
                <a:lnTo>
                  <a:pt x="33728" y="260730"/>
                </a:lnTo>
                <a:lnTo>
                  <a:pt x="38934" y="249174"/>
                </a:lnTo>
                <a:lnTo>
                  <a:pt x="39443" y="248030"/>
                </a:lnTo>
                <a:lnTo>
                  <a:pt x="46339" y="236347"/>
                </a:lnTo>
                <a:lnTo>
                  <a:pt x="46936" y="235330"/>
                </a:lnTo>
                <a:lnTo>
                  <a:pt x="55321" y="223647"/>
                </a:lnTo>
                <a:lnTo>
                  <a:pt x="55191" y="223647"/>
                </a:lnTo>
                <a:lnTo>
                  <a:pt x="66621" y="210312"/>
                </a:lnTo>
                <a:lnTo>
                  <a:pt x="78813" y="197992"/>
                </a:lnTo>
                <a:lnTo>
                  <a:pt x="91955" y="186436"/>
                </a:lnTo>
                <a:lnTo>
                  <a:pt x="107769" y="173989"/>
                </a:lnTo>
                <a:lnTo>
                  <a:pt x="123989" y="162687"/>
                </a:lnTo>
                <a:lnTo>
                  <a:pt x="142567" y="151129"/>
                </a:lnTo>
                <a:lnTo>
                  <a:pt x="161677" y="140335"/>
                </a:lnTo>
                <a:lnTo>
                  <a:pt x="182953" y="129412"/>
                </a:lnTo>
                <a:lnTo>
                  <a:pt x="183123" y="129412"/>
                </a:lnTo>
                <a:lnTo>
                  <a:pt x="204902" y="119379"/>
                </a:lnTo>
                <a:lnTo>
                  <a:pt x="228546" y="109347"/>
                </a:lnTo>
                <a:lnTo>
                  <a:pt x="228832" y="109347"/>
                </a:lnTo>
                <a:lnTo>
                  <a:pt x="252850" y="100202"/>
                </a:lnTo>
                <a:lnTo>
                  <a:pt x="278838" y="91058"/>
                </a:lnTo>
                <a:lnTo>
                  <a:pt x="278990" y="91058"/>
                </a:lnTo>
                <a:lnTo>
                  <a:pt x="305762" y="82676"/>
                </a:lnTo>
                <a:lnTo>
                  <a:pt x="305948" y="82676"/>
                </a:lnTo>
                <a:lnTo>
                  <a:pt x="333702" y="74675"/>
                </a:lnTo>
                <a:lnTo>
                  <a:pt x="333937" y="74675"/>
                </a:lnTo>
                <a:lnTo>
                  <a:pt x="362785" y="67182"/>
                </a:lnTo>
                <a:lnTo>
                  <a:pt x="362953" y="67182"/>
                </a:lnTo>
                <a:lnTo>
                  <a:pt x="392630" y="60325"/>
                </a:lnTo>
                <a:lnTo>
                  <a:pt x="392862" y="60325"/>
                </a:lnTo>
                <a:lnTo>
                  <a:pt x="423491" y="53975"/>
                </a:lnTo>
                <a:lnTo>
                  <a:pt x="423821" y="53975"/>
                </a:lnTo>
                <a:lnTo>
                  <a:pt x="455114" y="48387"/>
                </a:lnTo>
                <a:lnTo>
                  <a:pt x="454860" y="48387"/>
                </a:lnTo>
                <a:lnTo>
                  <a:pt x="487880" y="43179"/>
                </a:lnTo>
                <a:lnTo>
                  <a:pt x="487499" y="43179"/>
                </a:lnTo>
                <a:lnTo>
                  <a:pt x="521154" y="38735"/>
                </a:lnTo>
                <a:lnTo>
                  <a:pt x="520900" y="38735"/>
                </a:lnTo>
                <a:lnTo>
                  <a:pt x="555317" y="34925"/>
                </a:lnTo>
                <a:lnTo>
                  <a:pt x="555063" y="34925"/>
                </a:lnTo>
                <a:lnTo>
                  <a:pt x="590115" y="31623"/>
                </a:lnTo>
                <a:lnTo>
                  <a:pt x="589861" y="31623"/>
                </a:lnTo>
                <a:lnTo>
                  <a:pt x="625675" y="29082"/>
                </a:lnTo>
                <a:lnTo>
                  <a:pt x="625294" y="29082"/>
                </a:lnTo>
                <a:lnTo>
                  <a:pt x="661870" y="27304"/>
                </a:lnTo>
                <a:lnTo>
                  <a:pt x="661489" y="27304"/>
                </a:lnTo>
                <a:lnTo>
                  <a:pt x="698446" y="26288"/>
                </a:lnTo>
                <a:lnTo>
                  <a:pt x="735130" y="25909"/>
                </a:lnTo>
                <a:lnTo>
                  <a:pt x="1032263" y="25907"/>
                </a:lnTo>
                <a:lnTo>
                  <a:pt x="982672" y="17652"/>
                </a:lnTo>
                <a:lnTo>
                  <a:pt x="914981" y="9270"/>
                </a:lnTo>
                <a:lnTo>
                  <a:pt x="844623" y="3428"/>
                </a:lnTo>
                <a:lnTo>
                  <a:pt x="772106" y="507"/>
                </a:lnTo>
                <a:lnTo>
                  <a:pt x="735149" y="0"/>
                </a:lnTo>
                <a:close/>
              </a:path>
              <a:path w="1466215" h="316230">
                <a:moveTo>
                  <a:pt x="25911" y="300291"/>
                </a:moveTo>
                <a:lnTo>
                  <a:pt x="25854" y="301116"/>
                </a:lnTo>
                <a:lnTo>
                  <a:pt x="25911" y="300291"/>
                </a:lnTo>
                <a:close/>
              </a:path>
              <a:path w="1466215" h="316230">
                <a:moveTo>
                  <a:pt x="1414609" y="231757"/>
                </a:moveTo>
                <a:lnTo>
                  <a:pt x="1391993" y="239140"/>
                </a:lnTo>
                <a:lnTo>
                  <a:pt x="1453080" y="300989"/>
                </a:lnTo>
                <a:lnTo>
                  <a:pt x="1461398" y="245237"/>
                </a:lnTo>
                <a:lnTo>
                  <a:pt x="1421457" y="245237"/>
                </a:lnTo>
                <a:lnTo>
                  <a:pt x="1414609" y="231757"/>
                </a:lnTo>
                <a:close/>
              </a:path>
              <a:path w="1466215" h="316230">
                <a:moveTo>
                  <a:pt x="25977" y="299338"/>
                </a:moveTo>
                <a:lnTo>
                  <a:pt x="25911" y="300291"/>
                </a:lnTo>
                <a:lnTo>
                  <a:pt x="25977" y="299338"/>
                </a:lnTo>
                <a:close/>
              </a:path>
              <a:path w="1466215" h="316230">
                <a:moveTo>
                  <a:pt x="26870" y="286385"/>
                </a:moveTo>
                <a:lnTo>
                  <a:pt x="26616" y="287908"/>
                </a:lnTo>
                <a:lnTo>
                  <a:pt x="26848" y="286708"/>
                </a:lnTo>
                <a:lnTo>
                  <a:pt x="26870" y="286385"/>
                </a:lnTo>
                <a:close/>
              </a:path>
              <a:path w="1466215" h="316230">
                <a:moveTo>
                  <a:pt x="26848" y="286708"/>
                </a:moveTo>
                <a:lnTo>
                  <a:pt x="26616" y="287908"/>
                </a:lnTo>
                <a:lnTo>
                  <a:pt x="26765" y="287908"/>
                </a:lnTo>
                <a:lnTo>
                  <a:pt x="26848" y="286708"/>
                </a:lnTo>
                <a:close/>
              </a:path>
              <a:path w="1466215" h="316230">
                <a:moveTo>
                  <a:pt x="26910" y="286385"/>
                </a:moveTo>
                <a:lnTo>
                  <a:pt x="26848" y="286708"/>
                </a:lnTo>
                <a:lnTo>
                  <a:pt x="26910" y="286385"/>
                </a:lnTo>
                <a:close/>
              </a:path>
              <a:path w="1466215" h="316230">
                <a:moveTo>
                  <a:pt x="29410" y="273430"/>
                </a:moveTo>
                <a:lnTo>
                  <a:pt x="29029" y="274954"/>
                </a:lnTo>
                <a:lnTo>
                  <a:pt x="29238" y="274322"/>
                </a:lnTo>
                <a:lnTo>
                  <a:pt x="29410" y="273430"/>
                </a:lnTo>
                <a:close/>
              </a:path>
              <a:path w="1466215" h="316230">
                <a:moveTo>
                  <a:pt x="29238" y="274322"/>
                </a:moveTo>
                <a:lnTo>
                  <a:pt x="29029" y="274954"/>
                </a:lnTo>
                <a:lnTo>
                  <a:pt x="29238" y="274322"/>
                </a:lnTo>
                <a:close/>
              </a:path>
              <a:path w="1466215" h="316230">
                <a:moveTo>
                  <a:pt x="29532" y="273430"/>
                </a:moveTo>
                <a:lnTo>
                  <a:pt x="29238" y="274322"/>
                </a:lnTo>
                <a:lnTo>
                  <a:pt x="29532" y="273430"/>
                </a:lnTo>
                <a:close/>
              </a:path>
              <a:path w="1466215" h="316230">
                <a:moveTo>
                  <a:pt x="33728" y="260730"/>
                </a:moveTo>
                <a:lnTo>
                  <a:pt x="33220" y="262000"/>
                </a:lnTo>
                <a:lnTo>
                  <a:pt x="33562" y="261232"/>
                </a:lnTo>
                <a:lnTo>
                  <a:pt x="33728" y="260730"/>
                </a:lnTo>
                <a:close/>
              </a:path>
              <a:path w="1466215" h="316230">
                <a:moveTo>
                  <a:pt x="33562" y="261232"/>
                </a:moveTo>
                <a:lnTo>
                  <a:pt x="33220" y="262000"/>
                </a:lnTo>
                <a:lnTo>
                  <a:pt x="33562" y="261232"/>
                </a:lnTo>
                <a:close/>
              </a:path>
              <a:path w="1466215" h="316230">
                <a:moveTo>
                  <a:pt x="33786" y="260730"/>
                </a:moveTo>
                <a:lnTo>
                  <a:pt x="33562" y="261232"/>
                </a:lnTo>
                <a:lnTo>
                  <a:pt x="33786" y="260730"/>
                </a:lnTo>
                <a:close/>
              </a:path>
              <a:path w="1466215" h="316230">
                <a:moveTo>
                  <a:pt x="39443" y="248030"/>
                </a:moveTo>
                <a:lnTo>
                  <a:pt x="38808" y="249174"/>
                </a:lnTo>
                <a:lnTo>
                  <a:pt x="39329" y="248285"/>
                </a:lnTo>
                <a:lnTo>
                  <a:pt x="39443" y="248030"/>
                </a:lnTo>
                <a:close/>
              </a:path>
              <a:path w="1466215" h="316230">
                <a:moveTo>
                  <a:pt x="39329" y="248285"/>
                </a:moveTo>
                <a:lnTo>
                  <a:pt x="38808" y="249174"/>
                </a:lnTo>
                <a:lnTo>
                  <a:pt x="39329" y="248285"/>
                </a:lnTo>
                <a:close/>
              </a:path>
              <a:path w="1466215" h="316230">
                <a:moveTo>
                  <a:pt x="39479" y="248030"/>
                </a:moveTo>
                <a:lnTo>
                  <a:pt x="39329" y="248285"/>
                </a:lnTo>
                <a:lnTo>
                  <a:pt x="39479" y="248030"/>
                </a:lnTo>
                <a:close/>
              </a:path>
              <a:path w="1466215" h="316230">
                <a:moveTo>
                  <a:pt x="1439509" y="223628"/>
                </a:moveTo>
                <a:lnTo>
                  <a:pt x="1414609" y="231757"/>
                </a:lnTo>
                <a:lnTo>
                  <a:pt x="1421457" y="245237"/>
                </a:lnTo>
                <a:lnTo>
                  <a:pt x="1444571" y="233552"/>
                </a:lnTo>
                <a:lnTo>
                  <a:pt x="1439509" y="223628"/>
                </a:lnTo>
                <a:close/>
              </a:path>
              <a:path w="1466215" h="316230">
                <a:moveTo>
                  <a:pt x="1465907" y="215011"/>
                </a:moveTo>
                <a:lnTo>
                  <a:pt x="1439509" y="223628"/>
                </a:lnTo>
                <a:lnTo>
                  <a:pt x="1444571" y="233552"/>
                </a:lnTo>
                <a:lnTo>
                  <a:pt x="1421457" y="245237"/>
                </a:lnTo>
                <a:lnTo>
                  <a:pt x="1461398" y="245237"/>
                </a:lnTo>
                <a:lnTo>
                  <a:pt x="1465907" y="215011"/>
                </a:lnTo>
                <a:close/>
              </a:path>
              <a:path w="1466215" h="316230">
                <a:moveTo>
                  <a:pt x="46936" y="235330"/>
                </a:moveTo>
                <a:lnTo>
                  <a:pt x="46301" y="236347"/>
                </a:lnTo>
                <a:lnTo>
                  <a:pt x="46523" y="236034"/>
                </a:lnTo>
                <a:lnTo>
                  <a:pt x="46936" y="235330"/>
                </a:lnTo>
                <a:close/>
              </a:path>
              <a:path w="1466215" h="316230">
                <a:moveTo>
                  <a:pt x="46523" y="236034"/>
                </a:moveTo>
                <a:lnTo>
                  <a:pt x="46301" y="236347"/>
                </a:lnTo>
                <a:lnTo>
                  <a:pt x="46523" y="236034"/>
                </a:lnTo>
                <a:close/>
              </a:path>
              <a:path w="1466215" h="316230">
                <a:moveTo>
                  <a:pt x="47023" y="235330"/>
                </a:moveTo>
                <a:lnTo>
                  <a:pt x="46523" y="236034"/>
                </a:lnTo>
                <a:lnTo>
                  <a:pt x="47023" y="235330"/>
                </a:lnTo>
                <a:close/>
              </a:path>
              <a:path w="1466215" h="316230">
                <a:moveTo>
                  <a:pt x="1410316" y="223306"/>
                </a:moveTo>
                <a:lnTo>
                  <a:pt x="1414609" y="231757"/>
                </a:lnTo>
                <a:lnTo>
                  <a:pt x="1438286" y="224027"/>
                </a:lnTo>
                <a:lnTo>
                  <a:pt x="1410916" y="224027"/>
                </a:lnTo>
                <a:lnTo>
                  <a:pt x="1410316" y="223306"/>
                </a:lnTo>
                <a:close/>
              </a:path>
              <a:path w="1466215" h="316230">
                <a:moveTo>
                  <a:pt x="1409392" y="221487"/>
                </a:moveTo>
                <a:lnTo>
                  <a:pt x="1410316" y="223306"/>
                </a:lnTo>
                <a:lnTo>
                  <a:pt x="1410916" y="224027"/>
                </a:lnTo>
                <a:lnTo>
                  <a:pt x="1409392" y="221487"/>
                </a:lnTo>
                <a:close/>
              </a:path>
              <a:path w="1466215" h="316230">
                <a:moveTo>
                  <a:pt x="1438417" y="221487"/>
                </a:moveTo>
                <a:lnTo>
                  <a:pt x="1409392" y="221487"/>
                </a:lnTo>
                <a:lnTo>
                  <a:pt x="1410916" y="224027"/>
                </a:lnTo>
                <a:lnTo>
                  <a:pt x="1438286" y="224027"/>
                </a:lnTo>
                <a:lnTo>
                  <a:pt x="1439509" y="223628"/>
                </a:lnTo>
                <a:lnTo>
                  <a:pt x="1438417" y="221487"/>
                </a:lnTo>
                <a:close/>
              </a:path>
              <a:path w="1466215" h="316230">
                <a:moveTo>
                  <a:pt x="55953" y="222758"/>
                </a:moveTo>
                <a:lnTo>
                  <a:pt x="55191" y="223647"/>
                </a:lnTo>
                <a:lnTo>
                  <a:pt x="55321" y="223647"/>
                </a:lnTo>
                <a:lnTo>
                  <a:pt x="55953" y="222758"/>
                </a:lnTo>
                <a:close/>
              </a:path>
              <a:path w="1466215" h="316230">
                <a:moveTo>
                  <a:pt x="1399613" y="210438"/>
                </a:moveTo>
                <a:lnTo>
                  <a:pt x="1410316" y="223306"/>
                </a:lnTo>
                <a:lnTo>
                  <a:pt x="1409392" y="221487"/>
                </a:lnTo>
                <a:lnTo>
                  <a:pt x="1438417" y="221487"/>
                </a:lnTo>
                <a:lnTo>
                  <a:pt x="1433169" y="211200"/>
                </a:lnTo>
                <a:lnTo>
                  <a:pt x="1400375" y="211200"/>
                </a:lnTo>
                <a:lnTo>
                  <a:pt x="1399613" y="210438"/>
                </a:lnTo>
                <a:close/>
              </a:path>
              <a:path w="1466215" h="316230">
                <a:moveTo>
                  <a:pt x="1423113" y="198119"/>
                </a:moveTo>
                <a:lnTo>
                  <a:pt x="1387421" y="198119"/>
                </a:lnTo>
                <a:lnTo>
                  <a:pt x="1388056" y="198754"/>
                </a:lnTo>
                <a:lnTo>
                  <a:pt x="1400375" y="211200"/>
                </a:lnTo>
                <a:lnTo>
                  <a:pt x="1433169" y="211200"/>
                </a:lnTo>
                <a:lnTo>
                  <a:pt x="1431744" y="208406"/>
                </a:lnTo>
                <a:lnTo>
                  <a:pt x="1423113" y="198119"/>
                </a:lnTo>
                <a:close/>
              </a:path>
              <a:path w="1466215" h="316230">
                <a:moveTo>
                  <a:pt x="66733" y="210312"/>
                </a:moveTo>
                <a:lnTo>
                  <a:pt x="65986" y="211074"/>
                </a:lnTo>
                <a:lnTo>
                  <a:pt x="66733" y="210312"/>
                </a:lnTo>
                <a:close/>
              </a:path>
              <a:path w="1466215" h="316230">
                <a:moveTo>
                  <a:pt x="1388006" y="198710"/>
                </a:moveTo>
                <a:close/>
              </a:path>
              <a:path w="1466215" h="316230">
                <a:moveTo>
                  <a:pt x="1411747" y="185927"/>
                </a:moveTo>
                <a:lnTo>
                  <a:pt x="1373578" y="185927"/>
                </a:lnTo>
                <a:lnTo>
                  <a:pt x="1388006" y="198710"/>
                </a:lnTo>
                <a:lnTo>
                  <a:pt x="1387421" y="198119"/>
                </a:lnTo>
                <a:lnTo>
                  <a:pt x="1423113" y="198119"/>
                </a:lnTo>
                <a:lnTo>
                  <a:pt x="1419171" y="193420"/>
                </a:lnTo>
                <a:lnTo>
                  <a:pt x="1411747" y="185927"/>
                </a:lnTo>
                <a:close/>
              </a:path>
              <a:path w="1466215" h="316230">
                <a:moveTo>
                  <a:pt x="78895" y="197992"/>
                </a:moveTo>
                <a:lnTo>
                  <a:pt x="78271" y="198545"/>
                </a:lnTo>
                <a:lnTo>
                  <a:pt x="78895" y="197992"/>
                </a:lnTo>
                <a:close/>
              </a:path>
              <a:path w="1466215" h="316230">
                <a:moveTo>
                  <a:pt x="92428" y="186017"/>
                </a:moveTo>
                <a:lnTo>
                  <a:pt x="91894" y="186436"/>
                </a:lnTo>
                <a:lnTo>
                  <a:pt x="92428" y="186017"/>
                </a:lnTo>
                <a:close/>
              </a:path>
              <a:path w="1466215" h="316230">
                <a:moveTo>
                  <a:pt x="1358211" y="173989"/>
                </a:moveTo>
                <a:lnTo>
                  <a:pt x="1374086" y="186436"/>
                </a:lnTo>
                <a:lnTo>
                  <a:pt x="1373578" y="185927"/>
                </a:lnTo>
                <a:lnTo>
                  <a:pt x="1411747" y="185927"/>
                </a:lnTo>
                <a:lnTo>
                  <a:pt x="1405455" y="179577"/>
                </a:lnTo>
                <a:lnTo>
                  <a:pt x="1399554" y="174370"/>
                </a:lnTo>
                <a:lnTo>
                  <a:pt x="1358846" y="174370"/>
                </a:lnTo>
                <a:lnTo>
                  <a:pt x="1358211" y="173989"/>
                </a:lnTo>
                <a:close/>
              </a:path>
              <a:path w="1466215" h="316230">
                <a:moveTo>
                  <a:pt x="107859" y="173989"/>
                </a:moveTo>
                <a:lnTo>
                  <a:pt x="107134" y="174498"/>
                </a:lnTo>
                <a:lnTo>
                  <a:pt x="107859" y="173989"/>
                </a:lnTo>
                <a:close/>
              </a:path>
              <a:path w="1466215" h="316230">
                <a:moveTo>
                  <a:pt x="1385363" y="162305"/>
                </a:moveTo>
                <a:lnTo>
                  <a:pt x="1341447" y="162305"/>
                </a:lnTo>
                <a:lnTo>
                  <a:pt x="1358846" y="174370"/>
                </a:lnTo>
                <a:lnTo>
                  <a:pt x="1399554" y="174370"/>
                </a:lnTo>
                <a:lnTo>
                  <a:pt x="1390342" y="166242"/>
                </a:lnTo>
                <a:lnTo>
                  <a:pt x="1385363" y="162305"/>
                </a:lnTo>
                <a:close/>
              </a:path>
              <a:path w="1466215" h="316230">
                <a:moveTo>
                  <a:pt x="124533" y="162305"/>
                </a:moveTo>
                <a:lnTo>
                  <a:pt x="123898" y="162687"/>
                </a:lnTo>
                <a:lnTo>
                  <a:pt x="124533" y="162305"/>
                </a:lnTo>
                <a:close/>
              </a:path>
              <a:path w="1466215" h="316230">
                <a:moveTo>
                  <a:pt x="1370463" y="150875"/>
                </a:moveTo>
                <a:lnTo>
                  <a:pt x="1323159" y="150875"/>
                </a:lnTo>
                <a:lnTo>
                  <a:pt x="1341955" y="162687"/>
                </a:lnTo>
                <a:lnTo>
                  <a:pt x="1341447" y="162305"/>
                </a:lnTo>
                <a:lnTo>
                  <a:pt x="1385363" y="162305"/>
                </a:lnTo>
                <a:lnTo>
                  <a:pt x="1373959" y="153288"/>
                </a:lnTo>
                <a:lnTo>
                  <a:pt x="1370463" y="150875"/>
                </a:lnTo>
                <a:close/>
              </a:path>
              <a:path w="1466215" h="316230">
                <a:moveTo>
                  <a:pt x="142634" y="151129"/>
                </a:moveTo>
                <a:lnTo>
                  <a:pt x="142186" y="151383"/>
                </a:lnTo>
                <a:lnTo>
                  <a:pt x="142634" y="151129"/>
                </a:lnTo>
                <a:close/>
              </a:path>
              <a:path w="1466215" h="316230">
                <a:moveTo>
                  <a:pt x="1337434" y="129286"/>
                </a:moveTo>
                <a:lnTo>
                  <a:pt x="1282646" y="129286"/>
                </a:lnTo>
                <a:lnTo>
                  <a:pt x="1304109" y="140080"/>
                </a:lnTo>
                <a:lnTo>
                  <a:pt x="1323667" y="151256"/>
                </a:lnTo>
                <a:lnTo>
                  <a:pt x="1323159" y="150875"/>
                </a:lnTo>
                <a:lnTo>
                  <a:pt x="1370463" y="150875"/>
                </a:lnTo>
                <a:lnTo>
                  <a:pt x="1355925" y="140842"/>
                </a:lnTo>
                <a:lnTo>
                  <a:pt x="1337434" y="129286"/>
                </a:lnTo>
                <a:close/>
              </a:path>
              <a:path w="1466215" h="316230">
                <a:moveTo>
                  <a:pt x="162125" y="140080"/>
                </a:moveTo>
                <a:lnTo>
                  <a:pt x="161617" y="140335"/>
                </a:lnTo>
                <a:lnTo>
                  <a:pt x="162125" y="140080"/>
                </a:lnTo>
                <a:close/>
              </a:path>
              <a:path w="1466215" h="316230">
                <a:moveTo>
                  <a:pt x="1303601" y="139826"/>
                </a:moveTo>
                <a:lnTo>
                  <a:pt x="1304047" y="140080"/>
                </a:lnTo>
                <a:lnTo>
                  <a:pt x="1303601" y="139826"/>
                </a:lnTo>
                <a:close/>
              </a:path>
              <a:path w="1466215" h="316230">
                <a:moveTo>
                  <a:pt x="183123" y="129412"/>
                </a:moveTo>
                <a:lnTo>
                  <a:pt x="182953" y="129412"/>
                </a:lnTo>
                <a:lnTo>
                  <a:pt x="182572" y="129666"/>
                </a:lnTo>
                <a:lnTo>
                  <a:pt x="183123" y="129412"/>
                </a:lnTo>
                <a:close/>
              </a:path>
              <a:path w="1466215" h="316230">
                <a:moveTo>
                  <a:pt x="1319212" y="118999"/>
                </a:moveTo>
                <a:lnTo>
                  <a:pt x="1260421" y="118999"/>
                </a:lnTo>
                <a:lnTo>
                  <a:pt x="1283027" y="129539"/>
                </a:lnTo>
                <a:lnTo>
                  <a:pt x="1282646" y="129286"/>
                </a:lnTo>
                <a:lnTo>
                  <a:pt x="1337434" y="129286"/>
                </a:lnTo>
                <a:lnTo>
                  <a:pt x="1336621" y="128777"/>
                </a:lnTo>
                <a:lnTo>
                  <a:pt x="1319212" y="118999"/>
                </a:lnTo>
                <a:close/>
              </a:path>
              <a:path w="1466215" h="316230">
                <a:moveTo>
                  <a:pt x="205178" y="119252"/>
                </a:moveTo>
                <a:lnTo>
                  <a:pt x="204797" y="119379"/>
                </a:lnTo>
                <a:lnTo>
                  <a:pt x="205178" y="119252"/>
                </a:lnTo>
                <a:close/>
              </a:path>
              <a:path w="1466215" h="316230">
                <a:moveTo>
                  <a:pt x="1260421" y="90931"/>
                </a:moveTo>
                <a:lnTo>
                  <a:pt x="1186507" y="90931"/>
                </a:lnTo>
                <a:lnTo>
                  <a:pt x="1186888" y="91058"/>
                </a:lnTo>
                <a:lnTo>
                  <a:pt x="1212669" y="99949"/>
                </a:lnTo>
                <a:lnTo>
                  <a:pt x="1237307" y="109347"/>
                </a:lnTo>
                <a:lnTo>
                  <a:pt x="1260802" y="119252"/>
                </a:lnTo>
                <a:lnTo>
                  <a:pt x="1260421" y="118999"/>
                </a:lnTo>
                <a:lnTo>
                  <a:pt x="1319212" y="118999"/>
                </a:lnTo>
                <a:lnTo>
                  <a:pt x="1316047" y="117220"/>
                </a:lnTo>
                <a:lnTo>
                  <a:pt x="1294076" y="106044"/>
                </a:lnTo>
                <a:lnTo>
                  <a:pt x="1271089" y="95376"/>
                </a:lnTo>
                <a:lnTo>
                  <a:pt x="1260421" y="90931"/>
                </a:lnTo>
                <a:close/>
              </a:path>
              <a:path w="1466215" h="316230">
                <a:moveTo>
                  <a:pt x="228832" y="109347"/>
                </a:moveTo>
                <a:lnTo>
                  <a:pt x="228546" y="109347"/>
                </a:lnTo>
                <a:lnTo>
                  <a:pt x="228165" y="109600"/>
                </a:lnTo>
                <a:lnTo>
                  <a:pt x="228832" y="109347"/>
                </a:lnTo>
                <a:close/>
              </a:path>
              <a:path w="1466215" h="316230">
                <a:moveTo>
                  <a:pt x="1236926" y="109219"/>
                </a:moveTo>
                <a:lnTo>
                  <a:pt x="1237228" y="109347"/>
                </a:lnTo>
                <a:lnTo>
                  <a:pt x="1236926" y="109219"/>
                </a:lnTo>
                <a:close/>
              </a:path>
              <a:path w="1466215" h="316230">
                <a:moveTo>
                  <a:pt x="253184" y="100075"/>
                </a:moveTo>
                <a:lnTo>
                  <a:pt x="252803" y="100202"/>
                </a:lnTo>
                <a:lnTo>
                  <a:pt x="253184" y="100075"/>
                </a:lnTo>
                <a:close/>
              </a:path>
              <a:path w="1466215" h="316230">
                <a:moveTo>
                  <a:pt x="1212288" y="99822"/>
                </a:moveTo>
                <a:lnTo>
                  <a:pt x="1212622" y="99949"/>
                </a:lnTo>
                <a:lnTo>
                  <a:pt x="1212288" y="99822"/>
                </a:lnTo>
                <a:close/>
              </a:path>
              <a:path w="1466215" h="316230">
                <a:moveTo>
                  <a:pt x="278990" y="91058"/>
                </a:moveTo>
                <a:lnTo>
                  <a:pt x="278838" y="91058"/>
                </a:lnTo>
                <a:lnTo>
                  <a:pt x="278584" y="91186"/>
                </a:lnTo>
                <a:lnTo>
                  <a:pt x="278990" y="91058"/>
                </a:lnTo>
                <a:close/>
              </a:path>
              <a:path w="1466215" h="316230">
                <a:moveTo>
                  <a:pt x="1186751" y="91016"/>
                </a:moveTo>
                <a:lnTo>
                  <a:pt x="1186888" y="91058"/>
                </a:lnTo>
                <a:lnTo>
                  <a:pt x="1186751" y="91016"/>
                </a:lnTo>
                <a:close/>
              </a:path>
              <a:path w="1466215" h="316230">
                <a:moveTo>
                  <a:pt x="1239722" y="82550"/>
                </a:moveTo>
                <a:lnTo>
                  <a:pt x="1159710" y="82550"/>
                </a:lnTo>
                <a:lnTo>
                  <a:pt x="1186751" y="91016"/>
                </a:lnTo>
                <a:lnTo>
                  <a:pt x="1186507" y="90931"/>
                </a:lnTo>
                <a:lnTo>
                  <a:pt x="1260421" y="90931"/>
                </a:lnTo>
                <a:lnTo>
                  <a:pt x="1246705" y="85216"/>
                </a:lnTo>
                <a:lnTo>
                  <a:pt x="1239722" y="82550"/>
                </a:lnTo>
                <a:close/>
              </a:path>
              <a:path w="1466215" h="316230">
                <a:moveTo>
                  <a:pt x="305948" y="82676"/>
                </a:moveTo>
                <a:lnTo>
                  <a:pt x="305762" y="82676"/>
                </a:lnTo>
                <a:lnTo>
                  <a:pt x="305508" y="82803"/>
                </a:lnTo>
                <a:lnTo>
                  <a:pt x="305948" y="82676"/>
                </a:lnTo>
                <a:close/>
              </a:path>
              <a:path w="1466215" h="316230">
                <a:moveTo>
                  <a:pt x="1218469" y="74549"/>
                </a:moveTo>
                <a:lnTo>
                  <a:pt x="1131897" y="74549"/>
                </a:lnTo>
                <a:lnTo>
                  <a:pt x="1160091" y="82676"/>
                </a:lnTo>
                <a:lnTo>
                  <a:pt x="1159710" y="82550"/>
                </a:lnTo>
                <a:lnTo>
                  <a:pt x="1239722" y="82550"/>
                </a:lnTo>
                <a:lnTo>
                  <a:pt x="1221432" y="75564"/>
                </a:lnTo>
                <a:lnTo>
                  <a:pt x="1218469" y="74549"/>
                </a:lnTo>
                <a:close/>
              </a:path>
              <a:path w="1466215" h="316230">
                <a:moveTo>
                  <a:pt x="333937" y="74675"/>
                </a:moveTo>
                <a:lnTo>
                  <a:pt x="333702" y="74675"/>
                </a:lnTo>
                <a:lnTo>
                  <a:pt x="333448" y="74802"/>
                </a:lnTo>
                <a:lnTo>
                  <a:pt x="333937" y="74675"/>
                </a:lnTo>
                <a:close/>
              </a:path>
              <a:path w="1466215" h="316230">
                <a:moveTo>
                  <a:pt x="1196984" y="67182"/>
                </a:moveTo>
                <a:lnTo>
                  <a:pt x="1102941" y="67182"/>
                </a:lnTo>
                <a:lnTo>
                  <a:pt x="1132278" y="74675"/>
                </a:lnTo>
                <a:lnTo>
                  <a:pt x="1131897" y="74549"/>
                </a:lnTo>
                <a:lnTo>
                  <a:pt x="1218469" y="74549"/>
                </a:lnTo>
                <a:lnTo>
                  <a:pt x="1196984" y="67182"/>
                </a:lnTo>
                <a:close/>
              </a:path>
              <a:path w="1466215" h="316230">
                <a:moveTo>
                  <a:pt x="362953" y="67182"/>
                </a:moveTo>
                <a:lnTo>
                  <a:pt x="362785" y="67182"/>
                </a:lnTo>
                <a:lnTo>
                  <a:pt x="362404" y="67310"/>
                </a:lnTo>
                <a:lnTo>
                  <a:pt x="362953" y="67182"/>
                </a:lnTo>
                <a:close/>
              </a:path>
              <a:path w="1466215" h="316230">
                <a:moveTo>
                  <a:pt x="1175398" y="60325"/>
                </a:moveTo>
                <a:lnTo>
                  <a:pt x="1073223" y="60325"/>
                </a:lnTo>
                <a:lnTo>
                  <a:pt x="1103322" y="67310"/>
                </a:lnTo>
                <a:lnTo>
                  <a:pt x="1102941" y="67182"/>
                </a:lnTo>
                <a:lnTo>
                  <a:pt x="1196984" y="67182"/>
                </a:lnTo>
                <a:lnTo>
                  <a:pt x="1194762" y="66420"/>
                </a:lnTo>
                <a:lnTo>
                  <a:pt x="1175398" y="60325"/>
                </a:lnTo>
                <a:close/>
              </a:path>
              <a:path w="1466215" h="316230">
                <a:moveTo>
                  <a:pt x="392862" y="60325"/>
                </a:moveTo>
                <a:lnTo>
                  <a:pt x="392630" y="60325"/>
                </a:lnTo>
                <a:lnTo>
                  <a:pt x="392249" y="60451"/>
                </a:lnTo>
                <a:lnTo>
                  <a:pt x="392862" y="60325"/>
                </a:lnTo>
                <a:close/>
              </a:path>
              <a:path w="1466215" h="316230">
                <a:moveTo>
                  <a:pt x="1154382" y="54101"/>
                </a:moveTo>
                <a:lnTo>
                  <a:pt x="1042489" y="54101"/>
                </a:lnTo>
                <a:lnTo>
                  <a:pt x="1073477" y="60451"/>
                </a:lnTo>
                <a:lnTo>
                  <a:pt x="1073223" y="60325"/>
                </a:lnTo>
                <a:lnTo>
                  <a:pt x="1175398" y="60325"/>
                </a:lnTo>
                <a:lnTo>
                  <a:pt x="1167330" y="57785"/>
                </a:lnTo>
                <a:lnTo>
                  <a:pt x="1154382" y="54101"/>
                </a:lnTo>
                <a:close/>
              </a:path>
              <a:path w="1466215" h="316230">
                <a:moveTo>
                  <a:pt x="1078186" y="34925"/>
                </a:moveTo>
                <a:lnTo>
                  <a:pt x="912060" y="34925"/>
                </a:lnTo>
                <a:lnTo>
                  <a:pt x="945969" y="38862"/>
                </a:lnTo>
                <a:lnTo>
                  <a:pt x="945715" y="38862"/>
                </a:lnTo>
                <a:lnTo>
                  <a:pt x="979116" y="43306"/>
                </a:lnTo>
                <a:lnTo>
                  <a:pt x="978862" y="43306"/>
                </a:lnTo>
                <a:lnTo>
                  <a:pt x="1011374" y="48387"/>
                </a:lnTo>
                <a:lnTo>
                  <a:pt x="1011120" y="48387"/>
                </a:lnTo>
                <a:lnTo>
                  <a:pt x="1042743" y="54228"/>
                </a:lnTo>
                <a:lnTo>
                  <a:pt x="1042489" y="54101"/>
                </a:lnTo>
                <a:lnTo>
                  <a:pt x="1154382" y="54101"/>
                </a:lnTo>
                <a:lnTo>
                  <a:pt x="1138755" y="49656"/>
                </a:lnTo>
                <a:lnTo>
                  <a:pt x="1109291" y="42037"/>
                </a:lnTo>
                <a:lnTo>
                  <a:pt x="1078811" y="35051"/>
                </a:lnTo>
                <a:lnTo>
                  <a:pt x="1078186" y="34925"/>
                </a:lnTo>
                <a:close/>
              </a:path>
              <a:path w="1466215" h="316230">
                <a:moveTo>
                  <a:pt x="423821" y="53975"/>
                </a:moveTo>
                <a:lnTo>
                  <a:pt x="423491" y="53975"/>
                </a:lnTo>
                <a:lnTo>
                  <a:pt x="423110" y="54101"/>
                </a:lnTo>
                <a:lnTo>
                  <a:pt x="423821" y="53975"/>
                </a:lnTo>
                <a:close/>
              </a:path>
              <a:path w="1466215" h="316230">
                <a:moveTo>
                  <a:pt x="1032263" y="25907"/>
                </a:moveTo>
                <a:lnTo>
                  <a:pt x="735130" y="25909"/>
                </a:lnTo>
                <a:lnTo>
                  <a:pt x="771725" y="26415"/>
                </a:lnTo>
                <a:lnTo>
                  <a:pt x="771471" y="26415"/>
                </a:lnTo>
                <a:lnTo>
                  <a:pt x="807666" y="27431"/>
                </a:lnTo>
                <a:lnTo>
                  <a:pt x="807412" y="27431"/>
                </a:lnTo>
                <a:lnTo>
                  <a:pt x="843099" y="29337"/>
                </a:lnTo>
                <a:lnTo>
                  <a:pt x="842845" y="29337"/>
                </a:lnTo>
                <a:lnTo>
                  <a:pt x="878151" y="31750"/>
                </a:lnTo>
                <a:lnTo>
                  <a:pt x="877770" y="31750"/>
                </a:lnTo>
                <a:lnTo>
                  <a:pt x="912314" y="35051"/>
                </a:lnTo>
                <a:lnTo>
                  <a:pt x="912060" y="34925"/>
                </a:lnTo>
                <a:lnTo>
                  <a:pt x="1078186" y="34925"/>
                </a:lnTo>
                <a:lnTo>
                  <a:pt x="1047569" y="28701"/>
                </a:lnTo>
                <a:lnTo>
                  <a:pt x="1032263" y="2590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9710" y="2769234"/>
            <a:ext cx="506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MSB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79710" y="4598289"/>
            <a:ext cx="44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LSB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2040382"/>
            <a:ext cx="190055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1">
              <a:lnSpc>
                <a:spcPct val="100000"/>
              </a:lnSpc>
              <a:spcBef>
                <a:spcPts val="105"/>
              </a:spcBef>
              <a:buAutoNum type="arabicPeriod" startAt="7"/>
              <a:tabLst>
                <a:tab pos="520065" algn="l"/>
              </a:tabLst>
            </a:pPr>
            <a:r>
              <a:rPr sz="2000" dirty="0">
                <a:latin typeface="Times New Roman"/>
                <a:cs typeface="Times New Roman"/>
              </a:rPr>
              <a:t>Converting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135255" lvl="2">
              <a:lnSpc>
                <a:spcPct val="100000"/>
              </a:lnSpc>
              <a:buAutoNum type="arabicPeriod"/>
              <a:tabLst>
                <a:tab pos="71056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E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mp</a:t>
            </a:r>
            <a:r>
              <a:rPr sz="2000" b="1" spc="-10" dirty="0">
                <a:latin typeface="Times New Roman"/>
                <a:cs typeface="Times New Roman"/>
              </a:rPr>
              <a:t>l</a:t>
            </a:r>
            <a:r>
              <a:rPr sz="2000" b="1" dirty="0">
                <a:latin typeface="Times New Roman"/>
                <a:cs typeface="Times New Roman"/>
              </a:rPr>
              <a:t>e:  Decimal to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100965" lvl="2">
              <a:lnSpc>
                <a:spcPct val="100000"/>
              </a:lnSpc>
              <a:buAutoNum type="arabicPeriod"/>
              <a:tabLst>
                <a:tab pos="709930" algn="l"/>
              </a:tabLst>
            </a:pPr>
            <a:r>
              <a:rPr sz="2000" spc="5" dirty="0">
                <a:latin typeface="Times New Roman"/>
                <a:cs typeface="Times New Roman"/>
              </a:rPr>
              <a:t>How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close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this answer to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0.35?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t>60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3335" y="541146"/>
            <a:ext cx="101720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8464" algn="l"/>
                <a:tab pos="8787130" algn="l"/>
              </a:tabLst>
            </a:pPr>
            <a:r>
              <a:rPr sz="4400" dirty="0"/>
              <a:t>10.7.2	How close </a:t>
            </a:r>
            <a:r>
              <a:rPr sz="4400" spc="-5" dirty="0"/>
              <a:t>is t</a:t>
            </a:r>
            <a:r>
              <a:rPr sz="4400" spc="-20" dirty="0"/>
              <a:t>h</a:t>
            </a:r>
            <a:r>
              <a:rPr sz="4400" spc="-5" dirty="0"/>
              <a:t>is</a:t>
            </a:r>
            <a:r>
              <a:rPr sz="4400" dirty="0"/>
              <a:t> </a:t>
            </a:r>
            <a:r>
              <a:rPr sz="4400" spc="-5" dirty="0"/>
              <a:t>answer</a:t>
            </a:r>
            <a:r>
              <a:rPr sz="4400" spc="-95" dirty="0"/>
              <a:t> </a:t>
            </a:r>
            <a:r>
              <a:rPr sz="4400" dirty="0"/>
              <a:t>to</a:t>
            </a:r>
            <a:r>
              <a:rPr lang="en-US" sz="4400" dirty="0"/>
              <a:t> </a:t>
            </a:r>
            <a:r>
              <a:rPr sz="4400" dirty="0"/>
              <a:t>0.35?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45739" y="1732026"/>
            <a:ext cx="2155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6700" algn="l"/>
              </a:tabLst>
            </a:pPr>
            <a:r>
              <a:rPr sz="3600" spc="-15" dirty="0">
                <a:latin typeface="Times New Roman"/>
                <a:cs typeface="Times New Roman"/>
              </a:rPr>
              <a:t>0.010110</a:t>
            </a:r>
            <a:r>
              <a:rPr sz="3600" spc="-22" baseline="-20833" dirty="0">
                <a:latin typeface="Times New Roman"/>
                <a:cs typeface="Times New Roman"/>
              </a:rPr>
              <a:t>2</a:t>
            </a:r>
            <a:endParaRPr sz="3600" baseline="-20833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85576"/>
              </p:ext>
            </p:extLst>
          </p:nvPr>
        </p:nvGraphicFramePr>
        <p:xfrm>
          <a:off x="3563556" y="2406713"/>
          <a:ext cx="5867400" cy="103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3750" b="1" baseline="-16666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650" b="1" dirty="0">
                          <a:latin typeface="Times New Roman"/>
                          <a:cs typeface="Times New Roman"/>
                        </a:rPr>
                        <a:t>-6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.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042911"/>
              </p:ext>
            </p:extLst>
          </p:nvPr>
        </p:nvGraphicFramePr>
        <p:xfrm>
          <a:off x="3058731" y="3919537"/>
          <a:ext cx="7312658" cy="25193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6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dirty="0">
                          <a:latin typeface="Times New Roman"/>
                          <a:cs typeface="Times New Roman"/>
                        </a:rPr>
                        <a:t>0*2</a:t>
                      </a:r>
                      <a:r>
                        <a:rPr sz="2475" baseline="25252" dirty="0">
                          <a:latin typeface="Times New Roman"/>
                          <a:cs typeface="Times New Roman"/>
                        </a:rPr>
                        <a:t>0</a:t>
                      </a:r>
                      <a:endParaRPr sz="2475" baseline="25252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955675" algn="l"/>
                        </a:tabLst>
                      </a:pPr>
                      <a:r>
                        <a:rPr sz="2500" spc="-5" dirty="0">
                          <a:latin typeface="Times New Roman"/>
                          <a:cs typeface="Times New Roman"/>
                        </a:rPr>
                        <a:t>1* </a:t>
                      </a:r>
                      <a:r>
                        <a:rPr sz="25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75" baseline="25252" dirty="0">
                          <a:latin typeface="Times New Roman"/>
                          <a:cs typeface="Times New Roman"/>
                        </a:rPr>
                        <a:t>-2	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1*</a:t>
                      </a:r>
                      <a:r>
                        <a:rPr sz="2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0.25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0.25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spc="-5" dirty="0">
                          <a:latin typeface="Times New Roman"/>
                          <a:cs typeface="Times New Roman"/>
                        </a:rPr>
                        <a:t>1*</a:t>
                      </a:r>
                      <a:r>
                        <a:rPr sz="2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75" baseline="25252" dirty="0">
                          <a:latin typeface="Times New Roman"/>
                          <a:cs typeface="Times New Roman"/>
                        </a:rPr>
                        <a:t>-4</a:t>
                      </a:r>
                      <a:r>
                        <a:rPr sz="2475" spc="607" baseline="2525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1*</a:t>
                      </a: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0.0625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0.0625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4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spc="-5" dirty="0">
                          <a:latin typeface="Times New Roman"/>
                          <a:cs typeface="Times New Roman"/>
                        </a:rPr>
                        <a:t>1*</a:t>
                      </a:r>
                      <a:r>
                        <a:rPr sz="2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75" baseline="25252" dirty="0">
                          <a:latin typeface="Times New Roman"/>
                          <a:cs typeface="Times New Roman"/>
                        </a:rPr>
                        <a:t>-5</a:t>
                      </a:r>
                      <a:r>
                        <a:rPr sz="2475" spc="607" baseline="2525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1*</a:t>
                      </a:r>
                      <a:r>
                        <a:rPr sz="2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spc="-5" dirty="0">
                          <a:latin typeface="Times New Roman"/>
                          <a:cs typeface="Times New Roman"/>
                        </a:rPr>
                        <a:t>0.0625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spc="-5" dirty="0">
                          <a:latin typeface="Times New Roman"/>
                          <a:cs typeface="Times New Roman"/>
                        </a:rPr>
                        <a:t>0.03125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b="1" spc="-5" dirty="0">
                          <a:latin typeface="Times New Roman"/>
                          <a:cs typeface="Times New Roman"/>
                        </a:rPr>
                        <a:t>0.34375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8739" y="2040382"/>
            <a:ext cx="190055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2" algn="just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709930" algn="l"/>
              </a:tabLst>
            </a:pPr>
            <a:r>
              <a:rPr sz="2000" spc="-5" dirty="0">
                <a:latin typeface="Times New Roman"/>
                <a:cs typeface="Times New Roman"/>
              </a:rPr>
              <a:t>Example: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88265" lvl="2" algn="just">
              <a:lnSpc>
                <a:spcPct val="100000"/>
              </a:lnSpc>
              <a:buAutoNum type="arabicPeriod"/>
              <a:tabLst>
                <a:tab pos="710565" algn="l"/>
              </a:tabLst>
            </a:pPr>
            <a:r>
              <a:rPr sz="2000" b="1" dirty="0">
                <a:latin typeface="Times New Roman"/>
                <a:cs typeface="Times New Roman"/>
              </a:rPr>
              <a:t>How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close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 this answer to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0.35?</a:t>
            </a:r>
            <a:endParaRPr sz="2000">
              <a:latin typeface="Times New Roman"/>
              <a:cs typeface="Times New Roman"/>
            </a:endParaRPr>
          </a:p>
          <a:p>
            <a:pPr marL="12700" marR="13843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1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.8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racy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 Floating Point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6840" y="591388"/>
            <a:ext cx="96113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dirty="0"/>
              <a:t>10.8</a:t>
            </a:r>
            <a:r>
              <a:rPr sz="4700" spc="-280" dirty="0"/>
              <a:t> </a:t>
            </a:r>
            <a:r>
              <a:rPr sz="4700" dirty="0"/>
              <a:t>Accuracy</a:t>
            </a:r>
            <a:r>
              <a:rPr sz="4700" spc="-35" dirty="0"/>
              <a:t> </a:t>
            </a:r>
            <a:r>
              <a:rPr sz="4700" dirty="0"/>
              <a:t>of</a:t>
            </a:r>
            <a:r>
              <a:rPr sz="4700" spc="-5" dirty="0"/>
              <a:t> Floating</a:t>
            </a:r>
            <a:r>
              <a:rPr sz="4700" spc="5" dirty="0"/>
              <a:t> </a:t>
            </a:r>
            <a:r>
              <a:rPr sz="4700" spc="-5" dirty="0"/>
              <a:t>Point</a:t>
            </a:r>
            <a:r>
              <a:rPr sz="4700" spc="20" dirty="0"/>
              <a:t> </a:t>
            </a:r>
            <a:r>
              <a:rPr sz="470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96412" y="1718586"/>
            <a:ext cx="9123680" cy="34778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Accuracy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closeness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to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true</a:t>
            </a:r>
            <a:r>
              <a:rPr sz="2800" b="1" dirty="0">
                <a:latin typeface="Times New Roman"/>
                <a:cs typeface="Times New Roman"/>
              </a:rPr>
              <a:t> value</a:t>
            </a:r>
            <a:r>
              <a:rPr sz="2800" dirty="0">
                <a:latin typeface="Times New Roman"/>
                <a:cs typeface="Times New Roman"/>
              </a:rPr>
              <a:t>.</a:t>
            </a: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 </a:t>
            </a:r>
            <a:r>
              <a:rPr sz="2800" dirty="0">
                <a:latin typeface="Times New Roman"/>
                <a:cs typeface="Times New Roman"/>
              </a:rPr>
              <a:t>is inputted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Decimal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floating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5" dirty="0">
                <a:latin typeface="Times New Roman"/>
                <a:cs typeface="Times New Roman"/>
              </a:rPr>
              <a:t> format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(e.g.</a:t>
            </a:r>
            <a:r>
              <a:rPr sz="2800" dirty="0">
                <a:latin typeface="Times New Roman"/>
                <a:cs typeface="Times New Roman"/>
              </a:rPr>
              <a:t> via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keyboard).</a:t>
            </a: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converted</a:t>
            </a:r>
            <a:r>
              <a:rPr sz="2800" spc="-5" dirty="0">
                <a:latin typeface="Times New Roman"/>
                <a:cs typeface="Times New Roman"/>
              </a:rPr>
              <a:t> to a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5" dirty="0">
                <a:latin typeface="Times New Roman"/>
                <a:cs typeface="Times New Roman"/>
              </a:rPr>
              <a:t> format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fixed</a:t>
            </a:r>
            <a:r>
              <a:rPr sz="2800" spc="-5" dirty="0">
                <a:latin typeface="Times New Roman"/>
                <a:cs typeface="Times New Roman"/>
              </a:rPr>
              <a:t> size.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spc="-10" dirty="0">
                <a:latin typeface="Times New Roman"/>
                <a:cs typeface="Times New Roman"/>
              </a:rPr>
              <a:t> may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some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accuracy.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Floating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5" dirty="0">
                <a:latin typeface="Times New Roman"/>
                <a:cs typeface="Times New Roman"/>
              </a:rPr>
              <a:t> arithmetic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5" dirty="0">
                <a:latin typeface="Times New Roman"/>
                <a:cs typeface="Times New Roman"/>
              </a:rPr>
              <a:t> approximate.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Integer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arithmetic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exact.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040382"/>
            <a:ext cx="190055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2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709930" algn="l"/>
              </a:tabLst>
            </a:pPr>
            <a:r>
              <a:rPr sz="2000" spc="-5" dirty="0">
                <a:latin typeface="Times New Roman"/>
                <a:cs typeface="Times New Roman"/>
              </a:rPr>
              <a:t>Example: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Decimal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Binary</a:t>
            </a:r>
            <a:endParaRPr sz="2000">
              <a:latin typeface="Times New Roman"/>
              <a:cs typeface="Times New Roman"/>
            </a:endParaRPr>
          </a:p>
          <a:p>
            <a:pPr marL="12700" marR="100330" lvl="2">
              <a:lnSpc>
                <a:spcPct val="100000"/>
              </a:lnSpc>
              <a:buAutoNum type="arabicPeriod"/>
              <a:tabLst>
                <a:tab pos="710565" algn="l"/>
              </a:tabLst>
            </a:pPr>
            <a:r>
              <a:rPr sz="2000" spc="5" dirty="0">
                <a:latin typeface="Times New Roman"/>
                <a:cs typeface="Times New Roman"/>
              </a:rPr>
              <a:t>How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close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this answer to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0.35?</a:t>
            </a:r>
            <a:endParaRPr sz="2000">
              <a:latin typeface="Times New Roman"/>
              <a:cs typeface="Times New Roman"/>
            </a:endParaRPr>
          </a:p>
          <a:p>
            <a:pPr marL="12700" marR="8001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sz="2000" b="1" spc="10" dirty="0">
                <a:latin typeface="Times New Roman"/>
                <a:cs typeface="Times New Roman"/>
              </a:rPr>
              <a:t>0</a:t>
            </a:r>
            <a:r>
              <a:rPr sz="2000" b="1" dirty="0">
                <a:latin typeface="Times New Roman"/>
                <a:cs typeface="Times New Roman"/>
              </a:rPr>
              <a:t>.8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Accur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dirty="0">
                <a:latin typeface="Times New Roman"/>
                <a:cs typeface="Times New Roman"/>
              </a:rPr>
              <a:t>cy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  Floating Point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18E1AAC-A631-00DF-C10B-8ED074226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365125"/>
            <a:ext cx="8610600" cy="1325563"/>
          </a:xfrm>
        </p:spPr>
        <p:txBody>
          <a:bodyPr/>
          <a:lstStyle/>
          <a:p>
            <a:r>
              <a:rPr lang="en-GB" b="1" dirty="0"/>
              <a:t>10 Storage Needs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B250A0F-9E0B-E0A8-F297-0A4012EA6A8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GB" kern="0"/>
              <a:t> </a:t>
            </a:r>
            <a:endParaRPr lang="en-GB" kern="0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5D7D10C-FD27-4439-2184-CF0B99CBAC3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dirty="0"/>
          </a:p>
        </p:txBody>
      </p:sp>
      <p:pic>
        <p:nvPicPr>
          <p:cNvPr id="7" name="Picture 4" descr="msotw9_temp0">
            <a:extLst>
              <a:ext uri="{FF2B5EF4-FFF2-40B4-BE49-F238E27FC236}">
                <a16:creationId xmlns:a16="http://schemas.microsoft.com/office/drawing/2014/main" id="{7A2114C0-0F99-3D18-7C9E-59A670B78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5150" y="2636838"/>
            <a:ext cx="6553200" cy="264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8E20BAD-D298-4B11-60A4-A1737C5477D5}"/>
              </a:ext>
            </a:extLst>
          </p:cNvPr>
          <p:cNvSpPr txBox="1">
            <a:spLocks/>
          </p:cNvSpPr>
          <p:nvPr/>
        </p:nvSpPr>
        <p:spPr>
          <a:xfrm>
            <a:off x="72891" y="1205336"/>
            <a:ext cx="3391064" cy="551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Storage Needs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10.1. Precision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10.2. Range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10.3. Formats that have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 IEEE Format now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10.5. Floating Point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978D1-B8DB-79F5-F65A-C652DE7E6AF9}"/>
              </a:ext>
            </a:extLst>
          </p:cNvPr>
          <p:cNvSpPr txBox="1"/>
          <p:nvPr/>
        </p:nvSpPr>
        <p:spPr>
          <a:xfrm>
            <a:off x="11049886" y="6414711"/>
            <a:ext cx="532514" cy="24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88888"/>
                </a:solidFill>
                <a:latin typeface="Calibri"/>
                <a:cs typeface="Calibri"/>
              </a:rPr>
              <a:t>63</a:t>
            </a:r>
            <a:endParaRPr lang="en-US"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89320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8125" y="591388"/>
            <a:ext cx="36055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11.1</a:t>
            </a:r>
            <a:r>
              <a:rPr spc="-7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8125" y="1804161"/>
            <a:ext cx="8804275" cy="313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Determined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by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the number</a:t>
            </a:r>
            <a:r>
              <a:rPr lang="en-US" sz="2800" spc="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of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bits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used to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store</a:t>
            </a:r>
            <a:r>
              <a:rPr lang="en-US" sz="2800" spc="-5" dirty="0">
                <a:latin typeface="Times New Roman"/>
                <a:cs typeface="Times New Roman"/>
              </a:rPr>
              <a:t> the</a:t>
            </a:r>
            <a:endParaRPr lang="en-US" sz="2800" dirty="0">
              <a:latin typeface="Times New Roman"/>
              <a:cs typeface="Times New Roman"/>
            </a:endParaRPr>
          </a:p>
          <a:p>
            <a:pPr marL="241300">
              <a:lnSpc>
                <a:spcPts val="3190"/>
              </a:lnSpc>
            </a:pPr>
            <a:r>
              <a:rPr lang="en-US" sz="2800" b="1" dirty="0">
                <a:latin typeface="Times New Roman"/>
                <a:cs typeface="Times New Roman"/>
              </a:rPr>
              <a:t>Mantissa</a:t>
            </a:r>
            <a:r>
              <a:rPr lang="en-US" sz="2800" dirty="0">
                <a:latin typeface="Times New Roman"/>
                <a:cs typeface="Times New Roman"/>
              </a:rPr>
              <a:t>.</a:t>
            </a: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A</a:t>
            </a:r>
            <a:r>
              <a:rPr lang="en-US" sz="2800" spc="-15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high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precision format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will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result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in more</a:t>
            </a:r>
            <a:r>
              <a:rPr lang="en-US" sz="2800" spc="1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accurate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floating </a:t>
            </a:r>
            <a:r>
              <a:rPr lang="en-US" sz="2800" spc="-68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point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arithmetic.</a:t>
            </a:r>
            <a:endParaRPr lang="en-US"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Most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languages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provide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a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choice:</a:t>
            </a:r>
            <a:endParaRPr lang="en-US" sz="28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800" b="1" dirty="0">
                <a:latin typeface="Times New Roman"/>
                <a:cs typeface="Times New Roman"/>
              </a:rPr>
              <a:t>Single</a:t>
            </a:r>
            <a:r>
              <a:rPr lang="en-US" sz="2800" b="1" spc="-40" dirty="0">
                <a:latin typeface="Times New Roman"/>
                <a:cs typeface="Times New Roman"/>
              </a:rPr>
              <a:t> </a:t>
            </a:r>
            <a:r>
              <a:rPr lang="en-US" sz="2800" b="1" spc="-10" dirty="0">
                <a:latin typeface="Times New Roman"/>
                <a:cs typeface="Times New Roman"/>
              </a:rPr>
              <a:t>precision.</a:t>
            </a:r>
            <a:endParaRPr lang="en-US" sz="28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800" b="1" spc="-5" dirty="0">
                <a:latin typeface="Times New Roman"/>
                <a:cs typeface="Times New Roman"/>
              </a:rPr>
              <a:t>Double</a:t>
            </a:r>
            <a:r>
              <a:rPr lang="en-US" sz="2800" b="1" spc="-20" dirty="0">
                <a:latin typeface="Times New Roman"/>
                <a:cs typeface="Times New Roman"/>
              </a:rPr>
              <a:t> </a:t>
            </a:r>
            <a:r>
              <a:rPr lang="en-US" sz="2800" b="1" spc="-10" dirty="0">
                <a:latin typeface="Times New Roman"/>
                <a:cs typeface="Times New Roman"/>
              </a:rPr>
              <a:t>precision.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94211" y="6464680"/>
            <a:ext cx="180975" cy="309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88888"/>
                </a:solidFill>
                <a:latin typeface="Calibri"/>
                <a:cs typeface="Calibri"/>
              </a:rPr>
              <a:t>64</a:t>
            </a:r>
            <a:endParaRPr lang="en-US" sz="1200" dirty="0">
              <a:latin typeface="Calibri"/>
              <a:cs typeface="Calibri"/>
            </a:endParaRPr>
          </a:p>
          <a:p>
            <a:pPr marL="12700">
              <a:lnSpc>
                <a:spcPts val="1240"/>
              </a:lnSpc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FAA81-FEDE-079A-C498-D1F7545D1E4A}"/>
              </a:ext>
            </a:extLst>
          </p:cNvPr>
          <p:cNvSpPr txBox="1"/>
          <p:nvPr/>
        </p:nvSpPr>
        <p:spPr>
          <a:xfrm>
            <a:off x="13855" y="1811088"/>
            <a:ext cx="24245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Storage Needs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10.1. Precision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10.2. Range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10.3. Formats that have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 IEEE Format now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10.5. Floating Point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9C176A5-62BD-84FE-9549-1A3BD96C9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6090" y="365125"/>
            <a:ext cx="8537709" cy="1325563"/>
          </a:xfrm>
        </p:spPr>
        <p:txBody>
          <a:bodyPr/>
          <a:lstStyle/>
          <a:p>
            <a:r>
              <a:rPr lang="en-US" b="1" dirty="0"/>
              <a:t>10.2 Range</a:t>
            </a:r>
            <a:endParaRPr lang="en-GB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AB759EA-EE72-AEE7-0083-644087E862DE}"/>
              </a:ext>
            </a:extLst>
          </p:cNvPr>
          <p:cNvSpPr txBox="1">
            <a:spLocks noChangeArrowheads="1"/>
          </p:cNvSpPr>
          <p:nvPr/>
        </p:nvSpPr>
        <p:spPr>
          <a:xfrm>
            <a:off x="2816090" y="1825625"/>
            <a:ext cx="8537709" cy="1969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of the format is how big and how small the numbers are that can be represented.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 by the number of bits used for the </a:t>
            </a: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</a:t>
            </a:r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65C7A23-0410-0DFB-3667-6E4D9AE5AC66}"/>
              </a:ext>
            </a:extLst>
          </p:cNvPr>
          <p:cNvSpPr txBox="1">
            <a:spLocks/>
          </p:cNvSpPr>
          <p:nvPr/>
        </p:nvSpPr>
        <p:spPr>
          <a:xfrm>
            <a:off x="10972799" y="6400800"/>
            <a:ext cx="3810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GB" sz="1200" dirty="0"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D95DD10-EA6E-B9EE-900B-25022732B9B6}"/>
              </a:ext>
            </a:extLst>
          </p:cNvPr>
          <p:cNvSpPr txBox="1">
            <a:spLocks/>
          </p:cNvSpPr>
          <p:nvPr/>
        </p:nvSpPr>
        <p:spPr>
          <a:xfrm>
            <a:off x="72891" y="1205336"/>
            <a:ext cx="3391064" cy="551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Storage Needs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10.1. Precision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10.2. Range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10.3. Formats that have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 IEEE Format now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10.5. Floating Point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6C8FE-CB17-19A8-5E33-B1C2B50C9091}"/>
              </a:ext>
            </a:extLst>
          </p:cNvPr>
          <p:cNvSpPr txBox="1"/>
          <p:nvPr/>
        </p:nvSpPr>
        <p:spPr>
          <a:xfrm>
            <a:off x="10972800" y="6380999"/>
            <a:ext cx="416821" cy="24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dirty="0">
                <a:solidFill>
                  <a:srgbClr val="888888"/>
                </a:solidFill>
                <a:latin typeface="Calibri"/>
                <a:cs typeface="Calibri"/>
              </a:rPr>
              <a:t>65</a:t>
            </a:r>
            <a:endParaRPr lang="en-US"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53905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591388"/>
            <a:ext cx="88880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11.3</a:t>
            </a:r>
            <a:r>
              <a:rPr spc="-10" dirty="0"/>
              <a:t> </a:t>
            </a:r>
            <a:r>
              <a:rPr spc="-5" dirty="0"/>
              <a:t>Formats</a:t>
            </a:r>
            <a:r>
              <a:rPr spc="-100" dirty="0"/>
              <a:t> </a:t>
            </a:r>
            <a:r>
              <a:rPr dirty="0"/>
              <a:t>That</a:t>
            </a:r>
            <a:r>
              <a:rPr spc="-5" dirty="0"/>
              <a:t> </a:t>
            </a:r>
            <a:r>
              <a:rPr dirty="0"/>
              <a:t>have</a:t>
            </a:r>
            <a:r>
              <a:rPr spc="-10" dirty="0"/>
              <a:t> </a:t>
            </a:r>
            <a:r>
              <a:rPr dirty="0"/>
              <a:t>been</a:t>
            </a:r>
            <a:r>
              <a:rPr spc="-5" dirty="0"/>
              <a:t> used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2570" y="2099519"/>
            <a:ext cx="6819487" cy="350542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38875-E8FE-FC9D-6376-4FFF9E904F14}"/>
              </a:ext>
            </a:extLst>
          </p:cNvPr>
          <p:cNvSpPr txBox="1"/>
          <p:nvPr/>
        </p:nvSpPr>
        <p:spPr>
          <a:xfrm>
            <a:off x="0" y="1905000"/>
            <a:ext cx="26567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Storage Needs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10.1. Precision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10.2. Range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10.3. Formats that have 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 IEEE Format now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10.5. Floating Point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5116" y="398221"/>
            <a:ext cx="746188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11.4</a:t>
            </a:r>
            <a:r>
              <a:rPr spc="-20" dirty="0"/>
              <a:t> </a:t>
            </a:r>
            <a:r>
              <a:rPr dirty="0"/>
              <a:t>IEEE</a:t>
            </a:r>
            <a:r>
              <a:rPr spc="-30" dirty="0"/>
              <a:t> </a:t>
            </a:r>
            <a:r>
              <a:rPr dirty="0"/>
              <a:t>Format</a:t>
            </a:r>
            <a:r>
              <a:rPr spc="-15" dirty="0"/>
              <a:t> </a:t>
            </a:r>
            <a:r>
              <a:rPr dirty="0"/>
              <a:t>now</a:t>
            </a:r>
            <a:r>
              <a:rPr spc="-15" dirty="0"/>
              <a:t> </a:t>
            </a:r>
            <a:r>
              <a:rPr dirty="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5116" y="1132481"/>
            <a:ext cx="5932805" cy="51409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IEEE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754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floating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standard.</a:t>
            </a: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Single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Precision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(32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bits):</a:t>
            </a:r>
            <a:endParaRPr sz="28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5" dirty="0">
                <a:latin typeface="Times New Roman"/>
                <a:cs typeface="Times New Roman"/>
              </a:rPr>
              <a:t>Mantissa: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1156335" algn="l"/>
              </a:tabLst>
            </a:pPr>
            <a:r>
              <a:rPr sz="2800" spc="-5" dirty="0">
                <a:latin typeface="Times New Roman"/>
                <a:cs typeface="Times New Roman"/>
              </a:rPr>
              <a:t>1 </a:t>
            </a:r>
            <a:r>
              <a:rPr sz="2800" b="1" spc="-5" dirty="0">
                <a:latin typeface="Times New Roman"/>
                <a:cs typeface="Times New Roman"/>
              </a:rPr>
              <a:t>Bit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/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23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Bits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Value.</a:t>
            </a:r>
            <a:endParaRPr sz="2800" dirty="0">
              <a:latin typeface="Times New Roman"/>
              <a:cs typeface="Times New Roman"/>
            </a:endParaRPr>
          </a:p>
          <a:p>
            <a:pPr marL="698500" marR="3763645" lvl="1" indent="-699135" algn="r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Exp</a:t>
            </a:r>
            <a:r>
              <a:rPr sz="2800" spc="5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nen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  <a:p>
            <a:pPr marL="228600" marR="3820160" lvl="2" indent="-228600" algn="r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228600" algn="l"/>
              </a:tabLst>
            </a:pPr>
            <a:r>
              <a:rPr sz="2800" spc="-5" dirty="0">
                <a:latin typeface="Times New Roman"/>
                <a:cs typeface="Times New Roman"/>
              </a:rPr>
              <a:t>8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Bits.</a:t>
            </a:r>
            <a:endParaRPr sz="2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Double</a:t>
            </a:r>
            <a:r>
              <a:rPr sz="28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Precision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(64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bits):</a:t>
            </a:r>
            <a:endParaRPr sz="28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5" dirty="0">
                <a:latin typeface="Times New Roman"/>
                <a:cs typeface="Times New Roman"/>
              </a:rPr>
              <a:t>Mantissa: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1156335" algn="l"/>
              </a:tabLst>
            </a:pPr>
            <a:r>
              <a:rPr sz="2800" spc="-5" dirty="0">
                <a:latin typeface="Times New Roman"/>
                <a:cs typeface="Times New Roman"/>
              </a:rPr>
              <a:t>1 </a:t>
            </a:r>
            <a:r>
              <a:rPr sz="2800" b="1" spc="-5" dirty="0">
                <a:latin typeface="Times New Roman"/>
                <a:cs typeface="Times New Roman"/>
              </a:rPr>
              <a:t>Bit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Sign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/ 52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Bits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5" dirty="0">
                <a:latin typeface="Times New Roman"/>
                <a:cs typeface="Times New Roman"/>
              </a:rPr>
              <a:t> Value.</a:t>
            </a:r>
            <a:endParaRPr sz="28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5" dirty="0">
                <a:latin typeface="Times New Roman"/>
                <a:cs typeface="Times New Roman"/>
              </a:rPr>
              <a:t>Exponent:</a:t>
            </a:r>
            <a:endParaRPr sz="28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1156335" algn="l"/>
              </a:tabLst>
            </a:pPr>
            <a:r>
              <a:rPr sz="2800" spc="-55" dirty="0">
                <a:latin typeface="Times New Roman"/>
                <a:cs typeface="Times New Roman"/>
              </a:rPr>
              <a:t>11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Bits.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817DF-31CE-3CE6-4138-45A15ACCF0CF}"/>
              </a:ext>
            </a:extLst>
          </p:cNvPr>
          <p:cNvSpPr txBox="1"/>
          <p:nvPr/>
        </p:nvSpPr>
        <p:spPr>
          <a:xfrm>
            <a:off x="0" y="2136338"/>
            <a:ext cx="26727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Storage Needs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10.1. Precision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10.2. Range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10.3. Formats that have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used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 IEEE Format now 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10.5. Floating Point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049B648-1F69-B28B-65C8-2AF5CCC11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365125"/>
            <a:ext cx="8610600" cy="1325563"/>
          </a:xfrm>
        </p:spPr>
        <p:txBody>
          <a:bodyPr>
            <a:normAutofit/>
          </a:bodyPr>
          <a:lstStyle/>
          <a:p>
            <a:r>
              <a:rPr lang="en-US" b="1" dirty="0"/>
              <a:t>10.5 Floating Point Arithmetic</a:t>
            </a:r>
            <a:endParaRPr lang="en-GB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44571FE-53D8-96C8-1ED5-6EE129A78F91}"/>
              </a:ext>
            </a:extLst>
          </p:cNvPr>
          <p:cNvSpPr txBox="1">
            <a:spLocks noChangeArrowheads="1"/>
          </p:cNvSpPr>
          <p:nvPr/>
        </p:nvSpPr>
        <p:spPr>
          <a:xfrm>
            <a:off x="2743200" y="1825625"/>
            <a:ext cx="9208394" cy="435133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0" dirty="0"/>
              <a:t>Manipulating Floating Point numbers to do arithmetic is more complex than with Integer arithmetic.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0" dirty="0"/>
              <a:t>Early processors only did Integer arithmetic – FP arithmetic was done in software.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0" dirty="0"/>
              <a:t>Then math co-processors were introduced to do Floating Point calculations.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0" dirty="0"/>
              <a:t>Now, most processors implement Floating Point instructions.</a:t>
            </a:r>
            <a:endParaRPr lang="en-GB" sz="3200" kern="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018F3-1EC6-D9F4-7C35-C5E55C05CD79}"/>
              </a:ext>
            </a:extLst>
          </p:cNvPr>
          <p:cNvSpPr txBox="1">
            <a:spLocks/>
          </p:cNvSpPr>
          <p:nvPr/>
        </p:nvSpPr>
        <p:spPr>
          <a:xfrm>
            <a:off x="72891" y="1205336"/>
            <a:ext cx="3391064" cy="551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Storage Needs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10.1. Precision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10.2. Range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10.3. Formats that have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used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10.4. IEEE Format now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10.5. Floating Point 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4E1DD1-A5E6-272C-939A-7F3033A67572}"/>
              </a:ext>
            </a:extLst>
          </p:cNvPr>
          <p:cNvSpPr txBox="1"/>
          <p:nvPr/>
        </p:nvSpPr>
        <p:spPr>
          <a:xfrm>
            <a:off x="10976428" y="6400800"/>
            <a:ext cx="453572" cy="24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>
              <a:lnSpc>
                <a:spcPts val="1240"/>
              </a:lnSpc>
            </a:pPr>
            <a:r>
              <a:rPr lang="en-US" sz="1200" dirty="0"/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33744446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591388"/>
            <a:ext cx="35134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12.</a:t>
            </a:r>
            <a:r>
              <a:rPr spc="-65" dirty="0"/>
              <a:t> </a:t>
            </a:r>
            <a:r>
              <a:rPr spc="-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7000" y="1788921"/>
            <a:ext cx="5281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Representation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7000" y="3029839"/>
            <a:ext cx="5243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Base/Radix: Hex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Octal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67000" y="4272153"/>
            <a:ext cx="944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spc="-5" dirty="0">
                <a:latin typeface="Times New Roman"/>
                <a:cs typeface="Times New Roman"/>
              </a:rPr>
              <a:t>Non-integer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Floating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Point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numbers.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739" y="2649677"/>
            <a:ext cx="1871980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0540" lvl="1" indent="-498475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51117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5" dirty="0">
                <a:latin typeface="Times New Roman"/>
                <a:cs typeface="Times New Roman"/>
              </a:rPr>
              <a:t>now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endParaRPr sz="2000">
              <a:latin typeface="Times New Roman"/>
              <a:cs typeface="Times New Roman"/>
            </a:endParaRPr>
          </a:p>
          <a:p>
            <a:pPr marL="12700" marR="168275" lvl="1">
              <a:lnSpc>
                <a:spcPct val="100000"/>
              </a:lnSpc>
              <a:buAutoNum type="arabicPeriod" startAt="5"/>
              <a:tabLst>
                <a:tab pos="511175" algn="l"/>
              </a:tabLst>
            </a:pPr>
            <a:r>
              <a:rPr sz="2000" dirty="0">
                <a:latin typeface="Times New Roman"/>
                <a:cs typeface="Times New Roman"/>
              </a:rPr>
              <a:t>Floating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ic  </a:t>
            </a:r>
            <a:r>
              <a:rPr sz="2000" b="1" dirty="0">
                <a:latin typeface="Times New Roman"/>
                <a:cs typeface="Times New Roman"/>
              </a:rPr>
              <a:t>12.Summary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317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6</a:t>
            </a: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Cartoon character with arms raised">
            <a:extLst>
              <a:ext uri="{FF2B5EF4-FFF2-40B4-BE49-F238E27FC236}">
                <a16:creationId xmlns:a16="http://schemas.microsoft.com/office/drawing/2014/main" id="{17F0D3A6-1DA5-BA19-CC80-FDED0704F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  <a:latin typeface="+mn-lt"/>
                <a:cs typeface="+mn-cs"/>
              </a:rPr>
              <a:t>70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ACD78E-33C6-C5D5-637B-5A188F6B97FC}"/>
              </a:ext>
            </a:extLst>
          </p:cNvPr>
          <p:cNvSpPr/>
          <p:nvPr/>
        </p:nvSpPr>
        <p:spPr>
          <a:xfrm>
            <a:off x="9296400" y="6356350"/>
            <a:ext cx="2590800" cy="501650"/>
          </a:xfrm>
          <a:prstGeom prst="rect">
            <a:avLst/>
          </a:prstGeom>
          <a:solidFill>
            <a:srgbClr val="4CA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14665</TotalTime>
  <Words>4693</Words>
  <Application>Microsoft Office PowerPoint</Application>
  <PresentationFormat>Widescreen</PresentationFormat>
  <Paragraphs>1132</Paragraphs>
  <Slides>70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Aptos</vt:lpstr>
      <vt:lpstr>Arial</vt:lpstr>
      <vt:lpstr>Arial MT</vt:lpstr>
      <vt:lpstr>Calibri</vt:lpstr>
      <vt:lpstr>DM Sans</vt:lpstr>
      <vt:lpstr>Times New Roman</vt:lpstr>
      <vt:lpstr>Verdana</vt:lpstr>
      <vt:lpstr>Wingdings</vt:lpstr>
      <vt:lpstr>Office Theme</vt:lpstr>
      <vt:lpstr>4CS015 Fundamentals of Computing</vt:lpstr>
      <vt:lpstr>A. Agenda</vt:lpstr>
      <vt:lpstr>B. Instructors</vt:lpstr>
      <vt:lpstr>C. Module Overview</vt:lpstr>
      <vt:lpstr>C. Module Overview</vt:lpstr>
      <vt:lpstr>D. Teaching Strategy</vt:lpstr>
      <vt:lpstr>E. Recommended Textbooks:</vt:lpstr>
      <vt:lpstr>F. Module grading system in UK</vt:lpstr>
      <vt:lpstr>Weekly Study Hour</vt:lpstr>
      <vt:lpstr>Lecture-1  Number and Data Representation</vt:lpstr>
      <vt:lpstr>2. Overview</vt:lpstr>
      <vt:lpstr>2.1 Some Definitions</vt:lpstr>
      <vt:lpstr>2.1.2 Digital – </vt:lpstr>
      <vt:lpstr>2.1.3 Digital Electronics</vt:lpstr>
      <vt:lpstr>2.2 Representation</vt:lpstr>
      <vt:lpstr>2.3 RADIX or BASE</vt:lpstr>
      <vt:lpstr>2.3 The Decimal System</vt:lpstr>
      <vt:lpstr>2.3.1 Decimal Example</vt:lpstr>
      <vt:lpstr>2.4 Binary</vt:lpstr>
      <vt:lpstr>3. The Binary Representation  Scheme</vt:lpstr>
      <vt:lpstr>3.1 Basic Conversion</vt:lpstr>
      <vt:lpstr>3.2 Decimal To Binary Conversion</vt:lpstr>
      <vt:lpstr>3.2.1 Example: Conversion of 2510</vt:lpstr>
      <vt:lpstr>3.3 Binary To Decimal Conversion</vt:lpstr>
      <vt:lpstr>3.4 Most Significant Digit /  Least Significant Digit</vt:lpstr>
      <vt:lpstr>4. 'Bits', 'Bytes' and 'Words'</vt:lpstr>
      <vt:lpstr>4. 'Bits', 'Bytes' and 'Words'</vt:lpstr>
      <vt:lpstr>5.Unsigned Numbers</vt:lpstr>
      <vt:lpstr>5.1 Unsigned Binary Representation</vt:lpstr>
      <vt:lpstr>PowerPoint Presentation</vt:lpstr>
      <vt:lpstr>5.3 Unsigned Numbers Table</vt:lpstr>
      <vt:lpstr>6. Signed Numbers</vt:lpstr>
      <vt:lpstr>6. Signed Numbers</vt:lpstr>
      <vt:lpstr>7. Radix complement</vt:lpstr>
      <vt:lpstr>7.1 Subtraction and Two’s Complement</vt:lpstr>
      <vt:lpstr>7.1.1 Subtraction and 2’s Comp</vt:lpstr>
      <vt:lpstr>7.1.1 Subtraction and 2’s Comp</vt:lpstr>
      <vt:lpstr>7.1.1 Subtraction and 2’s Comp</vt:lpstr>
      <vt:lpstr>7.1.1 Subtraction and 2’s Comp</vt:lpstr>
      <vt:lpstr>7.1.2 2’s complement answers.</vt:lpstr>
      <vt:lpstr>Example</vt:lpstr>
      <vt:lpstr>7.2 2’s Comp and Sign Magnitude</vt:lpstr>
      <vt:lpstr>7.2 2‘s Comp and Sign Magnitude</vt:lpstr>
      <vt:lpstr>8. Hexadecimal (Hex)</vt:lpstr>
      <vt:lpstr>8. Hexadecimal (Hex)</vt:lpstr>
      <vt:lpstr>8.1 Conversion of Hexadecimal  to/from Decimal</vt:lpstr>
      <vt:lpstr>8.2 Binary to Hexadecimal Conversion</vt:lpstr>
      <vt:lpstr>8.2 Binary to Hexadecimal Conversion</vt:lpstr>
      <vt:lpstr>8.3 Binary &amp; Hex Conversion</vt:lpstr>
      <vt:lpstr>8.4 Making Binary Easier for Humans</vt:lpstr>
      <vt:lpstr>9. OCTAL Radix 8</vt:lpstr>
      <vt:lpstr>10. Non Integer Numbers</vt:lpstr>
      <vt:lpstr>10.1 Scientific Notation</vt:lpstr>
      <vt:lpstr>10.2 Scientific Notation: Floating Point Numbers</vt:lpstr>
      <vt:lpstr>10.3 Binary: Floating Point Format</vt:lpstr>
      <vt:lpstr>10.4 Floating Point in Decimal</vt:lpstr>
      <vt:lpstr>10.5 Floating Point in Binary</vt:lpstr>
      <vt:lpstr>10.6 Limitation in Binary</vt:lpstr>
      <vt:lpstr>10.7 Converting Decimal to Binary</vt:lpstr>
      <vt:lpstr>10.7.1 Example: Decimal to Binary</vt:lpstr>
      <vt:lpstr>10.7.2 How close is this answer to 0.35?</vt:lpstr>
      <vt:lpstr>10.8 Accuracy of Floating Point Data</vt:lpstr>
      <vt:lpstr>10 Storage Needs</vt:lpstr>
      <vt:lpstr>11.1 Precision</vt:lpstr>
      <vt:lpstr>10.2 Range</vt:lpstr>
      <vt:lpstr>11.3 Formats That have been used</vt:lpstr>
      <vt:lpstr>11.4 IEEE Format now Used</vt:lpstr>
      <vt:lpstr>10.5 Floating Point Arithmetic</vt:lpstr>
      <vt:lpstr>12.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4CS015 Fundamentals of Computing</dc:title>
  <dc:creator>uttambabu</dc:creator>
  <cp:lastModifiedBy>Sanjeev Chamling</cp:lastModifiedBy>
  <cp:revision>19</cp:revision>
  <dcterms:created xsi:type="dcterms:W3CDTF">2024-11-10T03:38:19Z</dcterms:created>
  <dcterms:modified xsi:type="dcterms:W3CDTF">2025-11-11T08:09:09Z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2024-11-10T00:00:00Z</vt:filetime>
  </property>
</Properties>
</file>