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Cutiv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aKpQ/XCDaMDQLZ/ht7bOsoFB/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D95AC9-DE1C-475C-873A-B17EC21ED335}">
  <a:tblStyle styleId="{99D95AC9-DE1C-475C-873A-B17EC21ED33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001BF8F-9959-4D8C-B072-E1221EB7D13B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utiv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8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p18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9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19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0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20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1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5" name="Google Shape;745;p21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2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p22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3:notes"/>
          <p:cNvSpPr/>
          <p:nvPr>
            <p:ph idx="2" type="sldImg"/>
          </p:nvPr>
        </p:nvSpPr>
        <p:spPr>
          <a:xfrm>
            <a:off x="144463" y="766763"/>
            <a:ext cx="6818312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23:notes"/>
          <p:cNvSpPr txBox="1"/>
          <p:nvPr>
            <p:ph idx="1" type="body"/>
          </p:nvPr>
        </p:nvSpPr>
        <p:spPr>
          <a:xfrm>
            <a:off x="709613" y="4857750"/>
            <a:ext cx="5680075" cy="459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2" name="Google Shape;78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7"/>
          <p:cNvSpPr/>
          <p:nvPr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82" y="6307191"/>
            <a:ext cx="2135054" cy="4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3"/>
          <p:cNvSpPr/>
          <p:nvPr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82" y="6307191"/>
            <a:ext cx="2135054" cy="4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8"/>
          <p:cNvSpPr/>
          <p:nvPr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82" y="6307191"/>
            <a:ext cx="2135054" cy="4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29"/>
          <p:cNvSpPr/>
          <p:nvPr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82" y="6307191"/>
            <a:ext cx="2135054" cy="4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1826684" y="301625"/>
            <a:ext cx="975148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" type="body"/>
          </p:nvPr>
        </p:nvSpPr>
        <p:spPr>
          <a:xfrm>
            <a:off x="1826684" y="1827213"/>
            <a:ext cx="477308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2" type="body"/>
          </p:nvPr>
        </p:nvSpPr>
        <p:spPr>
          <a:xfrm>
            <a:off x="6802967" y="1827213"/>
            <a:ext cx="477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0"/>
          <p:cNvSpPr/>
          <p:nvPr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82" y="6307191"/>
            <a:ext cx="2135054" cy="4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6"/>
          <p:cNvSpPr/>
          <p:nvPr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82" y="6307191"/>
            <a:ext cx="2135054" cy="44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6" name="Google Shape;86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6476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600">
                <a:latin typeface="Times New Roman"/>
                <a:ea typeface="Times New Roman"/>
                <a:cs typeface="Times New Roman"/>
                <a:sym typeface="Times New Roman"/>
              </a:rPr>
              <a:t>4CS015</a:t>
            </a: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5400">
                <a:latin typeface="Times New Roman"/>
                <a:ea typeface="Times New Roman"/>
                <a:cs typeface="Times New Roman"/>
                <a:sym typeface="Times New Roman"/>
              </a:rPr>
              <a:t>Lecture 4</a:t>
            </a:r>
            <a:r>
              <a:rPr b="1" lang="en-US" sz="5666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4866">
                <a:latin typeface="Times New Roman"/>
                <a:ea typeface="Times New Roman"/>
                <a:cs typeface="Times New Roman"/>
                <a:sym typeface="Times New Roman"/>
              </a:rPr>
              <a:t>Arithmetic Logic Units</a:t>
            </a:r>
            <a:endParaRPr b="1" sz="7666"/>
          </a:p>
        </p:txBody>
      </p:sp>
      <p:sp>
        <p:nvSpPr>
          <p:cNvPr id="115" name="Google Shape;11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2973285" y="365126"/>
            <a:ext cx="9263743" cy="1284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Today</a:t>
            </a:r>
            <a:endParaRPr b="1"/>
          </a:p>
        </p:txBody>
      </p:sp>
      <p:sp>
        <p:nvSpPr>
          <p:cNvPr id="121" name="Google Shape;121;p2"/>
          <p:cNvSpPr txBox="1"/>
          <p:nvPr>
            <p:ph idx="1" type="body"/>
          </p:nvPr>
        </p:nvSpPr>
        <p:spPr>
          <a:xfrm>
            <a:off x="2842657" y="1825625"/>
            <a:ext cx="9394371" cy="400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What is an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ALU?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Unit</a:t>
            </a:r>
            <a:endParaRPr b="1" sz="2800">
              <a:solidFill>
                <a:srgbClr val="0070C0"/>
              </a:solidFill>
            </a:endParaRPr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Decoder</a:t>
            </a:r>
            <a:endParaRPr b="1" sz="2800">
              <a:solidFill>
                <a:srgbClr val="0070C0"/>
              </a:solidFill>
            </a:endParaRPr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Multiplexor</a:t>
            </a:r>
            <a:endParaRPr b="1" sz="2800">
              <a:solidFill>
                <a:srgbClr val="0070C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Turning our adder into a subtractor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410442" y="2367290"/>
            <a:ext cx="20314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Today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2.What is ALU?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>
            <p:ph type="title"/>
          </p:nvPr>
        </p:nvSpPr>
        <p:spPr>
          <a:xfrm>
            <a:off x="2721428" y="160410"/>
            <a:ext cx="898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What is ALU?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10 Parts of a Motherboard and Their Function - TurboFuture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8028" y="1875639"/>
            <a:ext cx="5578674" cy="3500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9060" y="2014299"/>
            <a:ext cx="3131915" cy="28382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3"/>
          <p:cNvCxnSpPr/>
          <p:nvPr/>
        </p:nvCxnSpPr>
        <p:spPr>
          <a:xfrm flipH="1" rot="10800000">
            <a:off x="4692754" y="3692631"/>
            <a:ext cx="4046400" cy="26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3"/>
          <p:cNvSpPr txBox="1"/>
          <p:nvPr/>
        </p:nvSpPr>
        <p:spPr>
          <a:xfrm>
            <a:off x="8966580" y="627798"/>
            <a:ext cx="12903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3"/>
          <p:cNvCxnSpPr/>
          <p:nvPr/>
        </p:nvCxnSpPr>
        <p:spPr>
          <a:xfrm flipH="1">
            <a:off x="9266829" y="1126088"/>
            <a:ext cx="54592" cy="180387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" name="Google Shape;135;p3"/>
          <p:cNvSpPr txBox="1"/>
          <p:nvPr/>
        </p:nvSpPr>
        <p:spPr>
          <a:xfrm>
            <a:off x="3440491" y="6231135"/>
            <a:ext cx="15311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Motherboard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600862" y="5376249"/>
            <a:ext cx="867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2.What is ALU?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Arithmetic Logic Unit Diagram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The ALU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rchitecture of the central processing unit (CPU) - Computer Science Wiki" id="143" name="Google Shape;14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8814" y="2811926"/>
            <a:ext cx="6483098" cy="3750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8"/>
          <p:cNvSpPr txBox="1"/>
          <p:nvPr/>
        </p:nvSpPr>
        <p:spPr>
          <a:xfrm>
            <a:off x="2982198" y="874345"/>
            <a:ext cx="8909714" cy="1937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set of arithmetic operations and set of logic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operation combinational logic circuit.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a number of selection lines to select particular operation in the unit.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8"/>
          <p:cNvSpPr txBox="1"/>
          <p:nvPr/>
        </p:nvSpPr>
        <p:spPr>
          <a:xfrm>
            <a:off x="2832073" y="173831"/>
            <a:ext cx="8909714" cy="714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What is ALU?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8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2.What is ALU?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Arithmetic Logic Unit Diagram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The ALU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2743202" y="819547"/>
            <a:ext cx="89293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2.1 Arithmetic Logic Unit diagram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4"/>
          <p:cNvSpPr txBox="1"/>
          <p:nvPr>
            <p:ph idx="12" type="sldNum"/>
          </p:nvPr>
        </p:nvSpPr>
        <p:spPr>
          <a:xfrm>
            <a:off x="883920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659440" y="3446463"/>
            <a:ext cx="2438400" cy="160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287733" y="3117454"/>
            <a:ext cx="1752600" cy="457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1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287733" y="4601369"/>
            <a:ext cx="1752600" cy="457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2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448163" y="5624433"/>
            <a:ext cx="2649677" cy="749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= 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8859840" y="3903663"/>
            <a:ext cx="17526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 =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4821240" y="3598863"/>
            <a:ext cx="838200" cy="53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160" name="Google Shape;160;p4"/>
          <p:cNvCxnSpPr/>
          <p:nvPr/>
        </p:nvCxnSpPr>
        <p:spPr>
          <a:xfrm flipH="1" rot="10800000">
            <a:off x="4745040" y="4360863"/>
            <a:ext cx="91440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161" name="Google Shape;161;p4"/>
          <p:cNvCxnSpPr/>
          <p:nvPr/>
        </p:nvCxnSpPr>
        <p:spPr>
          <a:xfrm>
            <a:off x="8097840" y="4132263"/>
            <a:ext cx="76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162" name="Google Shape;162;p4"/>
          <p:cNvCxnSpPr/>
          <p:nvPr/>
        </p:nvCxnSpPr>
        <p:spPr>
          <a:xfrm rot="10800000">
            <a:off x="6657977" y="5030788"/>
            <a:ext cx="0" cy="576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4"/>
          <p:cNvSpPr/>
          <p:nvPr/>
        </p:nvSpPr>
        <p:spPr>
          <a:xfrm>
            <a:off x="3418383" y="2169319"/>
            <a:ext cx="7115175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399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D1"/>
              </a:buClr>
              <a:buSzPts val="2030"/>
              <a:buFont typeface="Noto Sans Symbols"/>
              <a:buNone/>
            </a:pPr>
            <a:r>
              <a:t/>
            </a:r>
            <a:endParaRPr b="0" i="0" sz="2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2.What is ALU?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Arithmetic Logic Unit Diagram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The ALU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>
            <p:ph type="title"/>
          </p:nvPr>
        </p:nvSpPr>
        <p:spPr>
          <a:xfrm>
            <a:off x="2544292" y="365125"/>
            <a:ext cx="91004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2.2 The ALU </a:t>
            </a:r>
            <a:endParaRPr/>
          </a:p>
        </p:txBody>
      </p:sp>
      <p:sp>
        <p:nvSpPr>
          <p:cNvPr id="170" name="Google Shape;170;p5"/>
          <p:cNvSpPr txBox="1"/>
          <p:nvPr>
            <p:ph idx="1" type="body"/>
          </p:nvPr>
        </p:nvSpPr>
        <p:spPr>
          <a:xfrm>
            <a:off x="2490839" y="1611800"/>
            <a:ext cx="59181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5318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unit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containing 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logic blocks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that simultaneously carry out each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operation</a:t>
            </a:r>
            <a:endParaRPr/>
          </a:p>
          <a:p>
            <a:pPr indent="0" lvl="0" marL="3032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5318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that selects the required output according to the </a:t>
            </a: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</a:t>
            </a:r>
            <a:endParaRPr>
              <a:solidFill>
                <a:srgbClr val="0070C0"/>
              </a:solidFill>
            </a:endParaRPr>
          </a:p>
          <a:p>
            <a:pPr indent="-254000" lvl="0" marL="5318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binary ‘word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5318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‘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’ that obeys the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which connect 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required function</a:t>
            </a:r>
            <a:endParaRPr/>
          </a:p>
        </p:txBody>
      </p:sp>
      <p:sp>
        <p:nvSpPr>
          <p:cNvPr id="171" name="Google Shape;17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237161" y="2281096"/>
            <a:ext cx="893762" cy="893763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2125" lIns="64275" spcFirstLastPara="1" rIns="64275" wrap="square" tIns="3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 flipH="1">
            <a:off x="8183061" y="2620820"/>
            <a:ext cx="1046162" cy="158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4" name="Google Shape;174;p5"/>
          <p:cNvCxnSpPr/>
          <p:nvPr/>
        </p:nvCxnSpPr>
        <p:spPr>
          <a:xfrm flipH="1">
            <a:off x="8202111" y="2843070"/>
            <a:ext cx="1027112" cy="158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5" name="Google Shape;175;p5"/>
          <p:cNvCxnSpPr/>
          <p:nvPr/>
        </p:nvCxnSpPr>
        <p:spPr>
          <a:xfrm flipH="1">
            <a:off x="10130924" y="2343009"/>
            <a:ext cx="441325" cy="158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76" name="Google Shape;176;p5"/>
          <p:cNvCxnSpPr/>
          <p:nvPr/>
        </p:nvCxnSpPr>
        <p:spPr>
          <a:xfrm flipH="1">
            <a:off x="10130924" y="2441434"/>
            <a:ext cx="441325" cy="158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77" name="Google Shape;177;p5"/>
          <p:cNvCxnSpPr/>
          <p:nvPr/>
        </p:nvCxnSpPr>
        <p:spPr>
          <a:xfrm flipH="1">
            <a:off x="10130924" y="2539859"/>
            <a:ext cx="441325" cy="158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78" name="Google Shape;178;p5"/>
          <p:cNvCxnSpPr/>
          <p:nvPr/>
        </p:nvCxnSpPr>
        <p:spPr>
          <a:xfrm flipH="1">
            <a:off x="10130924" y="2638284"/>
            <a:ext cx="441325" cy="158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79" name="Google Shape;179;p5"/>
          <p:cNvCxnSpPr/>
          <p:nvPr/>
        </p:nvCxnSpPr>
        <p:spPr>
          <a:xfrm>
            <a:off x="10667498" y="2366820"/>
            <a:ext cx="133350" cy="165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80" name="Google Shape;180;p5"/>
          <p:cNvCxnSpPr/>
          <p:nvPr/>
        </p:nvCxnSpPr>
        <p:spPr>
          <a:xfrm flipH="1">
            <a:off x="10791323" y="2539859"/>
            <a:ext cx="357188" cy="158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81" name="Google Shape;181;p5"/>
          <p:cNvCxnSpPr/>
          <p:nvPr/>
        </p:nvCxnSpPr>
        <p:spPr>
          <a:xfrm flipH="1">
            <a:off x="10630987" y="2343008"/>
            <a:ext cx="187325" cy="188912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2" name="Google Shape;182;p5"/>
          <p:cNvSpPr/>
          <p:nvPr/>
        </p:nvSpPr>
        <p:spPr>
          <a:xfrm>
            <a:off x="10469062" y="3370120"/>
            <a:ext cx="509587" cy="482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2125" lIns="64275" spcFirstLastPara="1" rIns="64275" wrap="square" tIns="3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10719887" y="2441434"/>
            <a:ext cx="1587" cy="928687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5"/>
          <p:cNvSpPr/>
          <p:nvPr/>
        </p:nvSpPr>
        <p:spPr>
          <a:xfrm>
            <a:off x="7797298" y="2520809"/>
            <a:ext cx="3825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797298" y="2735121"/>
            <a:ext cx="3825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1137398" y="2431909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490071" y="2527128"/>
            <a:ext cx="3895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0552365" y="3520919"/>
            <a:ext cx="336632" cy="200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Ctrl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5"/>
          <p:cNvCxnSpPr/>
          <p:nvPr/>
        </p:nvCxnSpPr>
        <p:spPr>
          <a:xfrm>
            <a:off x="10726236" y="3852721"/>
            <a:ext cx="0" cy="5048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90" name="Google Shape;190;p5"/>
          <p:cNvSpPr/>
          <p:nvPr/>
        </p:nvSpPr>
        <p:spPr>
          <a:xfrm>
            <a:off x="10573836" y="4357546"/>
            <a:ext cx="3984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Instr</a:t>
            </a:r>
            <a:endParaRPr b="0" i="0" sz="1300" u="none" cap="none" strike="noStrike">
              <a:solidFill>
                <a:srgbClr val="00B05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11091629" y="2658404"/>
            <a:ext cx="9973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(Output)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947302" y="1898508"/>
            <a:ext cx="1473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Unit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0830510" y="1555646"/>
            <a:ext cx="825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 flipH="1">
            <a:off x="10658676" y="1953270"/>
            <a:ext cx="460641" cy="306394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" name="Google Shape;195;p5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2.What is ALU?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Arithmetic Logic Unit Diagram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The ALU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>
            <p:ph type="title"/>
          </p:nvPr>
        </p:nvSpPr>
        <p:spPr>
          <a:xfrm>
            <a:off x="2584370" y="365125"/>
            <a:ext cx="901881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3.1 ALU Arithmetic and Logic Functions</a:t>
            </a:r>
            <a:endParaRPr/>
          </a:p>
        </p:txBody>
      </p:sp>
      <p:sp>
        <p:nvSpPr>
          <p:cNvPr id="201" name="Google Shape;201;p6"/>
          <p:cNvSpPr txBox="1"/>
          <p:nvPr>
            <p:ph idx="1" type="body"/>
          </p:nvPr>
        </p:nvSpPr>
        <p:spPr>
          <a:xfrm>
            <a:off x="2463946" y="1825625"/>
            <a:ext cx="91392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56366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Output examples</a:t>
            </a:r>
            <a:endParaRPr/>
          </a:p>
          <a:p>
            <a:pPr indent="-254000" lvl="1" marL="93311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2800"/>
          </a:p>
          <a:p>
            <a:pPr indent="-254000" lvl="1" marL="93311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sz="2800"/>
          </a:p>
          <a:p>
            <a:pPr indent="-254000" lvl="1" marL="93311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1" marL="93311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1" marL="93311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Addition</a:t>
            </a:r>
            <a:endParaRPr sz="2800"/>
          </a:p>
          <a:p>
            <a:pPr indent="-228600" lvl="0" marL="533069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controller “</a:t>
            </a:r>
            <a:r>
              <a:rPr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instruction to select the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required output</a:t>
            </a:r>
            <a:endParaRPr/>
          </a:p>
        </p:txBody>
      </p:sp>
      <p:sp>
        <p:nvSpPr>
          <p:cNvPr id="202" name="Google Shape;20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03" name="Google Shape;203;p6"/>
          <p:cNvGrpSpPr/>
          <p:nvPr/>
        </p:nvGrpSpPr>
        <p:grpSpPr>
          <a:xfrm>
            <a:off x="5832139" y="2311401"/>
            <a:ext cx="4394682" cy="3547306"/>
            <a:chOff x="5362646" y="2073398"/>
            <a:chExt cx="3303382" cy="2264109"/>
          </a:xfrm>
        </p:grpSpPr>
        <p:sp>
          <p:nvSpPr>
            <p:cNvPr id="204" name="Google Shape;204;p6"/>
            <p:cNvSpPr/>
            <p:nvPr/>
          </p:nvSpPr>
          <p:spPr>
            <a:xfrm>
              <a:off x="6755074" y="2073398"/>
              <a:ext cx="892969" cy="892969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205" name="Google Shape;205;p6"/>
            <p:cNvCxnSpPr/>
            <p:nvPr/>
          </p:nvCxnSpPr>
          <p:spPr>
            <a:xfrm flipH="1">
              <a:off x="5701371" y="2412727"/>
              <a:ext cx="1044773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06" name="Google Shape;206;p6"/>
            <p:cNvCxnSpPr/>
            <p:nvPr/>
          </p:nvCxnSpPr>
          <p:spPr>
            <a:xfrm flipH="1">
              <a:off x="5719230" y="2635969"/>
              <a:ext cx="1026914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07" name="Google Shape;207;p6"/>
            <p:cNvCxnSpPr/>
            <p:nvPr/>
          </p:nvCxnSpPr>
          <p:spPr>
            <a:xfrm flipH="1">
              <a:off x="7648043" y="2135906"/>
              <a:ext cx="442020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cxnSp>
          <p:nvCxnSpPr>
            <p:cNvPr id="208" name="Google Shape;208;p6"/>
            <p:cNvCxnSpPr/>
            <p:nvPr/>
          </p:nvCxnSpPr>
          <p:spPr>
            <a:xfrm flipH="1">
              <a:off x="7648043" y="2234133"/>
              <a:ext cx="442020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cxnSp>
          <p:nvCxnSpPr>
            <p:cNvPr id="209" name="Google Shape;209;p6"/>
            <p:cNvCxnSpPr/>
            <p:nvPr/>
          </p:nvCxnSpPr>
          <p:spPr>
            <a:xfrm flipH="1">
              <a:off x="7648043" y="2332359"/>
              <a:ext cx="442020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cxnSp>
          <p:nvCxnSpPr>
            <p:cNvPr id="210" name="Google Shape;210;p6"/>
            <p:cNvCxnSpPr/>
            <p:nvPr/>
          </p:nvCxnSpPr>
          <p:spPr>
            <a:xfrm flipH="1">
              <a:off x="7648043" y="2430586"/>
              <a:ext cx="442020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cxnSp>
          <p:nvCxnSpPr>
            <p:cNvPr id="211" name="Google Shape;211;p6"/>
            <p:cNvCxnSpPr/>
            <p:nvPr/>
          </p:nvCxnSpPr>
          <p:spPr>
            <a:xfrm>
              <a:off x="8184941" y="2158231"/>
              <a:ext cx="132829" cy="16519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cxnSp>
          <p:nvCxnSpPr>
            <p:cNvPr id="212" name="Google Shape;212;p6"/>
            <p:cNvCxnSpPr/>
            <p:nvPr/>
          </p:nvCxnSpPr>
          <p:spPr>
            <a:xfrm flipH="1">
              <a:off x="8308840" y="2332359"/>
              <a:ext cx="357188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13" name="Google Shape;213;p6"/>
            <p:cNvCxnSpPr/>
            <p:nvPr/>
          </p:nvCxnSpPr>
          <p:spPr>
            <a:xfrm flipH="1">
              <a:off x="8148106" y="2135907"/>
              <a:ext cx="187523" cy="187523"/>
            </a:xfrm>
            <a:prstGeom prst="straightConnector1">
              <a:avLst/>
            </a:prstGeom>
            <a:noFill/>
            <a:ln cap="flat" cmpd="sng" w="25400">
              <a:solidFill>
                <a:srgbClr val="333333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214" name="Google Shape;214;p6"/>
            <p:cNvSpPr/>
            <p:nvPr/>
          </p:nvSpPr>
          <p:spPr>
            <a:xfrm>
              <a:off x="7987371" y="3162821"/>
              <a:ext cx="508992" cy="482203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215" name="Google Shape;215;p6"/>
            <p:cNvCxnSpPr/>
            <p:nvPr/>
          </p:nvCxnSpPr>
          <p:spPr>
            <a:xfrm>
              <a:off x="8237402" y="2234133"/>
              <a:ext cx="1117" cy="928688"/>
            </a:xfrm>
            <a:prstGeom prst="straightConnector1">
              <a:avLst/>
            </a:prstGeom>
            <a:noFill/>
            <a:ln cap="flat" cmpd="sng" w="254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" name="Google Shape;216;p6"/>
            <p:cNvSpPr/>
            <p:nvPr/>
          </p:nvSpPr>
          <p:spPr>
            <a:xfrm>
              <a:off x="5362646" y="2348882"/>
              <a:ext cx="286776" cy="127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1 bit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5362646" y="2563196"/>
              <a:ext cx="286776" cy="127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1 bit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7040611" y="2392196"/>
              <a:ext cx="324129" cy="255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Logic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8125856" y="3349007"/>
              <a:ext cx="225324" cy="127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Ctrl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6"/>
            <p:cNvCxnSpPr/>
            <p:nvPr/>
          </p:nvCxnSpPr>
          <p:spPr>
            <a:xfrm>
              <a:off x="8244408" y="3645024"/>
              <a:ext cx="0" cy="50405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sp>
          <p:nvSpPr>
            <p:cNvPr id="221" name="Google Shape;221;p6"/>
            <p:cNvSpPr/>
            <p:nvPr/>
          </p:nvSpPr>
          <p:spPr>
            <a:xfrm>
              <a:off x="8132097" y="4160709"/>
              <a:ext cx="318105" cy="1767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</a:t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2" name="Google Shape;222;p6"/>
          <p:cNvSpPr txBox="1"/>
          <p:nvPr/>
        </p:nvSpPr>
        <p:spPr>
          <a:xfrm>
            <a:off x="10353252" y="2473712"/>
            <a:ext cx="856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10476683" y="2871027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10550421" y="3177314"/>
            <a:ext cx="505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10521775" y="3491131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10537998" y="3855184"/>
            <a:ext cx="671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0560867" y="4153537"/>
            <a:ext cx="10054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10520084" y="4448345"/>
            <a:ext cx="12673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Subtraction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410441" y="2367290"/>
            <a:ext cx="203142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ALU Arithmetic and Logic 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ALU Decoder and Output Selection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 ALU Instruction Decoder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/>
          <p:nvPr>
            <p:ph type="title"/>
          </p:nvPr>
        </p:nvSpPr>
        <p:spPr>
          <a:xfrm>
            <a:off x="2709000" y="379193"/>
            <a:ext cx="943451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3.2  ALU Decoder &amp; Output Selection</a:t>
            </a:r>
            <a:endParaRPr/>
          </a:p>
        </p:txBody>
      </p:sp>
      <p:sp>
        <p:nvSpPr>
          <p:cNvPr id="235" name="Google Shape;235;p7"/>
          <p:cNvSpPr txBox="1"/>
          <p:nvPr>
            <p:ph idx="1" type="body"/>
          </p:nvPr>
        </p:nvSpPr>
        <p:spPr>
          <a:xfrm>
            <a:off x="2356560" y="1825625"/>
            <a:ext cx="912193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5635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Controller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takes an instruction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Logic is used so that only one of the logic operation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outputs reaches the result output.</a:t>
            </a:r>
            <a:endParaRPr/>
          </a:p>
        </p:txBody>
      </p:sp>
      <p:sp>
        <p:nvSpPr>
          <p:cNvPr id="236" name="Google Shape;2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37" name="Google Shape;237;p7"/>
          <p:cNvGrpSpPr/>
          <p:nvPr/>
        </p:nvGrpSpPr>
        <p:grpSpPr>
          <a:xfrm>
            <a:off x="6495332" y="3556000"/>
            <a:ext cx="3902075" cy="2681288"/>
            <a:chOff x="4706665" y="2561019"/>
            <a:chExt cx="3901554" cy="2680707"/>
          </a:xfrm>
        </p:grpSpPr>
        <p:sp>
          <p:nvSpPr>
            <p:cNvPr id="238" name="Google Shape;238;p7"/>
            <p:cNvSpPr/>
            <p:nvPr/>
          </p:nvSpPr>
          <p:spPr>
            <a:xfrm>
              <a:off x="6232922" y="3652242"/>
              <a:ext cx="2375297" cy="1589484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239" name="Google Shape;239;p7"/>
            <p:cNvCxnSpPr/>
            <p:nvPr/>
          </p:nvCxnSpPr>
          <p:spPr>
            <a:xfrm flipH="1">
              <a:off x="6054328" y="4259461"/>
              <a:ext cx="607219" cy="1117"/>
            </a:xfrm>
            <a:prstGeom prst="straightConnector1">
              <a:avLst/>
            </a:prstGeom>
            <a:noFill/>
            <a:ln cap="flat" cmpd="sng" w="25400">
              <a:solidFill>
                <a:srgbClr val="333333"/>
              </a:solidFill>
              <a:prstDash val="dot"/>
              <a:round/>
              <a:headEnd len="med" w="med" type="stealth"/>
              <a:tailEnd len="sm" w="sm" type="none"/>
            </a:ln>
          </p:spPr>
        </p:cxnSp>
        <p:cxnSp>
          <p:nvCxnSpPr>
            <p:cNvPr id="240" name="Google Shape;240;p7"/>
            <p:cNvCxnSpPr/>
            <p:nvPr/>
          </p:nvCxnSpPr>
          <p:spPr>
            <a:xfrm flipH="1">
              <a:off x="6054328" y="4652367"/>
              <a:ext cx="607219" cy="1117"/>
            </a:xfrm>
            <a:prstGeom prst="straightConnector1">
              <a:avLst/>
            </a:prstGeom>
            <a:noFill/>
            <a:ln cap="flat" cmpd="sng" w="25400">
              <a:solidFill>
                <a:srgbClr val="333333"/>
              </a:solidFill>
              <a:prstDash val="dot"/>
              <a:round/>
              <a:headEnd len="med" w="med" type="stealth"/>
              <a:tailEnd len="sm" w="sm" type="none"/>
            </a:ln>
          </p:spPr>
        </p:cxnSp>
        <p:sp>
          <p:nvSpPr>
            <p:cNvPr id="241" name="Google Shape;241;p7"/>
            <p:cNvSpPr/>
            <p:nvPr/>
          </p:nvSpPr>
          <p:spPr>
            <a:xfrm>
              <a:off x="7257603" y="5016252"/>
              <a:ext cx="464344" cy="18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Ctrl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2" name="Google Shape;242;p7"/>
            <p:cNvCxnSpPr/>
            <p:nvPr/>
          </p:nvCxnSpPr>
          <p:spPr>
            <a:xfrm flipH="1">
              <a:off x="5616773" y="4259461"/>
              <a:ext cx="60721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43" name="Google Shape;243;p7"/>
            <p:cNvCxnSpPr/>
            <p:nvPr/>
          </p:nvCxnSpPr>
          <p:spPr>
            <a:xfrm flipH="1">
              <a:off x="5616773" y="4652367"/>
              <a:ext cx="60721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sp>
          <p:nvSpPr>
            <p:cNvPr id="244" name="Google Shape;244;p7"/>
            <p:cNvSpPr/>
            <p:nvPr/>
          </p:nvSpPr>
          <p:spPr>
            <a:xfrm>
              <a:off x="6670477" y="4036219"/>
              <a:ext cx="1625203" cy="892969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7147921" y="4391605"/>
              <a:ext cx="689292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Decoder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6" name="Google Shape;246;p7"/>
            <p:cNvCxnSpPr/>
            <p:nvPr/>
          </p:nvCxnSpPr>
          <p:spPr>
            <a:xfrm>
              <a:off x="7072312" y="2884289"/>
              <a:ext cx="1117" cy="115193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47" name="Google Shape;247;p7"/>
            <p:cNvCxnSpPr/>
            <p:nvPr/>
          </p:nvCxnSpPr>
          <p:spPr>
            <a:xfrm>
              <a:off x="7277695" y="2875359"/>
              <a:ext cx="1117" cy="115193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48" name="Google Shape;248;p7"/>
            <p:cNvCxnSpPr/>
            <p:nvPr/>
          </p:nvCxnSpPr>
          <p:spPr>
            <a:xfrm>
              <a:off x="7483078" y="2884289"/>
              <a:ext cx="1117" cy="115193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49" name="Google Shape;249;p7"/>
            <p:cNvCxnSpPr/>
            <p:nvPr/>
          </p:nvCxnSpPr>
          <p:spPr>
            <a:xfrm>
              <a:off x="7679531" y="2884289"/>
              <a:ext cx="1117" cy="115193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sp>
          <p:nvSpPr>
            <p:cNvPr id="250" name="Google Shape;250;p7"/>
            <p:cNvSpPr/>
            <p:nvPr/>
          </p:nvSpPr>
          <p:spPr>
            <a:xfrm>
              <a:off x="6627521" y="2561019"/>
              <a:ext cx="1481175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Output to ‘switch’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4706665" y="4273719"/>
              <a:ext cx="9105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Binary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Instruction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7"/>
          <p:cNvSpPr txBox="1"/>
          <p:nvPr/>
        </p:nvSpPr>
        <p:spPr>
          <a:xfrm>
            <a:off x="410441" y="2367290"/>
            <a:ext cx="203142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ALU Arithmetic and Logic 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ALU Decoder and Output Selection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 ALU Instruction Decoder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/>
          <p:nvPr>
            <p:ph type="title"/>
          </p:nvPr>
        </p:nvSpPr>
        <p:spPr>
          <a:xfrm>
            <a:off x="2795158" y="365125"/>
            <a:ext cx="89535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3.3. ALU Instruction Decoder</a:t>
            </a:r>
            <a:endParaRPr/>
          </a:p>
        </p:txBody>
      </p:sp>
      <p:sp>
        <p:nvSpPr>
          <p:cNvPr id="258" name="Google Shape;258;p8"/>
          <p:cNvSpPr txBox="1"/>
          <p:nvPr>
            <p:ph idx="1" type="body"/>
          </p:nvPr>
        </p:nvSpPr>
        <p:spPr>
          <a:xfrm>
            <a:off x="2419601" y="1551214"/>
            <a:ext cx="7992090" cy="4625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563667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80"/>
              <a:buChar char="•"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The decoder is a </a:t>
            </a:r>
            <a:r>
              <a:rPr lang="en-US" sz="278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combinatorial </a:t>
            </a:r>
            <a:br>
              <a:rPr lang="en-US" sz="278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8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 circuit(CLC)</a:t>
            </a:r>
            <a:endParaRPr sz="2780"/>
          </a:p>
          <a:p>
            <a:pPr indent="-254000" lvl="0" marL="563667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Char char="•"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The circuit in which, at any time </a:t>
            </a:r>
            <a:endParaRPr/>
          </a:p>
          <a:p>
            <a:pPr indent="0" lvl="0" marL="309667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None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   output is only depends upon </a:t>
            </a:r>
            <a:endParaRPr/>
          </a:p>
          <a:p>
            <a:pPr indent="0" lvl="0" marL="335067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   inputs only is called CLC</a:t>
            </a:r>
            <a:endParaRPr sz="2780"/>
          </a:p>
          <a:p>
            <a:pPr indent="-254000" lvl="0" marL="563667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Char char="•"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It converts binary information </a:t>
            </a:r>
            <a:endParaRPr/>
          </a:p>
          <a:p>
            <a:pPr indent="0" lvl="0" marL="309667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None/>
            </a:pPr>
            <a:r>
              <a:rPr lang="en-US" sz="2780"/>
              <a:t>   f</a:t>
            </a: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rom</a:t>
            </a:r>
            <a:r>
              <a:rPr lang="en-US" sz="2780"/>
              <a:t> </a:t>
            </a: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‘n’ i/p lines to a maximum of 2</a:t>
            </a:r>
            <a:r>
              <a:rPr baseline="30000" lang="en-US" sz="278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 o/p lines</a:t>
            </a:r>
            <a:endParaRPr sz="278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563667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Char char="•"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Multiple output </a:t>
            </a:r>
            <a:b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lines, </a:t>
            </a:r>
            <a:r>
              <a:rPr b="1" lang="en-US" sz="2780">
                <a:latin typeface="Times New Roman"/>
                <a:ea typeface="Times New Roman"/>
                <a:cs typeface="Times New Roman"/>
                <a:sym typeface="Times New Roman"/>
              </a:rPr>
              <a:t>ctrl1 to clrl4</a:t>
            </a:r>
            <a:endParaRPr b="1" sz="27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533069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Char char="•"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Only one of the output lines is ‘on’ for each instruction</a:t>
            </a:r>
            <a:endParaRPr sz="2780"/>
          </a:p>
          <a:p>
            <a:pPr indent="-254000" lvl="0" marL="533069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"/>
              <a:buChar char="•"/>
            </a:pP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‘n’ instruction lines = 2</a:t>
            </a:r>
            <a:r>
              <a:rPr baseline="30000" lang="en-US" sz="278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 control lines. Hence size of decoder is n* 2</a:t>
            </a:r>
            <a:r>
              <a:rPr baseline="30000" lang="en-US" sz="278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78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780"/>
          </a:p>
        </p:txBody>
      </p:sp>
      <p:sp>
        <p:nvSpPr>
          <p:cNvPr id="259" name="Google Shape;2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60" name="Google Shape;260;p8"/>
          <p:cNvGraphicFramePr/>
          <p:nvPr/>
        </p:nvGraphicFramePr>
        <p:xfrm>
          <a:off x="8014407" y="20594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{99D95AC9-DE1C-475C-873A-B17EC21ED335}</a:tableStyleId>
              </a:tblPr>
              <a:tblGrid>
                <a:gridCol w="608325"/>
                <a:gridCol w="608325"/>
                <a:gridCol w="608325"/>
                <a:gridCol w="609450"/>
                <a:gridCol w="608325"/>
                <a:gridCol w="608325"/>
              </a:tblGrid>
              <a:tr h="33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Inst1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Inst2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ctrl1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ctrl2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ctrl3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ctrl4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560"/>
                        <a:buFont typeface="Thonbu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cap="none" strike="noStrike"/>
                    </a:p>
                  </a:txBody>
                  <a:tcPr marT="26800" marB="26800" marR="26800" marL="26800" anchor="ctr">
                    <a:lnL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8"/>
          <p:cNvSpPr/>
          <p:nvPr/>
        </p:nvSpPr>
        <p:spPr>
          <a:xfrm>
            <a:off x="8014407" y="1758955"/>
            <a:ext cx="911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925507" y="1774347"/>
            <a:ext cx="1928700" cy="161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10441" y="2367290"/>
            <a:ext cx="203142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ALU Arithmetic and Logic 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ALU Decoder and Output Selection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 ALU Instruction Decoder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/>
          <p:nvPr>
            <p:ph type="title"/>
          </p:nvPr>
        </p:nvSpPr>
        <p:spPr>
          <a:xfrm>
            <a:off x="2745287" y="365125"/>
            <a:ext cx="949174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3.3 ALU Instruction Decoder (Contd.)</a:t>
            </a:r>
            <a:endParaRPr/>
          </a:p>
        </p:txBody>
      </p:sp>
      <p:sp>
        <p:nvSpPr>
          <p:cNvPr id="269" name="Google Shape;269;p9"/>
          <p:cNvSpPr txBox="1"/>
          <p:nvPr>
            <p:ph idx="1" type="body"/>
          </p:nvPr>
        </p:nvSpPr>
        <p:spPr>
          <a:xfrm>
            <a:off x="2419199" y="1661238"/>
            <a:ext cx="7716358" cy="4665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5635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From the truth table, we can design a logic circuit.</a:t>
            </a:r>
            <a:endParaRPr/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Boolean expression for o/p is: </a:t>
            </a:r>
            <a:endParaRPr/>
          </a:p>
          <a:p>
            <a:pPr indent="0" lvl="0" marL="334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ctrl1=Inst1’Inst2’, ctrl2=Inst1’Inst2, </a:t>
            </a:r>
            <a:endParaRPr/>
          </a:p>
          <a:p>
            <a:pPr indent="0" lvl="0" marL="334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  	ctrl3=Inst1Inst2’ and ctrl4=Inst1Inst2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arithmetic and logic function section performs all operations at the same time</a:t>
            </a:r>
            <a:endParaRPr/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 we use the controller to select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output we want</a:t>
            </a:r>
            <a:endParaRPr/>
          </a:p>
        </p:txBody>
      </p:sp>
      <p:sp>
        <p:nvSpPr>
          <p:cNvPr id="270" name="Google Shape;27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1" name="Google Shape;271;p9"/>
          <p:cNvGrpSpPr/>
          <p:nvPr/>
        </p:nvGrpSpPr>
        <p:grpSpPr>
          <a:xfrm>
            <a:off x="9029700" y="2334988"/>
            <a:ext cx="2743200" cy="2618791"/>
            <a:chOff x="5548023" y="2776016"/>
            <a:chExt cx="2958649" cy="2547194"/>
          </a:xfrm>
        </p:grpSpPr>
        <p:cxnSp>
          <p:nvCxnSpPr>
            <p:cNvPr id="272" name="Google Shape;272;p9"/>
            <p:cNvCxnSpPr/>
            <p:nvPr/>
          </p:nvCxnSpPr>
          <p:spPr>
            <a:xfrm>
              <a:off x="7020967" y="4516189"/>
              <a:ext cx="514574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9"/>
            <p:cNvCxnSpPr/>
            <p:nvPr/>
          </p:nvCxnSpPr>
          <p:spPr>
            <a:xfrm flipH="1" rot="10800000">
              <a:off x="6467327" y="3571876"/>
              <a:ext cx="315888" cy="223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9"/>
            <p:cNvCxnSpPr/>
            <p:nvPr/>
          </p:nvCxnSpPr>
          <p:spPr>
            <a:xfrm>
              <a:off x="7020967" y="3572992"/>
              <a:ext cx="514574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9"/>
            <p:cNvCxnSpPr/>
            <p:nvPr/>
          </p:nvCxnSpPr>
          <p:spPr>
            <a:xfrm>
              <a:off x="7020967" y="3248174"/>
              <a:ext cx="514574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9"/>
            <p:cNvCxnSpPr/>
            <p:nvPr/>
          </p:nvCxnSpPr>
          <p:spPr>
            <a:xfrm>
              <a:off x="7020967" y="2923357"/>
              <a:ext cx="514574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9"/>
            <p:cNvCxnSpPr/>
            <p:nvPr/>
          </p:nvCxnSpPr>
          <p:spPr>
            <a:xfrm rot="10800000">
              <a:off x="6472908" y="2913310"/>
              <a:ext cx="2232" cy="197457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8" name="Google Shape;278;p9"/>
            <p:cNvSpPr/>
            <p:nvPr/>
          </p:nvSpPr>
          <p:spPr>
            <a:xfrm rot="5400000">
              <a:off x="6736333" y="2810619"/>
              <a:ext cx="302493" cy="23328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 rot="5400000">
              <a:off x="6736333" y="3135437"/>
              <a:ext cx="302494" cy="23328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80" name="Google Shape;280;p9"/>
            <p:cNvGrpSpPr/>
            <p:nvPr/>
          </p:nvGrpSpPr>
          <p:grpSpPr>
            <a:xfrm>
              <a:off x="7529959" y="2811736"/>
              <a:ext cx="303609" cy="562570"/>
              <a:chOff x="0" y="0"/>
              <a:chExt cx="272" cy="504"/>
            </a:xfrm>
          </p:grpSpPr>
          <p:sp>
            <p:nvSpPr>
              <p:cNvPr id="281" name="Google Shape;281;p9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282" name="Google Shape;282;p9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3" name="Google Shape;283;p9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84" name="Google Shape;284;p9"/>
            <p:cNvGrpSpPr/>
            <p:nvPr/>
          </p:nvGrpSpPr>
          <p:grpSpPr>
            <a:xfrm>
              <a:off x="7529959" y="3461371"/>
              <a:ext cx="303609" cy="562570"/>
              <a:chOff x="0" y="0"/>
              <a:chExt cx="272" cy="504"/>
            </a:xfrm>
          </p:grpSpPr>
          <p:sp>
            <p:nvSpPr>
              <p:cNvPr id="285" name="Google Shape;285;p9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286" name="Google Shape;286;p9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7" name="Google Shape;287;p9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>
              <a:off x="7529959" y="4111005"/>
              <a:ext cx="303609" cy="562570"/>
              <a:chOff x="0" y="0"/>
              <a:chExt cx="272" cy="504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290" name="Google Shape;290;p9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1" name="Google Shape;291;p9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92" name="Google Shape;292;p9"/>
            <p:cNvGrpSpPr/>
            <p:nvPr/>
          </p:nvGrpSpPr>
          <p:grpSpPr>
            <a:xfrm>
              <a:off x="7529959" y="4760640"/>
              <a:ext cx="303609" cy="562570"/>
              <a:chOff x="0" y="0"/>
              <a:chExt cx="272" cy="504"/>
            </a:xfrm>
          </p:grpSpPr>
          <p:sp>
            <p:nvSpPr>
              <p:cNvPr id="293" name="Google Shape;293;p9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294" name="Google Shape;294;p9"/>
              <p:cNvCxnSpPr/>
              <p:nvPr/>
            </p:nvCxnSpPr>
            <p:spPr>
              <a:xfrm>
                <a:off x="0" y="10"/>
                <a:ext cx="1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5" name="Google Shape;295;p9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296" name="Google Shape;296;p9"/>
            <p:cNvSpPr/>
            <p:nvPr/>
          </p:nvSpPr>
          <p:spPr>
            <a:xfrm rot="5400000">
              <a:off x="6746937" y="3471974"/>
              <a:ext cx="302493" cy="232172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297" name="Google Shape;297;p9"/>
            <p:cNvCxnSpPr/>
            <p:nvPr/>
          </p:nvCxnSpPr>
          <p:spPr>
            <a:xfrm>
              <a:off x="5989588" y="2922240"/>
              <a:ext cx="78692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8" name="Google Shape;298;p9"/>
            <p:cNvSpPr/>
            <p:nvPr/>
          </p:nvSpPr>
          <p:spPr>
            <a:xfrm>
              <a:off x="6997527" y="2876476"/>
              <a:ext cx="90413" cy="85948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6997527" y="3201294"/>
              <a:ext cx="90413" cy="87064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6997527" y="3537273"/>
              <a:ext cx="90413" cy="85948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6997527" y="4468193"/>
              <a:ext cx="90413" cy="87064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302" name="Google Shape;302;p9"/>
            <p:cNvCxnSpPr/>
            <p:nvPr/>
          </p:nvCxnSpPr>
          <p:spPr>
            <a:xfrm flipH="1" rot="10800000">
              <a:off x="5997402" y="3259336"/>
              <a:ext cx="779115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9"/>
            <p:cNvCxnSpPr/>
            <p:nvPr/>
          </p:nvCxnSpPr>
          <p:spPr>
            <a:xfrm flipH="1" rot="10800000">
              <a:off x="6467326" y="4233788"/>
              <a:ext cx="1068214" cy="446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9"/>
            <p:cNvCxnSpPr/>
            <p:nvPr/>
          </p:nvCxnSpPr>
          <p:spPr>
            <a:xfrm flipH="1" rot="10800000">
              <a:off x="6467326" y="4894585"/>
              <a:ext cx="1068214" cy="446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" name="Google Shape;305;p9"/>
            <p:cNvCxnSpPr/>
            <p:nvPr/>
          </p:nvCxnSpPr>
          <p:spPr>
            <a:xfrm rot="10800000">
              <a:off x="6240736" y="3248174"/>
              <a:ext cx="1116" cy="19756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6" name="Google Shape;306;p9"/>
            <p:cNvCxnSpPr/>
            <p:nvPr/>
          </p:nvCxnSpPr>
          <p:spPr>
            <a:xfrm flipH="1" rot="10800000">
              <a:off x="6231806" y="5208240"/>
              <a:ext cx="1303734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9"/>
            <p:cNvCxnSpPr/>
            <p:nvPr/>
          </p:nvCxnSpPr>
          <p:spPr>
            <a:xfrm flipH="1" rot="10800000">
              <a:off x="6231807" y="4516189"/>
              <a:ext cx="554756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9"/>
            <p:cNvCxnSpPr/>
            <p:nvPr/>
          </p:nvCxnSpPr>
          <p:spPr>
            <a:xfrm flipH="1" rot="10800000">
              <a:off x="6231806" y="3887763"/>
              <a:ext cx="1303734" cy="446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9"/>
            <p:cNvCxnSpPr/>
            <p:nvPr/>
          </p:nvCxnSpPr>
          <p:spPr>
            <a:xfrm>
              <a:off x="7835801" y="5035228"/>
              <a:ext cx="323701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0" name="Google Shape;310;p9"/>
            <p:cNvCxnSpPr/>
            <p:nvPr/>
          </p:nvCxnSpPr>
          <p:spPr>
            <a:xfrm>
              <a:off x="7835801" y="4396756"/>
              <a:ext cx="323701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" name="Google Shape;311;p9"/>
            <p:cNvCxnSpPr/>
            <p:nvPr/>
          </p:nvCxnSpPr>
          <p:spPr>
            <a:xfrm>
              <a:off x="7835801" y="3747121"/>
              <a:ext cx="323701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" name="Google Shape;312;p9"/>
            <p:cNvCxnSpPr/>
            <p:nvPr/>
          </p:nvCxnSpPr>
          <p:spPr>
            <a:xfrm>
              <a:off x="7824639" y="3097486"/>
              <a:ext cx="324818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3" name="Google Shape;313;p9"/>
            <p:cNvSpPr/>
            <p:nvPr/>
          </p:nvSpPr>
          <p:spPr>
            <a:xfrm>
              <a:off x="5548023" y="2818306"/>
              <a:ext cx="434414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Inst1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5548023" y="3148705"/>
              <a:ext cx="434414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Inst2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8131569" y="2996900"/>
              <a:ext cx="375103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ctrl1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8131569" y="3639837"/>
              <a:ext cx="375103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ctrl2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8131569" y="4282775"/>
              <a:ext cx="375103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ctrl3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8131569" y="4925712"/>
              <a:ext cx="375103" cy="2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ctrl4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 rot="5400000">
              <a:off x="6732427" y="4376105"/>
              <a:ext cx="302493" cy="232172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320" name="Google Shape;320;p9"/>
          <p:cNvSpPr txBox="1"/>
          <p:nvPr/>
        </p:nvSpPr>
        <p:spPr>
          <a:xfrm>
            <a:off x="410441" y="2367290"/>
            <a:ext cx="203142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ALU Arithmetic and Logic 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ALU Decoder and Output Selection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 ALU Instruction Decoder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 txBox="1"/>
          <p:nvPr>
            <p:ph type="title"/>
          </p:nvPr>
        </p:nvSpPr>
        <p:spPr>
          <a:xfrm>
            <a:off x="2633598" y="365125"/>
            <a:ext cx="91981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4. ALU Output Multiplexor</a:t>
            </a:r>
            <a:endParaRPr/>
          </a:p>
        </p:txBody>
      </p:sp>
      <p:sp>
        <p:nvSpPr>
          <p:cNvPr id="326" name="Google Shape;326;p10"/>
          <p:cNvSpPr txBox="1"/>
          <p:nvPr>
            <p:ph idx="1" type="body"/>
          </p:nvPr>
        </p:nvSpPr>
        <p:spPr>
          <a:xfrm>
            <a:off x="2414275" y="1594656"/>
            <a:ext cx="608214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5635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we have a collection of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gates, connected to an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gate, we have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logic circuit for 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multiplexer</a:t>
            </a:r>
            <a:endParaRPr/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Many to one</a:t>
            </a:r>
            <a:endParaRPr/>
          </a:p>
          <a:p>
            <a:pPr indent="-228600" lvl="0" marL="563562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Selects the outputs with the help of decoder outputs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28" name="Google Shape;328;p10"/>
          <p:cNvGrpSpPr/>
          <p:nvPr/>
        </p:nvGrpSpPr>
        <p:grpSpPr>
          <a:xfrm>
            <a:off x="8173665" y="1594655"/>
            <a:ext cx="3859036" cy="3876504"/>
            <a:chOff x="4807313" y="2351656"/>
            <a:chExt cx="3859422" cy="3876504"/>
          </a:xfrm>
        </p:grpSpPr>
        <p:cxnSp>
          <p:nvCxnSpPr>
            <p:cNvPr id="329" name="Google Shape;329;p10"/>
            <p:cNvCxnSpPr/>
            <p:nvPr/>
          </p:nvCxnSpPr>
          <p:spPr>
            <a:xfrm flipH="1" rot="10800000">
              <a:off x="7134821" y="3571875"/>
              <a:ext cx="168548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10"/>
            <p:cNvSpPr/>
            <p:nvPr/>
          </p:nvSpPr>
          <p:spPr>
            <a:xfrm>
              <a:off x="7910116" y="3673242"/>
              <a:ext cx="75661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C55A11"/>
                  </a:solidFill>
                  <a:latin typeface="Verdana"/>
                  <a:ea typeface="Verdana"/>
                  <a:cs typeface="Verdana"/>
                  <a:sym typeface="Verdana"/>
                </a:rPr>
                <a:t>Output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10"/>
            <p:cNvGrpSpPr/>
            <p:nvPr/>
          </p:nvGrpSpPr>
          <p:grpSpPr>
            <a:xfrm>
              <a:off x="6615783" y="2559472"/>
              <a:ext cx="303609" cy="562570"/>
              <a:chOff x="0" y="0"/>
              <a:chExt cx="272" cy="504"/>
            </a:xfrm>
          </p:grpSpPr>
          <p:sp>
            <p:nvSpPr>
              <p:cNvPr id="332" name="Google Shape;332;p10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333" name="Google Shape;333;p10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4" name="Google Shape;334;p10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335" name="Google Shape;335;p10"/>
            <p:cNvGrpSpPr/>
            <p:nvPr/>
          </p:nvGrpSpPr>
          <p:grpSpPr>
            <a:xfrm>
              <a:off x="6615783" y="3202410"/>
              <a:ext cx="303609" cy="562570"/>
              <a:chOff x="0" y="0"/>
              <a:chExt cx="272" cy="504"/>
            </a:xfrm>
          </p:grpSpPr>
          <p:sp>
            <p:nvSpPr>
              <p:cNvPr id="336" name="Google Shape;336;p10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337" name="Google Shape;337;p10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8" name="Google Shape;338;p10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339" name="Google Shape;339;p10"/>
            <p:cNvGrpSpPr/>
            <p:nvPr/>
          </p:nvGrpSpPr>
          <p:grpSpPr>
            <a:xfrm>
              <a:off x="6615783" y="3845347"/>
              <a:ext cx="303609" cy="562570"/>
              <a:chOff x="0" y="0"/>
              <a:chExt cx="272" cy="504"/>
            </a:xfrm>
          </p:grpSpPr>
          <p:sp>
            <p:nvSpPr>
              <p:cNvPr id="340" name="Google Shape;340;p10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341" name="Google Shape;341;p10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2" name="Google Shape;342;p10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343" name="Google Shape;343;p10"/>
            <p:cNvGrpSpPr/>
            <p:nvPr/>
          </p:nvGrpSpPr>
          <p:grpSpPr>
            <a:xfrm>
              <a:off x="6615783" y="4488285"/>
              <a:ext cx="303609" cy="562570"/>
              <a:chOff x="0" y="0"/>
              <a:chExt cx="272" cy="504"/>
            </a:xfrm>
          </p:grpSpPr>
          <p:sp>
            <p:nvSpPr>
              <p:cNvPr id="344" name="Google Shape;344;p10"/>
              <p:cNvSpPr/>
              <p:nvPr/>
            </p:nvSpPr>
            <p:spPr>
              <a:xfrm>
                <a:off x="3" y="0"/>
                <a:ext cx="269" cy="2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345" name="Google Shape;345;p10"/>
              <p:cNvCxnSpPr/>
              <p:nvPr/>
            </p:nvCxnSpPr>
            <p:spPr>
              <a:xfrm>
                <a:off x="0" y="10"/>
                <a:ext cx="0" cy="4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6" name="Google Shape;346;p10"/>
              <p:cNvSpPr/>
              <p:nvPr/>
            </p:nvSpPr>
            <p:spPr>
              <a:xfrm flipH="1" rot="10800000">
                <a:off x="2" y="241"/>
                <a:ext cx="270" cy="261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cxnSp>
          <p:nvCxnSpPr>
            <p:cNvPr id="347" name="Google Shape;347;p10"/>
            <p:cNvCxnSpPr/>
            <p:nvPr/>
          </p:nvCxnSpPr>
          <p:spPr>
            <a:xfrm flipH="1" rot="10800000">
              <a:off x="6920508" y="2830711"/>
              <a:ext cx="231056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8" name="Google Shape;348;p10"/>
            <p:cNvCxnSpPr/>
            <p:nvPr/>
          </p:nvCxnSpPr>
          <p:spPr>
            <a:xfrm flipH="1" rot="10800000">
              <a:off x="6920508" y="4124400"/>
              <a:ext cx="114970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10"/>
            <p:cNvCxnSpPr/>
            <p:nvPr/>
          </p:nvCxnSpPr>
          <p:spPr>
            <a:xfrm>
              <a:off x="6920508" y="4768453"/>
              <a:ext cx="231056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10"/>
            <p:cNvCxnSpPr/>
            <p:nvPr/>
          </p:nvCxnSpPr>
          <p:spPr>
            <a:xfrm flipH="1" rot="10800000">
              <a:off x="6920508" y="3481463"/>
              <a:ext cx="114970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1" name="Google Shape;351;p10"/>
            <p:cNvCxnSpPr/>
            <p:nvPr/>
          </p:nvCxnSpPr>
          <p:spPr>
            <a:xfrm flipH="1">
              <a:off x="7143750" y="2839641"/>
              <a:ext cx="1117" cy="72218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10"/>
            <p:cNvCxnSpPr/>
            <p:nvPr/>
          </p:nvCxnSpPr>
          <p:spPr>
            <a:xfrm flipH="1">
              <a:off x="7036594" y="3473649"/>
              <a:ext cx="1117" cy="24891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10"/>
            <p:cNvCxnSpPr/>
            <p:nvPr/>
          </p:nvCxnSpPr>
          <p:spPr>
            <a:xfrm>
              <a:off x="7035478" y="3856509"/>
              <a:ext cx="1116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10"/>
            <p:cNvCxnSpPr/>
            <p:nvPr/>
          </p:nvCxnSpPr>
          <p:spPr>
            <a:xfrm flipH="1">
              <a:off x="7143750" y="4036219"/>
              <a:ext cx="1117" cy="7233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10"/>
            <p:cNvCxnSpPr/>
            <p:nvPr/>
          </p:nvCxnSpPr>
          <p:spPr>
            <a:xfrm flipH="1" rot="10800000">
              <a:off x="7134821" y="4026173"/>
              <a:ext cx="168548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10"/>
            <p:cNvCxnSpPr/>
            <p:nvPr/>
          </p:nvCxnSpPr>
          <p:spPr>
            <a:xfrm>
              <a:off x="7035478" y="3722564"/>
              <a:ext cx="321469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10"/>
            <p:cNvCxnSpPr/>
            <p:nvPr/>
          </p:nvCxnSpPr>
          <p:spPr>
            <a:xfrm>
              <a:off x="7035478" y="3865439"/>
              <a:ext cx="321469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58" name="Google Shape;358;p10"/>
            <p:cNvGrpSpPr/>
            <p:nvPr/>
          </p:nvGrpSpPr>
          <p:grpSpPr>
            <a:xfrm>
              <a:off x="7206258" y="3509367"/>
              <a:ext cx="357188" cy="580430"/>
              <a:chOff x="0" y="0"/>
              <a:chExt cx="320" cy="520"/>
            </a:xfrm>
          </p:grpSpPr>
          <p:sp>
            <p:nvSpPr>
              <p:cNvPr id="359" name="Google Shape;359;p10"/>
              <p:cNvSpPr/>
              <p:nvPr/>
            </p:nvSpPr>
            <p:spPr>
              <a:xfrm>
                <a:off x="13" y="4"/>
                <a:ext cx="307" cy="264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60" name="Google Shape;360;p10"/>
              <p:cNvSpPr/>
              <p:nvPr/>
            </p:nvSpPr>
            <p:spPr>
              <a:xfrm flipH="1" rot="10800000">
                <a:off x="13" y="249"/>
                <a:ext cx="307" cy="264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61" name="Google Shape;361;p10"/>
              <p:cNvSpPr/>
              <p:nvPr/>
            </p:nvSpPr>
            <p:spPr>
              <a:xfrm>
                <a:off x="0" y="0"/>
                <a:ext cx="139" cy="25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758" y="0"/>
                      <a:pt x="21358" y="9599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 flipH="1" rot="10800000">
                <a:off x="0" y="255"/>
                <a:ext cx="139" cy="26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cxnSp>
          <p:nvCxnSpPr>
            <p:cNvPr id="363" name="Google Shape;363;p10"/>
            <p:cNvCxnSpPr/>
            <p:nvPr/>
          </p:nvCxnSpPr>
          <p:spPr>
            <a:xfrm>
              <a:off x="7562329" y="3802931"/>
              <a:ext cx="321469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10"/>
            <p:cNvCxnSpPr/>
            <p:nvPr/>
          </p:nvCxnSpPr>
          <p:spPr>
            <a:xfrm>
              <a:off x="6133580" y="4920258"/>
              <a:ext cx="1116" cy="61614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10"/>
            <p:cNvCxnSpPr/>
            <p:nvPr/>
          </p:nvCxnSpPr>
          <p:spPr>
            <a:xfrm>
              <a:off x="5865689" y="4285135"/>
              <a:ext cx="1116" cy="125127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6" name="Google Shape;366;p10"/>
            <p:cNvCxnSpPr/>
            <p:nvPr/>
          </p:nvCxnSpPr>
          <p:spPr>
            <a:xfrm>
              <a:off x="6124650" y="4911328"/>
              <a:ext cx="482203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10"/>
            <p:cNvCxnSpPr/>
            <p:nvPr/>
          </p:nvCxnSpPr>
          <p:spPr>
            <a:xfrm>
              <a:off x="5856759" y="4285134"/>
              <a:ext cx="750094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10"/>
            <p:cNvCxnSpPr/>
            <p:nvPr/>
          </p:nvCxnSpPr>
          <p:spPr>
            <a:xfrm>
              <a:off x="5606728" y="3615408"/>
              <a:ext cx="1000125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10"/>
            <p:cNvCxnSpPr/>
            <p:nvPr/>
          </p:nvCxnSpPr>
          <p:spPr>
            <a:xfrm>
              <a:off x="5338837" y="2990330"/>
              <a:ext cx="1268016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10"/>
            <p:cNvCxnSpPr/>
            <p:nvPr/>
          </p:nvCxnSpPr>
          <p:spPr>
            <a:xfrm>
              <a:off x="5606728" y="3616523"/>
              <a:ext cx="1116" cy="191988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10"/>
            <p:cNvCxnSpPr/>
            <p:nvPr/>
          </p:nvCxnSpPr>
          <p:spPr>
            <a:xfrm>
              <a:off x="5347767" y="2981400"/>
              <a:ext cx="1116" cy="25550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2" name="Google Shape;372;p10"/>
            <p:cNvSpPr/>
            <p:nvPr/>
          </p:nvSpPr>
          <p:spPr>
            <a:xfrm>
              <a:off x="4884498" y="5612606"/>
              <a:ext cx="1716816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Control lines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from decoder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3" name="Google Shape;373;p10"/>
            <p:cNvCxnSpPr/>
            <p:nvPr/>
          </p:nvCxnSpPr>
          <p:spPr>
            <a:xfrm>
              <a:off x="5115595" y="3329658"/>
              <a:ext cx="1491258" cy="1116"/>
            </a:xfrm>
            <a:prstGeom prst="straightConnector1">
              <a:avLst/>
            </a:prstGeom>
            <a:noFill/>
            <a:ln cap="flat" cmpd="sng" w="25400">
              <a:solidFill>
                <a:srgbClr val="B761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10"/>
            <p:cNvCxnSpPr/>
            <p:nvPr/>
          </p:nvCxnSpPr>
          <p:spPr>
            <a:xfrm>
              <a:off x="5115595" y="3990455"/>
              <a:ext cx="1491258" cy="1116"/>
            </a:xfrm>
            <a:prstGeom prst="straightConnector1">
              <a:avLst/>
            </a:prstGeom>
            <a:noFill/>
            <a:ln cap="flat" cmpd="sng" w="25400">
              <a:solidFill>
                <a:srgbClr val="B761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10"/>
            <p:cNvCxnSpPr/>
            <p:nvPr/>
          </p:nvCxnSpPr>
          <p:spPr>
            <a:xfrm>
              <a:off x="5115595" y="2686720"/>
              <a:ext cx="1491258" cy="1116"/>
            </a:xfrm>
            <a:prstGeom prst="straightConnector1">
              <a:avLst/>
            </a:prstGeom>
            <a:noFill/>
            <a:ln cap="flat" cmpd="sng" w="25400">
              <a:solidFill>
                <a:srgbClr val="B761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10"/>
            <p:cNvCxnSpPr/>
            <p:nvPr/>
          </p:nvCxnSpPr>
          <p:spPr>
            <a:xfrm>
              <a:off x="5115595" y="4598789"/>
              <a:ext cx="1491258" cy="1117"/>
            </a:xfrm>
            <a:prstGeom prst="straightConnector1">
              <a:avLst/>
            </a:prstGeom>
            <a:noFill/>
            <a:ln cap="flat" cmpd="sng" w="25400">
              <a:solidFill>
                <a:srgbClr val="B761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7" name="Google Shape;377;p10"/>
            <p:cNvSpPr/>
            <p:nvPr/>
          </p:nvSpPr>
          <p:spPr>
            <a:xfrm rot="-5400000">
              <a:off x="3487400" y="3671568"/>
              <a:ext cx="290143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B76100"/>
                  </a:solidFill>
                  <a:latin typeface="Verdana"/>
                  <a:ea typeface="Verdana"/>
                  <a:cs typeface="Verdana"/>
                  <a:sym typeface="Verdana"/>
                </a:rPr>
                <a:t>Lines from ALU logic Block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8" name="Google Shape;378;p10"/>
          <p:cNvSpPr txBox="1"/>
          <p:nvPr/>
        </p:nvSpPr>
        <p:spPr>
          <a:xfrm>
            <a:off x="8332952" y="4997913"/>
            <a:ext cx="27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Lines form Decoder output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ALU Output Multiplexor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Half Adder (HA)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6.Full Adder (FA)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13549745" y="1546572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"/>
          <p:cNvSpPr txBox="1"/>
          <p:nvPr>
            <p:ph type="title"/>
          </p:nvPr>
        </p:nvSpPr>
        <p:spPr>
          <a:xfrm>
            <a:off x="2660078" y="299811"/>
            <a:ext cx="92963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5. Half Adder (HA)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1"/>
          <p:cNvSpPr txBox="1"/>
          <p:nvPr>
            <p:ph idx="1" type="body"/>
          </p:nvPr>
        </p:nvSpPr>
        <p:spPr>
          <a:xfrm>
            <a:off x="2660077" y="1825626"/>
            <a:ext cx="9296401" cy="3443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bit adder circuit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Number of inputs =	 2 (x and y ‘say’)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Number of outputs=	2 (sum and carry)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For example: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0		  0	  1	  1	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+0		+1	+0	+1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0  	  1	  1	</a:t>
            </a: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/>
              <a:t>0</a:t>
            </a:r>
            <a:endParaRPr/>
          </a:p>
        </p:txBody>
      </p:sp>
      <p:sp>
        <p:nvSpPr>
          <p:cNvPr id="387" name="Google Shape;38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8" name="Google Shape;388;p11"/>
          <p:cNvCxnSpPr/>
          <p:nvPr/>
        </p:nvCxnSpPr>
        <p:spPr>
          <a:xfrm>
            <a:off x="6396223" y="4240238"/>
            <a:ext cx="60491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9" name="Google Shape;389;p11"/>
          <p:cNvCxnSpPr/>
          <p:nvPr/>
        </p:nvCxnSpPr>
        <p:spPr>
          <a:xfrm>
            <a:off x="3186111" y="4240238"/>
            <a:ext cx="60491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0" name="Google Shape;390;p11"/>
          <p:cNvCxnSpPr/>
          <p:nvPr/>
        </p:nvCxnSpPr>
        <p:spPr>
          <a:xfrm>
            <a:off x="4478328" y="4240238"/>
            <a:ext cx="60491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11"/>
          <p:cNvCxnSpPr/>
          <p:nvPr/>
        </p:nvCxnSpPr>
        <p:spPr>
          <a:xfrm>
            <a:off x="5398924" y="4240238"/>
            <a:ext cx="60491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2" name="Google Shape;392;p11"/>
          <p:cNvCxnSpPr/>
          <p:nvPr/>
        </p:nvCxnSpPr>
        <p:spPr>
          <a:xfrm flipH="1" rot="10800000">
            <a:off x="5397111" y="4586068"/>
            <a:ext cx="316523" cy="85588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3" name="Google Shape;393;p11"/>
          <p:cNvSpPr txBox="1"/>
          <p:nvPr/>
        </p:nvSpPr>
        <p:spPr>
          <a:xfrm>
            <a:off x="4968283" y="5441951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4" name="Google Shape;394;p11"/>
          <p:cNvCxnSpPr/>
          <p:nvPr/>
        </p:nvCxnSpPr>
        <p:spPr>
          <a:xfrm rot="10800000">
            <a:off x="6507342" y="4603685"/>
            <a:ext cx="191336" cy="50834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5" name="Google Shape;395;p11"/>
          <p:cNvSpPr txBox="1"/>
          <p:nvPr/>
        </p:nvSpPr>
        <p:spPr>
          <a:xfrm>
            <a:off x="6236788" y="5148701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6" name="Google Shape;396;p11"/>
          <p:cNvGraphicFramePr/>
          <p:nvPr/>
        </p:nvGraphicFramePr>
        <p:xfrm>
          <a:off x="7365721" y="37837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{A001BF8F-9959-4D8C-B072-E1221EB7D13B}</a:tableStyleId>
              </a:tblPr>
              <a:tblGrid>
                <a:gridCol w="969400"/>
                <a:gridCol w="969400"/>
                <a:gridCol w="969400"/>
                <a:gridCol w="1090550"/>
              </a:tblGrid>
              <a:tr h="3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Sum(s)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Carry(c)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97" name="Google Shape;397;p11"/>
          <p:cNvSpPr txBox="1"/>
          <p:nvPr/>
        </p:nvSpPr>
        <p:spPr>
          <a:xfrm>
            <a:off x="7875675" y="3419694"/>
            <a:ext cx="671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9901424" y="3419694"/>
            <a:ext cx="9284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9670478" y="1825625"/>
            <a:ext cx="914400" cy="914400"/>
          </a:xfrm>
          <a:prstGeom prst="rect">
            <a:avLst/>
          </a:prstGeom>
          <a:solidFill>
            <a:srgbClr val="C0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0" name="Google Shape;400;p11"/>
          <p:cNvCxnSpPr/>
          <p:nvPr/>
        </p:nvCxnSpPr>
        <p:spPr>
          <a:xfrm>
            <a:off x="9213278" y="2018413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1" name="Google Shape;401;p11"/>
          <p:cNvCxnSpPr/>
          <p:nvPr/>
        </p:nvCxnSpPr>
        <p:spPr>
          <a:xfrm>
            <a:off x="9213278" y="2566221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2" name="Google Shape;402;p11"/>
          <p:cNvCxnSpPr/>
          <p:nvPr/>
        </p:nvCxnSpPr>
        <p:spPr>
          <a:xfrm>
            <a:off x="10601290" y="2014846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11"/>
          <p:cNvCxnSpPr/>
          <p:nvPr/>
        </p:nvCxnSpPr>
        <p:spPr>
          <a:xfrm>
            <a:off x="10584878" y="2531677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11"/>
          <p:cNvSpPr txBox="1"/>
          <p:nvPr/>
        </p:nvSpPr>
        <p:spPr>
          <a:xfrm>
            <a:off x="9868632" y="2098159"/>
            <a:ext cx="518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8913196" y="18256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8921971" y="236368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11120637" y="1825010"/>
            <a:ext cx="2744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11064381" y="2346467"/>
            <a:ext cx="287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ALU Output Multiplexor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Half Adder (HA)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6.Full Adder (FA)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"/>
          <p:cNvSpPr txBox="1"/>
          <p:nvPr>
            <p:ph type="title"/>
          </p:nvPr>
        </p:nvSpPr>
        <p:spPr>
          <a:xfrm>
            <a:off x="2630387" y="365125"/>
            <a:ext cx="92637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5. Half Adder (Contd…)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12"/>
          <p:cNvSpPr txBox="1"/>
          <p:nvPr>
            <p:ph idx="1" type="body"/>
          </p:nvPr>
        </p:nvSpPr>
        <p:spPr>
          <a:xfrm>
            <a:off x="2657441" y="1825625"/>
            <a:ext cx="390269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Boolean expression for half adder output from truth table is as;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Sum(s)=	x’y+xy’ 			 =(x⊕y)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Carry(c)=xy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 txBox="1"/>
          <p:nvPr>
            <p:ph idx="2" type="body"/>
          </p:nvPr>
        </p:nvSpPr>
        <p:spPr>
          <a:xfrm>
            <a:off x="671253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Logic diagram</a:t>
            </a:r>
            <a:endParaRPr/>
          </a:p>
        </p:txBody>
      </p:sp>
      <p:sp>
        <p:nvSpPr>
          <p:cNvPr id="417" name="Google Shape;41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18" name="Google Shape;418;p12"/>
          <p:cNvGrpSpPr/>
          <p:nvPr/>
        </p:nvGrpSpPr>
        <p:grpSpPr>
          <a:xfrm>
            <a:off x="8505488" y="2902382"/>
            <a:ext cx="1599238" cy="724319"/>
            <a:chOff x="3675121" y="5435203"/>
            <a:chExt cx="1599238" cy="724319"/>
          </a:xfrm>
        </p:grpSpPr>
        <p:cxnSp>
          <p:nvCxnSpPr>
            <p:cNvPr id="419" name="Google Shape;419;p12"/>
            <p:cNvCxnSpPr/>
            <p:nvPr/>
          </p:nvCxnSpPr>
          <p:spPr>
            <a:xfrm flipH="1" rot="10800000">
              <a:off x="3675121" y="5984024"/>
              <a:ext cx="415107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" name="Google Shape;420;p12"/>
            <p:cNvCxnSpPr/>
            <p:nvPr/>
          </p:nvCxnSpPr>
          <p:spPr>
            <a:xfrm flipH="1" rot="10800000">
              <a:off x="3675121" y="5620676"/>
              <a:ext cx="415107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" name="Google Shape;421;p12"/>
            <p:cNvCxnSpPr/>
            <p:nvPr/>
          </p:nvCxnSpPr>
          <p:spPr>
            <a:xfrm flipH="1" rot="10800000">
              <a:off x="5010436" y="5800026"/>
              <a:ext cx="263923" cy="90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2" name="Google Shape;422;p12"/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rect b="b" l="l" r="r" t="t"/>
              <a:pathLst>
                <a:path extrusionOk="0" h="10000" w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p12"/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rect b="b" l="l" r="r" t="t"/>
              <a:pathLst>
                <a:path extrusionOk="0" h="10000" w="2211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4" name="Google Shape;424;p12"/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rect b="b" l="l" r="r" t="t"/>
              <a:pathLst>
                <a:path extrusionOk="0" h="10000" w="2211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5" name="Google Shape;425;p12"/>
          <p:cNvGrpSpPr/>
          <p:nvPr/>
        </p:nvGrpSpPr>
        <p:grpSpPr>
          <a:xfrm>
            <a:off x="8538051" y="4439366"/>
            <a:ext cx="1566675" cy="741118"/>
            <a:chOff x="4042896" y="1715660"/>
            <a:chExt cx="1566675" cy="741118"/>
          </a:xfrm>
        </p:grpSpPr>
        <p:cxnSp>
          <p:nvCxnSpPr>
            <p:cNvPr id="426" name="Google Shape;426;p12"/>
            <p:cNvCxnSpPr/>
            <p:nvPr/>
          </p:nvCxnSpPr>
          <p:spPr>
            <a:xfrm flipH="1" rot="10800000">
              <a:off x="4042896" y="2266407"/>
              <a:ext cx="415107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" name="Google Shape;427;p12"/>
            <p:cNvCxnSpPr/>
            <p:nvPr/>
          </p:nvCxnSpPr>
          <p:spPr>
            <a:xfrm flipH="1" rot="10800000">
              <a:off x="4042896" y="1903059"/>
              <a:ext cx="415107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" name="Google Shape;428;p12"/>
            <p:cNvCxnSpPr/>
            <p:nvPr/>
          </p:nvCxnSpPr>
          <p:spPr>
            <a:xfrm flipH="1" rot="10800000">
              <a:off x="5346318" y="2086964"/>
              <a:ext cx="263253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9" name="Google Shape;429;p12"/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430" name="Google Shape;430;p12"/>
          <p:cNvCxnSpPr/>
          <p:nvPr/>
        </p:nvCxnSpPr>
        <p:spPr>
          <a:xfrm>
            <a:off x="7480574" y="3087855"/>
            <a:ext cx="1024914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1" name="Google Shape;431;p12"/>
          <p:cNvCxnSpPr/>
          <p:nvPr/>
        </p:nvCxnSpPr>
        <p:spPr>
          <a:xfrm flipH="1" rot="10800000">
            <a:off x="10104726" y="4806740"/>
            <a:ext cx="931673" cy="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2" name="Google Shape;432;p12"/>
          <p:cNvCxnSpPr/>
          <p:nvPr/>
        </p:nvCxnSpPr>
        <p:spPr>
          <a:xfrm>
            <a:off x="10104726" y="3261053"/>
            <a:ext cx="931673" cy="312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3" name="Google Shape;433;p12"/>
          <p:cNvCxnSpPr/>
          <p:nvPr/>
        </p:nvCxnSpPr>
        <p:spPr>
          <a:xfrm>
            <a:off x="7480574" y="3451203"/>
            <a:ext cx="10201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12"/>
          <p:cNvCxnSpPr/>
          <p:nvPr/>
        </p:nvCxnSpPr>
        <p:spPr>
          <a:xfrm flipH="1" rot="-5400000">
            <a:off x="7520088" y="3601307"/>
            <a:ext cx="1539000" cy="512100"/>
          </a:xfrm>
          <a:prstGeom prst="bentConnector3">
            <a:avLst>
              <a:gd fmla="val 10027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12"/>
          <p:cNvCxnSpPr/>
          <p:nvPr/>
        </p:nvCxnSpPr>
        <p:spPr>
          <a:xfrm flipH="1" rot="-5400000">
            <a:off x="7322533" y="3778203"/>
            <a:ext cx="1534800" cy="880800"/>
          </a:xfrm>
          <a:prstGeom prst="bentConnector3">
            <a:avLst>
              <a:gd fmla="val 101327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6" name="Google Shape;436;p12"/>
          <p:cNvSpPr txBox="1"/>
          <p:nvPr/>
        </p:nvSpPr>
        <p:spPr>
          <a:xfrm>
            <a:off x="7124139" y="323524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7134676" y="286591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 flipH="1">
            <a:off x="11036399" y="3091422"/>
            <a:ext cx="725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11033935" y="4616624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9972764" y="436994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9867900" y="2830405"/>
            <a:ext cx="103586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(x⊕y)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ALU Output Multiplexor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Half Adder (HA)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6.Full Adder (FA)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"/>
          <p:cNvSpPr txBox="1"/>
          <p:nvPr>
            <p:ph type="title"/>
          </p:nvPr>
        </p:nvSpPr>
        <p:spPr>
          <a:xfrm>
            <a:off x="2607135" y="365125"/>
            <a:ext cx="954677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6. Full Adder (FA)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13"/>
          <p:cNvSpPr txBox="1"/>
          <p:nvPr>
            <p:ph idx="1" type="body"/>
          </p:nvPr>
        </p:nvSpPr>
        <p:spPr>
          <a:xfrm>
            <a:off x="2702503" y="1825625"/>
            <a:ext cx="411740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Three bit adder circuit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Number of input= 3(x,y and c</a:t>
            </a:r>
            <a:r>
              <a:rPr baseline="-25000" lang="en-US"/>
              <a:t>in </a:t>
            </a:r>
            <a:r>
              <a:rPr lang="en-US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Number of output =2(sum and carry)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 can be constructed using two HA and OR gate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 txBox="1"/>
          <p:nvPr>
            <p:ph idx="2" type="body"/>
          </p:nvPr>
        </p:nvSpPr>
        <p:spPr>
          <a:xfrm>
            <a:off x="6610064" y="1825625"/>
            <a:ext cx="638204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Block diagram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8095377" y="2733021"/>
            <a:ext cx="914400" cy="914400"/>
          </a:xfrm>
          <a:prstGeom prst="rect">
            <a:avLst/>
          </a:prstGeom>
          <a:solidFill>
            <a:srgbClr val="C0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2" name="Google Shape;452;p13"/>
          <p:cNvCxnSpPr/>
          <p:nvPr/>
        </p:nvCxnSpPr>
        <p:spPr>
          <a:xfrm>
            <a:off x="7638177" y="2932813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13"/>
          <p:cNvCxnSpPr/>
          <p:nvPr/>
        </p:nvCxnSpPr>
        <p:spPr>
          <a:xfrm>
            <a:off x="7638177" y="3480621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13"/>
          <p:cNvCxnSpPr/>
          <p:nvPr/>
        </p:nvCxnSpPr>
        <p:spPr>
          <a:xfrm>
            <a:off x="9026189" y="2929246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13"/>
          <p:cNvCxnSpPr/>
          <p:nvPr/>
        </p:nvCxnSpPr>
        <p:spPr>
          <a:xfrm>
            <a:off x="9009777" y="3446077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6" name="Google Shape;456;p13"/>
          <p:cNvSpPr txBox="1"/>
          <p:nvPr/>
        </p:nvSpPr>
        <p:spPr>
          <a:xfrm>
            <a:off x="8293531" y="3012559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HA-1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7338095" y="27400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13"/>
          <p:cNvSpPr txBox="1"/>
          <p:nvPr/>
        </p:nvSpPr>
        <p:spPr>
          <a:xfrm>
            <a:off x="7346870" y="327808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9136273" y="2542363"/>
            <a:ext cx="2744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9165638" y="3136793"/>
            <a:ext cx="287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10570119" y="2714631"/>
            <a:ext cx="914400" cy="914400"/>
          </a:xfrm>
          <a:prstGeom prst="rect">
            <a:avLst/>
          </a:prstGeom>
          <a:solidFill>
            <a:srgbClr val="C0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2" name="Google Shape;462;p13"/>
          <p:cNvCxnSpPr/>
          <p:nvPr/>
        </p:nvCxnSpPr>
        <p:spPr>
          <a:xfrm>
            <a:off x="9436440" y="2932813"/>
            <a:ext cx="1133679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3" name="Google Shape;463;p13"/>
          <p:cNvCxnSpPr/>
          <p:nvPr/>
        </p:nvCxnSpPr>
        <p:spPr>
          <a:xfrm>
            <a:off x="11480363" y="2890488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4" name="Google Shape;464;p13"/>
          <p:cNvCxnSpPr/>
          <p:nvPr/>
        </p:nvCxnSpPr>
        <p:spPr>
          <a:xfrm>
            <a:off x="11480363" y="3438631"/>
            <a:ext cx="457200" cy="35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5" name="Google Shape;465;p13"/>
          <p:cNvSpPr txBox="1"/>
          <p:nvPr/>
        </p:nvSpPr>
        <p:spPr>
          <a:xfrm>
            <a:off x="10723525" y="2931029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HA-2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10222542" y="260593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13"/>
          <p:cNvSpPr txBox="1"/>
          <p:nvPr/>
        </p:nvSpPr>
        <p:spPr>
          <a:xfrm>
            <a:off x="10288133" y="308031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 txBox="1"/>
          <p:nvPr/>
        </p:nvSpPr>
        <p:spPr>
          <a:xfrm>
            <a:off x="11654447" y="2548355"/>
            <a:ext cx="2744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 txBox="1"/>
          <p:nvPr/>
        </p:nvSpPr>
        <p:spPr>
          <a:xfrm>
            <a:off x="11125318" y="5456749"/>
            <a:ext cx="287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13"/>
          <p:cNvCxnSpPr/>
          <p:nvPr/>
        </p:nvCxnSpPr>
        <p:spPr>
          <a:xfrm flipH="1" rot="10800000">
            <a:off x="7646952" y="3462762"/>
            <a:ext cx="2923200" cy="507600"/>
          </a:xfrm>
          <a:prstGeom prst="bentConnector3">
            <a:avLst>
              <a:gd fmla="val 79836" name="adj1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1" name="Google Shape;471;p13"/>
          <p:cNvSpPr txBox="1"/>
          <p:nvPr/>
        </p:nvSpPr>
        <p:spPr>
          <a:xfrm>
            <a:off x="7338095" y="3774191"/>
            <a:ext cx="407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2" name="Google Shape;472;p13"/>
          <p:cNvGrpSpPr/>
          <p:nvPr/>
        </p:nvGrpSpPr>
        <p:grpSpPr>
          <a:xfrm rot="5400000">
            <a:off x="10700243" y="4567675"/>
            <a:ext cx="1124271" cy="670644"/>
            <a:chOff x="3675121" y="3048834"/>
            <a:chExt cx="1599238" cy="723601"/>
          </a:xfrm>
        </p:grpSpPr>
        <p:cxnSp>
          <p:nvCxnSpPr>
            <p:cNvPr id="473" name="Google Shape;473;p13"/>
            <p:cNvCxnSpPr/>
            <p:nvPr/>
          </p:nvCxnSpPr>
          <p:spPr>
            <a:xfrm flipH="1" rot="10800000">
              <a:off x="3675121" y="3596937"/>
              <a:ext cx="415107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" name="Google Shape;474;p13"/>
            <p:cNvCxnSpPr/>
            <p:nvPr/>
          </p:nvCxnSpPr>
          <p:spPr>
            <a:xfrm flipH="1" rot="10800000">
              <a:off x="3675121" y="3233589"/>
              <a:ext cx="415107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" name="Google Shape;475;p13"/>
            <p:cNvCxnSpPr/>
            <p:nvPr/>
          </p:nvCxnSpPr>
          <p:spPr>
            <a:xfrm flipH="1" rot="10800000">
              <a:off x="5010436" y="3412939"/>
              <a:ext cx="263923" cy="90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76" name="Google Shape;476;p13"/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477" name="Google Shape;477;p13"/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rect b="b" l="l" r="r" t="t"/>
                <a:pathLst>
                  <a:path extrusionOk="0" h="10000" w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8" name="Google Shape;478;p13"/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rect b="b" l="l" r="r" t="t"/>
                <a:pathLst>
                  <a:path extrusionOk="0" h="10000" w="2211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479" name="Google Shape;479;p13"/>
          <p:cNvCxnSpPr/>
          <p:nvPr/>
        </p:nvCxnSpPr>
        <p:spPr>
          <a:xfrm>
            <a:off x="9427510" y="3446076"/>
            <a:ext cx="1697700" cy="894900"/>
          </a:xfrm>
          <a:prstGeom prst="bentConnector3">
            <a:avLst>
              <a:gd fmla="val 15201" name="adj1"/>
            </a:avLst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13"/>
          <p:cNvCxnSpPr/>
          <p:nvPr/>
        </p:nvCxnSpPr>
        <p:spPr>
          <a:xfrm rot="-5400000">
            <a:off x="11228165" y="3633593"/>
            <a:ext cx="907800" cy="511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13"/>
          <p:cNvSpPr txBox="1"/>
          <p:nvPr/>
        </p:nvSpPr>
        <p:spPr>
          <a:xfrm>
            <a:off x="11637925" y="3093544"/>
            <a:ext cx="287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13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ALU Output Multiplexor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Half Adder (HA)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6.Full Adder (FA)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"/>
          <p:cNvSpPr txBox="1"/>
          <p:nvPr>
            <p:ph type="title"/>
          </p:nvPr>
        </p:nvSpPr>
        <p:spPr>
          <a:xfrm>
            <a:off x="2862737" y="299810"/>
            <a:ext cx="947820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6.1 Logic circuit diagram of 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" name="Google Shape;489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7299" y="2353009"/>
            <a:ext cx="8635426" cy="282786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4"/>
          <p:cNvSpPr txBox="1"/>
          <p:nvPr/>
        </p:nvSpPr>
        <p:spPr>
          <a:xfrm>
            <a:off x="2797217" y="265879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2797217" y="297544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14"/>
          <p:cNvSpPr txBox="1"/>
          <p:nvPr/>
        </p:nvSpPr>
        <p:spPr>
          <a:xfrm>
            <a:off x="2689815" y="4696832"/>
            <a:ext cx="407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endParaRPr b="0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5882700" y="393895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endParaRPr b="0" i="0" sz="18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14"/>
          <p:cNvSpPr txBox="1"/>
          <p:nvPr/>
        </p:nvSpPr>
        <p:spPr>
          <a:xfrm>
            <a:off x="5436314" y="2606114"/>
            <a:ext cx="11586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x⊕y</a:t>
            </a:r>
            <a:endParaRPr b="0" i="0" sz="18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9389994" y="3569622"/>
            <a:ext cx="14098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(x⊕y) c</a:t>
            </a:r>
            <a:r>
              <a:rPr b="0" baseline="-2500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endParaRPr b="0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9696168" y="451290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endParaRPr b="0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9696168" y="2606114"/>
            <a:ext cx="1612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(x⊕y⊕ c</a:t>
            </a:r>
            <a:r>
              <a:rPr b="0" baseline="-2500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14"/>
          <p:cNvSpPr txBox="1"/>
          <p:nvPr/>
        </p:nvSpPr>
        <p:spPr>
          <a:xfrm>
            <a:off x="410441" y="2367290"/>
            <a:ext cx="2031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6.Full Adder (FA)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 Logic circuit diagram of FA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16"/>
          <p:cNvGrpSpPr/>
          <p:nvPr/>
        </p:nvGrpSpPr>
        <p:grpSpPr>
          <a:xfrm>
            <a:off x="3129402" y="1558059"/>
            <a:ext cx="7827963" cy="5100638"/>
            <a:chOff x="971600" y="1064191"/>
            <a:chExt cx="7827485" cy="5101113"/>
          </a:xfrm>
        </p:grpSpPr>
        <p:sp>
          <p:nvSpPr>
            <p:cNvPr id="504" name="Google Shape;504;p16"/>
            <p:cNvSpPr/>
            <p:nvPr/>
          </p:nvSpPr>
          <p:spPr>
            <a:xfrm>
              <a:off x="2026555" y="3931751"/>
              <a:ext cx="3286125" cy="1839516"/>
            </a:xfrm>
            <a:prstGeom prst="roundRect">
              <a:avLst>
                <a:gd fmla="val 12778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5294821" y="1476087"/>
              <a:ext cx="2464594" cy="2446734"/>
            </a:xfrm>
            <a:prstGeom prst="roundRect">
              <a:avLst>
                <a:gd fmla="val 9606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2027224" y="1475392"/>
              <a:ext cx="3285924" cy="2448153"/>
            </a:xfrm>
            <a:prstGeom prst="roundRect">
              <a:avLst>
                <a:gd fmla="val 9606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1830349" y="1506017"/>
              <a:ext cx="149080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8" name="Google Shape;508;p16"/>
            <p:cNvCxnSpPr/>
            <p:nvPr/>
          </p:nvCxnSpPr>
          <p:spPr>
            <a:xfrm>
              <a:off x="3276712" y="5142840"/>
              <a:ext cx="298029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9" name="Google Shape;509;p16"/>
            <p:cNvCxnSpPr/>
            <p:nvPr/>
          </p:nvCxnSpPr>
          <p:spPr>
            <a:xfrm flipH="1" rot="10800000">
              <a:off x="2957475" y="4566876"/>
              <a:ext cx="18194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0" name="Google Shape;510;p16"/>
            <p:cNvCxnSpPr/>
            <p:nvPr/>
          </p:nvCxnSpPr>
          <p:spPr>
            <a:xfrm>
              <a:off x="3276712" y="4567991"/>
              <a:ext cx="29802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16"/>
            <p:cNvCxnSpPr/>
            <p:nvPr/>
          </p:nvCxnSpPr>
          <p:spPr>
            <a:xfrm>
              <a:off x="3276712" y="4369305"/>
              <a:ext cx="29802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16"/>
            <p:cNvCxnSpPr/>
            <p:nvPr/>
          </p:nvCxnSpPr>
          <p:spPr>
            <a:xfrm>
              <a:off x="3276712" y="4171737"/>
              <a:ext cx="298029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16"/>
            <p:cNvCxnSpPr/>
            <p:nvPr/>
          </p:nvCxnSpPr>
          <p:spPr>
            <a:xfrm rot="10800000">
              <a:off x="2960825" y="4165039"/>
              <a:ext cx="1116" cy="12055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4" name="Google Shape;514;p16"/>
            <p:cNvSpPr/>
            <p:nvPr/>
          </p:nvSpPr>
          <p:spPr>
            <a:xfrm rot="5400000">
              <a:off x="3105931" y="4304566"/>
              <a:ext cx="185291" cy="133945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15" name="Google Shape;515;p16"/>
            <p:cNvSpPr/>
            <p:nvPr/>
          </p:nvSpPr>
          <p:spPr>
            <a:xfrm rot="5400000">
              <a:off x="3106490" y="4105322"/>
              <a:ext cx="185291" cy="135062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516" name="Google Shape;516;p16"/>
            <p:cNvGrpSpPr/>
            <p:nvPr/>
          </p:nvGrpSpPr>
          <p:grpSpPr>
            <a:xfrm>
              <a:off x="3571391" y="4102532"/>
              <a:ext cx="175245" cy="343793"/>
              <a:chOff x="0" y="0"/>
              <a:chExt cx="157" cy="308"/>
            </a:xfrm>
          </p:grpSpPr>
          <p:sp>
            <p:nvSpPr>
              <p:cNvPr id="517" name="Google Shape;517;p16"/>
              <p:cNvSpPr/>
              <p:nvPr/>
            </p:nvSpPr>
            <p:spPr>
              <a:xfrm>
                <a:off x="1" y="0"/>
                <a:ext cx="156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18" name="Google Shape;518;p16"/>
              <p:cNvCxnSpPr/>
              <p:nvPr/>
            </p:nvCxnSpPr>
            <p:spPr>
              <a:xfrm>
                <a:off x="0" y="6"/>
                <a:ext cx="0" cy="3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19" name="Google Shape;519;p16"/>
              <p:cNvSpPr/>
              <p:nvPr/>
            </p:nvSpPr>
            <p:spPr>
              <a:xfrm flipH="1" rot="10800000">
                <a:off x="0" y="147"/>
                <a:ext cx="157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520" name="Google Shape;520;p16"/>
            <p:cNvGrpSpPr/>
            <p:nvPr/>
          </p:nvGrpSpPr>
          <p:grpSpPr>
            <a:xfrm>
              <a:off x="3571391" y="4499903"/>
              <a:ext cx="175245" cy="343793"/>
              <a:chOff x="0" y="0"/>
              <a:chExt cx="157" cy="308"/>
            </a:xfrm>
          </p:grpSpPr>
          <p:sp>
            <p:nvSpPr>
              <p:cNvPr id="521" name="Google Shape;521;p16"/>
              <p:cNvSpPr/>
              <p:nvPr/>
            </p:nvSpPr>
            <p:spPr>
              <a:xfrm>
                <a:off x="1" y="0"/>
                <a:ext cx="156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22" name="Google Shape;522;p16"/>
              <p:cNvCxnSpPr/>
              <p:nvPr/>
            </p:nvCxnSpPr>
            <p:spPr>
              <a:xfrm>
                <a:off x="0" y="6"/>
                <a:ext cx="0" cy="3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3" name="Google Shape;523;p16"/>
              <p:cNvSpPr/>
              <p:nvPr/>
            </p:nvSpPr>
            <p:spPr>
              <a:xfrm flipH="1" rot="10800000">
                <a:off x="0" y="147"/>
                <a:ext cx="157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524" name="Google Shape;524;p16"/>
            <p:cNvGrpSpPr/>
            <p:nvPr/>
          </p:nvGrpSpPr>
          <p:grpSpPr>
            <a:xfrm>
              <a:off x="3571391" y="4896157"/>
              <a:ext cx="175245" cy="343793"/>
              <a:chOff x="0" y="0"/>
              <a:chExt cx="157" cy="308"/>
            </a:xfrm>
          </p:grpSpPr>
          <p:sp>
            <p:nvSpPr>
              <p:cNvPr id="525" name="Google Shape;525;p16"/>
              <p:cNvSpPr/>
              <p:nvPr/>
            </p:nvSpPr>
            <p:spPr>
              <a:xfrm>
                <a:off x="1" y="0"/>
                <a:ext cx="156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26" name="Google Shape;526;p16"/>
              <p:cNvCxnSpPr/>
              <p:nvPr/>
            </p:nvCxnSpPr>
            <p:spPr>
              <a:xfrm>
                <a:off x="0" y="6"/>
                <a:ext cx="0" cy="3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7" name="Google Shape;527;p16"/>
              <p:cNvSpPr/>
              <p:nvPr/>
            </p:nvSpPr>
            <p:spPr>
              <a:xfrm flipH="1" rot="10800000">
                <a:off x="0" y="147"/>
                <a:ext cx="157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528" name="Google Shape;528;p16"/>
            <p:cNvGrpSpPr/>
            <p:nvPr/>
          </p:nvGrpSpPr>
          <p:grpSpPr>
            <a:xfrm>
              <a:off x="3571391" y="5292413"/>
              <a:ext cx="175245" cy="344909"/>
              <a:chOff x="0" y="0"/>
              <a:chExt cx="157" cy="309"/>
            </a:xfrm>
          </p:grpSpPr>
          <p:sp>
            <p:nvSpPr>
              <p:cNvPr id="529" name="Google Shape;529;p16"/>
              <p:cNvSpPr/>
              <p:nvPr/>
            </p:nvSpPr>
            <p:spPr>
              <a:xfrm>
                <a:off x="1" y="0"/>
                <a:ext cx="156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30" name="Google Shape;530;p16"/>
              <p:cNvCxnSpPr/>
              <p:nvPr/>
            </p:nvCxnSpPr>
            <p:spPr>
              <a:xfrm>
                <a:off x="0" y="6"/>
                <a:ext cx="0" cy="30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1" name="Google Shape;531;p16"/>
              <p:cNvSpPr/>
              <p:nvPr/>
            </p:nvSpPr>
            <p:spPr>
              <a:xfrm flipH="1" rot="10800000">
                <a:off x="0" y="147"/>
                <a:ext cx="157" cy="159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532" name="Google Shape;532;p16"/>
            <p:cNvSpPr/>
            <p:nvPr/>
          </p:nvSpPr>
          <p:spPr>
            <a:xfrm rot="5400000">
              <a:off x="3114861" y="4509949"/>
              <a:ext cx="184175" cy="135061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 rot="5400000">
              <a:off x="3113187" y="5078658"/>
              <a:ext cx="184174" cy="133945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534" name="Google Shape;534;p16"/>
            <p:cNvCxnSpPr/>
            <p:nvPr/>
          </p:nvCxnSpPr>
          <p:spPr>
            <a:xfrm flipH="1" rot="10800000">
              <a:off x="2071204" y="4171737"/>
              <a:ext cx="1064865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5" name="Google Shape;535;p16"/>
            <p:cNvSpPr/>
            <p:nvPr/>
          </p:nvSpPr>
          <p:spPr>
            <a:xfrm>
              <a:off x="3263318" y="4142715"/>
              <a:ext cx="52462" cy="52462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263318" y="4341400"/>
              <a:ext cx="52462" cy="52462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263318" y="4545667"/>
              <a:ext cx="52462" cy="53578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263318" y="5114935"/>
              <a:ext cx="52462" cy="52462"/>
            </a:xfrm>
            <a:prstGeom prst="ellipse">
              <a:avLst/>
            </a:prstGeom>
            <a:solidFill>
              <a:srgbClr val="33333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539" name="Google Shape;539;p16"/>
            <p:cNvCxnSpPr/>
            <p:nvPr/>
          </p:nvCxnSpPr>
          <p:spPr>
            <a:xfrm flipH="1" rot="10800000">
              <a:off x="2058926" y="4376003"/>
              <a:ext cx="1077143" cy="1004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0" name="Google Shape;540;p16"/>
            <p:cNvCxnSpPr/>
            <p:nvPr/>
          </p:nvCxnSpPr>
          <p:spPr>
            <a:xfrm flipH="1" rot="10800000">
              <a:off x="2957475" y="4970944"/>
              <a:ext cx="617265" cy="334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16"/>
            <p:cNvCxnSpPr/>
            <p:nvPr/>
          </p:nvCxnSpPr>
          <p:spPr>
            <a:xfrm flipH="1" rot="10800000">
              <a:off x="2957475" y="5375013"/>
              <a:ext cx="617265" cy="223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16"/>
            <p:cNvCxnSpPr/>
            <p:nvPr/>
          </p:nvCxnSpPr>
          <p:spPr>
            <a:xfrm rot="10800000">
              <a:off x="2825762" y="4369306"/>
              <a:ext cx="1117" cy="120662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16"/>
            <p:cNvCxnSpPr/>
            <p:nvPr/>
          </p:nvCxnSpPr>
          <p:spPr>
            <a:xfrm flipH="1" rot="10800000">
              <a:off x="2821298" y="5567001"/>
              <a:ext cx="75344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16"/>
            <p:cNvCxnSpPr/>
            <p:nvPr/>
          </p:nvCxnSpPr>
          <p:spPr>
            <a:xfrm flipH="1" rot="10800000">
              <a:off x="2821298" y="5142840"/>
              <a:ext cx="32035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16"/>
            <p:cNvCxnSpPr/>
            <p:nvPr/>
          </p:nvCxnSpPr>
          <p:spPr>
            <a:xfrm flipH="1" rot="10800000">
              <a:off x="2821298" y="4759980"/>
              <a:ext cx="753443" cy="223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16"/>
            <p:cNvCxnSpPr/>
            <p:nvPr/>
          </p:nvCxnSpPr>
          <p:spPr>
            <a:xfrm>
              <a:off x="3747753" y="5460960"/>
              <a:ext cx="238645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16"/>
            <p:cNvCxnSpPr/>
            <p:nvPr/>
          </p:nvCxnSpPr>
          <p:spPr>
            <a:xfrm flipH="1" rot="10800000">
              <a:off x="3747753" y="5069171"/>
              <a:ext cx="2158752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8" name="Google Shape;548;p16"/>
            <p:cNvCxnSpPr/>
            <p:nvPr/>
          </p:nvCxnSpPr>
          <p:spPr>
            <a:xfrm flipH="1" rot="10800000">
              <a:off x="3747753" y="4660637"/>
              <a:ext cx="1918767" cy="1339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16"/>
            <p:cNvCxnSpPr/>
            <p:nvPr/>
          </p:nvCxnSpPr>
          <p:spPr>
            <a:xfrm>
              <a:off x="3742172" y="4277777"/>
              <a:ext cx="1710035" cy="3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0" name="Google Shape;550;p16"/>
            <p:cNvSpPr/>
            <p:nvPr/>
          </p:nvSpPr>
          <p:spPr>
            <a:xfrm>
              <a:off x="1469566" y="4041140"/>
              <a:ext cx="660797" cy="18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Inst1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1532074" y="4290055"/>
              <a:ext cx="544711" cy="18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Inst2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2" name="Google Shape;552;p16"/>
            <p:cNvCxnSpPr/>
            <p:nvPr/>
          </p:nvCxnSpPr>
          <p:spPr>
            <a:xfrm flipH="1" rot="10800000">
              <a:off x="7045040" y="2481794"/>
              <a:ext cx="152921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16"/>
            <p:cNvSpPr/>
            <p:nvPr/>
          </p:nvSpPr>
          <p:spPr>
            <a:xfrm>
              <a:off x="7731510" y="2543185"/>
              <a:ext cx="884039" cy="250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Output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4" name="Google Shape;554;p16"/>
            <p:cNvGrpSpPr/>
            <p:nvPr/>
          </p:nvGrpSpPr>
          <p:grpSpPr>
            <a:xfrm>
              <a:off x="6577348" y="1684819"/>
              <a:ext cx="273471" cy="443135"/>
              <a:chOff x="0" y="0"/>
              <a:chExt cx="245" cy="397"/>
            </a:xfrm>
          </p:grpSpPr>
          <p:sp>
            <p:nvSpPr>
              <p:cNvPr id="555" name="Google Shape;555;p16"/>
              <p:cNvSpPr/>
              <p:nvPr/>
            </p:nvSpPr>
            <p:spPr>
              <a:xfrm>
                <a:off x="3" y="0"/>
                <a:ext cx="242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56" name="Google Shape;556;p16"/>
              <p:cNvCxnSpPr/>
              <p:nvPr/>
            </p:nvCxnSpPr>
            <p:spPr>
              <a:xfrm>
                <a:off x="0" y="8"/>
                <a:ext cx="0" cy="38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7" name="Google Shape;557;p16"/>
              <p:cNvSpPr/>
              <p:nvPr/>
            </p:nvSpPr>
            <p:spPr>
              <a:xfrm flipH="1" rot="10800000">
                <a:off x="2" y="190"/>
                <a:ext cx="243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558" name="Google Shape;558;p16"/>
            <p:cNvGrpSpPr/>
            <p:nvPr/>
          </p:nvGrpSpPr>
          <p:grpSpPr>
            <a:xfrm>
              <a:off x="6577348" y="2190462"/>
              <a:ext cx="273471" cy="443136"/>
              <a:chOff x="0" y="0"/>
              <a:chExt cx="245" cy="397"/>
            </a:xfrm>
          </p:grpSpPr>
          <p:sp>
            <p:nvSpPr>
              <p:cNvPr id="559" name="Google Shape;559;p16"/>
              <p:cNvSpPr/>
              <p:nvPr/>
            </p:nvSpPr>
            <p:spPr>
              <a:xfrm>
                <a:off x="3" y="0"/>
                <a:ext cx="242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60" name="Google Shape;560;p16"/>
              <p:cNvCxnSpPr/>
              <p:nvPr/>
            </p:nvCxnSpPr>
            <p:spPr>
              <a:xfrm>
                <a:off x="0" y="8"/>
                <a:ext cx="0" cy="38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61" name="Google Shape;561;p16"/>
              <p:cNvSpPr/>
              <p:nvPr/>
            </p:nvSpPr>
            <p:spPr>
              <a:xfrm flipH="1" rot="10800000">
                <a:off x="2" y="190"/>
                <a:ext cx="243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562" name="Google Shape;562;p16"/>
            <p:cNvGrpSpPr/>
            <p:nvPr/>
          </p:nvGrpSpPr>
          <p:grpSpPr>
            <a:xfrm>
              <a:off x="6577348" y="2697222"/>
              <a:ext cx="273471" cy="443136"/>
              <a:chOff x="0" y="0"/>
              <a:chExt cx="245" cy="397"/>
            </a:xfrm>
          </p:grpSpPr>
          <p:sp>
            <p:nvSpPr>
              <p:cNvPr id="563" name="Google Shape;563;p16"/>
              <p:cNvSpPr/>
              <p:nvPr/>
            </p:nvSpPr>
            <p:spPr>
              <a:xfrm>
                <a:off x="3" y="0"/>
                <a:ext cx="242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64" name="Google Shape;564;p16"/>
              <p:cNvCxnSpPr/>
              <p:nvPr/>
            </p:nvCxnSpPr>
            <p:spPr>
              <a:xfrm>
                <a:off x="0" y="8"/>
                <a:ext cx="0" cy="38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65" name="Google Shape;565;p16"/>
              <p:cNvSpPr/>
              <p:nvPr/>
            </p:nvSpPr>
            <p:spPr>
              <a:xfrm flipH="1" rot="10800000">
                <a:off x="2" y="190"/>
                <a:ext cx="243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566" name="Google Shape;566;p16"/>
            <p:cNvGrpSpPr/>
            <p:nvPr/>
          </p:nvGrpSpPr>
          <p:grpSpPr>
            <a:xfrm>
              <a:off x="6577348" y="3202866"/>
              <a:ext cx="273471" cy="443135"/>
              <a:chOff x="0" y="0"/>
              <a:chExt cx="245" cy="397"/>
            </a:xfrm>
          </p:grpSpPr>
          <p:sp>
            <p:nvSpPr>
              <p:cNvPr id="567" name="Google Shape;567;p16"/>
              <p:cNvSpPr/>
              <p:nvPr/>
            </p:nvSpPr>
            <p:spPr>
              <a:xfrm>
                <a:off x="3" y="0"/>
                <a:ext cx="242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568" name="Google Shape;568;p16"/>
              <p:cNvCxnSpPr/>
              <p:nvPr/>
            </p:nvCxnSpPr>
            <p:spPr>
              <a:xfrm>
                <a:off x="0" y="8"/>
                <a:ext cx="0" cy="38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69" name="Google Shape;569;p16"/>
              <p:cNvSpPr/>
              <p:nvPr/>
            </p:nvSpPr>
            <p:spPr>
              <a:xfrm flipH="1" rot="10800000">
                <a:off x="2" y="190"/>
                <a:ext cx="243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cxnSp>
          <p:nvCxnSpPr>
            <p:cNvPr id="570" name="Google Shape;570;p16"/>
            <p:cNvCxnSpPr/>
            <p:nvPr/>
          </p:nvCxnSpPr>
          <p:spPr>
            <a:xfrm flipH="1" rot="10800000">
              <a:off x="6850819" y="1898014"/>
              <a:ext cx="209848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16"/>
            <p:cNvCxnSpPr/>
            <p:nvPr/>
          </p:nvCxnSpPr>
          <p:spPr>
            <a:xfrm flipH="1" rot="10800000">
              <a:off x="6850819" y="2917116"/>
              <a:ext cx="104924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16"/>
            <p:cNvCxnSpPr/>
            <p:nvPr/>
          </p:nvCxnSpPr>
          <p:spPr>
            <a:xfrm flipH="1" rot="10800000">
              <a:off x="6850819" y="3422759"/>
              <a:ext cx="209848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16"/>
            <p:cNvCxnSpPr/>
            <p:nvPr/>
          </p:nvCxnSpPr>
          <p:spPr>
            <a:xfrm flipH="1" rot="10800000">
              <a:off x="6850819" y="2411471"/>
              <a:ext cx="104924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16"/>
            <p:cNvCxnSpPr/>
            <p:nvPr/>
          </p:nvCxnSpPr>
          <p:spPr>
            <a:xfrm flipH="1">
              <a:off x="7052854" y="1904712"/>
              <a:ext cx="1116" cy="56926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16"/>
            <p:cNvCxnSpPr/>
            <p:nvPr/>
          </p:nvCxnSpPr>
          <p:spPr>
            <a:xfrm flipH="1">
              <a:off x="6955743" y="2403659"/>
              <a:ext cx="1117" cy="19756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16"/>
            <p:cNvCxnSpPr/>
            <p:nvPr/>
          </p:nvCxnSpPr>
          <p:spPr>
            <a:xfrm>
              <a:off x="6955743" y="2706151"/>
              <a:ext cx="1117" cy="21096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16"/>
            <p:cNvCxnSpPr/>
            <p:nvPr/>
          </p:nvCxnSpPr>
          <p:spPr>
            <a:xfrm flipH="1">
              <a:off x="7052854" y="2846794"/>
              <a:ext cx="1116" cy="56926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16"/>
            <p:cNvCxnSpPr/>
            <p:nvPr/>
          </p:nvCxnSpPr>
          <p:spPr>
            <a:xfrm flipH="1" rot="10800000">
              <a:off x="7045040" y="2840096"/>
              <a:ext cx="152921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16"/>
            <p:cNvCxnSpPr/>
            <p:nvPr/>
          </p:nvCxnSpPr>
          <p:spPr>
            <a:xfrm>
              <a:off x="6955743" y="2601227"/>
              <a:ext cx="290215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16"/>
            <p:cNvCxnSpPr/>
            <p:nvPr/>
          </p:nvCxnSpPr>
          <p:spPr>
            <a:xfrm>
              <a:off x="6955743" y="2712848"/>
              <a:ext cx="290215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81" name="Google Shape;581;p16"/>
            <p:cNvGrpSpPr/>
            <p:nvPr/>
          </p:nvGrpSpPr>
          <p:grpSpPr>
            <a:xfrm>
              <a:off x="7108664" y="2432680"/>
              <a:ext cx="322585" cy="456530"/>
              <a:chOff x="0" y="0"/>
              <a:chExt cx="288" cy="409"/>
            </a:xfrm>
          </p:grpSpPr>
          <p:sp>
            <p:nvSpPr>
              <p:cNvPr id="582" name="Google Shape;582;p16"/>
              <p:cNvSpPr/>
              <p:nvPr/>
            </p:nvSpPr>
            <p:spPr>
              <a:xfrm>
                <a:off x="11" y="3"/>
                <a:ext cx="277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583" name="Google Shape;583;p16"/>
              <p:cNvSpPr/>
              <p:nvPr/>
            </p:nvSpPr>
            <p:spPr>
              <a:xfrm flipH="1" rot="10800000">
                <a:off x="11" y="196"/>
                <a:ext cx="277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584" name="Google Shape;584;p16"/>
              <p:cNvSpPr/>
              <p:nvPr/>
            </p:nvSpPr>
            <p:spPr>
              <a:xfrm>
                <a:off x="0" y="0"/>
                <a:ext cx="126" cy="203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758" y="0"/>
                      <a:pt x="21358" y="9599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585" name="Google Shape;585;p16"/>
              <p:cNvSpPr/>
              <p:nvPr/>
            </p:nvSpPr>
            <p:spPr>
              <a:xfrm flipH="1" rot="10800000">
                <a:off x="0" y="201"/>
                <a:ext cx="126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cxnSp>
          <p:nvCxnSpPr>
            <p:cNvPr id="586" name="Google Shape;586;p16"/>
            <p:cNvCxnSpPr/>
            <p:nvPr/>
          </p:nvCxnSpPr>
          <p:spPr>
            <a:xfrm>
              <a:off x="7431249" y="2663735"/>
              <a:ext cx="289099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16"/>
            <p:cNvCxnSpPr/>
            <p:nvPr/>
          </p:nvCxnSpPr>
          <p:spPr>
            <a:xfrm>
              <a:off x="6143141" y="3542194"/>
              <a:ext cx="5581" cy="190537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16"/>
            <p:cNvCxnSpPr/>
            <p:nvPr/>
          </p:nvCxnSpPr>
          <p:spPr>
            <a:xfrm>
              <a:off x="5902040" y="3043247"/>
              <a:ext cx="4465" cy="205606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16"/>
            <p:cNvCxnSpPr/>
            <p:nvPr/>
          </p:nvCxnSpPr>
          <p:spPr>
            <a:xfrm>
              <a:off x="6135328" y="3535497"/>
              <a:ext cx="434206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16"/>
            <p:cNvCxnSpPr/>
            <p:nvPr/>
          </p:nvCxnSpPr>
          <p:spPr>
            <a:xfrm>
              <a:off x="5893110" y="3043247"/>
              <a:ext cx="676424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16"/>
            <p:cNvCxnSpPr/>
            <p:nvPr/>
          </p:nvCxnSpPr>
          <p:spPr>
            <a:xfrm>
              <a:off x="5667636" y="2516395"/>
              <a:ext cx="901898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16"/>
            <p:cNvCxnSpPr/>
            <p:nvPr/>
          </p:nvCxnSpPr>
          <p:spPr>
            <a:xfrm>
              <a:off x="5426534" y="2024147"/>
              <a:ext cx="1143000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3" name="Google Shape;593;p16"/>
            <p:cNvCxnSpPr/>
            <p:nvPr/>
          </p:nvCxnSpPr>
          <p:spPr>
            <a:xfrm flipH="1">
              <a:off x="5666520" y="2516395"/>
              <a:ext cx="1116" cy="214424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4" name="Google Shape;594;p16"/>
            <p:cNvCxnSpPr/>
            <p:nvPr/>
          </p:nvCxnSpPr>
          <p:spPr>
            <a:xfrm>
              <a:off x="5434348" y="2017449"/>
              <a:ext cx="3348" cy="224916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5" name="Google Shape;595;p16"/>
            <p:cNvCxnSpPr/>
            <p:nvPr/>
          </p:nvCxnSpPr>
          <p:spPr>
            <a:xfrm>
              <a:off x="5225616" y="2292038"/>
              <a:ext cx="1343918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6" name="Google Shape;596;p16"/>
            <p:cNvCxnSpPr/>
            <p:nvPr/>
          </p:nvCxnSpPr>
          <p:spPr>
            <a:xfrm>
              <a:off x="5225616" y="2812192"/>
              <a:ext cx="1343918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16"/>
            <p:cNvCxnSpPr/>
            <p:nvPr/>
          </p:nvCxnSpPr>
          <p:spPr>
            <a:xfrm>
              <a:off x="5225616" y="1785278"/>
              <a:ext cx="1343918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16"/>
            <p:cNvCxnSpPr/>
            <p:nvPr/>
          </p:nvCxnSpPr>
          <p:spPr>
            <a:xfrm>
              <a:off x="4665278" y="3282116"/>
              <a:ext cx="1904256" cy="781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9" name="Google Shape;599;p16"/>
            <p:cNvGrpSpPr/>
            <p:nvPr/>
          </p:nvGrpSpPr>
          <p:grpSpPr>
            <a:xfrm>
              <a:off x="4970004" y="1568733"/>
              <a:ext cx="273471" cy="443135"/>
              <a:chOff x="0" y="0"/>
              <a:chExt cx="245" cy="397"/>
            </a:xfrm>
          </p:grpSpPr>
          <p:sp>
            <p:nvSpPr>
              <p:cNvPr id="600" name="Google Shape;600;p16"/>
              <p:cNvSpPr/>
              <p:nvPr/>
            </p:nvSpPr>
            <p:spPr>
              <a:xfrm>
                <a:off x="3" y="0"/>
                <a:ext cx="242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601" name="Google Shape;601;p16"/>
              <p:cNvCxnSpPr/>
              <p:nvPr/>
            </p:nvCxnSpPr>
            <p:spPr>
              <a:xfrm>
                <a:off x="0" y="8"/>
                <a:ext cx="0" cy="38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02" name="Google Shape;602;p16"/>
              <p:cNvSpPr/>
              <p:nvPr/>
            </p:nvSpPr>
            <p:spPr>
              <a:xfrm flipH="1" rot="10800000">
                <a:off x="2" y="190"/>
                <a:ext cx="243" cy="205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603" name="Google Shape;603;p16"/>
            <p:cNvGrpSpPr/>
            <p:nvPr/>
          </p:nvGrpSpPr>
          <p:grpSpPr>
            <a:xfrm>
              <a:off x="4885172" y="2066563"/>
              <a:ext cx="322585" cy="456530"/>
              <a:chOff x="0" y="0"/>
              <a:chExt cx="288" cy="409"/>
            </a:xfrm>
          </p:grpSpPr>
          <p:sp>
            <p:nvSpPr>
              <p:cNvPr id="604" name="Google Shape;604;p16"/>
              <p:cNvSpPr/>
              <p:nvPr/>
            </p:nvSpPr>
            <p:spPr>
              <a:xfrm>
                <a:off x="11" y="3"/>
                <a:ext cx="277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605" name="Google Shape;605;p16"/>
              <p:cNvSpPr/>
              <p:nvPr/>
            </p:nvSpPr>
            <p:spPr>
              <a:xfrm flipH="1" rot="10800000">
                <a:off x="11" y="196"/>
                <a:ext cx="277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606" name="Google Shape;606;p16"/>
              <p:cNvSpPr/>
              <p:nvPr/>
            </p:nvSpPr>
            <p:spPr>
              <a:xfrm>
                <a:off x="0" y="0"/>
                <a:ext cx="126" cy="203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758" y="0"/>
                      <a:pt x="21358" y="9599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607" name="Google Shape;607;p16"/>
              <p:cNvSpPr/>
              <p:nvPr/>
            </p:nvSpPr>
            <p:spPr>
              <a:xfrm flipH="1" rot="10800000">
                <a:off x="0" y="201"/>
                <a:ext cx="126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608" name="Google Shape;608;p16"/>
            <p:cNvSpPr/>
            <p:nvPr/>
          </p:nvSpPr>
          <p:spPr>
            <a:xfrm>
              <a:off x="4898567" y="2587833"/>
              <a:ext cx="309190" cy="232172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09" name="Google Shape;609;p16"/>
            <p:cNvSpPr/>
            <p:nvPr/>
          </p:nvSpPr>
          <p:spPr>
            <a:xfrm flipH="1" rot="10800000">
              <a:off x="4898567" y="2803262"/>
              <a:ext cx="309190" cy="232172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4885172" y="2584485"/>
              <a:ext cx="140643" cy="22659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11758" y="0"/>
                    <a:pt x="21358" y="9599"/>
                    <a:pt x="21600" y="2160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11" name="Google Shape;611;p16"/>
            <p:cNvSpPr/>
            <p:nvPr/>
          </p:nvSpPr>
          <p:spPr>
            <a:xfrm flipH="1" rot="10800000">
              <a:off x="4885172" y="2808843"/>
              <a:ext cx="140643" cy="232172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612" name="Google Shape;612;p16"/>
            <p:cNvGrpSpPr/>
            <p:nvPr/>
          </p:nvGrpSpPr>
          <p:grpSpPr>
            <a:xfrm>
              <a:off x="4831594" y="2584485"/>
              <a:ext cx="140643" cy="456530"/>
              <a:chOff x="0" y="0"/>
              <a:chExt cx="126" cy="409"/>
            </a:xfrm>
          </p:grpSpPr>
          <p:sp>
            <p:nvSpPr>
              <p:cNvPr id="613" name="Google Shape;613;p16"/>
              <p:cNvSpPr/>
              <p:nvPr/>
            </p:nvSpPr>
            <p:spPr>
              <a:xfrm>
                <a:off x="0" y="0"/>
                <a:ext cx="126" cy="203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758" y="0"/>
                      <a:pt x="21358" y="9599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614" name="Google Shape;614;p16"/>
              <p:cNvSpPr/>
              <p:nvPr/>
            </p:nvSpPr>
            <p:spPr>
              <a:xfrm flipH="1" rot="10800000">
                <a:off x="0" y="201"/>
                <a:ext cx="126" cy="208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615" name="Google Shape;615;p16"/>
            <p:cNvSpPr/>
            <p:nvPr/>
          </p:nvSpPr>
          <p:spPr>
            <a:xfrm>
              <a:off x="3776774" y="3038782"/>
              <a:ext cx="892969" cy="892969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1828116" y="1800696"/>
              <a:ext cx="149080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7" name="Google Shape;617;p16"/>
            <p:cNvCxnSpPr/>
            <p:nvPr/>
          </p:nvCxnSpPr>
          <p:spPr>
            <a:xfrm flipH="1" rot="10800000">
              <a:off x="2035486" y="1663610"/>
              <a:ext cx="2944564" cy="893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8" name="Google Shape;618;p16"/>
            <p:cNvCxnSpPr/>
            <p:nvPr/>
          </p:nvCxnSpPr>
          <p:spPr>
            <a:xfrm flipH="1" rot="10800000">
              <a:off x="3075793" y="2183764"/>
              <a:ext cx="1912070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9" name="Google Shape;619;p16"/>
            <p:cNvCxnSpPr/>
            <p:nvPr/>
          </p:nvCxnSpPr>
          <p:spPr>
            <a:xfrm>
              <a:off x="3057935" y="2701687"/>
              <a:ext cx="1904256" cy="781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0" name="Google Shape;620;p16"/>
            <p:cNvCxnSpPr/>
            <p:nvPr/>
          </p:nvCxnSpPr>
          <p:spPr>
            <a:xfrm flipH="1" rot="10800000">
              <a:off x="3064631" y="3182774"/>
              <a:ext cx="727770" cy="446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16"/>
            <p:cNvCxnSpPr/>
            <p:nvPr/>
          </p:nvCxnSpPr>
          <p:spPr>
            <a:xfrm>
              <a:off x="3050121" y="1687052"/>
              <a:ext cx="8930" cy="152027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16"/>
            <p:cNvCxnSpPr/>
            <p:nvPr/>
          </p:nvCxnSpPr>
          <p:spPr>
            <a:xfrm flipH="1" rot="10800000">
              <a:off x="2058926" y="1895783"/>
              <a:ext cx="2912194" cy="2567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16"/>
            <p:cNvCxnSpPr/>
            <p:nvPr/>
          </p:nvCxnSpPr>
          <p:spPr>
            <a:xfrm>
              <a:off x="2857016" y="2410356"/>
              <a:ext cx="2121917" cy="558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4" name="Google Shape;624;p16"/>
            <p:cNvCxnSpPr/>
            <p:nvPr/>
          </p:nvCxnSpPr>
          <p:spPr>
            <a:xfrm>
              <a:off x="2855900" y="2933859"/>
              <a:ext cx="2097360" cy="781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16"/>
            <p:cNvCxnSpPr/>
            <p:nvPr/>
          </p:nvCxnSpPr>
          <p:spPr>
            <a:xfrm flipH="1" rot="10800000">
              <a:off x="2855900" y="3414946"/>
              <a:ext cx="927571" cy="669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16"/>
            <p:cNvCxnSpPr/>
            <p:nvPr/>
          </p:nvCxnSpPr>
          <p:spPr>
            <a:xfrm>
              <a:off x="2853668" y="1919223"/>
              <a:ext cx="8930" cy="152027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16"/>
            <p:cNvCxnSpPr/>
            <p:nvPr/>
          </p:nvCxnSpPr>
          <p:spPr>
            <a:xfrm>
              <a:off x="2010928" y="3744227"/>
              <a:ext cx="1772543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16"/>
            <p:cNvCxnSpPr/>
            <p:nvPr/>
          </p:nvCxnSpPr>
          <p:spPr>
            <a:xfrm flipH="1" rot="10800000">
              <a:off x="4665279" y="3744228"/>
              <a:ext cx="3048372" cy="223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9" name="Google Shape;629;p16"/>
            <p:cNvSpPr/>
            <p:nvPr/>
          </p:nvSpPr>
          <p:spPr>
            <a:xfrm>
              <a:off x="7766751" y="3595564"/>
              <a:ext cx="10323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Carry out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971600" y="3595564"/>
              <a:ext cx="872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Carry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2683909" y="1064191"/>
              <a:ext cx="1955792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Operations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5545418" y="1064191"/>
              <a:ext cx="1983492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Multiplexor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2917453" y="5734417"/>
              <a:ext cx="1487588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Decoder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801182" y="3294142"/>
              <a:ext cx="8463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Full Adder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Circuit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5" name="Google Shape;635;p16"/>
          <p:cNvSpPr txBox="1"/>
          <p:nvPr>
            <p:ph type="title"/>
          </p:nvPr>
        </p:nvSpPr>
        <p:spPr>
          <a:xfrm>
            <a:off x="2621869" y="311191"/>
            <a:ext cx="936578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7. ALU Components: Contd.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7" name="Google Shape;637;p16"/>
          <p:cNvSpPr txBox="1"/>
          <p:nvPr/>
        </p:nvSpPr>
        <p:spPr>
          <a:xfrm>
            <a:off x="6174237" y="4446727"/>
            <a:ext cx="609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ctrl1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16"/>
          <p:cNvSpPr txBox="1"/>
          <p:nvPr/>
        </p:nvSpPr>
        <p:spPr>
          <a:xfrm>
            <a:off x="6201538" y="4806751"/>
            <a:ext cx="609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ctrl2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16"/>
          <p:cNvSpPr txBox="1"/>
          <p:nvPr/>
        </p:nvSpPr>
        <p:spPr>
          <a:xfrm>
            <a:off x="6179757" y="5227418"/>
            <a:ext cx="6530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ctrl3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16"/>
          <p:cNvSpPr txBox="1"/>
          <p:nvPr/>
        </p:nvSpPr>
        <p:spPr>
          <a:xfrm>
            <a:off x="6210482" y="5642408"/>
            <a:ext cx="609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ctrl4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16"/>
          <p:cNvSpPr txBox="1"/>
          <p:nvPr/>
        </p:nvSpPr>
        <p:spPr>
          <a:xfrm>
            <a:off x="7782546" y="2012328"/>
            <a:ext cx="514977" cy="287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16"/>
          <p:cNvSpPr txBox="1"/>
          <p:nvPr/>
        </p:nvSpPr>
        <p:spPr>
          <a:xfrm>
            <a:off x="7871944" y="2539795"/>
            <a:ext cx="50903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16"/>
          <p:cNvSpPr txBox="1"/>
          <p:nvPr/>
        </p:nvSpPr>
        <p:spPr>
          <a:xfrm>
            <a:off x="7871945" y="3040185"/>
            <a:ext cx="622230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16"/>
          <p:cNvSpPr txBox="1"/>
          <p:nvPr/>
        </p:nvSpPr>
        <p:spPr>
          <a:xfrm>
            <a:off x="6867167" y="3771110"/>
            <a:ext cx="872581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16"/>
          <p:cNvSpPr txBox="1"/>
          <p:nvPr/>
        </p:nvSpPr>
        <p:spPr>
          <a:xfrm>
            <a:off x="2900533" y="6345959"/>
            <a:ext cx="9669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</a:t>
            </a:r>
            <a:endParaRPr b="0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16"/>
          <p:cNvSpPr txBox="1"/>
          <p:nvPr/>
        </p:nvSpPr>
        <p:spPr>
          <a:xfrm>
            <a:off x="4572272" y="1251852"/>
            <a:ext cx="26084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Unit/ALU Logic</a:t>
            </a:r>
            <a:endParaRPr b="0" i="0" sz="1800" u="none" cap="none" strike="noStrike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16"/>
          <p:cNvSpPr txBox="1"/>
          <p:nvPr/>
        </p:nvSpPr>
        <p:spPr>
          <a:xfrm>
            <a:off x="10135706" y="1373393"/>
            <a:ext cx="1967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Multiplexer(MUX)</a:t>
            </a:r>
            <a:endParaRPr b="0" i="0" sz="1800" u="none" cap="none" strike="noStrike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8" name="Google Shape;648;p16"/>
          <p:cNvCxnSpPr/>
          <p:nvPr/>
        </p:nvCxnSpPr>
        <p:spPr>
          <a:xfrm>
            <a:off x="5934747" y="1574007"/>
            <a:ext cx="6697" cy="33270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49" name="Google Shape;649;p16"/>
          <p:cNvCxnSpPr/>
          <p:nvPr/>
        </p:nvCxnSpPr>
        <p:spPr>
          <a:xfrm flipH="1">
            <a:off x="9986841" y="1787155"/>
            <a:ext cx="976743" cy="86433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0" name="Google Shape;650;p16"/>
          <p:cNvCxnSpPr/>
          <p:nvPr/>
        </p:nvCxnSpPr>
        <p:spPr>
          <a:xfrm flipH="1" rot="10800000">
            <a:off x="3409852" y="5669866"/>
            <a:ext cx="665717" cy="67578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1" name="Google Shape;651;p16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ALU Components: Contd.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8.Multi Bit ALU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9.Subtraction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7"/>
          <p:cNvSpPr txBox="1"/>
          <p:nvPr>
            <p:ph type="title"/>
          </p:nvPr>
        </p:nvSpPr>
        <p:spPr>
          <a:xfrm>
            <a:off x="2973284" y="365125"/>
            <a:ext cx="92637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8. Multi Bit ALU</a:t>
            </a:r>
            <a:endParaRPr/>
          </a:p>
        </p:txBody>
      </p:sp>
      <p:sp>
        <p:nvSpPr>
          <p:cNvPr id="657" name="Google Shape;657;p17"/>
          <p:cNvSpPr txBox="1"/>
          <p:nvPr>
            <p:ph idx="1" type="body"/>
          </p:nvPr>
        </p:nvSpPr>
        <p:spPr>
          <a:xfrm>
            <a:off x="2535270" y="1825625"/>
            <a:ext cx="970175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5635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Connect multiple single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bit ALUs together</a:t>
            </a:r>
            <a:endParaRPr/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‘carry out’ of each ALU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links to ‘carry in’</a:t>
            </a: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of next ALU</a:t>
            </a:r>
            <a:endParaRPr/>
          </a:p>
          <a:p>
            <a:pPr indent="-228600" lvl="0" marL="5635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Final result is CR2R1R0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59" name="Google Shape;659;p17"/>
          <p:cNvGrpSpPr/>
          <p:nvPr/>
        </p:nvGrpSpPr>
        <p:grpSpPr>
          <a:xfrm>
            <a:off x="7463873" y="1826451"/>
            <a:ext cx="3886926" cy="3035509"/>
            <a:chOff x="4541034" y="2515522"/>
            <a:chExt cx="4243369" cy="3036116"/>
          </a:xfrm>
        </p:grpSpPr>
        <p:sp>
          <p:nvSpPr>
            <p:cNvPr id="660" name="Google Shape;660;p17"/>
            <p:cNvSpPr/>
            <p:nvPr/>
          </p:nvSpPr>
          <p:spPr>
            <a:xfrm>
              <a:off x="6942348" y="5351538"/>
              <a:ext cx="9246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Carry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4602524" y="4462186"/>
              <a:ext cx="3450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4541034" y="4780049"/>
              <a:ext cx="4248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7333685" y="4188217"/>
              <a:ext cx="1450718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Carry out to carry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7313593" y="3237206"/>
              <a:ext cx="1450718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Carry out to carry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5804297" y="2553891"/>
              <a:ext cx="2169914" cy="598289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5884664" y="2598539"/>
              <a:ext cx="1009055" cy="2500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5947172" y="2884289"/>
              <a:ext cx="794742" cy="2143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7009805" y="2634258"/>
              <a:ext cx="857250" cy="4375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669" name="Google Shape;669;p17"/>
            <p:cNvCxnSpPr/>
            <p:nvPr/>
          </p:nvCxnSpPr>
          <p:spPr>
            <a:xfrm>
              <a:off x="5017368" y="2677791"/>
              <a:ext cx="78581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17"/>
            <p:cNvCxnSpPr/>
            <p:nvPr/>
          </p:nvCxnSpPr>
          <p:spPr>
            <a:xfrm>
              <a:off x="5017368" y="3008189"/>
              <a:ext cx="78581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17"/>
            <p:cNvCxnSpPr/>
            <p:nvPr/>
          </p:nvCxnSpPr>
          <p:spPr>
            <a:xfrm rot="10800000">
              <a:off x="6242968" y="3125390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17"/>
            <p:cNvCxnSpPr/>
            <p:nvPr/>
          </p:nvCxnSpPr>
          <p:spPr>
            <a:xfrm rot="10800000">
              <a:off x="6344543" y="3125390"/>
              <a:ext cx="3349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17"/>
            <p:cNvCxnSpPr/>
            <p:nvPr/>
          </p:nvCxnSpPr>
          <p:spPr>
            <a:xfrm rot="10800000">
              <a:off x="6445002" y="3125390"/>
              <a:ext cx="3349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17"/>
            <p:cNvCxnSpPr/>
            <p:nvPr/>
          </p:nvCxnSpPr>
          <p:spPr>
            <a:xfrm rot="10800000">
              <a:off x="7205142" y="3074045"/>
              <a:ext cx="0" cy="50676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5" name="Google Shape;675;p17"/>
            <p:cNvSpPr/>
            <p:nvPr/>
          </p:nvSpPr>
          <p:spPr>
            <a:xfrm>
              <a:off x="5804297" y="3500438"/>
              <a:ext cx="2169914" cy="598289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5884664" y="3545086"/>
              <a:ext cx="1009055" cy="2500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5947172" y="3830836"/>
              <a:ext cx="794742" cy="2143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7009805" y="3580805"/>
              <a:ext cx="857250" cy="4375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679" name="Google Shape;679;p17"/>
            <p:cNvCxnSpPr/>
            <p:nvPr/>
          </p:nvCxnSpPr>
          <p:spPr>
            <a:xfrm>
              <a:off x="5017368" y="3624338"/>
              <a:ext cx="78581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17"/>
            <p:cNvCxnSpPr/>
            <p:nvPr/>
          </p:nvCxnSpPr>
          <p:spPr>
            <a:xfrm>
              <a:off x="5017368" y="3954736"/>
              <a:ext cx="78581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17"/>
            <p:cNvCxnSpPr/>
            <p:nvPr/>
          </p:nvCxnSpPr>
          <p:spPr>
            <a:xfrm rot="10800000">
              <a:off x="6222876" y="4106540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2" name="Google Shape;682;p17"/>
            <p:cNvCxnSpPr/>
            <p:nvPr/>
          </p:nvCxnSpPr>
          <p:spPr>
            <a:xfrm rot="10800000">
              <a:off x="6330033" y="4106540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3" name="Google Shape;683;p17"/>
            <p:cNvCxnSpPr/>
            <p:nvPr/>
          </p:nvCxnSpPr>
          <p:spPr>
            <a:xfrm rot="10800000">
              <a:off x="6437189" y="4097611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4" name="Google Shape;684;p17"/>
            <p:cNvCxnSpPr/>
            <p:nvPr/>
          </p:nvCxnSpPr>
          <p:spPr>
            <a:xfrm rot="10800000">
              <a:off x="7205142" y="4036219"/>
              <a:ext cx="0" cy="50676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5" name="Google Shape;685;p17"/>
            <p:cNvSpPr/>
            <p:nvPr/>
          </p:nvSpPr>
          <p:spPr>
            <a:xfrm>
              <a:off x="5804297" y="4446984"/>
              <a:ext cx="2169914" cy="598289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5884664" y="4491633"/>
              <a:ext cx="1009055" cy="2500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87" name="Google Shape;687;p17"/>
            <p:cNvSpPr/>
            <p:nvPr/>
          </p:nvSpPr>
          <p:spPr>
            <a:xfrm>
              <a:off x="5947172" y="4777383"/>
              <a:ext cx="794742" cy="2143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88" name="Google Shape;688;p17"/>
            <p:cNvSpPr/>
            <p:nvPr/>
          </p:nvSpPr>
          <p:spPr>
            <a:xfrm>
              <a:off x="7009805" y="4527351"/>
              <a:ext cx="857250" cy="4375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2125" lIns="64275" spcFirstLastPara="1" rIns="64275" wrap="square" tIns="3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689" name="Google Shape;689;p17"/>
            <p:cNvCxnSpPr/>
            <p:nvPr/>
          </p:nvCxnSpPr>
          <p:spPr>
            <a:xfrm>
              <a:off x="5017368" y="4570884"/>
              <a:ext cx="785813" cy="111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0" name="Google Shape;690;p17"/>
            <p:cNvCxnSpPr/>
            <p:nvPr/>
          </p:nvCxnSpPr>
          <p:spPr>
            <a:xfrm>
              <a:off x="5017368" y="4902398"/>
              <a:ext cx="785813" cy="111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17"/>
            <p:cNvCxnSpPr/>
            <p:nvPr/>
          </p:nvCxnSpPr>
          <p:spPr>
            <a:xfrm rot="10800000">
              <a:off x="6222876" y="5054203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17"/>
            <p:cNvCxnSpPr/>
            <p:nvPr/>
          </p:nvCxnSpPr>
          <p:spPr>
            <a:xfrm rot="10800000">
              <a:off x="6330033" y="5054203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17"/>
            <p:cNvCxnSpPr/>
            <p:nvPr/>
          </p:nvCxnSpPr>
          <p:spPr>
            <a:xfrm rot="10800000">
              <a:off x="6437189" y="5045273"/>
              <a:ext cx="3348" cy="26789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4" name="Google Shape;694;p17"/>
            <p:cNvCxnSpPr/>
            <p:nvPr/>
          </p:nvCxnSpPr>
          <p:spPr>
            <a:xfrm rot="10800000">
              <a:off x="7205142" y="5054203"/>
              <a:ext cx="0" cy="34937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5" name="Google Shape;695;p17"/>
            <p:cNvCxnSpPr/>
            <p:nvPr/>
          </p:nvCxnSpPr>
          <p:spPr>
            <a:xfrm>
              <a:off x="7976443" y="2850803"/>
              <a:ext cx="344910" cy="558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6" name="Google Shape;696;p17"/>
            <p:cNvCxnSpPr/>
            <p:nvPr/>
          </p:nvCxnSpPr>
          <p:spPr>
            <a:xfrm>
              <a:off x="7976443" y="3797350"/>
              <a:ext cx="344910" cy="558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7" name="Google Shape;697;p17"/>
            <p:cNvCxnSpPr/>
            <p:nvPr/>
          </p:nvCxnSpPr>
          <p:spPr>
            <a:xfrm>
              <a:off x="7976443" y="4743897"/>
              <a:ext cx="344910" cy="558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8" name="Google Shape;698;p17"/>
            <p:cNvSpPr/>
            <p:nvPr/>
          </p:nvSpPr>
          <p:spPr>
            <a:xfrm>
              <a:off x="5803185" y="5329234"/>
              <a:ext cx="10275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Instructions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4620409" y="3459358"/>
              <a:ext cx="345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4593603" y="2515522"/>
              <a:ext cx="3450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4620867" y="3819231"/>
              <a:ext cx="3450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4620950" y="2886945"/>
              <a:ext cx="345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8344118" y="4578261"/>
              <a:ext cx="3450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R0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8344116" y="3631687"/>
              <a:ext cx="4248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8344118" y="2685153"/>
              <a:ext cx="3450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R2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6" name="Google Shape;706;p17"/>
          <p:cNvCxnSpPr/>
          <p:nvPr/>
        </p:nvCxnSpPr>
        <p:spPr>
          <a:xfrm>
            <a:off x="9863976" y="1455313"/>
            <a:ext cx="0" cy="40057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7" name="Google Shape;707;p17"/>
          <p:cNvSpPr txBox="1"/>
          <p:nvPr/>
        </p:nvSpPr>
        <p:spPr>
          <a:xfrm>
            <a:off x="9494290" y="1184775"/>
            <a:ext cx="10791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Carry out(C)</a:t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8" name="Google Shape;708;p17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ALU Components: Contd.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8.Multi Bit ALU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9.Subtraction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8"/>
          <p:cNvSpPr txBox="1"/>
          <p:nvPr>
            <p:ph type="title"/>
          </p:nvPr>
        </p:nvSpPr>
        <p:spPr>
          <a:xfrm>
            <a:off x="2914409" y="299811"/>
            <a:ext cx="84319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9. Subtraction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18"/>
          <p:cNvSpPr txBox="1"/>
          <p:nvPr>
            <p:ph idx="1" type="body"/>
          </p:nvPr>
        </p:nvSpPr>
        <p:spPr>
          <a:xfrm>
            <a:off x="2631382" y="1989138"/>
            <a:ext cx="902721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Subtraction can be done by adding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the 2’s complement form of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US" sz="2900">
                <a:latin typeface="Times New Roman"/>
                <a:ea typeface="Times New Roman"/>
                <a:cs typeface="Times New Roman"/>
                <a:sym typeface="Times New Roman"/>
              </a:rPr>
              <a:t>S = A+(2’s Complement of B)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</a:pPr>
            <a:r>
              <a:rPr b="1" lang="en-US" sz="2900">
                <a:latin typeface="Times New Roman"/>
                <a:ea typeface="Times New Roman"/>
                <a:cs typeface="Times New Roman"/>
                <a:sym typeface="Times New Roman"/>
              </a:rPr>
              <a:t>	=A+(1’s complement of B+1)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</a:pPr>
            <a:r>
              <a:rPr b="1" lang="en-US" sz="2900">
                <a:latin typeface="Times New Roman"/>
                <a:ea typeface="Times New Roman"/>
                <a:cs typeface="Times New Roman"/>
                <a:sym typeface="Times New Roman"/>
              </a:rPr>
              <a:t>	=A+(B’+1)</a:t>
            </a:r>
            <a:endParaRPr b="1"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rule to convert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–B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 2’s complement form is: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Invert each bit (using NOT gates).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Add 1.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7" name="Google Shape;717;p18"/>
          <p:cNvSpPr txBox="1"/>
          <p:nvPr/>
        </p:nvSpPr>
        <p:spPr>
          <a:xfrm>
            <a:off x="410441" y="2367290"/>
            <a:ext cx="20314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8.Multi Bit ALU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9.Subtraction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Add/ Subtract Circuit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9"/>
          <p:cNvSpPr txBox="1"/>
          <p:nvPr>
            <p:ph type="title"/>
          </p:nvPr>
        </p:nvSpPr>
        <p:spPr>
          <a:xfrm>
            <a:off x="2937167" y="465560"/>
            <a:ext cx="848898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10. Add / Subtract Circuit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19"/>
          <p:cNvSpPr txBox="1"/>
          <p:nvPr>
            <p:ph idx="1" type="body"/>
          </p:nvPr>
        </p:nvSpPr>
        <p:spPr>
          <a:xfrm>
            <a:off x="2762996" y="1989138"/>
            <a:ext cx="5977954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Both addition and subtraction circuits can be combined into a single circuit by using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Controlled Inversion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Control input determines whether the circuit adds or subtracts.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25" name="Google Shape;725;p19"/>
          <p:cNvGraphicFramePr/>
          <p:nvPr/>
        </p:nvGraphicFramePr>
        <p:xfrm>
          <a:off x="9120480" y="2530475"/>
          <a:ext cx="2776537" cy="2638425"/>
        </p:xfrm>
        <a:graphic>
          <a:graphicData uri="http://schemas.openxmlformats.org/presentationml/2006/ole">
            <mc:AlternateContent>
              <mc:Choice Requires="v">
                <p:oleObj r:id="rId4" imgH="2638425" imgW="2776537" progId="MSDraw.Drawing.8.2" spid="_x0000_s1">
                  <p:embed/>
                </p:oleObj>
              </mc:Choice>
              <mc:Fallback>
                <p:oleObj r:id="rId5" imgH="2638425" imgW="2776537" progId="MSDraw.Drawing.8.2">
                  <p:embed/>
                  <p:pic>
                    <p:nvPicPr>
                      <p:cNvPr id="725" name="Google Shape;725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20480" y="2530475"/>
                        <a:ext cx="2776537" cy="263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" name="Google Shape;7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7" name="Google Shape;727;p19"/>
          <p:cNvSpPr txBox="1"/>
          <p:nvPr/>
        </p:nvSpPr>
        <p:spPr>
          <a:xfrm>
            <a:off x="410441" y="2367290"/>
            <a:ext cx="203142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9.Subtraction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Add/ Subtract Circuit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Controlled Inversion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0"/>
          <p:cNvSpPr txBox="1"/>
          <p:nvPr>
            <p:ph type="title"/>
          </p:nvPr>
        </p:nvSpPr>
        <p:spPr>
          <a:xfrm>
            <a:off x="2630881" y="365125"/>
            <a:ext cx="948145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11. Controlled Inversion</a:t>
            </a:r>
            <a:endParaRPr/>
          </a:p>
        </p:txBody>
      </p:sp>
      <p:sp>
        <p:nvSpPr>
          <p:cNvPr id="734" name="Google Shape;734;p20"/>
          <p:cNvSpPr txBox="1"/>
          <p:nvPr>
            <p:ph idx="1" type="body"/>
          </p:nvPr>
        </p:nvSpPr>
        <p:spPr>
          <a:xfrm>
            <a:off x="2630881" y="1723232"/>
            <a:ext cx="7132449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Consider the following truth table: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Input Control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will be 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CONTROL.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Input 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736" name="Google Shape;736;p20"/>
          <p:cNvGraphicFramePr/>
          <p:nvPr/>
        </p:nvGraphicFramePr>
        <p:xfrm>
          <a:off x="2933414" y="3789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{99D95AC9-DE1C-475C-873A-B17EC21ED335}</a:tableStyleId>
              </a:tblPr>
              <a:tblGrid>
                <a:gridCol w="2032000"/>
                <a:gridCol w="2032000"/>
                <a:gridCol w="2032000"/>
              </a:tblGrid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Output 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7" name="Google Shape;737;p20"/>
          <p:cNvSpPr/>
          <p:nvPr/>
        </p:nvSpPr>
        <p:spPr>
          <a:xfrm>
            <a:off x="9181814" y="4149726"/>
            <a:ext cx="331788" cy="792163"/>
          </a:xfrm>
          <a:prstGeom prst="rightBrace">
            <a:avLst>
              <a:gd fmla="val 1989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8" name="Google Shape;738;p20"/>
          <p:cNvSpPr txBox="1"/>
          <p:nvPr/>
        </p:nvSpPr>
        <p:spPr>
          <a:xfrm>
            <a:off x="9645364" y="4365626"/>
            <a:ext cx="17511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 F=B</a:t>
            </a: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=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9181814" y="4941888"/>
            <a:ext cx="331788" cy="792162"/>
          </a:xfrm>
          <a:prstGeom prst="rightBrace">
            <a:avLst>
              <a:gd fmla="val 1989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0" name="Google Shape;740;p20"/>
          <p:cNvSpPr txBox="1"/>
          <p:nvPr/>
        </p:nvSpPr>
        <p:spPr>
          <a:xfrm>
            <a:off x="9580277" y="5013325"/>
            <a:ext cx="162302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 F=B’</a:t>
            </a: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NOT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0"/>
          <p:cNvSpPr txBox="1"/>
          <p:nvPr/>
        </p:nvSpPr>
        <p:spPr>
          <a:xfrm>
            <a:off x="410441" y="2367290"/>
            <a:ext cx="203142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9.Subtraction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Add/ Subtract Circuit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Controlled Inversion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12.Circuit for Add/ Subtract Unit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1"/>
          <p:cNvSpPr txBox="1"/>
          <p:nvPr>
            <p:ph type="title"/>
          </p:nvPr>
        </p:nvSpPr>
        <p:spPr>
          <a:xfrm>
            <a:off x="2718957" y="365125"/>
            <a:ext cx="937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11. Controlled Inversion (Contd.)</a:t>
            </a:r>
            <a:endParaRPr/>
          </a:p>
        </p:txBody>
      </p:sp>
      <p:sp>
        <p:nvSpPr>
          <p:cNvPr id="748" name="Google Shape;748;p21"/>
          <p:cNvSpPr txBox="1"/>
          <p:nvPr>
            <p:ph idx="1" type="body"/>
          </p:nvPr>
        </p:nvSpPr>
        <p:spPr>
          <a:xfrm>
            <a:off x="3078185" y="1690688"/>
            <a:ext cx="5940425" cy="266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Control = 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Control =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Then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This is the truth table for XOR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50" name="Google Shape;7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649" y="2161399"/>
            <a:ext cx="7032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649" y="3067948"/>
            <a:ext cx="703262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2" name="Google Shape;752;p21"/>
          <p:cNvGraphicFramePr/>
          <p:nvPr/>
        </p:nvGraphicFramePr>
        <p:xfrm>
          <a:off x="3622995" y="42713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{99D95AC9-DE1C-475C-873A-B17EC21ED335}</a:tableStyleId>
              </a:tblPr>
              <a:tblGrid>
                <a:gridCol w="1473200"/>
                <a:gridCol w="1473200"/>
                <a:gridCol w="1473200"/>
              </a:tblGrid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</a:t>
                      </a:r>
                      <a:endParaRPr b="1" i="0" sz="1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Output 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3" name="Google Shape;753;p21"/>
          <p:cNvSpPr txBox="1"/>
          <p:nvPr/>
        </p:nvSpPr>
        <p:spPr>
          <a:xfrm>
            <a:off x="410441" y="2367290"/>
            <a:ext cx="203142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9.Subtraction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Add/ Subtract Circuit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Controlled Inversion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12.Circuit for Add/ Subtract Unit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2"/>
          <p:cNvSpPr txBox="1"/>
          <p:nvPr>
            <p:ph type="title"/>
          </p:nvPr>
        </p:nvSpPr>
        <p:spPr>
          <a:xfrm>
            <a:off x="2616064" y="365125"/>
            <a:ext cx="96729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12. Circuit for Add / Subtract Unit</a:t>
            </a:r>
            <a:endParaRPr/>
          </a:p>
        </p:txBody>
      </p:sp>
      <p:sp>
        <p:nvSpPr>
          <p:cNvPr id="760" name="Google Shape;7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1" name="Google Shape;761;p22"/>
          <p:cNvSpPr/>
          <p:nvPr/>
        </p:nvSpPr>
        <p:spPr>
          <a:xfrm>
            <a:off x="5035703" y="150971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762" name="Google Shape;762;p22"/>
          <p:cNvGraphicFramePr/>
          <p:nvPr/>
        </p:nvGraphicFramePr>
        <p:xfrm>
          <a:off x="2813314" y="1690709"/>
          <a:ext cx="4497571" cy="3284083"/>
        </p:xfrm>
        <a:graphic>
          <a:graphicData uri="http://schemas.openxmlformats.org/presentationml/2006/ole">
            <mc:AlternateContent>
              <mc:Choice Requires="v">
                <p:oleObj r:id="rId4" imgH="3284083" imgW="4497571" progId="MSDraw.Drawing.8.2" spid="_x0000_s1">
                  <p:embed/>
                </p:oleObj>
              </mc:Choice>
              <mc:Fallback>
                <p:oleObj r:id="rId5" imgH="3284083" imgW="4497571" progId="MSDraw.Drawing.8.2">
                  <p:embed/>
                  <p:pic>
                    <p:nvPicPr>
                      <p:cNvPr id="762" name="Google Shape;762;p2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13314" y="1690709"/>
                        <a:ext cx="4497571" cy="3284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3" name="Google Shape;763;p22"/>
          <p:cNvSpPr txBox="1"/>
          <p:nvPr/>
        </p:nvSpPr>
        <p:spPr>
          <a:xfrm>
            <a:off x="3594822" y="4976375"/>
            <a:ext cx="508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0/1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64" name="Google Shape;764;p22"/>
          <p:cNvGraphicFramePr/>
          <p:nvPr/>
        </p:nvGraphicFramePr>
        <p:xfrm>
          <a:off x="7310909" y="1908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{99D95AC9-DE1C-475C-873A-B17EC21ED335}</a:tableStyleId>
              </a:tblPr>
              <a:tblGrid>
                <a:gridCol w="1200050"/>
                <a:gridCol w="1200050"/>
                <a:gridCol w="1200050"/>
              </a:tblGrid>
              <a:tr h="71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Control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B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F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30"/>
                        <a:buFont typeface="Noto Sans Symbols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5" name="Google Shape;765;p22"/>
          <p:cNvSpPr/>
          <p:nvPr/>
        </p:nvSpPr>
        <p:spPr>
          <a:xfrm>
            <a:off x="10911074" y="2238151"/>
            <a:ext cx="196200" cy="785400"/>
          </a:xfrm>
          <a:prstGeom prst="rightBrace">
            <a:avLst>
              <a:gd fmla="val 1989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6" name="Google Shape;766;p22"/>
          <p:cNvSpPr txBox="1"/>
          <p:nvPr/>
        </p:nvSpPr>
        <p:spPr>
          <a:xfrm>
            <a:off x="11130026" y="2238151"/>
            <a:ext cx="103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F=B</a:t>
            </a:r>
            <a:r>
              <a:rPr b="0"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B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22"/>
          <p:cNvSpPr/>
          <p:nvPr/>
        </p:nvSpPr>
        <p:spPr>
          <a:xfrm>
            <a:off x="10911062" y="3031821"/>
            <a:ext cx="196200" cy="785400"/>
          </a:xfrm>
          <a:prstGeom prst="rightBrace">
            <a:avLst>
              <a:gd fmla="val 1989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8" name="Google Shape;768;p22"/>
          <p:cNvSpPr txBox="1"/>
          <p:nvPr/>
        </p:nvSpPr>
        <p:spPr>
          <a:xfrm>
            <a:off x="11150218" y="3023632"/>
            <a:ext cx="101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F=B’</a:t>
            </a:r>
            <a:r>
              <a:rPr b="0"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 B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22"/>
          <p:cNvSpPr txBox="1"/>
          <p:nvPr/>
        </p:nvSpPr>
        <p:spPr>
          <a:xfrm rot="-5400000">
            <a:off x="4344596" y="2970301"/>
            <a:ext cx="16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4-bit adder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22"/>
          <p:cNvSpPr txBox="1"/>
          <p:nvPr/>
        </p:nvSpPr>
        <p:spPr>
          <a:xfrm>
            <a:off x="410441" y="2367290"/>
            <a:ext cx="203142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Add/ Subtract Circuit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Controlled Inversion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12.Circuit for Add/ Subtract Unit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Control of the Add/ Subtract Unit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3"/>
          <p:cNvSpPr txBox="1"/>
          <p:nvPr>
            <p:ph type="title"/>
          </p:nvPr>
        </p:nvSpPr>
        <p:spPr>
          <a:xfrm>
            <a:off x="2778336" y="365125"/>
            <a:ext cx="943791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13. Control of the Add / Subtract Unit</a:t>
            </a:r>
            <a:endParaRPr/>
          </a:p>
        </p:txBody>
      </p:sp>
      <p:sp>
        <p:nvSpPr>
          <p:cNvPr id="777" name="Google Shape;777;p23"/>
          <p:cNvSpPr txBox="1"/>
          <p:nvPr>
            <p:ph idx="1" type="body"/>
          </p:nvPr>
        </p:nvSpPr>
        <p:spPr>
          <a:xfrm>
            <a:off x="2778336" y="1776575"/>
            <a:ext cx="9800314" cy="4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The Control determines the operation: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Control = 0 : Addition</a:t>
            </a:r>
            <a:endParaRPr sz="3100"/>
          </a:p>
          <a:p>
            <a:pPr indent="-24765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Carry-in is 0	.</a:t>
            </a:r>
            <a:endParaRPr sz="2700"/>
          </a:p>
          <a:p>
            <a:pPr indent="-24765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Output is 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plus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plus 0.</a:t>
            </a:r>
            <a:endParaRPr sz="2700"/>
          </a:p>
          <a:p>
            <a:pPr indent="-762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Control = 1 : Subtraction</a:t>
            </a:r>
            <a:endParaRPr sz="3100"/>
          </a:p>
          <a:p>
            <a:pPr indent="-24765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Carry-in is 1.</a:t>
            </a:r>
            <a:endParaRPr sz="2700"/>
          </a:p>
          <a:p>
            <a:pPr indent="-24765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Output is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plus ( inverse of 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 plus 1).</a:t>
            </a:r>
            <a:endParaRPr sz="2700"/>
          </a:p>
          <a:p>
            <a:pPr indent="-24765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which is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plus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(-B)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700"/>
          </a:p>
        </p:txBody>
      </p:sp>
      <p:sp>
        <p:nvSpPr>
          <p:cNvPr id="778" name="Google Shape;77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BABABA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>
              <a:solidFill>
                <a:srgbClr val="BABAB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9" name="Google Shape;779;p23"/>
          <p:cNvSpPr txBox="1"/>
          <p:nvPr/>
        </p:nvSpPr>
        <p:spPr>
          <a:xfrm>
            <a:off x="410441" y="2367290"/>
            <a:ext cx="203142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12.Circuit for Add/ Subtract Unit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Control of the Add/ Subtract Unit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Summary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4"/>
          <p:cNvSpPr txBox="1"/>
          <p:nvPr>
            <p:ph type="title"/>
          </p:nvPr>
        </p:nvSpPr>
        <p:spPr>
          <a:xfrm>
            <a:off x="2788229" y="365125"/>
            <a:ext cx="9448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14. Summary</a:t>
            </a:r>
            <a:endParaRPr/>
          </a:p>
        </p:txBody>
      </p:sp>
      <p:sp>
        <p:nvSpPr>
          <p:cNvPr id="785" name="Google Shape;785;p24"/>
          <p:cNvSpPr txBox="1"/>
          <p:nvPr>
            <p:ph idx="1" type="body"/>
          </p:nvPr>
        </p:nvSpPr>
        <p:spPr>
          <a:xfrm>
            <a:off x="2788229" y="1825625"/>
            <a:ext cx="9448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Functions, controlling and multiplexing</a:t>
            </a:r>
            <a:r>
              <a:rPr lang="en-US" sz="2800"/>
              <a:t>.</a:t>
            </a:r>
            <a:endParaRPr sz="2800"/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Controlled inversion and subtraction</a:t>
            </a:r>
            <a:r>
              <a:rPr lang="en-US" sz="2800"/>
              <a:t>.</a:t>
            </a:r>
            <a:endParaRPr sz="2800"/>
          </a:p>
        </p:txBody>
      </p:sp>
      <p:sp>
        <p:nvSpPr>
          <p:cNvPr id="786" name="Google Shape;78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7" name="Google Shape;787;p24"/>
          <p:cNvSpPr txBox="1"/>
          <p:nvPr/>
        </p:nvSpPr>
        <p:spPr>
          <a:xfrm>
            <a:off x="410441" y="2367290"/>
            <a:ext cx="203142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12.Circuit for Add/ Subtract Unit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Control of the Add/ Subtract Unit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Summary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93" name="Google Shape;793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94" name="Google Shape;79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erson in a suit with his arms out in the air&#10;&#10;Description automatically generated" id="795" name="Google Shape;7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104" y="-1"/>
            <a:ext cx="10995470" cy="705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2017-09-26T14:32:53Z</dcterms:created>
  <dc:creator>Dennett, Christopher</dc:creator>
</cp:coreProperties>
</file>